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9" r:id="rId3"/>
    <p:sldId id="310" r:id="rId4"/>
    <p:sldId id="260" r:id="rId5"/>
    <p:sldId id="311" r:id="rId6"/>
    <p:sldId id="312" r:id="rId7"/>
    <p:sldId id="314" r:id="rId8"/>
    <p:sldId id="315" r:id="rId9"/>
    <p:sldId id="265" r:id="rId10"/>
    <p:sldId id="266" r:id="rId11"/>
    <p:sldId id="316" r:id="rId12"/>
    <p:sldId id="275" r:id="rId13"/>
    <p:sldId id="276" r:id="rId14"/>
    <p:sldId id="279" r:id="rId15"/>
    <p:sldId id="318" r:id="rId16"/>
    <p:sldId id="327" r:id="rId17"/>
    <p:sldId id="285" r:id="rId18"/>
    <p:sldId id="325" r:id="rId19"/>
    <p:sldId id="326" r:id="rId20"/>
    <p:sldId id="328" r:id="rId21"/>
    <p:sldId id="334" r:id="rId22"/>
    <p:sldId id="335" r:id="rId23"/>
    <p:sldId id="336" r:id="rId24"/>
    <p:sldId id="332" r:id="rId25"/>
    <p:sldId id="333" r:id="rId26"/>
    <p:sldId id="338" r:id="rId27"/>
    <p:sldId id="337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89" autoAdjust="0"/>
    <p:restoredTop sz="94730"/>
  </p:normalViewPr>
  <p:slideViewPr>
    <p:cSldViewPr snapToGrid="0">
      <p:cViewPr varScale="1">
        <p:scale>
          <a:sx n="85" d="100"/>
          <a:sy n="85" d="100"/>
        </p:scale>
        <p:origin x="638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俊杰" userId="dcfdc803-95d8-409b-8404-351632be86e2" providerId="ADAL" clId="{7A530056-576D-6046-AFD6-5B1A1FA42300}"/>
    <pc:docChg chg="undo custSel addSld delSld modSld">
      <pc:chgData name="林俊杰" userId="dcfdc803-95d8-409b-8404-351632be86e2" providerId="ADAL" clId="{7A530056-576D-6046-AFD6-5B1A1FA42300}" dt="2024-11-12T13:52:07.741" v="610" actId="2696"/>
      <pc:docMkLst>
        <pc:docMk/>
      </pc:docMkLst>
      <pc:sldChg chg="add">
        <pc:chgData name="林俊杰" userId="dcfdc803-95d8-409b-8404-351632be86e2" providerId="ADAL" clId="{7A530056-576D-6046-AFD6-5B1A1FA42300}" dt="2024-10-28T04:19:01.143" v="1"/>
        <pc:sldMkLst>
          <pc:docMk/>
          <pc:sldMk cId="3359609076" sldId="260"/>
        </pc:sldMkLst>
      </pc:sldChg>
      <pc:sldChg chg="add">
        <pc:chgData name="林俊杰" userId="dcfdc803-95d8-409b-8404-351632be86e2" providerId="ADAL" clId="{7A530056-576D-6046-AFD6-5B1A1FA42300}" dt="2024-11-12T13:52:05.489" v="609"/>
        <pc:sldMkLst>
          <pc:docMk/>
          <pc:sldMk cId="3021089642" sldId="265"/>
        </pc:sldMkLst>
      </pc:sldChg>
      <pc:sldChg chg="add">
        <pc:chgData name="林俊杰" userId="dcfdc803-95d8-409b-8404-351632be86e2" providerId="ADAL" clId="{7A530056-576D-6046-AFD6-5B1A1FA42300}" dt="2024-11-12T13:52:05.489" v="609"/>
        <pc:sldMkLst>
          <pc:docMk/>
          <pc:sldMk cId="1737520751" sldId="266"/>
        </pc:sldMkLst>
      </pc:sldChg>
      <pc:sldChg chg="addSp delSp modSp mod">
        <pc:chgData name="林俊杰" userId="dcfdc803-95d8-409b-8404-351632be86e2" providerId="ADAL" clId="{7A530056-576D-6046-AFD6-5B1A1FA42300}" dt="2024-10-28T05:16:44.938" v="150" actId="22"/>
        <pc:sldMkLst>
          <pc:docMk/>
          <pc:sldMk cId="2136675580" sldId="276"/>
        </pc:sldMkLst>
        <pc:spChg chg="mod">
          <ac:chgData name="林俊杰" userId="dcfdc803-95d8-409b-8404-351632be86e2" providerId="ADAL" clId="{7A530056-576D-6046-AFD6-5B1A1FA42300}" dt="2024-10-28T05:16:40.447" v="148" actId="20577"/>
          <ac:spMkLst>
            <pc:docMk/>
            <pc:sldMk cId="2136675580" sldId="276"/>
            <ac:spMk id="3" creationId="{CB68D7B9-E66E-DC4E-A590-8DCB95A74D31}"/>
          </ac:spMkLst>
        </pc:spChg>
        <pc:spChg chg="add">
          <ac:chgData name="林俊杰" userId="dcfdc803-95d8-409b-8404-351632be86e2" providerId="ADAL" clId="{7A530056-576D-6046-AFD6-5B1A1FA42300}" dt="2024-10-28T04:58:02.293" v="10"/>
          <ac:spMkLst>
            <pc:docMk/>
            <pc:sldMk cId="2136675580" sldId="276"/>
            <ac:spMk id="5" creationId="{CCEB4A29-AAFA-998E-58A9-8D984094F2D0}"/>
          </ac:spMkLst>
        </pc:spChg>
        <pc:spChg chg="add mod">
          <ac:chgData name="林俊杰" userId="dcfdc803-95d8-409b-8404-351632be86e2" providerId="ADAL" clId="{7A530056-576D-6046-AFD6-5B1A1FA42300}" dt="2024-10-28T05:04:16.405" v="85" actId="1076"/>
          <ac:spMkLst>
            <pc:docMk/>
            <pc:sldMk cId="2136675580" sldId="276"/>
            <ac:spMk id="7" creationId="{8468C4D3-EAAA-EB70-32EA-590F4E55EEF6}"/>
          </ac:spMkLst>
        </pc:spChg>
        <pc:spChg chg="add del">
          <ac:chgData name="林俊杰" userId="dcfdc803-95d8-409b-8404-351632be86e2" providerId="ADAL" clId="{7A530056-576D-6046-AFD6-5B1A1FA42300}" dt="2024-10-28T05:16:44.938" v="150" actId="22"/>
          <ac:spMkLst>
            <pc:docMk/>
            <pc:sldMk cId="2136675580" sldId="276"/>
            <ac:spMk id="9" creationId="{275C82D9-E02D-C023-BA22-13D7707193DD}"/>
          </ac:spMkLst>
        </pc:spChg>
        <pc:picChg chg="del">
          <ac:chgData name="林俊杰" userId="dcfdc803-95d8-409b-8404-351632be86e2" providerId="ADAL" clId="{7A530056-576D-6046-AFD6-5B1A1FA42300}" dt="2024-10-28T05:01:20.882" v="20" actId="478"/>
          <ac:picMkLst>
            <pc:docMk/>
            <pc:sldMk cId="2136675580" sldId="276"/>
            <ac:picMk id="9220" creationId="{C25EA6D0-DDDB-7B49-9AA2-1449E002FF5A}"/>
          </ac:picMkLst>
        </pc:picChg>
      </pc:sldChg>
      <pc:sldChg chg="addSp modSp mod">
        <pc:chgData name="林俊杰" userId="dcfdc803-95d8-409b-8404-351632be86e2" providerId="ADAL" clId="{7A530056-576D-6046-AFD6-5B1A1FA42300}" dt="2024-10-28T05:17:24.443" v="162" actId="1076"/>
        <pc:sldMkLst>
          <pc:docMk/>
          <pc:sldMk cId="1105854244" sldId="279"/>
        </pc:sldMkLst>
        <pc:spChg chg="add mod">
          <ac:chgData name="林俊杰" userId="dcfdc803-95d8-409b-8404-351632be86e2" providerId="ADAL" clId="{7A530056-576D-6046-AFD6-5B1A1FA42300}" dt="2024-10-28T05:17:17.534" v="160" actId="404"/>
          <ac:spMkLst>
            <pc:docMk/>
            <pc:sldMk cId="1105854244" sldId="279"/>
            <ac:spMk id="5" creationId="{BC5902AC-630A-251D-BE46-8FD319EEA6F1}"/>
          </ac:spMkLst>
        </pc:spChg>
        <pc:spChg chg="add mod">
          <ac:chgData name="林俊杰" userId="dcfdc803-95d8-409b-8404-351632be86e2" providerId="ADAL" clId="{7A530056-576D-6046-AFD6-5B1A1FA42300}" dt="2024-10-28T05:17:24.443" v="162" actId="1076"/>
          <ac:spMkLst>
            <pc:docMk/>
            <pc:sldMk cId="1105854244" sldId="279"/>
            <ac:spMk id="7" creationId="{0B2DFAFE-89EE-783C-5EF2-35540F765CF7}"/>
          </ac:spMkLst>
        </pc:spChg>
      </pc:sldChg>
      <pc:sldChg chg="addSp modSp mod">
        <pc:chgData name="林俊杰" userId="dcfdc803-95d8-409b-8404-351632be86e2" providerId="ADAL" clId="{7A530056-576D-6046-AFD6-5B1A1FA42300}" dt="2024-10-28T04:20:02.666" v="9" actId="1076"/>
        <pc:sldMkLst>
          <pc:docMk/>
          <pc:sldMk cId="52646218" sldId="311"/>
        </pc:sldMkLst>
        <pc:spChg chg="mod">
          <ac:chgData name="林俊杰" userId="dcfdc803-95d8-409b-8404-351632be86e2" providerId="ADAL" clId="{7A530056-576D-6046-AFD6-5B1A1FA42300}" dt="2024-10-28T04:19:57.396" v="8" actId="20577"/>
          <ac:spMkLst>
            <pc:docMk/>
            <pc:sldMk cId="52646218" sldId="311"/>
            <ac:spMk id="3" creationId="{8DCB2224-986F-F050-B089-4D55DDE7E433}"/>
          </ac:spMkLst>
        </pc:spChg>
        <pc:picChg chg="add mod">
          <ac:chgData name="林俊杰" userId="dcfdc803-95d8-409b-8404-351632be86e2" providerId="ADAL" clId="{7A530056-576D-6046-AFD6-5B1A1FA42300}" dt="2024-10-28T04:20:02.666" v="9" actId="1076"/>
          <ac:picMkLst>
            <pc:docMk/>
            <pc:sldMk cId="52646218" sldId="311"/>
            <ac:picMk id="4" creationId="{A68F62AE-A892-D584-C840-6C1625CA7875}"/>
          </ac:picMkLst>
        </pc:picChg>
      </pc:sldChg>
      <pc:sldChg chg="modSp mod">
        <pc:chgData name="林俊杰" userId="dcfdc803-95d8-409b-8404-351632be86e2" providerId="ADAL" clId="{7A530056-576D-6046-AFD6-5B1A1FA42300}" dt="2024-11-12T13:03:53.259" v="432" actId="20577"/>
        <pc:sldMkLst>
          <pc:docMk/>
          <pc:sldMk cId="3312943814" sldId="325"/>
        </pc:sldMkLst>
        <pc:spChg chg="mod">
          <ac:chgData name="林俊杰" userId="dcfdc803-95d8-409b-8404-351632be86e2" providerId="ADAL" clId="{7A530056-576D-6046-AFD6-5B1A1FA42300}" dt="2024-11-12T13:03:53.259" v="432" actId="20577"/>
          <ac:spMkLst>
            <pc:docMk/>
            <pc:sldMk cId="3312943814" sldId="325"/>
            <ac:spMk id="3" creationId="{041BC733-7448-950D-AAA7-BF470988EB3A}"/>
          </ac:spMkLst>
        </pc:spChg>
      </pc:sldChg>
      <pc:sldChg chg="new del">
        <pc:chgData name="林俊杰" userId="dcfdc803-95d8-409b-8404-351632be86e2" providerId="ADAL" clId="{7A530056-576D-6046-AFD6-5B1A1FA42300}" dt="2024-10-28T04:19:02.639" v="2" actId="2696"/>
        <pc:sldMkLst>
          <pc:docMk/>
          <pc:sldMk cId="287826481" sldId="332"/>
        </pc:sldMkLst>
      </pc:sldChg>
      <pc:sldChg chg="modSp new mod">
        <pc:chgData name="林俊杰" userId="dcfdc803-95d8-409b-8404-351632be86e2" providerId="ADAL" clId="{7A530056-576D-6046-AFD6-5B1A1FA42300}" dt="2024-11-09T14:25:14.082" v="189" actId="404"/>
        <pc:sldMkLst>
          <pc:docMk/>
          <pc:sldMk cId="763916540" sldId="332"/>
        </pc:sldMkLst>
        <pc:spChg chg="mod">
          <ac:chgData name="林俊杰" userId="dcfdc803-95d8-409b-8404-351632be86e2" providerId="ADAL" clId="{7A530056-576D-6046-AFD6-5B1A1FA42300}" dt="2024-11-09T14:25:14.082" v="189" actId="404"/>
          <ac:spMkLst>
            <pc:docMk/>
            <pc:sldMk cId="763916540" sldId="332"/>
            <ac:spMk id="2" creationId="{3DCB051F-A603-9AB5-95CC-B68A2A74EF22}"/>
          </ac:spMkLst>
        </pc:spChg>
        <pc:spChg chg="mod">
          <ac:chgData name="林俊杰" userId="dcfdc803-95d8-409b-8404-351632be86e2" providerId="ADAL" clId="{7A530056-576D-6046-AFD6-5B1A1FA42300}" dt="2024-11-09T14:24:43.696" v="174" actId="20577"/>
          <ac:spMkLst>
            <pc:docMk/>
            <pc:sldMk cId="763916540" sldId="332"/>
            <ac:spMk id="3" creationId="{CDA44AAE-E38C-7F2C-3827-B8C1270D56C9}"/>
          </ac:spMkLst>
        </pc:spChg>
      </pc:sldChg>
      <pc:sldChg chg="addSp modSp new mod">
        <pc:chgData name="林俊杰" userId="dcfdc803-95d8-409b-8404-351632be86e2" providerId="ADAL" clId="{7A530056-576D-6046-AFD6-5B1A1FA42300}" dt="2024-11-12T13:48:25.056" v="589" actId="20577"/>
        <pc:sldMkLst>
          <pc:docMk/>
          <pc:sldMk cId="3186615921" sldId="333"/>
        </pc:sldMkLst>
        <pc:spChg chg="mod">
          <ac:chgData name="林俊杰" userId="dcfdc803-95d8-409b-8404-351632be86e2" providerId="ADAL" clId="{7A530056-576D-6046-AFD6-5B1A1FA42300}" dt="2024-11-12T13:27:44.691" v="451"/>
          <ac:spMkLst>
            <pc:docMk/>
            <pc:sldMk cId="3186615921" sldId="333"/>
            <ac:spMk id="2" creationId="{217BC2EC-A028-E30A-DBA9-DA4E2C5083CD}"/>
          </ac:spMkLst>
        </pc:spChg>
        <pc:spChg chg="mod">
          <ac:chgData name="林俊杰" userId="dcfdc803-95d8-409b-8404-351632be86e2" providerId="ADAL" clId="{7A530056-576D-6046-AFD6-5B1A1FA42300}" dt="2024-11-12T13:42:58.826" v="556" actId="20577"/>
          <ac:spMkLst>
            <pc:docMk/>
            <pc:sldMk cId="3186615921" sldId="333"/>
            <ac:spMk id="3" creationId="{7C6AFD79-92FD-95E0-4786-0C1D43E719C6}"/>
          </ac:spMkLst>
        </pc:spChg>
        <pc:spChg chg="add mod">
          <ac:chgData name="林俊杰" userId="dcfdc803-95d8-409b-8404-351632be86e2" providerId="ADAL" clId="{7A530056-576D-6046-AFD6-5B1A1FA42300}" dt="2024-11-12T13:43:35.245" v="563" actId="1076"/>
          <ac:spMkLst>
            <pc:docMk/>
            <pc:sldMk cId="3186615921" sldId="333"/>
            <ac:spMk id="5" creationId="{F69274DD-EC44-7849-A6E6-60CED2FD41DE}"/>
          </ac:spMkLst>
        </pc:spChg>
        <pc:spChg chg="add mod">
          <ac:chgData name="林俊杰" userId="dcfdc803-95d8-409b-8404-351632be86e2" providerId="ADAL" clId="{7A530056-576D-6046-AFD6-5B1A1FA42300}" dt="2024-11-12T13:48:25.056" v="589" actId="20577"/>
          <ac:spMkLst>
            <pc:docMk/>
            <pc:sldMk cId="3186615921" sldId="333"/>
            <ac:spMk id="6" creationId="{650259B6-2360-FC56-437B-6C119F2058BE}"/>
          </ac:spMkLst>
        </pc:spChg>
        <pc:picChg chg="add mod">
          <ac:chgData name="林俊杰" userId="dcfdc803-95d8-409b-8404-351632be86e2" providerId="ADAL" clId="{7A530056-576D-6046-AFD6-5B1A1FA42300}" dt="2024-11-12T13:42:45.455" v="550" actId="14100"/>
          <ac:picMkLst>
            <pc:docMk/>
            <pc:sldMk cId="3186615921" sldId="333"/>
            <ac:picMk id="4" creationId="{058D7CD5-1E57-5DFD-8848-43754573F770}"/>
          </ac:picMkLst>
        </pc:picChg>
        <pc:picChg chg="add mod">
          <ac:chgData name="林俊杰" userId="dcfdc803-95d8-409b-8404-351632be86e2" providerId="ADAL" clId="{7A530056-576D-6046-AFD6-5B1A1FA42300}" dt="2024-11-12T13:28:47.999" v="458" actId="1076"/>
          <ac:picMkLst>
            <pc:docMk/>
            <pc:sldMk cId="3186615921" sldId="333"/>
            <ac:picMk id="1026" creationId="{CA33C8DF-16A3-C2C5-FCDD-615D38E4ED99}"/>
          </ac:picMkLst>
        </pc:picChg>
      </pc:sldChg>
      <pc:sldChg chg="addSp modSp new mod">
        <pc:chgData name="林俊杰" userId="dcfdc803-95d8-409b-8404-351632be86e2" providerId="ADAL" clId="{7A530056-576D-6046-AFD6-5B1A1FA42300}" dt="2024-11-11T14:01:29.588" v="390" actId="20577"/>
        <pc:sldMkLst>
          <pc:docMk/>
          <pc:sldMk cId="4189945750" sldId="334"/>
        </pc:sldMkLst>
        <pc:spChg chg="mod">
          <ac:chgData name="林俊杰" userId="dcfdc803-95d8-409b-8404-351632be86e2" providerId="ADAL" clId="{7A530056-576D-6046-AFD6-5B1A1FA42300}" dt="2024-11-11T13:49:37.959" v="203" actId="20577"/>
          <ac:spMkLst>
            <pc:docMk/>
            <pc:sldMk cId="4189945750" sldId="334"/>
            <ac:spMk id="2" creationId="{E609BBA9-2E29-ABF2-C69C-FDAA136D753A}"/>
          </ac:spMkLst>
        </pc:spChg>
        <pc:spChg chg="mod">
          <ac:chgData name="林俊杰" userId="dcfdc803-95d8-409b-8404-351632be86e2" providerId="ADAL" clId="{7A530056-576D-6046-AFD6-5B1A1FA42300}" dt="2024-11-11T13:51:17.072" v="267" actId="115"/>
          <ac:spMkLst>
            <pc:docMk/>
            <pc:sldMk cId="4189945750" sldId="334"/>
            <ac:spMk id="3" creationId="{E3B7498A-E541-CDFE-46C6-CA0C4B1443B7}"/>
          </ac:spMkLst>
        </pc:spChg>
        <pc:spChg chg="add mod">
          <ac:chgData name="林俊杰" userId="dcfdc803-95d8-409b-8404-351632be86e2" providerId="ADAL" clId="{7A530056-576D-6046-AFD6-5B1A1FA42300}" dt="2024-11-11T14:01:29.588" v="390" actId="20577"/>
          <ac:spMkLst>
            <pc:docMk/>
            <pc:sldMk cId="4189945750" sldId="334"/>
            <ac:spMk id="5" creationId="{FD5FD3A5-AA91-EF83-D659-72EC9BC62A13}"/>
          </ac:spMkLst>
        </pc:spChg>
      </pc:sldChg>
      <pc:sldChg chg="addSp delSp modSp new mod">
        <pc:chgData name="林俊杰" userId="dcfdc803-95d8-409b-8404-351632be86e2" providerId="ADAL" clId="{7A530056-576D-6046-AFD6-5B1A1FA42300}" dt="2024-11-11T14:03:51.638" v="428" actId="27636"/>
        <pc:sldMkLst>
          <pc:docMk/>
          <pc:sldMk cId="1830312121" sldId="335"/>
        </pc:sldMkLst>
        <pc:spChg chg="mod">
          <ac:chgData name="林俊杰" userId="dcfdc803-95d8-409b-8404-351632be86e2" providerId="ADAL" clId="{7A530056-576D-6046-AFD6-5B1A1FA42300}" dt="2024-11-11T13:51:52.448" v="269"/>
          <ac:spMkLst>
            <pc:docMk/>
            <pc:sldMk cId="1830312121" sldId="335"/>
            <ac:spMk id="2" creationId="{E665D397-58DA-04B4-CEF3-E5DEBDA22750}"/>
          </ac:spMkLst>
        </pc:spChg>
        <pc:spChg chg="mod">
          <ac:chgData name="林俊杰" userId="dcfdc803-95d8-409b-8404-351632be86e2" providerId="ADAL" clId="{7A530056-576D-6046-AFD6-5B1A1FA42300}" dt="2024-11-11T14:03:51.638" v="428" actId="27636"/>
          <ac:spMkLst>
            <pc:docMk/>
            <pc:sldMk cId="1830312121" sldId="335"/>
            <ac:spMk id="3" creationId="{F44C2A5D-DC6F-A778-0A6B-F6863FCE2635}"/>
          </ac:spMkLst>
        </pc:spChg>
        <pc:spChg chg="add del">
          <ac:chgData name="林俊杰" userId="dcfdc803-95d8-409b-8404-351632be86e2" providerId="ADAL" clId="{7A530056-576D-6046-AFD6-5B1A1FA42300}" dt="2024-11-11T14:01:15.034" v="384" actId="22"/>
          <ac:spMkLst>
            <pc:docMk/>
            <pc:sldMk cId="1830312121" sldId="335"/>
            <ac:spMk id="5" creationId="{99CE3EEF-9360-0B2F-33BE-EF554CF96372}"/>
          </ac:spMkLst>
        </pc:spChg>
      </pc:sldChg>
      <pc:sldChg chg="addSp delSp modSp new mod">
        <pc:chgData name="林俊杰" userId="dcfdc803-95d8-409b-8404-351632be86e2" providerId="ADAL" clId="{7A530056-576D-6046-AFD6-5B1A1FA42300}" dt="2024-11-12T13:15:35.335" v="447" actId="1076"/>
        <pc:sldMkLst>
          <pc:docMk/>
          <pc:sldMk cId="2160769150" sldId="336"/>
        </pc:sldMkLst>
        <pc:spChg chg="mod">
          <ac:chgData name="林俊杰" userId="dcfdc803-95d8-409b-8404-351632be86e2" providerId="ADAL" clId="{7A530056-576D-6046-AFD6-5B1A1FA42300}" dt="2024-11-11T14:04:00.345" v="430"/>
          <ac:spMkLst>
            <pc:docMk/>
            <pc:sldMk cId="2160769150" sldId="336"/>
            <ac:spMk id="2" creationId="{B53765B5-D25B-1DDC-EEC7-CE88A0437441}"/>
          </ac:spMkLst>
        </pc:spChg>
        <pc:spChg chg="del">
          <ac:chgData name="林俊杰" userId="dcfdc803-95d8-409b-8404-351632be86e2" providerId="ADAL" clId="{7A530056-576D-6046-AFD6-5B1A1FA42300}" dt="2024-11-12T13:11:33.761" v="433" actId="478"/>
          <ac:spMkLst>
            <pc:docMk/>
            <pc:sldMk cId="2160769150" sldId="336"/>
            <ac:spMk id="3" creationId="{418DC773-E1C6-3266-2C0E-53C680C5E7D9}"/>
          </ac:spMkLst>
        </pc:spChg>
        <pc:spChg chg="add mod">
          <ac:chgData name="林俊杰" userId="dcfdc803-95d8-409b-8404-351632be86e2" providerId="ADAL" clId="{7A530056-576D-6046-AFD6-5B1A1FA42300}" dt="2024-11-12T13:15:28.895" v="445" actId="1076"/>
          <ac:spMkLst>
            <pc:docMk/>
            <pc:sldMk cId="2160769150" sldId="336"/>
            <ac:spMk id="6" creationId="{2B1DB578-0951-D862-D09F-EAB19B002208}"/>
          </ac:spMkLst>
        </pc:spChg>
        <pc:picChg chg="add mod modCrop">
          <ac:chgData name="林俊杰" userId="dcfdc803-95d8-409b-8404-351632be86e2" providerId="ADAL" clId="{7A530056-576D-6046-AFD6-5B1A1FA42300}" dt="2024-11-12T13:15:35.335" v="447" actId="1076"/>
          <ac:picMkLst>
            <pc:docMk/>
            <pc:sldMk cId="2160769150" sldId="336"/>
            <ac:picMk id="4" creationId="{CD5EA849-907A-2277-2E17-9F5375F5CCFC}"/>
          </ac:picMkLst>
        </pc:picChg>
      </pc:sldChg>
      <pc:sldChg chg="addSp delSp modSp new mod">
        <pc:chgData name="林俊杰" userId="dcfdc803-95d8-409b-8404-351632be86e2" providerId="ADAL" clId="{7A530056-576D-6046-AFD6-5B1A1FA42300}" dt="2024-11-12T13:50:12.101" v="604" actId="1076"/>
        <pc:sldMkLst>
          <pc:docMk/>
          <pc:sldMk cId="3155489791" sldId="337"/>
        </pc:sldMkLst>
        <pc:spChg chg="mod">
          <ac:chgData name="林俊杰" userId="dcfdc803-95d8-409b-8404-351632be86e2" providerId="ADAL" clId="{7A530056-576D-6046-AFD6-5B1A1FA42300}" dt="2024-11-12T13:32:57.180" v="528"/>
          <ac:spMkLst>
            <pc:docMk/>
            <pc:sldMk cId="3155489791" sldId="337"/>
            <ac:spMk id="2" creationId="{3A0BAD60-EF4E-26B3-DD8B-56EB0EA2EAA0}"/>
          </ac:spMkLst>
        </pc:spChg>
        <pc:spChg chg="del">
          <ac:chgData name="林俊杰" userId="dcfdc803-95d8-409b-8404-351632be86e2" providerId="ADAL" clId="{7A530056-576D-6046-AFD6-5B1A1FA42300}" dt="2024-11-12T13:41:59.011" v="541" actId="478"/>
          <ac:spMkLst>
            <pc:docMk/>
            <pc:sldMk cId="3155489791" sldId="337"/>
            <ac:spMk id="3" creationId="{D7DA6D66-B309-DDAE-572E-6235A68B2FEF}"/>
          </ac:spMkLst>
        </pc:spChg>
        <pc:spChg chg="add del mod">
          <ac:chgData name="林俊杰" userId="dcfdc803-95d8-409b-8404-351632be86e2" providerId="ADAL" clId="{7A530056-576D-6046-AFD6-5B1A1FA42300}" dt="2024-11-12T13:43:07.076" v="557" actId="21"/>
          <ac:spMkLst>
            <pc:docMk/>
            <pc:sldMk cId="3155489791" sldId="337"/>
            <ac:spMk id="4" creationId="{206F6BCB-68E8-35B0-9121-5A75FF1510C1}"/>
          </ac:spMkLst>
        </pc:spChg>
        <pc:spChg chg="add del mod">
          <ac:chgData name="林俊杰" userId="dcfdc803-95d8-409b-8404-351632be86e2" providerId="ADAL" clId="{7A530056-576D-6046-AFD6-5B1A1FA42300}" dt="2024-11-12T13:48:11.202" v="583" actId="21"/>
          <ac:spMkLst>
            <pc:docMk/>
            <pc:sldMk cId="3155489791" sldId="337"/>
            <ac:spMk id="6" creationId="{70BA54B1-5C0D-D9D6-C7C8-F662764FEE89}"/>
          </ac:spMkLst>
        </pc:spChg>
        <pc:spChg chg="add del">
          <ac:chgData name="林俊杰" userId="dcfdc803-95d8-409b-8404-351632be86e2" providerId="ADAL" clId="{7A530056-576D-6046-AFD6-5B1A1FA42300}" dt="2024-11-12T13:41:33.604" v="534" actId="22"/>
          <ac:spMkLst>
            <pc:docMk/>
            <pc:sldMk cId="3155489791" sldId="337"/>
            <ac:spMk id="8" creationId="{7C1DBDE3-E9F3-7022-8DC7-C375548584C4}"/>
          </ac:spMkLst>
        </pc:spChg>
        <pc:spChg chg="add del">
          <ac:chgData name="林俊杰" userId="dcfdc803-95d8-409b-8404-351632be86e2" providerId="ADAL" clId="{7A530056-576D-6046-AFD6-5B1A1FA42300}" dt="2024-11-12T13:48:38.809" v="591" actId="22"/>
          <ac:spMkLst>
            <pc:docMk/>
            <pc:sldMk cId="3155489791" sldId="337"/>
            <ac:spMk id="11" creationId="{D4D3A7E4-DEF6-FBCA-687B-A357C0E7F139}"/>
          </ac:spMkLst>
        </pc:spChg>
        <pc:picChg chg="add mod">
          <ac:chgData name="林俊杰" userId="dcfdc803-95d8-409b-8404-351632be86e2" providerId="ADAL" clId="{7A530056-576D-6046-AFD6-5B1A1FA42300}" dt="2024-11-12T13:50:12.101" v="604" actId="1076"/>
          <ac:picMkLst>
            <pc:docMk/>
            <pc:sldMk cId="3155489791" sldId="337"/>
            <ac:picMk id="9" creationId="{952AADE7-DA27-CF18-E16F-BBFEBC64C7DA}"/>
          </ac:picMkLst>
        </pc:picChg>
        <pc:picChg chg="add del mod">
          <ac:chgData name="林俊杰" userId="dcfdc803-95d8-409b-8404-351632be86e2" providerId="ADAL" clId="{7A530056-576D-6046-AFD6-5B1A1FA42300}" dt="2024-11-12T13:42:38.567" v="547" actId="21"/>
          <ac:picMkLst>
            <pc:docMk/>
            <pc:sldMk cId="3155489791" sldId="337"/>
            <ac:picMk id="2050" creationId="{F2842D6E-C7F1-4CD2-D4F8-B876BB00056D}"/>
          </ac:picMkLst>
        </pc:picChg>
      </pc:sldChg>
      <pc:sldChg chg="addSp delSp modSp new mod">
        <pc:chgData name="林俊杰" userId="dcfdc803-95d8-409b-8404-351632be86e2" providerId="ADAL" clId="{7A530056-576D-6046-AFD6-5B1A1FA42300}" dt="2024-11-12T13:50:28.074" v="607" actId="1076"/>
        <pc:sldMkLst>
          <pc:docMk/>
          <pc:sldMk cId="4031133208" sldId="338"/>
        </pc:sldMkLst>
        <pc:spChg chg="mod">
          <ac:chgData name="林俊杰" userId="dcfdc803-95d8-409b-8404-351632be86e2" providerId="ADAL" clId="{7A530056-576D-6046-AFD6-5B1A1FA42300}" dt="2024-11-12T13:42:33.721" v="546"/>
          <ac:spMkLst>
            <pc:docMk/>
            <pc:sldMk cId="4031133208" sldId="338"/>
            <ac:spMk id="2" creationId="{8B6EBA3C-BEDB-2EE2-AB60-4F01625EAEC4}"/>
          </ac:spMkLst>
        </pc:spChg>
        <pc:spChg chg="del">
          <ac:chgData name="林俊杰" userId="dcfdc803-95d8-409b-8404-351632be86e2" providerId="ADAL" clId="{7A530056-576D-6046-AFD6-5B1A1FA42300}" dt="2024-11-12T13:47:17.694" v="566" actId="478"/>
          <ac:spMkLst>
            <pc:docMk/>
            <pc:sldMk cId="4031133208" sldId="338"/>
            <ac:spMk id="3" creationId="{89F5F974-960E-CDE9-4DF0-B5CAD74FF09E}"/>
          </ac:spMkLst>
        </pc:spChg>
        <pc:spChg chg="add mod">
          <ac:chgData name="林俊杰" userId="dcfdc803-95d8-409b-8404-351632be86e2" providerId="ADAL" clId="{7A530056-576D-6046-AFD6-5B1A1FA42300}" dt="2024-11-12T13:50:21.335" v="606" actId="20577"/>
          <ac:spMkLst>
            <pc:docMk/>
            <pc:sldMk cId="4031133208" sldId="338"/>
            <ac:spMk id="5" creationId="{3E4F806C-5A00-E81B-2715-E3974CDF90D6}"/>
          </ac:spMkLst>
        </pc:spChg>
        <pc:spChg chg="add mod">
          <ac:chgData name="林俊杰" userId="dcfdc803-95d8-409b-8404-351632be86e2" providerId="ADAL" clId="{7A530056-576D-6046-AFD6-5B1A1FA42300}" dt="2024-11-12T13:49:52.625" v="602" actId="404"/>
          <ac:spMkLst>
            <pc:docMk/>
            <pc:sldMk cId="4031133208" sldId="338"/>
            <ac:spMk id="7" creationId="{FCAE43ED-D971-EE52-9CF1-CC1D4E4DF8C0}"/>
          </ac:spMkLst>
        </pc:spChg>
        <pc:spChg chg="add del mod">
          <ac:chgData name="林俊杰" userId="dcfdc803-95d8-409b-8404-351632be86e2" providerId="ADAL" clId="{7A530056-576D-6046-AFD6-5B1A1FA42300}" dt="2024-11-12T13:48:01.789" v="581" actId="478"/>
          <ac:spMkLst>
            <pc:docMk/>
            <pc:sldMk cId="4031133208" sldId="338"/>
            <ac:spMk id="9" creationId="{DE6A5198-FF1C-7C5D-D48A-9DD810497F2D}"/>
          </ac:spMkLst>
        </pc:spChg>
        <pc:spChg chg="add mod">
          <ac:chgData name="林俊杰" userId="dcfdc803-95d8-409b-8404-351632be86e2" providerId="ADAL" clId="{7A530056-576D-6046-AFD6-5B1A1FA42300}" dt="2024-11-12T13:50:28.074" v="607" actId="1076"/>
          <ac:spMkLst>
            <pc:docMk/>
            <pc:sldMk cId="4031133208" sldId="338"/>
            <ac:spMk id="11" creationId="{7AF9A63C-D178-30BD-61F2-2DD8D954E141}"/>
          </ac:spMkLst>
        </pc:spChg>
      </pc:sldChg>
      <pc:sldChg chg="new del">
        <pc:chgData name="林俊杰" userId="dcfdc803-95d8-409b-8404-351632be86e2" providerId="ADAL" clId="{7A530056-576D-6046-AFD6-5B1A1FA42300}" dt="2024-11-12T13:52:07.741" v="610" actId="2696"/>
        <pc:sldMkLst>
          <pc:docMk/>
          <pc:sldMk cId="3428782923" sldId="339"/>
        </pc:sldMkLst>
      </pc:sldChg>
    </pc:docChg>
  </pc:docChgLst>
  <pc:docChgLst>
    <pc:chgData name="林俊杰" userId="dcfdc803-95d8-409b-8404-351632be86e2" providerId="ADAL" clId="{BDB58771-15FA-496F-A47D-D4E9B57071FB}"/>
    <pc:docChg chg="delSld">
      <pc:chgData name="林俊杰" userId="dcfdc803-95d8-409b-8404-351632be86e2" providerId="ADAL" clId="{BDB58771-15FA-496F-A47D-D4E9B57071FB}" dt="2024-11-19T14:58:10.775" v="0" actId="2696"/>
      <pc:docMkLst>
        <pc:docMk/>
      </pc:docMkLst>
      <pc:sldChg chg="del">
        <pc:chgData name="林俊杰" userId="dcfdc803-95d8-409b-8404-351632be86e2" providerId="ADAL" clId="{BDB58771-15FA-496F-A47D-D4E9B57071FB}" dt="2024-11-19T14:58:10.775" v="0" actId="2696"/>
        <pc:sldMkLst>
          <pc:docMk/>
          <pc:sldMk cId="3817474122" sldId="313"/>
        </pc:sldMkLst>
      </pc:sldChg>
      <pc:sldChg chg="del">
        <pc:chgData name="林俊杰" userId="dcfdc803-95d8-409b-8404-351632be86e2" providerId="ADAL" clId="{BDB58771-15FA-496F-A47D-D4E9B57071FB}" dt="2024-11-19T14:58:10.775" v="0" actId="2696"/>
        <pc:sldMkLst>
          <pc:docMk/>
          <pc:sldMk cId="613232461" sldId="319"/>
        </pc:sldMkLst>
      </pc:sldChg>
      <pc:sldChg chg="del">
        <pc:chgData name="林俊杰" userId="dcfdc803-95d8-409b-8404-351632be86e2" providerId="ADAL" clId="{BDB58771-15FA-496F-A47D-D4E9B57071FB}" dt="2024-11-19T14:58:10.775" v="0" actId="2696"/>
        <pc:sldMkLst>
          <pc:docMk/>
          <pc:sldMk cId="1321680623" sldId="320"/>
        </pc:sldMkLst>
      </pc:sldChg>
      <pc:sldChg chg="del">
        <pc:chgData name="林俊杰" userId="dcfdc803-95d8-409b-8404-351632be86e2" providerId="ADAL" clId="{BDB58771-15FA-496F-A47D-D4E9B57071FB}" dt="2024-11-19T14:58:10.775" v="0" actId="2696"/>
        <pc:sldMkLst>
          <pc:docMk/>
          <pc:sldMk cId="3542761455" sldId="322"/>
        </pc:sldMkLst>
      </pc:sldChg>
      <pc:sldChg chg="del">
        <pc:chgData name="林俊杰" userId="dcfdc803-95d8-409b-8404-351632be86e2" providerId="ADAL" clId="{BDB58771-15FA-496F-A47D-D4E9B57071FB}" dt="2024-11-19T14:58:10.775" v="0" actId="2696"/>
        <pc:sldMkLst>
          <pc:docMk/>
          <pc:sldMk cId="808619229" sldId="323"/>
        </pc:sldMkLst>
      </pc:sldChg>
      <pc:sldChg chg="del">
        <pc:chgData name="林俊杰" userId="dcfdc803-95d8-409b-8404-351632be86e2" providerId="ADAL" clId="{BDB58771-15FA-496F-A47D-D4E9B57071FB}" dt="2024-11-19T14:58:10.775" v="0" actId="2696"/>
        <pc:sldMkLst>
          <pc:docMk/>
          <pc:sldMk cId="3814490260" sldId="324"/>
        </pc:sldMkLst>
      </pc:sldChg>
      <pc:sldChg chg="del">
        <pc:chgData name="林俊杰" userId="dcfdc803-95d8-409b-8404-351632be86e2" providerId="ADAL" clId="{BDB58771-15FA-496F-A47D-D4E9B57071FB}" dt="2024-11-19T14:58:10.775" v="0" actId="2696"/>
        <pc:sldMkLst>
          <pc:docMk/>
          <pc:sldMk cId="992301967" sldId="329"/>
        </pc:sldMkLst>
      </pc:sldChg>
      <pc:sldChg chg="del">
        <pc:chgData name="林俊杰" userId="dcfdc803-95d8-409b-8404-351632be86e2" providerId="ADAL" clId="{BDB58771-15FA-496F-A47D-D4E9B57071FB}" dt="2024-11-19T14:58:10.775" v="0" actId="2696"/>
        <pc:sldMkLst>
          <pc:docMk/>
          <pc:sldMk cId="1182794119" sldId="330"/>
        </pc:sldMkLst>
      </pc:sldChg>
      <pc:sldChg chg="del">
        <pc:chgData name="林俊杰" userId="dcfdc803-95d8-409b-8404-351632be86e2" providerId="ADAL" clId="{BDB58771-15FA-496F-A47D-D4E9B57071FB}" dt="2024-11-19T14:58:10.775" v="0" actId="2696"/>
        <pc:sldMkLst>
          <pc:docMk/>
          <pc:sldMk cId="2468136592" sldId="33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3D5660-1E67-A1F0-22C4-A66946206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324F000-E879-C2B5-FED0-EDA405468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09B1E7-D498-CD8E-3AA8-971468FA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D6DC2E-AC13-3ED5-C192-8DA5736E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015B5C-5231-52A6-6B03-5191728F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724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46D16B-36EF-C4C0-1076-81A2A940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FA28ED-3828-CDF4-107E-91E35A5C2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691964-2CDA-59F5-654B-FA76C633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438642-1CA1-09EE-0B9C-0C26049ED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40C4D9-289B-CF8A-5CB4-68CEC59D4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969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BF839F-8F94-B4E7-7863-7E4D082DC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C01471-5CCB-D198-65BA-4782D0726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439911-149E-54EF-AA24-6C107B399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B4BD6D-31E1-31B4-4DC4-6644B4AD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20BF7C-606D-35CC-BDAA-824DA939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173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B98C1-811D-8B18-7F5C-55409EC0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84DCF6-5226-9F81-5F79-0504CEC9E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07D2F2C-9905-4401-BE2B-7A80D2EB5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885D20-C53F-C16B-72BB-0C38C1D2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EAA228-F105-2704-DE7C-C5BD72D5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6BD3944-72AD-5A62-0187-D7E76CE2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8319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6B2277-E24C-B61B-B48B-73F40FF12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CB659B-ABD4-62EE-03D3-94F930AD7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BEA15C1-4E83-40BC-AE14-81C7FF2B3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84E9E2F-A93B-05FF-760E-E9AC2FD0C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9D9AED-ABD9-5170-A3F3-6C054F326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9F2001C-9C13-4EF9-F7D2-CFC272BA0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26DCF36-FEF0-FB19-1ED2-167FA31C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ED2DC4C-94EF-A65F-2AD4-DB7CFA2B2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5973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5AF1B9-BEDB-120A-AD5B-4CB7F3F8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724FD65-E4D9-6A79-A598-7C7921CF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4F17E5-C9DB-2A7A-D261-40FDB036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8F0F130-3589-2197-90B2-B876CA86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3535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8A0DF5F-CBA4-D3BC-572B-58B072E9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665CA96-D4FA-D267-DEDA-62DBA102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A0EA94-9AFA-3AAD-BD28-8F31DBAC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1909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C4AEB-9E19-2A3C-2449-8D2FFE18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668A08-CC0F-43A2-FF1B-A9FF1CEA2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168AEF1-6359-7B57-087D-903E43850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69E6BA-87A0-1B77-E961-8D9E9146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9DC4059-C522-AA78-4EE8-36F1B0E6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9E43A4-0F03-8B64-589A-465F24D9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827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2D1371-E58D-8D73-A133-F2A0E359A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DFF26AD-ED4F-8D4E-3B87-AB55EA85E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19C1B0-299C-A5BC-6477-63838CBFC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60C6A7-3143-3750-8FF0-6E0B05EB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AE7954-83C0-5CBF-E66A-8E654628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93DA45-057D-ECEF-46B4-4CAD8D0E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346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5A7BDA-2738-99E1-F1D9-92AD7018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03CBFB7-9889-38BA-9CCB-236052E1E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3AD3CE-E2DE-D9BA-7283-56447761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0DC006-0956-F86E-8019-BD5EBF6CC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0D5B02-EE64-9461-08C8-13291770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3130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5E4DDEB-C812-6C03-2961-05282F4D9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EC6EA05-DF02-C6A9-EA98-E303D4F65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157E06-6E1F-AB50-5FE6-8AC9810D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8AFC13-0B69-89B7-E5E2-AE2D32EA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2C4D80-FC72-AE83-70D6-4A2E95DD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939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AC56B5F-E890-4E42-780D-6E604F69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F22BC7-5E5D-01D3-C38C-17DCB6B51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618C61-E1F6-BA03-8AE0-2CAF3E4B4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08182-EC8B-BC43-B1FD-DD27EC860B52}" type="datetimeFigureOut">
              <a:rPr kumimoji="1" lang="zh-TW" altLang="en-US" smtClean="0"/>
              <a:t>2024/11/19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875D7A-B8B7-B495-1349-E14BCF79C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51387C-A631-460E-7CEB-4CC8B3AD4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2DE90-A7A5-074B-96F5-BF8C0A18654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778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tomohiroliu22.medium.com/%E6%A9%9F%E5%99%A8%E5%AD%B8%E7%BF%92-%E5%AD%B8%E7%BF%92%E7%AD%86%E8%A8%98%E7%B3%BB%E5%88%97-92-%E9%AB%98%E6%96%AF%E6%B7%B7%E5%90%88%E6%A8%A1%E5%9E%8B-gaussian-mixture-models-8a74ab279bfe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cipy.org/doc/scipy/reference/generated/scipy.cluster.hierarchy.linkage.html#scipy.cluster.hierarchy.linkag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wardsdatascience.com/the-5-clustering-algorithms-data-scientists-need-to-know-a36d136ef68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A6DBD7-F77E-6439-5B0B-A81180617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" altLang="zh-TW" dirty="0"/>
              <a:t>unsupervised learning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E9D74FD-93CB-FD6E-8939-66AAF7ED3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zh-TW" altLang="en-US" dirty="0">
                <a:solidFill>
                  <a:schemeClr val="bg1">
                    <a:lumMod val="95000"/>
                  </a:schemeClr>
                </a:solidFill>
              </a:rPr>
              <a:t>降維、</a:t>
            </a:r>
            <a:r>
              <a:rPr lang="zh-TW" altLang="en-US" dirty="0"/>
              <a:t>分群、生成</a:t>
            </a:r>
            <a:endParaRPr lang="en-US" altLang="zh-TW" dirty="0"/>
          </a:p>
          <a:p>
            <a:endParaRPr lang="en-US" altLang="zh-TW" dirty="0"/>
          </a:p>
          <a:p>
            <a:r>
              <a:rPr lang="en" altLang="zh-TW" dirty="0"/>
              <a:t>https://</a:t>
            </a:r>
            <a:r>
              <a:rPr lang="en" altLang="zh-TW" dirty="0" err="1"/>
              <a:t>leemeng.tw</a:t>
            </a:r>
            <a:r>
              <a:rPr lang="en" altLang="zh-TW" dirty="0"/>
              <a:t>/essence-of-principal-component-</a:t>
            </a:r>
            <a:r>
              <a:rPr lang="en" altLang="zh-TW" dirty="0" err="1"/>
              <a:t>analysis.html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4744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E605637-B9A5-22D7-58D4-21F28A7E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Clustering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53D76A1-1F12-A28C-A352-0B282FB44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分群</a:t>
            </a:r>
          </a:p>
        </p:txBody>
      </p:sp>
    </p:spTree>
    <p:extLst>
      <p:ext uri="{BB962C8B-B14F-4D97-AF65-F5344CB8AC3E}">
        <p14:creationId xmlns:p14="http://schemas.microsoft.com/office/powerpoint/2010/main" val="271350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46B365-D29B-4BCD-6FD0-53EC1B8D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Clustering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17FA79-82B9-432E-5C5F-204CEA1BA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41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zh-TW" sz="2400" dirty="0"/>
              <a:t>將相似的實例分組到集群中。 </a:t>
            </a:r>
            <a:endParaRPr lang="en-US" altLang="zh-TW" sz="2400" dirty="0"/>
          </a:p>
          <a:p>
            <a:pPr>
              <a:lnSpc>
                <a:spcPct val="120000"/>
              </a:lnSpc>
            </a:pPr>
            <a:r>
              <a:rPr lang="zh-TW" altLang="en-US" sz="2400" dirty="0"/>
              <a:t>分群</a:t>
            </a:r>
            <a:r>
              <a:rPr lang="zh-TW" altLang="zh-TW" sz="2400" dirty="0"/>
              <a:t>是資料分析、客戶細分、推薦系統、搜尋引擎、影像分割、半監督學習、降維等的一個很好的工具。</a:t>
            </a:r>
            <a:endParaRPr lang="en-US" altLang="zh-TW" sz="2400" dirty="0"/>
          </a:p>
          <a:p>
            <a:pPr>
              <a:lnSpc>
                <a:spcPct val="120000"/>
              </a:lnSpc>
            </a:pPr>
            <a:r>
              <a:rPr lang="zh-TW" altLang="en-US" sz="2400" dirty="0"/>
              <a:t>客戶細分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根據客戶的購買情況和活動對客戶進行分群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在推薦系統中，客戶細分可用來建議內容，非常有用</a:t>
            </a:r>
          </a:p>
          <a:p>
            <a:pPr>
              <a:lnSpc>
                <a:spcPct val="120000"/>
              </a:lnSpc>
            </a:pPr>
            <a:r>
              <a:rPr lang="zh-TW" altLang="en-US" sz="2400" dirty="0"/>
              <a:t>數據分析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運行一個分群算法，然後分別分析每個群集</a:t>
            </a:r>
          </a:p>
          <a:p>
            <a:pPr>
              <a:lnSpc>
                <a:spcPct val="120000"/>
              </a:lnSpc>
            </a:pPr>
            <a:r>
              <a:rPr lang="zh-TW" altLang="en-US" sz="2400" dirty="0"/>
              <a:t>維度縮減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分群 → 每個實例與每個群集的累同程度</a:t>
            </a:r>
            <a:r>
              <a:rPr lang="en-US" altLang="zh-TW" sz="1800" dirty="0"/>
              <a:t>(</a:t>
            </a:r>
            <a:r>
              <a:rPr lang="zh-TW" altLang="en-US" sz="1800" dirty="0"/>
              <a:t>或叫親和力，</a:t>
            </a:r>
            <a:r>
              <a:rPr lang="en" altLang="zh-TW" sz="1800" dirty="0"/>
              <a:t>affinity</a:t>
            </a:r>
            <a:r>
              <a:rPr lang="en-US" altLang="zh-TW" sz="1800" dirty="0"/>
              <a:t>)</a:t>
            </a:r>
            <a:r>
              <a:rPr lang="zh-TW" altLang="en-US" sz="1800" dirty="0"/>
              <a:t> → </a:t>
            </a:r>
            <a:r>
              <a:rPr lang="en-US" altLang="zh-TW" sz="1800" dirty="0"/>
              <a:t>k</a:t>
            </a:r>
            <a:r>
              <a:rPr lang="zh-TW" altLang="en-US" sz="1800" dirty="0"/>
              <a:t>個群集 → </a:t>
            </a:r>
            <a:r>
              <a:rPr lang="en-US" altLang="zh-TW" sz="1800" dirty="0"/>
              <a:t>k</a:t>
            </a:r>
            <a:r>
              <a:rPr lang="zh-TW" altLang="en-US" sz="1800" dirty="0"/>
              <a:t>維向量 → 新特徵！！</a:t>
            </a:r>
          </a:p>
          <a:p>
            <a:pPr>
              <a:lnSpc>
                <a:spcPct val="120000"/>
              </a:lnSpc>
            </a:pPr>
            <a:r>
              <a:rPr lang="zh-TW" altLang="en-US" sz="2400" dirty="0"/>
              <a:t>異常檢測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任何對所有群集都有低親和力的實例，很可能是一個異常。</a:t>
            </a: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392091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B1AEAB-BCB9-CA4E-A698-BBB539E9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/>
              <a:t>Clustering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709836-A351-934F-A7AA-08DD48881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" altLang="zh-TW"/>
              <a:t>semi-supervised learning</a:t>
            </a:r>
          </a:p>
          <a:p>
            <a:pPr lvl="1"/>
            <a:r>
              <a:rPr kumimoji="1" lang="en" altLang="zh-TW"/>
              <a:t>If you only have a few labels, you could perform clustering and propagate the labels to all the instances in the same cluster. This technique can greatly increase the number of labels available for a subsequent supervised learning algorithm, and thus improve its performance.</a:t>
            </a:r>
          </a:p>
          <a:p>
            <a:r>
              <a:rPr kumimoji="1" lang="en" altLang="zh-TW"/>
              <a:t>Search engines</a:t>
            </a:r>
          </a:p>
          <a:p>
            <a:pPr lvl="1"/>
            <a:r>
              <a:rPr kumimoji="1" lang="en" altLang="zh-TW"/>
              <a:t>Image search?</a:t>
            </a:r>
          </a:p>
          <a:p>
            <a:r>
              <a:rPr lang="en" altLang="zh-TW"/>
              <a:t>an image segmentation</a:t>
            </a:r>
          </a:p>
          <a:p>
            <a:pPr lvl="1"/>
            <a:r>
              <a:rPr lang="en" altLang="zh-TW"/>
              <a:t>By clustering pixels according to their color, then replacing each pixel’s color with the mean color of its cluster</a:t>
            </a:r>
          </a:p>
          <a:p>
            <a:pPr lvl="1"/>
            <a:r>
              <a:rPr lang="en" altLang="zh-TW"/>
              <a:t>Object detection, tracking systems, contour  detection</a:t>
            </a:r>
          </a:p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9609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E70B32-0ACA-0435-A7BC-9ACCF384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分群</a:t>
            </a:r>
            <a:r>
              <a:rPr kumimoji="1" lang="en-US" altLang="zh-TW" dirty="0"/>
              <a:t>Cluster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CB2224-986F-F050-B089-4D55DDE7E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K-means</a:t>
            </a:r>
          </a:p>
          <a:p>
            <a:pPr lvl="1"/>
            <a:r>
              <a:rPr kumimoji="1" lang="en" altLang="zh-TW" dirty="0"/>
              <a:t>k-means </a:t>
            </a:r>
            <a:r>
              <a:rPr kumimoji="1" lang="zh-TW" altLang="en-US" dirty="0"/>
              <a:t>演算法的算法很簡單，僅一般加減乘除就好，不需要複雜的計算公式。</a:t>
            </a:r>
          </a:p>
          <a:p>
            <a:pPr lvl="1"/>
            <a:r>
              <a:rPr kumimoji="1" lang="zh-TW" altLang="en-US" dirty="0"/>
              <a:t>初始化</a:t>
            </a:r>
            <a:r>
              <a:rPr kumimoji="1" lang="en-US" altLang="zh-TW" dirty="0"/>
              <a:t>:</a:t>
            </a:r>
            <a:r>
              <a:rPr kumimoji="1" lang="zh-TW" altLang="en-US" dirty="0"/>
              <a:t>指定</a:t>
            </a:r>
            <a:r>
              <a:rPr kumimoji="1" lang="en" altLang="zh-TW" dirty="0"/>
              <a:t>K</a:t>
            </a:r>
            <a:r>
              <a:rPr kumimoji="1" lang="zh-TW" altLang="en-US" dirty="0"/>
              <a:t>個分群，並隨機挑選</a:t>
            </a:r>
            <a:r>
              <a:rPr kumimoji="1" lang="en" altLang="zh-TW" dirty="0"/>
              <a:t>K</a:t>
            </a:r>
            <a:r>
              <a:rPr kumimoji="1" lang="zh-TW" altLang="en-US" dirty="0"/>
              <a:t>個資料點的值當作群組中心值</a:t>
            </a:r>
          </a:p>
          <a:p>
            <a:pPr lvl="1"/>
            <a:r>
              <a:rPr kumimoji="1" lang="zh-TW" altLang="en-US" dirty="0"/>
              <a:t>分配資料點</a:t>
            </a:r>
            <a:r>
              <a:rPr kumimoji="1" lang="en-US" altLang="zh-TW" dirty="0"/>
              <a:t>:</a:t>
            </a:r>
            <a:r>
              <a:rPr kumimoji="1" lang="zh-TW" altLang="en-US" dirty="0"/>
              <a:t>將每個資料點</a:t>
            </a:r>
            <a:br>
              <a:rPr kumimoji="1" lang="en-US" altLang="zh-TW" dirty="0"/>
            </a:br>
            <a:r>
              <a:rPr kumimoji="1" lang="zh-TW" altLang="en-US" dirty="0"/>
              <a:t>設為距離最近的中心</a:t>
            </a:r>
          </a:p>
          <a:p>
            <a:pPr lvl="1"/>
            <a:r>
              <a:rPr kumimoji="1" lang="zh-TW" altLang="en-US" dirty="0"/>
              <a:t>計算平均值</a:t>
            </a:r>
            <a:r>
              <a:rPr kumimoji="1" lang="en-US" altLang="zh-TW" dirty="0"/>
              <a:t>:</a:t>
            </a:r>
            <a:r>
              <a:rPr kumimoji="1" lang="zh-TW" altLang="en-US" dirty="0"/>
              <a:t>重新計算每個</a:t>
            </a:r>
            <a:br>
              <a:rPr kumimoji="1" lang="en-US" altLang="zh-TW" dirty="0"/>
            </a:br>
            <a:r>
              <a:rPr kumimoji="1" lang="zh-TW" altLang="en-US" dirty="0"/>
              <a:t>分群的中心點</a:t>
            </a:r>
          </a:p>
          <a:p>
            <a:pPr lvl="1"/>
            <a:r>
              <a:rPr kumimoji="1" lang="zh-TW" altLang="en-US" dirty="0"/>
              <a:t>重複步驟</a:t>
            </a:r>
            <a:r>
              <a:rPr kumimoji="1" lang="en-US" altLang="zh-TW" dirty="0"/>
              <a:t>2</a:t>
            </a:r>
            <a:r>
              <a:rPr kumimoji="1" lang="zh-TW" altLang="en-US" dirty="0"/>
              <a:t>、</a:t>
            </a:r>
            <a:r>
              <a:rPr kumimoji="1" lang="en-US" altLang="zh-TW" dirty="0"/>
              <a:t>3</a:t>
            </a:r>
            <a:r>
              <a:rPr kumimoji="1" lang="zh-TW" altLang="en-US" dirty="0"/>
              <a:t>，直到資料點</a:t>
            </a:r>
            <a:br>
              <a:rPr kumimoji="1" lang="en-US" altLang="zh-TW" dirty="0"/>
            </a:br>
            <a:r>
              <a:rPr kumimoji="1" lang="zh-TW" altLang="en-US" dirty="0"/>
              <a:t>不再變換群組為止</a:t>
            </a:r>
          </a:p>
        </p:txBody>
      </p:sp>
      <p:pic>
        <p:nvPicPr>
          <p:cNvPr id="4" name="Picture 2" descr="Figure">
            <a:extLst>
              <a:ext uri="{FF2B5EF4-FFF2-40B4-BE49-F238E27FC236}">
                <a16:creationId xmlns:a16="http://schemas.microsoft.com/office/drawing/2014/main" id="{A68F62AE-A892-D584-C840-6C1625CA7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417" y="3687600"/>
            <a:ext cx="5817383" cy="2708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4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6206F-0180-6D52-23C1-C32D0007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分群</a:t>
            </a:r>
            <a:r>
              <a:rPr kumimoji="1" lang="en-US" altLang="zh-TW" dirty="0"/>
              <a:t>Cluster-</a:t>
            </a:r>
            <a:r>
              <a:rPr kumimoji="1" lang="en-US" altLang="zh-TW" dirty="0" err="1"/>
              <a:t>Kmeans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1F2E22-8AE3-EE82-77E3-F47E1CFFE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E7922D1-A27C-89BA-12E2-5B4DAA998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126071" cy="4340333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1F4086BD-84AC-286F-2E75-AEDFA8AAE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6" y="1960823"/>
            <a:ext cx="88270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05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D849C5-2CAD-587F-A328-61E8AC7F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K-means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795A93-B5A2-3978-5C4C-98893721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K-means</a:t>
            </a:r>
            <a:r>
              <a:rPr kumimoji="1" lang="zh-TW" altLang="en-US" dirty="0"/>
              <a:t>演算法最重要的是選擇正確的群數</a:t>
            </a:r>
            <a:r>
              <a:rPr kumimoji="1" lang="en-US" altLang="zh-TW" dirty="0"/>
              <a:t>(k)</a:t>
            </a:r>
            <a:endParaRPr kumimoji="1" lang="zh-TW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189F62F-9EB0-ECEE-79C9-B40758F7D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83" y="2434431"/>
            <a:ext cx="11386633" cy="356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19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2AB973-4375-6B46-B5A7-74EA70E9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選擇群數</a:t>
            </a:r>
            <a:r>
              <a:rPr kumimoji="1" lang="en-US" altLang="zh-TW" dirty="0"/>
              <a:t>(number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clusters)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5BB81B-D11C-3F76-F787-F7053686A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越多群的情況下，每個實例會越接近他所歸屬的群的中心點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想想看 </a:t>
            </a:r>
            <a:r>
              <a:rPr kumimoji="1" lang="en-US" altLang="zh-TW" dirty="0"/>
              <a:t>K</a:t>
            </a:r>
            <a:r>
              <a:rPr kumimoji="1" lang="zh-TW" altLang="en-US" dirty="0"/>
              <a:t> 設定成多少，可能會讓分群後，每群的群內總距離</a:t>
            </a:r>
            <a:r>
              <a:rPr kumimoji="1" lang="en-US" altLang="zh-TW" dirty="0"/>
              <a:t>(inertia)</a:t>
            </a:r>
            <a:r>
              <a:rPr kumimoji="1" lang="zh-TW" altLang="en-US" dirty="0"/>
              <a:t>最小？</a:t>
            </a:r>
            <a:endParaRPr kumimoji="1" lang="en-US" altLang="zh-TW" dirty="0"/>
          </a:p>
          <a:p>
            <a:r>
              <a:rPr kumimoji="1" lang="zh-TW" altLang="en-US" dirty="0"/>
              <a:t>那麼我們可以測試不同的</a:t>
            </a:r>
            <a:r>
              <a:rPr kumimoji="1" lang="en-US" altLang="zh-TW" dirty="0"/>
              <a:t>K</a:t>
            </a:r>
            <a:r>
              <a:rPr kumimoji="1" lang="zh-TW" altLang="en-US" dirty="0"/>
              <a:t>，並計算</a:t>
            </a:r>
            <a:r>
              <a:rPr kumimoji="1" lang="en-US" altLang="zh-TW" dirty="0"/>
              <a:t>inertia</a:t>
            </a:r>
            <a:r>
              <a:rPr kumimoji="1" lang="zh-TW" altLang="en-US" dirty="0"/>
              <a:t>的值的變化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Elbow</a:t>
            </a:r>
            <a:r>
              <a:rPr kumimoji="1" lang="zh-TW" altLang="en-US" dirty="0"/>
              <a:t> </a:t>
            </a:r>
            <a:r>
              <a:rPr kumimoji="1" lang="en-US" altLang="zh-TW" dirty="0"/>
              <a:t>method</a:t>
            </a:r>
          </a:p>
          <a:p>
            <a:endParaRPr kumimoji="1" lang="zh-TW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A208184-8C5F-887F-206E-8FC2C22FE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37" y="3600450"/>
            <a:ext cx="7213600" cy="30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77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4BE36F-FD66-8A4B-BA5B-2F973B28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/>
              <a:t>silhouette score (</a:t>
            </a:r>
            <a:r>
              <a:rPr lang="zh-TW" altLang="en-US" b="1"/>
              <a:t>輪廓分數</a:t>
            </a:r>
            <a:r>
              <a:rPr lang="en-US" altLang="zh-TW" b="1"/>
              <a:t>)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86EB40-53C0-3540-8B76-FBF64E1FE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/>
              <a:t>An </a:t>
            </a:r>
            <a:r>
              <a:rPr lang="en" altLang="zh-TW" u="sng"/>
              <a:t>instance’s silhouette coefficient </a:t>
            </a:r>
            <a:r>
              <a:rPr lang="en" altLang="zh-TW"/>
              <a:t>is equal to (</a:t>
            </a:r>
            <a:r>
              <a:rPr lang="en" altLang="zh-TW" b="1" i="1"/>
              <a:t>b </a:t>
            </a:r>
            <a:r>
              <a:rPr lang="en" altLang="zh-TW"/>
              <a:t>– </a:t>
            </a:r>
            <a:r>
              <a:rPr lang="en" altLang="zh-TW" b="1" i="1"/>
              <a:t>a</a:t>
            </a:r>
            <a:r>
              <a:rPr lang="en" altLang="zh-TW"/>
              <a:t>) / max(</a:t>
            </a:r>
            <a:r>
              <a:rPr lang="en" altLang="zh-TW" b="1" i="1"/>
              <a:t>a</a:t>
            </a:r>
            <a:r>
              <a:rPr lang="en" altLang="zh-TW"/>
              <a:t>, </a:t>
            </a:r>
            <a:r>
              <a:rPr lang="en" altLang="zh-TW" b="1" i="1"/>
              <a:t>b</a:t>
            </a:r>
            <a:r>
              <a:rPr lang="en" altLang="zh-TW"/>
              <a:t>) </a:t>
            </a:r>
            <a:endParaRPr kumimoji="1" lang="en-US" altLang="zh-TW"/>
          </a:p>
          <a:p>
            <a:r>
              <a:rPr lang="en" altLang="zh-TW"/>
              <a:t>where </a:t>
            </a:r>
            <a:r>
              <a:rPr lang="en" altLang="zh-TW" b="1" i="1"/>
              <a:t>a </a:t>
            </a:r>
            <a:r>
              <a:rPr lang="en" altLang="zh-TW"/>
              <a:t>is the mean distance to the other instances in the same cluster (i.e., the mean intra-cluster distance) </a:t>
            </a:r>
          </a:p>
          <a:p>
            <a:r>
              <a:rPr lang="en" altLang="zh-TW" b="1" i="1"/>
              <a:t>b </a:t>
            </a:r>
            <a:r>
              <a:rPr lang="en" altLang="zh-TW"/>
              <a:t>is the mean nearest-cluster distance (i.e., the mean distance to the instances of the next closest cluster, defined as the one that minimizes </a:t>
            </a:r>
            <a:r>
              <a:rPr lang="en" altLang="zh-TW" b="1" i="1"/>
              <a:t>b</a:t>
            </a:r>
            <a:r>
              <a:rPr lang="en" altLang="zh-TW"/>
              <a:t>, excluding the instance’s own cluster) </a:t>
            </a:r>
          </a:p>
          <a:p>
            <a:endParaRPr lang="en" altLang="zh-TW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202DF80-B88E-8344-A93C-8EB7D9606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925" y="4365625"/>
            <a:ext cx="72136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089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C9B7CF-4F52-AA47-BD44-58309FFC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5125"/>
            <a:ext cx="10668000" cy="1325563"/>
          </a:xfrm>
        </p:spPr>
        <p:txBody>
          <a:bodyPr/>
          <a:lstStyle/>
          <a:p>
            <a:r>
              <a:rPr kumimoji="1" lang="en-US" altLang="zh-TW"/>
              <a:t>Silhouette diagram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2D5C1-0F95-D645-B0E6-C031954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33825" cy="4667250"/>
          </a:xfrm>
        </p:spPr>
        <p:txBody>
          <a:bodyPr>
            <a:normAutofit/>
          </a:bodyPr>
          <a:lstStyle/>
          <a:p>
            <a:r>
              <a:rPr kumimoji="1" lang="en" altLang="zh-TW"/>
              <a:t>The shape’s height indicates the number of instances the cluster contains, and its width represents the sorted silhouette coefficients of the instances in the cluster (wider is better). </a:t>
            </a:r>
          </a:p>
          <a:p>
            <a:r>
              <a:rPr kumimoji="1" lang="en" altLang="zh-TW"/>
              <a:t>The dashed line indicates the mean silhouette coefficient.</a:t>
            </a:r>
            <a:endParaRPr kumimoji="1" lang="zh-TW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A4A1C0E-A886-FD4B-A881-9858F7C6E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094" y="261938"/>
            <a:ext cx="7245906" cy="591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520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65FFEB-CA2A-3FBD-8498-A714A76C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K-means</a:t>
            </a:r>
            <a:r>
              <a:rPr kumimoji="1" lang="zh-TW" altLang="en-US" dirty="0"/>
              <a:t>可能遇到的問題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1DD260-A51B-9867-37C5-BAAFED6B1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zh-TW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AD86BA7-9F8F-5A33-8E95-D886B2846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70" y="2254993"/>
            <a:ext cx="5784849" cy="405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DB5499-3D48-10B0-18AE-75E0BF3E42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128"/>
          <a:stretch/>
        </p:blipFill>
        <p:spPr bwMode="auto">
          <a:xfrm>
            <a:off x="6377014" y="1127891"/>
            <a:ext cx="5052382" cy="299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3CF6BE1-9280-20D5-1E6A-2D82A3F28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04"/>
          <a:stretch/>
        </p:blipFill>
        <p:spPr bwMode="auto">
          <a:xfrm>
            <a:off x="6916964" y="3856991"/>
            <a:ext cx="4538639" cy="299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向右箭號 6">
            <a:extLst>
              <a:ext uri="{FF2B5EF4-FFF2-40B4-BE49-F238E27FC236}">
                <a16:creationId xmlns:a16="http://schemas.microsoft.com/office/drawing/2014/main" id="{89874591-37BA-50BD-288C-4498DA5A660C}"/>
              </a:ext>
            </a:extLst>
          </p:cNvPr>
          <p:cNvSpPr/>
          <p:nvPr/>
        </p:nvSpPr>
        <p:spPr>
          <a:xfrm>
            <a:off x="6187215" y="3675509"/>
            <a:ext cx="389467" cy="4452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5693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D85F0F9-1910-0A44-A17D-57AB2986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/>
              <a:t>Gaussian Mixtures </a:t>
            </a:r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4AEE609-9EA5-8145-9F8B-4FEE3F04A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另一種透過資料分佈機率計算的分群演算法</a:t>
            </a:r>
          </a:p>
        </p:txBody>
      </p:sp>
    </p:spTree>
    <p:extLst>
      <p:ext uri="{BB962C8B-B14F-4D97-AF65-F5344CB8AC3E}">
        <p14:creationId xmlns:p14="http://schemas.microsoft.com/office/powerpoint/2010/main" val="3931409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4F9221-18DA-0C42-A6DF-0D95193C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i="1"/>
              <a:t>Gaussian mixture model </a:t>
            </a:r>
            <a:r>
              <a:rPr lang="en" altLang="zh-TW"/>
              <a:t>(GMM) 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68D7B9-E66E-DC4E-A590-8DCB95A74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9773"/>
          </a:xfrm>
        </p:spPr>
        <p:txBody>
          <a:bodyPr>
            <a:normAutofit/>
          </a:bodyPr>
          <a:lstStyle/>
          <a:p>
            <a:r>
              <a:rPr kumimoji="1" lang="en" altLang="zh-TW" dirty="0"/>
              <a:t>A probabilistic model</a:t>
            </a:r>
            <a:r>
              <a:rPr kumimoji="1" lang="en-US" altLang="zh-TW" dirty="0"/>
              <a:t>:</a:t>
            </a:r>
            <a:r>
              <a:rPr kumimoji="1" lang="zh-TW" altLang="en-US" dirty="0"/>
              <a:t> </a:t>
            </a:r>
            <a:r>
              <a:rPr kumimoji="1" lang="en" altLang="zh-TW" dirty="0"/>
              <a:t>the instances were generated from a mixture of several Gaussian distributions whose parameters are </a:t>
            </a:r>
            <a:r>
              <a:rPr kumimoji="1" lang="en" altLang="zh-TW" dirty="0">
                <a:solidFill>
                  <a:srgbClr val="FF0000"/>
                </a:solidFill>
              </a:rPr>
              <a:t>unknown</a:t>
            </a:r>
            <a:r>
              <a:rPr kumimoji="1" lang="en" altLang="zh-TW" dirty="0"/>
              <a:t>. </a:t>
            </a:r>
          </a:p>
          <a:p>
            <a:r>
              <a:rPr lang="en" altLang="zh-TW" dirty="0"/>
              <a:t>All the instances generated from a single Gaussian distribution form a cluster that typically looks like an ellipsoid </a:t>
            </a:r>
          </a:p>
          <a:p>
            <a:r>
              <a:rPr lang="en" altLang="zh-TW" dirty="0"/>
              <a:t>Gaussian distribution</a:t>
            </a:r>
            <a:r>
              <a:rPr lang="zh-TW" altLang="en" dirty="0"/>
              <a:t>：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sz="1800" dirty="0"/>
              <a:t>也被稱為常態分布</a:t>
            </a:r>
            <a:r>
              <a:rPr lang="en-US" altLang="zh-TW" sz="1800" dirty="0"/>
              <a:t>(</a:t>
            </a:r>
            <a:r>
              <a:rPr lang="el-GR" altLang="zh-TW" sz="1800" dirty="0"/>
              <a:t>μ </a:t>
            </a:r>
            <a:r>
              <a:rPr lang="en-US" altLang="zh-TW" sz="1800" dirty="0"/>
              <a:t>=0, </a:t>
            </a:r>
            <a:r>
              <a:rPr lang="el-GR" altLang="zh-TW" sz="1800" dirty="0"/>
              <a:t>σ</a:t>
            </a:r>
            <a:r>
              <a:rPr lang="el-GR" altLang="zh-TW" sz="1800" baseline="30000" dirty="0"/>
              <a:t>2</a:t>
            </a:r>
            <a:r>
              <a:rPr lang="en-US" altLang="zh-TW" sz="1800" dirty="0"/>
              <a:t>=1)</a:t>
            </a:r>
          </a:p>
          <a:p>
            <a:r>
              <a:rPr lang="zh-TW" altLang="en-US" sz="1800" dirty="0"/>
              <a:t>期望值</a:t>
            </a:r>
            <a:r>
              <a:rPr lang="el-GR" altLang="zh-TW" sz="1800" dirty="0"/>
              <a:t>μ</a:t>
            </a:r>
            <a:r>
              <a:rPr lang="zh-TW" altLang="en-US" sz="1800" dirty="0"/>
              <a:t> 可解釋為位置母數，決定了分布的位置；</a:t>
            </a:r>
          </a:p>
          <a:p>
            <a:r>
              <a:rPr lang="zh-TW" altLang="en-US" sz="1800" dirty="0"/>
              <a:t>變異數</a:t>
            </a:r>
            <a:r>
              <a:rPr lang="el-GR" altLang="zh-TW" sz="1800" dirty="0"/>
              <a:t>σ</a:t>
            </a:r>
            <a:r>
              <a:rPr lang="el-GR" altLang="zh-TW" sz="1800" baseline="30000" dirty="0"/>
              <a:t>2</a:t>
            </a:r>
            <a:r>
              <a:rPr lang="zh-TW" altLang="el-GR" sz="1800" dirty="0"/>
              <a:t> </a:t>
            </a:r>
            <a:r>
              <a:rPr lang="zh-TW" altLang="en-US" sz="1800" dirty="0"/>
              <a:t>的平方根或標準差 </a:t>
            </a:r>
            <a:r>
              <a:rPr lang="el-GR" altLang="zh-TW" sz="1800" dirty="0"/>
              <a:t>σ</a:t>
            </a:r>
            <a:r>
              <a:rPr lang="zh-TW" altLang="en-US" sz="1800" dirty="0"/>
              <a:t> 可解釋尺度母數，決定了</a:t>
            </a:r>
            <a:br>
              <a:rPr lang="en-US" altLang="zh-TW" sz="1800" dirty="0"/>
            </a:br>
            <a:r>
              <a:rPr lang="zh-TW" altLang="en-US" sz="1800" dirty="0"/>
              <a:t>分布的幅度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FF2AEA-3EEE-6B4E-91D6-63DACA0E1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74" y="3429000"/>
            <a:ext cx="4614864" cy="323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468C4D3-EAAA-EB70-32EA-590F4E55EEF6}"/>
                  </a:ext>
                </a:extLst>
              </p:cNvPr>
              <p:cNvSpPr txBox="1"/>
              <p:nvPr/>
            </p:nvSpPr>
            <p:spPr>
              <a:xfrm>
                <a:off x="2400749" y="4001207"/>
                <a:ext cx="3824343" cy="1045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zh-TW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TW" alt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zh-TW" alt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TW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endChr m:val=""/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TW" altLang="en-US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ctrlPr>
                                            <a:rPr lang="zh-TW" altLang="en-US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TW" altLang="en-US" sz="2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zh-TW" alt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TW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zh-TW" alt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468C4D3-EAAA-EB70-32EA-590F4E55E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749" y="4001207"/>
                <a:ext cx="3824343" cy="1045992"/>
              </a:xfrm>
              <a:prstGeom prst="rect">
                <a:avLst/>
              </a:prstGeom>
              <a:blipFill>
                <a:blip r:embed="rId3"/>
                <a:stretch>
                  <a:fillRect t="-80952" b="-702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675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8662F8-719E-2941-969D-E0F0D0E6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i="1"/>
              <a:t>Gaussian mixture model </a:t>
            </a:r>
            <a:r>
              <a:rPr lang="en" altLang="zh-TW"/>
              <a:t>(GMM) </a:t>
            </a:r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5A7310-1468-A043-AE2B-5C385450E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2388" cy="4351338"/>
          </a:xfrm>
        </p:spPr>
        <p:txBody>
          <a:bodyPr/>
          <a:lstStyle/>
          <a:p>
            <a:r>
              <a:rPr kumimoji="1" lang="zh-TW" altLang="en-US" dirty="0"/>
              <a:t>如果一個高斯分佈無法適當的描述資料</a:t>
            </a:r>
            <a:endParaRPr kumimoji="1" lang="en-US" altLang="zh-TW" dirty="0"/>
          </a:p>
          <a:p>
            <a:r>
              <a:rPr kumimoji="1" lang="zh-TW" altLang="en-US" dirty="0"/>
              <a:t>那麼可以使用一個混合多個高斯分佈的</a:t>
            </a:r>
            <a:r>
              <a:rPr kumimoji="1" lang="en-US" altLang="zh-TW" dirty="0"/>
              <a:t>GMM</a:t>
            </a:r>
            <a:r>
              <a:rPr kumimoji="1" lang="zh-TW" altLang="en-US" dirty="0"/>
              <a:t>來對應資料</a:t>
            </a:r>
            <a:r>
              <a:rPr kumimoji="1" lang="en-US" altLang="zh-TW" dirty="0"/>
              <a:t> </a:t>
            </a:r>
          </a:p>
          <a:p>
            <a:endParaRPr kumimoji="1" lang="zh-TW" alt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6D694A6-4C5E-364E-BE31-DC2E88D20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36" y="1630364"/>
            <a:ext cx="5992288" cy="347793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CF55995F-4BC8-3D46-BEA5-A6E546CED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58" y="4001294"/>
            <a:ext cx="3676071" cy="213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C5902AC-630A-251D-BE46-8FD319EEA6F1}"/>
              </a:ext>
            </a:extLst>
          </p:cNvPr>
          <p:cNvSpPr txBox="1"/>
          <p:nvPr/>
        </p:nvSpPr>
        <p:spPr>
          <a:xfrm>
            <a:off x="521745" y="6373539"/>
            <a:ext cx="6099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https://www.cs.nccu.edu.tw/~whliao/acv2010/08gmm.pdf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B2DFAFE-89EE-783C-5EF2-35540F765CF7}"/>
              </a:ext>
            </a:extLst>
          </p:cNvPr>
          <p:cNvSpPr txBox="1"/>
          <p:nvPr/>
        </p:nvSpPr>
        <p:spPr>
          <a:xfrm>
            <a:off x="6094208" y="5511764"/>
            <a:ext cx="59922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/>
              <a:t>https://chih-sheng-huang821.medium.com/%E6%A9%9F%E5%99%A8%E5%AD%B8%E7%BF%92-em-%E6%BC%94%E7%AE%97%E6%B3%95-expectation-maximization-algorithm-em-%E9%AB%98%E6%96%AF%E6%B7%B7%E5%90%88%E6%A8%A1%E5%9E%8B-gaussian-mixture-model-gmm-%E5%92%8Cgmm-em%E8%A9%B3%E7%B4%B0%E6%8E%A8%E5%B0%8E-c6f634410483</a:t>
            </a:r>
          </a:p>
        </p:txBody>
      </p:sp>
    </p:spTree>
    <p:extLst>
      <p:ext uri="{BB962C8B-B14F-4D97-AF65-F5344CB8AC3E}">
        <p14:creationId xmlns:p14="http://schemas.microsoft.com/office/powerpoint/2010/main" val="1105854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53AAF4-A0C6-0A20-5952-62AC033D0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i="1" dirty="0"/>
              <a:t>Expectation-Maximization </a:t>
            </a:r>
            <a:r>
              <a:rPr lang="en" altLang="zh-TW" dirty="0"/>
              <a:t>(EM) algorithm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E0DD35-08E9-F3F4-F7E5-47B5B7685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150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" altLang="zh-TW" dirty="0">
                <a:latin typeface="Helvetica"/>
                <a:ea typeface="新細明體"/>
                <a:cs typeface="Helvetica"/>
              </a:rPr>
              <a:t>Maximization</a:t>
            </a:r>
            <a:r>
              <a:rPr lang="en" altLang="zh-TW" dirty="0">
                <a:effectLst/>
                <a:latin typeface="Helvetica"/>
                <a:ea typeface="新細明體"/>
                <a:cs typeface="Helvetica"/>
              </a:rPr>
              <a:t> (EM)</a:t>
            </a:r>
            <a:r>
              <a:rPr lang="zh-TW" altLang="en-US" dirty="0">
                <a:effectLst/>
                <a:latin typeface="Helvetica"/>
                <a:ea typeface="新細明體"/>
                <a:cs typeface="Helvetica"/>
              </a:rPr>
              <a:t>演算法，它與</a:t>
            </a:r>
            <a:r>
              <a:rPr lang="en" altLang="zh-TW" dirty="0">
                <a:effectLst/>
                <a:latin typeface="Helvetica"/>
                <a:ea typeface="新細明體"/>
                <a:cs typeface="Helvetica"/>
              </a:rPr>
              <a:t>K-Means </a:t>
            </a:r>
            <a:r>
              <a:rPr lang="zh-TW" altLang="en-US" dirty="0">
                <a:effectLst/>
                <a:latin typeface="Helvetica"/>
                <a:ea typeface="新細明體"/>
                <a:cs typeface="Helvetica"/>
              </a:rPr>
              <a:t>演算法有許多相似之處</a:t>
            </a:r>
            <a:endParaRPr lang="zh-TW" altLang="en-US" dirty="0">
              <a:effectLst/>
              <a:latin typeface="Helvetica" pitchFamily="2" charset="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決定群集的數量。</a:t>
            </a:r>
          </a:p>
          <a:p>
            <a:pPr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初始化每個群集的平均值、變異數和權重參數。</a:t>
            </a:r>
            <a:endParaRPr lang="en-US" altLang="zh-TW" dirty="0">
              <a:effectLst/>
              <a:latin typeface="Helvetica" pitchFamily="2" charset="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使用期望最大化演算法</a:t>
            </a:r>
            <a:r>
              <a:rPr lang="en-US" altLang="zh-TW" dirty="0">
                <a:effectLst/>
                <a:latin typeface="Helvetica" pitchFamily="2" charset="0"/>
              </a:rPr>
              <a:t>(Expectation Maximization algorithm )</a:t>
            </a:r>
            <a:r>
              <a:rPr lang="zh-TW" altLang="en-US" dirty="0">
                <a:effectLst/>
                <a:latin typeface="Helvetica" pitchFamily="2" charset="0"/>
              </a:rPr>
              <a:t>執行以下操作：</a:t>
            </a:r>
            <a:endParaRPr lang="en-US" altLang="zh-TW" dirty="0">
              <a:effectLst/>
              <a:latin typeface="Helvetica" pitchFamily="2" charset="0"/>
            </a:endParaRPr>
          </a:p>
          <a:p>
            <a:pPr lvl="1"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期望步驟（</a:t>
            </a:r>
            <a:r>
              <a:rPr lang="en" altLang="zh-TW" dirty="0">
                <a:effectLst/>
                <a:latin typeface="Helvetica" pitchFamily="2" charset="0"/>
              </a:rPr>
              <a:t>expectation</a:t>
            </a:r>
            <a:r>
              <a:rPr lang="zh-TW" altLang="en-US" dirty="0">
                <a:effectLst/>
                <a:latin typeface="Helvetica" pitchFamily="2" charset="0"/>
              </a:rPr>
              <a:t> </a:t>
            </a:r>
            <a:r>
              <a:rPr lang="en" altLang="zh-TW" dirty="0" err="1">
                <a:effectLst/>
                <a:latin typeface="Helvetica" pitchFamily="2" charset="0"/>
              </a:rPr>
              <a:t>ste</a:t>
            </a:r>
            <a:r>
              <a:rPr lang="en-US" altLang="zh-TW" dirty="0">
                <a:effectLst/>
                <a:latin typeface="Helvetica" pitchFamily="2" charset="0"/>
              </a:rPr>
              <a:t>p</a:t>
            </a:r>
            <a:r>
              <a:rPr lang="en-US" altLang="zh-TW" dirty="0">
                <a:latin typeface="Helvetica" pitchFamily="2" charset="0"/>
              </a:rPr>
              <a:t>,</a:t>
            </a:r>
            <a:r>
              <a:rPr lang="zh-TW" altLang="en-US" dirty="0">
                <a:latin typeface="Helvetica" pitchFamily="2" charset="0"/>
              </a:rPr>
              <a:t> </a:t>
            </a:r>
            <a:r>
              <a:rPr lang="en-US" altLang="zh-TW" dirty="0">
                <a:effectLst/>
                <a:latin typeface="Helvetica" pitchFamily="2" charset="0"/>
              </a:rPr>
              <a:t>E</a:t>
            </a:r>
            <a:r>
              <a:rPr lang="zh-TW" altLang="en-US" dirty="0">
                <a:effectLst/>
                <a:latin typeface="Helvetica" pitchFamily="2" charset="0"/>
              </a:rPr>
              <a:t>步）：計算每個數據點屬於每個數據點的機率，將實例分到群聚，然後使用當前參數估計值</a:t>
            </a:r>
            <a:r>
              <a:rPr lang="en-US" altLang="zh-TW" dirty="0">
                <a:effectLst/>
                <a:latin typeface="Helvetica" pitchFamily="2" charset="0"/>
              </a:rPr>
              <a:t>(current estimate for the parameters)</a:t>
            </a:r>
            <a:r>
              <a:rPr lang="zh-TW" altLang="en-US" dirty="0">
                <a:effectLst/>
                <a:latin typeface="Helvetica" pitchFamily="2" charset="0"/>
              </a:rPr>
              <a:t>計算似然函數</a:t>
            </a:r>
            <a:r>
              <a:rPr lang="en-US" altLang="zh-TW" dirty="0">
                <a:effectLst/>
                <a:latin typeface="Helvetica" pitchFamily="2" charset="0"/>
              </a:rPr>
              <a:t>(likelihood function)</a:t>
            </a:r>
            <a:r>
              <a:rPr lang="zh-TW" altLang="en-US" dirty="0">
                <a:effectLst/>
                <a:latin typeface="Helvetica" pitchFamily="2" charset="0"/>
              </a:rPr>
              <a:t>。</a:t>
            </a:r>
            <a:endParaRPr lang="en-US" altLang="zh-TW" dirty="0">
              <a:effectLst/>
              <a:latin typeface="Helvetica" pitchFamily="2" charset="0"/>
            </a:endParaRPr>
          </a:p>
          <a:p>
            <a:pPr lvl="1"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最大化步驟（</a:t>
            </a:r>
            <a:r>
              <a:rPr lang="en" altLang="zh-TW" dirty="0">
                <a:effectLst/>
                <a:latin typeface="Helvetica" pitchFamily="2" charset="0"/>
              </a:rPr>
              <a:t> maximization step </a:t>
            </a:r>
            <a:r>
              <a:rPr lang="en-US" altLang="zh-TW" dirty="0">
                <a:effectLst/>
                <a:latin typeface="Helvetica" pitchFamily="2" charset="0"/>
              </a:rPr>
              <a:t>M</a:t>
            </a:r>
            <a:r>
              <a:rPr lang="zh-TW" altLang="en-US" dirty="0">
                <a:effectLst/>
                <a:latin typeface="Helvetica" pitchFamily="2" charset="0"/>
              </a:rPr>
              <a:t>步）：更新先前每個群聚的平均值、變異數和權重參數，以最大化</a:t>
            </a:r>
            <a:r>
              <a:rPr lang="en-US" altLang="zh-TW" dirty="0">
                <a:effectLst/>
                <a:latin typeface="Helvetica" pitchFamily="2" charset="0"/>
              </a:rPr>
              <a:t>E</a:t>
            </a:r>
            <a:r>
              <a:rPr lang="zh-TW" altLang="en-US" dirty="0">
                <a:effectLst/>
                <a:latin typeface="Helvetica" pitchFamily="2" charset="0"/>
              </a:rPr>
              <a:t>步中發現的期望似然值。</a:t>
            </a:r>
            <a:endParaRPr lang="en-US" altLang="zh-TW" dirty="0">
              <a:effectLst/>
              <a:latin typeface="Helvetica" pitchFamily="2" charset="0"/>
            </a:endParaRPr>
          </a:p>
          <a:p>
            <a:pPr lvl="1"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重複這些步驟直到模型收斂。</a:t>
            </a:r>
            <a:endParaRPr lang="en-US" altLang="zh-TW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185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915A78-D1AF-8EC0-300A-30B74861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i="1" dirty="0"/>
              <a:t>Expectation-Maximization </a:t>
            </a:r>
            <a:r>
              <a:rPr lang="en" altLang="zh-TW" dirty="0"/>
              <a:t>(EM) algorithm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0BB0BC-2C50-7238-C455-3BBA73FDA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在分群的背景下，你可以將</a:t>
            </a:r>
            <a:r>
              <a:rPr lang="en" altLang="zh-TW" dirty="0">
                <a:effectLst/>
                <a:latin typeface="Helvetica" pitchFamily="2" charset="0"/>
              </a:rPr>
              <a:t>EM </a:t>
            </a:r>
            <a:r>
              <a:rPr lang="zh-TW" altLang="en-US" dirty="0">
                <a:effectLst/>
                <a:latin typeface="Helvetica" pitchFamily="2" charset="0"/>
              </a:rPr>
              <a:t>當成</a:t>
            </a:r>
            <a:r>
              <a:rPr lang="en" altLang="zh-TW" dirty="0">
                <a:effectLst/>
                <a:latin typeface="Helvetica" pitchFamily="2" charset="0"/>
              </a:rPr>
              <a:t>K-Means </a:t>
            </a:r>
            <a:r>
              <a:rPr lang="zh-TW" altLang="en-US" dirty="0">
                <a:effectLst/>
                <a:latin typeface="Helvetica" pitchFamily="2" charset="0"/>
              </a:rPr>
              <a:t>的普遍版，它不但可以找出群聚中心 </a:t>
            </a:r>
            <a:r>
              <a:rPr lang="zh-TW" altLang="en" dirty="0">
                <a:effectLst/>
                <a:latin typeface="Helvetica" pitchFamily="2" charset="0"/>
              </a:rPr>
              <a:t>，</a:t>
            </a:r>
            <a:r>
              <a:rPr lang="zh-TW" altLang="en-US" dirty="0">
                <a:effectLst/>
                <a:latin typeface="Helvetica" pitchFamily="2" charset="0"/>
              </a:rPr>
              <a:t>也可以找到它們的大小、形狀與方向</a:t>
            </a:r>
            <a:r>
              <a:rPr lang="zh-TW" altLang="en" dirty="0">
                <a:effectLst/>
                <a:latin typeface="Helvetica" pitchFamily="2" charset="0"/>
              </a:rPr>
              <a:t>，</a:t>
            </a:r>
            <a:r>
              <a:rPr lang="zh-TW" altLang="en-US" dirty="0">
                <a:effectLst/>
                <a:latin typeface="Helvetica" pitchFamily="2" charset="0"/>
              </a:rPr>
              <a:t>以及它們的相對權重。</a:t>
            </a:r>
            <a:endParaRPr lang="en-US" altLang="zh-TW" dirty="0">
              <a:effectLst/>
              <a:latin typeface="Helvetica" pitchFamily="2" charset="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但與</a:t>
            </a:r>
            <a:r>
              <a:rPr lang="en" altLang="zh-TW" dirty="0">
                <a:effectLst/>
                <a:latin typeface="Helvetica" pitchFamily="2" charset="0"/>
              </a:rPr>
              <a:t>K-Means </a:t>
            </a:r>
            <a:r>
              <a:rPr lang="zh-TW" altLang="en-US" dirty="0">
                <a:effectLst/>
                <a:latin typeface="Helvetica" pitchFamily="2" charset="0"/>
              </a:rPr>
              <a:t>不同的是，</a:t>
            </a:r>
            <a:r>
              <a:rPr lang="en" altLang="zh-TW" dirty="0">
                <a:effectLst/>
                <a:latin typeface="Helvetica" pitchFamily="2" charset="0"/>
              </a:rPr>
              <a:t>EM </a:t>
            </a:r>
            <a:r>
              <a:rPr lang="zh-TW" altLang="en-US" dirty="0">
                <a:effectLst/>
                <a:latin typeface="Helvetica" pitchFamily="2" charset="0"/>
              </a:rPr>
              <a:t>使用</a:t>
            </a:r>
            <a:r>
              <a:rPr lang="zh-TW" altLang="en-US" u="sng" dirty="0">
                <a:effectLst/>
                <a:latin typeface="Helvetica" pitchFamily="2" charset="0"/>
              </a:rPr>
              <a:t>軟群聚分配</a:t>
            </a:r>
            <a:r>
              <a:rPr lang="zh-TW" altLang="en-US" dirty="0">
                <a:effectLst/>
                <a:latin typeface="Helvetica" pitchFamily="2" charset="0"/>
              </a:rPr>
              <a:t>，不是硬分配。</a:t>
            </a:r>
            <a:endParaRPr lang="en-US" altLang="zh-TW" dirty="0">
              <a:effectLst/>
              <a:latin typeface="Helvetica" pitchFamily="2" charset="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在期望步驟，演算法會幫各個實例估計它屬於各個群聚的機率（根據當前的群聚參數）。</a:t>
            </a:r>
            <a:endParaRPr lang="en-US" altLang="zh-TW" dirty="0">
              <a:effectLst/>
              <a:latin typeface="Helvetica" pitchFamily="2" charset="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ffectLst/>
                <a:latin typeface="Helvetica" pitchFamily="2" charset="0"/>
              </a:rPr>
              <a:t>接下來，在最大化步驟，演算法會用資料組的所有實例來更新各個群聚，各個實例的權重是它屬於該群聚的估計機率，這些機率稱為實例的群聚責任。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3185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9BB235-DB5F-0602-911F-64A75420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i="1" dirty="0"/>
              <a:t>Gaussian mixture model </a:t>
            </a:r>
            <a:r>
              <a:rPr lang="en" altLang="zh-TW" dirty="0"/>
              <a:t>(GMM)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2C4ACB-6EA6-0733-3F6F-D7D68711F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731E4A-27E6-5A5F-7DC7-9027415AF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60563"/>
            <a:ext cx="8875432" cy="437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632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A0D363-14EE-46D5-3094-82EF7C60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i="1" dirty="0"/>
              <a:t>Gaussian mixture model </a:t>
            </a:r>
            <a:r>
              <a:rPr lang="en" altLang="zh-TW" dirty="0"/>
              <a:t>(GMM)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1BC733-7448-950D-AAA7-BF470988E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TW" altLang="en-US" dirty="0"/>
              <a:t>詳細推導</a:t>
            </a:r>
            <a:endParaRPr kumimoji="1" lang="en-US" altLang="zh-TW" dirty="0"/>
          </a:p>
          <a:p>
            <a:pPr lvl="1"/>
            <a:r>
              <a:rPr kumimoji="1" lang="en" altLang="zh-TW" dirty="0">
                <a:hlinkClick r:id="rId2"/>
              </a:rPr>
              <a:t>https://tomohiroliu22.medium.com/%E6%A9%9F%E5%99%A8%E5%AD%B8%E7%BF%92-%E5%AD%B8%E7%BF%92%E7%AD%86%E8%A8%98%E7%B3%BB%E5%88%97-92-%E9%AB%98%E6%96%AF%E6%B7%B7%E5%90%88%E6%A8%A1%E5%9E%8B-gaussian-mixture-models-8a74ab279bfe</a:t>
            </a:r>
            <a:endParaRPr kumimoji="1" lang="en-US" altLang="zh-TW" dirty="0"/>
          </a:p>
          <a:p>
            <a:pPr lvl="1"/>
            <a:r>
              <a:rPr kumimoji="1" lang="en" altLang="zh-TW" dirty="0"/>
              <a:t>https://chih-sheng-huang821.medium.com/%E6%A9%9F%E5%99%A8%E5%AD%B8%E7%BF%92-em-%E6%BC%94%E7%AE%97%E6%B3%95-expectation-maximization-algorithm-em-%E9%AB%98%E6%96%AF%E6%B7%B7%E5%90%88%E6%A8%A1%E5%9E%8B-gaussian-mixture-model-gmm-%E5%92%8Cgmm-em%E8%A9%B3%E7%B4%B0%E6%8E%A8%E5%B0%8E-c6f634410483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2943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7BE818-21BA-B1A9-A9C0-CE514F56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scikit-learn</a:t>
            </a:r>
            <a:r>
              <a:rPr kumimoji="1" lang="zh-TW" altLang="en-US" dirty="0"/>
              <a:t> </a:t>
            </a:r>
            <a:r>
              <a:rPr kumimoji="1" lang="en-US" altLang="zh-TW" dirty="0"/>
              <a:t>GMM</a:t>
            </a:r>
            <a:r>
              <a:rPr kumimoji="1" lang="zh-TW" altLang="en-US" dirty="0"/>
              <a:t>來試試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42D031-96E6-E7E9-3CF1-5819FC874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B93DE5-F6C3-6969-DA6A-418525F05363}"/>
              </a:ext>
            </a:extLst>
          </p:cNvPr>
          <p:cNvSpPr txBox="1"/>
          <p:nvPr/>
        </p:nvSpPr>
        <p:spPr>
          <a:xfrm>
            <a:off x="279400" y="1825625"/>
            <a:ext cx="10515599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mean1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[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</a:t>
            </a:r>
          </a:p>
          <a:p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mean2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[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</a:t>
            </a:r>
          </a:p>
          <a:p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cov1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[[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.7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], [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.7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]]</a:t>
            </a:r>
          </a:p>
          <a:p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cov2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[[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.5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.4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], [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.4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.5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]]</a:t>
            </a:r>
          </a:p>
          <a:p>
            <a:b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" altLang="zh-TW" sz="1400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# Generate data from the mean and covariance</a:t>
            </a:r>
            <a:endParaRPr lang="en" altLang="zh-TW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np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random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multivariate_normal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mean1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cov1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size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1000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np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random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multivariate_normal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mean2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cov2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size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1000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df1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pd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DataFrame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columns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'x'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'y'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])</a:t>
            </a:r>
          </a:p>
          <a:p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df2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pd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DataFrame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columns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'x'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'y'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])</a:t>
            </a:r>
          </a:p>
          <a:p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plt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figure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figsize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6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))</a:t>
            </a:r>
          </a:p>
          <a:p>
            <a:b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plt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scatter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[:,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],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[:,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])</a:t>
            </a:r>
          </a:p>
          <a:p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plt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scatter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[:,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],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[:,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])</a:t>
            </a:r>
          </a:p>
          <a:p>
            <a:b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sns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kdeplot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df1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'x'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y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'y'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levels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20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linewidth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color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'k'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alpha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0.2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sns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kdeplot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df2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'x'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y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'y'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levels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20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linewidth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color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'k'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alpha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0.2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b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</a:b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plt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grid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False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plt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show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()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FD07326-3A7E-1213-EC30-BA3594E5E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1" y="1328952"/>
            <a:ext cx="4965738" cy="30829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8020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71933A-AE32-97B3-39F5-4375E8E9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scikit-learn</a:t>
            </a:r>
            <a:r>
              <a:rPr kumimoji="1" lang="zh-TW" altLang="en-US" dirty="0"/>
              <a:t> </a:t>
            </a:r>
            <a:r>
              <a:rPr kumimoji="1" lang="en-US" altLang="zh-TW" dirty="0"/>
              <a:t>GMM</a:t>
            </a:r>
            <a:r>
              <a:rPr kumimoji="1" lang="zh-TW" altLang="en-US" dirty="0"/>
              <a:t>來試試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B15B85B-9972-A43E-7B41-AD3AE8F8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3331634"/>
            <a:ext cx="5220000" cy="32408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7A2321A-15C0-7502-5376-F61F79029428}"/>
              </a:ext>
            </a:extLst>
          </p:cNvPr>
          <p:cNvSpPr txBox="1"/>
          <p:nvPr/>
        </p:nvSpPr>
        <p:spPr>
          <a:xfrm>
            <a:off x="838199" y="1690688"/>
            <a:ext cx="957633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TW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from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sklearn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mixture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import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GaussianMixture</a:t>
            </a:r>
            <a:endParaRPr lang="en" altLang="zh-TW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  <a:p>
            <a:r>
              <a:rPr lang="en" altLang="zh-TW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np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concatenate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((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data2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))</a:t>
            </a:r>
          </a:p>
          <a:p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gmm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GaussianMixture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n_components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2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).</a:t>
            </a:r>
            <a:r>
              <a:rPr lang="en" altLang="zh-TW" sz="1400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fit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labels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gmm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predict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</a:p>
          <a:p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plt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figure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figsize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6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))</a:t>
            </a:r>
          </a:p>
          <a:p>
            <a:r>
              <a:rPr lang="en" altLang="zh-TW" sz="1400" b="0" dirty="0" err="1">
                <a:solidFill>
                  <a:srgbClr val="267F99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plt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scatter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[:, 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], </a:t>
            </a:r>
            <a:r>
              <a:rPr lang="en" altLang="zh-TW" sz="1400" b="0" dirty="0">
                <a:solidFill>
                  <a:srgbClr val="0070C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[:, 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],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labels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s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10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cmap</a:t>
            </a:r>
            <a:r>
              <a:rPr lang="en" altLang="zh-TW" sz="1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" altLang="zh-TW" sz="14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viridis</a:t>
            </a:r>
            <a:r>
              <a:rPr lang="en" altLang="zh-TW" sz="14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'</a:t>
            </a:r>
            <a:r>
              <a:rPr lang="en" altLang="zh-TW" sz="14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)</a:t>
            </a:r>
            <a:r>
              <a:rPr lang="en" altLang="zh-TW" sz="1400" b="0" dirty="0">
                <a:solidFill>
                  <a:srgbClr val="CD3131"/>
                </a:solidFill>
                <a:effectLst/>
                <a:highlight>
                  <a:srgbClr val="FFFFFF"/>
                </a:highlight>
                <a:latin typeface="Fira Code" panose="020B0809050000020004" pitchFamily="49" charset="0"/>
              </a:rPr>
              <a:t>;</a:t>
            </a:r>
            <a:endParaRPr lang="en" altLang="zh-TW" sz="1400" b="0" dirty="0">
              <a:solidFill>
                <a:srgbClr val="3B3B3B"/>
              </a:solidFill>
              <a:effectLst/>
              <a:highlight>
                <a:srgbClr val="FFFFFF"/>
              </a:highlight>
              <a:latin typeface="Fira Code" panose="020B0809050000020004" pitchFamily="49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95454481-10F2-546C-31CB-35CD7E6EE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3331634"/>
            <a:ext cx="5295600" cy="32390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F4462DA-77DE-8E7A-6C16-18F5FDC31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920" y="503237"/>
            <a:ext cx="4205745" cy="257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66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09BBA9-2E29-ABF2-C69C-FDAA136D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0" i="0" dirty="0">
                <a:solidFill>
                  <a:srgbClr val="202214"/>
                </a:solidFill>
                <a:effectLst/>
                <a:latin typeface="Inter"/>
              </a:rPr>
              <a:t>Hierarchical Clustering</a:t>
            </a:r>
            <a:r>
              <a:rPr lang="zh-TW" altLang="en-US" b="0" i="0" dirty="0">
                <a:solidFill>
                  <a:srgbClr val="202214"/>
                </a:solidFill>
                <a:effectLst/>
                <a:latin typeface="Inter"/>
              </a:rPr>
              <a:t> </a:t>
            </a:r>
            <a:r>
              <a:rPr lang="en-US" altLang="zh-TW" b="0" i="0" dirty="0">
                <a:solidFill>
                  <a:srgbClr val="202214"/>
                </a:solidFill>
                <a:effectLst/>
                <a:latin typeface="Inter"/>
              </a:rPr>
              <a:t>(</a:t>
            </a:r>
            <a:r>
              <a:rPr kumimoji="1" lang="zh-TW" altLang="en-US" dirty="0"/>
              <a:t>階層式分群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B7498A-E541-CDFE-46C6-CA0C4B144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階層式分群不需要預先定義群集的數量  𝐾</a:t>
            </a:r>
          </a:p>
          <a:p>
            <a:r>
              <a:rPr kumimoji="1" lang="zh-TW" altLang="en-US" dirty="0"/>
              <a:t>分群結果是一種基於樹狀結構的表示法，稱為「樹狀圖」</a:t>
            </a:r>
            <a:endParaRPr kumimoji="1" lang="en-US" altLang="zh-TW" dirty="0"/>
          </a:p>
          <a:p>
            <a:r>
              <a:rPr kumimoji="1" lang="zh-TW" altLang="en-US" dirty="0"/>
              <a:t>建立樹狀圖主要有兩種方法：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凝聚式分群（即自下而上）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假設我們有 𝑛 個樣本，每個樣本具有 𝑝 個特徵。在進行分群之前，需要決定一個「不相似度」的衡量方法 </a:t>
            </a:r>
            <a:r>
              <a:rPr kumimoji="1" lang="en-US" altLang="zh-TW" dirty="0"/>
              <a:t>-</a:t>
            </a:r>
            <a:r>
              <a:rPr kumimoji="1" lang="zh-TW" altLang="en-US" dirty="0"/>
              <a:t> 假設先使用歐幾里得距離。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最初，每個樣本會形成一個單獨的群集。在每次迭代中，會合併那些彼此之間不相似度最低（即最相似）的群集。</a:t>
            </a:r>
            <a:endParaRPr kumimoji="1" lang="en-US" altLang="zh-TW" dirty="0"/>
          </a:p>
          <a:p>
            <a:pPr lvl="2"/>
            <a:r>
              <a:rPr kumimoji="1" lang="zh-TW" altLang="en-US" dirty="0"/>
              <a:t>使用「不相似度」這個詞是因為不相似度將表示</a:t>
            </a:r>
            <a:r>
              <a:rPr kumimoji="1" lang="zh-TW" altLang="en-US" u="sng" dirty="0"/>
              <a:t>樹的深度</a:t>
            </a:r>
            <a:r>
              <a:rPr kumimoji="1" lang="zh-TW" altLang="en-US" dirty="0"/>
              <a:t>，樹的深度將解釋兩個樣本或群集的相似程度。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分割式分析（即自上而下）</a:t>
            </a:r>
          </a:p>
          <a:p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D5FD3A5-AA91-EF83-D659-72EC9BC62A13}"/>
              </a:ext>
            </a:extLst>
          </p:cNvPr>
          <p:cNvSpPr txBox="1"/>
          <p:nvPr/>
        </p:nvSpPr>
        <p:spPr>
          <a:xfrm>
            <a:off x="601532" y="6176963"/>
            <a:ext cx="1135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2"/>
              </a:rPr>
              <a:t>https://docs.scipy.org/doc/scipy/reference/generated/scipy.cluster.hierarchy.linkage.html#scipy.cluster.hierarchy.linkage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9945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65D397-58DA-04B4-CEF3-E5DEBDA2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0" i="0" dirty="0">
                <a:solidFill>
                  <a:srgbClr val="202214"/>
                </a:solidFill>
                <a:effectLst/>
                <a:latin typeface="Inter"/>
              </a:rPr>
              <a:t>Hierarchical Clustering</a:t>
            </a:r>
            <a:r>
              <a:rPr lang="zh-TW" altLang="en-US" b="0" i="0" dirty="0">
                <a:solidFill>
                  <a:srgbClr val="202214"/>
                </a:solidFill>
                <a:effectLst/>
                <a:latin typeface="Inter"/>
              </a:rPr>
              <a:t> </a:t>
            </a:r>
            <a:r>
              <a:rPr lang="en-US" altLang="zh-TW" b="0" i="0" dirty="0">
                <a:solidFill>
                  <a:srgbClr val="202214"/>
                </a:solidFill>
                <a:effectLst/>
                <a:latin typeface="Inter"/>
              </a:rPr>
              <a:t>(</a:t>
            </a:r>
            <a:r>
              <a:rPr kumimoji="1" lang="zh-TW" altLang="en-US" dirty="0"/>
              <a:t>階層式分群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4C2A5D-DC6F-A778-0A6B-F6863FCE2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kumimoji="1" lang="zh-TW" altLang="en-US" sz="2400" dirty="0"/>
              <a:t>使用  𝑛 個樣本，並計算所有 𝑛 </a:t>
            </a:r>
            <a:r>
              <a:rPr kumimoji="1" lang="en-US" altLang="zh-TW" sz="2400" dirty="0"/>
              <a:t>(𝑛−1)/2</a:t>
            </a:r>
            <a:r>
              <a:rPr kumimoji="1" lang="zh-TW" altLang="en-US" sz="2400" dirty="0"/>
              <a:t> 個可能的</a:t>
            </a:r>
            <a:r>
              <a:rPr kumimoji="1" lang="zh-TW" altLang="en-US" sz="2400" u="sng" dirty="0"/>
              <a:t>成對不相似度</a:t>
            </a:r>
            <a:r>
              <a:rPr kumimoji="1" lang="zh-TW" altLang="en-US" sz="2400" dirty="0"/>
              <a:t>。</a:t>
            </a:r>
          </a:p>
          <a:p>
            <a:pPr>
              <a:lnSpc>
                <a:spcPct val="110000"/>
              </a:lnSpc>
            </a:pPr>
            <a:r>
              <a:rPr kumimoji="1" lang="zh-TW" altLang="en-US" sz="2400" dirty="0"/>
              <a:t>迴圈中，對於 𝑖 </a:t>
            </a:r>
            <a:r>
              <a:rPr kumimoji="1" lang="en-US" altLang="zh-TW" sz="2400" dirty="0"/>
              <a:t>=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𝑛,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𝑛−1,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𝑛−2,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…,2</a:t>
            </a:r>
            <a:r>
              <a:rPr kumimoji="1" lang="zh-TW" altLang="en" sz="2400" dirty="0"/>
              <a:t>：</a:t>
            </a:r>
          </a:p>
          <a:p>
            <a:pPr lvl="1">
              <a:lnSpc>
                <a:spcPct val="110000"/>
              </a:lnSpc>
            </a:pPr>
            <a:r>
              <a:rPr kumimoji="1" lang="zh-TW" altLang="en-US" sz="2000" dirty="0"/>
              <a:t>檢查當前  𝑖 個群集</a:t>
            </a:r>
            <a:r>
              <a:rPr kumimoji="1" lang="en-US" altLang="zh-TW" sz="2000" dirty="0"/>
              <a:t>/</a:t>
            </a:r>
            <a:r>
              <a:rPr kumimoji="1" lang="zh-TW" altLang="en-US" sz="2000" dirty="0"/>
              <a:t>樣本之間的所有成對不相似度，並找到不相似度最低的一對群集</a:t>
            </a:r>
            <a:r>
              <a:rPr kumimoji="1" lang="en-US" altLang="zh-TW" sz="2000" dirty="0"/>
              <a:t>/</a:t>
            </a:r>
            <a:r>
              <a:rPr kumimoji="1" lang="zh-TW" altLang="en-US" sz="2000" dirty="0"/>
              <a:t>樣本。</a:t>
            </a:r>
            <a:endParaRPr kumimoji="1" lang="en-US" altLang="zh-TW" sz="2000" dirty="0"/>
          </a:p>
          <a:p>
            <a:pPr lvl="1">
              <a:lnSpc>
                <a:spcPct val="110000"/>
              </a:lnSpc>
            </a:pPr>
            <a:r>
              <a:rPr kumimoji="1" lang="zh-TW" altLang="en-US" sz="2000" dirty="0"/>
              <a:t>將這些群集</a:t>
            </a:r>
            <a:r>
              <a:rPr kumimoji="1" lang="en-US" altLang="zh-TW" sz="2000" dirty="0"/>
              <a:t>/</a:t>
            </a:r>
            <a:r>
              <a:rPr kumimoji="1" lang="zh-TW" altLang="en-US" sz="2000" dirty="0"/>
              <a:t>樣本合併在一起。它們在樹中的高度由它們的不相似度表示</a:t>
            </a:r>
            <a:endParaRPr kumimoji="1" lang="en-US" altLang="zh-TW" sz="2000" dirty="0"/>
          </a:p>
          <a:p>
            <a:pPr lvl="1">
              <a:lnSpc>
                <a:spcPct val="110000"/>
              </a:lnSpc>
            </a:pPr>
            <a:r>
              <a:rPr kumimoji="1" lang="zh-TW" altLang="en-US" sz="2000" dirty="0"/>
              <a:t>計算合併後的群集之間的新成對不相似度。</a:t>
            </a:r>
            <a:endParaRPr kumimoji="1" lang="en-US" altLang="zh-TW" sz="2000" dirty="0"/>
          </a:p>
          <a:p>
            <a:pPr>
              <a:lnSpc>
                <a:spcPct val="110000"/>
              </a:lnSpc>
            </a:pPr>
            <a:r>
              <a:rPr kumimoji="1" lang="zh-TW" altLang="en-US" sz="2400" dirty="0"/>
              <a:t>不相似度計算</a:t>
            </a:r>
          </a:p>
          <a:p>
            <a:pPr lvl="1">
              <a:lnSpc>
                <a:spcPct val="110000"/>
              </a:lnSpc>
            </a:pPr>
            <a:r>
              <a:rPr kumimoji="1" lang="zh-TW" altLang="en-US" sz="2000" dirty="0"/>
              <a:t>計算兩個樣本之間的距離（例如歐幾里得距離），但如何計算兩個群集之間或一個群集與一個樣本之間的距離呢？透過「連結」來解決</a:t>
            </a:r>
            <a:r>
              <a:rPr kumimoji="1" lang="en-US" altLang="zh-TW" sz="2000" dirty="0"/>
              <a:t>-</a:t>
            </a:r>
            <a:r>
              <a:rPr kumimoji="1" lang="zh-TW" altLang="en-US" sz="2000" dirty="0"/>
              <a:t>連結提供了一種將多個值整合為單一數值的方法。主要有以下四種類型的連結方式：</a:t>
            </a:r>
          </a:p>
          <a:p>
            <a:pPr lvl="2">
              <a:lnSpc>
                <a:spcPct val="110000"/>
              </a:lnSpc>
            </a:pPr>
            <a:r>
              <a:rPr kumimoji="1" lang="zh-TW" altLang="en-US" sz="1800" dirty="0"/>
              <a:t>完全連結（</a:t>
            </a:r>
            <a:r>
              <a:rPr kumimoji="1" lang="en" altLang="zh-TW" sz="1800" dirty="0"/>
              <a:t>Complete Linkage</a:t>
            </a:r>
            <a:r>
              <a:rPr kumimoji="1" lang="zh-TW" altLang="en" sz="1800" dirty="0"/>
              <a:t>）：</a:t>
            </a:r>
            <a:r>
              <a:rPr kumimoji="1" lang="zh-TW" altLang="en-US" sz="1800" dirty="0"/>
              <a:t>計算群集中所有觀測點之間的成對距離，並取其中的最大值。</a:t>
            </a:r>
          </a:p>
          <a:p>
            <a:pPr lvl="2">
              <a:lnSpc>
                <a:spcPct val="110000"/>
              </a:lnSpc>
            </a:pPr>
            <a:r>
              <a:rPr kumimoji="1" lang="zh-TW" altLang="en-US" sz="1800" dirty="0"/>
              <a:t>單一連結（</a:t>
            </a:r>
            <a:r>
              <a:rPr kumimoji="1" lang="en" altLang="zh-TW" sz="1800" dirty="0"/>
              <a:t>Single Linkage</a:t>
            </a:r>
            <a:r>
              <a:rPr kumimoji="1" lang="zh-TW" altLang="en" sz="1800" dirty="0"/>
              <a:t>）：</a:t>
            </a:r>
            <a:r>
              <a:rPr kumimoji="1" lang="zh-TW" altLang="en-US" sz="1800" dirty="0"/>
              <a:t>從所有成對距離中取最小的距離。</a:t>
            </a:r>
          </a:p>
          <a:p>
            <a:pPr lvl="2">
              <a:lnSpc>
                <a:spcPct val="110000"/>
              </a:lnSpc>
            </a:pPr>
            <a:r>
              <a:rPr kumimoji="1" lang="zh-TW" altLang="en-US" sz="1800" dirty="0"/>
              <a:t>平均連結（</a:t>
            </a:r>
            <a:r>
              <a:rPr kumimoji="1" lang="en" altLang="zh-TW" sz="1800" dirty="0"/>
              <a:t>Average Linkage</a:t>
            </a:r>
            <a:r>
              <a:rPr kumimoji="1" lang="zh-TW" altLang="en" sz="1800" dirty="0"/>
              <a:t>）：</a:t>
            </a:r>
            <a:r>
              <a:rPr kumimoji="1" lang="zh-TW" altLang="en-US" sz="1800" dirty="0"/>
              <a:t>記錄所有成對距離的平均值。</a:t>
            </a:r>
          </a:p>
          <a:p>
            <a:pPr lvl="2">
              <a:lnSpc>
                <a:spcPct val="110000"/>
              </a:lnSpc>
            </a:pPr>
            <a:r>
              <a:rPr kumimoji="1" lang="zh-TW" altLang="en-US" sz="1800" dirty="0"/>
              <a:t>沃德連結（</a:t>
            </a:r>
            <a:r>
              <a:rPr kumimoji="1" lang="en" altLang="zh-TW" sz="1800" dirty="0"/>
              <a:t>Ward Linkage</a:t>
            </a:r>
            <a:r>
              <a:rPr kumimoji="1" lang="zh-TW" altLang="en" sz="1800" dirty="0"/>
              <a:t>）：</a:t>
            </a:r>
            <a:r>
              <a:rPr kumimoji="1" lang="zh-TW" altLang="en-US" sz="1800" dirty="0"/>
              <a:t>計算基於群內變異的距離，以最小化群內的總平方差。</a:t>
            </a:r>
          </a:p>
        </p:txBody>
      </p:sp>
    </p:spTree>
    <p:extLst>
      <p:ext uri="{BB962C8B-B14F-4D97-AF65-F5344CB8AC3E}">
        <p14:creationId xmlns:p14="http://schemas.microsoft.com/office/powerpoint/2010/main" val="1830312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3765B5-D25B-1DDC-EEC7-CE88A0437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0" i="0" dirty="0">
                <a:solidFill>
                  <a:srgbClr val="202214"/>
                </a:solidFill>
                <a:effectLst/>
                <a:latin typeface="Inter"/>
              </a:rPr>
              <a:t>Hierarchical Clustering</a:t>
            </a:r>
            <a:r>
              <a:rPr lang="zh-TW" altLang="en-US" b="0" i="0" dirty="0">
                <a:solidFill>
                  <a:srgbClr val="202214"/>
                </a:solidFill>
                <a:effectLst/>
                <a:latin typeface="Inter"/>
              </a:rPr>
              <a:t> </a:t>
            </a:r>
            <a:r>
              <a:rPr lang="en-US" altLang="zh-TW" b="0" i="0" dirty="0">
                <a:solidFill>
                  <a:srgbClr val="202214"/>
                </a:solidFill>
                <a:effectLst/>
                <a:latin typeface="Inter"/>
              </a:rPr>
              <a:t>(</a:t>
            </a:r>
            <a:r>
              <a:rPr kumimoji="1" lang="zh-TW" altLang="en-US" dirty="0"/>
              <a:t>階層式分群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D5EA849-907A-2277-2E17-9F5375F5CC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46" t="4746" r="7739" b="4875"/>
          <a:stretch/>
        </p:blipFill>
        <p:spPr>
          <a:xfrm>
            <a:off x="838200" y="1395537"/>
            <a:ext cx="8715729" cy="50973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B1DB578-0951-D862-D09F-EAB19B002208}"/>
              </a:ext>
            </a:extLst>
          </p:cNvPr>
          <p:cNvSpPr txBox="1"/>
          <p:nvPr/>
        </p:nvSpPr>
        <p:spPr>
          <a:xfrm>
            <a:off x="3146612" y="6409771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16.Cluter_Hierarchical_Clustering.py</a:t>
            </a:r>
          </a:p>
        </p:txBody>
      </p:sp>
    </p:spTree>
    <p:extLst>
      <p:ext uri="{BB962C8B-B14F-4D97-AF65-F5344CB8AC3E}">
        <p14:creationId xmlns:p14="http://schemas.microsoft.com/office/powerpoint/2010/main" val="2160769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CB051F-A603-9AB5-95CC-B68A2A74E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DBSCAN</a:t>
            </a:r>
            <a:br>
              <a:rPr kumimoji="1" lang="en-US" altLang="zh-TW" dirty="0"/>
            </a:br>
            <a:r>
              <a:rPr kumimoji="1" lang="en-US" altLang="zh-TW" sz="3600" dirty="0"/>
              <a:t>Density-Based Spatial Clustering of Applications with Noise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A44AAE-E38C-7F2C-3827-B8C1270D5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" altLang="zh-TW" dirty="0"/>
              <a:t>For each instance, the algorithm counts how many instances are located within a small distance </a:t>
            </a:r>
            <a:r>
              <a:rPr kumimoji="1" lang="el-GR" altLang="zh-TW" b="1" dirty="0"/>
              <a:t>ε (</a:t>
            </a:r>
            <a:r>
              <a:rPr kumimoji="1" lang="en" altLang="zh-TW" b="1" dirty="0"/>
              <a:t>epsilon) </a:t>
            </a:r>
            <a:r>
              <a:rPr kumimoji="1" lang="en" altLang="zh-TW" dirty="0"/>
              <a:t>from it. This region is called the instance’s </a:t>
            </a:r>
            <a:r>
              <a:rPr kumimoji="1" lang="el-GR" altLang="zh-TW" dirty="0"/>
              <a:t>ε-</a:t>
            </a:r>
            <a:r>
              <a:rPr kumimoji="1" lang="en" altLang="zh-TW" dirty="0"/>
              <a:t>neighborhood.</a:t>
            </a:r>
          </a:p>
          <a:p>
            <a:r>
              <a:rPr kumimoji="1" lang="en" altLang="zh-TW" dirty="0"/>
              <a:t>If an instance has at least </a:t>
            </a:r>
            <a:r>
              <a:rPr kumimoji="1" lang="en" altLang="zh-TW" b="1" dirty="0" err="1"/>
              <a:t>min_samples</a:t>
            </a:r>
            <a:r>
              <a:rPr kumimoji="1" lang="en" altLang="zh-TW" b="1" dirty="0"/>
              <a:t> </a:t>
            </a:r>
            <a:r>
              <a:rPr kumimoji="1" lang="en" altLang="zh-TW" dirty="0"/>
              <a:t>instances in its </a:t>
            </a:r>
            <a:r>
              <a:rPr kumimoji="1" lang="el-GR" altLang="zh-TW" dirty="0"/>
              <a:t>ε-</a:t>
            </a:r>
            <a:r>
              <a:rPr kumimoji="1" lang="en" altLang="zh-TW" dirty="0"/>
              <a:t>neighborhood (including itself), then it is considered a </a:t>
            </a:r>
            <a:r>
              <a:rPr kumimoji="1" lang="en" altLang="zh-TW" u="sng" dirty="0"/>
              <a:t>core instance</a:t>
            </a:r>
            <a:r>
              <a:rPr kumimoji="1" lang="en" altLang="zh-TW" dirty="0"/>
              <a:t>. In other words, core instances are those that are located in dense regions.</a:t>
            </a:r>
          </a:p>
          <a:p>
            <a:r>
              <a:rPr kumimoji="1" lang="en" altLang="zh-TW" dirty="0"/>
              <a:t>All instances in the neighborhood of a core instance belong to the same cluster. This neighborhood may include other core instances; therefore, a long sequence of neighboring core instances forms a single cluster.</a:t>
            </a:r>
          </a:p>
          <a:p>
            <a:r>
              <a:rPr kumimoji="1" lang="en" altLang="zh-TW" dirty="0"/>
              <a:t>Any instance that is not a core instance and does not have one in its neighborhood is considered an anomaly.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3916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7BC2EC-A028-E30A-DBA9-DA4E2C50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DBSCAN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6AFD79-92FD-95E0-4786-0C1D43E71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4874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DBSCAN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會自行從任意一個點</a:t>
            </a:r>
            <a:b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出發，以上圖而言假設從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A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出</a:t>
            </a:r>
            <a:b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發，然後搜尋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A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周圍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epsilon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範圍以內的「資料數量」，當前的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epsilon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範圍裡有超過</a:t>
            </a:r>
            <a:r>
              <a:rPr lang="en" altLang="zh-TW" b="0" i="0" dirty="0" err="1">
                <a:solidFill>
                  <a:srgbClr val="242424"/>
                </a:solidFill>
                <a:effectLst/>
                <a:latin typeface="source-serif-pro"/>
              </a:rPr>
              <a:t>min_samples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個資料時，就認為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A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是一個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Core</a:t>
            </a:r>
            <a:r>
              <a:rPr lang="zh-TW" altLang="en" b="0" i="0" dirty="0">
                <a:solidFill>
                  <a:srgbClr val="242424"/>
                </a:solidFill>
                <a:effectLst/>
                <a:latin typeface="source-serif-pro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然後開始去對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A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的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eps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範圍內的其他資料做一樣的</a:t>
            </a:r>
            <a:b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事情，直到現在某一個點的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eps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範圍內不具備</a:t>
            </a:r>
            <a:b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en" altLang="zh-TW" b="0" i="0" dirty="0" err="1">
                <a:solidFill>
                  <a:srgbClr val="242424"/>
                </a:solidFill>
                <a:effectLst/>
                <a:latin typeface="source-serif-pro"/>
              </a:rPr>
              <a:t>min_samples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數量的點了我們就停止。</a:t>
            </a:r>
          </a:p>
          <a:p>
            <a:pPr algn="l">
              <a:lnSpc>
                <a:spcPct val="100000"/>
              </a:lnSpc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而如果今天出發的點是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N</a:t>
            </a:r>
            <a:r>
              <a:rPr lang="zh-TW" altLang="en" b="0" i="0" dirty="0">
                <a:solidFill>
                  <a:srgbClr val="242424"/>
                </a:solidFill>
                <a:effectLst/>
                <a:latin typeface="source-serif-pro"/>
              </a:rPr>
              <a:t>，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則在最一開始周圍就</a:t>
            </a:r>
            <a:br>
              <a:rPr lang="en-US" altLang="zh-TW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找不到足夠數量的點，所以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N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source-serif-pro"/>
              </a:rPr>
              <a:t>就會被判斷為</a:t>
            </a:r>
            <a:r>
              <a:rPr lang="en" altLang="zh-TW" b="0" i="0" dirty="0">
                <a:solidFill>
                  <a:srgbClr val="242424"/>
                </a:solidFill>
                <a:effectLst/>
                <a:latin typeface="source-serif-pro"/>
              </a:rPr>
              <a:t>Noise</a:t>
            </a:r>
            <a:r>
              <a:rPr lang="zh-TW" altLang="en" b="0" i="0" dirty="0">
                <a:solidFill>
                  <a:srgbClr val="242424"/>
                </a:solidFill>
                <a:effectLst/>
                <a:latin typeface="source-serif-pro"/>
              </a:rPr>
              <a:t>。</a:t>
            </a:r>
          </a:p>
          <a:p>
            <a:pPr>
              <a:lnSpc>
                <a:spcPct val="100000"/>
              </a:lnSpc>
            </a:pPr>
            <a:endParaRPr kumimoji="1"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33C8DF-16A3-C2C5-FCDD-615D38E4E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522" y="0"/>
            <a:ext cx="6533478" cy="25342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58D7CD5-1E57-5DFD-8848-43754573F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7" r="20769" b="17596"/>
          <a:stretch/>
        </p:blipFill>
        <p:spPr bwMode="auto">
          <a:xfrm>
            <a:off x="8700351" y="3614568"/>
            <a:ext cx="3339472" cy="31460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69274DD-EC44-7849-A6E6-60CED2FD41DE}"/>
              </a:ext>
            </a:extLst>
          </p:cNvPr>
          <p:cNvSpPr txBox="1"/>
          <p:nvPr/>
        </p:nvSpPr>
        <p:spPr>
          <a:xfrm>
            <a:off x="6642960" y="6391313"/>
            <a:ext cx="265713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Epsilon=1.0,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minPoints</a:t>
            </a:r>
            <a:r>
              <a:rPr kumimoji="1" lang="zh-TW" altLang="en-US" dirty="0"/>
              <a:t> </a:t>
            </a:r>
            <a:r>
              <a:rPr kumimoji="1" lang="en-US" altLang="zh-TW" dirty="0"/>
              <a:t>=</a:t>
            </a:r>
            <a:r>
              <a:rPr kumimoji="1" lang="zh-TW" altLang="en-US" dirty="0"/>
              <a:t> </a:t>
            </a:r>
            <a:r>
              <a:rPr kumimoji="1" lang="en-US" altLang="zh-TW" dirty="0"/>
              <a:t>4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0259B6-2360-FC56-437B-6C119F2058BE}"/>
              </a:ext>
            </a:extLst>
          </p:cNvPr>
          <p:cNvSpPr txBox="1"/>
          <p:nvPr/>
        </p:nvSpPr>
        <p:spPr>
          <a:xfrm>
            <a:off x="373324" y="6169709"/>
            <a:ext cx="6048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4"/>
              </a:rPr>
              <a:t>https://towardsdatascience.com/the-5-clustering-algorithms-data-scientists-need-to-know-a36d136ef68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6615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6EBA3C-BEDB-2EE2-AB60-4F01625E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DBSCAN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E4F806C-5A00-E81B-2715-E3974CDF90D6}"/>
              </a:ext>
            </a:extLst>
          </p:cNvPr>
          <p:cNvSpPr txBox="1"/>
          <p:nvPr/>
        </p:nvSpPr>
        <p:spPr>
          <a:xfrm>
            <a:off x="415514" y="1307265"/>
            <a:ext cx="5533465" cy="470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matplotlib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pyplot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as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endParaRPr lang="en" altLang="zh-TW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numpy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as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np</a:t>
            </a:r>
            <a:endParaRPr lang="en" altLang="zh-TW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matplotlib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font_manager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FontProperties</a:t>
            </a:r>
            <a:endParaRPr lang="en" altLang="zh-TW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sklearn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cluster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DBSCAN</a:t>
            </a:r>
            <a:endParaRPr lang="en" altLang="zh-TW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sklearn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datasets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make_circles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make_moons</a:t>
            </a:r>
            <a:endParaRPr lang="en" altLang="zh-TW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from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sklearn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preprocessing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import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StandardScaler</a:t>
            </a:r>
            <a:endParaRPr lang="en" altLang="zh-TW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b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</a:br>
            <a:r>
              <a:rPr lang="en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生成示例資料 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以半月型為例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)</a:t>
            </a:r>
            <a:endParaRPr lang="zh-TW" altLang="en-US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_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make_moons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n_samples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300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noise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0.1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random_state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生成示例資料 生成同心圓資料集</a:t>
            </a:r>
            <a:endParaRPr lang="zh-TW" altLang="en-US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zh-TW" sz="14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#</a:t>
            </a:r>
            <a:r>
              <a:rPr lang="zh-TW" altLang="en-US" sz="14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_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make_circles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n_samples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300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factor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0.5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4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noise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0.05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StandardScaler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().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fit_transform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 </a:t>
            </a:r>
            <a:r>
              <a:rPr lang="en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資料標準化</a:t>
            </a:r>
            <a:endParaRPr lang="zh-TW" altLang="en-US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br>
              <a:rPr lang="zh-TW" altLang="en-US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</a:b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設定 </a:t>
            </a:r>
            <a:r>
              <a:rPr lang="en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DBSCAN </a:t>
            </a:r>
            <a:r>
              <a:rPr lang="zh-TW" altLang="en-US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的參數 </a:t>
            </a:r>
            <a:r>
              <a:rPr lang="en-US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l-GR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ε=0.3, </a:t>
            </a:r>
            <a:r>
              <a:rPr lang="en" altLang="zh-TW" sz="1400" b="0" dirty="0" err="1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min_samples</a:t>
            </a:r>
            <a:r>
              <a:rPr lang="en" altLang="zh-TW" sz="14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=5)</a:t>
            </a:r>
            <a:endParaRPr lang="en" altLang="zh-TW" sz="14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4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db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DBSCAN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eps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0.3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min_samples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5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4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labels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4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db</a:t>
            </a:r>
            <a:r>
              <a:rPr lang="en" altLang="zh-TW" sz="14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4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fit_predict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4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X</a:t>
            </a:r>
            <a:r>
              <a:rPr lang="en" altLang="zh-TW" sz="14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AE43ED-D971-EE52-9CF1-CC1D4E4DF8C0}"/>
              </a:ext>
            </a:extLst>
          </p:cNvPr>
          <p:cNvSpPr txBox="1"/>
          <p:nvPr/>
        </p:nvSpPr>
        <p:spPr>
          <a:xfrm>
            <a:off x="6092414" y="0"/>
            <a:ext cx="6099586" cy="677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繪製原始資料點分佈</a:t>
            </a:r>
            <a:endParaRPr lang="zh-TW" altLang="en-US" sz="12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chi_font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FontProperties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fname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" altLang="zh-TW" sz="1200" b="0" dirty="0" err="1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msjh.ttc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figure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figsize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12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6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subplot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2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scatter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X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[:,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], </a:t>
            </a:r>
            <a:r>
              <a:rPr lang="en" altLang="zh-TW" sz="12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X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[:,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],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'gray'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edgecolor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'k'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s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50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title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原始資料點分佈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fontproperties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chi_font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fontsize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14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xlabel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"X1"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ylabel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"X2"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b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</a:br>
            <a:r>
              <a:rPr lang="en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繪製分群後的結果</a:t>
            </a:r>
            <a:endParaRPr lang="zh-TW" altLang="en-US" sz="12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subplot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2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2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使用不同顏色表示不同群集，標記雜訊點</a:t>
            </a:r>
            <a:endParaRPr lang="zh-TW" altLang="en-US" sz="12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unique_labels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set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labels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colors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.cm.Spectral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np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linspace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len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unique_labels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)))</a:t>
            </a:r>
          </a:p>
          <a:p>
            <a:pPr>
              <a:lnSpc>
                <a:spcPts val="1800"/>
              </a:lnSpc>
            </a:pPr>
            <a:r>
              <a:rPr lang="en" altLang="zh-TW" sz="12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for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k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col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in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zip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unique_labels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colors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):</a:t>
            </a:r>
          </a:p>
          <a:p>
            <a:pPr lvl="1">
              <a:lnSpc>
                <a:spcPts val="1800"/>
              </a:lnSpc>
            </a:pPr>
            <a:r>
              <a:rPr lang="en" altLang="zh-TW" sz="1200" b="0" dirty="0">
                <a:solidFill>
                  <a:srgbClr val="AF00DB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k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-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:</a:t>
            </a:r>
          </a:p>
          <a:p>
            <a:pPr lvl="2">
              <a:lnSpc>
                <a:spcPts val="1800"/>
              </a:lnSpc>
            </a:pPr>
            <a:r>
              <a:rPr lang="en" altLang="zh-TW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# </a:t>
            </a:r>
            <a:r>
              <a:rPr lang="zh-TW" altLang="en-US" sz="1200" b="0" dirty="0">
                <a:solidFill>
                  <a:srgbClr val="008000"/>
                </a:solidFill>
                <a:effectLst/>
                <a:latin typeface="Fira Code" panose="020B0809050000020004" pitchFamily="49" charset="0"/>
              </a:rPr>
              <a:t>雜訊點以黑色繪製</a:t>
            </a:r>
            <a:endParaRPr lang="zh-TW" altLang="en-US" sz="12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 lvl="2">
              <a:lnSpc>
                <a:spcPts val="1800"/>
              </a:lnSpc>
            </a:pP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col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'k'</a:t>
            </a:r>
            <a:endParaRPr lang="en" altLang="zh-TW" sz="1200" b="0" dirty="0">
              <a:solidFill>
                <a:srgbClr val="3B3B3B"/>
              </a:solidFill>
              <a:effectLst/>
              <a:latin typeface="Fira Code" panose="020B0809050000020004" pitchFamily="49" charset="0"/>
            </a:endParaRPr>
          </a:p>
          <a:p>
            <a:pPr lvl="1">
              <a:lnSpc>
                <a:spcPts val="1800"/>
              </a:lnSpc>
            </a:pP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class_member_mask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(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labels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==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k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 lvl="1">
              <a:lnSpc>
                <a:spcPts val="1800"/>
              </a:lnSpc>
            </a:pP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xy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" altLang="zh-TW" sz="1200" b="0" dirty="0">
                <a:solidFill>
                  <a:srgbClr val="0070C1"/>
                </a:solidFill>
                <a:effectLst/>
                <a:latin typeface="Fira Code" panose="020B0809050000020004" pitchFamily="49" charset="0"/>
              </a:rPr>
              <a:t>X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[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class_member_mask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]</a:t>
            </a:r>
          </a:p>
          <a:p>
            <a:pPr lvl="1"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scatter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xy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[:,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0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], 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xy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[:, 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],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[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col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], 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edgecolor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'k'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s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50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b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</a:b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title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"DBSCAN</a:t>
            </a:r>
            <a:r>
              <a:rPr lang="zh-TW" altLang="en-US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分群結果</a:t>
            </a:r>
            <a:r>
              <a:rPr lang="en-US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</a:t>
            </a:r>
            <a:r>
              <a:rPr lang="en-US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fontproperties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chi_font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 err="1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fontsize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14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xlabel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"X1"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ylabel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"X2"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tight_layout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savefig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" altLang="zh-TW" sz="1200" b="0" dirty="0">
                <a:solidFill>
                  <a:srgbClr val="A31515"/>
                </a:solidFill>
                <a:effectLst/>
                <a:latin typeface="Fira Code" panose="020B0809050000020004" pitchFamily="49" charset="0"/>
              </a:rPr>
              <a:t>'16.Clustering_DBSCAN.png'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, </a:t>
            </a:r>
            <a:r>
              <a:rPr lang="en" altLang="zh-TW" sz="1200" b="0" dirty="0">
                <a:solidFill>
                  <a:srgbClr val="001080"/>
                </a:solidFill>
                <a:effectLst/>
                <a:latin typeface="Fira Code" panose="020B0809050000020004" pitchFamily="49" charset="0"/>
              </a:rPr>
              <a:t>dpi</a:t>
            </a:r>
            <a:r>
              <a:rPr lang="en" altLang="zh-TW" sz="1200" b="0" dirty="0">
                <a:solidFill>
                  <a:srgbClr val="000000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" altLang="zh-TW" sz="1200" b="0" dirty="0">
                <a:solidFill>
                  <a:srgbClr val="098658"/>
                </a:solidFill>
                <a:effectLst/>
                <a:latin typeface="Fira Code" panose="020B0809050000020004" pitchFamily="49" charset="0"/>
              </a:rPr>
              <a:t>300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en" altLang="zh-TW" sz="1200" b="0" dirty="0" err="1">
                <a:solidFill>
                  <a:srgbClr val="267F99"/>
                </a:solidFill>
                <a:effectLst/>
                <a:latin typeface="Fira Code" panose="020B0809050000020004" pitchFamily="49" charset="0"/>
              </a:rPr>
              <a:t>plt</a:t>
            </a:r>
            <a:r>
              <a:rPr lang="en" altLang="zh-TW" sz="1200" b="0" dirty="0" err="1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.</a:t>
            </a:r>
            <a:r>
              <a:rPr lang="en" altLang="zh-TW" sz="1200" b="0" dirty="0" err="1">
                <a:solidFill>
                  <a:srgbClr val="795E26"/>
                </a:solidFill>
                <a:effectLst/>
                <a:latin typeface="Fira Code" panose="020B0809050000020004" pitchFamily="49" charset="0"/>
              </a:rPr>
              <a:t>show</a:t>
            </a:r>
            <a:r>
              <a:rPr lang="en" altLang="zh-TW" sz="1200" b="0" dirty="0">
                <a:solidFill>
                  <a:srgbClr val="3B3B3B"/>
                </a:solidFill>
                <a:effectLst/>
                <a:latin typeface="Fira Code" panose="020B0809050000020004" pitchFamily="49" charset="0"/>
              </a:rPr>
              <a:t>()</a:t>
            </a:r>
            <a:endParaRPr lang="zh-TW" altLang="en-US" sz="1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AF9A63C-D178-30BD-61F2-2DD8D954E141}"/>
              </a:ext>
            </a:extLst>
          </p:cNvPr>
          <p:cNvSpPr txBox="1"/>
          <p:nvPr/>
        </p:nvSpPr>
        <p:spPr>
          <a:xfrm>
            <a:off x="415514" y="6388753"/>
            <a:ext cx="3028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16.Clustering_DBSCAN.py</a:t>
            </a:r>
          </a:p>
        </p:txBody>
      </p:sp>
    </p:spTree>
    <p:extLst>
      <p:ext uri="{BB962C8B-B14F-4D97-AF65-F5344CB8AC3E}">
        <p14:creationId xmlns:p14="http://schemas.microsoft.com/office/powerpoint/2010/main" val="4031133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0BAD60-EF4E-26B3-DD8B-56EB0EA2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DBSCAN</a:t>
            </a:r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52AADE7-DA27-CF18-E16F-BBFEBC64C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83" y="1690688"/>
            <a:ext cx="9017234" cy="45086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55489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14869</TotalTime>
  <Words>3080</Words>
  <Application>Microsoft Office PowerPoint</Application>
  <PresentationFormat>寬螢幕</PresentationFormat>
  <Paragraphs>185</Paragraphs>
  <Slides>27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6" baseType="lpstr">
      <vt:lpstr>Inter</vt:lpstr>
      <vt:lpstr>source-serif-pro</vt:lpstr>
      <vt:lpstr>Arial</vt:lpstr>
      <vt:lpstr>Calibri</vt:lpstr>
      <vt:lpstr>Calibri Light</vt:lpstr>
      <vt:lpstr>Cambria Math</vt:lpstr>
      <vt:lpstr>Fira Code</vt:lpstr>
      <vt:lpstr>Helvetica</vt:lpstr>
      <vt:lpstr>Office 佈景主題</vt:lpstr>
      <vt:lpstr>unsupervised learning</vt:lpstr>
      <vt:lpstr>Data Clustering</vt:lpstr>
      <vt:lpstr>Clustering</vt:lpstr>
      <vt:lpstr>Clustering</vt:lpstr>
      <vt:lpstr>分群Cluster</vt:lpstr>
      <vt:lpstr>分群Cluster-Kmeans</vt:lpstr>
      <vt:lpstr>K-means</vt:lpstr>
      <vt:lpstr>選擇群數(number of clusters)</vt:lpstr>
      <vt:lpstr>silhouette score (輪廓分數)</vt:lpstr>
      <vt:lpstr>Silhouette diagram</vt:lpstr>
      <vt:lpstr>K-means可能遇到的問題</vt:lpstr>
      <vt:lpstr>Gaussian Mixtures </vt:lpstr>
      <vt:lpstr>Gaussian mixture model (GMM) </vt:lpstr>
      <vt:lpstr>Gaussian mixture model (GMM) </vt:lpstr>
      <vt:lpstr>Expectation-Maximization (EM) algorithm </vt:lpstr>
      <vt:lpstr>Expectation-Maximization (EM) algorithm </vt:lpstr>
      <vt:lpstr>Gaussian mixture model (GMM) </vt:lpstr>
      <vt:lpstr>Gaussian mixture model (GMM) </vt:lpstr>
      <vt:lpstr>使用scikit-learn GMM來試試</vt:lpstr>
      <vt:lpstr>使用scikit-learn GMM來試試</vt:lpstr>
      <vt:lpstr>Hierarchical Clustering (階層式分群)</vt:lpstr>
      <vt:lpstr>Hierarchical Clustering (階層式分群)</vt:lpstr>
      <vt:lpstr>Hierarchical Clustering (階層式分群)</vt:lpstr>
      <vt:lpstr>DBSCAN Density-Based Spatial Clustering of Applications with Noise</vt:lpstr>
      <vt:lpstr>DBSCAN</vt:lpstr>
      <vt:lpstr>DBSCAN</vt:lpstr>
      <vt:lpstr>DBSCAN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林俊杰</dc:creator>
  <cp:lastModifiedBy>林俊杰</cp:lastModifiedBy>
  <cp:revision>4</cp:revision>
  <dcterms:created xsi:type="dcterms:W3CDTF">2024-04-15T12:09:30Z</dcterms:created>
  <dcterms:modified xsi:type="dcterms:W3CDTF">2024-11-19T14:58:26Z</dcterms:modified>
</cp:coreProperties>
</file>