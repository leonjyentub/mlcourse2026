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8" r:id="rId3"/>
    <p:sldId id="283" r:id="rId4"/>
    <p:sldId id="257" r:id="rId5"/>
    <p:sldId id="258" r:id="rId6"/>
    <p:sldId id="259" r:id="rId7"/>
    <p:sldId id="307" r:id="rId8"/>
    <p:sldId id="284" r:id="rId9"/>
    <p:sldId id="286" r:id="rId10"/>
    <p:sldId id="287" r:id="rId11"/>
    <p:sldId id="288" r:id="rId12"/>
    <p:sldId id="289" r:id="rId13"/>
    <p:sldId id="290" r:id="rId14"/>
    <p:sldId id="296" r:id="rId15"/>
    <p:sldId id="299" r:id="rId16"/>
    <p:sldId id="300" r:id="rId17"/>
    <p:sldId id="301" r:id="rId18"/>
    <p:sldId id="302" r:id="rId19"/>
    <p:sldId id="303" r:id="rId20"/>
    <p:sldId id="304" r:id="rId21"/>
    <p:sldId id="305" r:id="rId22"/>
    <p:sldId id="306" r:id="rId23"/>
    <p:sldId id="308" r:id="rId24"/>
    <p:sldId id="332" r:id="rId25"/>
    <p:sldId id="293" r:id="rId26"/>
    <p:sldId id="294" r:id="rId27"/>
    <p:sldId id="295" r:id="rId28"/>
    <p:sldId id="297" r:id="rId29"/>
    <p:sldId id="334" r:id="rId30"/>
    <p:sldId id="333" r:id="rId31"/>
    <p:sldId id="277" r:id="rId32"/>
    <p:sldId id="335" r:id="rId33"/>
    <p:sldId id="280" r:id="rId34"/>
    <p:sldId id="336" r:id="rId35"/>
    <p:sldId id="340" r:id="rId36"/>
    <p:sldId id="271" r:id="rId37"/>
    <p:sldId id="281" r:id="rId38"/>
    <p:sldId id="338" r:id="rId39"/>
    <p:sldId id="339" r:id="rId40"/>
    <p:sldId id="345" r:id="rId41"/>
    <p:sldId id="343" r:id="rId42"/>
    <p:sldId id="341" r:id="rId43"/>
    <p:sldId id="282" r:id="rId44"/>
    <p:sldId id="342" r:id="rId45"/>
    <p:sldId id="344" r:id="rId46"/>
    <p:sldId id="346" r:id="rId4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49"/>
    <p:restoredTop sz="94675"/>
  </p:normalViewPr>
  <p:slideViewPr>
    <p:cSldViewPr snapToGrid="0">
      <p:cViewPr varScale="1">
        <p:scale>
          <a:sx n="152" d="100"/>
          <a:sy n="152" d="100"/>
        </p:scale>
        <p:origin x="300"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俊杰" userId="dcfdc803-95d8-409b-8404-351632be86e2" providerId="ADAL" clId="{996E5272-12C9-48E3-8DCB-8580C7F5EE97}"/>
    <pc:docChg chg="custSel addSld delSld modSld">
      <pc:chgData name="俊杰" userId="dcfdc803-95d8-409b-8404-351632be86e2" providerId="ADAL" clId="{996E5272-12C9-48E3-8DCB-8580C7F5EE97}" dt="2025-10-28T05:27:14.577" v="48" actId="20577"/>
      <pc:docMkLst>
        <pc:docMk/>
      </pc:docMkLst>
      <pc:sldChg chg="modSp mod">
        <pc:chgData name="俊杰" userId="dcfdc803-95d8-409b-8404-351632be86e2" providerId="ADAL" clId="{996E5272-12C9-48E3-8DCB-8580C7F5EE97}" dt="2025-10-28T05:27:02.734" v="42" actId="20577"/>
        <pc:sldMkLst>
          <pc:docMk/>
          <pc:sldMk cId="722987278" sldId="271"/>
        </pc:sldMkLst>
        <pc:spChg chg="mod">
          <ac:chgData name="俊杰" userId="dcfdc803-95d8-409b-8404-351632be86e2" providerId="ADAL" clId="{996E5272-12C9-48E3-8DCB-8580C7F5EE97}" dt="2025-10-28T05:27:02.734" v="42" actId="20577"/>
          <ac:spMkLst>
            <pc:docMk/>
            <pc:sldMk cId="722987278" sldId="271"/>
            <ac:spMk id="4" creationId="{ACD52A3A-8B50-1043-8DB7-0BF11DE1D5E0}"/>
          </ac:spMkLst>
        </pc:spChg>
      </pc:sldChg>
      <pc:sldChg chg="delSp del">
        <pc:chgData name="俊杰" userId="dcfdc803-95d8-409b-8404-351632be86e2" providerId="ADAL" clId="{996E5272-12C9-48E3-8DCB-8580C7F5EE97}" dt="2025-10-28T05:19:08.389" v="12" actId="47"/>
        <pc:sldMkLst>
          <pc:docMk/>
          <pc:sldMk cId="1470081894" sldId="278"/>
        </pc:sldMkLst>
        <pc:picChg chg="del">
          <ac:chgData name="俊杰" userId="dcfdc803-95d8-409b-8404-351632be86e2" providerId="ADAL" clId="{996E5272-12C9-48E3-8DCB-8580C7F5EE97}" dt="2025-10-28T05:13:29.798" v="0" actId="478"/>
          <ac:picMkLst>
            <pc:docMk/>
            <pc:sldMk cId="1470081894" sldId="278"/>
            <ac:picMk id="2050" creationId="{E99D0DEB-0D97-A2F3-8620-0BA80084EB2F}"/>
          </ac:picMkLst>
        </pc:picChg>
      </pc:sldChg>
      <pc:sldChg chg="modSp del mod">
        <pc:chgData name="俊杰" userId="dcfdc803-95d8-409b-8404-351632be86e2" providerId="ADAL" clId="{996E5272-12C9-48E3-8DCB-8580C7F5EE97}" dt="2025-10-28T05:27:10.624" v="43" actId="47"/>
        <pc:sldMkLst>
          <pc:docMk/>
          <pc:sldMk cId="1563935672" sldId="298"/>
        </pc:sldMkLst>
        <pc:spChg chg="mod">
          <ac:chgData name="俊杰" userId="dcfdc803-95d8-409b-8404-351632be86e2" providerId="ADAL" clId="{996E5272-12C9-48E3-8DCB-8580C7F5EE97}" dt="2025-10-28T05:25:52.342" v="27" actId="21"/>
          <ac:spMkLst>
            <pc:docMk/>
            <pc:sldMk cId="1563935672" sldId="298"/>
            <ac:spMk id="3" creationId="{D16ED6B5-AAF3-5869-C6FB-5B0DF73FD9BE}"/>
          </ac:spMkLst>
        </pc:spChg>
      </pc:sldChg>
      <pc:sldChg chg="addSp modSp mod">
        <pc:chgData name="俊杰" userId="dcfdc803-95d8-409b-8404-351632be86e2" providerId="ADAL" clId="{996E5272-12C9-48E3-8DCB-8580C7F5EE97}" dt="2025-10-28T05:20:01.948" v="22" actId="1076"/>
        <pc:sldMkLst>
          <pc:docMk/>
          <pc:sldMk cId="1862492952" sldId="333"/>
        </pc:sldMkLst>
        <pc:spChg chg="add mod">
          <ac:chgData name="俊杰" userId="dcfdc803-95d8-409b-8404-351632be86e2" providerId="ADAL" clId="{996E5272-12C9-48E3-8DCB-8580C7F5EE97}" dt="2025-10-28T05:20:01.948" v="22" actId="1076"/>
          <ac:spMkLst>
            <pc:docMk/>
            <pc:sldMk cId="1862492952" sldId="333"/>
            <ac:spMk id="6" creationId="{6B2DB05C-E314-4B1B-9B3E-2C65B7CE3BDA}"/>
          </ac:spMkLst>
        </pc:spChg>
        <pc:picChg chg="mod">
          <ac:chgData name="俊杰" userId="dcfdc803-95d8-409b-8404-351632be86e2" providerId="ADAL" clId="{996E5272-12C9-48E3-8DCB-8580C7F5EE97}" dt="2025-10-28T05:19:57.602" v="21" actId="14100"/>
          <ac:picMkLst>
            <pc:docMk/>
            <pc:sldMk cId="1862492952" sldId="333"/>
            <ac:picMk id="1026" creationId="{03A544CA-39C0-EECD-8620-9424563657E7}"/>
          </ac:picMkLst>
        </pc:picChg>
      </pc:sldChg>
      <pc:sldChg chg="modSp new del mod">
        <pc:chgData name="俊杰" userId="dcfdc803-95d8-409b-8404-351632be86e2" providerId="ADAL" clId="{996E5272-12C9-48E3-8DCB-8580C7F5EE97}" dt="2025-10-28T05:18:45.705" v="3" actId="47"/>
        <pc:sldMkLst>
          <pc:docMk/>
          <pc:sldMk cId="178536925" sldId="346"/>
        </pc:sldMkLst>
        <pc:spChg chg="mod">
          <ac:chgData name="俊杰" userId="dcfdc803-95d8-409b-8404-351632be86e2" providerId="ADAL" clId="{996E5272-12C9-48E3-8DCB-8580C7F5EE97}" dt="2025-10-28T05:17:45.777" v="2"/>
          <ac:spMkLst>
            <pc:docMk/>
            <pc:sldMk cId="178536925" sldId="346"/>
            <ac:spMk id="2" creationId="{1435C70E-A73A-4F26-AC33-3A5FB573738D}"/>
          </ac:spMkLst>
        </pc:spChg>
      </pc:sldChg>
      <pc:sldChg chg="modSp new mod">
        <pc:chgData name="俊杰" userId="dcfdc803-95d8-409b-8404-351632be86e2" providerId="ADAL" clId="{996E5272-12C9-48E3-8DCB-8580C7F5EE97}" dt="2025-10-28T05:27:14.577" v="48" actId="20577"/>
        <pc:sldMkLst>
          <pc:docMk/>
          <pc:sldMk cId="1098064959" sldId="346"/>
        </pc:sldMkLst>
        <pc:spChg chg="mod">
          <ac:chgData name="俊杰" userId="dcfdc803-95d8-409b-8404-351632be86e2" providerId="ADAL" clId="{996E5272-12C9-48E3-8DCB-8580C7F5EE97}" dt="2025-10-28T05:27:14.577" v="48" actId="20577"/>
          <ac:spMkLst>
            <pc:docMk/>
            <pc:sldMk cId="1098064959" sldId="346"/>
            <ac:spMk id="2" creationId="{740E9BBF-59F9-4211-AD5B-E7B65CC9DB7D}"/>
          </ac:spMkLst>
        </pc:spChg>
      </pc:sldChg>
    </pc:docChg>
  </pc:docChgLst>
  <pc:docChgLst>
    <pc:chgData name="林俊杰" userId="dcfdc803-95d8-409b-8404-351632be86e2" providerId="ADAL" clId="{8C391C4A-92AA-58F5-9320-38493568155F}"/>
    <pc:docChg chg="modSld">
      <pc:chgData name="林俊杰" userId="dcfdc803-95d8-409b-8404-351632be86e2" providerId="ADAL" clId="{8C391C4A-92AA-58F5-9320-38493568155F}" dt="2025-10-20T07:00:14.349" v="5" actId="20577"/>
      <pc:docMkLst>
        <pc:docMk/>
      </pc:docMkLst>
      <pc:sldChg chg="modSp">
        <pc:chgData name="林俊杰" userId="dcfdc803-95d8-409b-8404-351632be86e2" providerId="ADAL" clId="{8C391C4A-92AA-58F5-9320-38493568155F}" dt="2025-10-20T06:53:51.049" v="2"/>
        <pc:sldMkLst>
          <pc:docMk/>
          <pc:sldMk cId="3933328263" sldId="297"/>
        </pc:sldMkLst>
        <pc:spChg chg="mod">
          <ac:chgData name="林俊杰" userId="dcfdc803-95d8-409b-8404-351632be86e2" providerId="ADAL" clId="{8C391C4A-92AA-58F5-9320-38493568155F}" dt="2025-10-20T06:53:51.049" v="2"/>
          <ac:spMkLst>
            <pc:docMk/>
            <pc:sldMk cId="3933328263" sldId="297"/>
            <ac:spMk id="2" creationId="{C5A9778E-F6FA-A445-8A55-BDCABE10C2F8}"/>
          </ac:spMkLst>
        </pc:spChg>
      </pc:sldChg>
      <pc:sldChg chg="modSp mod">
        <pc:chgData name="林俊杰" userId="dcfdc803-95d8-409b-8404-351632be86e2" providerId="ADAL" clId="{8C391C4A-92AA-58F5-9320-38493568155F}" dt="2025-10-20T06:24:53.527" v="1" actId="20577"/>
        <pc:sldMkLst>
          <pc:docMk/>
          <pc:sldMk cId="2697824332" sldId="332"/>
        </pc:sldMkLst>
        <pc:spChg chg="mod">
          <ac:chgData name="林俊杰" userId="dcfdc803-95d8-409b-8404-351632be86e2" providerId="ADAL" clId="{8C391C4A-92AA-58F5-9320-38493568155F}" dt="2025-10-20T06:24:53.527" v="1" actId="20577"/>
          <ac:spMkLst>
            <pc:docMk/>
            <pc:sldMk cId="2697824332" sldId="332"/>
            <ac:spMk id="2" creationId="{F81CD060-70EB-5020-1CB8-9870FA0CE6F4}"/>
          </ac:spMkLst>
        </pc:spChg>
      </pc:sldChg>
      <pc:sldChg chg="modSp">
        <pc:chgData name="林俊杰" userId="dcfdc803-95d8-409b-8404-351632be86e2" providerId="ADAL" clId="{8C391C4A-92AA-58F5-9320-38493568155F}" dt="2025-10-20T06:55:23.614" v="3"/>
        <pc:sldMkLst>
          <pc:docMk/>
          <pc:sldMk cId="229191300" sldId="334"/>
        </pc:sldMkLst>
        <pc:spChg chg="mod">
          <ac:chgData name="林俊杰" userId="dcfdc803-95d8-409b-8404-351632be86e2" providerId="ADAL" clId="{8C391C4A-92AA-58F5-9320-38493568155F}" dt="2025-10-20T06:55:23.614" v="3"/>
          <ac:spMkLst>
            <pc:docMk/>
            <pc:sldMk cId="229191300" sldId="334"/>
            <ac:spMk id="2" creationId="{F3693CDF-5263-DEC9-D950-341DDA546EB3}"/>
          </ac:spMkLst>
        </pc:spChg>
      </pc:sldChg>
      <pc:sldChg chg="modSp mod">
        <pc:chgData name="林俊杰" userId="dcfdc803-95d8-409b-8404-351632be86e2" providerId="ADAL" clId="{8C391C4A-92AA-58F5-9320-38493568155F}" dt="2025-10-20T07:00:14.349" v="5" actId="20577"/>
        <pc:sldMkLst>
          <pc:docMk/>
          <pc:sldMk cId="2193124141" sldId="342"/>
        </pc:sldMkLst>
        <pc:spChg chg="mod">
          <ac:chgData name="林俊杰" userId="dcfdc803-95d8-409b-8404-351632be86e2" providerId="ADAL" clId="{8C391C4A-92AA-58F5-9320-38493568155F}" dt="2025-10-20T07:00:14.349" v="5" actId="20577"/>
          <ac:spMkLst>
            <pc:docMk/>
            <pc:sldMk cId="2193124141" sldId="342"/>
            <ac:spMk id="2" creationId="{8E360931-14E2-0779-EE87-CA9B7729C5D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3D5660-1E67-A1F0-22C4-A66946206F44}"/>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C324F000-E879-C2B5-FED0-EDA4054684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3309B1E7-D498-CD8E-3AA8-971468FADDBE}"/>
              </a:ext>
            </a:extLst>
          </p:cNvPr>
          <p:cNvSpPr>
            <a:spLocks noGrp="1"/>
          </p:cNvSpPr>
          <p:nvPr>
            <p:ph type="dt" sz="half" idx="10"/>
          </p:nvPr>
        </p:nvSpPr>
        <p:spPr/>
        <p:txBody>
          <a:bodyPr/>
          <a:lstStyle/>
          <a:p>
            <a:fld id="{E8908182-EC8B-BC43-B1FD-DD27EC860B52}" type="datetimeFigureOut">
              <a:rPr kumimoji="1" lang="zh-TW" altLang="en-US" smtClean="0"/>
              <a:t>2025/10/28</a:t>
            </a:fld>
            <a:endParaRPr kumimoji="1" lang="zh-TW" altLang="en-US"/>
          </a:p>
        </p:txBody>
      </p:sp>
      <p:sp>
        <p:nvSpPr>
          <p:cNvPr id="5" name="頁尾版面配置區 4">
            <a:extLst>
              <a:ext uri="{FF2B5EF4-FFF2-40B4-BE49-F238E27FC236}">
                <a16:creationId xmlns:a16="http://schemas.microsoft.com/office/drawing/2014/main" id="{E1D6DC2E-AC13-3ED5-C192-8DA5736E087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7D015B5C-5231-52A6-6B03-5191728FABC6}"/>
              </a:ext>
            </a:extLst>
          </p:cNvPr>
          <p:cNvSpPr>
            <a:spLocks noGrp="1"/>
          </p:cNvSpPr>
          <p:nvPr>
            <p:ph type="sldNum" sz="quarter" idx="12"/>
          </p:nvPr>
        </p:nvSpPr>
        <p:spPr/>
        <p:txBody>
          <a:bodyPr/>
          <a:lstStyle/>
          <a:p>
            <a:fld id="{2E62DE90-A7A5-074B-96F5-BF8C0A186543}" type="slidenum">
              <a:rPr kumimoji="1" lang="zh-TW" altLang="en-US" smtClean="0"/>
              <a:t>‹#›</a:t>
            </a:fld>
            <a:endParaRPr kumimoji="1" lang="zh-TW" altLang="en-US"/>
          </a:p>
        </p:txBody>
      </p:sp>
    </p:spTree>
    <p:extLst>
      <p:ext uri="{BB962C8B-B14F-4D97-AF65-F5344CB8AC3E}">
        <p14:creationId xmlns:p14="http://schemas.microsoft.com/office/powerpoint/2010/main" val="3337242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46D16B-36EF-C4C0-1076-81A2A940984B}"/>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ECFA28ED-3828-CDF4-107E-91E35A5C2CFC}"/>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F3691964-2CDA-59F5-654B-FA76C633A645}"/>
              </a:ext>
            </a:extLst>
          </p:cNvPr>
          <p:cNvSpPr>
            <a:spLocks noGrp="1"/>
          </p:cNvSpPr>
          <p:nvPr>
            <p:ph type="dt" sz="half" idx="10"/>
          </p:nvPr>
        </p:nvSpPr>
        <p:spPr/>
        <p:txBody>
          <a:bodyPr/>
          <a:lstStyle/>
          <a:p>
            <a:fld id="{E8908182-EC8B-BC43-B1FD-DD27EC860B52}" type="datetimeFigureOut">
              <a:rPr kumimoji="1" lang="zh-TW" altLang="en-US" smtClean="0"/>
              <a:t>2025/10/28</a:t>
            </a:fld>
            <a:endParaRPr kumimoji="1" lang="zh-TW" altLang="en-US"/>
          </a:p>
        </p:txBody>
      </p:sp>
      <p:sp>
        <p:nvSpPr>
          <p:cNvPr id="5" name="頁尾版面配置區 4">
            <a:extLst>
              <a:ext uri="{FF2B5EF4-FFF2-40B4-BE49-F238E27FC236}">
                <a16:creationId xmlns:a16="http://schemas.microsoft.com/office/drawing/2014/main" id="{52438642-1CA1-09EE-0B9C-0C26049EDAD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7B40C4D9-289B-CF8A-5CB4-68CEC59D4CAA}"/>
              </a:ext>
            </a:extLst>
          </p:cNvPr>
          <p:cNvSpPr>
            <a:spLocks noGrp="1"/>
          </p:cNvSpPr>
          <p:nvPr>
            <p:ph type="sldNum" sz="quarter" idx="12"/>
          </p:nvPr>
        </p:nvSpPr>
        <p:spPr/>
        <p:txBody>
          <a:bodyPr/>
          <a:lstStyle/>
          <a:p>
            <a:fld id="{2E62DE90-A7A5-074B-96F5-BF8C0A186543}" type="slidenum">
              <a:rPr kumimoji="1" lang="zh-TW" altLang="en-US" smtClean="0"/>
              <a:t>‹#›</a:t>
            </a:fld>
            <a:endParaRPr kumimoji="1" lang="zh-TW" altLang="en-US"/>
          </a:p>
        </p:txBody>
      </p:sp>
    </p:spTree>
    <p:extLst>
      <p:ext uri="{BB962C8B-B14F-4D97-AF65-F5344CB8AC3E}">
        <p14:creationId xmlns:p14="http://schemas.microsoft.com/office/powerpoint/2010/main" val="1589692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BF839F-8F94-B4E7-7863-7E4D082DCF90}"/>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4C01471-5CCB-D198-65BA-4782D07261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DC439911-149E-54EF-AA24-6C107B399D42}"/>
              </a:ext>
            </a:extLst>
          </p:cNvPr>
          <p:cNvSpPr>
            <a:spLocks noGrp="1"/>
          </p:cNvSpPr>
          <p:nvPr>
            <p:ph type="dt" sz="half" idx="10"/>
          </p:nvPr>
        </p:nvSpPr>
        <p:spPr/>
        <p:txBody>
          <a:bodyPr/>
          <a:lstStyle/>
          <a:p>
            <a:fld id="{E8908182-EC8B-BC43-B1FD-DD27EC860B52}" type="datetimeFigureOut">
              <a:rPr kumimoji="1" lang="zh-TW" altLang="en-US" smtClean="0"/>
              <a:t>2025/10/28</a:t>
            </a:fld>
            <a:endParaRPr kumimoji="1" lang="zh-TW" altLang="en-US"/>
          </a:p>
        </p:txBody>
      </p:sp>
      <p:sp>
        <p:nvSpPr>
          <p:cNvPr id="5" name="頁尾版面配置區 4">
            <a:extLst>
              <a:ext uri="{FF2B5EF4-FFF2-40B4-BE49-F238E27FC236}">
                <a16:creationId xmlns:a16="http://schemas.microsoft.com/office/drawing/2014/main" id="{C6B4BD6D-31E1-31B4-4DC4-6644B4ADD4B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220BF7C-606D-35CC-BDAA-824DA939AF05}"/>
              </a:ext>
            </a:extLst>
          </p:cNvPr>
          <p:cNvSpPr>
            <a:spLocks noGrp="1"/>
          </p:cNvSpPr>
          <p:nvPr>
            <p:ph type="sldNum" sz="quarter" idx="12"/>
          </p:nvPr>
        </p:nvSpPr>
        <p:spPr/>
        <p:txBody>
          <a:bodyPr/>
          <a:lstStyle/>
          <a:p>
            <a:fld id="{2E62DE90-A7A5-074B-96F5-BF8C0A186543}" type="slidenum">
              <a:rPr kumimoji="1" lang="zh-TW" altLang="en-US" smtClean="0"/>
              <a:t>‹#›</a:t>
            </a:fld>
            <a:endParaRPr kumimoji="1" lang="zh-TW" altLang="en-US"/>
          </a:p>
        </p:txBody>
      </p:sp>
    </p:spTree>
    <p:extLst>
      <p:ext uri="{BB962C8B-B14F-4D97-AF65-F5344CB8AC3E}">
        <p14:creationId xmlns:p14="http://schemas.microsoft.com/office/powerpoint/2010/main" val="3901731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0B98C1-811D-8B18-7F5C-55409EC0004C}"/>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E84DCF6-5226-9F81-5F79-0504CEC9E802}"/>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807D2F2C-9905-4401-BE2B-7A80D2EB516F}"/>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D3885D20-C53F-C16B-72BB-0C38C1D25F04}"/>
              </a:ext>
            </a:extLst>
          </p:cNvPr>
          <p:cNvSpPr>
            <a:spLocks noGrp="1"/>
          </p:cNvSpPr>
          <p:nvPr>
            <p:ph type="dt" sz="half" idx="10"/>
          </p:nvPr>
        </p:nvSpPr>
        <p:spPr/>
        <p:txBody>
          <a:bodyPr/>
          <a:lstStyle/>
          <a:p>
            <a:fld id="{E8908182-EC8B-BC43-B1FD-DD27EC860B52}" type="datetimeFigureOut">
              <a:rPr kumimoji="1" lang="zh-TW" altLang="en-US" smtClean="0"/>
              <a:t>2025/10/28</a:t>
            </a:fld>
            <a:endParaRPr kumimoji="1" lang="zh-TW" altLang="en-US"/>
          </a:p>
        </p:txBody>
      </p:sp>
      <p:sp>
        <p:nvSpPr>
          <p:cNvPr id="6" name="頁尾版面配置區 5">
            <a:extLst>
              <a:ext uri="{FF2B5EF4-FFF2-40B4-BE49-F238E27FC236}">
                <a16:creationId xmlns:a16="http://schemas.microsoft.com/office/drawing/2014/main" id="{9CEAA228-F105-2704-DE7C-C5BD72D5CBBA}"/>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36BD3944-72AD-5A62-0187-D7E76CE24E67}"/>
              </a:ext>
            </a:extLst>
          </p:cNvPr>
          <p:cNvSpPr>
            <a:spLocks noGrp="1"/>
          </p:cNvSpPr>
          <p:nvPr>
            <p:ph type="sldNum" sz="quarter" idx="12"/>
          </p:nvPr>
        </p:nvSpPr>
        <p:spPr/>
        <p:txBody>
          <a:bodyPr/>
          <a:lstStyle/>
          <a:p>
            <a:fld id="{2E62DE90-A7A5-074B-96F5-BF8C0A186543}" type="slidenum">
              <a:rPr kumimoji="1" lang="zh-TW" altLang="en-US" smtClean="0"/>
              <a:t>‹#›</a:t>
            </a:fld>
            <a:endParaRPr kumimoji="1" lang="zh-TW" altLang="en-US"/>
          </a:p>
        </p:txBody>
      </p:sp>
    </p:spTree>
    <p:extLst>
      <p:ext uri="{BB962C8B-B14F-4D97-AF65-F5344CB8AC3E}">
        <p14:creationId xmlns:p14="http://schemas.microsoft.com/office/powerpoint/2010/main" val="4083191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6B2277-E24C-B61B-B48B-73F40FF126D7}"/>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F7CB659B-ABD4-62EE-03D3-94F930AD71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6BEA15C1-4E83-40BC-AE14-81C7FF2B393C}"/>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284E9E2F-A93B-05FF-760E-E9AC2FD0C9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29D9AED-ABD9-5170-A3F3-6C054F3266AE}"/>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A9F2001C-9C13-4EF9-F7D2-CFC272BA0208}"/>
              </a:ext>
            </a:extLst>
          </p:cNvPr>
          <p:cNvSpPr>
            <a:spLocks noGrp="1"/>
          </p:cNvSpPr>
          <p:nvPr>
            <p:ph type="dt" sz="half" idx="10"/>
          </p:nvPr>
        </p:nvSpPr>
        <p:spPr/>
        <p:txBody>
          <a:bodyPr/>
          <a:lstStyle/>
          <a:p>
            <a:fld id="{E8908182-EC8B-BC43-B1FD-DD27EC860B52}" type="datetimeFigureOut">
              <a:rPr kumimoji="1" lang="zh-TW" altLang="en-US" smtClean="0"/>
              <a:t>2025/10/28</a:t>
            </a:fld>
            <a:endParaRPr kumimoji="1" lang="zh-TW" altLang="en-US"/>
          </a:p>
        </p:txBody>
      </p:sp>
      <p:sp>
        <p:nvSpPr>
          <p:cNvPr id="8" name="頁尾版面配置區 7">
            <a:extLst>
              <a:ext uri="{FF2B5EF4-FFF2-40B4-BE49-F238E27FC236}">
                <a16:creationId xmlns:a16="http://schemas.microsoft.com/office/drawing/2014/main" id="{026DCF36-FEF0-FB19-1ED2-167FA31CABA5}"/>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2ED2DC4C-94EF-A65F-2AD4-DB7CFA2B287C}"/>
              </a:ext>
            </a:extLst>
          </p:cNvPr>
          <p:cNvSpPr>
            <a:spLocks noGrp="1"/>
          </p:cNvSpPr>
          <p:nvPr>
            <p:ph type="sldNum" sz="quarter" idx="12"/>
          </p:nvPr>
        </p:nvSpPr>
        <p:spPr/>
        <p:txBody>
          <a:bodyPr/>
          <a:lstStyle/>
          <a:p>
            <a:fld id="{2E62DE90-A7A5-074B-96F5-BF8C0A186543}" type="slidenum">
              <a:rPr kumimoji="1" lang="zh-TW" altLang="en-US" smtClean="0"/>
              <a:t>‹#›</a:t>
            </a:fld>
            <a:endParaRPr kumimoji="1" lang="zh-TW" altLang="en-US"/>
          </a:p>
        </p:txBody>
      </p:sp>
    </p:spTree>
    <p:extLst>
      <p:ext uri="{BB962C8B-B14F-4D97-AF65-F5344CB8AC3E}">
        <p14:creationId xmlns:p14="http://schemas.microsoft.com/office/powerpoint/2010/main" val="625973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5AF1B9-BEDB-120A-AD5B-4CB7F3F8FB07}"/>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3724FD65-E4D9-6A79-A598-7C7921CF6244}"/>
              </a:ext>
            </a:extLst>
          </p:cNvPr>
          <p:cNvSpPr>
            <a:spLocks noGrp="1"/>
          </p:cNvSpPr>
          <p:nvPr>
            <p:ph type="dt" sz="half" idx="10"/>
          </p:nvPr>
        </p:nvSpPr>
        <p:spPr/>
        <p:txBody>
          <a:bodyPr/>
          <a:lstStyle/>
          <a:p>
            <a:fld id="{E8908182-EC8B-BC43-B1FD-DD27EC860B52}" type="datetimeFigureOut">
              <a:rPr kumimoji="1" lang="zh-TW" altLang="en-US" smtClean="0"/>
              <a:t>2025/10/28</a:t>
            </a:fld>
            <a:endParaRPr kumimoji="1" lang="zh-TW" altLang="en-US"/>
          </a:p>
        </p:txBody>
      </p:sp>
      <p:sp>
        <p:nvSpPr>
          <p:cNvPr id="4" name="頁尾版面配置區 3">
            <a:extLst>
              <a:ext uri="{FF2B5EF4-FFF2-40B4-BE49-F238E27FC236}">
                <a16:creationId xmlns:a16="http://schemas.microsoft.com/office/drawing/2014/main" id="{864F17E5-C9DB-2A7A-D261-40FDB03628C2}"/>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38F0F130-3589-2197-90B2-B876CA861EE2}"/>
              </a:ext>
            </a:extLst>
          </p:cNvPr>
          <p:cNvSpPr>
            <a:spLocks noGrp="1"/>
          </p:cNvSpPr>
          <p:nvPr>
            <p:ph type="sldNum" sz="quarter" idx="12"/>
          </p:nvPr>
        </p:nvSpPr>
        <p:spPr/>
        <p:txBody>
          <a:bodyPr/>
          <a:lstStyle/>
          <a:p>
            <a:fld id="{2E62DE90-A7A5-074B-96F5-BF8C0A186543}" type="slidenum">
              <a:rPr kumimoji="1" lang="zh-TW" altLang="en-US" smtClean="0"/>
              <a:t>‹#›</a:t>
            </a:fld>
            <a:endParaRPr kumimoji="1" lang="zh-TW" altLang="en-US"/>
          </a:p>
        </p:txBody>
      </p:sp>
    </p:spTree>
    <p:extLst>
      <p:ext uri="{BB962C8B-B14F-4D97-AF65-F5344CB8AC3E}">
        <p14:creationId xmlns:p14="http://schemas.microsoft.com/office/powerpoint/2010/main" val="523535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48A0DF5F-CBA4-D3BC-572B-58B072E94325}"/>
              </a:ext>
            </a:extLst>
          </p:cNvPr>
          <p:cNvSpPr>
            <a:spLocks noGrp="1"/>
          </p:cNvSpPr>
          <p:nvPr>
            <p:ph type="dt" sz="half" idx="10"/>
          </p:nvPr>
        </p:nvSpPr>
        <p:spPr/>
        <p:txBody>
          <a:bodyPr/>
          <a:lstStyle/>
          <a:p>
            <a:fld id="{E8908182-EC8B-BC43-B1FD-DD27EC860B52}" type="datetimeFigureOut">
              <a:rPr kumimoji="1" lang="zh-TW" altLang="en-US" smtClean="0"/>
              <a:t>2025/10/28</a:t>
            </a:fld>
            <a:endParaRPr kumimoji="1" lang="zh-TW" altLang="en-US"/>
          </a:p>
        </p:txBody>
      </p:sp>
      <p:sp>
        <p:nvSpPr>
          <p:cNvPr id="3" name="頁尾版面配置區 2">
            <a:extLst>
              <a:ext uri="{FF2B5EF4-FFF2-40B4-BE49-F238E27FC236}">
                <a16:creationId xmlns:a16="http://schemas.microsoft.com/office/drawing/2014/main" id="{F665CA96-D4FA-D267-DEDA-62DBA102D40D}"/>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43A0EA94-9AFA-3AAD-BD28-8F31DBACD56E}"/>
              </a:ext>
            </a:extLst>
          </p:cNvPr>
          <p:cNvSpPr>
            <a:spLocks noGrp="1"/>
          </p:cNvSpPr>
          <p:nvPr>
            <p:ph type="sldNum" sz="quarter" idx="12"/>
          </p:nvPr>
        </p:nvSpPr>
        <p:spPr/>
        <p:txBody>
          <a:bodyPr/>
          <a:lstStyle/>
          <a:p>
            <a:fld id="{2E62DE90-A7A5-074B-96F5-BF8C0A186543}" type="slidenum">
              <a:rPr kumimoji="1" lang="zh-TW" altLang="en-US" smtClean="0"/>
              <a:t>‹#›</a:t>
            </a:fld>
            <a:endParaRPr kumimoji="1" lang="zh-TW" altLang="en-US"/>
          </a:p>
        </p:txBody>
      </p:sp>
    </p:spTree>
    <p:extLst>
      <p:ext uri="{BB962C8B-B14F-4D97-AF65-F5344CB8AC3E}">
        <p14:creationId xmlns:p14="http://schemas.microsoft.com/office/powerpoint/2010/main" val="3219096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BC4AEB-9E19-2A3C-2449-8D2FFE18C155}"/>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D3668A08-CC0F-43A2-FF1B-A9FF1CEA28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0168AEF1-6359-7B57-087D-903E43850C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1469E6BA-87A0-1B77-E961-8D9E9146427D}"/>
              </a:ext>
            </a:extLst>
          </p:cNvPr>
          <p:cNvSpPr>
            <a:spLocks noGrp="1"/>
          </p:cNvSpPr>
          <p:nvPr>
            <p:ph type="dt" sz="half" idx="10"/>
          </p:nvPr>
        </p:nvSpPr>
        <p:spPr/>
        <p:txBody>
          <a:bodyPr/>
          <a:lstStyle/>
          <a:p>
            <a:fld id="{E8908182-EC8B-BC43-B1FD-DD27EC860B52}" type="datetimeFigureOut">
              <a:rPr kumimoji="1" lang="zh-TW" altLang="en-US" smtClean="0"/>
              <a:t>2025/10/28</a:t>
            </a:fld>
            <a:endParaRPr kumimoji="1" lang="zh-TW" altLang="en-US"/>
          </a:p>
        </p:txBody>
      </p:sp>
      <p:sp>
        <p:nvSpPr>
          <p:cNvPr id="6" name="頁尾版面配置區 5">
            <a:extLst>
              <a:ext uri="{FF2B5EF4-FFF2-40B4-BE49-F238E27FC236}">
                <a16:creationId xmlns:a16="http://schemas.microsoft.com/office/drawing/2014/main" id="{C9DC4059-C522-AA78-4EE8-36F1B0E62AC5}"/>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29E43A4-0F03-8B64-589A-465F24D9ACFE}"/>
              </a:ext>
            </a:extLst>
          </p:cNvPr>
          <p:cNvSpPr>
            <a:spLocks noGrp="1"/>
          </p:cNvSpPr>
          <p:nvPr>
            <p:ph type="sldNum" sz="quarter" idx="12"/>
          </p:nvPr>
        </p:nvSpPr>
        <p:spPr/>
        <p:txBody>
          <a:bodyPr/>
          <a:lstStyle/>
          <a:p>
            <a:fld id="{2E62DE90-A7A5-074B-96F5-BF8C0A186543}" type="slidenum">
              <a:rPr kumimoji="1" lang="zh-TW" altLang="en-US" smtClean="0"/>
              <a:t>‹#›</a:t>
            </a:fld>
            <a:endParaRPr kumimoji="1" lang="zh-TW" altLang="en-US"/>
          </a:p>
        </p:txBody>
      </p:sp>
    </p:spTree>
    <p:extLst>
      <p:ext uri="{BB962C8B-B14F-4D97-AF65-F5344CB8AC3E}">
        <p14:creationId xmlns:p14="http://schemas.microsoft.com/office/powerpoint/2010/main" val="2978279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52D1371-E58D-8D73-A133-F2A0E359A46C}"/>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1DFF26AD-ED4F-8D4E-3B87-AB55EA85EC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3419C1B0-299C-A5BC-6477-63838CBFC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F60C6A7-3143-3750-8FF0-6E0B05EBC38D}"/>
              </a:ext>
            </a:extLst>
          </p:cNvPr>
          <p:cNvSpPr>
            <a:spLocks noGrp="1"/>
          </p:cNvSpPr>
          <p:nvPr>
            <p:ph type="dt" sz="half" idx="10"/>
          </p:nvPr>
        </p:nvSpPr>
        <p:spPr/>
        <p:txBody>
          <a:bodyPr/>
          <a:lstStyle/>
          <a:p>
            <a:fld id="{E8908182-EC8B-BC43-B1FD-DD27EC860B52}" type="datetimeFigureOut">
              <a:rPr kumimoji="1" lang="zh-TW" altLang="en-US" smtClean="0"/>
              <a:t>2025/10/28</a:t>
            </a:fld>
            <a:endParaRPr kumimoji="1" lang="zh-TW" altLang="en-US"/>
          </a:p>
        </p:txBody>
      </p:sp>
      <p:sp>
        <p:nvSpPr>
          <p:cNvPr id="6" name="頁尾版面配置區 5">
            <a:extLst>
              <a:ext uri="{FF2B5EF4-FFF2-40B4-BE49-F238E27FC236}">
                <a16:creationId xmlns:a16="http://schemas.microsoft.com/office/drawing/2014/main" id="{A8AE7954-83C0-5CBF-E66A-8E6546282A6E}"/>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C093DA45-057D-ECEF-46B4-4CAD8D0E2611}"/>
              </a:ext>
            </a:extLst>
          </p:cNvPr>
          <p:cNvSpPr>
            <a:spLocks noGrp="1"/>
          </p:cNvSpPr>
          <p:nvPr>
            <p:ph type="sldNum" sz="quarter" idx="12"/>
          </p:nvPr>
        </p:nvSpPr>
        <p:spPr/>
        <p:txBody>
          <a:bodyPr/>
          <a:lstStyle/>
          <a:p>
            <a:fld id="{2E62DE90-A7A5-074B-96F5-BF8C0A186543}" type="slidenum">
              <a:rPr kumimoji="1" lang="zh-TW" altLang="en-US" smtClean="0"/>
              <a:t>‹#›</a:t>
            </a:fld>
            <a:endParaRPr kumimoji="1" lang="zh-TW" altLang="en-US"/>
          </a:p>
        </p:txBody>
      </p:sp>
    </p:spTree>
    <p:extLst>
      <p:ext uri="{BB962C8B-B14F-4D97-AF65-F5344CB8AC3E}">
        <p14:creationId xmlns:p14="http://schemas.microsoft.com/office/powerpoint/2010/main" val="2913460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5A7BDA-2738-99E1-F1D9-92AD70180C8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03CBFB7-9889-38BA-9CCB-236052E1EB62}"/>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D3AD3CE-E2DE-D9BA-7283-56447761FE74}"/>
              </a:ext>
            </a:extLst>
          </p:cNvPr>
          <p:cNvSpPr>
            <a:spLocks noGrp="1"/>
          </p:cNvSpPr>
          <p:nvPr>
            <p:ph type="dt" sz="half" idx="10"/>
          </p:nvPr>
        </p:nvSpPr>
        <p:spPr/>
        <p:txBody>
          <a:bodyPr/>
          <a:lstStyle/>
          <a:p>
            <a:fld id="{E8908182-EC8B-BC43-B1FD-DD27EC860B52}" type="datetimeFigureOut">
              <a:rPr kumimoji="1" lang="zh-TW" altLang="en-US" smtClean="0"/>
              <a:t>2025/10/28</a:t>
            </a:fld>
            <a:endParaRPr kumimoji="1" lang="zh-TW" altLang="en-US"/>
          </a:p>
        </p:txBody>
      </p:sp>
      <p:sp>
        <p:nvSpPr>
          <p:cNvPr id="5" name="頁尾版面配置區 4">
            <a:extLst>
              <a:ext uri="{FF2B5EF4-FFF2-40B4-BE49-F238E27FC236}">
                <a16:creationId xmlns:a16="http://schemas.microsoft.com/office/drawing/2014/main" id="{E10DC006-0956-F86E-8019-BD5EBF6CC861}"/>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80D5B02-EE64-9461-08C8-13291770EC50}"/>
              </a:ext>
            </a:extLst>
          </p:cNvPr>
          <p:cNvSpPr>
            <a:spLocks noGrp="1"/>
          </p:cNvSpPr>
          <p:nvPr>
            <p:ph type="sldNum" sz="quarter" idx="12"/>
          </p:nvPr>
        </p:nvSpPr>
        <p:spPr/>
        <p:txBody>
          <a:bodyPr/>
          <a:lstStyle/>
          <a:p>
            <a:fld id="{2E62DE90-A7A5-074B-96F5-BF8C0A186543}" type="slidenum">
              <a:rPr kumimoji="1" lang="zh-TW" altLang="en-US" smtClean="0"/>
              <a:t>‹#›</a:t>
            </a:fld>
            <a:endParaRPr kumimoji="1" lang="zh-TW" altLang="en-US"/>
          </a:p>
        </p:txBody>
      </p:sp>
    </p:spTree>
    <p:extLst>
      <p:ext uri="{BB962C8B-B14F-4D97-AF65-F5344CB8AC3E}">
        <p14:creationId xmlns:p14="http://schemas.microsoft.com/office/powerpoint/2010/main" val="3831304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75E4DDEB-C812-6C03-2961-05282F4D9CA1}"/>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1EC6EA05-DF02-C6A9-EA98-E303D4F65423}"/>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C6157E06-6E1F-AB50-5FE6-8AC9810D644D}"/>
              </a:ext>
            </a:extLst>
          </p:cNvPr>
          <p:cNvSpPr>
            <a:spLocks noGrp="1"/>
          </p:cNvSpPr>
          <p:nvPr>
            <p:ph type="dt" sz="half" idx="10"/>
          </p:nvPr>
        </p:nvSpPr>
        <p:spPr/>
        <p:txBody>
          <a:bodyPr/>
          <a:lstStyle/>
          <a:p>
            <a:fld id="{E8908182-EC8B-BC43-B1FD-DD27EC860B52}" type="datetimeFigureOut">
              <a:rPr kumimoji="1" lang="zh-TW" altLang="en-US" smtClean="0"/>
              <a:t>2025/10/28</a:t>
            </a:fld>
            <a:endParaRPr kumimoji="1" lang="zh-TW" altLang="en-US"/>
          </a:p>
        </p:txBody>
      </p:sp>
      <p:sp>
        <p:nvSpPr>
          <p:cNvPr id="5" name="頁尾版面配置區 4">
            <a:extLst>
              <a:ext uri="{FF2B5EF4-FFF2-40B4-BE49-F238E27FC236}">
                <a16:creationId xmlns:a16="http://schemas.microsoft.com/office/drawing/2014/main" id="{498AFC13-0B69-89B7-E5E2-AE2D32EA61C5}"/>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5C2C4D80-FC72-AE83-70D6-4A2E95DD6E4F}"/>
              </a:ext>
            </a:extLst>
          </p:cNvPr>
          <p:cNvSpPr>
            <a:spLocks noGrp="1"/>
          </p:cNvSpPr>
          <p:nvPr>
            <p:ph type="sldNum" sz="quarter" idx="12"/>
          </p:nvPr>
        </p:nvSpPr>
        <p:spPr/>
        <p:txBody>
          <a:bodyPr/>
          <a:lstStyle/>
          <a:p>
            <a:fld id="{2E62DE90-A7A5-074B-96F5-BF8C0A186543}" type="slidenum">
              <a:rPr kumimoji="1" lang="zh-TW" altLang="en-US" smtClean="0"/>
              <a:t>‹#›</a:t>
            </a:fld>
            <a:endParaRPr kumimoji="1" lang="zh-TW" altLang="en-US"/>
          </a:p>
        </p:txBody>
      </p:sp>
    </p:spTree>
    <p:extLst>
      <p:ext uri="{BB962C8B-B14F-4D97-AF65-F5344CB8AC3E}">
        <p14:creationId xmlns:p14="http://schemas.microsoft.com/office/powerpoint/2010/main" val="2009394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CAC56B5F-E890-4E42-780D-6E604F6934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DCF22BC7-5E5D-01D3-C38C-17DCB6B51E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B618C61-E1F6-BA03-8AE0-2CAF3E4B4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908182-EC8B-BC43-B1FD-DD27EC860B52}" type="datetimeFigureOut">
              <a:rPr kumimoji="1" lang="zh-TW" altLang="en-US" smtClean="0"/>
              <a:t>2025/10/28</a:t>
            </a:fld>
            <a:endParaRPr kumimoji="1" lang="zh-TW" altLang="en-US"/>
          </a:p>
        </p:txBody>
      </p:sp>
      <p:sp>
        <p:nvSpPr>
          <p:cNvPr id="5" name="頁尾版面配置區 4">
            <a:extLst>
              <a:ext uri="{FF2B5EF4-FFF2-40B4-BE49-F238E27FC236}">
                <a16:creationId xmlns:a16="http://schemas.microsoft.com/office/drawing/2014/main" id="{19875D7A-B8B7-B495-1349-E14BCF79CB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1B51387C-A631-460E-7CEB-4CC8B3AD47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62DE90-A7A5-074B-96F5-BF8C0A186543}" type="slidenum">
              <a:rPr kumimoji="1" lang="zh-TW" altLang="en-US" smtClean="0"/>
              <a:t>‹#›</a:t>
            </a:fld>
            <a:endParaRPr kumimoji="1" lang="zh-TW" altLang="en-US"/>
          </a:p>
        </p:txBody>
      </p:sp>
    </p:spTree>
    <p:extLst>
      <p:ext uri="{BB962C8B-B14F-4D97-AF65-F5344CB8AC3E}">
        <p14:creationId xmlns:p14="http://schemas.microsoft.com/office/powerpoint/2010/main" val="1777854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kaggle.com/code/leonjye/mnist-comparison-original-image-vs-pca-reduced"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hackmd.io/@allen108108/H1KpGZveS" TargetMode="External"/><Relationship Id="rId2" Type="http://schemas.openxmlformats.org/officeDocument/2006/relationships/hyperlink" Target="https://tomohiroliu22.medium.com/&#27231;&#22120;&#23416;&#32722;-&#23416;&#32722;&#31558;&#35352;&#31995;&#21015;-73-&#23616;&#37096;&#32218;&#24615;&#23884;&#20837;&#28436;&#31639;&#27861;-locally-linear-embedding-66082ab586b1" TargetMode="Externa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distill.pub/2016/misread-tsne/" TargetMode="External"/><Relationship Id="rId2" Type="http://schemas.openxmlformats.org/officeDocument/2006/relationships/hyperlink" Target="https://mropengate.blogspot.com/2019/06/t-sne.html"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image" Target="../media/image210.png"/><Relationship Id="rId7" Type="http://schemas.openxmlformats.org/officeDocument/2006/relationships/image" Target="../media/image41.png"/><Relationship Id="rId2" Type="http://schemas.openxmlformats.org/officeDocument/2006/relationships/image" Target="../media/image200.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hyperlink" Target="https://medium.com/@sachinsoni600517/mastering-t-sne-t-distributed-stochastic-neighbor-embedding-0e365ee898ea" TargetMode="External"/><Relationship Id="rId4" Type="http://schemas.openxmlformats.org/officeDocument/2006/relationships/hyperlink" Target="https://clay-atlas.com/blog/2023/07/19/kl-kullback-leibler-divergence/"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lvdmaaten.github.io/tsne/"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A6DBD7-F77E-6439-5B0B-A81180617159}"/>
              </a:ext>
            </a:extLst>
          </p:cNvPr>
          <p:cNvSpPr>
            <a:spLocks noGrp="1"/>
          </p:cNvSpPr>
          <p:nvPr>
            <p:ph type="ctrTitle"/>
          </p:nvPr>
        </p:nvSpPr>
        <p:spPr>
          <a:xfrm>
            <a:off x="1524000" y="1122363"/>
            <a:ext cx="9144000" cy="2387600"/>
          </a:xfrm>
        </p:spPr>
        <p:txBody>
          <a:bodyPr/>
          <a:lstStyle/>
          <a:p>
            <a:r>
              <a:rPr lang="en" altLang="zh-TW" dirty="0"/>
              <a:t>unsupervised learning</a:t>
            </a:r>
            <a:r>
              <a:rPr lang="en-US" altLang="zh-TW" dirty="0"/>
              <a:t>-</a:t>
            </a:r>
            <a:r>
              <a:rPr lang="zh-TW" altLang="en-US" dirty="0"/>
              <a:t>降維</a:t>
            </a:r>
          </a:p>
        </p:txBody>
      </p:sp>
      <p:sp>
        <p:nvSpPr>
          <p:cNvPr id="3" name="副標題 2">
            <a:extLst>
              <a:ext uri="{FF2B5EF4-FFF2-40B4-BE49-F238E27FC236}">
                <a16:creationId xmlns:a16="http://schemas.microsoft.com/office/drawing/2014/main" id="{8E9D74FD-93CB-FD6E-8939-66AAF7ED3112}"/>
              </a:ext>
            </a:extLst>
          </p:cNvPr>
          <p:cNvSpPr>
            <a:spLocks noGrp="1"/>
          </p:cNvSpPr>
          <p:nvPr>
            <p:ph type="subTitle" idx="1"/>
          </p:nvPr>
        </p:nvSpPr>
        <p:spPr>
          <a:xfrm>
            <a:off x="1524000" y="3602038"/>
            <a:ext cx="9144000" cy="1655762"/>
          </a:xfrm>
        </p:spPr>
        <p:txBody>
          <a:bodyPr/>
          <a:lstStyle/>
          <a:p>
            <a:r>
              <a:rPr lang="zh-TW" altLang="en-US" dirty="0"/>
              <a:t>降維</a:t>
            </a:r>
            <a:r>
              <a:rPr lang="zh-TW" altLang="en-US" dirty="0">
                <a:solidFill>
                  <a:schemeClr val="bg1">
                    <a:lumMod val="95000"/>
                  </a:schemeClr>
                </a:solidFill>
              </a:rPr>
              <a:t>、分群、生成</a:t>
            </a:r>
            <a:endParaRPr lang="en-US" altLang="zh-TW" dirty="0">
              <a:solidFill>
                <a:schemeClr val="bg1">
                  <a:lumMod val="95000"/>
                </a:schemeClr>
              </a:solidFill>
            </a:endParaRPr>
          </a:p>
          <a:p>
            <a:endParaRPr lang="en-US" altLang="zh-TW" dirty="0"/>
          </a:p>
          <a:p>
            <a:r>
              <a:rPr lang="en" altLang="zh-TW" dirty="0"/>
              <a:t>https://</a:t>
            </a:r>
            <a:r>
              <a:rPr lang="en" altLang="zh-TW" dirty="0" err="1"/>
              <a:t>leemeng.tw</a:t>
            </a:r>
            <a:r>
              <a:rPr lang="en" altLang="zh-TW" dirty="0"/>
              <a:t>/essence-of-principal-component-</a:t>
            </a:r>
            <a:r>
              <a:rPr lang="en" altLang="zh-TW" dirty="0" err="1"/>
              <a:t>analysis.html</a:t>
            </a:r>
            <a:endParaRPr lang="zh-TW" altLang="en-US" dirty="0"/>
          </a:p>
        </p:txBody>
      </p:sp>
    </p:spTree>
    <p:extLst>
      <p:ext uri="{BB962C8B-B14F-4D97-AF65-F5344CB8AC3E}">
        <p14:creationId xmlns:p14="http://schemas.microsoft.com/office/powerpoint/2010/main" val="1594744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03 非監督式">
            <a:extLst>
              <a:ext uri="{FF2B5EF4-FFF2-40B4-BE49-F238E27FC236}">
                <a16:creationId xmlns:a16="http://schemas.microsoft.com/office/drawing/2014/main" id="{89047EC2-D60E-F042-B33C-830DA0EFDB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8251" y="3217863"/>
            <a:ext cx="7683500" cy="2959100"/>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0E3FA507-1C42-8040-A6D2-FE1519CC033C}"/>
              </a:ext>
            </a:extLst>
          </p:cNvPr>
          <p:cNvSpPr>
            <a:spLocks noGrp="1"/>
          </p:cNvSpPr>
          <p:nvPr>
            <p:ph type="title"/>
          </p:nvPr>
        </p:nvSpPr>
        <p:spPr/>
        <p:txBody>
          <a:bodyPr/>
          <a:lstStyle/>
          <a:p>
            <a:r>
              <a:rPr lang="zh-TW" altLang="en-US" b="1" dirty="0"/>
              <a:t>非監督式學習</a:t>
            </a:r>
            <a:endParaRPr kumimoji="1" lang="zh-TW" altLang="en-US" dirty="0"/>
          </a:p>
        </p:txBody>
      </p:sp>
      <p:sp>
        <p:nvSpPr>
          <p:cNvPr id="3" name="內容版面配置區 2">
            <a:extLst>
              <a:ext uri="{FF2B5EF4-FFF2-40B4-BE49-F238E27FC236}">
                <a16:creationId xmlns:a16="http://schemas.microsoft.com/office/drawing/2014/main" id="{8C3036F6-2D76-D54B-883F-13CCC4DB9DB2}"/>
              </a:ext>
            </a:extLst>
          </p:cNvPr>
          <p:cNvSpPr>
            <a:spLocks noGrp="1"/>
          </p:cNvSpPr>
          <p:nvPr>
            <p:ph idx="1"/>
          </p:nvPr>
        </p:nvSpPr>
        <p:spPr/>
        <p:txBody>
          <a:bodyPr/>
          <a:lstStyle/>
          <a:p>
            <a:r>
              <a:rPr lang="zh-TW" altLang="en-US" dirty="0"/>
              <a:t>非監督式學習 </a:t>
            </a:r>
            <a:r>
              <a:rPr lang="en-US" altLang="zh-TW" dirty="0"/>
              <a:t>(</a:t>
            </a:r>
            <a:r>
              <a:rPr lang="en" altLang="zh-TW" dirty="0"/>
              <a:t>Unsupervised Learning) </a:t>
            </a:r>
            <a:r>
              <a:rPr lang="zh-TW" altLang="en-US" dirty="0"/>
              <a:t>的訓練資料不需要事先以人力處理標籤，機器面對資料時，做的處理是依照關聯性去歸類 </a:t>
            </a:r>
            <a:r>
              <a:rPr lang="en-US" altLang="zh-TW" dirty="0"/>
              <a:t>(</a:t>
            </a:r>
            <a:r>
              <a:rPr lang="en" altLang="zh-TW" dirty="0"/>
              <a:t>Co-</a:t>
            </a:r>
            <a:r>
              <a:rPr lang="en" altLang="zh-TW" dirty="0" err="1"/>
              <a:t>occurance</a:t>
            </a:r>
            <a:r>
              <a:rPr lang="en" altLang="zh-TW" dirty="0"/>
              <a:t> Grouping)</a:t>
            </a:r>
            <a:r>
              <a:rPr lang="zh-TW" altLang="en" dirty="0"/>
              <a:t>、</a:t>
            </a:r>
            <a:r>
              <a:rPr lang="zh-TW" altLang="en-US" dirty="0"/>
              <a:t>找出潛在規則與套路 </a:t>
            </a:r>
            <a:r>
              <a:rPr lang="en-US" altLang="zh-TW" dirty="0"/>
              <a:t>(</a:t>
            </a:r>
            <a:r>
              <a:rPr lang="en" altLang="zh-TW" dirty="0"/>
              <a:t>Association Rule Discovery)</a:t>
            </a:r>
            <a:r>
              <a:rPr lang="zh-TW" altLang="en" dirty="0"/>
              <a:t>、</a:t>
            </a:r>
            <a:r>
              <a:rPr lang="zh-TW" altLang="en-US" dirty="0"/>
              <a:t>形成集群 </a:t>
            </a:r>
            <a:r>
              <a:rPr lang="en-US" altLang="zh-TW" dirty="0"/>
              <a:t>(</a:t>
            </a:r>
            <a:r>
              <a:rPr lang="en" altLang="zh-TW" dirty="0"/>
              <a:t>Clustering)</a:t>
            </a:r>
            <a:r>
              <a:rPr lang="zh-TW" altLang="en" dirty="0"/>
              <a:t>，</a:t>
            </a:r>
            <a:r>
              <a:rPr lang="zh-TW" altLang="en-US" dirty="0"/>
              <a:t>不對資訊有正確或不正確的判別。</a:t>
            </a:r>
            <a:br>
              <a:rPr lang="zh-TW" altLang="en-US" dirty="0"/>
            </a:br>
            <a:endParaRPr lang="zh-TW" altLang="en-US" dirty="0"/>
          </a:p>
        </p:txBody>
      </p:sp>
    </p:spTree>
    <p:extLst>
      <p:ext uri="{BB962C8B-B14F-4D97-AF65-F5344CB8AC3E}">
        <p14:creationId xmlns:p14="http://schemas.microsoft.com/office/powerpoint/2010/main" val="1548553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D16DAC-6698-1A44-A517-1B64BBCD903C}"/>
              </a:ext>
            </a:extLst>
          </p:cNvPr>
          <p:cNvSpPr>
            <a:spLocks noGrp="1"/>
          </p:cNvSpPr>
          <p:nvPr>
            <p:ph type="title"/>
          </p:nvPr>
        </p:nvSpPr>
        <p:spPr/>
        <p:txBody>
          <a:bodyPr/>
          <a:lstStyle/>
          <a:p>
            <a:r>
              <a:rPr lang="zh-TW" altLang="en-US" b="1"/>
              <a:t>非監督式學習</a:t>
            </a:r>
            <a:endParaRPr kumimoji="1" lang="zh-TW" altLang="en-US" dirty="0"/>
          </a:p>
        </p:txBody>
      </p:sp>
      <p:sp>
        <p:nvSpPr>
          <p:cNvPr id="3" name="內容版面配置區 2">
            <a:extLst>
              <a:ext uri="{FF2B5EF4-FFF2-40B4-BE49-F238E27FC236}">
                <a16:creationId xmlns:a16="http://schemas.microsoft.com/office/drawing/2014/main" id="{B60AB829-1B8E-704F-8921-BB774C81AF77}"/>
              </a:ext>
            </a:extLst>
          </p:cNvPr>
          <p:cNvSpPr>
            <a:spLocks noGrp="1"/>
          </p:cNvSpPr>
          <p:nvPr>
            <p:ph idx="1"/>
          </p:nvPr>
        </p:nvSpPr>
        <p:spPr/>
        <p:txBody>
          <a:bodyPr>
            <a:normAutofit lnSpcReduction="10000"/>
          </a:bodyPr>
          <a:lstStyle/>
          <a:p>
            <a:r>
              <a:rPr kumimoji="1" lang="zh-TW" altLang="en-US" dirty="0"/>
              <a:t>主要問題領域：</a:t>
            </a:r>
            <a:endParaRPr kumimoji="1" lang="en-US" altLang="zh-TW" dirty="0"/>
          </a:p>
          <a:p>
            <a:pPr lvl="1"/>
            <a:r>
              <a:rPr kumimoji="1" lang="zh-TW" altLang="en-US" dirty="0"/>
              <a:t>分群</a:t>
            </a:r>
            <a:endParaRPr kumimoji="1" lang="en-US" altLang="zh-TW" dirty="0"/>
          </a:p>
          <a:p>
            <a:pPr lvl="2"/>
            <a:r>
              <a:rPr kumimoji="1" lang="zh-TW" altLang="en-US" dirty="0"/>
              <a:t>相似的商品或資料分成數群</a:t>
            </a:r>
            <a:endParaRPr kumimoji="1" lang="en-US" altLang="zh-TW" dirty="0"/>
          </a:p>
          <a:p>
            <a:pPr lvl="2"/>
            <a:r>
              <a:rPr kumimoji="1" lang="en-US" altLang="zh-TW" dirty="0"/>
              <a:t>k-means, </a:t>
            </a:r>
            <a:r>
              <a:rPr lang="en" altLang="zh-TW" dirty="0"/>
              <a:t>hierarchical clustering, DBSCAN….</a:t>
            </a:r>
          </a:p>
          <a:p>
            <a:pPr lvl="1"/>
            <a:r>
              <a:rPr kumimoji="1" lang="zh-TW" altLang="en-US" dirty="0"/>
              <a:t>異常偵測</a:t>
            </a:r>
            <a:endParaRPr kumimoji="1" lang="en-US" altLang="zh-TW" dirty="0"/>
          </a:p>
          <a:p>
            <a:pPr lvl="2"/>
            <a:r>
              <a:rPr kumimoji="1" lang="en-US" altLang="zh-TW" dirty="0"/>
              <a:t>One-class SVM</a:t>
            </a:r>
          </a:p>
          <a:p>
            <a:pPr lvl="1"/>
            <a:r>
              <a:rPr kumimoji="1" lang="zh-TW" altLang="en-US" dirty="0"/>
              <a:t>降維</a:t>
            </a:r>
            <a:endParaRPr kumimoji="1" lang="en-US" altLang="zh-TW" dirty="0"/>
          </a:p>
          <a:p>
            <a:pPr lvl="2"/>
            <a:r>
              <a:rPr kumimoji="1" lang="zh-TW" altLang="en-US" dirty="0"/>
              <a:t>把具有很多維度的資料轉換</a:t>
            </a:r>
            <a:r>
              <a:rPr kumimoji="1" lang="en-US" altLang="zh-TW" dirty="0"/>
              <a:t>(</a:t>
            </a:r>
            <a:r>
              <a:rPr kumimoji="1" lang="zh-TW" altLang="en-US" dirty="0"/>
              <a:t>投影</a:t>
            </a:r>
            <a:r>
              <a:rPr kumimoji="1" lang="en-US" altLang="zh-TW" dirty="0"/>
              <a:t>)</a:t>
            </a:r>
            <a:r>
              <a:rPr kumimoji="1" lang="zh-TW" altLang="en-US" dirty="0"/>
              <a:t>到維度較少的空間中</a:t>
            </a:r>
            <a:endParaRPr kumimoji="1" lang="en-US" altLang="zh-TW" dirty="0"/>
          </a:p>
          <a:p>
            <a:pPr lvl="2"/>
            <a:r>
              <a:rPr kumimoji="1" lang="zh-TW" altLang="en-US" dirty="0"/>
              <a:t>自然語言處理中很有名的</a:t>
            </a:r>
            <a:r>
              <a:rPr kumimoji="1" lang="en-US" altLang="zh-TW" dirty="0"/>
              <a:t>word2Vec</a:t>
            </a:r>
          </a:p>
          <a:p>
            <a:pPr lvl="2"/>
            <a:r>
              <a:rPr kumimoji="1" lang="zh-TW" altLang="en-US" dirty="0"/>
              <a:t>常用的</a:t>
            </a:r>
            <a:r>
              <a:rPr kumimoji="1" lang="en-US" altLang="zh-TW" dirty="0"/>
              <a:t>PCA, </a:t>
            </a:r>
            <a:r>
              <a:rPr lang="en" altLang="zh-TW" dirty="0"/>
              <a:t>Singular Value Decomposition</a:t>
            </a:r>
          </a:p>
          <a:p>
            <a:pPr lvl="2"/>
            <a:r>
              <a:rPr kumimoji="1" lang="en" altLang="zh-TW" dirty="0"/>
              <a:t>LDA</a:t>
            </a:r>
            <a:r>
              <a:rPr kumimoji="1" lang="zh-TW" altLang="en" dirty="0"/>
              <a:t>、</a:t>
            </a:r>
            <a:r>
              <a:rPr kumimoji="1" lang="en" altLang="zh-TW" dirty="0"/>
              <a:t>LLE</a:t>
            </a:r>
            <a:r>
              <a:rPr kumimoji="1" lang="zh-TW" altLang="en-US" dirty="0"/>
              <a:t>、</a:t>
            </a:r>
            <a:r>
              <a:rPr kumimoji="1" lang="en-US" altLang="zh-TW" dirty="0"/>
              <a:t>t-SNE</a:t>
            </a:r>
          </a:p>
          <a:p>
            <a:pPr lvl="1"/>
            <a:r>
              <a:rPr kumimoji="1" lang="zh-TW" altLang="en-US" dirty="0"/>
              <a:t>生成</a:t>
            </a:r>
            <a:endParaRPr kumimoji="1" lang="en-US" altLang="zh-TW" dirty="0"/>
          </a:p>
          <a:p>
            <a:pPr lvl="2"/>
            <a:r>
              <a:rPr kumimoji="1" lang="en-US" altLang="zh-TW" dirty="0"/>
              <a:t>Variational Autoencoders, and Generative Adversarial Networks (GANs)</a:t>
            </a:r>
          </a:p>
        </p:txBody>
      </p:sp>
    </p:spTree>
    <p:extLst>
      <p:ext uri="{BB962C8B-B14F-4D97-AF65-F5344CB8AC3E}">
        <p14:creationId xmlns:p14="http://schemas.microsoft.com/office/powerpoint/2010/main" val="1008331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2EA3B4-5919-F50F-4544-36BD9AF9CEC4}"/>
              </a:ext>
            </a:extLst>
          </p:cNvPr>
          <p:cNvSpPr>
            <a:spLocks noGrp="1"/>
          </p:cNvSpPr>
          <p:nvPr>
            <p:ph type="title"/>
          </p:nvPr>
        </p:nvSpPr>
        <p:spPr/>
        <p:txBody>
          <a:bodyPr/>
          <a:lstStyle/>
          <a:p>
            <a:r>
              <a:rPr kumimoji="1" lang="zh-TW" altLang="en-US" dirty="0"/>
              <a:t>降維</a:t>
            </a:r>
            <a:r>
              <a:rPr kumimoji="1" lang="en-US" altLang="zh-TW" dirty="0"/>
              <a:t>-PCA</a:t>
            </a:r>
            <a:endParaRPr kumimoji="1" lang="zh-TW" altLang="en-US" dirty="0"/>
          </a:p>
        </p:txBody>
      </p:sp>
      <p:sp>
        <p:nvSpPr>
          <p:cNvPr id="3" name="內容版面配置區 2">
            <a:extLst>
              <a:ext uri="{FF2B5EF4-FFF2-40B4-BE49-F238E27FC236}">
                <a16:creationId xmlns:a16="http://schemas.microsoft.com/office/drawing/2014/main" id="{C751A0DF-E409-CB6D-5038-2893FB0EC28A}"/>
              </a:ext>
            </a:extLst>
          </p:cNvPr>
          <p:cNvSpPr>
            <a:spLocks noGrp="1"/>
          </p:cNvSpPr>
          <p:nvPr>
            <p:ph idx="1"/>
          </p:nvPr>
        </p:nvSpPr>
        <p:spPr/>
        <p:txBody>
          <a:bodyPr>
            <a:normAutofit fontScale="85000" lnSpcReduction="20000"/>
          </a:bodyPr>
          <a:lstStyle/>
          <a:p>
            <a:pPr>
              <a:lnSpc>
                <a:spcPct val="120000"/>
              </a:lnSpc>
            </a:pPr>
            <a:r>
              <a:rPr kumimoji="1" lang="zh-TW" altLang="en-US" dirty="0"/>
              <a:t>在許多領域的研究與應用中，通常需要對含有多個變量的數據進行觀測，收集大量數據後進行分析尋找規律。</a:t>
            </a:r>
            <a:endParaRPr kumimoji="1" lang="en-US" altLang="zh-TW" dirty="0"/>
          </a:p>
          <a:p>
            <a:pPr>
              <a:lnSpc>
                <a:spcPct val="120000"/>
              </a:lnSpc>
            </a:pPr>
            <a:r>
              <a:rPr kumimoji="1" lang="zh-TW" altLang="en-US" dirty="0"/>
              <a:t>多變量大數據集無疑會為研究和應用提供豐富的信息，但是也在一定程度上增加了數據採集的工作量。</a:t>
            </a:r>
            <a:endParaRPr kumimoji="1" lang="en-US" altLang="zh-TW" dirty="0"/>
          </a:p>
          <a:p>
            <a:pPr>
              <a:lnSpc>
                <a:spcPct val="120000"/>
              </a:lnSpc>
            </a:pPr>
            <a:r>
              <a:rPr kumimoji="1" lang="zh-TW" altLang="en-US" dirty="0"/>
              <a:t>更重要的是在很多情形下，許多變量之間可能存在相關性，從而增加了問題分析的複雜性。</a:t>
            </a:r>
            <a:endParaRPr kumimoji="1" lang="en-US" altLang="zh-TW" dirty="0"/>
          </a:p>
          <a:p>
            <a:pPr>
              <a:lnSpc>
                <a:spcPct val="120000"/>
              </a:lnSpc>
            </a:pPr>
            <a:r>
              <a:rPr kumimoji="1" lang="zh-TW" altLang="en-US" dirty="0"/>
              <a:t>如果分別對每個指標進行分析，分析往往是孤立的，不能完全利用數據中的信息，因此盲目減少指標會損失很多有用的信息，從而產生錯誤的結論。</a:t>
            </a:r>
          </a:p>
          <a:p>
            <a:pPr>
              <a:lnSpc>
                <a:spcPct val="120000"/>
              </a:lnSpc>
            </a:pPr>
            <a:r>
              <a:rPr kumimoji="1" lang="zh-TW" altLang="en-US" dirty="0"/>
              <a:t>因此需要找到一種合理的方法，在減少需要分析的指標同時，盡量減少原指標包含信息的損失，以達到對所收集數據進行全面分析的目的。</a:t>
            </a:r>
          </a:p>
        </p:txBody>
      </p:sp>
    </p:spTree>
    <p:extLst>
      <p:ext uri="{BB962C8B-B14F-4D97-AF65-F5344CB8AC3E}">
        <p14:creationId xmlns:p14="http://schemas.microsoft.com/office/powerpoint/2010/main" val="4279787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D89F5F-4A9E-D69F-1CEE-84BC84F70144}"/>
              </a:ext>
            </a:extLst>
          </p:cNvPr>
          <p:cNvSpPr>
            <a:spLocks noGrp="1"/>
          </p:cNvSpPr>
          <p:nvPr>
            <p:ph type="title"/>
          </p:nvPr>
        </p:nvSpPr>
        <p:spPr/>
        <p:txBody>
          <a:bodyPr/>
          <a:lstStyle/>
          <a:p>
            <a:r>
              <a:rPr kumimoji="1" lang="zh-TW" altLang="en-US" dirty="0"/>
              <a:t>降維</a:t>
            </a:r>
            <a:r>
              <a:rPr kumimoji="1" lang="en-US" altLang="zh-TW" dirty="0"/>
              <a:t>-PCA</a:t>
            </a:r>
            <a:endParaRPr kumimoji="1" lang="zh-TW" altLang="en-US" dirty="0"/>
          </a:p>
        </p:txBody>
      </p:sp>
      <p:sp>
        <p:nvSpPr>
          <p:cNvPr id="3" name="內容版面配置區 2">
            <a:extLst>
              <a:ext uri="{FF2B5EF4-FFF2-40B4-BE49-F238E27FC236}">
                <a16:creationId xmlns:a16="http://schemas.microsoft.com/office/drawing/2014/main" id="{75B0DF7A-9721-1596-8A6C-0C7681DF24AB}"/>
              </a:ext>
            </a:extLst>
          </p:cNvPr>
          <p:cNvSpPr>
            <a:spLocks noGrp="1"/>
          </p:cNvSpPr>
          <p:nvPr>
            <p:ph idx="1"/>
          </p:nvPr>
        </p:nvSpPr>
        <p:spPr/>
        <p:txBody>
          <a:bodyPr>
            <a:normAutofit fontScale="85000" lnSpcReduction="10000"/>
          </a:bodyPr>
          <a:lstStyle/>
          <a:p>
            <a:pPr>
              <a:lnSpc>
                <a:spcPct val="120000"/>
              </a:lnSpc>
            </a:pPr>
            <a:r>
              <a:rPr kumimoji="1" lang="zh-TW" altLang="en-US" dirty="0"/>
              <a:t>由於各變量之間存在一定的相關關係，因此可以考慮將關係緊密的變量變成盡可能少的新變量，使這些新變量是兩兩不相關的，那麼就可以用較少的綜合指標分別代表存在於各個變量中的各類信息。</a:t>
            </a:r>
            <a:endParaRPr kumimoji="1" lang="en-US" altLang="zh-TW" dirty="0"/>
          </a:p>
          <a:p>
            <a:r>
              <a:rPr kumimoji="1" lang="zh-TW" altLang="en-US" dirty="0"/>
              <a:t>降維就是一種對高維度特徵數據預處理方法。降維是將高維度的數據保留下最重要的一些特徵，去除噪聲和不重要的特徵，從而實現提升數據處理速度的目的。在實際的生產和應用中，降維在一定的信息損失範圍內，可以為我們節省大量的時間和成本。降維也成為應用非常廣泛的數據預處理方法。</a:t>
            </a:r>
          </a:p>
          <a:p>
            <a:r>
              <a:rPr kumimoji="1" lang="zh-TW" altLang="en-US" dirty="0"/>
              <a:t>降維具有如下一些優點：</a:t>
            </a:r>
          </a:p>
          <a:p>
            <a:pPr lvl="1"/>
            <a:r>
              <a:rPr kumimoji="1" lang="zh-TW" altLang="en-US" dirty="0"/>
              <a:t>使得數據集更易使用。</a:t>
            </a:r>
          </a:p>
          <a:p>
            <a:pPr lvl="1"/>
            <a:r>
              <a:rPr kumimoji="1" lang="zh-TW" altLang="en-US" dirty="0"/>
              <a:t>降低演算法的計算負擔</a:t>
            </a:r>
          </a:p>
          <a:p>
            <a:pPr lvl="1"/>
            <a:r>
              <a:rPr kumimoji="1" lang="zh-TW" altLang="en-US" dirty="0"/>
              <a:t>去除噪聲</a:t>
            </a:r>
            <a:r>
              <a:rPr kumimoji="1" lang="en-US" altLang="zh-TW" dirty="0"/>
              <a:t>(</a:t>
            </a:r>
            <a:r>
              <a:rPr kumimoji="1" lang="zh-TW" altLang="en-US" dirty="0"/>
              <a:t>雜訊</a:t>
            </a:r>
            <a:r>
              <a:rPr kumimoji="1" lang="en-US" altLang="zh-TW" dirty="0"/>
              <a:t>)</a:t>
            </a:r>
            <a:r>
              <a:rPr kumimoji="1" lang="zh-TW" altLang="en-US" dirty="0"/>
              <a:t>。</a:t>
            </a:r>
          </a:p>
          <a:p>
            <a:pPr lvl="1"/>
            <a:r>
              <a:rPr kumimoji="1" lang="zh-TW" altLang="en-US" dirty="0"/>
              <a:t>使得結果容易理解。</a:t>
            </a:r>
          </a:p>
        </p:txBody>
      </p:sp>
    </p:spTree>
    <p:extLst>
      <p:ext uri="{BB962C8B-B14F-4D97-AF65-F5344CB8AC3E}">
        <p14:creationId xmlns:p14="http://schemas.microsoft.com/office/powerpoint/2010/main" val="657053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AD5E05-0C66-EE30-E866-29719857C47D}"/>
              </a:ext>
            </a:extLst>
          </p:cNvPr>
          <p:cNvSpPr>
            <a:spLocks noGrp="1"/>
          </p:cNvSpPr>
          <p:nvPr>
            <p:ph type="title"/>
          </p:nvPr>
        </p:nvSpPr>
        <p:spPr/>
        <p:txBody>
          <a:bodyPr/>
          <a:lstStyle/>
          <a:p>
            <a:r>
              <a:rPr kumimoji="1" lang="zh-TW" altLang="en-US" dirty="0"/>
              <a:t>降維</a:t>
            </a:r>
            <a:r>
              <a:rPr kumimoji="1" lang="en-US" altLang="zh-TW" dirty="0"/>
              <a:t>-PCA</a:t>
            </a:r>
            <a:endParaRPr kumimoji="1" lang="zh-TW" altLang="en-US" dirty="0"/>
          </a:p>
        </p:txBody>
      </p:sp>
      <p:sp>
        <p:nvSpPr>
          <p:cNvPr id="3" name="內容版面配置區 2">
            <a:extLst>
              <a:ext uri="{FF2B5EF4-FFF2-40B4-BE49-F238E27FC236}">
                <a16:creationId xmlns:a16="http://schemas.microsoft.com/office/drawing/2014/main" id="{9F25275A-7A89-97BA-AF70-9290588A599B}"/>
              </a:ext>
            </a:extLst>
          </p:cNvPr>
          <p:cNvSpPr>
            <a:spLocks noGrp="1"/>
          </p:cNvSpPr>
          <p:nvPr>
            <p:ph idx="1"/>
          </p:nvPr>
        </p:nvSpPr>
        <p:spPr/>
        <p:txBody>
          <a:bodyPr/>
          <a:lstStyle/>
          <a:p>
            <a:r>
              <a:rPr kumimoji="1" lang="zh-TW" altLang="en-US" dirty="0"/>
              <a:t>主成分分析（</a:t>
            </a:r>
            <a:r>
              <a:rPr kumimoji="1" lang="en" altLang="zh-TW" dirty="0"/>
              <a:t>Principal Component Analysis, </a:t>
            </a:r>
            <a:r>
              <a:rPr kumimoji="1" lang="zh-TW" altLang="en-US" dirty="0"/>
              <a:t>後簡稱為 </a:t>
            </a:r>
            <a:r>
              <a:rPr kumimoji="1" lang="en" altLang="zh-TW" dirty="0"/>
              <a:t>PCA</a:t>
            </a:r>
            <a:r>
              <a:rPr kumimoji="1" lang="zh-TW" altLang="en" dirty="0"/>
              <a:t>）</a:t>
            </a:r>
            <a:r>
              <a:rPr kumimoji="1" lang="zh-TW" altLang="en-US" dirty="0"/>
              <a:t>在 </a:t>
            </a:r>
            <a:r>
              <a:rPr kumimoji="1" lang="en-US" altLang="zh-TW" dirty="0"/>
              <a:t>100 </a:t>
            </a:r>
            <a:r>
              <a:rPr kumimoji="1" lang="zh-TW" altLang="en-US" dirty="0"/>
              <a:t>年前由英國數學家卡爾</a:t>
            </a:r>
            <a:r>
              <a:rPr kumimoji="1" lang="en-US" altLang="zh-TW" dirty="0"/>
              <a:t>·</a:t>
            </a:r>
            <a:r>
              <a:rPr kumimoji="1" lang="zh-TW" altLang="en-US" dirty="0"/>
              <a:t>皮爾森發明，是一個至今仍在機器學習與統計學領域中被廣泛用來分析資料、降低數據維度以及去關聯的「線性降維」方法。</a:t>
            </a:r>
          </a:p>
          <a:p>
            <a:r>
              <a:rPr kumimoji="1" lang="zh-TW" altLang="en-US" dirty="0"/>
              <a:t>降維</a:t>
            </a:r>
            <a:r>
              <a:rPr kumimoji="1" lang="en-US" altLang="zh-TW" dirty="0"/>
              <a:t>(</a:t>
            </a:r>
            <a:r>
              <a:rPr kumimoji="1" lang="en" altLang="zh-TW" dirty="0"/>
              <a:t>Dimension reduction)</a:t>
            </a:r>
            <a:r>
              <a:rPr kumimoji="1" lang="zh-TW" altLang="en-US" dirty="0"/>
              <a:t>是當資料維度數</a:t>
            </a:r>
            <a:r>
              <a:rPr kumimoji="1" lang="en-US" altLang="zh-TW" dirty="0"/>
              <a:t>(</a:t>
            </a:r>
            <a:r>
              <a:rPr kumimoji="1" lang="zh-TW" altLang="en-US" dirty="0"/>
              <a:t>變數</a:t>
            </a:r>
            <a:r>
              <a:rPr kumimoji="1" lang="en-US" altLang="zh-TW" dirty="0"/>
              <a:t>)</a:t>
            </a:r>
            <a:r>
              <a:rPr kumimoji="1" lang="zh-TW" altLang="en-US" dirty="0"/>
              <a:t>很多的時候，找看看有沒有辦法讓維度數</a:t>
            </a:r>
            <a:r>
              <a:rPr kumimoji="1" lang="en-US" altLang="zh-TW" dirty="0"/>
              <a:t>(</a:t>
            </a:r>
            <a:r>
              <a:rPr kumimoji="1" lang="zh-TW" altLang="en-US" dirty="0"/>
              <a:t>變數個數</a:t>
            </a:r>
            <a:r>
              <a:rPr kumimoji="1" lang="en-US" altLang="zh-TW" dirty="0"/>
              <a:t>)</a:t>
            </a:r>
            <a:r>
              <a:rPr kumimoji="1" lang="zh-TW" altLang="en-US" dirty="0"/>
              <a:t>少一點，但資料特性</a:t>
            </a:r>
            <a:r>
              <a:rPr kumimoji="1" lang="en-US" altLang="zh-TW" dirty="0"/>
              <a:t>(</a:t>
            </a:r>
            <a:r>
              <a:rPr kumimoji="1" lang="zh-TW" altLang="en-US" dirty="0"/>
              <a:t>變異數</a:t>
            </a:r>
            <a:r>
              <a:rPr kumimoji="1" lang="en-US" altLang="zh-TW" dirty="0"/>
              <a:t>)</a:t>
            </a:r>
            <a:r>
              <a:rPr kumimoji="1" lang="zh-TW" altLang="en-US" dirty="0"/>
              <a:t>不會差太多。</a:t>
            </a:r>
          </a:p>
          <a:p>
            <a:r>
              <a:rPr kumimoji="1" lang="zh-TW" altLang="en-US" dirty="0"/>
              <a:t>因為不是維度越大，對資料的預測或分類的結果會更好</a:t>
            </a:r>
          </a:p>
          <a:p>
            <a:endParaRPr kumimoji="1" lang="zh-TW" altLang="en-US" dirty="0"/>
          </a:p>
          <a:p>
            <a:endParaRPr kumimoji="1" lang="zh-TW" altLang="en-US" dirty="0"/>
          </a:p>
        </p:txBody>
      </p:sp>
    </p:spTree>
    <p:extLst>
      <p:ext uri="{BB962C8B-B14F-4D97-AF65-F5344CB8AC3E}">
        <p14:creationId xmlns:p14="http://schemas.microsoft.com/office/powerpoint/2010/main" val="1564583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C0109D7-2C29-EDDB-5E23-86BC023ADEC3}"/>
              </a:ext>
            </a:extLst>
          </p:cNvPr>
          <p:cNvSpPr>
            <a:spLocks noGrp="1"/>
          </p:cNvSpPr>
          <p:nvPr>
            <p:ph type="title"/>
          </p:nvPr>
        </p:nvSpPr>
        <p:spPr/>
        <p:txBody>
          <a:bodyPr/>
          <a:lstStyle/>
          <a:p>
            <a:r>
              <a:rPr kumimoji="1" lang="zh-TW" altLang="en-US" dirty="0"/>
              <a:t>降維</a:t>
            </a:r>
            <a:r>
              <a:rPr kumimoji="1" lang="en-US" altLang="zh-TW" dirty="0"/>
              <a:t>-PCA</a:t>
            </a:r>
            <a:endParaRPr kumimoji="1" lang="zh-TW" altLang="en-US" dirty="0"/>
          </a:p>
        </p:txBody>
      </p:sp>
      <p:sp>
        <p:nvSpPr>
          <p:cNvPr id="3" name="內容版面配置區 2">
            <a:extLst>
              <a:ext uri="{FF2B5EF4-FFF2-40B4-BE49-F238E27FC236}">
                <a16:creationId xmlns:a16="http://schemas.microsoft.com/office/drawing/2014/main" id="{85DBB71B-2925-77A1-040E-4F49E42992DE}"/>
              </a:ext>
            </a:extLst>
          </p:cNvPr>
          <p:cNvSpPr>
            <a:spLocks noGrp="1"/>
          </p:cNvSpPr>
          <p:nvPr>
            <p:ph idx="1"/>
          </p:nvPr>
        </p:nvSpPr>
        <p:spPr>
          <a:xfrm>
            <a:off x="838200" y="1825625"/>
            <a:ext cx="10515600" cy="4667250"/>
          </a:xfrm>
        </p:spPr>
        <p:txBody>
          <a:bodyPr>
            <a:normAutofit/>
          </a:bodyPr>
          <a:lstStyle/>
          <a:p>
            <a:r>
              <a:rPr kumimoji="1" lang="en-US" altLang="zh-TW" dirty="0"/>
              <a:t>PCA</a:t>
            </a:r>
            <a:r>
              <a:rPr kumimoji="1" lang="zh-TW" altLang="en-US" dirty="0"/>
              <a:t>找出變異度最大的軸，而第二</a:t>
            </a:r>
            <a:br>
              <a:rPr kumimoji="1" lang="en-US" altLang="zh-TW" dirty="0"/>
            </a:br>
            <a:r>
              <a:rPr kumimoji="1" lang="zh-TW" altLang="en-US" dirty="0"/>
              <a:t>軸會與第一軸正交，第二軸則是</a:t>
            </a:r>
            <a:br>
              <a:rPr kumimoji="1" lang="en-US" altLang="zh-TW" dirty="0"/>
            </a:br>
            <a:r>
              <a:rPr kumimoji="1" lang="zh-TW" altLang="en-US" dirty="0"/>
              <a:t>占剩餘的變異度的多數。</a:t>
            </a:r>
            <a:endParaRPr kumimoji="1" lang="en-US" altLang="zh-TW" dirty="0"/>
          </a:p>
          <a:p>
            <a:r>
              <a:rPr kumimoji="1" lang="en-US" altLang="zh-TW" dirty="0"/>
              <a:t>PCA</a:t>
            </a:r>
            <a:r>
              <a:rPr kumimoji="1" lang="zh-TW" altLang="en-US" dirty="0"/>
              <a:t>找出變異度最大的軸，而第二軸會與第一軸正交，第二軸則是占剩餘的變異度的多數。</a:t>
            </a:r>
            <a:endParaRPr kumimoji="1" lang="en-US" altLang="zh-TW" dirty="0"/>
          </a:p>
          <a:p>
            <a:r>
              <a:rPr kumimoji="1" lang="zh-TW" altLang="en-US" dirty="0"/>
              <a:t>隨著資料組的維度越高，還會有第三軸第四軸的計算，最終軸數會與資料組的維度一樣。</a:t>
            </a:r>
            <a:endParaRPr kumimoji="1" lang="en-US" altLang="zh-TW" dirty="0"/>
          </a:p>
          <a:p>
            <a:r>
              <a:rPr kumimoji="1" lang="zh-TW" altLang="en-US" dirty="0"/>
              <a:t>第</a:t>
            </a:r>
            <a:r>
              <a:rPr kumimoji="1" lang="en-US" altLang="zh-TW" dirty="0" err="1"/>
              <a:t>i</a:t>
            </a:r>
            <a:r>
              <a:rPr kumimoji="1" lang="zh-TW" altLang="en-US" dirty="0"/>
              <a:t>軸稱為第</a:t>
            </a:r>
            <a:r>
              <a:rPr kumimoji="1" lang="en-US" altLang="zh-TW" dirty="0" err="1"/>
              <a:t>i</a:t>
            </a:r>
            <a:r>
              <a:rPr kumimoji="1" lang="zh-TW" altLang="en-US" dirty="0"/>
              <a:t>個主成分</a:t>
            </a:r>
            <a:r>
              <a:rPr kumimoji="1" lang="en-US" altLang="zh-TW" dirty="0"/>
              <a:t>(principal component, PC)</a:t>
            </a:r>
          </a:p>
          <a:p>
            <a:r>
              <a:rPr kumimoji="1" lang="zh-TW" altLang="en-US" dirty="0"/>
              <a:t>找出所有的主成分後，可以將資料組投射到前</a:t>
            </a:r>
            <a:r>
              <a:rPr kumimoji="1" lang="en-US" altLang="zh-TW" dirty="0"/>
              <a:t>d</a:t>
            </a:r>
            <a:r>
              <a:rPr kumimoji="1" lang="zh-TW" altLang="en-US" dirty="0"/>
              <a:t>個主元素定義的超平面，意指將維度降到</a:t>
            </a:r>
            <a:r>
              <a:rPr kumimoji="1" lang="en-US" altLang="zh-TW" dirty="0"/>
              <a:t>d</a:t>
            </a:r>
            <a:r>
              <a:rPr kumimoji="1" lang="zh-TW" altLang="en-US" dirty="0"/>
              <a:t>維</a:t>
            </a:r>
            <a:endParaRPr kumimoji="1" lang="en-US" altLang="zh-TW" dirty="0"/>
          </a:p>
          <a:p>
            <a:endParaRPr kumimoji="1" lang="en-US" altLang="zh-TW" dirty="0"/>
          </a:p>
          <a:p>
            <a:endParaRPr kumimoji="1" lang="zh-TW" altLang="en-US" dirty="0"/>
          </a:p>
        </p:txBody>
      </p:sp>
      <p:pic>
        <p:nvPicPr>
          <p:cNvPr id="4" name="Picture 2">
            <a:extLst>
              <a:ext uri="{FF2B5EF4-FFF2-40B4-BE49-F238E27FC236}">
                <a16:creationId xmlns:a16="http://schemas.microsoft.com/office/drawing/2014/main" id="{8B6D83D4-6324-C7F3-0D98-CCE2E5C310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1761" y="0"/>
            <a:ext cx="4762039" cy="2871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954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1D2C04-3C1A-B447-92D7-33061941F334}"/>
              </a:ext>
            </a:extLst>
          </p:cNvPr>
          <p:cNvSpPr>
            <a:spLocks noGrp="1"/>
          </p:cNvSpPr>
          <p:nvPr>
            <p:ph type="title"/>
          </p:nvPr>
        </p:nvSpPr>
        <p:spPr/>
        <p:txBody>
          <a:bodyPr/>
          <a:lstStyle/>
          <a:p>
            <a:r>
              <a:rPr kumimoji="1" lang="zh-TW" altLang="en-US" dirty="0"/>
              <a:t>降維</a:t>
            </a:r>
            <a:r>
              <a:rPr kumimoji="1" lang="en-US" altLang="zh-TW" dirty="0"/>
              <a:t>-PCA</a:t>
            </a:r>
            <a:endParaRPr kumimoji="1" lang="zh-TW" altLang="en-US" dirty="0"/>
          </a:p>
        </p:txBody>
      </p:sp>
      <p:sp>
        <p:nvSpPr>
          <p:cNvPr id="3" name="內容版面配置區 2">
            <a:extLst>
              <a:ext uri="{FF2B5EF4-FFF2-40B4-BE49-F238E27FC236}">
                <a16:creationId xmlns:a16="http://schemas.microsoft.com/office/drawing/2014/main" id="{B63F61ED-69A4-1843-A2EE-310249E40F01}"/>
              </a:ext>
            </a:extLst>
          </p:cNvPr>
          <p:cNvSpPr>
            <a:spLocks noGrp="1"/>
          </p:cNvSpPr>
          <p:nvPr>
            <p:ph idx="1"/>
          </p:nvPr>
        </p:nvSpPr>
        <p:spPr/>
        <p:txBody>
          <a:bodyPr/>
          <a:lstStyle/>
          <a:p>
            <a:r>
              <a:rPr lang="zh-TW" altLang="en-US" dirty="0"/>
              <a:t>主成份分析的基本假設是希望資料可以在特徵空間找到一個投影軸</a:t>
            </a:r>
            <a:r>
              <a:rPr lang="en-US" altLang="zh-TW" dirty="0"/>
              <a:t>(</a:t>
            </a:r>
            <a:r>
              <a:rPr lang="zh-TW" altLang="en-US" dirty="0"/>
              <a:t>向量</a:t>
            </a:r>
            <a:r>
              <a:rPr lang="en-US" altLang="zh-TW" dirty="0"/>
              <a:t>)</a:t>
            </a:r>
            <a:r>
              <a:rPr lang="zh-TW" altLang="en-US" dirty="0"/>
              <a:t>投影後可以得到這組資料的最大變異量</a:t>
            </a:r>
            <a:endParaRPr kumimoji="1" lang="zh-TW" altLang="en-US" dirty="0"/>
          </a:p>
        </p:txBody>
      </p:sp>
      <p:pic>
        <p:nvPicPr>
          <p:cNvPr id="1026" name="Picture 2">
            <a:extLst>
              <a:ext uri="{FF2B5EF4-FFF2-40B4-BE49-F238E27FC236}">
                <a16:creationId xmlns:a16="http://schemas.microsoft.com/office/drawing/2014/main" id="{877D068C-3AFC-354B-B97E-5BF68F2379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9857" y="2808165"/>
            <a:ext cx="8878645" cy="3368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5543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F733487-0204-9DF1-DD18-5A29D7F5ADB8}"/>
              </a:ext>
            </a:extLst>
          </p:cNvPr>
          <p:cNvSpPr>
            <a:spLocks noGrp="1"/>
          </p:cNvSpPr>
          <p:nvPr>
            <p:ph type="title"/>
          </p:nvPr>
        </p:nvSpPr>
        <p:spPr/>
        <p:txBody>
          <a:bodyPr/>
          <a:lstStyle/>
          <a:p>
            <a:r>
              <a:rPr kumimoji="1" lang="zh-TW" altLang="en-US" dirty="0"/>
              <a:t>降維</a:t>
            </a:r>
            <a:r>
              <a:rPr kumimoji="1" lang="en-US" altLang="zh-TW" dirty="0"/>
              <a:t>-PCA</a:t>
            </a:r>
            <a:endParaRPr kumimoji="1" lang="zh-TW" altLang="en-US" dirty="0"/>
          </a:p>
        </p:txBody>
      </p:sp>
      <p:sp>
        <p:nvSpPr>
          <p:cNvPr id="3" name="內容版面配置區 2">
            <a:extLst>
              <a:ext uri="{FF2B5EF4-FFF2-40B4-BE49-F238E27FC236}">
                <a16:creationId xmlns:a16="http://schemas.microsoft.com/office/drawing/2014/main" id="{F5BD3B5B-0B59-4B78-8B00-6F89712561D5}"/>
              </a:ext>
            </a:extLst>
          </p:cNvPr>
          <p:cNvSpPr>
            <a:spLocks noGrp="1"/>
          </p:cNvSpPr>
          <p:nvPr>
            <p:ph idx="1"/>
          </p:nvPr>
        </p:nvSpPr>
        <p:spPr/>
        <p:txBody>
          <a:bodyPr/>
          <a:lstStyle/>
          <a:p>
            <a:endParaRPr kumimoji="1" lang="zh-TW" altLang="en-US"/>
          </a:p>
        </p:txBody>
      </p:sp>
      <p:pic>
        <p:nvPicPr>
          <p:cNvPr id="4" name="Picture 2">
            <a:extLst>
              <a:ext uri="{FF2B5EF4-FFF2-40B4-BE49-F238E27FC236}">
                <a16:creationId xmlns:a16="http://schemas.microsoft.com/office/drawing/2014/main" id="{9E8AA34F-16E4-CC70-F486-95C855F4BE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41315" y="948796"/>
            <a:ext cx="7112485" cy="522816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 name="Picture 2" descr="PCA animation: variance and reconstruction error">
            <a:extLst>
              <a:ext uri="{FF2B5EF4-FFF2-40B4-BE49-F238E27FC236}">
                <a16:creationId xmlns:a16="http://schemas.microsoft.com/office/drawing/2014/main" id="{6CFE85B5-A8E4-7726-9020-F1B343AD46D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071" r="27857"/>
          <a:stretch/>
        </p:blipFill>
        <p:spPr bwMode="auto">
          <a:xfrm>
            <a:off x="340935" y="2454049"/>
            <a:ext cx="3822634" cy="372291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文字方塊 6">
            <a:extLst>
              <a:ext uri="{FF2B5EF4-FFF2-40B4-BE49-F238E27FC236}">
                <a16:creationId xmlns:a16="http://schemas.microsoft.com/office/drawing/2014/main" id="{7361A7B5-9A73-3CAD-6E61-55627182F83E}"/>
              </a:ext>
            </a:extLst>
          </p:cNvPr>
          <p:cNvSpPr txBox="1"/>
          <p:nvPr/>
        </p:nvSpPr>
        <p:spPr>
          <a:xfrm>
            <a:off x="340935" y="6176963"/>
            <a:ext cx="11063057" cy="523220"/>
          </a:xfrm>
          <a:prstGeom prst="rect">
            <a:avLst/>
          </a:prstGeom>
          <a:noFill/>
        </p:spPr>
        <p:txBody>
          <a:bodyPr wrap="square">
            <a:spAutoFit/>
          </a:bodyPr>
          <a:lstStyle/>
          <a:p>
            <a:r>
              <a:rPr lang="zh-TW" altLang="en-US" sz="1400" dirty="0"/>
              <a:t>https://chih-sheng-huang821.medium.com/%E6%A9%9F%E5%99%A8-%E7%B5%B1%E8%A8%88%E5%AD%B8%E7%BF%92-%E4%B8%BB%E6%88%90%E5%88%86%E5%88%86%E6%9E%90-principle-component-analysis-pca-58229cd26e71</a:t>
            </a:r>
          </a:p>
        </p:txBody>
      </p:sp>
    </p:spTree>
    <p:extLst>
      <p:ext uri="{BB962C8B-B14F-4D97-AF65-F5344CB8AC3E}">
        <p14:creationId xmlns:p14="http://schemas.microsoft.com/office/powerpoint/2010/main" val="3806884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A9A620-F89D-CF23-290C-00F30E9CC411}"/>
              </a:ext>
            </a:extLst>
          </p:cNvPr>
          <p:cNvSpPr>
            <a:spLocks noGrp="1"/>
          </p:cNvSpPr>
          <p:nvPr>
            <p:ph type="title"/>
          </p:nvPr>
        </p:nvSpPr>
        <p:spPr/>
        <p:txBody>
          <a:bodyPr/>
          <a:lstStyle/>
          <a:p>
            <a:r>
              <a:rPr kumimoji="1" lang="zh-TW" altLang="en-US" dirty="0"/>
              <a:t>降維</a:t>
            </a:r>
            <a:r>
              <a:rPr kumimoji="1" lang="en-US" altLang="zh-TW" dirty="0"/>
              <a:t>-PCA</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89C92B34-4E78-4DA8-FB63-39DD40B2758A}"/>
                  </a:ext>
                </a:extLst>
              </p:cNvPr>
              <p:cNvSpPr>
                <a:spLocks noGrp="1"/>
              </p:cNvSpPr>
              <p:nvPr>
                <p:ph idx="1"/>
              </p:nvPr>
            </p:nvSpPr>
            <p:spPr/>
            <p:txBody>
              <a:bodyPr/>
              <a:lstStyle/>
              <a:p>
                <a:r>
                  <a:rPr kumimoji="1" lang="zh-TW" altLang="en-US" dirty="0"/>
                  <a:t>觀察上頁投影片的圖，</a:t>
                </a:r>
                <a:r>
                  <a:rPr kumimoji="1" lang="en-US" altLang="zh-TW" dirty="0"/>
                  <a:t>PCA</a:t>
                </a:r>
                <a:r>
                  <a:rPr kumimoji="1" lang="zh-TW" altLang="en-US" dirty="0"/>
                  <a:t>首先有個前提，會先將所有資料位移，讓每個變數的平均值都為</a:t>
                </a:r>
                <a:r>
                  <a:rPr kumimoji="1" lang="en-US" altLang="zh-TW" dirty="0"/>
                  <a:t>0</a:t>
                </a:r>
              </a:p>
              <a:p>
                <a:r>
                  <a:rPr kumimoji="1" lang="zh-TW" altLang="en-US" dirty="0"/>
                  <a:t>假設有一個紅色的軸</a:t>
                </a:r>
                <a14:m>
                  <m:oMath xmlns:m="http://schemas.openxmlformats.org/officeDocument/2006/math">
                    <m:r>
                      <m:rPr>
                        <m:sty m:val="p"/>
                      </m:rPr>
                      <a:rPr kumimoji="1" lang="el-GR" altLang="zh-TW" i="1" smtClean="0">
                        <a:latin typeface="Cambria Math" panose="02040503050406030204" pitchFamily="18" charset="0"/>
                        <a:ea typeface="Cambria Math" panose="02040503050406030204" pitchFamily="18" charset="0"/>
                      </a:rPr>
                      <m:t>ν</m:t>
                    </m:r>
                  </m:oMath>
                </a14:m>
                <a:r>
                  <a:rPr kumimoji="1" lang="zh-TW" altLang="en-US" dirty="0"/>
                  <a:t>，我們將</a:t>
                </a:r>
                <a14:m>
                  <m:oMath xmlns:m="http://schemas.openxmlformats.org/officeDocument/2006/math">
                    <m:sSub>
                      <m:sSubPr>
                        <m:ctrlPr>
                          <a:rPr kumimoji="1" lang="en-US" altLang="zh-TW" b="0" i="1" smtClean="0">
                            <a:latin typeface="Cambria Math" panose="02040503050406030204" pitchFamily="18" charset="0"/>
                          </a:rPr>
                        </m:ctrlPr>
                      </m:sSubPr>
                      <m:e>
                        <m:r>
                          <a:rPr kumimoji="1" lang="en-US" altLang="zh-TW" b="0" i="1" smtClean="0">
                            <a:latin typeface="Cambria Math" panose="02040503050406030204" pitchFamily="18" charset="0"/>
                          </a:rPr>
                          <m:t>𝑥</m:t>
                        </m:r>
                      </m:e>
                      <m:sub>
                        <m:r>
                          <a:rPr kumimoji="1" lang="en-US" altLang="zh-TW" b="0" i="1" smtClean="0">
                            <a:latin typeface="Cambria Math" panose="02040503050406030204" pitchFamily="18" charset="0"/>
                          </a:rPr>
                          <m:t>𝑖</m:t>
                        </m:r>
                      </m:sub>
                    </m:sSub>
                  </m:oMath>
                </a14:m>
                <a:r>
                  <a:rPr kumimoji="1" lang="zh-TW" altLang="en-US" dirty="0"/>
                  <a:t>投影</a:t>
                </a:r>
                <a:br>
                  <a:rPr kumimoji="1" lang="en-US" altLang="zh-TW" dirty="0"/>
                </a:br>
                <a:r>
                  <a:rPr kumimoji="1" lang="en-US" altLang="zh-TW" dirty="0"/>
                  <a:t>(projection)</a:t>
                </a:r>
                <a:r>
                  <a:rPr kumimoji="1" lang="zh-TW" altLang="en-US" dirty="0"/>
                  <a:t>到上面，對應出新的點</a:t>
                </a:r>
                <a:endParaRPr kumimoji="1" lang="en-US" altLang="zh-TW" dirty="0"/>
              </a:p>
              <a:p>
                <a:r>
                  <a:rPr kumimoji="1" lang="zh-TW" altLang="en-US" dirty="0"/>
                  <a:t>該點 </a:t>
                </a:r>
                <a14:m>
                  <m:oMath xmlns:m="http://schemas.openxmlformats.org/officeDocument/2006/math">
                    <m:r>
                      <a:rPr kumimoji="1" lang="en-US" altLang="zh-TW" b="0" i="1" smtClean="0">
                        <a:latin typeface="Cambria Math" panose="02040503050406030204" pitchFamily="18" charset="0"/>
                      </a:rPr>
                      <m:t>𝑧</m:t>
                    </m:r>
                    <m:r>
                      <a:rPr kumimoji="1" lang="en-US" altLang="zh-TW" b="0" i="1" smtClean="0">
                        <a:latin typeface="Cambria Math" panose="02040503050406030204" pitchFamily="18" charset="0"/>
                      </a:rPr>
                      <m:t>=</m:t>
                    </m:r>
                    <m:r>
                      <a:rPr kumimoji="1" lang="en-US" altLang="zh-TW" i="1">
                        <a:latin typeface="Cambria Math" panose="02040503050406030204" pitchFamily="18" charset="0"/>
                      </a:rPr>
                      <m:t>𝑤</m:t>
                    </m:r>
                    <m:acc>
                      <m:accPr>
                        <m:chr m:val="⃗"/>
                        <m:ctrlPr>
                          <a:rPr kumimoji="1" lang="en-US" altLang="zh-TW" b="0" i="1" smtClean="0">
                            <a:latin typeface="Cambria Math" panose="02040503050406030204" pitchFamily="18" charset="0"/>
                          </a:rPr>
                        </m:ctrlPr>
                      </m:accPr>
                      <m:e>
                        <m:sSub>
                          <m:sSubPr>
                            <m:ctrlPr>
                              <a:rPr kumimoji="1" lang="en-US" altLang="zh-TW" b="0" i="1" smtClean="0">
                                <a:latin typeface="Cambria Math" panose="02040503050406030204" pitchFamily="18" charset="0"/>
                              </a:rPr>
                            </m:ctrlPr>
                          </m:sSubPr>
                          <m:e>
                            <m:r>
                              <a:rPr kumimoji="1" lang="en-US" altLang="zh-TW" b="0" i="1" smtClean="0">
                                <a:latin typeface="Cambria Math" panose="02040503050406030204" pitchFamily="18" charset="0"/>
                              </a:rPr>
                              <m:t>𝑥</m:t>
                            </m:r>
                          </m:e>
                          <m:sub>
                            <m:r>
                              <a:rPr kumimoji="1" lang="en-US" altLang="zh-TW" b="0" i="1" smtClean="0">
                                <a:latin typeface="Cambria Math" panose="02040503050406030204" pitchFamily="18" charset="0"/>
                              </a:rPr>
                              <m:t>𝑖</m:t>
                            </m:r>
                          </m:sub>
                        </m:sSub>
                      </m:e>
                    </m:acc>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𝛼</m:t>
                    </m:r>
                    <m:f>
                      <m:fPr>
                        <m:ctrlPr>
                          <a:rPr kumimoji="1" lang="en-US" altLang="zh-TW" b="0" i="1" smtClean="0">
                            <a:latin typeface="Cambria Math" panose="02040503050406030204" pitchFamily="18" charset="0"/>
                            <a:ea typeface="Cambria Math" panose="02040503050406030204" pitchFamily="18" charset="0"/>
                          </a:rPr>
                        </m:ctrlPr>
                      </m:fPr>
                      <m:num>
                        <m:r>
                          <m:rPr>
                            <m:sty m:val="p"/>
                          </m:rPr>
                          <a:rPr kumimoji="1" lang="el-GR" altLang="zh-TW" i="1" smtClean="0">
                            <a:latin typeface="Cambria Math" panose="02040503050406030204" pitchFamily="18" charset="0"/>
                            <a:ea typeface="Cambria Math" panose="02040503050406030204" pitchFamily="18" charset="0"/>
                          </a:rPr>
                          <m:t>ν</m:t>
                        </m:r>
                      </m:num>
                      <m:den>
                        <m:d>
                          <m:dPr>
                            <m:begChr m:val="‖"/>
                            <m:endChr m:val="‖"/>
                            <m:ctrlPr>
                              <a:rPr kumimoji="1" lang="en-US" altLang="zh-TW" b="0" i="1" smtClean="0">
                                <a:latin typeface="Cambria Math" panose="02040503050406030204" pitchFamily="18" charset="0"/>
                                <a:ea typeface="Cambria Math" panose="02040503050406030204" pitchFamily="18" charset="0"/>
                              </a:rPr>
                            </m:ctrlPr>
                          </m:dPr>
                          <m:e>
                            <m:r>
                              <m:rPr>
                                <m:sty m:val="p"/>
                              </m:rPr>
                              <a:rPr kumimoji="1" lang="el-GR" altLang="zh-TW" i="1" smtClean="0">
                                <a:latin typeface="Cambria Math" panose="02040503050406030204" pitchFamily="18" charset="0"/>
                                <a:ea typeface="Cambria Math" panose="02040503050406030204" pitchFamily="18" charset="0"/>
                              </a:rPr>
                              <m:t>ν</m:t>
                            </m:r>
                          </m:e>
                        </m:d>
                      </m:den>
                    </m:f>
                  </m:oMath>
                </a14:m>
                <a:endParaRPr kumimoji="1" lang="en-US" altLang="zh-TW" dirty="0"/>
              </a:p>
              <a:p>
                <a:r>
                  <a:rPr kumimoji="1" lang="zh-TW" altLang="en-US" dirty="0"/>
                  <a:t>變異數公式：</a:t>
                </a:r>
                <a14:m>
                  <m:oMath xmlns:m="http://schemas.openxmlformats.org/officeDocument/2006/math">
                    <m:r>
                      <a:rPr kumimoji="1" lang="en-US" altLang="zh-TW" b="0" i="1" smtClean="0">
                        <a:latin typeface="Cambria Math" panose="02040503050406030204" pitchFamily="18" charset="0"/>
                      </a:rPr>
                      <m:t>𝑣𝑎𝑟</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𝑧</m:t>
                        </m:r>
                      </m:e>
                    </m:d>
                    <m:r>
                      <a:rPr kumimoji="1" lang="en-US" altLang="zh-TW" b="0" i="1" smtClean="0">
                        <a:latin typeface="Cambria Math" panose="02040503050406030204" pitchFamily="18" charset="0"/>
                      </a:rPr>
                      <m:t>=</m:t>
                    </m:r>
                    <m:nary>
                      <m:naryPr>
                        <m:chr m:val="∑"/>
                        <m:subHide m:val="on"/>
                        <m:supHide m:val="on"/>
                        <m:ctrlPr>
                          <a:rPr kumimoji="1" lang="en-US" altLang="zh-TW" b="0" i="1" smtClean="0">
                            <a:latin typeface="Cambria Math" panose="02040503050406030204" pitchFamily="18" charset="0"/>
                          </a:rPr>
                        </m:ctrlPr>
                      </m:naryPr>
                      <m:sub/>
                      <m:sup/>
                      <m:e>
                        <m:sSup>
                          <m:sSupPr>
                            <m:ctrlPr>
                              <a:rPr kumimoji="1" lang="en-US" altLang="zh-TW" b="0" i="1" smtClean="0">
                                <a:latin typeface="Cambria Math" panose="02040503050406030204" pitchFamily="18" charset="0"/>
                              </a:rPr>
                            </m:ctrlPr>
                          </m:sSupPr>
                          <m:e>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𝑧</m:t>
                                </m:r>
                                <m:r>
                                  <a:rPr kumimoji="1" lang="en-US" altLang="zh-TW" b="0" i="1" smtClean="0">
                                    <a:latin typeface="Cambria Math" panose="02040503050406030204" pitchFamily="18" charset="0"/>
                                  </a:rPr>
                                  <m:t>−</m:t>
                                </m:r>
                                <m:acc>
                                  <m:accPr>
                                    <m:chr m:val="̅"/>
                                    <m:ctrlPr>
                                      <a:rPr kumimoji="1" lang="en-US" altLang="zh-TW" b="0" i="1" smtClean="0">
                                        <a:latin typeface="Cambria Math" panose="02040503050406030204" pitchFamily="18" charset="0"/>
                                      </a:rPr>
                                    </m:ctrlPr>
                                  </m:accPr>
                                  <m:e>
                                    <m:r>
                                      <a:rPr kumimoji="1" lang="en-US" altLang="zh-TW" b="0" i="1" smtClean="0">
                                        <a:latin typeface="Cambria Math" panose="02040503050406030204" pitchFamily="18" charset="0"/>
                                      </a:rPr>
                                      <m:t>𝑧</m:t>
                                    </m:r>
                                  </m:e>
                                </m:acc>
                              </m:e>
                            </m:d>
                          </m:e>
                          <m:sup>
                            <m:r>
                              <a:rPr kumimoji="1" lang="en-US" altLang="zh-TW" b="0" i="1" smtClean="0">
                                <a:latin typeface="Cambria Math" panose="02040503050406030204" pitchFamily="18" charset="0"/>
                              </a:rPr>
                              <m:t>2</m:t>
                            </m:r>
                          </m:sup>
                        </m:sSup>
                      </m:e>
                    </m:nary>
                  </m:oMath>
                </a14:m>
                <a:endParaRPr kumimoji="1" lang="en-US" altLang="zh-TW" dirty="0"/>
              </a:p>
              <a:p>
                <a:r>
                  <a:rPr kumimoji="1" lang="zh-TW" altLang="en-US" dirty="0"/>
                  <a:t>希望找到一個投影的軸</a:t>
                </a:r>
                <a:br>
                  <a:rPr kumimoji="1" lang="en-US" altLang="zh-TW" dirty="0"/>
                </a:br>
                <a:r>
                  <a:rPr kumimoji="1" lang="zh-TW" altLang="en-US" dirty="0"/>
                  <a:t>使得</a:t>
                </a:r>
                <a14:m>
                  <m:oMath xmlns:m="http://schemas.openxmlformats.org/officeDocument/2006/math">
                    <m:r>
                      <a:rPr kumimoji="1" lang="en-US" altLang="zh-TW" b="0" i="1" smtClean="0">
                        <a:latin typeface="Cambria Math" panose="02040503050406030204" pitchFamily="18" charset="0"/>
                      </a:rPr>
                      <m:t>𝑣𝑎𝑟</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𝑧</m:t>
                        </m:r>
                      </m:e>
                    </m:d>
                  </m:oMath>
                </a14:m>
                <a:r>
                  <a:rPr kumimoji="1" lang="zh-TW" altLang="en-US" dirty="0"/>
                  <a:t>的值最大</a:t>
                </a:r>
                <a:endParaRPr kumimoji="1" lang="en-US" altLang="zh-TW" dirty="0"/>
              </a:p>
              <a:p>
                <a:endParaRPr kumimoji="1" lang="zh-TW" altLang="en-US" dirty="0"/>
              </a:p>
            </p:txBody>
          </p:sp>
        </mc:Choice>
        <mc:Fallback xmlns="">
          <p:sp>
            <p:nvSpPr>
              <p:cNvPr id="3" name="內容版面配置區 2">
                <a:extLst>
                  <a:ext uri="{FF2B5EF4-FFF2-40B4-BE49-F238E27FC236}">
                    <a16:creationId xmlns:a16="http://schemas.microsoft.com/office/drawing/2014/main" id="{89C92B34-4E78-4DA8-FB63-39DD40B2758A}"/>
                  </a:ext>
                </a:extLst>
              </p:cNvPr>
              <p:cNvSpPr>
                <a:spLocks noGrp="1" noRot="1" noChangeAspect="1" noMove="1" noResize="1" noEditPoints="1" noAdjustHandles="1" noChangeArrowheads="1" noChangeShapeType="1" noTextEdit="1"/>
              </p:cNvSpPr>
              <p:nvPr>
                <p:ph idx="1"/>
              </p:nvPr>
            </p:nvSpPr>
            <p:spPr>
              <a:blipFill>
                <a:blip r:embed="rId2"/>
                <a:stretch>
                  <a:fillRect l="-1086" t="-2616" r="-1930"/>
                </a:stretch>
              </a:blipFill>
            </p:spPr>
            <p:txBody>
              <a:bodyPr/>
              <a:lstStyle/>
              <a:p>
                <a:r>
                  <a:rPr lang="zh-TW" altLang="en-US">
                    <a:noFill/>
                  </a:rPr>
                  <a:t> </a:t>
                </a:r>
              </a:p>
            </p:txBody>
          </p:sp>
        </mc:Fallback>
      </mc:AlternateContent>
      <p:grpSp>
        <p:nvGrpSpPr>
          <p:cNvPr id="5" name="群組 4">
            <a:extLst>
              <a:ext uri="{FF2B5EF4-FFF2-40B4-BE49-F238E27FC236}">
                <a16:creationId xmlns:a16="http://schemas.microsoft.com/office/drawing/2014/main" id="{1EE1372C-0AD8-77DC-AB06-1F08D2D49FA5}"/>
              </a:ext>
            </a:extLst>
          </p:cNvPr>
          <p:cNvGrpSpPr/>
          <p:nvPr/>
        </p:nvGrpSpPr>
        <p:grpSpPr>
          <a:xfrm>
            <a:off x="7392638" y="2883958"/>
            <a:ext cx="3529362" cy="3608917"/>
            <a:chOff x="7392638" y="2883958"/>
            <a:chExt cx="3529362" cy="3608917"/>
          </a:xfrm>
        </p:grpSpPr>
        <p:pic>
          <p:nvPicPr>
            <p:cNvPr id="1028" name="Picture 4">
              <a:extLst>
                <a:ext uri="{FF2B5EF4-FFF2-40B4-BE49-F238E27FC236}">
                  <a16:creationId xmlns:a16="http://schemas.microsoft.com/office/drawing/2014/main" id="{96B04686-228F-99EB-FFDE-3062232D35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2638" y="2883958"/>
              <a:ext cx="3529362" cy="360891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E020FB87-4F17-A923-53FE-DD7808C86101}"/>
                    </a:ext>
                  </a:extLst>
                </p:cNvPr>
                <p:cNvSpPr txBox="1"/>
                <p:nvPr/>
              </p:nvSpPr>
              <p:spPr>
                <a:xfrm>
                  <a:off x="8969191" y="4786983"/>
                  <a:ext cx="1881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zh-TW" altLang="en-US" i="1" smtClean="0">
                            <a:latin typeface="Cambria Math" panose="02040503050406030204" pitchFamily="18" charset="0"/>
                          </a:rPr>
                          <m:t>𝓏</m:t>
                        </m:r>
                      </m:oMath>
                    </m:oMathPara>
                  </a14:m>
                  <a:endParaRPr kumimoji="1" lang="zh-TW" altLang="en-US" dirty="0"/>
                </a:p>
              </p:txBody>
            </p:sp>
          </mc:Choice>
          <mc:Fallback xmlns="">
            <p:sp>
              <p:nvSpPr>
                <p:cNvPr id="4" name="文字方塊 3">
                  <a:extLst>
                    <a:ext uri="{FF2B5EF4-FFF2-40B4-BE49-F238E27FC236}">
                      <a16:creationId xmlns:a16="http://schemas.microsoft.com/office/drawing/2014/main" id="{E020FB87-4F17-A923-53FE-DD7808C86101}"/>
                    </a:ext>
                  </a:extLst>
                </p:cNvPr>
                <p:cNvSpPr txBox="1">
                  <a:spLocks noRot="1" noChangeAspect="1" noMove="1" noResize="1" noEditPoints="1" noAdjustHandles="1" noChangeArrowheads="1" noChangeShapeType="1" noTextEdit="1"/>
                </p:cNvSpPr>
                <p:nvPr/>
              </p:nvSpPr>
              <p:spPr>
                <a:xfrm>
                  <a:off x="8969191" y="4786983"/>
                  <a:ext cx="188128" cy="276999"/>
                </a:xfrm>
                <a:prstGeom prst="rect">
                  <a:avLst/>
                </a:prstGeom>
                <a:blipFill>
                  <a:blip r:embed="rId4"/>
                  <a:stretch>
                    <a:fillRect l="-20000" r="-20000" b="-8696"/>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4185673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564630-E928-5D2F-98C2-7AC0BB75EA92}"/>
              </a:ext>
            </a:extLst>
          </p:cNvPr>
          <p:cNvSpPr>
            <a:spLocks noGrp="1"/>
          </p:cNvSpPr>
          <p:nvPr>
            <p:ph type="title"/>
          </p:nvPr>
        </p:nvSpPr>
        <p:spPr/>
        <p:txBody>
          <a:bodyPr/>
          <a:lstStyle/>
          <a:p>
            <a:r>
              <a:rPr kumimoji="1" lang="zh-TW" altLang="en-US" dirty="0"/>
              <a:t>降維</a:t>
            </a:r>
            <a:r>
              <a:rPr kumimoji="1" lang="en-US" altLang="zh-TW" dirty="0"/>
              <a:t>-PCA</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F7E1ABD-F00B-6DF5-E8F2-C738418F90B2}"/>
                  </a:ext>
                </a:extLst>
              </p:cNvPr>
              <p:cNvSpPr>
                <a:spLocks noGrp="1"/>
              </p:cNvSpPr>
              <p:nvPr>
                <p:ph idx="1"/>
              </p:nvPr>
            </p:nvSpPr>
            <p:spPr/>
            <p:txBody>
              <a:bodyPr/>
              <a:lstStyle/>
              <a:p>
                <a:r>
                  <a:rPr kumimoji="1" lang="zh-TW" altLang="en-US" b="0" dirty="0">
                    <a:latin typeface="Cambria Math" panose="02040503050406030204" pitchFamily="18" charset="0"/>
                  </a:rPr>
                  <a:t>首先</a:t>
                </a:r>
                <a14:m>
                  <m:oMath xmlns:m="http://schemas.openxmlformats.org/officeDocument/2006/math">
                    <m:acc>
                      <m:accPr>
                        <m:chr m:val="̅"/>
                        <m:ctrlPr>
                          <a:rPr kumimoji="1" lang="en-US" altLang="zh-TW" b="0" i="1" smtClean="0">
                            <a:latin typeface="Cambria Math" panose="02040503050406030204" pitchFamily="18" charset="0"/>
                          </a:rPr>
                        </m:ctrlPr>
                      </m:accPr>
                      <m:e>
                        <m:r>
                          <a:rPr kumimoji="1" lang="en-US" altLang="zh-TW" b="0" i="1" smtClean="0">
                            <a:latin typeface="Cambria Math" panose="02040503050406030204" pitchFamily="18" charset="0"/>
                          </a:rPr>
                          <m:t>𝑧</m:t>
                        </m:r>
                      </m:e>
                    </m:acc>
                    <m:r>
                      <a:rPr kumimoji="1" lang="en-US" altLang="zh-TW" b="0" i="1" smtClean="0">
                        <a:latin typeface="Cambria Math" panose="02040503050406030204" pitchFamily="18" charset="0"/>
                      </a:rPr>
                      <m:t>=</m:t>
                    </m:r>
                    <m:f>
                      <m:fPr>
                        <m:ctrlPr>
                          <a:rPr kumimoji="1" lang="en-US" altLang="zh-TW" b="0" i="1" smtClean="0">
                            <a:latin typeface="Cambria Math" panose="02040503050406030204" pitchFamily="18" charset="0"/>
                          </a:rPr>
                        </m:ctrlPr>
                      </m:fPr>
                      <m:num>
                        <m:r>
                          <a:rPr kumimoji="1" lang="en-US" altLang="zh-TW" b="0" i="1" smtClean="0">
                            <a:latin typeface="Cambria Math" panose="02040503050406030204" pitchFamily="18" charset="0"/>
                          </a:rPr>
                          <m:t>1</m:t>
                        </m:r>
                      </m:num>
                      <m:den>
                        <m:r>
                          <m:rPr>
                            <m:sty m:val="p"/>
                          </m:rPr>
                          <a:rPr kumimoji="1" lang="en-US" altLang="zh-TW" i="1">
                            <a:latin typeface="Cambria Math" panose="02040503050406030204" pitchFamily="18" charset="0"/>
                          </a:rPr>
                          <m:t>n</m:t>
                        </m:r>
                      </m:den>
                    </m:f>
                    <m:nary>
                      <m:naryPr>
                        <m:chr m:val="∑"/>
                        <m:subHide m:val="on"/>
                        <m:supHide m:val="on"/>
                        <m:ctrlPr>
                          <a:rPr kumimoji="1" lang="en-US" altLang="zh-TW" b="0" i="1" smtClean="0">
                            <a:latin typeface="Cambria Math" panose="02040503050406030204" pitchFamily="18" charset="0"/>
                          </a:rPr>
                        </m:ctrlPr>
                      </m:naryPr>
                      <m:sub/>
                      <m:sup/>
                      <m:e>
                        <m:r>
                          <a:rPr kumimoji="1" lang="en-US" altLang="zh-TW" b="0" i="1" smtClean="0">
                            <a:latin typeface="Cambria Math" panose="02040503050406030204" pitchFamily="18" charset="0"/>
                          </a:rPr>
                          <m:t>𝑧</m:t>
                        </m:r>
                      </m:e>
                    </m:nary>
                    <m:r>
                      <a:rPr kumimoji="1" lang="en-US" altLang="zh-TW" b="0" i="1" smtClean="0">
                        <a:latin typeface="Cambria Math" panose="02040503050406030204" pitchFamily="18" charset="0"/>
                      </a:rPr>
                      <m:t>=</m:t>
                    </m:r>
                    <m:f>
                      <m:fPr>
                        <m:ctrlPr>
                          <a:rPr kumimoji="1" lang="en-US" altLang="zh-TW" b="0" i="1" smtClean="0">
                            <a:latin typeface="Cambria Math" panose="02040503050406030204" pitchFamily="18" charset="0"/>
                          </a:rPr>
                        </m:ctrlPr>
                      </m:fPr>
                      <m:num>
                        <m:r>
                          <a:rPr kumimoji="1" lang="en-US" altLang="zh-TW" b="0" i="1" smtClean="0">
                            <a:latin typeface="Cambria Math" panose="02040503050406030204" pitchFamily="18" charset="0"/>
                          </a:rPr>
                          <m:t>1</m:t>
                        </m:r>
                      </m:num>
                      <m:den>
                        <m:r>
                          <m:rPr>
                            <m:sty m:val="p"/>
                          </m:rPr>
                          <a:rPr kumimoji="1" lang="en-US" altLang="zh-TW" i="1">
                            <a:latin typeface="Cambria Math" panose="02040503050406030204" pitchFamily="18" charset="0"/>
                          </a:rPr>
                          <m:t>n</m:t>
                        </m:r>
                      </m:den>
                    </m:f>
                    <m:nary>
                      <m:naryPr>
                        <m:chr m:val="∑"/>
                        <m:subHide m:val="on"/>
                        <m:supHide m:val="on"/>
                        <m:ctrlPr>
                          <a:rPr kumimoji="1" lang="en-US" altLang="zh-TW" b="0" i="1" smtClean="0">
                            <a:latin typeface="Cambria Math" panose="02040503050406030204" pitchFamily="18" charset="0"/>
                          </a:rPr>
                        </m:ctrlPr>
                      </m:naryPr>
                      <m:sub/>
                      <m:sup/>
                      <m:e>
                        <m:r>
                          <a:rPr kumimoji="1" lang="en-US" altLang="zh-TW" b="0" i="1" smtClean="0">
                            <a:latin typeface="Cambria Math" panose="02040503050406030204" pitchFamily="18" charset="0"/>
                          </a:rPr>
                          <m:t>𝑤</m:t>
                        </m:r>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rPr>
                          <m:t>𝑥</m:t>
                        </m:r>
                      </m:e>
                    </m:nary>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𝑤</m:t>
                    </m:r>
                    <m:f>
                      <m:fPr>
                        <m:ctrlPr>
                          <a:rPr kumimoji="1" lang="en-US" altLang="zh-TW" b="0" i="1" smtClean="0">
                            <a:latin typeface="Cambria Math" panose="02040503050406030204" pitchFamily="18" charset="0"/>
                          </a:rPr>
                        </m:ctrlPr>
                      </m:fPr>
                      <m:num>
                        <m:r>
                          <a:rPr kumimoji="1" lang="en-US" altLang="zh-TW" b="0" i="1" smtClean="0">
                            <a:latin typeface="Cambria Math" panose="02040503050406030204" pitchFamily="18" charset="0"/>
                          </a:rPr>
                          <m:t>1</m:t>
                        </m:r>
                      </m:num>
                      <m:den>
                        <m:r>
                          <m:rPr>
                            <m:sty m:val="p"/>
                          </m:rPr>
                          <a:rPr kumimoji="1" lang="en-US" altLang="zh-TW" i="1">
                            <a:latin typeface="Cambria Math" panose="02040503050406030204" pitchFamily="18" charset="0"/>
                          </a:rPr>
                          <m:t>n</m:t>
                        </m:r>
                      </m:den>
                    </m:f>
                    <m:nary>
                      <m:naryPr>
                        <m:chr m:val="∑"/>
                        <m:subHide m:val="on"/>
                        <m:supHide m:val="on"/>
                        <m:ctrlPr>
                          <a:rPr kumimoji="1" lang="en-US" altLang="zh-TW" b="0" i="1" smtClean="0">
                            <a:latin typeface="Cambria Math" panose="02040503050406030204" pitchFamily="18" charset="0"/>
                          </a:rPr>
                        </m:ctrlPr>
                      </m:naryPr>
                      <m:sub/>
                      <m:sup/>
                      <m:e>
                        <m:r>
                          <a:rPr kumimoji="1" lang="en-US" altLang="zh-TW" b="0" i="1" smtClean="0">
                            <a:latin typeface="Cambria Math" panose="02040503050406030204" pitchFamily="18" charset="0"/>
                          </a:rPr>
                          <m:t>𝑥</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𝑤</m:t>
                        </m:r>
                        <m:acc>
                          <m:accPr>
                            <m:chr m:val="̅"/>
                            <m:ctrlPr>
                              <a:rPr kumimoji="1" lang="en-US" altLang="zh-TW" b="0" i="1" smtClean="0">
                                <a:latin typeface="Cambria Math" panose="02040503050406030204" pitchFamily="18" charset="0"/>
                              </a:rPr>
                            </m:ctrlPr>
                          </m:accPr>
                          <m:e>
                            <m:r>
                              <a:rPr kumimoji="1" lang="en-US" altLang="zh-TW" b="0" i="1" smtClean="0">
                                <a:latin typeface="Cambria Math" panose="02040503050406030204" pitchFamily="18" charset="0"/>
                              </a:rPr>
                              <m:t>𝑥</m:t>
                            </m:r>
                          </m:e>
                        </m:acc>
                      </m:e>
                    </m:nary>
                  </m:oMath>
                </a14:m>
                <a:endParaRPr kumimoji="1" lang="en-US" altLang="zh-TW" b="0" dirty="0">
                  <a:latin typeface="Cambria Math" panose="02040503050406030204" pitchFamily="18" charset="0"/>
                </a:endParaRPr>
              </a:p>
              <a:p>
                <a14:m>
                  <m:oMath xmlns:m="http://schemas.openxmlformats.org/officeDocument/2006/math">
                    <m:r>
                      <a:rPr kumimoji="1" lang="en-US" altLang="zh-TW" b="0" i="1" smtClean="0">
                        <a:latin typeface="Cambria Math" panose="02040503050406030204" pitchFamily="18" charset="0"/>
                      </a:rPr>
                      <m:t>𝑣𝑎𝑟</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𝑧</m:t>
                        </m:r>
                      </m:e>
                    </m:d>
                    <m:r>
                      <a:rPr kumimoji="1" lang="en-US" altLang="zh-TW" b="0" i="1" smtClean="0">
                        <a:latin typeface="Cambria Math" panose="02040503050406030204" pitchFamily="18" charset="0"/>
                      </a:rPr>
                      <m:t>=</m:t>
                    </m:r>
                    <m:nary>
                      <m:naryPr>
                        <m:chr m:val="∑"/>
                        <m:subHide m:val="on"/>
                        <m:supHide m:val="on"/>
                        <m:ctrlPr>
                          <a:rPr kumimoji="1" lang="en-US" altLang="zh-TW" b="0" i="1" smtClean="0">
                            <a:latin typeface="Cambria Math" panose="02040503050406030204" pitchFamily="18" charset="0"/>
                          </a:rPr>
                        </m:ctrlPr>
                      </m:naryPr>
                      <m:sub/>
                      <m:sup/>
                      <m:e>
                        <m:sSup>
                          <m:sSupPr>
                            <m:ctrlPr>
                              <a:rPr kumimoji="1" lang="en-US" altLang="zh-TW" b="0" i="1" smtClean="0">
                                <a:latin typeface="Cambria Math" panose="02040503050406030204" pitchFamily="18" charset="0"/>
                              </a:rPr>
                            </m:ctrlPr>
                          </m:sSupPr>
                          <m:e>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𝑧</m:t>
                                </m:r>
                                <m:r>
                                  <a:rPr kumimoji="1" lang="en-US" altLang="zh-TW" b="0" i="1" smtClean="0">
                                    <a:latin typeface="Cambria Math" panose="02040503050406030204" pitchFamily="18" charset="0"/>
                                  </a:rPr>
                                  <m:t>−</m:t>
                                </m:r>
                                <m:acc>
                                  <m:accPr>
                                    <m:chr m:val="̅"/>
                                    <m:ctrlPr>
                                      <a:rPr kumimoji="1" lang="en-US" altLang="zh-TW" b="0" i="1" smtClean="0">
                                        <a:latin typeface="Cambria Math" panose="02040503050406030204" pitchFamily="18" charset="0"/>
                                      </a:rPr>
                                    </m:ctrlPr>
                                  </m:accPr>
                                  <m:e>
                                    <m:r>
                                      <a:rPr kumimoji="1" lang="en-US" altLang="zh-TW" b="0" i="1" smtClean="0">
                                        <a:latin typeface="Cambria Math" panose="02040503050406030204" pitchFamily="18" charset="0"/>
                                      </a:rPr>
                                      <m:t>𝑧</m:t>
                                    </m:r>
                                  </m:e>
                                </m:acc>
                              </m:e>
                            </m:d>
                          </m:e>
                          <m:sup>
                            <m:r>
                              <a:rPr kumimoji="1" lang="en-US" altLang="zh-TW" b="0" i="1" smtClean="0">
                                <a:latin typeface="Cambria Math" panose="02040503050406030204" pitchFamily="18" charset="0"/>
                              </a:rPr>
                              <m:t>2</m:t>
                            </m:r>
                          </m:sup>
                        </m:sSup>
                      </m:e>
                    </m:nary>
                    <m:r>
                      <a:rPr kumimoji="1" lang="en-US" altLang="zh-TW" b="0" i="1" smtClean="0">
                        <a:latin typeface="Cambria Math" panose="02040503050406030204" pitchFamily="18" charset="0"/>
                      </a:rPr>
                      <m:t>=</m:t>
                    </m:r>
                    <m:nary>
                      <m:naryPr>
                        <m:chr m:val="∑"/>
                        <m:subHide m:val="on"/>
                        <m:supHide m:val="on"/>
                        <m:ctrlPr>
                          <a:rPr kumimoji="1" lang="en-US" altLang="zh-TW" b="0" i="1" smtClean="0">
                            <a:latin typeface="Cambria Math" panose="02040503050406030204" pitchFamily="18" charset="0"/>
                          </a:rPr>
                        </m:ctrlPr>
                      </m:naryPr>
                      <m:sub/>
                      <m:sup/>
                      <m:e>
                        <m:sSup>
                          <m:sSupPr>
                            <m:ctrlPr>
                              <a:rPr kumimoji="1" lang="en-US" altLang="zh-TW" b="0" i="1" smtClean="0">
                                <a:latin typeface="Cambria Math" panose="02040503050406030204" pitchFamily="18" charset="0"/>
                              </a:rPr>
                            </m:ctrlPr>
                          </m:sSupPr>
                          <m:e>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𝑧</m:t>
                                </m:r>
                                <m:r>
                                  <a:rPr kumimoji="1" lang="en-US" altLang="zh-TW" b="0" i="1" smtClean="0">
                                    <a:latin typeface="Cambria Math" panose="02040503050406030204" pitchFamily="18" charset="0"/>
                                  </a:rPr>
                                  <m:t>−</m:t>
                                </m:r>
                                <m:acc>
                                  <m:accPr>
                                    <m:chr m:val="̅"/>
                                    <m:ctrlPr>
                                      <a:rPr kumimoji="1" lang="en-US" altLang="zh-TW" b="0" i="1" smtClean="0">
                                        <a:latin typeface="Cambria Math" panose="02040503050406030204" pitchFamily="18" charset="0"/>
                                      </a:rPr>
                                    </m:ctrlPr>
                                  </m:accPr>
                                  <m:e>
                                    <m:r>
                                      <a:rPr kumimoji="1" lang="en-US" altLang="zh-TW" b="0" i="1" smtClean="0">
                                        <a:latin typeface="Cambria Math" panose="02040503050406030204" pitchFamily="18" charset="0"/>
                                      </a:rPr>
                                      <m:t>𝑧</m:t>
                                    </m:r>
                                  </m:e>
                                </m:acc>
                              </m:e>
                            </m:d>
                          </m:e>
                          <m:sup>
                            <m:r>
                              <a:rPr kumimoji="1" lang="en-US" altLang="zh-TW" b="0" i="1" smtClean="0">
                                <a:latin typeface="Cambria Math" panose="02040503050406030204" pitchFamily="18" charset="0"/>
                              </a:rPr>
                              <m:t>2</m:t>
                            </m:r>
                          </m:sup>
                        </m:sSup>
                      </m:e>
                    </m:nary>
                  </m:oMath>
                </a14:m>
                <a:r>
                  <a:rPr kumimoji="1" lang="en-US" altLang="zh-TW" dirty="0"/>
                  <a:t>=</a:t>
                </a:r>
                <a:r>
                  <a:rPr kumimoji="1" lang="en-US" altLang="zh-TW" b="0" dirty="0"/>
                  <a:t> </a:t>
                </a:r>
                <a14:m>
                  <m:oMath xmlns:m="http://schemas.openxmlformats.org/officeDocument/2006/math">
                    <m:nary>
                      <m:naryPr>
                        <m:chr m:val="∑"/>
                        <m:subHide m:val="on"/>
                        <m:supHide m:val="on"/>
                        <m:ctrlPr>
                          <a:rPr kumimoji="1" lang="en-US" altLang="zh-TW" b="0" i="1" smtClean="0">
                            <a:latin typeface="Cambria Math" panose="02040503050406030204" pitchFamily="18" charset="0"/>
                          </a:rPr>
                        </m:ctrlPr>
                      </m:naryPr>
                      <m:sub/>
                      <m:sup/>
                      <m:e>
                        <m:sSup>
                          <m:sSupPr>
                            <m:ctrlPr>
                              <a:rPr kumimoji="1" lang="en-US" altLang="zh-TW" b="0" i="1" smtClean="0">
                                <a:latin typeface="Cambria Math" panose="02040503050406030204" pitchFamily="18" charset="0"/>
                              </a:rPr>
                            </m:ctrlPr>
                          </m:sSupPr>
                          <m:e>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𝑤</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𝑥</m:t>
                                </m:r>
                                <m:r>
                                  <a:rPr kumimoji="1" lang="en-US" altLang="zh-TW" b="0" i="1" smtClean="0">
                                    <a:latin typeface="Cambria Math" panose="02040503050406030204" pitchFamily="18" charset="0"/>
                                  </a:rPr>
                                  <m:t>−</m:t>
                                </m:r>
                                <m:acc>
                                  <m:accPr>
                                    <m:chr m:val="̅"/>
                                    <m:ctrlPr>
                                      <a:rPr kumimoji="1" lang="en-US" altLang="zh-TW" b="0" i="1" smtClean="0">
                                        <a:latin typeface="Cambria Math" panose="02040503050406030204" pitchFamily="18" charset="0"/>
                                      </a:rPr>
                                    </m:ctrlPr>
                                  </m:accPr>
                                  <m:e>
                                    <m:r>
                                      <a:rPr kumimoji="1" lang="en-US" altLang="zh-TW" b="0" i="1" smtClean="0">
                                        <a:latin typeface="Cambria Math" panose="02040503050406030204" pitchFamily="18" charset="0"/>
                                      </a:rPr>
                                      <m:t>𝑥</m:t>
                                    </m:r>
                                  </m:e>
                                </m:acc>
                                <m:r>
                                  <a:rPr kumimoji="1" lang="en-US" altLang="zh-TW" b="0" i="1" smtClean="0">
                                    <a:latin typeface="Cambria Math" panose="02040503050406030204" pitchFamily="18" charset="0"/>
                                  </a:rPr>
                                  <m:t>)</m:t>
                                </m:r>
                              </m:e>
                            </m:d>
                          </m:e>
                          <m:sup>
                            <m:r>
                              <a:rPr kumimoji="1" lang="en-US" altLang="zh-TW" b="0" i="1" smtClean="0">
                                <a:latin typeface="Cambria Math" panose="02040503050406030204" pitchFamily="18" charset="0"/>
                              </a:rPr>
                              <m:t>2</m:t>
                            </m:r>
                          </m:sup>
                        </m:sSup>
                      </m:e>
                    </m:nary>
                  </m:oMath>
                </a14:m>
                <a:endParaRPr kumimoji="1" lang="en-US" altLang="zh-TW" dirty="0"/>
              </a:p>
              <a:p>
                <a:r>
                  <a:rPr kumimoji="1" lang="zh-TW" altLang="en-US" dirty="0"/>
                  <a:t>接著利用公式：</a:t>
                </a:r>
                <a14:m>
                  <m:oMath xmlns:m="http://schemas.openxmlformats.org/officeDocument/2006/math">
                    <m:sSup>
                      <m:sSupPr>
                        <m:ctrlPr>
                          <a:rPr kumimoji="1" lang="en-US" altLang="zh-TW" i="1" smtClean="0">
                            <a:latin typeface="Cambria Math" panose="02040503050406030204" pitchFamily="18" charset="0"/>
                          </a:rPr>
                        </m:ctrlPr>
                      </m:sSupPr>
                      <m:e>
                        <m:d>
                          <m:dPr>
                            <m:ctrlPr>
                              <a:rPr kumimoji="1" lang="en-US" altLang="zh-TW" i="1" smtClean="0">
                                <a:latin typeface="Cambria Math" panose="02040503050406030204" pitchFamily="18" charset="0"/>
                              </a:rPr>
                            </m:ctrlPr>
                          </m:dPr>
                          <m:e>
                            <m:r>
                              <a:rPr kumimoji="1" lang="en-US" altLang="zh-TW" b="0" i="1" smtClean="0">
                                <a:latin typeface="Cambria Math" panose="02040503050406030204" pitchFamily="18" charset="0"/>
                              </a:rPr>
                              <m:t>𝑎</m:t>
                            </m:r>
                            <m:r>
                              <a:rPr kumimoji="1" lang="en-US" altLang="zh-TW" b="0" i="1" smtClean="0">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rPr>
                              <m:t>𝑏</m:t>
                            </m:r>
                          </m:e>
                        </m:d>
                      </m:e>
                      <m:sup>
                        <m:r>
                          <a:rPr kumimoji="1" lang="en-US" altLang="zh-TW" b="0" i="1" smtClean="0">
                            <a:latin typeface="Cambria Math" panose="02040503050406030204" pitchFamily="18" charset="0"/>
                          </a:rPr>
                          <m:t>2</m:t>
                        </m:r>
                      </m:sup>
                    </m:sSup>
                  </m:oMath>
                </a14:m>
                <a:r>
                  <a:rPr kumimoji="1" lang="en-US" altLang="zh-TW" dirty="0"/>
                  <a:t>= </a:t>
                </a:r>
                <a14:m>
                  <m:oMath xmlns:m="http://schemas.openxmlformats.org/officeDocument/2006/math">
                    <m:sSup>
                      <m:sSupPr>
                        <m:ctrlPr>
                          <a:rPr kumimoji="1" lang="en-US" altLang="zh-TW" i="1" smtClean="0">
                            <a:latin typeface="Cambria Math" panose="02040503050406030204" pitchFamily="18" charset="0"/>
                          </a:rPr>
                        </m:ctrlPr>
                      </m:sSupPr>
                      <m:e>
                        <m:d>
                          <m:dPr>
                            <m:ctrlPr>
                              <a:rPr kumimoji="1" lang="en-US" altLang="zh-TW" i="1" smtClean="0">
                                <a:latin typeface="Cambria Math" panose="02040503050406030204" pitchFamily="18" charset="0"/>
                              </a:rPr>
                            </m:ctrlPr>
                          </m:dPr>
                          <m:e>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𝑎</m:t>
                                </m:r>
                              </m:e>
                              <m:sup>
                                <m:r>
                                  <a:rPr kumimoji="1" lang="en-US" altLang="zh-TW" b="0" i="1" smtClean="0">
                                    <a:latin typeface="Cambria Math" panose="02040503050406030204" pitchFamily="18" charset="0"/>
                                  </a:rPr>
                                  <m:t>𝑇</m:t>
                                </m:r>
                              </m:sup>
                            </m:sSup>
                            <m:r>
                              <a:rPr kumimoji="1" lang="en-US" altLang="zh-TW" b="0" i="1" smtClean="0">
                                <a:latin typeface="Cambria Math" panose="02040503050406030204" pitchFamily="18" charset="0"/>
                              </a:rPr>
                              <m:t>𝑏</m:t>
                            </m:r>
                          </m:e>
                        </m:d>
                      </m:e>
                      <m:sup>
                        <m:r>
                          <a:rPr kumimoji="1" lang="en-US" altLang="zh-TW" b="0" i="1" smtClean="0">
                            <a:latin typeface="Cambria Math" panose="02040503050406030204" pitchFamily="18" charset="0"/>
                          </a:rPr>
                          <m:t>2</m:t>
                        </m:r>
                      </m:sup>
                    </m:sSup>
                    <m:r>
                      <a:rPr kumimoji="1" lang="en-US" altLang="zh-TW" b="0" i="1" smtClean="0">
                        <a:latin typeface="Cambria Math" panose="02040503050406030204" pitchFamily="18" charset="0"/>
                      </a:rPr>
                      <m:t>=</m:t>
                    </m:r>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𝑎</m:t>
                        </m:r>
                      </m:e>
                      <m:sup>
                        <m:r>
                          <a:rPr kumimoji="1" lang="en-US" altLang="zh-TW" b="0" i="1" smtClean="0">
                            <a:latin typeface="Cambria Math" panose="02040503050406030204" pitchFamily="18" charset="0"/>
                          </a:rPr>
                          <m:t>𝑇</m:t>
                        </m:r>
                      </m:sup>
                    </m:sSup>
                    <m:r>
                      <a:rPr kumimoji="1" lang="en-US" altLang="zh-TW" b="0" i="1" smtClean="0">
                        <a:latin typeface="Cambria Math" panose="02040503050406030204" pitchFamily="18" charset="0"/>
                      </a:rPr>
                      <m:t>𝑏</m:t>
                    </m:r>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𝑎</m:t>
                        </m:r>
                      </m:e>
                      <m:sup>
                        <m:r>
                          <a:rPr kumimoji="1" lang="en-US" altLang="zh-TW" b="0" i="1" smtClean="0">
                            <a:latin typeface="Cambria Math" panose="02040503050406030204" pitchFamily="18" charset="0"/>
                          </a:rPr>
                          <m:t>𝑇</m:t>
                        </m:r>
                      </m:sup>
                    </m:sSup>
                    <m:r>
                      <a:rPr kumimoji="1" lang="en-US" altLang="zh-TW" b="0" i="1" smtClean="0">
                        <a:latin typeface="Cambria Math" panose="02040503050406030204" pitchFamily="18" charset="0"/>
                      </a:rPr>
                      <m:t>𝑏</m:t>
                    </m:r>
                    <m:r>
                      <a:rPr kumimoji="1" lang="en-US" altLang="zh-TW" b="0" i="1" smtClean="0">
                        <a:latin typeface="Cambria Math" panose="02040503050406030204" pitchFamily="18" charset="0"/>
                      </a:rPr>
                      <m:t>=</m:t>
                    </m:r>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𝑎</m:t>
                        </m:r>
                      </m:e>
                      <m:sup>
                        <m:r>
                          <a:rPr kumimoji="1" lang="en-US" altLang="zh-TW" b="0" i="1" smtClean="0">
                            <a:latin typeface="Cambria Math" panose="02040503050406030204" pitchFamily="18" charset="0"/>
                          </a:rPr>
                          <m:t>𝑇</m:t>
                        </m:r>
                      </m:sup>
                    </m:sSup>
                    <m:r>
                      <a:rPr kumimoji="1" lang="en-US" altLang="zh-TW" b="0" i="1" smtClean="0">
                        <a:latin typeface="Cambria Math" panose="02040503050406030204" pitchFamily="18" charset="0"/>
                      </a:rPr>
                      <m:t>𝑏</m:t>
                    </m:r>
                    <m:sSup>
                      <m:sSupPr>
                        <m:ctrlPr>
                          <a:rPr kumimoji="1" lang="en-US" altLang="zh-TW" b="0" i="1" smtClean="0">
                            <a:latin typeface="Cambria Math" panose="02040503050406030204" pitchFamily="18" charset="0"/>
                          </a:rPr>
                        </m:ctrlPr>
                      </m:sSupPr>
                      <m:e>
                        <m:d>
                          <m:dPr>
                            <m:ctrlPr>
                              <a:rPr kumimoji="1" lang="en-US" altLang="zh-TW" b="0" i="1" smtClean="0">
                                <a:latin typeface="Cambria Math" panose="02040503050406030204" pitchFamily="18" charset="0"/>
                              </a:rPr>
                            </m:ctrlPr>
                          </m:dPr>
                          <m:e>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𝑎</m:t>
                                </m:r>
                              </m:e>
                              <m:sup>
                                <m:r>
                                  <a:rPr kumimoji="1" lang="en-US" altLang="zh-TW" b="0" i="1" smtClean="0">
                                    <a:latin typeface="Cambria Math" panose="02040503050406030204" pitchFamily="18" charset="0"/>
                                  </a:rPr>
                                  <m:t>𝑇</m:t>
                                </m:r>
                              </m:sup>
                            </m:sSup>
                            <m:r>
                              <a:rPr kumimoji="1" lang="en-US" altLang="zh-TW" b="0" i="1" smtClean="0">
                                <a:latin typeface="Cambria Math" panose="02040503050406030204" pitchFamily="18" charset="0"/>
                              </a:rPr>
                              <m:t>𝑏</m:t>
                            </m:r>
                          </m:e>
                        </m:d>
                      </m:e>
                      <m:sup>
                        <m:r>
                          <a:rPr kumimoji="1" lang="en-US" altLang="zh-TW" b="0" i="1" smtClean="0">
                            <a:latin typeface="Cambria Math" panose="02040503050406030204" pitchFamily="18" charset="0"/>
                          </a:rPr>
                          <m:t>𝑇</m:t>
                        </m:r>
                      </m:sup>
                    </m:sSup>
                    <m:r>
                      <a:rPr kumimoji="1" lang="en-US" altLang="zh-TW" b="0" i="1" smtClean="0">
                        <a:latin typeface="Cambria Math" panose="02040503050406030204" pitchFamily="18" charset="0"/>
                      </a:rPr>
                      <m:t>=</m:t>
                    </m:r>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𝑎</m:t>
                        </m:r>
                      </m:e>
                      <m:sup>
                        <m:r>
                          <a:rPr kumimoji="1" lang="en-US" altLang="zh-TW" b="0" i="1" smtClean="0">
                            <a:latin typeface="Cambria Math" panose="02040503050406030204" pitchFamily="18" charset="0"/>
                          </a:rPr>
                          <m:t>𝑇</m:t>
                        </m:r>
                      </m:sup>
                    </m:sSup>
                    <m:r>
                      <a:rPr kumimoji="1" lang="en-US" altLang="zh-TW" b="0" i="1" smtClean="0">
                        <a:latin typeface="Cambria Math" panose="02040503050406030204" pitchFamily="18" charset="0"/>
                      </a:rPr>
                      <m:t>𝑏</m:t>
                    </m:r>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𝑏</m:t>
                        </m:r>
                      </m:e>
                      <m:sup>
                        <m:r>
                          <a:rPr kumimoji="1" lang="en-US" altLang="zh-TW" b="0" i="1" smtClean="0">
                            <a:latin typeface="Cambria Math" panose="02040503050406030204" pitchFamily="18" charset="0"/>
                          </a:rPr>
                          <m:t>𝑇</m:t>
                        </m:r>
                      </m:sup>
                    </m:sSup>
                    <m:r>
                      <a:rPr kumimoji="1" lang="en-US" altLang="zh-TW" b="0" i="1" smtClean="0">
                        <a:latin typeface="Cambria Math" panose="02040503050406030204" pitchFamily="18" charset="0"/>
                      </a:rPr>
                      <m:t>𝑎</m:t>
                    </m:r>
                  </m:oMath>
                </a14:m>
                <a:endParaRPr kumimoji="1" lang="en-US" altLang="zh-TW" dirty="0"/>
              </a:p>
              <a:p>
                <a:r>
                  <a:rPr kumimoji="1" lang="zh-TW" altLang="en-US" dirty="0"/>
                  <a:t>所以</a:t>
                </a:r>
                <a14:m>
                  <m:oMath xmlns:m="http://schemas.openxmlformats.org/officeDocument/2006/math">
                    <m:r>
                      <a:rPr kumimoji="1" lang="en-US" altLang="zh-TW" b="0" i="1" smtClean="0">
                        <a:latin typeface="Cambria Math" panose="02040503050406030204" pitchFamily="18" charset="0"/>
                      </a:rPr>
                      <m:t>𝑣𝑎𝑟</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𝑧</m:t>
                        </m:r>
                      </m:e>
                    </m:d>
                    <m:r>
                      <a:rPr kumimoji="1" lang="en-US" altLang="zh-TW" b="0" i="1" smtClean="0">
                        <a:latin typeface="Cambria Math" panose="02040503050406030204" pitchFamily="18" charset="0"/>
                      </a:rPr>
                      <m:t>=</m:t>
                    </m:r>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𝑤</m:t>
                        </m:r>
                      </m:e>
                      <m:sup>
                        <m:r>
                          <a:rPr kumimoji="1" lang="en-US" altLang="zh-TW" b="0" i="1" smtClean="0">
                            <a:latin typeface="Cambria Math" panose="02040503050406030204" pitchFamily="18" charset="0"/>
                          </a:rPr>
                          <m:t>𝑇</m:t>
                        </m:r>
                      </m:sup>
                    </m:sSup>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𝑥</m:t>
                        </m:r>
                        <m:r>
                          <a:rPr kumimoji="1" lang="en-US" altLang="zh-TW" b="0" i="1" smtClean="0">
                            <a:latin typeface="Cambria Math" panose="02040503050406030204" pitchFamily="18" charset="0"/>
                          </a:rPr>
                          <m:t>−</m:t>
                        </m:r>
                        <m:acc>
                          <m:accPr>
                            <m:chr m:val="̅"/>
                            <m:ctrlPr>
                              <a:rPr kumimoji="1" lang="en-US" altLang="zh-TW" b="0" i="1" smtClean="0">
                                <a:latin typeface="Cambria Math" panose="02040503050406030204" pitchFamily="18" charset="0"/>
                              </a:rPr>
                            </m:ctrlPr>
                          </m:accPr>
                          <m:e>
                            <m:r>
                              <a:rPr kumimoji="1" lang="en-US" altLang="zh-TW" b="0" i="1" smtClean="0">
                                <a:latin typeface="Cambria Math" panose="02040503050406030204" pitchFamily="18" charset="0"/>
                              </a:rPr>
                              <m:t>𝑥</m:t>
                            </m:r>
                          </m:e>
                        </m:acc>
                      </m:e>
                    </m:d>
                    <m:sSup>
                      <m:sSupPr>
                        <m:ctrlPr>
                          <a:rPr kumimoji="1" lang="en-US" altLang="zh-TW" b="0" i="1" smtClean="0">
                            <a:latin typeface="Cambria Math" panose="02040503050406030204" pitchFamily="18" charset="0"/>
                          </a:rPr>
                        </m:ctrlPr>
                      </m:sSupPr>
                      <m:e>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𝑥</m:t>
                            </m:r>
                            <m:r>
                              <a:rPr kumimoji="1" lang="en-US" altLang="zh-TW" b="0" i="1" smtClean="0">
                                <a:latin typeface="Cambria Math" panose="02040503050406030204" pitchFamily="18" charset="0"/>
                              </a:rPr>
                              <m:t>−</m:t>
                            </m:r>
                            <m:acc>
                              <m:accPr>
                                <m:chr m:val="̅"/>
                                <m:ctrlPr>
                                  <a:rPr kumimoji="1" lang="en-US" altLang="zh-TW" b="0" i="1" smtClean="0">
                                    <a:latin typeface="Cambria Math" panose="02040503050406030204" pitchFamily="18" charset="0"/>
                                  </a:rPr>
                                </m:ctrlPr>
                              </m:accPr>
                              <m:e>
                                <m:r>
                                  <a:rPr kumimoji="1" lang="en-US" altLang="zh-TW" b="0" i="1" smtClean="0">
                                    <a:latin typeface="Cambria Math" panose="02040503050406030204" pitchFamily="18" charset="0"/>
                                  </a:rPr>
                                  <m:t>𝑥</m:t>
                                </m:r>
                              </m:e>
                            </m:acc>
                          </m:e>
                        </m:d>
                      </m:e>
                      <m:sup>
                        <m:r>
                          <a:rPr kumimoji="1" lang="en-US" altLang="zh-TW" b="0" i="1" smtClean="0">
                            <a:latin typeface="Cambria Math" panose="02040503050406030204" pitchFamily="18" charset="0"/>
                          </a:rPr>
                          <m:t>𝑇</m:t>
                        </m:r>
                      </m:sup>
                    </m:sSup>
                    <m:r>
                      <a:rPr kumimoji="1" lang="en-US" altLang="zh-TW" b="0" i="1" smtClean="0">
                        <a:latin typeface="Cambria Math" panose="02040503050406030204" pitchFamily="18" charset="0"/>
                      </a:rPr>
                      <m:t>𝑤</m:t>
                    </m:r>
                    <m:r>
                      <a:rPr kumimoji="1" lang="en-US" altLang="zh-TW" b="0" i="1" smtClean="0">
                        <a:latin typeface="Cambria Math" panose="02040503050406030204" pitchFamily="18" charset="0"/>
                      </a:rPr>
                      <m:t>=</m:t>
                    </m:r>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𝑤</m:t>
                        </m:r>
                      </m:e>
                      <m:sup>
                        <m:r>
                          <a:rPr kumimoji="1" lang="en-US" altLang="zh-TW" b="0" i="1" smtClean="0">
                            <a:latin typeface="Cambria Math" panose="02040503050406030204" pitchFamily="18" charset="0"/>
                          </a:rPr>
                          <m:t>𝑇</m:t>
                        </m:r>
                      </m:sup>
                    </m:sSup>
                    <m:r>
                      <a:rPr kumimoji="1" lang="en-US" altLang="zh-TW" b="0" i="1" smtClean="0">
                        <a:latin typeface="Cambria Math" panose="02040503050406030204" pitchFamily="18" charset="0"/>
                      </a:rPr>
                      <m:t>𝐶𝑤</m:t>
                    </m:r>
                  </m:oMath>
                </a14:m>
                <a:endParaRPr kumimoji="1" lang="en-US" altLang="zh-TW" b="0" dirty="0"/>
              </a:p>
              <a:p>
                <a14:m>
                  <m:oMath xmlns:m="http://schemas.openxmlformats.org/officeDocument/2006/math">
                    <m:r>
                      <a:rPr kumimoji="1" lang="en-US" altLang="zh-TW" b="0" i="1" smtClean="0">
                        <a:latin typeface="Cambria Math" panose="02040503050406030204" pitchFamily="18" charset="0"/>
                      </a:rPr>
                      <m:t>𝐶</m:t>
                    </m:r>
                  </m:oMath>
                </a14:m>
                <a:r>
                  <a:rPr kumimoji="1" lang="zh-TW" altLang="en-US" dirty="0"/>
                  <a:t>是共變異數矩陣</a:t>
                </a:r>
                <a:r>
                  <a:rPr kumimoji="1" lang="en-US" altLang="zh-TW" dirty="0"/>
                  <a:t>(</a:t>
                </a:r>
                <a:r>
                  <a:rPr kumimoji="1" lang="en" altLang="zh-TW" dirty="0"/>
                  <a:t>covariance matrix)</a:t>
                </a:r>
              </a:p>
              <a:p>
                <a:r>
                  <a:rPr kumimoji="1" lang="zh-TW" altLang="en-US" dirty="0"/>
                  <a:t>所以主成份分析是在找到一組</a:t>
                </a:r>
                <a14:m>
                  <m:oMath xmlns:m="http://schemas.openxmlformats.org/officeDocument/2006/math">
                    <m:r>
                      <a:rPr kumimoji="1" lang="en-US" altLang="zh-TW" b="1" i="1" smtClean="0">
                        <a:latin typeface="Cambria Math" panose="02040503050406030204" pitchFamily="18" charset="0"/>
                      </a:rPr>
                      <m:t>𝒘</m:t>
                    </m:r>
                  </m:oMath>
                </a14:m>
                <a:r>
                  <a:rPr kumimoji="1" lang="zh-TW" altLang="en-US" dirty="0"/>
                  <a:t>使得</a:t>
                </a:r>
                <a14:m>
                  <m:oMath xmlns:m="http://schemas.openxmlformats.org/officeDocument/2006/math">
                    <m:r>
                      <a:rPr kumimoji="1" lang="en-US" altLang="zh-TW" b="0" i="1" smtClean="0">
                        <a:latin typeface="Cambria Math" panose="02040503050406030204" pitchFamily="18" charset="0"/>
                      </a:rPr>
                      <m:t>𝑣𝑎𝑟</m:t>
                    </m:r>
                    <m:d>
                      <m:dPr>
                        <m:ctrlPr>
                          <a:rPr kumimoji="1" lang="en-US" altLang="zh-TW" b="0" i="1" smtClean="0">
                            <a:latin typeface="Cambria Math" panose="02040503050406030204" pitchFamily="18" charset="0"/>
                          </a:rPr>
                        </m:ctrlPr>
                      </m:dPr>
                      <m:e>
                        <m:r>
                          <a:rPr kumimoji="1" lang="en-US" altLang="zh-TW" b="0" i="1" smtClean="0">
                            <a:latin typeface="Cambria Math" panose="02040503050406030204" pitchFamily="18" charset="0"/>
                          </a:rPr>
                          <m:t>𝑧</m:t>
                        </m:r>
                      </m:e>
                    </m:d>
                  </m:oMath>
                </a14:m>
                <a:r>
                  <a:rPr kumimoji="1" lang="zh-TW" altLang="en-US" dirty="0"/>
                  <a:t>最大，而且</a:t>
                </a:r>
                <a14:m>
                  <m:oMath xmlns:m="http://schemas.openxmlformats.org/officeDocument/2006/math">
                    <m:d>
                      <m:dPr>
                        <m:begChr m:val="‖"/>
                        <m:endChr m:val="‖"/>
                        <m:ctrlPr>
                          <a:rPr kumimoji="1" lang="en-US" altLang="zh-TW" i="1" smtClean="0">
                            <a:latin typeface="Cambria Math" panose="02040503050406030204" pitchFamily="18" charset="0"/>
                          </a:rPr>
                        </m:ctrlPr>
                      </m:dPr>
                      <m:e>
                        <m:r>
                          <a:rPr kumimoji="1" lang="en-US" altLang="zh-TW" b="0" i="1" smtClean="0">
                            <a:latin typeface="Cambria Math" panose="02040503050406030204" pitchFamily="18" charset="0"/>
                          </a:rPr>
                          <m:t>𝑤</m:t>
                        </m:r>
                      </m:e>
                    </m:d>
                    <m:r>
                      <a:rPr kumimoji="1" lang="en-US" altLang="zh-TW" b="0" i="1" smtClean="0">
                        <a:latin typeface="Cambria Math" panose="02040503050406030204" pitchFamily="18" charset="0"/>
                      </a:rPr>
                      <m:t>=1</m:t>
                    </m:r>
                  </m:oMath>
                </a14:m>
                <a:endParaRPr kumimoji="1" lang="en-US" altLang="zh-TW" b="0" dirty="0"/>
              </a:p>
              <a:p>
                <a:pPr lvl="1"/>
                <a:r>
                  <a:rPr lang="zh-TW" altLang="en-US" b="1" i="1" dirty="0"/>
                  <a:t>在找投影向量讓投影後的資料變異量最大</a:t>
                </a:r>
                <a:r>
                  <a:rPr lang="en-US" altLang="zh-TW" b="1" i="1" dirty="0"/>
                  <a:t>(</a:t>
                </a:r>
                <a:r>
                  <a:rPr lang="zh-TW" altLang="en-US" b="1" i="1" dirty="0"/>
                  <a:t>最佳化問題</a:t>
                </a:r>
                <a:r>
                  <a:rPr lang="en-US" altLang="zh-TW" b="1" i="1"/>
                  <a:t>)</a:t>
                </a:r>
                <a:endParaRPr kumimoji="1" lang="en-US" altLang="zh-TW" dirty="0"/>
              </a:p>
              <a:p>
                <a:endParaRPr kumimoji="1" lang="zh-TW" altLang="en-US" dirty="0"/>
              </a:p>
            </p:txBody>
          </p:sp>
        </mc:Choice>
        <mc:Fallback xmlns="">
          <p:sp>
            <p:nvSpPr>
              <p:cNvPr id="3" name="內容版面配置區 2">
                <a:extLst>
                  <a:ext uri="{FF2B5EF4-FFF2-40B4-BE49-F238E27FC236}">
                    <a16:creationId xmlns:a16="http://schemas.microsoft.com/office/drawing/2014/main" id="{AF7E1ABD-F00B-6DF5-E8F2-C738418F90B2}"/>
                  </a:ext>
                </a:extLst>
              </p:cNvPr>
              <p:cNvSpPr>
                <a:spLocks noGrp="1" noRot="1" noChangeAspect="1" noMove="1" noResize="1" noEditPoints="1" noAdjustHandles="1" noChangeArrowheads="1" noChangeShapeType="1" noTextEdit="1"/>
              </p:cNvSpPr>
              <p:nvPr>
                <p:ph idx="1"/>
              </p:nvPr>
            </p:nvSpPr>
            <p:spPr>
              <a:blipFill>
                <a:blip r:embed="rId2"/>
                <a:stretch>
                  <a:fillRect l="-1086" t="-1424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337421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63ACBA-2A5C-A684-D39C-0C347E67F99A}"/>
              </a:ext>
            </a:extLst>
          </p:cNvPr>
          <p:cNvSpPr>
            <a:spLocks noGrp="1"/>
          </p:cNvSpPr>
          <p:nvPr>
            <p:ph type="title"/>
          </p:nvPr>
        </p:nvSpPr>
        <p:spPr/>
        <p:txBody>
          <a:bodyPr/>
          <a:lstStyle/>
          <a:p>
            <a:r>
              <a:rPr kumimoji="1" lang="zh-TW" altLang="en-US" dirty="0"/>
              <a:t>降維</a:t>
            </a:r>
            <a:r>
              <a:rPr kumimoji="1" lang="en-US" altLang="zh-TW" dirty="0"/>
              <a:t>-PCA</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1A6980C9-B6DF-E674-5C4C-7A8DC994C59E}"/>
                  </a:ext>
                </a:extLst>
              </p:cNvPr>
              <p:cNvSpPr>
                <a:spLocks noGrp="1"/>
              </p:cNvSpPr>
              <p:nvPr>
                <p:ph idx="1"/>
              </p:nvPr>
            </p:nvSpPr>
            <p:spPr/>
            <p:txBody>
              <a:bodyPr/>
              <a:lstStyle/>
              <a:p>
                <a:r>
                  <a:rPr kumimoji="1" lang="zh-TW" altLang="en-US" dirty="0"/>
                  <a:t>接著因為有限制式，使用</a:t>
                </a:r>
                <a:r>
                  <a:rPr lang="en" altLang="zh-TW" b="0" i="0" dirty="0">
                    <a:solidFill>
                      <a:srgbClr val="242424"/>
                    </a:solidFill>
                    <a:effectLst/>
                    <a:highlight>
                      <a:srgbClr val="FFFFFF"/>
                    </a:highlight>
                    <a:latin typeface="source-serif-pro"/>
                  </a:rPr>
                  <a:t>Lagrange</a:t>
                </a:r>
                <a:r>
                  <a:rPr lang="zh-TW" altLang="en" b="0" i="0" dirty="0">
                    <a:solidFill>
                      <a:srgbClr val="242424"/>
                    </a:solidFill>
                    <a:effectLst/>
                    <a:highlight>
                      <a:srgbClr val="FFFFFF"/>
                    </a:highlight>
                    <a:latin typeface="source-serif-pro"/>
                  </a:rPr>
                  <a:t>的</a:t>
                </a:r>
                <a:r>
                  <a:rPr lang="zh-TW" altLang="en-US" b="0" i="0" dirty="0">
                    <a:solidFill>
                      <a:srgbClr val="242424"/>
                    </a:solidFill>
                    <a:effectLst/>
                    <a:highlight>
                      <a:srgbClr val="FFFFFF"/>
                    </a:highlight>
                    <a:latin typeface="source-serif-pro"/>
                  </a:rPr>
                  <a:t>技巧</a:t>
                </a:r>
                <a:endParaRPr lang="en-US" altLang="zh-TW" b="0" i="0" dirty="0">
                  <a:solidFill>
                    <a:srgbClr val="242424"/>
                  </a:solidFill>
                  <a:effectLst/>
                  <a:highlight>
                    <a:srgbClr val="FFFFFF"/>
                  </a:highlight>
                  <a:latin typeface="source-serif-pro"/>
                </a:endParaRPr>
              </a:p>
              <a:p>
                <a14:m>
                  <m:oMath xmlns:m="http://schemas.openxmlformats.org/officeDocument/2006/math">
                    <m:r>
                      <a:rPr kumimoji="1" lang="en-US" altLang="zh-TW" b="0" i="1" smtClean="0">
                        <a:latin typeface="Cambria Math" panose="02040503050406030204" pitchFamily="18" charset="0"/>
                      </a:rPr>
                      <m:t>𝑓</m:t>
                    </m:r>
                    <m:d>
                      <m:dPr>
                        <m:ctrlPr>
                          <a:rPr kumimoji="1" lang="en-US" altLang="zh-TW" b="0" i="1" smtClean="0">
                            <a:latin typeface="Cambria Math" panose="02040503050406030204" pitchFamily="18" charset="0"/>
                          </a:rPr>
                        </m:ctrlPr>
                      </m:dPr>
                      <m:e>
                        <m:r>
                          <a:rPr kumimoji="1" lang="en-US" altLang="zh-TW" i="1">
                            <a:latin typeface="Cambria Math" panose="02040503050406030204" pitchFamily="18" charset="0"/>
                          </a:rPr>
                          <m:t>𝑤</m:t>
                        </m:r>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𝜆</m:t>
                        </m:r>
                      </m:e>
                    </m:d>
                    <m:r>
                      <a:rPr kumimoji="1" lang="en-US" altLang="zh-TW" b="0" i="1" smtClean="0">
                        <a:latin typeface="Cambria Math" panose="02040503050406030204" pitchFamily="18" charset="0"/>
                      </a:rPr>
                      <m:t>=</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𝑤</m:t>
                        </m:r>
                      </m:e>
                      <m:sup>
                        <m:r>
                          <a:rPr kumimoji="1" lang="en-US" altLang="zh-TW" i="1">
                            <a:latin typeface="Cambria Math" panose="02040503050406030204" pitchFamily="18" charset="0"/>
                          </a:rPr>
                          <m:t>𝑇</m:t>
                        </m:r>
                      </m:sup>
                    </m:sSup>
                    <m:r>
                      <a:rPr kumimoji="1" lang="en-US" altLang="zh-TW" i="1">
                        <a:latin typeface="Cambria Math" panose="02040503050406030204" pitchFamily="18" charset="0"/>
                      </a:rPr>
                      <m:t>𝐶𝑤</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𝜆</m:t>
                    </m:r>
                    <m:d>
                      <m:dPr>
                        <m:ctrlPr>
                          <a:rPr kumimoji="1" lang="en-US" altLang="zh-TW" b="0" i="1" smtClean="0">
                            <a:latin typeface="Cambria Math" panose="02040503050406030204" pitchFamily="18" charset="0"/>
                            <a:ea typeface="Cambria Math" panose="02040503050406030204" pitchFamily="18" charset="0"/>
                          </a:rPr>
                        </m:ctrlPr>
                      </m:dPr>
                      <m:e>
                        <m:d>
                          <m:dPr>
                            <m:begChr m:val="‖"/>
                            <m:endChr m:val="‖"/>
                            <m:ctrlPr>
                              <a:rPr kumimoji="1" lang="en-US" altLang="zh-TW" b="0" i="1" smtClean="0">
                                <a:latin typeface="Cambria Math" panose="02040503050406030204" pitchFamily="18" charset="0"/>
                                <a:ea typeface="Cambria Math" panose="02040503050406030204" pitchFamily="18" charset="0"/>
                              </a:rPr>
                            </m:ctrlPr>
                          </m:dPr>
                          <m:e>
                            <m:r>
                              <a:rPr kumimoji="1" lang="en-US" altLang="zh-TW" i="1">
                                <a:latin typeface="Cambria Math" panose="02040503050406030204" pitchFamily="18" charset="0"/>
                              </a:rPr>
                              <m:t>𝑤</m:t>
                            </m:r>
                          </m:e>
                        </m:d>
                        <m:r>
                          <a:rPr kumimoji="1" lang="en-US" altLang="zh-TW" b="0" i="1" smtClean="0">
                            <a:latin typeface="Cambria Math" panose="02040503050406030204" pitchFamily="18" charset="0"/>
                            <a:ea typeface="Cambria Math" panose="02040503050406030204" pitchFamily="18" charset="0"/>
                          </a:rPr>
                          <m:t>−1</m:t>
                        </m:r>
                      </m:e>
                    </m:d>
                    <m:r>
                      <a:rPr kumimoji="1" lang="en-US" altLang="zh-TW" b="0" i="1" smtClean="0">
                        <a:latin typeface="Cambria Math" panose="02040503050406030204" pitchFamily="18" charset="0"/>
                        <a:ea typeface="Cambria Math" panose="02040503050406030204" pitchFamily="18" charset="0"/>
                      </a:rPr>
                      <m:t>=</m:t>
                    </m:r>
                  </m:oMath>
                </a14:m>
                <a:r>
                  <a:rPr kumimoji="1" lang="en-US" altLang="zh-TW" dirty="0"/>
                  <a:t> </a:t>
                </a:r>
                <a14:m>
                  <m:oMath xmlns:m="http://schemas.openxmlformats.org/officeDocument/2006/math">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𝑤</m:t>
                        </m:r>
                      </m:e>
                      <m:sup>
                        <m:r>
                          <a:rPr kumimoji="1" lang="en-US" altLang="zh-TW" i="1">
                            <a:latin typeface="Cambria Math" panose="02040503050406030204" pitchFamily="18" charset="0"/>
                          </a:rPr>
                          <m:t>𝑇</m:t>
                        </m:r>
                      </m:sup>
                    </m:sSup>
                    <m:r>
                      <a:rPr kumimoji="1" lang="en-US" altLang="zh-TW" i="1">
                        <a:latin typeface="Cambria Math" panose="02040503050406030204" pitchFamily="18" charset="0"/>
                      </a:rPr>
                      <m:t>𝐶𝑤</m:t>
                    </m:r>
                  </m:oMath>
                </a14:m>
                <a:r>
                  <a:rPr kumimoji="1" lang="en-US" altLang="zh-TW" dirty="0"/>
                  <a:t>-</a:t>
                </a:r>
                <a:r>
                  <a:rPr kumimoji="1" lang="en-US" altLang="zh-TW" dirty="0">
                    <a:ea typeface="Cambria Math" panose="02040503050406030204" pitchFamily="18" charset="0"/>
                  </a:rPr>
                  <a:t> </a:t>
                </a:r>
                <a14:m>
                  <m:oMath xmlns:m="http://schemas.openxmlformats.org/officeDocument/2006/math">
                    <m:r>
                      <a:rPr kumimoji="1" lang="en-US" altLang="zh-TW" i="1">
                        <a:latin typeface="Cambria Math" panose="02040503050406030204" pitchFamily="18" charset="0"/>
                        <a:ea typeface="Cambria Math" panose="02040503050406030204" pitchFamily="18" charset="0"/>
                      </a:rPr>
                      <m:t>𝜆</m:t>
                    </m:r>
                    <m:d>
                      <m:dPr>
                        <m:ctrlPr>
                          <a:rPr kumimoji="1" lang="en-US" altLang="zh-TW" i="1" smtClean="0">
                            <a:latin typeface="Cambria Math" panose="02040503050406030204" pitchFamily="18" charset="0"/>
                            <a:ea typeface="Cambria Math" panose="02040503050406030204" pitchFamily="18" charset="0"/>
                          </a:rPr>
                        </m:ctrlPr>
                      </m:dPr>
                      <m:e>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𝑤</m:t>
                            </m:r>
                          </m:e>
                          <m:sup>
                            <m:r>
                              <a:rPr kumimoji="1" lang="en-US" altLang="zh-TW" i="1">
                                <a:latin typeface="Cambria Math" panose="02040503050406030204" pitchFamily="18" charset="0"/>
                              </a:rPr>
                              <m:t>𝑇</m:t>
                            </m:r>
                          </m:sup>
                        </m:sSup>
                        <m:r>
                          <a:rPr kumimoji="1" lang="en-US" altLang="zh-TW" i="1">
                            <a:latin typeface="Cambria Math" panose="02040503050406030204" pitchFamily="18" charset="0"/>
                          </a:rPr>
                          <m:t>𝑤</m:t>
                        </m:r>
                        <m:r>
                          <a:rPr kumimoji="1" lang="en-US" altLang="zh-TW" b="0" i="1" smtClean="0">
                            <a:latin typeface="Cambria Math" panose="02040503050406030204" pitchFamily="18" charset="0"/>
                          </a:rPr>
                          <m:t>−1</m:t>
                        </m:r>
                      </m:e>
                    </m:d>
                  </m:oMath>
                </a14:m>
                <a:endParaRPr kumimoji="1" lang="en-US" altLang="zh-TW" dirty="0"/>
              </a:p>
              <a:p>
                <a:r>
                  <a:rPr kumimoji="1" lang="zh-TW" altLang="en-US" dirty="0"/>
                  <a:t>對</a:t>
                </a:r>
                <a14:m>
                  <m:oMath xmlns:m="http://schemas.openxmlformats.org/officeDocument/2006/math">
                    <m:r>
                      <a:rPr kumimoji="1" lang="en-US" altLang="zh-TW" i="1" smtClean="0">
                        <a:latin typeface="Cambria Math" panose="02040503050406030204" pitchFamily="18" charset="0"/>
                      </a:rPr>
                      <m:t>𝑤</m:t>
                    </m:r>
                  </m:oMath>
                </a14:m>
                <a:r>
                  <a:rPr kumimoji="1" lang="zh-TW" altLang="en-US" dirty="0"/>
                  <a:t>偏微分產生</a:t>
                </a:r>
                <a:endParaRPr kumimoji="1" lang="en-US" altLang="zh-TW" dirty="0"/>
              </a:p>
              <a:p>
                <a:pPr lvl="1"/>
                <a14:m>
                  <m:oMath xmlns:m="http://schemas.openxmlformats.org/officeDocument/2006/math">
                    <m:f>
                      <m:fPr>
                        <m:ctrlPr>
                          <a:rPr kumimoji="1" lang="en-US" altLang="zh-TW" i="1" smtClean="0">
                            <a:latin typeface="Cambria Math" panose="02040503050406030204" pitchFamily="18" charset="0"/>
                          </a:rPr>
                        </m:ctrlPr>
                      </m:fPr>
                      <m:num>
                        <m:r>
                          <a:rPr kumimoji="1" lang="en-US" altLang="zh-TW" i="1" smtClean="0">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𝑤</m:t>
                            </m:r>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𝜆</m:t>
                            </m:r>
                          </m:e>
                        </m:d>
                      </m:num>
                      <m:den>
                        <m:r>
                          <a:rPr kumimoji="1" lang="en-US" altLang="zh-TW" i="1">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rPr>
                          <m:t>𝑤</m:t>
                        </m:r>
                      </m:den>
                    </m:f>
                    <m:r>
                      <a:rPr kumimoji="1" lang="en-US" altLang="zh-TW" b="0" i="1" smtClean="0">
                        <a:latin typeface="Cambria Math" panose="02040503050406030204" pitchFamily="18" charset="0"/>
                      </a:rPr>
                      <m:t>=0→2</m:t>
                    </m:r>
                    <m:r>
                      <a:rPr kumimoji="1" lang="en-US" altLang="zh-TW" i="1">
                        <a:latin typeface="Cambria Math" panose="02040503050406030204" pitchFamily="18" charset="0"/>
                      </a:rPr>
                      <m:t>𝐶𝑤</m:t>
                    </m:r>
                  </m:oMath>
                </a14:m>
                <a:r>
                  <a:rPr kumimoji="1" lang="en-US" altLang="zh-TW" dirty="0"/>
                  <a:t>-2</a:t>
                </a:r>
                <a:r>
                  <a:rPr kumimoji="1" lang="en-US" altLang="zh-TW" dirty="0">
                    <a:ea typeface="Cambria Math" panose="02040503050406030204" pitchFamily="18" charset="0"/>
                  </a:rPr>
                  <a:t> </a:t>
                </a:r>
                <a14:m>
                  <m:oMath xmlns:m="http://schemas.openxmlformats.org/officeDocument/2006/math">
                    <m:r>
                      <a:rPr kumimoji="1" lang="en-US" altLang="zh-TW" i="1">
                        <a:latin typeface="Cambria Math" panose="02040503050406030204" pitchFamily="18" charset="0"/>
                        <a:ea typeface="Cambria Math" panose="02040503050406030204" pitchFamily="18" charset="0"/>
                      </a:rPr>
                      <m:t>𝜆</m:t>
                    </m:r>
                    <m:r>
                      <a:rPr kumimoji="1" lang="en-US" altLang="zh-TW" i="1">
                        <a:latin typeface="Cambria Math" panose="02040503050406030204" pitchFamily="18" charset="0"/>
                      </a:rPr>
                      <m:t>𝑤</m:t>
                    </m:r>
                    <m:r>
                      <a:rPr kumimoji="1" lang="en-US" altLang="zh-TW" b="0" i="1" smtClean="0">
                        <a:latin typeface="Cambria Math" panose="02040503050406030204" pitchFamily="18" charset="0"/>
                      </a:rPr>
                      <m:t>=0→</m:t>
                    </m:r>
                  </m:oMath>
                </a14:m>
                <a:r>
                  <a:rPr kumimoji="1" lang="en-US" altLang="zh-TW" dirty="0"/>
                  <a:t> </a:t>
                </a:r>
                <a14:m>
                  <m:oMath xmlns:m="http://schemas.openxmlformats.org/officeDocument/2006/math">
                    <m:r>
                      <a:rPr kumimoji="1" lang="en-US" altLang="zh-TW" i="1">
                        <a:latin typeface="Cambria Math" panose="02040503050406030204" pitchFamily="18" charset="0"/>
                      </a:rPr>
                      <m:t>𝐶𝑤</m:t>
                    </m:r>
                    <m:r>
                      <a:rPr kumimoji="1" lang="en-US" altLang="zh-TW" b="0" i="0"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𝜆</m:t>
                    </m:r>
                    <m:r>
                      <a:rPr kumimoji="1" lang="en-US" altLang="zh-TW" i="1">
                        <a:latin typeface="Cambria Math" panose="02040503050406030204" pitchFamily="18" charset="0"/>
                      </a:rPr>
                      <m:t>𝑤</m:t>
                    </m:r>
                  </m:oMath>
                </a14:m>
                <a:endParaRPr kumimoji="1" lang="en-US" altLang="zh-TW" dirty="0"/>
              </a:p>
              <a:p>
                <a:r>
                  <a:rPr kumimoji="1" lang="zh-TW" altLang="en-US" dirty="0"/>
                  <a:t>對</a:t>
                </a:r>
                <a14:m>
                  <m:oMath xmlns:m="http://schemas.openxmlformats.org/officeDocument/2006/math">
                    <m:r>
                      <a:rPr kumimoji="1" lang="en-US" altLang="zh-TW" i="1" smtClean="0">
                        <a:latin typeface="Cambria Math" panose="02040503050406030204" pitchFamily="18" charset="0"/>
                        <a:ea typeface="Cambria Math" panose="02040503050406030204" pitchFamily="18" charset="0"/>
                      </a:rPr>
                      <m:t>𝜆</m:t>
                    </m:r>
                    <m:r>
                      <m:rPr>
                        <m:nor/>
                      </m:rPr>
                      <a:rPr kumimoji="1" lang="zh-TW" altLang="en-US" dirty="0"/>
                      <m:t>偏微分產生</m:t>
                    </m:r>
                  </m:oMath>
                </a14:m>
                <a:endParaRPr kumimoji="1" lang="en-US" altLang="zh-TW" dirty="0"/>
              </a:p>
              <a:p>
                <a:pPr lvl="1"/>
                <a14:m>
                  <m:oMath xmlns:m="http://schemas.openxmlformats.org/officeDocument/2006/math">
                    <m:f>
                      <m:fPr>
                        <m:ctrlPr>
                          <a:rPr kumimoji="1" lang="en-US" altLang="zh-TW" i="1" smtClean="0">
                            <a:latin typeface="Cambria Math" panose="02040503050406030204" pitchFamily="18" charset="0"/>
                          </a:rPr>
                        </m:ctrlPr>
                      </m:fPr>
                      <m:num>
                        <m:r>
                          <a:rPr kumimoji="1" lang="en-US" altLang="zh-TW" i="1" smtClean="0">
                            <a:latin typeface="Cambria Math" panose="02040503050406030204" pitchFamily="18" charset="0"/>
                            <a:ea typeface="Cambria Math" panose="02040503050406030204" pitchFamily="18" charset="0"/>
                          </a:rPr>
                          <m:t>𝜕</m:t>
                        </m:r>
                        <m:r>
                          <a:rPr kumimoji="1" lang="en-US" altLang="zh-TW" i="1">
                            <a:latin typeface="Cambria Math" panose="02040503050406030204" pitchFamily="18" charset="0"/>
                          </a:rPr>
                          <m:t>𝑓</m:t>
                        </m:r>
                        <m:d>
                          <m:dPr>
                            <m:ctrlPr>
                              <a:rPr kumimoji="1" lang="en-US" altLang="zh-TW" i="1">
                                <a:latin typeface="Cambria Math" panose="02040503050406030204" pitchFamily="18" charset="0"/>
                              </a:rPr>
                            </m:ctrlPr>
                          </m:dPr>
                          <m:e>
                            <m:r>
                              <a:rPr kumimoji="1" lang="en-US" altLang="zh-TW" i="1">
                                <a:latin typeface="Cambria Math" panose="02040503050406030204" pitchFamily="18" charset="0"/>
                              </a:rPr>
                              <m:t>𝑤</m:t>
                            </m:r>
                            <m:r>
                              <a:rPr kumimoji="1" lang="en-US" altLang="zh-TW" i="1">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𝜆</m:t>
                            </m:r>
                          </m:e>
                        </m:d>
                      </m:num>
                      <m:den>
                        <m:r>
                          <a:rPr kumimoji="1" lang="en-US" altLang="zh-TW" i="1">
                            <a:latin typeface="Cambria Math" panose="02040503050406030204" pitchFamily="18" charset="0"/>
                            <a:ea typeface="Cambria Math" panose="02040503050406030204" pitchFamily="18" charset="0"/>
                          </a:rPr>
                          <m:t>𝜕𝜆</m:t>
                        </m:r>
                      </m:den>
                    </m:f>
                    <m:r>
                      <a:rPr kumimoji="1" lang="en-US" altLang="zh-TW" b="0" i="1" smtClean="0">
                        <a:latin typeface="Cambria Math" panose="02040503050406030204" pitchFamily="18" charset="0"/>
                      </a:rPr>
                      <m:t>=0→</m:t>
                    </m:r>
                  </m:oMath>
                </a14:m>
                <a:r>
                  <a:rPr kumimoji="1" lang="en-US" altLang="zh-TW" dirty="0"/>
                  <a:t> </a:t>
                </a:r>
                <a14:m>
                  <m:oMath xmlns:m="http://schemas.openxmlformats.org/officeDocument/2006/math">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𝑤</m:t>
                        </m:r>
                      </m:e>
                      <m:sup>
                        <m:r>
                          <a:rPr kumimoji="1" lang="en-US" altLang="zh-TW" i="1">
                            <a:latin typeface="Cambria Math" panose="02040503050406030204" pitchFamily="18" charset="0"/>
                          </a:rPr>
                          <m:t>𝑇</m:t>
                        </m:r>
                      </m:sup>
                    </m:sSup>
                    <m:r>
                      <a:rPr kumimoji="1" lang="en-US" altLang="zh-TW" i="1">
                        <a:latin typeface="Cambria Math" panose="02040503050406030204" pitchFamily="18" charset="0"/>
                      </a:rPr>
                      <m:t>𝑤</m:t>
                    </m:r>
                    <m:r>
                      <a:rPr kumimoji="1" lang="en-US" altLang="zh-TW" i="1">
                        <a:latin typeface="Cambria Math" panose="02040503050406030204" pitchFamily="18" charset="0"/>
                      </a:rPr>
                      <m:t>−1=0→</m:t>
                    </m:r>
                    <m:sSup>
                      <m:sSupPr>
                        <m:ctrlPr>
                          <a:rPr kumimoji="1" lang="en-US" altLang="zh-TW" i="1">
                            <a:latin typeface="Cambria Math" panose="02040503050406030204" pitchFamily="18" charset="0"/>
                          </a:rPr>
                        </m:ctrlPr>
                      </m:sSupPr>
                      <m:e>
                        <m:r>
                          <a:rPr kumimoji="1" lang="en-US" altLang="zh-TW" i="1">
                            <a:latin typeface="Cambria Math" panose="02040503050406030204" pitchFamily="18" charset="0"/>
                          </a:rPr>
                          <m:t>𝑤</m:t>
                        </m:r>
                      </m:e>
                      <m:sup>
                        <m:r>
                          <a:rPr kumimoji="1" lang="en-US" altLang="zh-TW" i="1">
                            <a:latin typeface="Cambria Math" panose="02040503050406030204" pitchFamily="18" charset="0"/>
                          </a:rPr>
                          <m:t>𝑇</m:t>
                        </m:r>
                      </m:sup>
                    </m:sSup>
                    <m:r>
                      <a:rPr kumimoji="1" lang="en-US" altLang="zh-TW" i="1">
                        <a:latin typeface="Cambria Math" panose="02040503050406030204" pitchFamily="18" charset="0"/>
                      </a:rPr>
                      <m:t>𝑤</m:t>
                    </m:r>
                    <m:r>
                      <a:rPr kumimoji="1" lang="en-US" altLang="zh-TW" b="0" i="1" smtClean="0">
                        <a:latin typeface="Cambria Math" panose="02040503050406030204" pitchFamily="18" charset="0"/>
                      </a:rPr>
                      <m:t>=1→</m:t>
                    </m:r>
                  </m:oMath>
                </a14:m>
                <a:r>
                  <a:rPr kumimoji="1" lang="en-US" altLang="zh-TW" dirty="0">
                    <a:ea typeface="Cambria Math" panose="02040503050406030204" pitchFamily="18" charset="0"/>
                  </a:rPr>
                  <a:t> </a:t>
                </a:r>
                <a14:m>
                  <m:oMath xmlns:m="http://schemas.openxmlformats.org/officeDocument/2006/math">
                    <m:d>
                      <m:dPr>
                        <m:begChr m:val="‖"/>
                        <m:endChr m:val="‖"/>
                        <m:ctrlPr>
                          <a:rPr kumimoji="1" lang="en-US" altLang="zh-TW" i="1">
                            <a:latin typeface="Cambria Math" panose="02040503050406030204" pitchFamily="18" charset="0"/>
                            <a:ea typeface="Cambria Math" panose="02040503050406030204" pitchFamily="18" charset="0"/>
                          </a:rPr>
                        </m:ctrlPr>
                      </m:dPr>
                      <m:e>
                        <m:r>
                          <a:rPr kumimoji="1" lang="en-US" altLang="zh-TW" i="1">
                            <a:latin typeface="Cambria Math" panose="02040503050406030204" pitchFamily="18" charset="0"/>
                          </a:rPr>
                          <m:t>𝑤</m:t>
                        </m:r>
                      </m:e>
                    </m:d>
                    <m:r>
                      <a:rPr kumimoji="1" lang="en-US" altLang="zh-TW" b="0" i="1" smtClean="0">
                        <a:latin typeface="Cambria Math" panose="02040503050406030204" pitchFamily="18" charset="0"/>
                      </a:rPr>
                      <m:t>=1</m:t>
                    </m:r>
                  </m:oMath>
                </a14:m>
                <a:endParaRPr kumimoji="1" lang="en-US" altLang="zh-TW" dirty="0"/>
              </a:p>
              <a:p>
                <a:r>
                  <a:rPr kumimoji="1" lang="en-US" altLang="zh-TW" dirty="0"/>
                  <a:t>PCA</a:t>
                </a:r>
                <a:r>
                  <a:rPr kumimoji="1" lang="zh-TW" altLang="en-US" dirty="0"/>
                  <a:t>就被轉換成是對共變異數矩陣</a:t>
                </a:r>
                <a:r>
                  <a:rPr kumimoji="1" lang="en-US" altLang="zh-TW" dirty="0"/>
                  <a:t>(</a:t>
                </a:r>
                <a14:m>
                  <m:oMath xmlns:m="http://schemas.openxmlformats.org/officeDocument/2006/math">
                    <m:r>
                      <a:rPr kumimoji="1" lang="en-US" altLang="zh-TW" i="1" smtClean="0">
                        <a:latin typeface="Cambria Math" panose="02040503050406030204" pitchFamily="18" charset="0"/>
                      </a:rPr>
                      <m:t>𝐶</m:t>
                    </m:r>
                  </m:oMath>
                </a14:m>
                <a:r>
                  <a:rPr kumimoji="1" lang="en-US" altLang="zh-TW" dirty="0"/>
                  <a:t>)</a:t>
                </a:r>
                <a:r>
                  <a:rPr kumimoji="1" lang="zh-TW" altLang="en-US" dirty="0"/>
                  <a:t>去計算特徵值</a:t>
                </a:r>
                <a:r>
                  <a:rPr kumimoji="1" lang="en-US" altLang="zh-TW" dirty="0"/>
                  <a:t>(</a:t>
                </a:r>
                <a:r>
                  <a:rPr lang="en" altLang="zh-TW" b="0" i="1" dirty="0">
                    <a:solidFill>
                      <a:srgbClr val="242424"/>
                    </a:solidFill>
                    <a:effectLst/>
                    <a:highlight>
                      <a:srgbClr val="FFFFFF"/>
                    </a:highlight>
                    <a:latin typeface="source-serif-pro"/>
                  </a:rPr>
                  <a:t>eigenvalue</a:t>
                </a:r>
                <a:r>
                  <a:rPr kumimoji="1" lang="en-US" altLang="zh-TW" dirty="0"/>
                  <a:t>)</a:t>
                </a:r>
                <a:r>
                  <a:rPr kumimoji="1" lang="zh-TW" altLang="en-US" dirty="0"/>
                  <a:t>以及特徵向量</a:t>
                </a:r>
                <a:r>
                  <a:rPr kumimoji="1" lang="en-US" altLang="zh-TW" dirty="0"/>
                  <a:t>(</a:t>
                </a:r>
                <a:r>
                  <a:rPr lang="en" altLang="zh-TW" b="0" i="0" dirty="0">
                    <a:solidFill>
                      <a:srgbClr val="242424"/>
                    </a:solidFill>
                    <a:effectLst/>
                    <a:highlight>
                      <a:srgbClr val="FFFFFF"/>
                    </a:highlight>
                    <a:latin typeface="source-serif-pro"/>
                  </a:rPr>
                  <a:t>eigenvector</a:t>
                </a:r>
                <a:r>
                  <a:rPr lang="en-US" altLang="zh-TW" b="0" i="0" dirty="0">
                    <a:solidFill>
                      <a:srgbClr val="242424"/>
                    </a:solidFill>
                    <a:effectLst/>
                    <a:highlight>
                      <a:srgbClr val="FFFFFF"/>
                    </a:highlight>
                    <a:latin typeface="source-serif-pro"/>
                  </a:rPr>
                  <a:t>)</a:t>
                </a:r>
                <a:r>
                  <a:rPr kumimoji="1" lang="zh-TW" altLang="en-US" dirty="0"/>
                  <a:t>的方式</a:t>
                </a:r>
                <a:endParaRPr kumimoji="1" lang="en-US" altLang="zh-TW" dirty="0"/>
              </a:p>
            </p:txBody>
          </p:sp>
        </mc:Choice>
        <mc:Fallback xmlns="">
          <p:sp>
            <p:nvSpPr>
              <p:cNvPr id="3" name="內容版面配置區 2">
                <a:extLst>
                  <a:ext uri="{FF2B5EF4-FFF2-40B4-BE49-F238E27FC236}">
                    <a16:creationId xmlns:a16="http://schemas.microsoft.com/office/drawing/2014/main" id="{1A6980C9-B6DF-E674-5C4C-7A8DC994C59E}"/>
                  </a:ext>
                </a:extLst>
              </p:cNvPr>
              <p:cNvSpPr>
                <a:spLocks noGrp="1" noRot="1" noChangeAspect="1" noMove="1" noResize="1" noEditPoints="1" noAdjustHandles="1" noChangeArrowheads="1" noChangeShapeType="1" noTextEdit="1"/>
              </p:cNvSpPr>
              <p:nvPr>
                <p:ph idx="1"/>
              </p:nvPr>
            </p:nvSpPr>
            <p:spPr>
              <a:blipFill>
                <a:blip r:embed="rId2"/>
                <a:stretch>
                  <a:fillRect l="-1086" t="-261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99996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425FB0-1BB5-4E6E-F1F1-F93BD30202F5}"/>
              </a:ext>
            </a:extLst>
          </p:cNvPr>
          <p:cNvSpPr>
            <a:spLocks noGrp="1"/>
          </p:cNvSpPr>
          <p:nvPr>
            <p:ph type="title"/>
          </p:nvPr>
        </p:nvSpPr>
        <p:spPr/>
        <p:txBody>
          <a:bodyPr/>
          <a:lstStyle/>
          <a:p>
            <a:r>
              <a:rPr kumimoji="1" lang="zh-TW" altLang="en-US" dirty="0"/>
              <a:t>降維</a:t>
            </a:r>
            <a:r>
              <a:rPr kumimoji="1" lang="en-US" altLang="zh-TW" dirty="0"/>
              <a:t>-PCA-</a:t>
            </a:r>
            <a:r>
              <a:rPr kumimoji="1" lang="zh-TW" altLang="en-US" dirty="0"/>
              <a:t>特徵值</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D2ED9B06-039C-647E-6430-576566516A9F}"/>
                  </a:ext>
                </a:extLst>
              </p:cNvPr>
              <p:cNvSpPr>
                <a:spLocks noGrp="1"/>
              </p:cNvSpPr>
              <p:nvPr>
                <p:ph idx="1"/>
              </p:nvPr>
            </p:nvSpPr>
            <p:spPr/>
            <p:txBody>
              <a:bodyPr/>
              <a:lstStyle/>
              <a:p>
                <a:r>
                  <a:rPr kumimoji="1" lang="zh-TW" altLang="en-US" dirty="0"/>
                  <a:t>特徵值與特徵向量的定義</a:t>
                </a:r>
                <a:endParaRPr kumimoji="1" lang="en-US" altLang="zh-TW" dirty="0"/>
              </a:p>
              <a:p>
                <a:r>
                  <a:rPr kumimoji="1" lang="zh-TW" altLang="en-US" dirty="0"/>
                  <a:t>令</a:t>
                </a:r>
                <a:r>
                  <a:rPr kumimoji="1" lang="en-US" altLang="zh-TW" dirty="0"/>
                  <a:t>A</a:t>
                </a:r>
                <a:r>
                  <a:rPr kumimoji="1" lang="zh-TW" altLang="en-US" dirty="0"/>
                  <a:t>是一個</a:t>
                </a:r>
                <a:r>
                  <a:rPr kumimoji="1" lang="en-US" altLang="zh-TW" dirty="0" err="1"/>
                  <a:t>nxn</a:t>
                </a:r>
                <a:r>
                  <a:rPr kumimoji="1" lang="zh-TW" altLang="en-US" dirty="0"/>
                  <a:t>的矩陣，對於純量</a:t>
                </a:r>
                <a:r>
                  <a:rPr kumimoji="1" lang="en-US" altLang="zh-TW" dirty="0"/>
                  <a:t>(scalar)</a:t>
                </a:r>
                <a:br>
                  <a:rPr kumimoji="1" lang="en-US" altLang="zh-TW" dirty="0"/>
                </a:br>
                <a:r>
                  <a:rPr kumimoji="1" lang="en-US" altLang="zh-TW" dirty="0">
                    <a:ea typeface="Cambria Math" panose="02040503050406030204" pitchFamily="18" charset="0"/>
                  </a:rPr>
                  <a:t> </a:t>
                </a:r>
                <a14:m>
                  <m:oMath xmlns:m="http://schemas.openxmlformats.org/officeDocument/2006/math">
                    <m:r>
                      <a:rPr kumimoji="1" lang="en-US" altLang="zh-TW" i="1">
                        <a:latin typeface="Cambria Math" panose="02040503050406030204" pitchFamily="18" charset="0"/>
                        <a:ea typeface="Cambria Math" panose="02040503050406030204" pitchFamily="18" charset="0"/>
                      </a:rPr>
                      <m:t>𝜆</m:t>
                    </m:r>
                  </m:oMath>
                </a14:m>
                <a:r>
                  <a:rPr kumimoji="1" lang="zh-TW" altLang="en-US" dirty="0"/>
                  <a:t>而言，存在著不是</a:t>
                </a:r>
                <a:r>
                  <a:rPr kumimoji="1" lang="en-US" altLang="zh-TW" dirty="0"/>
                  <a:t>0</a:t>
                </a:r>
                <a:r>
                  <a:rPr kumimoji="1" lang="zh-TW" altLang="en-US" dirty="0"/>
                  <a:t>的向量</a:t>
                </a:r>
                <a:r>
                  <a:rPr kumimoji="1" lang="en-US" altLang="zh-TW" dirty="0"/>
                  <a:t>X</a:t>
                </a:r>
                <a:r>
                  <a:rPr kumimoji="1" lang="zh-TW" altLang="en-US" dirty="0"/>
                  <a:t>，使得</a:t>
                </a:r>
                <a:endParaRPr kumimoji="1" lang="en-US" altLang="zh-TW" dirty="0"/>
              </a:p>
              <a:p>
                <a:pPr lvl="1"/>
                <a14:m>
                  <m:oMath xmlns:m="http://schemas.openxmlformats.org/officeDocument/2006/math">
                    <m:r>
                      <a:rPr kumimoji="1" lang="en-US" altLang="zh-TW" sz="2800" b="0" i="1" smtClean="0">
                        <a:latin typeface="Cambria Math" panose="02040503050406030204" pitchFamily="18" charset="0"/>
                      </a:rPr>
                      <m:t>𝐴𝑋</m:t>
                    </m:r>
                    <m:r>
                      <a:rPr kumimoji="1" lang="en-US" altLang="zh-TW" sz="2800" b="0" i="1" smtClean="0">
                        <a:latin typeface="Cambria Math" panose="02040503050406030204" pitchFamily="18" charset="0"/>
                      </a:rPr>
                      <m:t>=</m:t>
                    </m:r>
                    <m:r>
                      <a:rPr kumimoji="1" lang="en-US" altLang="zh-TW" sz="2800" i="1">
                        <a:latin typeface="Cambria Math" panose="02040503050406030204" pitchFamily="18" charset="0"/>
                        <a:ea typeface="Cambria Math" panose="02040503050406030204" pitchFamily="18" charset="0"/>
                      </a:rPr>
                      <m:t>𝜆</m:t>
                    </m:r>
                    <m:r>
                      <a:rPr kumimoji="1" lang="en-US" altLang="zh-TW" sz="2800" i="1">
                        <a:latin typeface="Cambria Math" panose="02040503050406030204" pitchFamily="18" charset="0"/>
                      </a:rPr>
                      <m:t>𝑋</m:t>
                    </m:r>
                    <m:r>
                      <a:rPr kumimoji="1" lang="en-US" altLang="zh-TW" sz="2800" b="0" i="1" smtClean="0">
                        <a:latin typeface="Cambria Math" panose="02040503050406030204" pitchFamily="18" charset="0"/>
                      </a:rPr>
                      <m:t>→</m:t>
                    </m:r>
                  </m:oMath>
                </a14:m>
                <a:r>
                  <a:rPr kumimoji="1" lang="en-US" altLang="zh-TW" dirty="0"/>
                  <a:t> </a:t>
                </a:r>
                <a14:m>
                  <m:oMath xmlns:m="http://schemas.openxmlformats.org/officeDocument/2006/math">
                    <m:r>
                      <a:rPr kumimoji="1" lang="en-US" altLang="zh-TW" i="1">
                        <a:latin typeface="Cambria Math" panose="02040503050406030204" pitchFamily="18" charset="0"/>
                      </a:rPr>
                      <m:t>𝐴𝑋</m:t>
                    </m:r>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𝜆</m:t>
                    </m:r>
                    <m:r>
                      <a:rPr kumimoji="1" lang="en-US" altLang="zh-TW" i="1">
                        <a:latin typeface="Cambria Math" panose="02040503050406030204" pitchFamily="18" charset="0"/>
                      </a:rPr>
                      <m:t>𝑋</m:t>
                    </m:r>
                    <m:r>
                      <a:rPr kumimoji="1" lang="en-US" altLang="zh-TW" i="1">
                        <a:latin typeface="Cambria Math" panose="02040503050406030204" pitchFamily="18" charset="0"/>
                      </a:rPr>
                      <m:t>=0</m:t>
                    </m:r>
                  </m:oMath>
                </a14:m>
                <a:br>
                  <a:rPr kumimoji="1" lang="en-US" altLang="zh-TW" b="0" i="1" dirty="0">
                    <a:latin typeface="Cambria Math" panose="02040503050406030204" pitchFamily="18" charset="0"/>
                  </a:rPr>
                </a:br>
                <a14:m>
                  <m:oMath xmlns:m="http://schemas.openxmlformats.org/officeDocument/2006/math">
                    <m:r>
                      <a:rPr kumimoji="1" lang="en-US" altLang="zh-TW" b="0" i="1" smtClean="0">
                        <a:latin typeface="Cambria Math" panose="02040503050406030204" pitchFamily="18" charset="0"/>
                      </a:rPr>
                      <m:t>→</m:t>
                    </m:r>
                    <m:d>
                      <m:dPr>
                        <m:ctrlPr>
                          <a:rPr kumimoji="1" lang="en-US" altLang="zh-TW" b="0" i="1" smtClean="0">
                            <a:latin typeface="Cambria Math" panose="02040503050406030204" pitchFamily="18" charset="0"/>
                          </a:rPr>
                        </m:ctrlPr>
                      </m:dPr>
                      <m:e>
                        <m:r>
                          <a:rPr kumimoji="1" lang="en-US" altLang="zh-TW" i="1">
                            <a:latin typeface="Cambria Math" panose="02040503050406030204" pitchFamily="18" charset="0"/>
                          </a:rPr>
                          <m:t>𝐴</m:t>
                        </m:r>
                        <m:r>
                          <a:rPr kumimoji="1" lang="en-US" altLang="zh-TW" i="1">
                            <a:latin typeface="Cambria Math" panose="02040503050406030204" pitchFamily="18" charset="0"/>
                          </a:rPr>
                          <m:t>−</m:t>
                        </m:r>
                        <m:r>
                          <a:rPr kumimoji="1" lang="en-US" altLang="zh-TW" i="1" smtClean="0">
                            <a:latin typeface="Cambria Math" panose="02040503050406030204" pitchFamily="18" charset="0"/>
                            <a:ea typeface="Cambria Math" panose="02040503050406030204" pitchFamily="18" charset="0"/>
                          </a:rPr>
                          <m:t>𝜆</m:t>
                        </m:r>
                        <m:r>
                          <a:rPr kumimoji="1" lang="zh-TW" altLang="en-US" i="1">
                            <a:latin typeface="Cambria Math" panose="02040503050406030204" pitchFamily="18" charset="0"/>
                            <a:ea typeface="Cambria Math" panose="02040503050406030204" pitchFamily="18" charset="0"/>
                          </a:rPr>
                          <m:t>∙</m:t>
                        </m:r>
                        <m:r>
                          <a:rPr kumimoji="1" lang="en-US" altLang="zh-TW" b="0" i="1" smtClean="0">
                            <a:latin typeface="Cambria Math" panose="02040503050406030204" pitchFamily="18" charset="0"/>
                            <a:ea typeface="Cambria Math" panose="02040503050406030204" pitchFamily="18" charset="0"/>
                          </a:rPr>
                          <m:t>𝐼</m:t>
                        </m:r>
                      </m:e>
                    </m:d>
                    <m:r>
                      <a:rPr kumimoji="1" lang="en-US" altLang="zh-TW" i="1">
                        <a:latin typeface="Cambria Math" panose="02040503050406030204" pitchFamily="18" charset="0"/>
                      </a:rPr>
                      <m:t>𝑋</m:t>
                    </m:r>
                    <m:r>
                      <a:rPr kumimoji="1" lang="en-US" altLang="zh-TW" b="0" i="1" smtClean="0">
                        <a:latin typeface="Cambria Math" panose="02040503050406030204" pitchFamily="18" charset="0"/>
                      </a:rPr>
                      <m:t>=0</m:t>
                    </m:r>
                  </m:oMath>
                </a14:m>
                <a:endParaRPr kumimoji="1" lang="en-US" altLang="zh-TW" dirty="0"/>
              </a:p>
              <a:p>
                <a:r>
                  <a:rPr kumimoji="1" lang="zh-TW" altLang="en-US" dirty="0"/>
                  <a:t>那麼</a:t>
                </a:r>
                <a14:m>
                  <m:oMath xmlns:m="http://schemas.openxmlformats.org/officeDocument/2006/math">
                    <m:r>
                      <a:rPr kumimoji="1" lang="en-US" altLang="zh-TW" i="1" smtClean="0">
                        <a:latin typeface="Cambria Math" panose="02040503050406030204" pitchFamily="18" charset="0"/>
                        <a:ea typeface="Cambria Math" panose="02040503050406030204" pitchFamily="18" charset="0"/>
                      </a:rPr>
                      <m:t>𝜆</m:t>
                    </m:r>
                  </m:oMath>
                </a14:m>
                <a:r>
                  <a:rPr kumimoji="1" lang="zh-TW" altLang="en-US" dirty="0"/>
                  <a:t>就是矩陣</a:t>
                </a:r>
                <a:r>
                  <a:rPr kumimoji="1" lang="en-US" altLang="zh-TW" dirty="0"/>
                  <a:t>A</a:t>
                </a:r>
                <a:r>
                  <a:rPr kumimoji="1" lang="zh-TW" altLang="en-US" dirty="0"/>
                  <a:t>的特徵值，相對應於</a:t>
                </a:r>
                <a14:m>
                  <m:oMath xmlns:m="http://schemas.openxmlformats.org/officeDocument/2006/math">
                    <m:r>
                      <a:rPr kumimoji="1" lang="en-US" altLang="zh-TW" i="1">
                        <a:latin typeface="Cambria Math" panose="02040503050406030204" pitchFamily="18" charset="0"/>
                        <a:ea typeface="Cambria Math" panose="02040503050406030204" pitchFamily="18" charset="0"/>
                      </a:rPr>
                      <m:t>𝜆</m:t>
                    </m:r>
                  </m:oMath>
                </a14:m>
                <a:r>
                  <a:rPr kumimoji="1" lang="zh-TW" altLang="en-US" dirty="0"/>
                  <a:t>的</a:t>
                </a:r>
                <a:r>
                  <a:rPr kumimoji="1" lang="en-US" altLang="zh-TW" dirty="0"/>
                  <a:t>x</a:t>
                </a:r>
                <a:r>
                  <a:rPr kumimoji="1" lang="zh-TW" altLang="en-US" dirty="0"/>
                  <a:t>就是特徵向量</a:t>
                </a:r>
                <a:endParaRPr kumimoji="1" lang="en-US" altLang="zh-TW" dirty="0"/>
              </a:p>
              <a:p>
                <a:r>
                  <a:rPr kumimoji="1" lang="zh-TW" altLang="en-US" dirty="0"/>
                  <a:t>例如</a:t>
                </a:r>
                <a:endParaRPr kumimoji="1" lang="en-US" altLang="zh-TW" dirty="0"/>
              </a:p>
              <a:p>
                <a14:m>
                  <m:oMath xmlns:m="http://schemas.openxmlformats.org/officeDocument/2006/math">
                    <m:r>
                      <a:rPr kumimoji="1" lang="en-US" altLang="zh-TW" b="0" i="1" smtClean="0">
                        <a:latin typeface="Cambria Math" panose="02040503050406030204" pitchFamily="18" charset="0"/>
                      </a:rPr>
                      <m:t>𝐴</m:t>
                    </m:r>
                    <m:r>
                      <a:rPr kumimoji="1" lang="en-US" altLang="zh-TW" b="0" i="1" smtClean="0">
                        <a:latin typeface="Cambria Math" panose="02040503050406030204" pitchFamily="18" charset="0"/>
                      </a:rPr>
                      <m:t>=</m:t>
                    </m:r>
                    <m:d>
                      <m:dPr>
                        <m:begChr m:val="["/>
                        <m:endChr m:val="]"/>
                        <m:ctrlPr>
                          <a:rPr kumimoji="1" lang="en-US" altLang="zh-TW" b="0" i="1" smtClean="0">
                            <a:latin typeface="Cambria Math" panose="02040503050406030204" pitchFamily="18" charset="0"/>
                          </a:rPr>
                        </m:ctrlPr>
                      </m:dPr>
                      <m:e>
                        <m:m>
                          <m:mPr>
                            <m:mcs>
                              <m:mc>
                                <m:mcPr>
                                  <m:count m:val="2"/>
                                  <m:mcJc m:val="center"/>
                                </m:mcPr>
                              </m:mc>
                            </m:mcs>
                            <m:ctrlPr>
                              <a:rPr kumimoji="1" lang="en-US" altLang="zh-TW" b="0" i="1" smtClean="0">
                                <a:latin typeface="Cambria Math" panose="02040503050406030204" pitchFamily="18" charset="0"/>
                              </a:rPr>
                            </m:ctrlPr>
                          </m:mPr>
                          <m:mr>
                            <m:e>
                              <m:r>
                                <m:rPr>
                                  <m:brk m:alnAt="7"/>
                                </m:rP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4</m:t>
                              </m:r>
                            </m:e>
                            <m:e>
                              <m:r>
                                <a:rPr kumimoji="1" lang="en-US" altLang="zh-TW" b="0" i="1" smtClean="0">
                                  <a:latin typeface="Cambria Math" panose="02040503050406030204" pitchFamily="18" charset="0"/>
                                </a:rPr>
                                <m:t>−6</m:t>
                              </m:r>
                            </m:e>
                          </m:mr>
                          <m:mr>
                            <m:e>
                              <m:r>
                                <a:rPr kumimoji="1" lang="en-US" altLang="zh-TW" b="0" i="1" smtClean="0">
                                  <a:latin typeface="Cambria Math" panose="02040503050406030204" pitchFamily="18" charset="0"/>
                                </a:rPr>
                                <m:t>3</m:t>
                              </m:r>
                            </m:e>
                            <m:e>
                              <m:r>
                                <a:rPr kumimoji="1" lang="en-US" altLang="zh-TW" b="0" i="1" smtClean="0">
                                  <a:latin typeface="Cambria Math" panose="02040503050406030204" pitchFamily="18" charset="0"/>
                                </a:rPr>
                                <m:t>5</m:t>
                              </m:r>
                            </m:e>
                          </m:mr>
                        </m:m>
                      </m:e>
                    </m:d>
                  </m:oMath>
                </a14:m>
                <a:r>
                  <a:rPr kumimoji="1" lang="zh-TW" altLang="en-US" dirty="0"/>
                  <a:t>，會找到</a:t>
                </a:r>
                <a14:m>
                  <m:oMath xmlns:m="http://schemas.openxmlformats.org/officeDocument/2006/math">
                    <m:r>
                      <a:rPr kumimoji="1" lang="en-US" altLang="zh-TW" i="1">
                        <a:latin typeface="Cambria Math" panose="02040503050406030204" pitchFamily="18" charset="0"/>
                        <a:ea typeface="Cambria Math" panose="02040503050406030204" pitchFamily="18" charset="0"/>
                      </a:rPr>
                      <m:t>𝜆</m:t>
                    </m:r>
                    <m:r>
                      <a:rPr kumimoji="1" lang="en-US" altLang="zh-TW" b="0" i="1" smtClean="0">
                        <a:latin typeface="Cambria Math" panose="02040503050406030204" pitchFamily="18" charset="0"/>
                        <a:ea typeface="Cambria Math" panose="02040503050406030204" pitchFamily="18" charset="0"/>
                      </a:rPr>
                      <m:t>=2</m:t>
                    </m:r>
                    <m:r>
                      <a:rPr kumimoji="1" lang="zh-TW" altLang="en-US" i="1">
                        <a:latin typeface="Cambria Math" panose="02040503050406030204" pitchFamily="18" charset="0"/>
                        <a:ea typeface="Cambria Math" panose="02040503050406030204" pitchFamily="18" charset="0"/>
                      </a:rPr>
                      <m:t>或</m:t>
                    </m:r>
                    <m:r>
                      <a:rPr kumimoji="1" lang="en-US" altLang="zh-TW" i="1">
                        <a:latin typeface="Cambria Math" panose="02040503050406030204" pitchFamily="18" charset="0"/>
                        <a:ea typeface="Cambria Math" panose="02040503050406030204" pitchFamily="18" charset="0"/>
                      </a:rPr>
                      <m:t>𝜆</m:t>
                    </m:r>
                    <m:r>
                      <a:rPr kumimoji="1" lang="en-US" altLang="zh-TW" b="0" i="1" smtClean="0">
                        <a:latin typeface="Cambria Math" panose="02040503050406030204" pitchFamily="18" charset="0"/>
                        <a:ea typeface="Cambria Math" panose="02040503050406030204" pitchFamily="18" charset="0"/>
                      </a:rPr>
                      <m:t>=−1</m:t>
                    </m:r>
                  </m:oMath>
                </a14:m>
                <a:endParaRPr kumimoji="1" lang="en-US" altLang="zh-TW" dirty="0"/>
              </a:p>
            </p:txBody>
          </p:sp>
        </mc:Choice>
        <mc:Fallback xmlns="">
          <p:sp>
            <p:nvSpPr>
              <p:cNvPr id="3" name="內容版面配置區 2">
                <a:extLst>
                  <a:ext uri="{FF2B5EF4-FFF2-40B4-BE49-F238E27FC236}">
                    <a16:creationId xmlns:a16="http://schemas.microsoft.com/office/drawing/2014/main" id="{D2ED9B06-039C-647E-6430-576566516A9F}"/>
                  </a:ext>
                </a:extLst>
              </p:cNvPr>
              <p:cNvSpPr>
                <a:spLocks noGrp="1" noRot="1" noChangeAspect="1" noMove="1" noResize="1" noEditPoints="1" noAdjustHandles="1" noChangeArrowheads="1" noChangeShapeType="1" noTextEdit="1"/>
              </p:cNvSpPr>
              <p:nvPr>
                <p:ph idx="1"/>
              </p:nvPr>
            </p:nvSpPr>
            <p:spPr>
              <a:blipFill>
                <a:blip r:embed="rId2"/>
                <a:stretch>
                  <a:fillRect l="-1086" t="-2616"/>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C5DAC55B-B9DE-9A06-FBF1-9CBF0BB79412}"/>
              </a:ext>
            </a:extLst>
          </p:cNvPr>
          <p:cNvPicPr>
            <a:picLocks noChangeAspect="1"/>
          </p:cNvPicPr>
          <p:nvPr/>
        </p:nvPicPr>
        <p:blipFill>
          <a:blip r:embed="rId3"/>
          <a:stretch>
            <a:fillRect/>
          </a:stretch>
        </p:blipFill>
        <p:spPr>
          <a:xfrm>
            <a:off x="7496629" y="376767"/>
            <a:ext cx="4111171" cy="3052233"/>
          </a:xfrm>
          <a:prstGeom prst="rect">
            <a:avLst/>
          </a:prstGeom>
          <a:ln>
            <a:solidFill>
              <a:schemeClr val="tx1"/>
            </a:solidFill>
          </a:ln>
        </p:spPr>
      </p:pic>
      <p:sp>
        <p:nvSpPr>
          <p:cNvPr id="6" name="文字方塊 5">
            <a:extLst>
              <a:ext uri="{FF2B5EF4-FFF2-40B4-BE49-F238E27FC236}">
                <a16:creationId xmlns:a16="http://schemas.microsoft.com/office/drawing/2014/main" id="{FEBD634B-BED6-3427-2A42-F775B3CFF6AB}"/>
              </a:ext>
            </a:extLst>
          </p:cNvPr>
          <p:cNvSpPr txBox="1"/>
          <p:nvPr/>
        </p:nvSpPr>
        <p:spPr>
          <a:xfrm>
            <a:off x="838200" y="6296567"/>
            <a:ext cx="8610600" cy="369332"/>
          </a:xfrm>
          <a:prstGeom prst="rect">
            <a:avLst/>
          </a:prstGeom>
          <a:noFill/>
        </p:spPr>
        <p:txBody>
          <a:bodyPr wrap="square">
            <a:spAutoFit/>
          </a:bodyPr>
          <a:lstStyle/>
          <a:p>
            <a:r>
              <a:rPr lang="zh-TW" altLang="en-US" dirty="0"/>
              <a:t>https://www.cs.pu.edu.tw/~tsay/course/LinearAlgebra/slides/ch05.pdf</a:t>
            </a:r>
          </a:p>
        </p:txBody>
      </p:sp>
    </p:spTree>
    <p:extLst>
      <p:ext uri="{BB962C8B-B14F-4D97-AF65-F5344CB8AC3E}">
        <p14:creationId xmlns:p14="http://schemas.microsoft.com/office/powerpoint/2010/main" val="641071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79B97A2-00F1-7FBD-D247-3A6064036587}"/>
              </a:ext>
            </a:extLst>
          </p:cNvPr>
          <p:cNvSpPr>
            <a:spLocks noGrp="1"/>
          </p:cNvSpPr>
          <p:nvPr>
            <p:ph type="title"/>
          </p:nvPr>
        </p:nvSpPr>
        <p:spPr/>
        <p:txBody>
          <a:bodyPr/>
          <a:lstStyle/>
          <a:p>
            <a:r>
              <a:rPr kumimoji="1" lang="zh-TW" altLang="en-US" dirty="0"/>
              <a:t>降維</a:t>
            </a:r>
            <a:r>
              <a:rPr kumimoji="1" lang="en-US" altLang="zh-TW" dirty="0"/>
              <a:t>-PCA-</a:t>
            </a:r>
            <a:r>
              <a:rPr kumimoji="1" lang="zh-TW" altLang="en-US" dirty="0"/>
              <a:t>特徵值</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485A0856-C8BA-6A98-B09B-71E19A6361D4}"/>
                  </a:ext>
                </a:extLst>
              </p:cNvPr>
              <p:cNvSpPr>
                <a:spLocks noGrp="1"/>
              </p:cNvSpPr>
              <p:nvPr>
                <p:ph idx="1"/>
              </p:nvPr>
            </p:nvSpPr>
            <p:spPr/>
            <p:txBody>
              <a:bodyPr/>
              <a:lstStyle/>
              <a:p>
                <a:pPr>
                  <a:lnSpc>
                    <a:spcPct val="100000"/>
                  </a:lnSpc>
                  <a:spcBef>
                    <a:spcPts val="0"/>
                  </a:spcBef>
                </a:pPr>
                <a:r>
                  <a:rPr kumimoji="1" lang="zh-TW" altLang="en-US" dirty="0"/>
                  <a:t>特徵向量</a:t>
                </a:r>
                <a:endParaRPr kumimoji="1" lang="en-US" altLang="zh-TW" dirty="0"/>
              </a:p>
              <a:p>
                <a:pPr lvl="1">
                  <a:lnSpc>
                    <a:spcPct val="100000"/>
                  </a:lnSpc>
                  <a:spcBef>
                    <a:spcPts val="0"/>
                  </a:spcBef>
                </a:pPr>
                <a14:m>
                  <m:oMath xmlns:m="http://schemas.openxmlformats.org/officeDocument/2006/math">
                    <m:r>
                      <a:rPr kumimoji="1" lang="en-US" altLang="zh-TW" i="1" smtClean="0">
                        <a:latin typeface="Cambria Math" panose="02040503050406030204" pitchFamily="18" charset="0"/>
                        <a:ea typeface="Cambria Math" panose="02040503050406030204" pitchFamily="18" charset="0"/>
                      </a:rPr>
                      <m:t>𝜆</m:t>
                    </m:r>
                    <m:r>
                      <a:rPr kumimoji="1" lang="en-US" altLang="zh-TW" b="0" i="1" smtClean="0">
                        <a:latin typeface="Cambria Math" panose="02040503050406030204" pitchFamily="18" charset="0"/>
                        <a:ea typeface="Cambria Math" panose="02040503050406030204" pitchFamily="18" charset="0"/>
                      </a:rPr>
                      <m:t>=2</m:t>
                    </m:r>
                  </m:oMath>
                </a14:m>
                <a:r>
                  <a:rPr kumimoji="1" lang="zh-TW" altLang="en-US" dirty="0"/>
                  <a:t>時，代回</a:t>
                </a:r>
                <a14:m>
                  <m:oMath xmlns:m="http://schemas.openxmlformats.org/officeDocument/2006/math">
                    <m:d>
                      <m:dPr>
                        <m:begChr m:val="["/>
                        <m:endChr m:val="]"/>
                        <m:ctrlPr>
                          <a:rPr kumimoji="1" lang="en-US" altLang="zh-TW" i="1">
                            <a:latin typeface="Cambria Math" panose="02040503050406030204" pitchFamily="18" charset="0"/>
                          </a:rPr>
                        </m:ctrlPr>
                      </m:dPr>
                      <m:e>
                        <m:m>
                          <m:mPr>
                            <m:mcs>
                              <m:mc>
                                <m:mcPr>
                                  <m:count m:val="2"/>
                                  <m:mcJc m:val="center"/>
                                </m:mcPr>
                              </m:mc>
                            </m:mcs>
                            <m:ctrlPr>
                              <a:rPr kumimoji="1" lang="en-US" altLang="zh-TW" i="1">
                                <a:latin typeface="Cambria Math" panose="02040503050406030204" pitchFamily="18" charset="0"/>
                              </a:rPr>
                            </m:ctrlPr>
                          </m:mPr>
                          <m:mr>
                            <m:e>
                              <m:r>
                                <m:rPr>
                                  <m:brk m:alnAt="7"/>
                                </m:rPr>
                                <a:rPr kumimoji="1" lang="en-US" altLang="zh-TW" i="1">
                                  <a:latin typeface="Cambria Math" panose="02040503050406030204" pitchFamily="18" charset="0"/>
                                </a:rPr>
                                <m:t>−</m:t>
                              </m:r>
                              <m:r>
                                <a:rPr kumimoji="1" lang="en-US" altLang="zh-TW" i="1">
                                  <a:latin typeface="Cambria Math" panose="02040503050406030204" pitchFamily="18" charset="0"/>
                                </a:rPr>
                                <m:t>4</m:t>
                              </m:r>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𝜆</m:t>
                              </m:r>
                            </m:e>
                            <m:e>
                              <m:r>
                                <a:rPr kumimoji="1" lang="en-US" altLang="zh-TW" i="1">
                                  <a:latin typeface="Cambria Math" panose="02040503050406030204" pitchFamily="18" charset="0"/>
                                </a:rPr>
                                <m:t>−6</m:t>
                              </m:r>
                            </m:e>
                          </m:mr>
                          <m:mr>
                            <m:e>
                              <m:r>
                                <a:rPr kumimoji="1" lang="en-US" altLang="zh-TW" i="1">
                                  <a:latin typeface="Cambria Math" panose="02040503050406030204" pitchFamily="18" charset="0"/>
                                </a:rPr>
                                <m:t>3</m:t>
                              </m:r>
                            </m:e>
                            <m:e>
                              <m:r>
                                <a:rPr kumimoji="1" lang="en-US" altLang="zh-TW" i="1">
                                  <a:latin typeface="Cambria Math" panose="02040503050406030204" pitchFamily="18" charset="0"/>
                                </a:rPr>
                                <m:t>5</m:t>
                              </m:r>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𝜆</m:t>
                              </m:r>
                            </m:e>
                          </m:mr>
                        </m:m>
                      </m:e>
                    </m:d>
                    <m:r>
                      <a:rPr kumimoji="1" lang="en-US" altLang="zh-TW" b="0" i="1" smtClean="0">
                        <a:latin typeface="Cambria Math" panose="02040503050406030204" pitchFamily="18" charset="0"/>
                      </a:rPr>
                      <m:t>=</m:t>
                    </m:r>
                  </m:oMath>
                </a14:m>
                <a:r>
                  <a:rPr kumimoji="1" lang="en-US" altLang="zh-TW" dirty="0"/>
                  <a:t> </a:t>
                </a:r>
                <a14:m>
                  <m:oMath xmlns:m="http://schemas.openxmlformats.org/officeDocument/2006/math">
                    <m:d>
                      <m:dPr>
                        <m:begChr m:val="["/>
                        <m:endChr m:val="]"/>
                        <m:ctrlPr>
                          <a:rPr kumimoji="1" lang="en-US" altLang="zh-TW" i="1">
                            <a:latin typeface="Cambria Math" panose="02040503050406030204" pitchFamily="18" charset="0"/>
                          </a:rPr>
                        </m:ctrlPr>
                      </m:dPr>
                      <m:e>
                        <m:m>
                          <m:mPr>
                            <m:mcs>
                              <m:mc>
                                <m:mcPr>
                                  <m:count m:val="2"/>
                                  <m:mcJc m:val="center"/>
                                </m:mcPr>
                              </m:mc>
                            </m:mcs>
                            <m:ctrlPr>
                              <a:rPr kumimoji="1" lang="en-US" altLang="zh-TW" i="1">
                                <a:latin typeface="Cambria Math" panose="02040503050406030204" pitchFamily="18" charset="0"/>
                              </a:rPr>
                            </m:ctrlPr>
                          </m:mPr>
                          <m:mr>
                            <m:e>
                              <m:r>
                                <m:rPr>
                                  <m:brk m:alnAt="7"/>
                                </m:rPr>
                                <a:rPr kumimoji="1" lang="en-US" altLang="zh-TW" i="1">
                                  <a:latin typeface="Cambria Math" panose="02040503050406030204" pitchFamily="18" charset="0"/>
                                </a:rPr>
                                <m:t>−</m:t>
                              </m:r>
                              <m:r>
                                <a:rPr kumimoji="1" lang="en-US" altLang="zh-TW" b="0" i="1" smtClean="0">
                                  <a:latin typeface="Cambria Math" panose="02040503050406030204" pitchFamily="18" charset="0"/>
                                </a:rPr>
                                <m:t>6</m:t>
                              </m:r>
                            </m:e>
                            <m:e>
                              <m:r>
                                <a:rPr kumimoji="1" lang="en-US" altLang="zh-TW" i="1">
                                  <a:latin typeface="Cambria Math" panose="02040503050406030204" pitchFamily="18" charset="0"/>
                                </a:rPr>
                                <m:t>−6</m:t>
                              </m:r>
                            </m:e>
                          </m:mr>
                          <m:mr>
                            <m:e>
                              <m:r>
                                <a:rPr kumimoji="1" lang="en-US" altLang="zh-TW" i="1">
                                  <a:latin typeface="Cambria Math" panose="02040503050406030204" pitchFamily="18" charset="0"/>
                                </a:rPr>
                                <m:t>3</m:t>
                              </m:r>
                            </m:e>
                            <m:e>
                              <m:r>
                                <a:rPr kumimoji="1" lang="en-US" altLang="zh-TW" b="0" i="1" smtClean="0">
                                  <a:latin typeface="Cambria Math" panose="02040503050406030204" pitchFamily="18" charset="0"/>
                                </a:rPr>
                                <m:t>3</m:t>
                              </m:r>
                            </m:e>
                          </m:mr>
                        </m:m>
                      </m:e>
                    </m:d>
                  </m:oMath>
                </a14:m>
                <a:r>
                  <a:rPr kumimoji="1" lang="zh-TW" altLang="en-US" dirty="0"/>
                  <a:t>，代表</a:t>
                </a:r>
                <a14:m>
                  <m:oMath xmlns:m="http://schemas.openxmlformats.org/officeDocument/2006/math">
                    <m:d>
                      <m:dPr>
                        <m:begChr m:val="{"/>
                        <m:endChr m:val=""/>
                        <m:ctrlPr>
                          <a:rPr kumimoji="1" lang="en-US" altLang="zh-TW" i="1" smtClean="0">
                            <a:latin typeface="Cambria Math" panose="02040503050406030204" pitchFamily="18" charset="0"/>
                          </a:rPr>
                        </m:ctrlPr>
                      </m:dPr>
                      <m:e>
                        <m:m>
                          <m:mPr>
                            <m:mcs>
                              <m:mc>
                                <m:mcPr>
                                  <m:count m:val="1"/>
                                  <m:mcJc m:val="center"/>
                                </m:mcPr>
                              </m:mc>
                            </m:mcs>
                            <m:ctrlPr>
                              <a:rPr kumimoji="1" lang="en-US" altLang="zh-TW" i="1" smtClean="0">
                                <a:latin typeface="Cambria Math" panose="02040503050406030204" pitchFamily="18" charset="0"/>
                              </a:rPr>
                            </m:ctrlPr>
                          </m:mPr>
                          <m:mr>
                            <m:e>
                              <m:r>
                                <m:rPr>
                                  <m:brk m:alnAt="7"/>
                                </m:rP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6</m:t>
                              </m:r>
                              <m:sSub>
                                <m:sSubPr>
                                  <m:ctrlPr>
                                    <a:rPr kumimoji="1" lang="en-US" altLang="zh-TW" b="0" i="1" smtClean="0">
                                      <a:latin typeface="Cambria Math" panose="02040503050406030204" pitchFamily="18" charset="0"/>
                                    </a:rPr>
                                  </m:ctrlPr>
                                </m:sSubPr>
                                <m:e>
                                  <m:r>
                                    <m:rPr>
                                      <m:sty m:val="p"/>
                                    </m:rPr>
                                    <a:rPr kumimoji="1" lang="en-US" altLang="zh-TW" i="1">
                                      <a:latin typeface="Cambria Math" panose="02040503050406030204" pitchFamily="18" charset="0"/>
                                    </a:rPr>
                                    <m:t>x</m:t>
                                  </m:r>
                                </m:e>
                                <m:sub>
                                  <m:r>
                                    <a:rPr kumimoji="1" lang="en-US" altLang="zh-TW" b="0" i="1" smtClean="0">
                                      <a:latin typeface="Cambria Math" panose="02040503050406030204" pitchFamily="18" charset="0"/>
                                    </a:rPr>
                                    <m:t>1</m:t>
                                  </m:r>
                                </m:sub>
                              </m:sSub>
                              <m:r>
                                <m:rPr>
                                  <m:brk m:alnAt="7"/>
                                </m:rP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6</m:t>
                              </m:r>
                              <m:sSub>
                                <m:sSubPr>
                                  <m:ctrlPr>
                                    <a:rPr kumimoji="1" lang="en-US" altLang="zh-TW" i="1">
                                      <a:latin typeface="Cambria Math" panose="02040503050406030204" pitchFamily="18" charset="0"/>
                                    </a:rPr>
                                  </m:ctrlPr>
                                </m:sSubPr>
                                <m:e>
                                  <m:r>
                                    <m:rPr>
                                      <m:sty m:val="p"/>
                                    </m:rPr>
                                    <a:rPr kumimoji="1" lang="en-US" altLang="zh-TW" i="1">
                                      <a:latin typeface="Cambria Math" panose="02040503050406030204" pitchFamily="18" charset="0"/>
                                    </a:rPr>
                                    <m:t>x</m:t>
                                  </m:r>
                                </m:e>
                                <m:sub>
                                  <m:r>
                                    <a:rPr kumimoji="1" lang="en-US" altLang="zh-TW" b="0" i="1" smtClean="0">
                                      <a:latin typeface="Cambria Math" panose="02040503050406030204" pitchFamily="18" charset="0"/>
                                    </a:rPr>
                                    <m:t>2</m:t>
                                  </m:r>
                                </m:sub>
                              </m:sSub>
                              <m:r>
                                <a:rPr kumimoji="1" lang="en-US" altLang="zh-TW" b="0" i="1" smtClean="0">
                                  <a:latin typeface="Cambria Math" panose="02040503050406030204" pitchFamily="18" charset="0"/>
                                </a:rPr>
                                <m:t>=0</m:t>
                              </m:r>
                            </m:e>
                          </m:mr>
                          <m:mr>
                            <m:e>
                              <m:r>
                                <a:rPr kumimoji="1" lang="en-US" altLang="zh-TW" b="0" i="1" smtClean="0">
                                  <a:latin typeface="Cambria Math" panose="02040503050406030204" pitchFamily="18" charset="0"/>
                                </a:rPr>
                                <m:t>3</m:t>
                              </m:r>
                              <m:sSub>
                                <m:sSubPr>
                                  <m:ctrlPr>
                                    <a:rPr kumimoji="1" lang="en-US" altLang="zh-TW" i="1" smtClean="0">
                                      <a:latin typeface="Cambria Math" panose="02040503050406030204" pitchFamily="18" charset="0"/>
                                    </a:rPr>
                                  </m:ctrlPr>
                                </m:sSubPr>
                                <m:e>
                                  <m:r>
                                    <m:rPr>
                                      <m:sty m:val="p"/>
                                    </m:rPr>
                                    <a:rPr kumimoji="1" lang="en-US" altLang="zh-TW" i="1">
                                      <a:latin typeface="Cambria Math" panose="02040503050406030204" pitchFamily="18" charset="0"/>
                                    </a:rPr>
                                    <m:t>x</m:t>
                                  </m:r>
                                </m:e>
                                <m:sub>
                                  <m:r>
                                    <a:rPr kumimoji="1" lang="en-US" altLang="zh-TW" i="1">
                                      <a:latin typeface="Cambria Math" panose="02040503050406030204" pitchFamily="18" charset="0"/>
                                    </a:rPr>
                                    <m:t>1</m:t>
                                  </m:r>
                                </m:sub>
                              </m:sSub>
                              <m:r>
                                <a:rPr kumimoji="1" lang="en-US" altLang="zh-TW" b="0" i="1" smtClean="0">
                                  <a:latin typeface="Cambria Math" panose="02040503050406030204" pitchFamily="18" charset="0"/>
                                </a:rPr>
                                <m:t>+3</m:t>
                              </m:r>
                              <m:sSub>
                                <m:sSubPr>
                                  <m:ctrlPr>
                                    <a:rPr kumimoji="1" lang="en-US" altLang="zh-TW" i="1">
                                      <a:latin typeface="Cambria Math" panose="02040503050406030204" pitchFamily="18" charset="0"/>
                                    </a:rPr>
                                  </m:ctrlPr>
                                </m:sSubPr>
                                <m:e>
                                  <m:r>
                                    <m:rPr>
                                      <m:sty m:val="p"/>
                                    </m:rPr>
                                    <a:rPr kumimoji="1" lang="en-US" altLang="zh-TW" i="1">
                                      <a:latin typeface="Cambria Math" panose="02040503050406030204" pitchFamily="18" charset="0"/>
                                    </a:rPr>
                                    <m:t>x</m:t>
                                  </m:r>
                                </m:e>
                                <m:sub>
                                  <m:r>
                                    <a:rPr kumimoji="1" lang="en-US" altLang="zh-TW" b="0" i="1" smtClean="0">
                                      <a:latin typeface="Cambria Math" panose="02040503050406030204" pitchFamily="18" charset="0"/>
                                    </a:rPr>
                                    <m:t>2</m:t>
                                  </m:r>
                                </m:sub>
                              </m:sSub>
                              <m:r>
                                <a:rPr kumimoji="1" lang="en-US" altLang="zh-TW" i="1">
                                  <a:latin typeface="Cambria Math" panose="02040503050406030204" pitchFamily="18" charset="0"/>
                                </a:rPr>
                                <m:t>=0</m:t>
                              </m:r>
                            </m:e>
                          </m:mr>
                        </m:m>
                      </m:e>
                    </m:d>
                  </m:oMath>
                </a14:m>
                <a:r>
                  <a:rPr kumimoji="1" lang="zh-TW" altLang="en-US" dirty="0"/>
                  <a:t>則可得到</a:t>
                </a:r>
                <a14:m>
                  <m:oMath xmlns:m="http://schemas.openxmlformats.org/officeDocument/2006/math">
                    <m:sSub>
                      <m:sSubPr>
                        <m:ctrlPr>
                          <a:rPr kumimoji="1" lang="en-US" altLang="zh-TW" i="1">
                            <a:latin typeface="Cambria Math" panose="02040503050406030204" pitchFamily="18" charset="0"/>
                          </a:rPr>
                        </m:ctrlPr>
                      </m:sSubPr>
                      <m:e>
                        <m:r>
                          <m:rPr>
                            <m:sty m:val="p"/>
                          </m:rPr>
                          <a:rPr kumimoji="1" lang="en-US" altLang="zh-TW" i="1">
                            <a:latin typeface="Cambria Math" panose="02040503050406030204" pitchFamily="18" charset="0"/>
                          </a:rPr>
                          <m:t>x</m:t>
                        </m:r>
                      </m:e>
                      <m:sub>
                        <m:r>
                          <a:rPr kumimoji="1" lang="en-US" altLang="zh-TW" i="1">
                            <a:latin typeface="Cambria Math" panose="02040503050406030204" pitchFamily="18" charset="0"/>
                          </a:rPr>
                          <m:t>1</m:t>
                        </m:r>
                      </m:sub>
                    </m:sSub>
                    <m:r>
                      <a:rPr kumimoji="1" lang="en-US" altLang="zh-TW" b="0" i="1" smtClean="0">
                        <a:latin typeface="Cambria Math" panose="02040503050406030204" pitchFamily="18" charset="0"/>
                      </a:rPr>
                      <m:t>=−</m:t>
                    </m:r>
                    <m:sSub>
                      <m:sSubPr>
                        <m:ctrlPr>
                          <a:rPr kumimoji="1" lang="en-US" altLang="zh-TW" i="1" smtClean="0">
                            <a:latin typeface="Cambria Math" panose="02040503050406030204" pitchFamily="18" charset="0"/>
                          </a:rPr>
                        </m:ctrlPr>
                      </m:sSubPr>
                      <m:e>
                        <m:r>
                          <m:rPr>
                            <m:sty m:val="p"/>
                          </m:rPr>
                          <a:rPr kumimoji="1" lang="en-US" altLang="zh-TW" i="1">
                            <a:latin typeface="Cambria Math" panose="02040503050406030204" pitchFamily="18" charset="0"/>
                          </a:rPr>
                          <m:t>x</m:t>
                        </m:r>
                      </m:e>
                      <m:sub>
                        <m:r>
                          <a:rPr kumimoji="1" lang="en-US" altLang="zh-TW" i="1">
                            <a:latin typeface="Cambria Math" panose="02040503050406030204" pitchFamily="18" charset="0"/>
                          </a:rPr>
                          <m:t>2</m:t>
                        </m:r>
                      </m:sub>
                    </m:sSub>
                  </m:oMath>
                </a14:m>
                <a:r>
                  <a:rPr kumimoji="1" lang="zh-TW" altLang="en-US" dirty="0"/>
                  <a:t>，特徵向量為</a:t>
                </a:r>
                <a14:m>
                  <m:oMath xmlns:m="http://schemas.openxmlformats.org/officeDocument/2006/math">
                    <m:r>
                      <a:rPr kumimoji="1" lang="en-US" altLang="zh-TW" b="0" i="1" smtClean="0">
                        <a:latin typeface="Cambria Math" panose="02040503050406030204" pitchFamily="18" charset="0"/>
                      </a:rPr>
                      <m:t>𝑟</m:t>
                    </m:r>
                    <m:d>
                      <m:dPr>
                        <m:begChr m:val="["/>
                        <m:endChr m:val="]"/>
                        <m:ctrlPr>
                          <a:rPr kumimoji="1" lang="en-US" altLang="zh-TW" b="0" i="1" smtClean="0">
                            <a:latin typeface="Cambria Math" panose="02040503050406030204" pitchFamily="18" charset="0"/>
                          </a:rPr>
                        </m:ctrlPr>
                      </m:dPr>
                      <m:e>
                        <m:m>
                          <m:mPr>
                            <m:mcs>
                              <m:mc>
                                <m:mcPr>
                                  <m:count m:val="1"/>
                                  <m:mcJc m:val="center"/>
                                </m:mcPr>
                              </m:mc>
                            </m:mcs>
                            <m:ctrlPr>
                              <a:rPr kumimoji="1" lang="en-US" altLang="zh-TW" b="0" i="1" smtClean="0">
                                <a:latin typeface="Cambria Math" panose="02040503050406030204" pitchFamily="18" charset="0"/>
                              </a:rPr>
                            </m:ctrlPr>
                          </m:mPr>
                          <m:mr>
                            <m:e>
                              <m:r>
                                <m:rPr>
                                  <m:brk m:alnAt="7"/>
                                </m:rP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1</m:t>
                              </m:r>
                            </m:e>
                          </m:mr>
                          <m:mr>
                            <m:e>
                              <m:r>
                                <a:rPr kumimoji="1" lang="en-US" altLang="zh-TW" b="0" i="1" smtClean="0">
                                  <a:latin typeface="Cambria Math" panose="02040503050406030204" pitchFamily="18" charset="0"/>
                                </a:rPr>
                                <m:t>1</m:t>
                              </m:r>
                            </m:e>
                          </m:mr>
                        </m:m>
                      </m:e>
                    </m:d>
                  </m:oMath>
                </a14:m>
                <a:endParaRPr kumimoji="1" lang="en-US" altLang="zh-TW" dirty="0"/>
              </a:p>
              <a:p>
                <a:pPr lvl="1">
                  <a:lnSpc>
                    <a:spcPct val="100000"/>
                  </a:lnSpc>
                  <a:spcBef>
                    <a:spcPts val="0"/>
                  </a:spcBef>
                </a:pPr>
                <a14:m>
                  <m:oMath xmlns:m="http://schemas.openxmlformats.org/officeDocument/2006/math">
                    <m:r>
                      <a:rPr kumimoji="1" lang="en-US" altLang="zh-TW" i="1" smtClean="0">
                        <a:latin typeface="Cambria Math" panose="02040503050406030204" pitchFamily="18" charset="0"/>
                        <a:ea typeface="Cambria Math" panose="02040503050406030204" pitchFamily="18" charset="0"/>
                      </a:rPr>
                      <m:t>𝜆</m:t>
                    </m:r>
                    <m:r>
                      <a:rPr kumimoji="1" lang="en-US" altLang="zh-TW" b="0" i="1" smtClean="0">
                        <a:latin typeface="Cambria Math" panose="02040503050406030204" pitchFamily="18" charset="0"/>
                        <a:ea typeface="Cambria Math" panose="02040503050406030204" pitchFamily="18" charset="0"/>
                      </a:rPr>
                      <m:t>=−1</m:t>
                    </m:r>
                  </m:oMath>
                </a14:m>
                <a:r>
                  <a:rPr kumimoji="1" lang="zh-TW" altLang="en-US" dirty="0"/>
                  <a:t>時，代回</a:t>
                </a:r>
                <a14:m>
                  <m:oMath xmlns:m="http://schemas.openxmlformats.org/officeDocument/2006/math">
                    <m:d>
                      <m:dPr>
                        <m:begChr m:val="["/>
                        <m:endChr m:val="]"/>
                        <m:ctrlPr>
                          <a:rPr kumimoji="1" lang="en-US" altLang="zh-TW" i="1">
                            <a:latin typeface="Cambria Math" panose="02040503050406030204" pitchFamily="18" charset="0"/>
                          </a:rPr>
                        </m:ctrlPr>
                      </m:dPr>
                      <m:e>
                        <m:m>
                          <m:mPr>
                            <m:mcs>
                              <m:mc>
                                <m:mcPr>
                                  <m:count m:val="2"/>
                                  <m:mcJc m:val="center"/>
                                </m:mcPr>
                              </m:mc>
                            </m:mcs>
                            <m:ctrlPr>
                              <a:rPr kumimoji="1" lang="en-US" altLang="zh-TW" i="1">
                                <a:latin typeface="Cambria Math" panose="02040503050406030204" pitchFamily="18" charset="0"/>
                              </a:rPr>
                            </m:ctrlPr>
                          </m:mPr>
                          <m:mr>
                            <m:e>
                              <m:r>
                                <m:rPr>
                                  <m:brk m:alnAt="7"/>
                                </m:rPr>
                                <a:rPr kumimoji="1" lang="en-US" altLang="zh-TW" i="1">
                                  <a:latin typeface="Cambria Math" panose="02040503050406030204" pitchFamily="18" charset="0"/>
                                </a:rPr>
                                <m:t>−</m:t>
                              </m:r>
                              <m:r>
                                <a:rPr kumimoji="1" lang="en-US" altLang="zh-TW" i="1">
                                  <a:latin typeface="Cambria Math" panose="02040503050406030204" pitchFamily="18" charset="0"/>
                                </a:rPr>
                                <m:t>4</m:t>
                              </m:r>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𝜆</m:t>
                              </m:r>
                            </m:e>
                            <m:e>
                              <m:r>
                                <a:rPr kumimoji="1" lang="en-US" altLang="zh-TW" i="1">
                                  <a:latin typeface="Cambria Math" panose="02040503050406030204" pitchFamily="18" charset="0"/>
                                </a:rPr>
                                <m:t>−6</m:t>
                              </m:r>
                            </m:e>
                          </m:mr>
                          <m:mr>
                            <m:e>
                              <m:r>
                                <a:rPr kumimoji="1" lang="en-US" altLang="zh-TW" i="1">
                                  <a:latin typeface="Cambria Math" panose="02040503050406030204" pitchFamily="18" charset="0"/>
                                </a:rPr>
                                <m:t>3</m:t>
                              </m:r>
                            </m:e>
                            <m:e>
                              <m:r>
                                <a:rPr kumimoji="1" lang="en-US" altLang="zh-TW" i="1">
                                  <a:latin typeface="Cambria Math" panose="02040503050406030204" pitchFamily="18" charset="0"/>
                                </a:rPr>
                                <m:t>5</m:t>
                              </m:r>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𝜆</m:t>
                              </m:r>
                            </m:e>
                          </m:mr>
                        </m:m>
                      </m:e>
                    </m:d>
                    <m:r>
                      <a:rPr kumimoji="1" lang="en-US" altLang="zh-TW" b="0" i="1" smtClean="0">
                        <a:latin typeface="Cambria Math" panose="02040503050406030204" pitchFamily="18" charset="0"/>
                      </a:rPr>
                      <m:t>=</m:t>
                    </m:r>
                  </m:oMath>
                </a14:m>
                <a:r>
                  <a:rPr kumimoji="1" lang="en-US" altLang="zh-TW" dirty="0"/>
                  <a:t> </a:t>
                </a:r>
                <a14:m>
                  <m:oMath xmlns:m="http://schemas.openxmlformats.org/officeDocument/2006/math">
                    <m:d>
                      <m:dPr>
                        <m:begChr m:val="["/>
                        <m:endChr m:val="]"/>
                        <m:ctrlPr>
                          <a:rPr kumimoji="1" lang="en-US" altLang="zh-TW" i="1">
                            <a:latin typeface="Cambria Math" panose="02040503050406030204" pitchFamily="18" charset="0"/>
                          </a:rPr>
                        </m:ctrlPr>
                      </m:dPr>
                      <m:e>
                        <m:m>
                          <m:mPr>
                            <m:mcs>
                              <m:mc>
                                <m:mcPr>
                                  <m:count m:val="2"/>
                                  <m:mcJc m:val="center"/>
                                </m:mcPr>
                              </m:mc>
                            </m:mcs>
                            <m:ctrlPr>
                              <a:rPr kumimoji="1" lang="en-US" altLang="zh-TW" i="1">
                                <a:latin typeface="Cambria Math" panose="02040503050406030204" pitchFamily="18" charset="0"/>
                              </a:rPr>
                            </m:ctrlPr>
                          </m:mPr>
                          <m:mr>
                            <m:e>
                              <m:r>
                                <m:rPr>
                                  <m:brk m:alnAt="7"/>
                                </m:rPr>
                                <a:rPr kumimoji="1" lang="en-US" altLang="zh-TW" i="1">
                                  <a:latin typeface="Cambria Math" panose="02040503050406030204" pitchFamily="18" charset="0"/>
                                </a:rPr>
                                <m:t>−</m:t>
                              </m:r>
                              <m:r>
                                <a:rPr kumimoji="1" lang="en-US" altLang="zh-TW" b="0" i="1" smtClean="0">
                                  <a:latin typeface="Cambria Math" panose="02040503050406030204" pitchFamily="18" charset="0"/>
                                </a:rPr>
                                <m:t>3</m:t>
                              </m:r>
                            </m:e>
                            <m:e>
                              <m:r>
                                <a:rPr kumimoji="1" lang="en-US" altLang="zh-TW" i="1">
                                  <a:latin typeface="Cambria Math" panose="02040503050406030204" pitchFamily="18" charset="0"/>
                                </a:rPr>
                                <m:t>−6</m:t>
                              </m:r>
                            </m:e>
                          </m:mr>
                          <m:mr>
                            <m:e>
                              <m:r>
                                <a:rPr kumimoji="1" lang="en-US" altLang="zh-TW" i="1">
                                  <a:latin typeface="Cambria Math" panose="02040503050406030204" pitchFamily="18" charset="0"/>
                                </a:rPr>
                                <m:t>3</m:t>
                              </m:r>
                            </m:e>
                            <m:e>
                              <m:r>
                                <a:rPr kumimoji="1" lang="en-US" altLang="zh-TW" b="0" i="1" smtClean="0">
                                  <a:latin typeface="Cambria Math" panose="02040503050406030204" pitchFamily="18" charset="0"/>
                                </a:rPr>
                                <m:t>6</m:t>
                              </m:r>
                            </m:e>
                          </m:mr>
                        </m:m>
                      </m:e>
                    </m:d>
                  </m:oMath>
                </a14:m>
                <a:r>
                  <a:rPr kumimoji="1" lang="zh-TW" altLang="en-US" dirty="0"/>
                  <a:t>，代表</a:t>
                </a:r>
                <a14:m>
                  <m:oMath xmlns:m="http://schemas.openxmlformats.org/officeDocument/2006/math">
                    <m:d>
                      <m:dPr>
                        <m:begChr m:val="{"/>
                        <m:endChr m:val=""/>
                        <m:ctrlPr>
                          <a:rPr kumimoji="1" lang="en-US" altLang="zh-TW" i="1" smtClean="0">
                            <a:latin typeface="Cambria Math" panose="02040503050406030204" pitchFamily="18" charset="0"/>
                          </a:rPr>
                        </m:ctrlPr>
                      </m:dPr>
                      <m:e>
                        <m:m>
                          <m:mPr>
                            <m:mcs>
                              <m:mc>
                                <m:mcPr>
                                  <m:count m:val="1"/>
                                  <m:mcJc m:val="center"/>
                                </m:mcPr>
                              </m:mc>
                            </m:mcs>
                            <m:ctrlPr>
                              <a:rPr kumimoji="1" lang="en-US" altLang="zh-TW" i="1" smtClean="0">
                                <a:latin typeface="Cambria Math" panose="02040503050406030204" pitchFamily="18" charset="0"/>
                              </a:rPr>
                            </m:ctrlPr>
                          </m:mPr>
                          <m:mr>
                            <m:e>
                              <m:r>
                                <m:rPr>
                                  <m:brk m:alnAt="7"/>
                                </m:rP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3</m:t>
                              </m:r>
                              <m:sSub>
                                <m:sSubPr>
                                  <m:ctrlPr>
                                    <a:rPr kumimoji="1" lang="en-US" altLang="zh-TW" b="0" i="1" smtClean="0">
                                      <a:latin typeface="Cambria Math" panose="02040503050406030204" pitchFamily="18" charset="0"/>
                                    </a:rPr>
                                  </m:ctrlPr>
                                </m:sSubPr>
                                <m:e>
                                  <m:r>
                                    <m:rPr>
                                      <m:sty m:val="p"/>
                                    </m:rPr>
                                    <a:rPr kumimoji="1" lang="en-US" altLang="zh-TW" i="1">
                                      <a:latin typeface="Cambria Math" panose="02040503050406030204" pitchFamily="18" charset="0"/>
                                    </a:rPr>
                                    <m:t>x</m:t>
                                  </m:r>
                                </m:e>
                                <m:sub>
                                  <m:r>
                                    <a:rPr kumimoji="1" lang="en-US" altLang="zh-TW" b="0" i="1" smtClean="0">
                                      <a:latin typeface="Cambria Math" panose="02040503050406030204" pitchFamily="18" charset="0"/>
                                    </a:rPr>
                                    <m:t>1</m:t>
                                  </m:r>
                                </m:sub>
                              </m:sSub>
                              <m:r>
                                <m:rPr>
                                  <m:brk m:alnAt="7"/>
                                </m:rP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6</m:t>
                              </m:r>
                              <m:sSub>
                                <m:sSubPr>
                                  <m:ctrlPr>
                                    <a:rPr kumimoji="1" lang="en-US" altLang="zh-TW" i="1">
                                      <a:latin typeface="Cambria Math" panose="02040503050406030204" pitchFamily="18" charset="0"/>
                                    </a:rPr>
                                  </m:ctrlPr>
                                </m:sSubPr>
                                <m:e>
                                  <m:r>
                                    <m:rPr>
                                      <m:sty m:val="p"/>
                                    </m:rPr>
                                    <a:rPr kumimoji="1" lang="en-US" altLang="zh-TW" i="1">
                                      <a:latin typeface="Cambria Math" panose="02040503050406030204" pitchFamily="18" charset="0"/>
                                    </a:rPr>
                                    <m:t>x</m:t>
                                  </m:r>
                                </m:e>
                                <m:sub>
                                  <m:r>
                                    <a:rPr kumimoji="1" lang="en-US" altLang="zh-TW" b="0" i="1" smtClean="0">
                                      <a:latin typeface="Cambria Math" panose="02040503050406030204" pitchFamily="18" charset="0"/>
                                    </a:rPr>
                                    <m:t>2</m:t>
                                  </m:r>
                                </m:sub>
                              </m:sSub>
                              <m:r>
                                <a:rPr kumimoji="1" lang="en-US" altLang="zh-TW" b="0" i="1" smtClean="0">
                                  <a:latin typeface="Cambria Math" panose="02040503050406030204" pitchFamily="18" charset="0"/>
                                </a:rPr>
                                <m:t>=0</m:t>
                              </m:r>
                            </m:e>
                          </m:mr>
                          <m:mr>
                            <m:e>
                              <m:r>
                                <a:rPr kumimoji="1" lang="en-US" altLang="zh-TW" b="0" i="1" smtClean="0">
                                  <a:latin typeface="Cambria Math" panose="02040503050406030204" pitchFamily="18" charset="0"/>
                                </a:rPr>
                                <m:t>3</m:t>
                              </m:r>
                              <m:sSub>
                                <m:sSubPr>
                                  <m:ctrlPr>
                                    <a:rPr kumimoji="1" lang="en-US" altLang="zh-TW" i="1" smtClean="0">
                                      <a:latin typeface="Cambria Math" panose="02040503050406030204" pitchFamily="18" charset="0"/>
                                    </a:rPr>
                                  </m:ctrlPr>
                                </m:sSubPr>
                                <m:e>
                                  <m:r>
                                    <m:rPr>
                                      <m:sty m:val="p"/>
                                    </m:rPr>
                                    <a:rPr kumimoji="1" lang="en-US" altLang="zh-TW" i="1">
                                      <a:latin typeface="Cambria Math" panose="02040503050406030204" pitchFamily="18" charset="0"/>
                                    </a:rPr>
                                    <m:t>x</m:t>
                                  </m:r>
                                </m:e>
                                <m:sub>
                                  <m:r>
                                    <a:rPr kumimoji="1" lang="en-US" altLang="zh-TW" i="1">
                                      <a:latin typeface="Cambria Math" panose="02040503050406030204" pitchFamily="18" charset="0"/>
                                    </a:rPr>
                                    <m:t>1</m:t>
                                  </m:r>
                                </m:sub>
                              </m:sSub>
                              <m:r>
                                <a:rPr kumimoji="1" lang="en-US" altLang="zh-TW" b="0" i="1" smtClean="0">
                                  <a:latin typeface="Cambria Math" panose="02040503050406030204" pitchFamily="18" charset="0"/>
                                </a:rPr>
                                <m:t>+6</m:t>
                              </m:r>
                              <m:sSub>
                                <m:sSubPr>
                                  <m:ctrlPr>
                                    <a:rPr kumimoji="1" lang="en-US" altLang="zh-TW" i="1">
                                      <a:latin typeface="Cambria Math" panose="02040503050406030204" pitchFamily="18" charset="0"/>
                                    </a:rPr>
                                  </m:ctrlPr>
                                </m:sSubPr>
                                <m:e>
                                  <m:r>
                                    <m:rPr>
                                      <m:sty m:val="p"/>
                                    </m:rPr>
                                    <a:rPr kumimoji="1" lang="en-US" altLang="zh-TW" i="1">
                                      <a:latin typeface="Cambria Math" panose="02040503050406030204" pitchFamily="18" charset="0"/>
                                    </a:rPr>
                                    <m:t>x</m:t>
                                  </m:r>
                                </m:e>
                                <m:sub>
                                  <m:r>
                                    <a:rPr kumimoji="1" lang="en-US" altLang="zh-TW" b="0" i="1" smtClean="0">
                                      <a:latin typeface="Cambria Math" panose="02040503050406030204" pitchFamily="18" charset="0"/>
                                    </a:rPr>
                                    <m:t>2</m:t>
                                  </m:r>
                                </m:sub>
                              </m:sSub>
                              <m:r>
                                <a:rPr kumimoji="1" lang="en-US" altLang="zh-TW" i="1">
                                  <a:latin typeface="Cambria Math" panose="02040503050406030204" pitchFamily="18" charset="0"/>
                                </a:rPr>
                                <m:t>=0</m:t>
                              </m:r>
                            </m:e>
                          </m:mr>
                        </m:m>
                      </m:e>
                    </m:d>
                  </m:oMath>
                </a14:m>
                <a:r>
                  <a:rPr kumimoji="1" lang="zh-TW" altLang="en-US" dirty="0"/>
                  <a:t>則可得到</a:t>
                </a:r>
                <a14:m>
                  <m:oMath xmlns:m="http://schemas.openxmlformats.org/officeDocument/2006/math">
                    <m:sSub>
                      <m:sSubPr>
                        <m:ctrlPr>
                          <a:rPr kumimoji="1" lang="en-US" altLang="zh-TW" i="1">
                            <a:latin typeface="Cambria Math" panose="02040503050406030204" pitchFamily="18" charset="0"/>
                          </a:rPr>
                        </m:ctrlPr>
                      </m:sSubPr>
                      <m:e>
                        <m:r>
                          <m:rPr>
                            <m:sty m:val="p"/>
                          </m:rPr>
                          <a:rPr kumimoji="1" lang="en-US" altLang="zh-TW" i="1">
                            <a:latin typeface="Cambria Math" panose="02040503050406030204" pitchFamily="18" charset="0"/>
                          </a:rPr>
                          <m:t>x</m:t>
                        </m:r>
                      </m:e>
                      <m:sub>
                        <m:r>
                          <a:rPr kumimoji="1" lang="en-US" altLang="zh-TW" i="1">
                            <a:latin typeface="Cambria Math" panose="02040503050406030204" pitchFamily="18" charset="0"/>
                          </a:rPr>
                          <m:t>1</m:t>
                        </m:r>
                      </m:sub>
                    </m:sSub>
                    <m:r>
                      <a:rPr kumimoji="1" lang="en-US" altLang="zh-TW" b="0" i="1" smtClean="0">
                        <a:latin typeface="Cambria Math" panose="02040503050406030204" pitchFamily="18" charset="0"/>
                      </a:rPr>
                      <m:t>=−2</m:t>
                    </m:r>
                    <m:sSub>
                      <m:sSubPr>
                        <m:ctrlPr>
                          <a:rPr kumimoji="1" lang="en-US" altLang="zh-TW" i="1" smtClean="0">
                            <a:latin typeface="Cambria Math" panose="02040503050406030204" pitchFamily="18" charset="0"/>
                          </a:rPr>
                        </m:ctrlPr>
                      </m:sSubPr>
                      <m:e>
                        <m:r>
                          <m:rPr>
                            <m:sty m:val="p"/>
                          </m:rPr>
                          <a:rPr kumimoji="1" lang="en-US" altLang="zh-TW" i="1">
                            <a:latin typeface="Cambria Math" panose="02040503050406030204" pitchFamily="18" charset="0"/>
                          </a:rPr>
                          <m:t>x</m:t>
                        </m:r>
                      </m:e>
                      <m:sub>
                        <m:r>
                          <a:rPr kumimoji="1" lang="en-US" altLang="zh-TW" i="1">
                            <a:latin typeface="Cambria Math" panose="02040503050406030204" pitchFamily="18" charset="0"/>
                          </a:rPr>
                          <m:t>2</m:t>
                        </m:r>
                      </m:sub>
                    </m:sSub>
                  </m:oMath>
                </a14:m>
                <a:r>
                  <a:rPr kumimoji="1" lang="zh-TW" altLang="en-US" dirty="0"/>
                  <a:t>，特徵向量為</a:t>
                </a:r>
                <a14:m>
                  <m:oMath xmlns:m="http://schemas.openxmlformats.org/officeDocument/2006/math">
                    <m:r>
                      <a:rPr kumimoji="1" lang="en-US" altLang="zh-TW" b="0" i="1" smtClean="0">
                        <a:latin typeface="Cambria Math" panose="02040503050406030204" pitchFamily="18" charset="0"/>
                      </a:rPr>
                      <m:t>𝑠</m:t>
                    </m:r>
                    <m:d>
                      <m:dPr>
                        <m:begChr m:val="["/>
                        <m:endChr m:val="]"/>
                        <m:ctrlPr>
                          <a:rPr kumimoji="1" lang="en-US" altLang="zh-TW" b="0" i="1" smtClean="0">
                            <a:latin typeface="Cambria Math" panose="02040503050406030204" pitchFamily="18" charset="0"/>
                          </a:rPr>
                        </m:ctrlPr>
                      </m:dPr>
                      <m:e>
                        <m:m>
                          <m:mPr>
                            <m:mcs>
                              <m:mc>
                                <m:mcPr>
                                  <m:count m:val="1"/>
                                  <m:mcJc m:val="center"/>
                                </m:mcPr>
                              </m:mc>
                            </m:mcs>
                            <m:ctrlPr>
                              <a:rPr kumimoji="1" lang="en-US" altLang="zh-TW" b="0" i="1" smtClean="0">
                                <a:latin typeface="Cambria Math" panose="02040503050406030204" pitchFamily="18" charset="0"/>
                              </a:rPr>
                            </m:ctrlPr>
                          </m:mPr>
                          <m:mr>
                            <m:e>
                              <m:r>
                                <m:rPr>
                                  <m:brk m:alnAt="7"/>
                                </m:rP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2</m:t>
                              </m:r>
                            </m:e>
                          </m:mr>
                          <m:mr>
                            <m:e>
                              <m:r>
                                <a:rPr kumimoji="1" lang="en-US" altLang="zh-TW" b="0" i="1" smtClean="0">
                                  <a:latin typeface="Cambria Math" panose="02040503050406030204" pitchFamily="18" charset="0"/>
                                </a:rPr>
                                <m:t>1</m:t>
                              </m:r>
                            </m:e>
                          </m:mr>
                        </m:m>
                      </m:e>
                    </m:d>
                  </m:oMath>
                </a14:m>
                <a:endParaRPr kumimoji="1" lang="zh-TW" altLang="en-US" dirty="0"/>
              </a:p>
            </p:txBody>
          </p:sp>
        </mc:Choice>
        <mc:Fallback xmlns="">
          <p:sp>
            <p:nvSpPr>
              <p:cNvPr id="3" name="內容版面配置區 2">
                <a:extLst>
                  <a:ext uri="{FF2B5EF4-FFF2-40B4-BE49-F238E27FC236}">
                    <a16:creationId xmlns:a16="http://schemas.microsoft.com/office/drawing/2014/main" id="{485A0856-C8BA-6A98-B09B-71E19A6361D4}"/>
                  </a:ext>
                </a:extLst>
              </p:cNvPr>
              <p:cNvSpPr>
                <a:spLocks noGrp="1" noRot="1" noChangeAspect="1" noMove="1" noResize="1" noEditPoints="1" noAdjustHandles="1" noChangeArrowheads="1" noChangeShapeType="1" noTextEdit="1"/>
              </p:cNvSpPr>
              <p:nvPr>
                <p:ph idx="1"/>
              </p:nvPr>
            </p:nvSpPr>
            <p:spPr>
              <a:blipFill>
                <a:blip r:embed="rId2"/>
                <a:stretch>
                  <a:fillRect l="-1086" t="-32267" b="-2470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37349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96C410-53E6-C44D-D9C5-A3ED9B30D949}"/>
              </a:ext>
            </a:extLst>
          </p:cNvPr>
          <p:cNvSpPr>
            <a:spLocks noGrp="1"/>
          </p:cNvSpPr>
          <p:nvPr>
            <p:ph type="title"/>
          </p:nvPr>
        </p:nvSpPr>
        <p:spPr/>
        <p:txBody>
          <a:bodyPr/>
          <a:lstStyle/>
          <a:p>
            <a:r>
              <a:rPr kumimoji="1" lang="zh-TW" altLang="en-US" dirty="0"/>
              <a:t>降維</a:t>
            </a:r>
            <a:r>
              <a:rPr kumimoji="1" lang="en-US" altLang="zh-TW" dirty="0"/>
              <a:t>-PCA-</a:t>
            </a:r>
            <a:r>
              <a:rPr kumimoji="1" lang="zh-TW" altLang="en-US" dirty="0"/>
              <a:t>特徵值</a:t>
            </a:r>
          </a:p>
        </p:txBody>
      </p:sp>
      <p:sp>
        <p:nvSpPr>
          <p:cNvPr id="3" name="內容版面配置區 2">
            <a:extLst>
              <a:ext uri="{FF2B5EF4-FFF2-40B4-BE49-F238E27FC236}">
                <a16:creationId xmlns:a16="http://schemas.microsoft.com/office/drawing/2014/main" id="{6A66EBB8-134C-4C92-A81D-0EEBFEB04BB6}"/>
              </a:ext>
            </a:extLst>
          </p:cNvPr>
          <p:cNvSpPr>
            <a:spLocks noGrp="1"/>
          </p:cNvSpPr>
          <p:nvPr>
            <p:ph idx="1"/>
          </p:nvPr>
        </p:nvSpPr>
        <p:spPr/>
        <p:txBody>
          <a:bodyPr/>
          <a:lstStyle/>
          <a:p>
            <a:r>
              <a:rPr kumimoji="1" lang="zh-TW" altLang="en-US" dirty="0"/>
              <a:t>程式實作：</a:t>
            </a:r>
            <a:r>
              <a:rPr kumimoji="1" lang="en" altLang="zh-TW" dirty="0"/>
              <a:t>https://</a:t>
            </a:r>
            <a:r>
              <a:rPr kumimoji="1" lang="en" altLang="zh-TW" dirty="0" err="1"/>
              <a:t>www.kaggle.com</a:t>
            </a:r>
            <a:r>
              <a:rPr kumimoji="1" lang="en" altLang="zh-TW" dirty="0"/>
              <a:t>/code/</a:t>
            </a:r>
            <a:r>
              <a:rPr kumimoji="1" lang="en" altLang="zh-TW" dirty="0" err="1"/>
              <a:t>leonjye</a:t>
            </a:r>
            <a:r>
              <a:rPr kumimoji="1" lang="en" altLang="zh-TW" dirty="0"/>
              <a:t>/</a:t>
            </a:r>
            <a:r>
              <a:rPr kumimoji="1" lang="en" altLang="zh-TW" dirty="0" err="1"/>
              <a:t>pca</a:t>
            </a:r>
            <a:r>
              <a:rPr kumimoji="1" lang="en" altLang="zh-TW" dirty="0"/>
              <a:t>-using-</a:t>
            </a:r>
            <a:r>
              <a:rPr kumimoji="1" lang="en" altLang="zh-TW" dirty="0" err="1"/>
              <a:t>numpy</a:t>
            </a:r>
            <a:r>
              <a:rPr kumimoji="1" lang="en" altLang="zh-TW" dirty="0"/>
              <a:t>-from-scratch/</a:t>
            </a:r>
            <a:endParaRPr kumimoji="1" lang="en-US" altLang="zh-TW" dirty="0"/>
          </a:p>
          <a:p>
            <a:r>
              <a:rPr kumimoji="1" lang="zh-TW" altLang="en-US" dirty="0"/>
              <a:t>假設有</a:t>
            </a:r>
            <a:r>
              <a:rPr kumimoji="1" lang="en-US" altLang="zh-TW" dirty="0"/>
              <a:t>6</a:t>
            </a:r>
            <a:r>
              <a:rPr kumimoji="1" lang="zh-TW" altLang="en-US" dirty="0"/>
              <a:t>筆資料</a:t>
            </a:r>
            <a:endParaRPr kumimoji="1" lang="en-US" altLang="zh-TW" dirty="0"/>
          </a:p>
          <a:p>
            <a:endParaRPr kumimoji="1" lang="en-US" altLang="zh-TW" dirty="0"/>
          </a:p>
        </p:txBody>
      </p:sp>
      <p:pic>
        <p:nvPicPr>
          <p:cNvPr id="8" name="圖片 7">
            <a:extLst>
              <a:ext uri="{FF2B5EF4-FFF2-40B4-BE49-F238E27FC236}">
                <a16:creationId xmlns:a16="http://schemas.microsoft.com/office/drawing/2014/main" id="{21BC79CD-CF5C-9601-8837-7A8992F05FDB}"/>
              </a:ext>
            </a:extLst>
          </p:cNvPr>
          <p:cNvPicPr>
            <a:picLocks noChangeAspect="1"/>
          </p:cNvPicPr>
          <p:nvPr/>
        </p:nvPicPr>
        <p:blipFill>
          <a:blip r:embed="rId2"/>
          <a:stretch>
            <a:fillRect/>
          </a:stretch>
        </p:blipFill>
        <p:spPr>
          <a:xfrm>
            <a:off x="4465081" y="2318449"/>
            <a:ext cx="6888719" cy="4351338"/>
          </a:xfrm>
          <a:prstGeom prst="rect">
            <a:avLst/>
          </a:prstGeom>
          <a:ln>
            <a:solidFill>
              <a:schemeClr val="tx1"/>
            </a:solidFill>
          </a:ln>
        </p:spPr>
      </p:pic>
    </p:spTree>
    <p:extLst>
      <p:ext uri="{BB962C8B-B14F-4D97-AF65-F5344CB8AC3E}">
        <p14:creationId xmlns:p14="http://schemas.microsoft.com/office/powerpoint/2010/main" val="9022403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407E85-E2A1-838F-3B04-3D06DDF6821C}"/>
              </a:ext>
            </a:extLst>
          </p:cNvPr>
          <p:cNvSpPr>
            <a:spLocks noGrp="1"/>
          </p:cNvSpPr>
          <p:nvPr>
            <p:ph type="title"/>
          </p:nvPr>
        </p:nvSpPr>
        <p:spPr/>
        <p:txBody>
          <a:bodyPr/>
          <a:lstStyle/>
          <a:p>
            <a:r>
              <a:rPr kumimoji="1" lang="zh-TW" altLang="en-US" dirty="0"/>
              <a:t>降維</a:t>
            </a:r>
            <a:r>
              <a:rPr kumimoji="1" lang="en-US" altLang="zh-TW" dirty="0"/>
              <a:t>-PCA-</a:t>
            </a:r>
            <a:r>
              <a:rPr kumimoji="1" lang="zh-TW" altLang="en-US" dirty="0"/>
              <a:t>特徵值</a:t>
            </a:r>
          </a:p>
        </p:txBody>
      </p:sp>
      <p:sp>
        <p:nvSpPr>
          <p:cNvPr id="3" name="內容版面配置區 2">
            <a:extLst>
              <a:ext uri="{FF2B5EF4-FFF2-40B4-BE49-F238E27FC236}">
                <a16:creationId xmlns:a16="http://schemas.microsoft.com/office/drawing/2014/main" id="{9FAD5F6C-0321-0F1C-74C1-FDBB6FC223D0}"/>
              </a:ext>
            </a:extLst>
          </p:cNvPr>
          <p:cNvSpPr>
            <a:spLocks noGrp="1"/>
          </p:cNvSpPr>
          <p:nvPr>
            <p:ph idx="1"/>
          </p:nvPr>
        </p:nvSpPr>
        <p:spPr/>
        <p:txBody>
          <a:bodyPr/>
          <a:lstStyle/>
          <a:p>
            <a:r>
              <a:rPr kumimoji="1" lang="zh-TW" altLang="en-US" dirty="0"/>
              <a:t>看一下資料分佈</a:t>
            </a:r>
          </a:p>
        </p:txBody>
      </p:sp>
      <p:pic>
        <p:nvPicPr>
          <p:cNvPr id="4" name="圖片 3">
            <a:extLst>
              <a:ext uri="{FF2B5EF4-FFF2-40B4-BE49-F238E27FC236}">
                <a16:creationId xmlns:a16="http://schemas.microsoft.com/office/drawing/2014/main" id="{055AE6A0-8424-7728-5B2E-A13448ACE417}"/>
              </a:ext>
            </a:extLst>
          </p:cNvPr>
          <p:cNvPicPr>
            <a:picLocks noChangeAspect="1"/>
          </p:cNvPicPr>
          <p:nvPr/>
        </p:nvPicPr>
        <p:blipFill>
          <a:blip r:embed="rId2"/>
          <a:stretch>
            <a:fillRect/>
          </a:stretch>
        </p:blipFill>
        <p:spPr>
          <a:xfrm>
            <a:off x="1066800" y="2527300"/>
            <a:ext cx="4394200" cy="901700"/>
          </a:xfrm>
          <a:prstGeom prst="rect">
            <a:avLst/>
          </a:prstGeom>
        </p:spPr>
      </p:pic>
      <p:pic>
        <p:nvPicPr>
          <p:cNvPr id="5" name="圖片 4">
            <a:extLst>
              <a:ext uri="{FF2B5EF4-FFF2-40B4-BE49-F238E27FC236}">
                <a16:creationId xmlns:a16="http://schemas.microsoft.com/office/drawing/2014/main" id="{A5877E63-4243-B4C1-17C7-616932400662}"/>
              </a:ext>
            </a:extLst>
          </p:cNvPr>
          <p:cNvPicPr>
            <a:picLocks noChangeAspect="1"/>
          </p:cNvPicPr>
          <p:nvPr/>
        </p:nvPicPr>
        <p:blipFill>
          <a:blip r:embed="rId3"/>
          <a:stretch>
            <a:fillRect/>
          </a:stretch>
        </p:blipFill>
        <p:spPr>
          <a:xfrm>
            <a:off x="5866261" y="1720505"/>
            <a:ext cx="5506313" cy="3795712"/>
          </a:xfrm>
          <a:prstGeom prst="rect">
            <a:avLst/>
          </a:prstGeom>
        </p:spPr>
      </p:pic>
    </p:spTree>
    <p:extLst>
      <p:ext uri="{BB962C8B-B14F-4D97-AF65-F5344CB8AC3E}">
        <p14:creationId xmlns:p14="http://schemas.microsoft.com/office/powerpoint/2010/main" val="2251766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DC357C-3E56-4DC0-4586-82EF5F652020}"/>
              </a:ext>
            </a:extLst>
          </p:cNvPr>
          <p:cNvSpPr>
            <a:spLocks noGrp="1"/>
          </p:cNvSpPr>
          <p:nvPr>
            <p:ph type="title"/>
          </p:nvPr>
        </p:nvSpPr>
        <p:spPr/>
        <p:txBody>
          <a:bodyPr/>
          <a:lstStyle/>
          <a:p>
            <a:r>
              <a:rPr kumimoji="1" lang="zh-TW" altLang="en-US" dirty="0"/>
              <a:t>降維</a:t>
            </a:r>
            <a:r>
              <a:rPr kumimoji="1" lang="en-US" altLang="zh-TW" dirty="0"/>
              <a:t>-PCA-</a:t>
            </a:r>
            <a:r>
              <a:rPr kumimoji="1" lang="zh-TW" altLang="en-US" dirty="0"/>
              <a:t>特徵值</a:t>
            </a:r>
          </a:p>
        </p:txBody>
      </p:sp>
      <p:sp>
        <p:nvSpPr>
          <p:cNvPr id="3" name="內容版面配置區 2">
            <a:extLst>
              <a:ext uri="{FF2B5EF4-FFF2-40B4-BE49-F238E27FC236}">
                <a16:creationId xmlns:a16="http://schemas.microsoft.com/office/drawing/2014/main" id="{FCF1DB1B-8E22-94CE-C718-DCCA9F7D06F1}"/>
              </a:ext>
            </a:extLst>
          </p:cNvPr>
          <p:cNvSpPr>
            <a:spLocks noGrp="1"/>
          </p:cNvSpPr>
          <p:nvPr>
            <p:ph idx="1"/>
          </p:nvPr>
        </p:nvSpPr>
        <p:spPr/>
        <p:txBody>
          <a:bodyPr/>
          <a:lstStyle/>
          <a:p>
            <a:r>
              <a:rPr kumimoji="1" lang="zh-TW" altLang="en-US" dirty="0"/>
              <a:t>對所有值進行正規化</a:t>
            </a:r>
            <a:r>
              <a:rPr kumimoji="1" lang="en-US" altLang="zh-TW" dirty="0"/>
              <a:t>(</a:t>
            </a:r>
            <a:r>
              <a:rPr kumimoji="1" lang="zh-TW" altLang="en-US" dirty="0"/>
              <a:t>減平均值後除以標準差</a:t>
            </a:r>
            <a:r>
              <a:rPr kumimoji="1" lang="en-US" altLang="zh-TW" dirty="0"/>
              <a:t>)</a:t>
            </a:r>
            <a:endParaRPr kumimoji="1" lang="zh-TW" altLang="en-US" dirty="0"/>
          </a:p>
        </p:txBody>
      </p:sp>
      <p:pic>
        <p:nvPicPr>
          <p:cNvPr id="4" name="圖片 3">
            <a:extLst>
              <a:ext uri="{FF2B5EF4-FFF2-40B4-BE49-F238E27FC236}">
                <a16:creationId xmlns:a16="http://schemas.microsoft.com/office/drawing/2014/main" id="{059098CD-7B41-1E8E-801F-86499B46FEE6}"/>
              </a:ext>
            </a:extLst>
          </p:cNvPr>
          <p:cNvPicPr>
            <a:picLocks noChangeAspect="1"/>
          </p:cNvPicPr>
          <p:nvPr/>
        </p:nvPicPr>
        <p:blipFill>
          <a:blip r:embed="rId2"/>
          <a:stretch>
            <a:fillRect/>
          </a:stretch>
        </p:blipFill>
        <p:spPr>
          <a:xfrm>
            <a:off x="3309731" y="2353045"/>
            <a:ext cx="5867400" cy="4246145"/>
          </a:xfrm>
          <a:prstGeom prst="rect">
            <a:avLst/>
          </a:prstGeom>
          <a:ln>
            <a:solidFill>
              <a:schemeClr val="tx1"/>
            </a:solidFill>
          </a:ln>
        </p:spPr>
      </p:pic>
    </p:spTree>
    <p:extLst>
      <p:ext uri="{BB962C8B-B14F-4D97-AF65-F5344CB8AC3E}">
        <p14:creationId xmlns:p14="http://schemas.microsoft.com/office/powerpoint/2010/main" val="334723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3E7919E-D6B8-4F7B-DC4A-E23C57257257}"/>
              </a:ext>
            </a:extLst>
          </p:cNvPr>
          <p:cNvSpPr>
            <a:spLocks noGrp="1"/>
          </p:cNvSpPr>
          <p:nvPr>
            <p:ph type="title"/>
          </p:nvPr>
        </p:nvSpPr>
        <p:spPr/>
        <p:txBody>
          <a:bodyPr/>
          <a:lstStyle/>
          <a:p>
            <a:r>
              <a:rPr kumimoji="1" lang="zh-TW" altLang="en-US" dirty="0"/>
              <a:t>降維</a:t>
            </a:r>
            <a:r>
              <a:rPr kumimoji="1" lang="en-US" altLang="zh-TW" dirty="0"/>
              <a:t>-PCA-</a:t>
            </a:r>
            <a:r>
              <a:rPr kumimoji="1" lang="zh-TW" altLang="en-US" dirty="0"/>
              <a:t>特徵值</a:t>
            </a:r>
          </a:p>
        </p:txBody>
      </p:sp>
      <p:sp>
        <p:nvSpPr>
          <p:cNvPr id="3" name="內容版面配置區 2">
            <a:extLst>
              <a:ext uri="{FF2B5EF4-FFF2-40B4-BE49-F238E27FC236}">
                <a16:creationId xmlns:a16="http://schemas.microsoft.com/office/drawing/2014/main" id="{375EBEF8-C12F-C9D9-F80E-2E26140ED463}"/>
              </a:ext>
            </a:extLst>
          </p:cNvPr>
          <p:cNvSpPr>
            <a:spLocks noGrp="1"/>
          </p:cNvSpPr>
          <p:nvPr>
            <p:ph idx="1"/>
          </p:nvPr>
        </p:nvSpPr>
        <p:spPr/>
        <p:txBody>
          <a:bodyPr/>
          <a:lstStyle/>
          <a:p>
            <a:endParaRPr kumimoji="1" lang="zh-TW" altLang="en-US"/>
          </a:p>
        </p:txBody>
      </p:sp>
      <p:pic>
        <p:nvPicPr>
          <p:cNvPr id="4" name="圖片 3">
            <a:extLst>
              <a:ext uri="{FF2B5EF4-FFF2-40B4-BE49-F238E27FC236}">
                <a16:creationId xmlns:a16="http://schemas.microsoft.com/office/drawing/2014/main" id="{4F491DA6-C0B3-754A-B84B-68BCF2032793}"/>
              </a:ext>
            </a:extLst>
          </p:cNvPr>
          <p:cNvPicPr>
            <a:picLocks noChangeAspect="1"/>
          </p:cNvPicPr>
          <p:nvPr/>
        </p:nvPicPr>
        <p:blipFill>
          <a:blip r:embed="rId2"/>
          <a:stretch>
            <a:fillRect/>
          </a:stretch>
        </p:blipFill>
        <p:spPr>
          <a:xfrm>
            <a:off x="838200" y="1854303"/>
            <a:ext cx="5445700" cy="3492949"/>
          </a:xfrm>
          <a:prstGeom prst="rect">
            <a:avLst/>
          </a:prstGeom>
          <a:ln>
            <a:solidFill>
              <a:schemeClr val="tx1"/>
            </a:solidFill>
          </a:ln>
        </p:spPr>
      </p:pic>
      <p:pic>
        <p:nvPicPr>
          <p:cNvPr id="5" name="圖片 4">
            <a:extLst>
              <a:ext uri="{FF2B5EF4-FFF2-40B4-BE49-F238E27FC236}">
                <a16:creationId xmlns:a16="http://schemas.microsoft.com/office/drawing/2014/main" id="{CEC5F15F-5A7A-7CC7-1821-B7DCCC56E559}"/>
              </a:ext>
            </a:extLst>
          </p:cNvPr>
          <p:cNvPicPr>
            <a:picLocks noChangeAspect="1"/>
          </p:cNvPicPr>
          <p:nvPr/>
        </p:nvPicPr>
        <p:blipFill>
          <a:blip r:embed="rId3"/>
          <a:stretch>
            <a:fillRect/>
          </a:stretch>
        </p:blipFill>
        <p:spPr>
          <a:xfrm>
            <a:off x="6688269" y="1825624"/>
            <a:ext cx="4583807" cy="3492949"/>
          </a:xfrm>
          <a:prstGeom prst="rect">
            <a:avLst/>
          </a:prstGeom>
          <a:ln>
            <a:solidFill>
              <a:schemeClr val="tx1"/>
            </a:solidFill>
          </a:ln>
        </p:spPr>
      </p:pic>
    </p:spTree>
    <p:extLst>
      <p:ext uri="{BB962C8B-B14F-4D97-AF65-F5344CB8AC3E}">
        <p14:creationId xmlns:p14="http://schemas.microsoft.com/office/powerpoint/2010/main" val="4029496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AA83D5-F08A-94D2-928D-C55B612C9032}"/>
              </a:ext>
            </a:extLst>
          </p:cNvPr>
          <p:cNvSpPr>
            <a:spLocks noGrp="1"/>
          </p:cNvSpPr>
          <p:nvPr>
            <p:ph type="title"/>
          </p:nvPr>
        </p:nvSpPr>
        <p:spPr/>
        <p:txBody>
          <a:bodyPr/>
          <a:lstStyle/>
          <a:p>
            <a:r>
              <a:rPr kumimoji="1" lang="zh-TW" altLang="en-US" dirty="0"/>
              <a:t>降維</a:t>
            </a:r>
            <a:r>
              <a:rPr kumimoji="1" lang="en-US" altLang="zh-TW" dirty="0"/>
              <a:t>-PCA-</a:t>
            </a:r>
            <a:r>
              <a:rPr kumimoji="1" lang="zh-TW" altLang="en-US" dirty="0"/>
              <a:t>特徵值</a:t>
            </a:r>
          </a:p>
        </p:txBody>
      </p:sp>
      <p:sp>
        <p:nvSpPr>
          <p:cNvPr id="3" name="內容版面配置區 2">
            <a:extLst>
              <a:ext uri="{FF2B5EF4-FFF2-40B4-BE49-F238E27FC236}">
                <a16:creationId xmlns:a16="http://schemas.microsoft.com/office/drawing/2014/main" id="{1C22C10F-689F-38F6-B005-30046BC1ABA3}"/>
              </a:ext>
            </a:extLst>
          </p:cNvPr>
          <p:cNvSpPr>
            <a:spLocks noGrp="1"/>
          </p:cNvSpPr>
          <p:nvPr>
            <p:ph idx="1"/>
          </p:nvPr>
        </p:nvSpPr>
        <p:spPr/>
        <p:txBody>
          <a:bodyPr/>
          <a:lstStyle/>
          <a:p>
            <a:r>
              <a:rPr kumimoji="1" lang="zh-TW" altLang="en-US" dirty="0"/>
              <a:t>透過</a:t>
            </a:r>
            <a:r>
              <a:rPr kumimoji="1" lang="en" altLang="zh-TW" dirty="0" err="1"/>
              <a:t>numpy.linalg.eig</a:t>
            </a:r>
            <a:r>
              <a:rPr kumimoji="1" lang="zh-TW" altLang="en-US" dirty="0"/>
              <a:t>計算</a:t>
            </a:r>
            <a:r>
              <a:rPr kumimoji="1" lang="en" altLang="zh-TW" dirty="0"/>
              <a:t>eigenvalue</a:t>
            </a:r>
            <a:r>
              <a:rPr kumimoji="1" lang="zh-TW" altLang="en-US" dirty="0"/>
              <a:t>跟</a:t>
            </a:r>
            <a:r>
              <a:rPr kumimoji="1" lang="en" altLang="zh-TW" dirty="0"/>
              <a:t>eigenvector</a:t>
            </a:r>
            <a:r>
              <a:rPr kumimoji="1" lang="zh-TW" altLang="en" dirty="0"/>
              <a:t>，</a:t>
            </a:r>
            <a:r>
              <a:rPr kumimoji="1" lang="zh-TW" altLang="en-US" dirty="0"/>
              <a:t>然後把</a:t>
            </a:r>
            <a:r>
              <a:rPr kumimoji="1" lang="en" altLang="zh-TW" dirty="0"/>
              <a:t>eigenvalue</a:t>
            </a:r>
            <a:r>
              <a:rPr kumimoji="1" lang="zh-TW" altLang="en" dirty="0"/>
              <a:t>從</a:t>
            </a:r>
            <a:r>
              <a:rPr kumimoji="1" lang="zh-TW" altLang="en-US" dirty="0"/>
              <a:t>高低排序，最高的</a:t>
            </a:r>
            <a:r>
              <a:rPr kumimoji="1" lang="en-US" altLang="zh-TW" dirty="0"/>
              <a:t>eigenvalue</a:t>
            </a:r>
            <a:r>
              <a:rPr kumimoji="1" lang="zh-TW" altLang="en-US" dirty="0"/>
              <a:t>設定給</a:t>
            </a:r>
            <a:r>
              <a:rPr kumimoji="1" lang="en-US" altLang="zh-TW" dirty="0" err="1"/>
              <a:t>feature_vector</a:t>
            </a:r>
            <a:endParaRPr kumimoji="1" lang="zh-TW" altLang="en-US" dirty="0"/>
          </a:p>
        </p:txBody>
      </p:sp>
      <p:pic>
        <p:nvPicPr>
          <p:cNvPr id="4" name="圖片 3">
            <a:extLst>
              <a:ext uri="{FF2B5EF4-FFF2-40B4-BE49-F238E27FC236}">
                <a16:creationId xmlns:a16="http://schemas.microsoft.com/office/drawing/2014/main" id="{8A02C4E7-6210-0F98-1A89-C55C53403AD8}"/>
              </a:ext>
            </a:extLst>
          </p:cNvPr>
          <p:cNvPicPr>
            <a:picLocks noChangeAspect="1"/>
          </p:cNvPicPr>
          <p:nvPr/>
        </p:nvPicPr>
        <p:blipFill rotWithShape="1">
          <a:blip r:embed="rId2"/>
          <a:srcRect t="21701"/>
          <a:stretch/>
        </p:blipFill>
        <p:spPr>
          <a:xfrm>
            <a:off x="838200" y="2872409"/>
            <a:ext cx="10163042" cy="3776869"/>
          </a:xfrm>
          <a:prstGeom prst="rect">
            <a:avLst/>
          </a:prstGeom>
          <a:ln>
            <a:solidFill>
              <a:schemeClr val="tx1"/>
            </a:solidFill>
          </a:ln>
        </p:spPr>
      </p:pic>
    </p:spTree>
    <p:extLst>
      <p:ext uri="{BB962C8B-B14F-4D97-AF65-F5344CB8AC3E}">
        <p14:creationId xmlns:p14="http://schemas.microsoft.com/office/powerpoint/2010/main" val="2400386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6C3DD2-9609-7D55-53B7-4AF79794FA42}"/>
              </a:ext>
            </a:extLst>
          </p:cNvPr>
          <p:cNvSpPr>
            <a:spLocks noGrp="1"/>
          </p:cNvSpPr>
          <p:nvPr>
            <p:ph type="title"/>
          </p:nvPr>
        </p:nvSpPr>
        <p:spPr/>
        <p:txBody>
          <a:bodyPr/>
          <a:lstStyle/>
          <a:p>
            <a:r>
              <a:rPr kumimoji="1" lang="zh-TW" altLang="en-US" dirty="0"/>
              <a:t>降維</a:t>
            </a:r>
            <a:r>
              <a:rPr kumimoji="1" lang="en-US" altLang="zh-TW" dirty="0"/>
              <a:t>-PCA-</a:t>
            </a:r>
            <a:r>
              <a:rPr kumimoji="1" lang="zh-TW" altLang="en-US" dirty="0"/>
              <a:t>特徵值</a:t>
            </a:r>
          </a:p>
        </p:txBody>
      </p:sp>
      <p:sp>
        <p:nvSpPr>
          <p:cNvPr id="3" name="內容版面配置區 2">
            <a:extLst>
              <a:ext uri="{FF2B5EF4-FFF2-40B4-BE49-F238E27FC236}">
                <a16:creationId xmlns:a16="http://schemas.microsoft.com/office/drawing/2014/main" id="{893ACC97-2268-92C9-4669-EAA6182C7B40}"/>
              </a:ext>
            </a:extLst>
          </p:cNvPr>
          <p:cNvSpPr>
            <a:spLocks noGrp="1"/>
          </p:cNvSpPr>
          <p:nvPr>
            <p:ph idx="1"/>
          </p:nvPr>
        </p:nvSpPr>
        <p:spPr/>
        <p:txBody>
          <a:bodyPr/>
          <a:lstStyle/>
          <a:p>
            <a:r>
              <a:rPr kumimoji="1" lang="zh-TW" altLang="en-US" dirty="0"/>
              <a:t>產生降維後的資料</a:t>
            </a:r>
            <a:endParaRPr kumimoji="1" lang="en-US" altLang="zh-TW" dirty="0"/>
          </a:p>
          <a:p>
            <a:endParaRPr kumimoji="1" lang="en-US" altLang="zh-TW" dirty="0"/>
          </a:p>
          <a:p>
            <a:endParaRPr kumimoji="1" lang="en-US" altLang="zh-TW" dirty="0"/>
          </a:p>
          <a:p>
            <a:endParaRPr kumimoji="1" lang="en-US" altLang="zh-TW" dirty="0"/>
          </a:p>
          <a:p>
            <a:pPr marL="0" indent="0">
              <a:buNone/>
            </a:pPr>
            <a:endParaRPr kumimoji="1" lang="en-US" altLang="zh-TW" dirty="0"/>
          </a:p>
          <a:p>
            <a:r>
              <a:rPr kumimoji="1" lang="zh-TW" altLang="en-US" dirty="0"/>
              <a:t>在空間上相當於把這</a:t>
            </a:r>
            <a:r>
              <a:rPr kumimoji="1" lang="en-US" altLang="zh-TW" dirty="0"/>
              <a:t>6</a:t>
            </a:r>
            <a:r>
              <a:rPr kumimoji="1" lang="zh-TW" altLang="en-US" dirty="0"/>
              <a:t>個點變成</a:t>
            </a:r>
            <a:endParaRPr kumimoji="1" lang="en-US" altLang="zh-TW" dirty="0"/>
          </a:p>
          <a:p>
            <a:r>
              <a:rPr kumimoji="1" lang="zh-TW" altLang="en-US" dirty="0"/>
              <a:t>在保持變異量的情況下變成只有一維了</a:t>
            </a:r>
          </a:p>
        </p:txBody>
      </p:sp>
      <p:pic>
        <p:nvPicPr>
          <p:cNvPr id="4" name="圖片 3">
            <a:extLst>
              <a:ext uri="{FF2B5EF4-FFF2-40B4-BE49-F238E27FC236}">
                <a16:creationId xmlns:a16="http://schemas.microsoft.com/office/drawing/2014/main" id="{2B8B4877-636E-6D06-6894-379E22B7561F}"/>
              </a:ext>
            </a:extLst>
          </p:cNvPr>
          <p:cNvPicPr>
            <a:picLocks noChangeAspect="1"/>
          </p:cNvPicPr>
          <p:nvPr/>
        </p:nvPicPr>
        <p:blipFill>
          <a:blip r:embed="rId2"/>
          <a:stretch>
            <a:fillRect/>
          </a:stretch>
        </p:blipFill>
        <p:spPr>
          <a:xfrm>
            <a:off x="4128604" y="1517580"/>
            <a:ext cx="3430081" cy="2841487"/>
          </a:xfrm>
          <a:prstGeom prst="rect">
            <a:avLst/>
          </a:prstGeom>
          <a:ln>
            <a:solidFill>
              <a:schemeClr val="tx1"/>
            </a:solidFill>
          </a:ln>
        </p:spPr>
      </p:pic>
      <p:pic>
        <p:nvPicPr>
          <p:cNvPr id="5" name="圖片 4">
            <a:extLst>
              <a:ext uri="{FF2B5EF4-FFF2-40B4-BE49-F238E27FC236}">
                <a16:creationId xmlns:a16="http://schemas.microsoft.com/office/drawing/2014/main" id="{0A54DDA0-D7D9-934B-CADA-28D4CD4ECFFB}"/>
              </a:ext>
            </a:extLst>
          </p:cNvPr>
          <p:cNvPicPr>
            <a:picLocks noChangeAspect="1"/>
          </p:cNvPicPr>
          <p:nvPr/>
        </p:nvPicPr>
        <p:blipFill>
          <a:blip r:embed="rId3"/>
          <a:stretch>
            <a:fillRect/>
          </a:stretch>
        </p:blipFill>
        <p:spPr>
          <a:xfrm>
            <a:off x="7558685" y="3429000"/>
            <a:ext cx="3832063" cy="3189142"/>
          </a:xfrm>
          <a:prstGeom prst="rect">
            <a:avLst/>
          </a:prstGeom>
          <a:ln>
            <a:solidFill>
              <a:schemeClr val="tx1"/>
            </a:solidFill>
          </a:ln>
        </p:spPr>
      </p:pic>
    </p:spTree>
    <p:extLst>
      <p:ext uri="{BB962C8B-B14F-4D97-AF65-F5344CB8AC3E}">
        <p14:creationId xmlns:p14="http://schemas.microsoft.com/office/powerpoint/2010/main" val="2220156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D0C688-1225-4A63-42C3-408E99DB6351}"/>
              </a:ext>
            </a:extLst>
          </p:cNvPr>
          <p:cNvSpPr>
            <a:spLocks noGrp="1"/>
          </p:cNvSpPr>
          <p:nvPr>
            <p:ph type="title"/>
          </p:nvPr>
        </p:nvSpPr>
        <p:spPr/>
        <p:txBody>
          <a:bodyPr/>
          <a:lstStyle/>
          <a:p>
            <a:r>
              <a:rPr kumimoji="1" lang="zh-TW" altLang="en-US" dirty="0"/>
              <a:t>降維</a:t>
            </a:r>
            <a:r>
              <a:rPr kumimoji="1" lang="en-US" altLang="zh-TW" dirty="0"/>
              <a:t>-PCA-</a:t>
            </a:r>
            <a:r>
              <a:rPr kumimoji="1" lang="zh-TW" altLang="en-US" dirty="0"/>
              <a:t>特徵值</a:t>
            </a:r>
          </a:p>
        </p:txBody>
      </p:sp>
      <p:sp>
        <p:nvSpPr>
          <p:cNvPr id="3" name="內容版面配置區 2">
            <a:extLst>
              <a:ext uri="{FF2B5EF4-FFF2-40B4-BE49-F238E27FC236}">
                <a16:creationId xmlns:a16="http://schemas.microsoft.com/office/drawing/2014/main" id="{EF95F704-BAD8-0D90-9D26-5532F0EAEA84}"/>
              </a:ext>
            </a:extLst>
          </p:cNvPr>
          <p:cNvSpPr>
            <a:spLocks noGrp="1"/>
          </p:cNvSpPr>
          <p:nvPr>
            <p:ph idx="1"/>
          </p:nvPr>
        </p:nvSpPr>
        <p:spPr/>
        <p:txBody>
          <a:bodyPr/>
          <a:lstStyle/>
          <a:p>
            <a:r>
              <a:rPr kumimoji="1" lang="zh-TW" altLang="en-US" dirty="0"/>
              <a:t>同步用</a:t>
            </a:r>
            <a:r>
              <a:rPr kumimoji="1" lang="en-US" altLang="zh-TW" dirty="0"/>
              <a:t>scikit-learn</a:t>
            </a:r>
            <a:r>
              <a:rPr kumimoji="1" lang="zh-TW" altLang="en-US" dirty="0"/>
              <a:t>內建的</a:t>
            </a:r>
            <a:r>
              <a:rPr kumimoji="1" lang="en-US" altLang="zh-TW" dirty="0"/>
              <a:t>PCA</a:t>
            </a:r>
            <a:r>
              <a:rPr kumimoji="1" lang="zh-TW" altLang="en-US" dirty="0"/>
              <a:t>再來一次</a:t>
            </a:r>
            <a:endParaRPr kumimoji="1" lang="en-US" altLang="zh-TW" dirty="0"/>
          </a:p>
          <a:p>
            <a:pPr lvl="1"/>
            <a:r>
              <a:rPr kumimoji="1" lang="zh-TW" altLang="en-US" dirty="0"/>
              <a:t>不過</a:t>
            </a:r>
            <a:r>
              <a:rPr kumimoji="1" lang="en-US" altLang="zh-TW" dirty="0"/>
              <a:t>scikit-learn</a:t>
            </a:r>
            <a:r>
              <a:rPr kumimoji="1" lang="zh-TW" altLang="en-US" dirty="0"/>
              <a:t>的</a:t>
            </a:r>
            <a:r>
              <a:rPr kumimoji="1" lang="en-US" altLang="zh-TW" dirty="0"/>
              <a:t>PCA</a:t>
            </a:r>
            <a:r>
              <a:rPr kumimoji="1" lang="zh-TW" altLang="en-US" dirty="0"/>
              <a:t>裡面的程式是呼叫</a:t>
            </a:r>
            <a:r>
              <a:rPr kumimoji="1" lang="en-US" altLang="zh-TW" dirty="0" err="1"/>
              <a:t>numpy</a:t>
            </a:r>
            <a:r>
              <a:rPr kumimoji="1" lang="zh-TW" altLang="en-US" dirty="0"/>
              <a:t>的</a:t>
            </a:r>
            <a:r>
              <a:rPr kumimoji="1" lang="en-US" altLang="zh-TW" dirty="0"/>
              <a:t>SVD</a:t>
            </a:r>
            <a:r>
              <a:rPr kumimoji="1" lang="zh-TW" altLang="en-US" dirty="0"/>
              <a:t>在做計算就是</a:t>
            </a:r>
          </a:p>
        </p:txBody>
      </p:sp>
      <p:pic>
        <p:nvPicPr>
          <p:cNvPr id="4" name="圖片 3">
            <a:extLst>
              <a:ext uri="{FF2B5EF4-FFF2-40B4-BE49-F238E27FC236}">
                <a16:creationId xmlns:a16="http://schemas.microsoft.com/office/drawing/2014/main" id="{E43AC1E7-0216-95ED-8020-28140BA72ECE}"/>
              </a:ext>
            </a:extLst>
          </p:cNvPr>
          <p:cNvPicPr>
            <a:picLocks noChangeAspect="1"/>
          </p:cNvPicPr>
          <p:nvPr/>
        </p:nvPicPr>
        <p:blipFill>
          <a:blip r:embed="rId2"/>
          <a:stretch>
            <a:fillRect/>
          </a:stretch>
        </p:blipFill>
        <p:spPr>
          <a:xfrm>
            <a:off x="2209800" y="2658996"/>
            <a:ext cx="7772400" cy="4104303"/>
          </a:xfrm>
          <a:prstGeom prst="rect">
            <a:avLst/>
          </a:prstGeom>
          <a:ln>
            <a:solidFill>
              <a:schemeClr val="tx1"/>
            </a:solidFill>
          </a:ln>
        </p:spPr>
      </p:pic>
    </p:spTree>
    <p:extLst>
      <p:ext uri="{BB962C8B-B14F-4D97-AF65-F5344CB8AC3E}">
        <p14:creationId xmlns:p14="http://schemas.microsoft.com/office/powerpoint/2010/main" val="3258973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0088D5-C441-13DF-823E-93998CB10D67}"/>
              </a:ext>
            </a:extLst>
          </p:cNvPr>
          <p:cNvSpPr>
            <a:spLocks noGrp="1"/>
          </p:cNvSpPr>
          <p:nvPr>
            <p:ph type="title"/>
          </p:nvPr>
        </p:nvSpPr>
        <p:spPr/>
        <p:txBody>
          <a:bodyPr/>
          <a:lstStyle/>
          <a:p>
            <a:r>
              <a:rPr kumimoji="1" lang="zh-TW" altLang="en-US" dirty="0"/>
              <a:t>降維</a:t>
            </a:r>
            <a:r>
              <a:rPr kumimoji="1" lang="en-US" altLang="zh-TW" dirty="0"/>
              <a:t>-PCA-</a:t>
            </a:r>
            <a:r>
              <a:rPr kumimoji="1" lang="zh-TW" altLang="en-US" dirty="0"/>
              <a:t>特徵值</a:t>
            </a:r>
          </a:p>
        </p:txBody>
      </p:sp>
      <p:sp>
        <p:nvSpPr>
          <p:cNvPr id="3" name="內容版面配置區 2">
            <a:extLst>
              <a:ext uri="{FF2B5EF4-FFF2-40B4-BE49-F238E27FC236}">
                <a16:creationId xmlns:a16="http://schemas.microsoft.com/office/drawing/2014/main" id="{B3993B59-5ED6-FE20-9BAF-66AC64D83165}"/>
              </a:ext>
            </a:extLst>
          </p:cNvPr>
          <p:cNvSpPr>
            <a:spLocks noGrp="1"/>
          </p:cNvSpPr>
          <p:nvPr>
            <p:ph idx="1"/>
          </p:nvPr>
        </p:nvSpPr>
        <p:spPr>
          <a:xfrm>
            <a:off x="838200" y="1825624"/>
            <a:ext cx="10515600" cy="4783897"/>
          </a:xfrm>
        </p:spPr>
        <p:txBody>
          <a:bodyPr>
            <a:normAutofit/>
          </a:bodyPr>
          <a:lstStyle/>
          <a:p>
            <a:r>
              <a:rPr kumimoji="1" lang="zh-TW" altLang="en-US" dirty="0"/>
              <a:t>比較一下</a:t>
            </a:r>
            <a:endParaRPr kumimoji="1" lang="en-US" altLang="zh-TW" dirty="0"/>
          </a:p>
          <a:p>
            <a:r>
              <a:rPr kumimoji="1" lang="zh-TW" altLang="en-US" dirty="0"/>
              <a:t>使用</a:t>
            </a:r>
            <a:r>
              <a:rPr kumimoji="1" lang="en-US" altLang="zh-TW" dirty="0"/>
              <a:t>MNIST</a:t>
            </a:r>
            <a:r>
              <a:rPr kumimoji="1" lang="zh-TW" altLang="en-US" dirty="0"/>
              <a:t>資料集，比較有沒有使用</a:t>
            </a:r>
            <a:r>
              <a:rPr kumimoji="1" lang="en-US" altLang="zh-TW" dirty="0"/>
              <a:t>PCA</a:t>
            </a:r>
            <a:r>
              <a:rPr kumimoji="1" lang="zh-TW" altLang="en-US" dirty="0"/>
              <a:t>之後的結果</a:t>
            </a:r>
            <a:endParaRPr kumimoji="1" lang="en-US" altLang="zh-TW" dirty="0"/>
          </a:p>
          <a:p>
            <a:r>
              <a:rPr lang="en" altLang="zh-TW" b="0" i="0" dirty="0">
                <a:solidFill>
                  <a:srgbClr val="000000"/>
                </a:solidFill>
                <a:effectLst/>
                <a:highlight>
                  <a:srgbClr val="FFFFFF"/>
                </a:highlight>
                <a:latin typeface="Inter"/>
                <a:hlinkClick r:id="rId2"/>
              </a:rPr>
              <a:t>https://www.kaggle.com/code/leonjye/mnist-comparison-original-image-vs-pca-reduced</a:t>
            </a:r>
            <a:endParaRPr kumimoji="1" lang="en-US" altLang="zh-TW" b="0" i="0" dirty="0">
              <a:solidFill>
                <a:srgbClr val="000000"/>
              </a:solidFill>
              <a:effectLst/>
              <a:highlight>
                <a:srgbClr val="FFFFFF"/>
              </a:highlight>
              <a:latin typeface="Inter"/>
            </a:endParaRPr>
          </a:p>
          <a:p>
            <a:r>
              <a:rPr kumimoji="1" lang="zh-TW" altLang="en-US" dirty="0">
                <a:solidFill>
                  <a:srgbClr val="000000"/>
                </a:solidFill>
                <a:highlight>
                  <a:srgbClr val="FFFFFF"/>
                </a:highlight>
                <a:latin typeface="Inter"/>
              </a:rPr>
              <a:t>怎麼知道要縮減到多少個主成份？</a:t>
            </a:r>
            <a:endParaRPr kumimoji="1" lang="en-US" altLang="zh-TW" dirty="0">
              <a:solidFill>
                <a:srgbClr val="000000"/>
              </a:solidFill>
              <a:highlight>
                <a:srgbClr val="FFFFFF"/>
              </a:highlight>
              <a:latin typeface="Inter"/>
            </a:endParaRPr>
          </a:p>
          <a:p>
            <a:pPr lvl="1"/>
            <a:r>
              <a:rPr kumimoji="1" lang="zh-TW" altLang="en-US" dirty="0"/>
              <a:t>答案是從由累積貢獻比率 </a:t>
            </a:r>
            <a:r>
              <a:rPr kumimoji="1" lang="en-US" altLang="zh-TW" dirty="0"/>
              <a:t>(Cumulative Proportion)</a:t>
            </a:r>
            <a:r>
              <a:rPr kumimoji="1" lang="zh-TW" altLang="en-US" dirty="0"/>
              <a:t>去決定需要取多少主要成分出來。</a:t>
            </a:r>
            <a:endParaRPr kumimoji="1" lang="en-US" altLang="zh-TW" dirty="0"/>
          </a:p>
          <a:p>
            <a:pPr lvl="1"/>
            <a:r>
              <a:rPr kumimoji="1" lang="zh-TW" altLang="en-US" dirty="0"/>
              <a:t>累積貢獻比率 </a:t>
            </a:r>
            <a:r>
              <a:rPr kumimoji="1" lang="en-US" altLang="zh-TW" dirty="0"/>
              <a:t>(Cumulative Proportion)</a:t>
            </a:r>
            <a:r>
              <a:rPr kumimoji="1" lang="zh-TW" altLang="en-US" dirty="0"/>
              <a:t>指的是從最重要的主成份開始往次重要的主成份到最不重要的主成份的變異量百分比累積</a:t>
            </a:r>
            <a:endParaRPr kumimoji="1" lang="en-US" altLang="zh-TW" dirty="0"/>
          </a:p>
          <a:p>
            <a:pPr lvl="1"/>
            <a:endParaRPr kumimoji="1" lang="zh-TW" altLang="en-US" dirty="0"/>
          </a:p>
          <a:p>
            <a:endParaRPr kumimoji="1" lang="zh-TW" altLang="en-US" dirty="0"/>
          </a:p>
          <a:p>
            <a:endParaRPr kumimoji="1" lang="en-US" altLang="zh-TW" dirty="0"/>
          </a:p>
        </p:txBody>
      </p:sp>
    </p:spTree>
    <p:extLst>
      <p:ext uri="{BB962C8B-B14F-4D97-AF65-F5344CB8AC3E}">
        <p14:creationId xmlns:p14="http://schemas.microsoft.com/office/powerpoint/2010/main" val="456718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4C0BCD-A016-F62B-F18D-6D3C3A383985}"/>
              </a:ext>
            </a:extLst>
          </p:cNvPr>
          <p:cNvSpPr>
            <a:spLocks noGrp="1"/>
          </p:cNvSpPr>
          <p:nvPr>
            <p:ph type="title"/>
          </p:nvPr>
        </p:nvSpPr>
        <p:spPr/>
        <p:txBody>
          <a:bodyPr/>
          <a:lstStyle/>
          <a:p>
            <a:r>
              <a:rPr kumimoji="1" lang="zh-TW" altLang="en-US" dirty="0"/>
              <a:t>降維</a:t>
            </a:r>
            <a:r>
              <a:rPr kumimoji="1" lang="en-US" altLang="zh-TW" dirty="0"/>
              <a:t>-PCA-</a:t>
            </a:r>
            <a:r>
              <a:rPr kumimoji="1" lang="zh-TW" altLang="en-US" dirty="0"/>
              <a:t>特徵值</a:t>
            </a:r>
          </a:p>
        </p:txBody>
      </p:sp>
      <p:sp>
        <p:nvSpPr>
          <p:cNvPr id="3" name="內容版面配置區 2">
            <a:extLst>
              <a:ext uri="{FF2B5EF4-FFF2-40B4-BE49-F238E27FC236}">
                <a16:creationId xmlns:a16="http://schemas.microsoft.com/office/drawing/2014/main" id="{C9781DA1-184D-4528-B92A-7A6E9E9E3C76}"/>
              </a:ext>
            </a:extLst>
          </p:cNvPr>
          <p:cNvSpPr>
            <a:spLocks noGrp="1"/>
          </p:cNvSpPr>
          <p:nvPr>
            <p:ph idx="1"/>
          </p:nvPr>
        </p:nvSpPr>
        <p:spPr/>
        <p:txBody>
          <a:bodyPr/>
          <a:lstStyle/>
          <a:p>
            <a:r>
              <a:rPr kumimoji="1" lang="zh-TW" altLang="en-US" dirty="0"/>
              <a:t>累積貢獻比率 </a:t>
            </a:r>
            <a:r>
              <a:rPr kumimoji="1" lang="en-US" altLang="zh-TW" dirty="0"/>
              <a:t>(</a:t>
            </a:r>
            <a:r>
              <a:rPr lang="en" altLang="zh-TW" dirty="0"/>
              <a:t>Cumulative Proportion</a:t>
            </a:r>
            <a:r>
              <a:rPr lang="zh-TW" altLang="en-US" dirty="0"/>
              <a:t> </a:t>
            </a:r>
            <a:r>
              <a:rPr kumimoji="1" lang="en-US" altLang="zh-TW" dirty="0"/>
              <a:t>)</a:t>
            </a:r>
          </a:p>
          <a:p>
            <a:r>
              <a:rPr kumimoji="1" lang="zh-TW" altLang="en-US" dirty="0"/>
              <a:t>以</a:t>
            </a:r>
            <a:r>
              <a:rPr kumimoji="1" lang="en-US" altLang="zh-TW" dirty="0"/>
              <a:t>MNIST</a:t>
            </a:r>
            <a:r>
              <a:rPr kumimoji="1" lang="zh-TW" altLang="en-US" dirty="0"/>
              <a:t>為例的話，約</a:t>
            </a:r>
            <a:r>
              <a:rPr kumimoji="1" lang="en-US" altLang="zh-TW" dirty="0"/>
              <a:t>154</a:t>
            </a:r>
            <a:r>
              <a:rPr kumimoji="1" lang="zh-TW" altLang="en-US" dirty="0"/>
              <a:t>個</a:t>
            </a:r>
            <a:r>
              <a:rPr kumimoji="1" lang="en-US" altLang="zh-TW" dirty="0"/>
              <a:t>PCs</a:t>
            </a:r>
            <a:r>
              <a:rPr kumimoji="1" lang="zh-TW" altLang="en-US" dirty="0"/>
              <a:t>就可以達到</a:t>
            </a:r>
            <a:r>
              <a:rPr kumimoji="1" lang="en-US" altLang="zh-TW" dirty="0"/>
              <a:t>95%</a:t>
            </a:r>
            <a:r>
              <a:rPr kumimoji="1" lang="zh-TW" altLang="en-US" dirty="0"/>
              <a:t>的解釋程度</a:t>
            </a:r>
          </a:p>
        </p:txBody>
      </p:sp>
      <p:sp>
        <p:nvSpPr>
          <p:cNvPr id="5" name="文字方塊 4">
            <a:extLst>
              <a:ext uri="{FF2B5EF4-FFF2-40B4-BE49-F238E27FC236}">
                <a16:creationId xmlns:a16="http://schemas.microsoft.com/office/drawing/2014/main" id="{DE352DD2-8994-9AA5-402D-BA6D17187F89}"/>
              </a:ext>
            </a:extLst>
          </p:cNvPr>
          <p:cNvSpPr txBox="1"/>
          <p:nvPr/>
        </p:nvSpPr>
        <p:spPr>
          <a:xfrm>
            <a:off x="308113" y="2762289"/>
            <a:ext cx="6311348" cy="3970318"/>
          </a:xfrm>
          <a:prstGeom prst="rect">
            <a:avLst/>
          </a:prstGeom>
          <a:solidFill>
            <a:schemeClr val="bg1">
              <a:lumMod val="95000"/>
            </a:schemeClr>
          </a:solidFill>
          <a:ln>
            <a:solidFill>
              <a:schemeClr val="tx1"/>
            </a:solidFill>
          </a:ln>
        </p:spPr>
        <p:txBody>
          <a:bodyPr wrap="square">
            <a:spAutoFit/>
          </a:bodyPr>
          <a:lstStyle/>
          <a:p>
            <a:r>
              <a:rPr lang="zh-TW" altLang="en-US" sz="1400" dirty="0"/>
              <a:t>pca = PCA(n_components=200) </a:t>
            </a:r>
          </a:p>
          <a:p>
            <a:r>
              <a:rPr lang="zh-TW" altLang="en-US" sz="1400" dirty="0"/>
              <a:t>X_reduced = pca.fit_transform(trainset.data.numpy().reshape(60000, 28*28))</a:t>
            </a:r>
          </a:p>
          <a:p>
            <a:r>
              <a:rPr lang="zh-TW" altLang="en-US" sz="1400" dirty="0"/>
              <a:t># Explained variance ratio</a:t>
            </a:r>
          </a:p>
          <a:p>
            <a:r>
              <a:rPr lang="zh-TW" altLang="en-US" sz="1400" dirty="0"/>
              <a:t>explained_variance_ratio = pca.explained_variance_ratio_</a:t>
            </a:r>
          </a:p>
          <a:p>
            <a:r>
              <a:rPr lang="zh-TW" altLang="en-US" sz="1400" dirty="0"/>
              <a:t>total_explained_variance_ratio = explained_variance_ratio.sum()</a:t>
            </a:r>
          </a:p>
          <a:p>
            <a:endParaRPr lang="zh-TW" altLang="en-US" sz="1400" dirty="0"/>
          </a:p>
          <a:p>
            <a:r>
              <a:rPr lang="zh-TW" altLang="en-US" sz="1400" dirty="0"/>
              <a:t># Print results</a:t>
            </a:r>
          </a:p>
          <a:p>
            <a:r>
              <a:rPr lang="zh-TW" altLang="en-US" sz="1400" dirty="0"/>
              <a:t>print(f"\nExplained Variance Ratio:\n{explained_variance_ratio}")</a:t>
            </a:r>
          </a:p>
          <a:p>
            <a:r>
              <a:rPr lang="zh-TW" altLang="en-US" sz="1400" dirty="0"/>
              <a:t>print(f"Total Explained Variance Ratio: {total_explained_variance_ratio:.4f}")</a:t>
            </a:r>
          </a:p>
          <a:p>
            <a:endParaRPr lang="zh-TW" altLang="en-US" sz="1400" dirty="0"/>
          </a:p>
          <a:p>
            <a:r>
              <a:rPr lang="zh-TW" altLang="en-US" sz="1400" dirty="0"/>
              <a:t>import numpy as np</a:t>
            </a:r>
          </a:p>
          <a:p>
            <a:r>
              <a:rPr lang="zh-TW" altLang="en-US" sz="1400" dirty="0"/>
              <a:t># Plot explained variance ratio</a:t>
            </a:r>
          </a:p>
          <a:p>
            <a:r>
              <a:rPr lang="zh-TW" altLang="en-US" sz="1400" dirty="0"/>
              <a:t>cumulative_variance_ratio = np.cumsum(explained_variance_ratio)</a:t>
            </a:r>
          </a:p>
          <a:p>
            <a:r>
              <a:rPr lang="zh-TW" altLang="en-US" sz="1400" dirty="0"/>
              <a:t>plt.plot(cumulative_variance_ratio, marker='o')</a:t>
            </a:r>
          </a:p>
          <a:p>
            <a:r>
              <a:rPr lang="zh-TW" altLang="en-US" sz="1400" dirty="0"/>
              <a:t>plt.xlabel('Number of Principal Components')</a:t>
            </a:r>
          </a:p>
          <a:p>
            <a:r>
              <a:rPr lang="zh-TW" altLang="en-US" sz="1400" dirty="0"/>
              <a:t>plt.ylabel('Cumulative Explained Variance Ratio')</a:t>
            </a:r>
          </a:p>
          <a:p>
            <a:r>
              <a:rPr lang="zh-TW" altLang="en-US" sz="1400" dirty="0"/>
              <a:t>plt.title('Cumulative Explained Variance Ratio by Principal Components')</a:t>
            </a:r>
          </a:p>
          <a:p>
            <a:r>
              <a:rPr lang="zh-TW" altLang="en-US" sz="1400" dirty="0"/>
              <a:t>plt.show()</a:t>
            </a:r>
          </a:p>
        </p:txBody>
      </p:sp>
      <p:pic>
        <p:nvPicPr>
          <p:cNvPr id="6" name="圖片 5">
            <a:extLst>
              <a:ext uri="{FF2B5EF4-FFF2-40B4-BE49-F238E27FC236}">
                <a16:creationId xmlns:a16="http://schemas.microsoft.com/office/drawing/2014/main" id="{458E10F2-ABF4-BEA7-4296-C510C589731B}"/>
              </a:ext>
            </a:extLst>
          </p:cNvPr>
          <p:cNvPicPr>
            <a:picLocks noChangeAspect="1"/>
          </p:cNvPicPr>
          <p:nvPr/>
        </p:nvPicPr>
        <p:blipFill>
          <a:blip r:embed="rId2"/>
          <a:stretch>
            <a:fillRect/>
          </a:stretch>
        </p:blipFill>
        <p:spPr>
          <a:xfrm>
            <a:off x="6808304" y="2758113"/>
            <a:ext cx="5075583" cy="3934016"/>
          </a:xfrm>
          <a:prstGeom prst="rect">
            <a:avLst/>
          </a:prstGeom>
          <a:ln>
            <a:solidFill>
              <a:schemeClr val="tx1"/>
            </a:solidFill>
          </a:ln>
        </p:spPr>
      </p:pic>
    </p:spTree>
    <p:extLst>
      <p:ext uri="{BB962C8B-B14F-4D97-AF65-F5344CB8AC3E}">
        <p14:creationId xmlns:p14="http://schemas.microsoft.com/office/powerpoint/2010/main" val="2319889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1CD060-70EB-5020-1CB8-9870FA0CE6F4}"/>
              </a:ext>
            </a:extLst>
          </p:cNvPr>
          <p:cNvSpPr>
            <a:spLocks noGrp="1"/>
          </p:cNvSpPr>
          <p:nvPr>
            <p:ph type="title"/>
          </p:nvPr>
        </p:nvSpPr>
        <p:spPr/>
        <p:txBody>
          <a:bodyPr/>
          <a:lstStyle/>
          <a:p>
            <a:r>
              <a:rPr kumimoji="1" lang="zh-TW" altLang="en-US" dirty="0"/>
              <a:t>降維</a:t>
            </a:r>
            <a:r>
              <a:rPr kumimoji="1" lang="en-US" altLang="zh-TW" dirty="0"/>
              <a:t>-PCA</a:t>
            </a:r>
            <a:endParaRPr kumimoji="1" lang="zh-TW" altLang="en-US" dirty="0"/>
          </a:p>
        </p:txBody>
      </p:sp>
      <p:sp>
        <p:nvSpPr>
          <p:cNvPr id="3" name="內容版面配置區 2">
            <a:extLst>
              <a:ext uri="{FF2B5EF4-FFF2-40B4-BE49-F238E27FC236}">
                <a16:creationId xmlns:a16="http://schemas.microsoft.com/office/drawing/2014/main" id="{60F076F5-8F4D-2EC0-3808-0B8DA02E6479}"/>
              </a:ext>
            </a:extLst>
          </p:cNvPr>
          <p:cNvSpPr>
            <a:spLocks noGrp="1"/>
          </p:cNvSpPr>
          <p:nvPr>
            <p:ph idx="1"/>
          </p:nvPr>
        </p:nvSpPr>
        <p:spPr/>
        <p:txBody>
          <a:bodyPr/>
          <a:lstStyle/>
          <a:p>
            <a:r>
              <a:rPr kumimoji="1" lang="zh-TW" altLang="en-US" dirty="0"/>
              <a:t>保留</a:t>
            </a:r>
            <a:r>
              <a:rPr kumimoji="1" lang="en-US" altLang="zh-TW" dirty="0"/>
              <a:t>154</a:t>
            </a:r>
            <a:r>
              <a:rPr kumimoji="1" lang="zh-TW" altLang="en-US" dirty="0"/>
              <a:t>個主成份進行比較</a:t>
            </a:r>
          </a:p>
        </p:txBody>
      </p:sp>
      <p:pic>
        <p:nvPicPr>
          <p:cNvPr id="4" name="圖片 3">
            <a:extLst>
              <a:ext uri="{FF2B5EF4-FFF2-40B4-BE49-F238E27FC236}">
                <a16:creationId xmlns:a16="http://schemas.microsoft.com/office/drawing/2014/main" id="{4A3246EB-1D24-3DA0-612F-A35F7A836143}"/>
              </a:ext>
            </a:extLst>
          </p:cNvPr>
          <p:cNvPicPr>
            <a:picLocks noChangeAspect="1"/>
          </p:cNvPicPr>
          <p:nvPr/>
        </p:nvPicPr>
        <p:blipFill>
          <a:blip r:embed="rId2"/>
          <a:stretch>
            <a:fillRect/>
          </a:stretch>
        </p:blipFill>
        <p:spPr>
          <a:xfrm>
            <a:off x="399826" y="2690488"/>
            <a:ext cx="11392347" cy="2278470"/>
          </a:xfrm>
          <a:prstGeom prst="rect">
            <a:avLst/>
          </a:prstGeom>
        </p:spPr>
      </p:pic>
    </p:spTree>
    <p:extLst>
      <p:ext uri="{BB962C8B-B14F-4D97-AF65-F5344CB8AC3E}">
        <p14:creationId xmlns:p14="http://schemas.microsoft.com/office/powerpoint/2010/main" val="26978243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D07CFA-6E32-7BCF-2B78-B09B5DACFA60}"/>
              </a:ext>
            </a:extLst>
          </p:cNvPr>
          <p:cNvSpPr>
            <a:spLocks noGrp="1"/>
          </p:cNvSpPr>
          <p:nvPr>
            <p:ph type="title"/>
          </p:nvPr>
        </p:nvSpPr>
        <p:spPr/>
        <p:txBody>
          <a:bodyPr/>
          <a:lstStyle/>
          <a:p>
            <a:r>
              <a:rPr kumimoji="1" lang="zh-TW" altLang="en" dirty="0"/>
              <a:t>奇</a:t>
            </a:r>
            <a:r>
              <a:rPr kumimoji="1" lang="zh-TW" altLang="en-US" dirty="0"/>
              <a:t>異值分解</a:t>
            </a:r>
            <a:br>
              <a:rPr kumimoji="1" lang="en-US" altLang="zh-TW" dirty="0"/>
            </a:br>
            <a:r>
              <a:rPr kumimoji="1" lang="en" altLang="zh-TW" dirty="0"/>
              <a:t>Singular Value Decomposition</a:t>
            </a:r>
            <a:r>
              <a:rPr kumimoji="1" lang="en-US" altLang="zh-TW" dirty="0"/>
              <a:t>,</a:t>
            </a:r>
            <a:r>
              <a:rPr kumimoji="1" lang="zh-TW" altLang="en-US" dirty="0"/>
              <a:t> </a:t>
            </a:r>
            <a:r>
              <a:rPr kumimoji="1" lang="en-US" altLang="zh-TW" dirty="0"/>
              <a:t>SVD</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3D3AD7DB-07DD-1C62-BFD9-71E152FE87A4}"/>
                  </a:ext>
                </a:extLst>
              </p:cNvPr>
              <p:cNvSpPr>
                <a:spLocks noGrp="1"/>
              </p:cNvSpPr>
              <p:nvPr>
                <p:ph idx="1"/>
              </p:nvPr>
            </p:nvSpPr>
            <p:spPr/>
            <p:txBody>
              <a:bodyPr>
                <a:normAutofit fontScale="92500" lnSpcReduction="10000"/>
              </a:bodyPr>
              <a:lstStyle/>
              <a:p>
                <a:pPr>
                  <a:lnSpc>
                    <a:spcPct val="100000"/>
                  </a:lnSpc>
                  <a:spcBef>
                    <a:spcPts val="0"/>
                  </a:spcBef>
                </a:pPr>
                <a:r>
                  <a:rPr kumimoji="1" lang="zh-TW" altLang="en-US" dirty="0"/>
                  <a:t>另一種跟</a:t>
                </a:r>
                <a:r>
                  <a:rPr kumimoji="1" lang="en-US" altLang="zh-TW" dirty="0"/>
                  <a:t>PCA</a:t>
                </a:r>
                <a:r>
                  <a:rPr kumimoji="1" lang="zh-TW" altLang="en-US" dirty="0"/>
                  <a:t>有關的矩陣分解手法</a:t>
                </a:r>
                <a:endParaRPr kumimoji="1" lang="en-US" altLang="zh-TW" dirty="0"/>
              </a:p>
              <a:p>
                <a:pPr>
                  <a:lnSpc>
                    <a:spcPct val="100000"/>
                  </a:lnSpc>
                  <a:spcBef>
                    <a:spcPts val="0"/>
                  </a:spcBef>
                </a:pPr>
                <a:r>
                  <a:rPr kumimoji="1" lang="zh-TW" altLang="en-US" dirty="0"/>
                  <a:t>計算過程如下</a:t>
                </a:r>
                <a:endParaRPr kumimoji="1" lang="en-US" altLang="zh-TW" dirty="0"/>
              </a:p>
              <a:p>
                <a:pPr>
                  <a:lnSpc>
                    <a:spcPct val="100000"/>
                  </a:lnSpc>
                  <a:spcBef>
                    <a:spcPts val="0"/>
                  </a:spcBef>
                </a:pPr>
                <a:r>
                  <a:rPr kumimoji="1" lang="zh-TW" altLang="en-US" dirty="0"/>
                  <a:t>假設</a:t>
                </a:r>
                <a14:m>
                  <m:oMath xmlns:m="http://schemas.openxmlformats.org/officeDocument/2006/math">
                    <m:r>
                      <a:rPr kumimoji="1" lang="en-US" altLang="zh-TW" b="0" i="1" smtClean="0">
                        <a:latin typeface="Cambria Math" panose="02040503050406030204" pitchFamily="18" charset="0"/>
                      </a:rPr>
                      <m:t>𝐴</m:t>
                    </m:r>
                  </m:oMath>
                </a14:m>
                <a:r>
                  <a:rPr kumimoji="1" lang="zh-TW" altLang="en-US" dirty="0"/>
                  <a:t>是一個</a:t>
                </a:r>
                <a14:m>
                  <m:oMath xmlns:m="http://schemas.openxmlformats.org/officeDocument/2006/math">
                    <m:r>
                      <a:rPr kumimoji="1" lang="en-US" altLang="zh-TW" b="0" i="1" smtClean="0">
                        <a:latin typeface="Cambria Math" panose="02040503050406030204" pitchFamily="18" charset="0"/>
                      </a:rPr>
                      <m:t>𝑚𝑥𝑛</m:t>
                    </m:r>
                  </m:oMath>
                </a14:m>
                <a:r>
                  <a:rPr kumimoji="1" lang="zh-TW" altLang="en-US" dirty="0"/>
                  <a:t>的矩陣，那麼會存在一個分解使得</a:t>
                </a:r>
                <a:endParaRPr kumimoji="1" lang="en-US" altLang="zh-TW" dirty="0"/>
              </a:p>
              <a:p>
                <a:pPr marL="0" indent="0">
                  <a:lnSpc>
                    <a:spcPct val="100000"/>
                  </a:lnSpc>
                  <a:spcBef>
                    <a:spcPts val="0"/>
                  </a:spcBef>
                  <a:buNone/>
                </a:pPr>
                <a14:m>
                  <m:oMathPara xmlns:m="http://schemas.openxmlformats.org/officeDocument/2006/math">
                    <m:oMathParaPr>
                      <m:jc m:val="center"/>
                    </m:oMathParaPr>
                    <m:oMath xmlns:m="http://schemas.openxmlformats.org/officeDocument/2006/math">
                      <m:sSub>
                        <m:sSubPr>
                          <m:ctrlPr>
                            <a:rPr kumimoji="1" lang="en-US" altLang="zh-TW" i="1" smtClean="0">
                              <a:latin typeface="Cambria Math" panose="02040503050406030204" pitchFamily="18" charset="0"/>
                            </a:rPr>
                          </m:ctrlPr>
                        </m:sSubPr>
                        <m:e>
                          <m:r>
                            <a:rPr kumimoji="1" lang="en-US" altLang="zh-TW" b="0" i="1" smtClean="0">
                              <a:latin typeface="Cambria Math" panose="02040503050406030204" pitchFamily="18" charset="0"/>
                            </a:rPr>
                            <m:t>𝐴</m:t>
                          </m:r>
                        </m:e>
                        <m:sub>
                          <m:r>
                            <a:rPr kumimoji="1" lang="en-US" altLang="zh-TW" b="0" i="1" smtClean="0">
                              <a:latin typeface="Cambria Math" panose="02040503050406030204" pitchFamily="18" charset="0"/>
                            </a:rPr>
                            <m:t>𝑚𝑥𝑛</m:t>
                          </m:r>
                        </m:sub>
                      </m:sSub>
                      <m:r>
                        <a:rPr kumimoji="1" lang="en-US" altLang="zh-TW" b="0" i="1" smtClean="0">
                          <a:latin typeface="Cambria Math" panose="02040503050406030204" pitchFamily="18" charset="0"/>
                        </a:rPr>
                        <m:t>=</m:t>
                      </m:r>
                      <m:sSub>
                        <m:sSubPr>
                          <m:ctrlPr>
                            <a:rPr kumimoji="1" lang="en-US" altLang="zh-TW" b="0" i="1" smtClean="0">
                              <a:latin typeface="Cambria Math" panose="02040503050406030204" pitchFamily="18" charset="0"/>
                            </a:rPr>
                          </m:ctrlPr>
                        </m:sSubPr>
                        <m:e>
                          <m:r>
                            <a:rPr kumimoji="1" lang="en-US" altLang="zh-TW" b="0" i="1" smtClean="0">
                              <a:latin typeface="Cambria Math" panose="02040503050406030204" pitchFamily="18" charset="0"/>
                            </a:rPr>
                            <m:t>𝑈</m:t>
                          </m:r>
                        </m:e>
                        <m:sub>
                          <m:r>
                            <a:rPr kumimoji="1" lang="en-US" altLang="zh-TW" b="0" i="1" smtClean="0">
                              <a:latin typeface="Cambria Math" panose="02040503050406030204" pitchFamily="18" charset="0"/>
                            </a:rPr>
                            <m:t>𝑚𝑥𝑚</m:t>
                          </m:r>
                        </m:sub>
                      </m:sSub>
                      <m:sSub>
                        <m:sSubPr>
                          <m:ctrlPr>
                            <a:rPr kumimoji="1" lang="en-US" altLang="zh-TW" b="0" i="1" smtClean="0">
                              <a:latin typeface="Cambria Math" panose="02040503050406030204" pitchFamily="18" charset="0"/>
                            </a:rPr>
                          </m:ctrlPr>
                        </m:sSubPr>
                        <m:e>
                          <m:r>
                            <m:rPr>
                              <m:sty m:val="p"/>
                            </m:rPr>
                            <a:rPr kumimoji="1" lang="el-GR" altLang="zh-TW" b="0" i="1" smtClean="0">
                              <a:latin typeface="Cambria Math" panose="02040503050406030204" pitchFamily="18" charset="0"/>
                              <a:ea typeface="Cambria Math" panose="02040503050406030204" pitchFamily="18" charset="0"/>
                            </a:rPr>
                            <m:t>Σ</m:t>
                          </m:r>
                        </m:e>
                        <m:sub>
                          <m:r>
                            <a:rPr kumimoji="1" lang="en-US" altLang="zh-TW" b="0" i="1" smtClean="0">
                              <a:latin typeface="Cambria Math" panose="02040503050406030204" pitchFamily="18" charset="0"/>
                            </a:rPr>
                            <m:t>𝑚𝑥𝑛</m:t>
                          </m:r>
                        </m:sub>
                      </m:sSub>
                      <m:sSubSup>
                        <m:sSubSupPr>
                          <m:ctrlPr>
                            <a:rPr kumimoji="1" lang="en-US" altLang="zh-TW" b="0" i="1" smtClean="0">
                              <a:latin typeface="Cambria Math" panose="02040503050406030204" pitchFamily="18" charset="0"/>
                            </a:rPr>
                          </m:ctrlPr>
                        </m:sSubSupPr>
                        <m:e>
                          <m:r>
                            <a:rPr kumimoji="1" lang="en-US" altLang="zh-TW" b="0" i="1" smtClean="0">
                              <a:latin typeface="Cambria Math" panose="02040503050406030204" pitchFamily="18" charset="0"/>
                            </a:rPr>
                            <m:t>𝑉</m:t>
                          </m:r>
                        </m:e>
                        <m:sub>
                          <m:r>
                            <a:rPr kumimoji="1" lang="en-US" altLang="zh-TW" b="0" i="1" smtClean="0">
                              <a:latin typeface="Cambria Math" panose="02040503050406030204" pitchFamily="18" charset="0"/>
                            </a:rPr>
                            <m:t>𝑛𝑥𝑛</m:t>
                          </m:r>
                        </m:sub>
                        <m:sup>
                          <m:r>
                            <a:rPr kumimoji="1" lang="en-US" altLang="zh-TW" b="0" i="1" smtClean="0">
                              <a:latin typeface="Cambria Math" panose="02040503050406030204" pitchFamily="18" charset="0"/>
                            </a:rPr>
                            <m:t>𝑇</m:t>
                          </m:r>
                        </m:sup>
                      </m:sSubSup>
                    </m:oMath>
                  </m:oMathPara>
                </a14:m>
                <a:endParaRPr kumimoji="1" lang="en-US" altLang="zh-TW" dirty="0"/>
              </a:p>
              <a:p>
                <a:pPr marL="0" indent="0">
                  <a:lnSpc>
                    <a:spcPct val="100000"/>
                  </a:lnSpc>
                  <a:spcBef>
                    <a:spcPts val="0"/>
                  </a:spcBef>
                  <a:buNone/>
                </a:pPr>
                <a:r>
                  <a:rPr kumimoji="1" lang="zh-TW" altLang="en-US" dirty="0"/>
                  <a:t>其中</a:t>
                </a:r>
                <a:r>
                  <a:rPr kumimoji="1" lang="en-US" altLang="zh-TW" dirty="0"/>
                  <a:t>:</a:t>
                </a:r>
              </a:p>
              <a:p>
                <a:pPr marL="457200" lvl="1" indent="0">
                  <a:lnSpc>
                    <a:spcPct val="100000"/>
                  </a:lnSpc>
                  <a:spcBef>
                    <a:spcPts val="0"/>
                  </a:spcBef>
                  <a:buNone/>
                </a:pPr>
                <a:r>
                  <a:rPr kumimoji="1" lang="en-US" altLang="zh-TW" dirty="0"/>
                  <a:t>U</a:t>
                </a:r>
                <a:r>
                  <a:rPr kumimoji="1" lang="zh-TW" altLang="en-US" dirty="0"/>
                  <a:t>是一個</a:t>
                </a:r>
                <a:r>
                  <a:rPr kumimoji="1" lang="en-US" altLang="zh-TW" dirty="0" err="1"/>
                  <a:t>m×m</a:t>
                </a:r>
                <a:r>
                  <a:rPr kumimoji="1" lang="zh-TW" altLang="en-US" dirty="0"/>
                  <a:t>的正交矩陣</a:t>
                </a:r>
                <a:r>
                  <a:rPr kumimoji="1" lang="en-US" altLang="zh-TW" dirty="0"/>
                  <a:t>,</a:t>
                </a:r>
                <a:r>
                  <a:rPr kumimoji="1" lang="zh-TW" altLang="en-US" dirty="0"/>
                  <a:t>包含左奇異向量</a:t>
                </a:r>
              </a:p>
              <a:p>
                <a:pPr marL="457200" lvl="1" indent="0">
                  <a:lnSpc>
                    <a:spcPct val="100000"/>
                  </a:lnSpc>
                  <a:spcBef>
                    <a:spcPts val="0"/>
                  </a:spcBef>
                  <a:buNone/>
                </a:pPr>
                <a:r>
                  <a:rPr kumimoji="1" lang="el-GR" altLang="zh-TW" dirty="0"/>
                  <a:t>Σ</a:t>
                </a:r>
                <a:r>
                  <a:rPr kumimoji="1" lang="zh-TW" altLang="en-US" dirty="0"/>
                  <a:t>是一個</a:t>
                </a:r>
                <a:r>
                  <a:rPr kumimoji="1" lang="en-US" altLang="zh-TW" dirty="0" err="1"/>
                  <a:t>m×n</a:t>
                </a:r>
                <a:r>
                  <a:rPr kumimoji="1" lang="zh-TW" altLang="en-US" dirty="0"/>
                  <a:t>的對角矩陣</a:t>
                </a:r>
                <a:r>
                  <a:rPr kumimoji="1" lang="en-US" altLang="zh-TW" dirty="0"/>
                  <a:t>,</a:t>
                </a:r>
                <a:r>
                  <a:rPr kumimoji="1" lang="zh-TW" altLang="en-US" dirty="0"/>
                  <a:t>對角線上的元素為奇異值</a:t>
                </a:r>
                <a:r>
                  <a:rPr kumimoji="1" lang="en-US" altLang="zh-TW" dirty="0"/>
                  <a:t>(</a:t>
                </a:r>
                <a:r>
                  <a:rPr kumimoji="1" lang="zh-TW" altLang="en-US" dirty="0"/>
                  <a:t>由大到小排序</a:t>
                </a:r>
                <a:r>
                  <a:rPr kumimoji="1" lang="en-US" altLang="zh-TW" dirty="0"/>
                  <a:t>)</a:t>
                </a:r>
              </a:p>
              <a:p>
                <a:pPr marL="457200" lvl="1" indent="0">
                  <a:lnSpc>
                    <a:spcPct val="100000"/>
                  </a:lnSpc>
                  <a:spcBef>
                    <a:spcPts val="0"/>
                  </a:spcBef>
                  <a:buNone/>
                </a:pPr>
                <a:r>
                  <a:rPr kumimoji="1" lang="en-US" altLang="zh-TW" dirty="0"/>
                  <a:t>V</a:t>
                </a:r>
                <a:r>
                  <a:rPr kumimoji="1" lang="en-US" altLang="zh-TW" baseline="30000" dirty="0"/>
                  <a:t>T</a:t>
                </a:r>
                <a:r>
                  <a:rPr kumimoji="1" lang="zh-TW" altLang="en-US" dirty="0"/>
                  <a:t>是一個</a:t>
                </a:r>
                <a:r>
                  <a:rPr kumimoji="1" lang="en-US" altLang="zh-TW" dirty="0" err="1"/>
                  <a:t>n×n</a:t>
                </a:r>
                <a:r>
                  <a:rPr kumimoji="1" lang="zh-TW" altLang="en-US" dirty="0"/>
                  <a:t>的正交矩陣的轉置</a:t>
                </a:r>
                <a:r>
                  <a:rPr kumimoji="1" lang="en-US" altLang="zh-TW" dirty="0"/>
                  <a:t>,</a:t>
                </a:r>
                <a:r>
                  <a:rPr kumimoji="1" lang="zh-TW" altLang="en-US" dirty="0"/>
                  <a:t>包含右奇異向量</a:t>
                </a:r>
                <a:br>
                  <a:rPr kumimoji="1" lang="en-US" altLang="zh-TW" dirty="0"/>
                </a:br>
                <a:endParaRPr kumimoji="1" lang="en-US" altLang="zh-TW" dirty="0"/>
              </a:p>
              <a:p>
                <a:pPr>
                  <a:lnSpc>
                    <a:spcPct val="100000"/>
                  </a:lnSpc>
                  <a:spcBef>
                    <a:spcPts val="0"/>
                  </a:spcBef>
                </a:pPr>
                <a:r>
                  <a:rPr kumimoji="1" lang="zh-TW" altLang="en-US" b="0" dirty="0"/>
                  <a:t>假設：</a:t>
                </a:r>
                <a14:m>
                  <m:oMath xmlns:m="http://schemas.openxmlformats.org/officeDocument/2006/math">
                    <m:r>
                      <a:rPr kumimoji="1" lang="en-US" altLang="zh-TW" b="0" i="1" smtClean="0">
                        <a:latin typeface="Cambria Math" panose="02040503050406030204" pitchFamily="18" charset="0"/>
                      </a:rPr>
                      <m:t>𝐴</m:t>
                    </m:r>
                    <m:r>
                      <a:rPr kumimoji="1" lang="en-US" altLang="zh-TW" b="0" i="1" smtClean="0">
                        <a:latin typeface="Cambria Math" panose="02040503050406030204" pitchFamily="18" charset="0"/>
                      </a:rPr>
                      <m:t>=</m:t>
                    </m:r>
                    <m:d>
                      <m:dPr>
                        <m:begChr m:val="["/>
                        <m:endChr m:val="]"/>
                        <m:ctrlPr>
                          <a:rPr kumimoji="1" lang="en-US" altLang="zh-TW" b="0" i="1" smtClean="0">
                            <a:latin typeface="Cambria Math" panose="02040503050406030204" pitchFamily="18" charset="0"/>
                          </a:rPr>
                        </m:ctrlPr>
                      </m:dPr>
                      <m:e>
                        <m:m>
                          <m:mPr>
                            <m:mcs>
                              <m:mc>
                                <m:mcPr>
                                  <m:count m:val="2"/>
                                  <m:mcJc m:val="center"/>
                                </m:mcPr>
                              </m:mc>
                            </m:mcs>
                            <m:ctrlPr>
                              <a:rPr kumimoji="1" lang="en-US" altLang="zh-TW" b="0" i="1" smtClean="0">
                                <a:latin typeface="Cambria Math" panose="02040503050406030204" pitchFamily="18" charset="0"/>
                              </a:rPr>
                            </m:ctrlPr>
                          </m:mPr>
                          <m:mr>
                            <m:e>
                              <m:r>
                                <m:rPr>
                                  <m:brk m:alnAt="7"/>
                                </m:rP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1</m:t>
                              </m:r>
                            </m:e>
                            <m:e>
                              <m:r>
                                <a:rPr kumimoji="1" lang="en-US" altLang="zh-TW" b="0" i="1" smtClean="0">
                                  <a:latin typeface="Cambria Math" panose="02040503050406030204" pitchFamily="18" charset="0"/>
                                </a:rPr>
                                <m:t>1</m:t>
                              </m:r>
                            </m:e>
                          </m:mr>
                          <m:mr>
                            <m:e>
                              <m:r>
                                <a:rPr kumimoji="1" lang="en-US" altLang="zh-TW" b="0" i="1" smtClean="0">
                                  <a:latin typeface="Cambria Math" panose="02040503050406030204" pitchFamily="18" charset="0"/>
                                </a:rPr>
                                <m:t>0</m:t>
                              </m:r>
                            </m:e>
                            <m:e>
                              <m:r>
                                <a:rPr kumimoji="1" lang="en-US" altLang="zh-TW" b="0" i="1" smtClean="0">
                                  <a:latin typeface="Cambria Math" panose="02040503050406030204" pitchFamily="18" charset="0"/>
                                </a:rPr>
                                <m:t>−1</m:t>
                              </m:r>
                            </m:e>
                          </m:mr>
                          <m:mr>
                            <m:e>
                              <m:r>
                                <a:rPr kumimoji="1" lang="en-US" altLang="zh-TW" b="0" i="1" smtClean="0">
                                  <a:latin typeface="Cambria Math" panose="02040503050406030204" pitchFamily="18" charset="0"/>
                                </a:rPr>
                                <m:t>1</m:t>
                              </m:r>
                            </m:e>
                            <m:e>
                              <m:r>
                                <a:rPr kumimoji="1" lang="en-US" altLang="zh-TW" b="0" i="1" smtClean="0">
                                  <a:latin typeface="Cambria Math" panose="02040503050406030204" pitchFamily="18" charset="0"/>
                                </a:rPr>
                                <m:t>1</m:t>
                              </m:r>
                            </m:e>
                          </m:mr>
                        </m:m>
                      </m:e>
                    </m:d>
                  </m:oMath>
                </a14:m>
                <a:r>
                  <a:rPr kumimoji="1" lang="zh-TW" altLang="en-US" dirty="0"/>
                  <a:t>，這邊說明計算出</a:t>
                </a:r>
                <a14:m>
                  <m:oMath xmlns:m="http://schemas.openxmlformats.org/officeDocument/2006/math">
                    <m:r>
                      <a:rPr kumimoji="1" lang="en-US" altLang="zh-TW" i="1">
                        <a:latin typeface="Cambria Math" panose="02040503050406030204" pitchFamily="18" charset="0"/>
                      </a:rPr>
                      <m:t>𝑈</m:t>
                    </m:r>
                    <m:r>
                      <a:rPr kumimoji="1" lang="zh-TW" altLang="en-US" i="1" smtClean="0">
                        <a:latin typeface="Cambria Math" panose="02040503050406030204" pitchFamily="18" charset="0"/>
                      </a:rPr>
                      <m:t>、</m:t>
                    </m:r>
                    <m:r>
                      <m:rPr>
                        <m:sty m:val="p"/>
                      </m:rPr>
                      <a:rPr kumimoji="1" lang="el-GR" altLang="zh-TW" i="1">
                        <a:latin typeface="Cambria Math" panose="02040503050406030204" pitchFamily="18" charset="0"/>
                        <a:ea typeface="Cambria Math" panose="02040503050406030204" pitchFamily="18" charset="0"/>
                      </a:rPr>
                      <m:t>Σ</m:t>
                    </m:r>
                    <m:r>
                      <a:rPr kumimoji="1" lang="zh-TW" altLang="el-GR" i="1" smtClean="0">
                        <a:latin typeface="Cambria Math" panose="02040503050406030204" pitchFamily="18" charset="0"/>
                        <a:ea typeface="Cambria Math" panose="02040503050406030204" pitchFamily="18" charset="0"/>
                      </a:rPr>
                      <m:t>跟</m:t>
                    </m:r>
                    <m:r>
                      <a:rPr kumimoji="1" lang="en-US" altLang="zh-TW" b="0" i="1" smtClean="0">
                        <a:latin typeface="Cambria Math" panose="02040503050406030204" pitchFamily="18" charset="0"/>
                        <a:ea typeface="Cambria Math" panose="02040503050406030204" pitchFamily="18" charset="0"/>
                      </a:rPr>
                      <m:t>𝑉</m:t>
                    </m:r>
                  </m:oMath>
                </a14:m>
                <a:endParaRPr kumimoji="1" lang="zh-TW" altLang="en-US" dirty="0"/>
              </a:p>
            </p:txBody>
          </p:sp>
        </mc:Choice>
        <mc:Fallback xmlns="">
          <p:sp>
            <p:nvSpPr>
              <p:cNvPr id="3" name="內容版面配置區 2">
                <a:extLst>
                  <a:ext uri="{FF2B5EF4-FFF2-40B4-BE49-F238E27FC236}">
                    <a16:creationId xmlns:a16="http://schemas.microsoft.com/office/drawing/2014/main" id="{3D3AD7DB-07DD-1C62-BFD9-71E152FE87A4}"/>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zh-TW" altLang="en-US">
                    <a:noFill/>
                  </a:rPr>
                  <a:t> </a:t>
                </a:r>
              </a:p>
            </p:txBody>
          </p:sp>
        </mc:Fallback>
      </mc:AlternateContent>
      <p:sp>
        <p:nvSpPr>
          <p:cNvPr id="5" name="文字方塊 4">
            <a:extLst>
              <a:ext uri="{FF2B5EF4-FFF2-40B4-BE49-F238E27FC236}">
                <a16:creationId xmlns:a16="http://schemas.microsoft.com/office/drawing/2014/main" id="{FF359710-1F88-EA9E-F738-A65552127D6D}"/>
              </a:ext>
            </a:extLst>
          </p:cNvPr>
          <p:cNvSpPr txBox="1"/>
          <p:nvPr/>
        </p:nvSpPr>
        <p:spPr>
          <a:xfrm>
            <a:off x="838200" y="6119336"/>
            <a:ext cx="10621617" cy="738664"/>
          </a:xfrm>
          <a:prstGeom prst="rect">
            <a:avLst/>
          </a:prstGeom>
          <a:noFill/>
        </p:spPr>
        <p:txBody>
          <a:bodyPr wrap="square">
            <a:spAutoFit/>
          </a:bodyPr>
          <a:lstStyle/>
          <a:p>
            <a:r>
              <a:rPr lang="zh-TW" altLang="en-US" sz="1400" dirty="0"/>
              <a:t>https://flag-editors.medium.com/%E6%A9%9F%E5%99%A8%E5%AD%B8%E7%BF%92lesson-7-%E5%A5%87%E7%95%B0%E5%80%BC%E5%88%86%E8%A7%A3%E7%9A%84%E8%A8%88%E7%AE%97%E5%8F%8A%E9%99%B7%E9%98%B1-%E4%B8%8A%E7%AF%87-5622ad1afc65</a:t>
            </a:r>
          </a:p>
        </p:txBody>
      </p:sp>
    </p:spTree>
    <p:extLst>
      <p:ext uri="{BB962C8B-B14F-4D97-AF65-F5344CB8AC3E}">
        <p14:creationId xmlns:p14="http://schemas.microsoft.com/office/powerpoint/2010/main" val="1227142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4CD9AD-0C10-A8C2-B60F-08DE811C5EDD}"/>
              </a:ext>
            </a:extLst>
          </p:cNvPr>
          <p:cNvSpPr>
            <a:spLocks noGrp="1"/>
          </p:cNvSpPr>
          <p:nvPr>
            <p:ph type="title"/>
          </p:nvPr>
        </p:nvSpPr>
        <p:spPr/>
        <p:txBody>
          <a:bodyPr/>
          <a:lstStyle/>
          <a:p>
            <a:r>
              <a:rPr kumimoji="1" lang="zh-TW" altLang="en" dirty="0"/>
              <a:t>奇</a:t>
            </a:r>
            <a:r>
              <a:rPr kumimoji="1" lang="zh-TW" altLang="en-US" dirty="0"/>
              <a:t>異值分解</a:t>
            </a:r>
            <a:br>
              <a:rPr kumimoji="1" lang="en-US" altLang="zh-TW" dirty="0"/>
            </a:br>
            <a:r>
              <a:rPr kumimoji="1" lang="en" altLang="zh-TW" dirty="0"/>
              <a:t>Singular Value Decomposition</a:t>
            </a:r>
            <a:r>
              <a:rPr kumimoji="1" lang="en-US" altLang="zh-TW" dirty="0"/>
              <a:t>,</a:t>
            </a:r>
            <a:r>
              <a:rPr kumimoji="1" lang="zh-TW" altLang="en-US" dirty="0"/>
              <a:t> </a:t>
            </a:r>
            <a:r>
              <a:rPr kumimoji="1" lang="en-US" altLang="zh-TW" dirty="0"/>
              <a:t>SVD</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5B482414-0CD2-C696-B0D5-8D8CF12E7372}"/>
                  </a:ext>
                </a:extLst>
              </p:cNvPr>
              <p:cNvSpPr>
                <a:spLocks noGrp="1"/>
              </p:cNvSpPr>
              <p:nvPr>
                <p:ph idx="1"/>
              </p:nvPr>
            </p:nvSpPr>
            <p:spPr>
              <a:xfrm>
                <a:off x="838200" y="1825625"/>
                <a:ext cx="10515600" cy="4888442"/>
              </a:xfrm>
            </p:spPr>
            <p:txBody>
              <a:bodyPr>
                <a:normAutofit fontScale="85000" lnSpcReduction="20000"/>
              </a:bodyPr>
              <a:lstStyle/>
              <a:p>
                <a:pPr>
                  <a:lnSpc>
                    <a:spcPct val="110000"/>
                  </a:lnSpc>
                </a:pPr>
                <a:r>
                  <a:rPr kumimoji="1" lang="zh-TW" altLang="en-US" dirty="0"/>
                  <a:t>計算</a:t>
                </a:r>
                <a14:m>
                  <m:oMath xmlns:m="http://schemas.openxmlformats.org/officeDocument/2006/math">
                    <m:r>
                      <a:rPr kumimoji="1" lang="en-US" altLang="zh-TW" b="0" i="1" smtClean="0">
                        <a:latin typeface="Cambria Math" panose="02040503050406030204" pitchFamily="18" charset="0"/>
                      </a:rPr>
                      <m:t>𝐴</m:t>
                    </m:r>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𝐴</m:t>
                        </m:r>
                      </m:e>
                      <m:sup>
                        <m:r>
                          <a:rPr kumimoji="1" lang="en-US" altLang="zh-TW" b="0" i="1" smtClean="0">
                            <a:latin typeface="Cambria Math" panose="02040503050406030204" pitchFamily="18" charset="0"/>
                          </a:rPr>
                          <m:t>𝑇</m:t>
                        </m:r>
                      </m:sup>
                    </m:sSup>
                    <m:r>
                      <a:rPr kumimoji="1" lang="en-US" altLang="zh-TW" b="0" i="0" smtClean="0">
                        <a:latin typeface="Cambria Math" panose="02040503050406030204" pitchFamily="18" charset="0"/>
                      </a:rPr>
                      <m:t>=</m:t>
                    </m:r>
                    <m:d>
                      <m:dPr>
                        <m:begChr m:val="["/>
                        <m:endChr m:val="]"/>
                        <m:ctrlPr>
                          <a:rPr kumimoji="1" lang="en-US" altLang="zh-TW" i="1">
                            <a:latin typeface="Cambria Math" panose="02040503050406030204" pitchFamily="18" charset="0"/>
                          </a:rPr>
                        </m:ctrlPr>
                      </m:dPr>
                      <m:e>
                        <m:m>
                          <m:mPr>
                            <m:mcs>
                              <m:mc>
                                <m:mcPr>
                                  <m:count m:val="2"/>
                                  <m:mcJc m:val="center"/>
                                </m:mcPr>
                              </m:mc>
                            </m:mcs>
                            <m:ctrlPr>
                              <a:rPr kumimoji="1" lang="en-US" altLang="zh-TW" i="1">
                                <a:latin typeface="Cambria Math" panose="02040503050406030204" pitchFamily="18" charset="0"/>
                              </a:rPr>
                            </m:ctrlPr>
                          </m:mPr>
                          <m:mr>
                            <m:e>
                              <m:r>
                                <m:rPr>
                                  <m:brk m:alnAt="7"/>
                                </m:rPr>
                                <a:rPr kumimoji="1" lang="en-US" altLang="zh-TW" i="1">
                                  <a:latin typeface="Cambria Math" panose="02040503050406030204" pitchFamily="18" charset="0"/>
                                </a:rPr>
                                <m:t>−</m:t>
                              </m:r>
                              <m:r>
                                <a:rPr kumimoji="1" lang="en-US" altLang="zh-TW" i="1">
                                  <a:latin typeface="Cambria Math" panose="02040503050406030204" pitchFamily="18" charset="0"/>
                                </a:rPr>
                                <m:t>1</m:t>
                              </m:r>
                            </m:e>
                            <m:e>
                              <m:r>
                                <a:rPr kumimoji="1" lang="en-US" altLang="zh-TW" i="1">
                                  <a:latin typeface="Cambria Math" panose="02040503050406030204" pitchFamily="18" charset="0"/>
                                </a:rPr>
                                <m:t>1</m:t>
                              </m:r>
                            </m:e>
                          </m:mr>
                          <m:mr>
                            <m:e>
                              <m:r>
                                <a:rPr kumimoji="1" lang="en-US" altLang="zh-TW" i="1">
                                  <a:latin typeface="Cambria Math" panose="02040503050406030204" pitchFamily="18" charset="0"/>
                                </a:rPr>
                                <m:t>0</m:t>
                              </m:r>
                            </m:e>
                            <m:e>
                              <m:r>
                                <a:rPr kumimoji="1" lang="en-US" altLang="zh-TW" i="1">
                                  <a:latin typeface="Cambria Math" panose="02040503050406030204" pitchFamily="18" charset="0"/>
                                </a:rPr>
                                <m:t>−1</m:t>
                              </m:r>
                            </m:e>
                          </m:mr>
                          <m:mr>
                            <m:e>
                              <m:r>
                                <a:rPr kumimoji="1" lang="en-US" altLang="zh-TW" i="1">
                                  <a:latin typeface="Cambria Math" panose="02040503050406030204" pitchFamily="18" charset="0"/>
                                </a:rPr>
                                <m:t>1</m:t>
                              </m:r>
                            </m:e>
                            <m:e>
                              <m:r>
                                <a:rPr kumimoji="1" lang="en-US" altLang="zh-TW" i="1">
                                  <a:latin typeface="Cambria Math" panose="02040503050406030204" pitchFamily="18" charset="0"/>
                                </a:rPr>
                                <m:t>1</m:t>
                              </m:r>
                            </m:e>
                          </m:mr>
                        </m:m>
                      </m:e>
                    </m:d>
                    <m:d>
                      <m:dPr>
                        <m:begChr m:val="["/>
                        <m:endChr m:val="]"/>
                        <m:ctrlPr>
                          <a:rPr kumimoji="1" lang="en-US" altLang="zh-TW" i="1" smtClean="0">
                            <a:latin typeface="Cambria Math" panose="02040503050406030204" pitchFamily="18" charset="0"/>
                          </a:rPr>
                        </m:ctrlPr>
                      </m:dPr>
                      <m:e>
                        <m:m>
                          <m:mPr>
                            <m:mcs>
                              <m:mc>
                                <m:mcPr>
                                  <m:count m:val="3"/>
                                  <m:mcJc m:val="center"/>
                                </m:mcPr>
                              </m:mc>
                            </m:mcs>
                            <m:ctrlPr>
                              <a:rPr kumimoji="1" lang="en-US" altLang="zh-TW" i="1" smtClean="0">
                                <a:latin typeface="Cambria Math" panose="02040503050406030204" pitchFamily="18" charset="0"/>
                              </a:rPr>
                            </m:ctrlPr>
                          </m:mPr>
                          <m:mr>
                            <m:e>
                              <m:r>
                                <m:rPr>
                                  <m:brk m:alnAt="7"/>
                                </m:rP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1</m:t>
                              </m:r>
                            </m:e>
                            <m:e>
                              <m:r>
                                <a:rPr kumimoji="1" lang="en-US" altLang="zh-TW" b="0" i="1" smtClean="0">
                                  <a:latin typeface="Cambria Math" panose="02040503050406030204" pitchFamily="18" charset="0"/>
                                </a:rPr>
                                <m:t>0</m:t>
                              </m:r>
                            </m:e>
                            <m:e>
                              <m:r>
                                <a:rPr kumimoji="1" lang="en-US" altLang="zh-TW" b="0" i="1" smtClean="0">
                                  <a:latin typeface="Cambria Math" panose="02040503050406030204" pitchFamily="18" charset="0"/>
                                </a:rPr>
                                <m:t>1</m:t>
                              </m:r>
                            </m:e>
                          </m:mr>
                          <m:mr>
                            <m:e>
                              <m:r>
                                <a:rPr kumimoji="1" lang="en-US" altLang="zh-TW" b="0" i="1" smtClean="0">
                                  <a:latin typeface="Cambria Math" panose="02040503050406030204" pitchFamily="18" charset="0"/>
                                </a:rPr>
                                <m:t>1</m:t>
                              </m:r>
                            </m:e>
                            <m:e>
                              <m:r>
                                <a:rPr kumimoji="1" lang="en-US" altLang="zh-TW" b="0" i="1" smtClean="0">
                                  <a:latin typeface="Cambria Math" panose="02040503050406030204" pitchFamily="18" charset="0"/>
                                </a:rPr>
                                <m:t>−1</m:t>
                              </m:r>
                            </m:e>
                            <m:e>
                              <m:r>
                                <a:rPr kumimoji="1" lang="en-US" altLang="zh-TW" b="0" i="1" smtClean="0">
                                  <a:latin typeface="Cambria Math" panose="02040503050406030204" pitchFamily="18" charset="0"/>
                                </a:rPr>
                                <m:t>1</m:t>
                              </m:r>
                            </m:e>
                          </m:mr>
                        </m:m>
                      </m:e>
                    </m:d>
                    <m:r>
                      <a:rPr kumimoji="1" lang="en-US" altLang="zh-TW" b="0" i="1" smtClean="0">
                        <a:latin typeface="Cambria Math" panose="02040503050406030204" pitchFamily="18" charset="0"/>
                      </a:rPr>
                      <m:t>=</m:t>
                    </m:r>
                    <m:d>
                      <m:dPr>
                        <m:begChr m:val="["/>
                        <m:endChr m:val="]"/>
                        <m:ctrlPr>
                          <a:rPr kumimoji="1" lang="en-US" altLang="zh-TW" b="0" i="1" smtClean="0">
                            <a:latin typeface="Cambria Math" panose="02040503050406030204" pitchFamily="18" charset="0"/>
                          </a:rPr>
                        </m:ctrlPr>
                      </m:dPr>
                      <m:e>
                        <m:m>
                          <m:mPr>
                            <m:mcs>
                              <m:mc>
                                <m:mcPr>
                                  <m:count m:val="3"/>
                                  <m:mcJc m:val="center"/>
                                </m:mcPr>
                              </m:mc>
                            </m:mcs>
                            <m:ctrlPr>
                              <a:rPr kumimoji="1" lang="en-US" altLang="zh-TW" b="0" i="1" smtClean="0">
                                <a:latin typeface="Cambria Math" panose="02040503050406030204" pitchFamily="18" charset="0"/>
                              </a:rPr>
                            </m:ctrlPr>
                          </m:mPr>
                          <m:mr>
                            <m:e>
                              <m:r>
                                <m:rPr>
                                  <m:brk m:alnAt="7"/>
                                </m:rPr>
                                <a:rPr kumimoji="1" lang="en-US" altLang="zh-TW" b="0" i="1" smtClean="0">
                                  <a:latin typeface="Cambria Math" panose="02040503050406030204" pitchFamily="18" charset="0"/>
                                </a:rPr>
                                <m:t>2</m:t>
                              </m:r>
                            </m:e>
                            <m:e>
                              <m:r>
                                <a:rPr kumimoji="1" lang="en-US" altLang="zh-TW" b="0" i="1" smtClean="0">
                                  <a:latin typeface="Cambria Math" panose="02040503050406030204" pitchFamily="18" charset="0"/>
                                </a:rPr>
                                <m:t>−1</m:t>
                              </m:r>
                            </m:e>
                            <m:e>
                              <m:r>
                                <a:rPr kumimoji="1" lang="en-US" altLang="zh-TW" b="0" i="1" smtClean="0">
                                  <a:latin typeface="Cambria Math" panose="02040503050406030204" pitchFamily="18" charset="0"/>
                                </a:rPr>
                                <m:t>0</m:t>
                              </m:r>
                            </m:e>
                          </m:mr>
                          <m:mr>
                            <m:e>
                              <m:r>
                                <a:rPr kumimoji="1" lang="en-US" altLang="zh-TW" b="0" i="1" smtClean="0">
                                  <a:latin typeface="Cambria Math" panose="02040503050406030204" pitchFamily="18" charset="0"/>
                                </a:rPr>
                                <m:t>−1</m:t>
                              </m:r>
                            </m:e>
                            <m:e>
                              <m:r>
                                <a:rPr kumimoji="1" lang="en-US" altLang="zh-TW" b="0" i="1" smtClean="0">
                                  <a:latin typeface="Cambria Math" panose="02040503050406030204" pitchFamily="18" charset="0"/>
                                </a:rPr>
                                <m:t>1</m:t>
                              </m:r>
                            </m:e>
                            <m:e>
                              <m:r>
                                <a:rPr kumimoji="1" lang="en-US" altLang="zh-TW" b="0" i="1" smtClean="0">
                                  <a:latin typeface="Cambria Math" panose="02040503050406030204" pitchFamily="18" charset="0"/>
                                </a:rPr>
                                <m:t>−1</m:t>
                              </m:r>
                            </m:e>
                          </m:mr>
                          <m:mr>
                            <m:e>
                              <m:r>
                                <a:rPr kumimoji="1" lang="en-US" altLang="zh-TW" b="0" i="1" smtClean="0">
                                  <a:latin typeface="Cambria Math" panose="02040503050406030204" pitchFamily="18" charset="0"/>
                                </a:rPr>
                                <m:t>0</m:t>
                              </m:r>
                            </m:e>
                            <m:e>
                              <m:r>
                                <a:rPr kumimoji="1" lang="en-US" altLang="zh-TW" b="0" i="1" smtClean="0">
                                  <a:latin typeface="Cambria Math" panose="02040503050406030204" pitchFamily="18" charset="0"/>
                                </a:rPr>
                                <m:t>−1</m:t>
                              </m:r>
                            </m:e>
                            <m:e>
                              <m:r>
                                <a:rPr kumimoji="1" lang="en-US" altLang="zh-TW" b="0" i="1" smtClean="0">
                                  <a:latin typeface="Cambria Math" panose="02040503050406030204" pitchFamily="18" charset="0"/>
                                </a:rPr>
                                <m:t>2</m:t>
                              </m:r>
                            </m:e>
                          </m:mr>
                        </m:m>
                      </m:e>
                    </m:d>
                  </m:oMath>
                </a14:m>
                <a:endParaRPr kumimoji="1" lang="en-US" altLang="zh-TW" dirty="0"/>
              </a:p>
              <a:p>
                <a:pPr>
                  <a:lnSpc>
                    <a:spcPct val="110000"/>
                  </a:lnSpc>
                </a:pPr>
                <a:r>
                  <a:rPr kumimoji="1" lang="zh-TW" altLang="en-US" dirty="0"/>
                  <a:t>計算</a:t>
                </a:r>
                <a:r>
                  <a:rPr kumimoji="1" lang="en-US" altLang="zh-TW" dirty="0"/>
                  <a:t>eigenvalue</a:t>
                </a:r>
              </a:p>
              <a:p>
                <a:pPr lvl="1">
                  <a:lnSpc>
                    <a:spcPct val="110000"/>
                  </a:lnSpc>
                </a:pPr>
                <a14:m>
                  <m:oMath xmlns:m="http://schemas.openxmlformats.org/officeDocument/2006/math">
                    <m:d>
                      <m:dPr>
                        <m:begChr m:val="|"/>
                        <m:endChr m:val="|"/>
                        <m:ctrlPr>
                          <a:rPr kumimoji="1" lang="en-US" altLang="zh-TW" i="1" smtClean="0">
                            <a:latin typeface="Cambria Math" panose="02040503050406030204" pitchFamily="18" charset="0"/>
                          </a:rPr>
                        </m:ctrlPr>
                      </m:dPr>
                      <m:e>
                        <m:m>
                          <m:mPr>
                            <m:mcs>
                              <m:mc>
                                <m:mcPr>
                                  <m:count m:val="3"/>
                                  <m:mcJc m:val="center"/>
                                </m:mcPr>
                              </m:mc>
                            </m:mcs>
                            <m:ctrlPr>
                              <a:rPr kumimoji="1" lang="en-US" altLang="zh-TW" i="1">
                                <a:latin typeface="Cambria Math" panose="02040503050406030204" pitchFamily="18" charset="0"/>
                              </a:rPr>
                            </m:ctrlPr>
                          </m:mPr>
                          <m:mr>
                            <m:e>
                              <m:r>
                                <m:rPr>
                                  <m:brk m:alnAt="7"/>
                                </m:rPr>
                                <a:rPr kumimoji="1" lang="en-US" altLang="zh-TW" i="1">
                                  <a:latin typeface="Cambria Math" panose="02040503050406030204" pitchFamily="18" charset="0"/>
                                </a:rPr>
                                <m:t>2</m:t>
                              </m:r>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𝜆</m:t>
                              </m:r>
                            </m:e>
                            <m:e>
                              <m:r>
                                <a:rPr kumimoji="1" lang="en-US" altLang="zh-TW" i="1">
                                  <a:latin typeface="Cambria Math" panose="02040503050406030204" pitchFamily="18" charset="0"/>
                                </a:rPr>
                                <m:t>−1</m:t>
                              </m:r>
                            </m:e>
                            <m:e>
                              <m:r>
                                <a:rPr kumimoji="1" lang="en-US" altLang="zh-TW" i="1">
                                  <a:latin typeface="Cambria Math" panose="02040503050406030204" pitchFamily="18" charset="0"/>
                                </a:rPr>
                                <m:t>0</m:t>
                              </m:r>
                            </m:e>
                          </m:mr>
                          <m:mr>
                            <m:e>
                              <m:r>
                                <a:rPr kumimoji="1" lang="en-US" altLang="zh-TW" i="1">
                                  <a:latin typeface="Cambria Math" panose="02040503050406030204" pitchFamily="18" charset="0"/>
                                </a:rPr>
                                <m:t>−1</m:t>
                              </m:r>
                            </m:e>
                            <m:e>
                              <m:r>
                                <a:rPr kumimoji="1" lang="en-US" altLang="zh-TW" i="1">
                                  <a:latin typeface="Cambria Math" panose="02040503050406030204" pitchFamily="18" charset="0"/>
                                </a:rPr>
                                <m:t>1</m:t>
                              </m:r>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𝜆</m:t>
                              </m:r>
                            </m:e>
                            <m:e>
                              <m:r>
                                <a:rPr kumimoji="1" lang="en-US" altLang="zh-TW" i="1">
                                  <a:latin typeface="Cambria Math" panose="02040503050406030204" pitchFamily="18" charset="0"/>
                                </a:rPr>
                                <m:t>−1</m:t>
                              </m:r>
                            </m:e>
                          </m:mr>
                          <m:mr>
                            <m:e>
                              <m:r>
                                <a:rPr kumimoji="1" lang="en-US" altLang="zh-TW" i="1">
                                  <a:latin typeface="Cambria Math" panose="02040503050406030204" pitchFamily="18" charset="0"/>
                                </a:rPr>
                                <m:t>0</m:t>
                              </m:r>
                            </m:e>
                            <m:e>
                              <m:r>
                                <a:rPr kumimoji="1" lang="en-US" altLang="zh-TW" i="1">
                                  <a:latin typeface="Cambria Math" panose="02040503050406030204" pitchFamily="18" charset="0"/>
                                </a:rPr>
                                <m:t>−1</m:t>
                              </m:r>
                            </m:e>
                            <m:e>
                              <m:r>
                                <a:rPr kumimoji="1" lang="en-US" altLang="zh-TW" i="1">
                                  <a:latin typeface="Cambria Math" panose="02040503050406030204" pitchFamily="18" charset="0"/>
                                </a:rPr>
                                <m:t>2</m:t>
                              </m:r>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𝜆</m:t>
                              </m:r>
                            </m:e>
                          </m:mr>
                        </m:m>
                      </m:e>
                    </m:d>
                    <m:r>
                      <a:rPr kumimoji="1" lang="en-US" altLang="zh-TW" b="0" i="1" smtClean="0">
                        <a:latin typeface="Cambria Math" panose="02040503050406030204" pitchFamily="18" charset="0"/>
                      </a:rPr>
                      <m:t>=−</m:t>
                    </m:r>
                    <m:sSup>
                      <m:sSupPr>
                        <m:ctrlPr>
                          <a:rPr kumimoji="1" lang="en-US" altLang="zh-TW" b="0" i="1" smtClean="0">
                            <a:latin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𝜆</m:t>
                        </m:r>
                      </m:e>
                      <m:sup>
                        <m:r>
                          <a:rPr kumimoji="1" lang="en-US" altLang="zh-TW" b="0" i="1" smtClean="0">
                            <a:latin typeface="Cambria Math" panose="02040503050406030204" pitchFamily="18" charset="0"/>
                          </a:rPr>
                          <m:t>3</m:t>
                        </m:r>
                      </m:sup>
                    </m:sSup>
                    <m:r>
                      <a:rPr kumimoji="1" lang="en-US" altLang="zh-TW" b="0" i="1" smtClean="0">
                        <a:latin typeface="Cambria Math" panose="02040503050406030204" pitchFamily="18" charset="0"/>
                      </a:rPr>
                      <m:t>+5</m:t>
                    </m:r>
                    <m:sSup>
                      <m:sSupPr>
                        <m:ctrlPr>
                          <a:rPr kumimoji="1" lang="en-US" altLang="zh-TW" b="0" i="1" smtClean="0">
                            <a:latin typeface="Cambria Math" panose="02040503050406030204" pitchFamily="18" charset="0"/>
                          </a:rPr>
                        </m:ctrlPr>
                      </m:sSupPr>
                      <m:e>
                        <m:r>
                          <a:rPr kumimoji="1" lang="en-US" altLang="zh-TW" i="1">
                            <a:latin typeface="Cambria Math" panose="02040503050406030204" pitchFamily="18" charset="0"/>
                            <a:ea typeface="Cambria Math" panose="02040503050406030204" pitchFamily="18" charset="0"/>
                          </a:rPr>
                          <m:t>𝜆</m:t>
                        </m:r>
                      </m:e>
                      <m:sup>
                        <m:r>
                          <a:rPr kumimoji="1" lang="en-US" altLang="zh-TW" b="0" i="1" smtClean="0">
                            <a:latin typeface="Cambria Math" panose="02040503050406030204" pitchFamily="18" charset="0"/>
                          </a:rPr>
                          <m:t>2</m:t>
                        </m:r>
                      </m:sup>
                    </m:sSup>
                    <m:r>
                      <a:rPr kumimoji="1" lang="en-US" altLang="zh-TW" b="0" i="1" smtClean="0">
                        <a:latin typeface="Cambria Math" panose="02040503050406030204" pitchFamily="18" charset="0"/>
                      </a:rPr>
                      <m:t>−6</m:t>
                    </m:r>
                    <m:r>
                      <a:rPr kumimoji="1" lang="en-US" altLang="zh-TW" i="1">
                        <a:latin typeface="Cambria Math" panose="02040503050406030204" pitchFamily="18" charset="0"/>
                        <a:ea typeface="Cambria Math" panose="02040503050406030204" pitchFamily="18" charset="0"/>
                      </a:rPr>
                      <m:t>𝜆</m:t>
                    </m:r>
                    <m:r>
                      <a:rPr kumimoji="1" lang="en-US" altLang="zh-TW" b="0" i="1" smtClean="0">
                        <a:latin typeface="Cambria Math" panose="02040503050406030204" pitchFamily="18" charset="0"/>
                        <a:ea typeface="Cambria Math" panose="02040503050406030204" pitchFamily="18" charset="0"/>
                      </a:rPr>
                      <m:t>=−</m:t>
                    </m:r>
                    <m:d>
                      <m:dPr>
                        <m:ctrlPr>
                          <a:rPr kumimoji="1" lang="en-US" altLang="zh-TW" b="0" i="1" smtClean="0">
                            <a:latin typeface="Cambria Math" panose="02040503050406030204" pitchFamily="18" charset="0"/>
                            <a:ea typeface="Cambria Math" panose="02040503050406030204" pitchFamily="18" charset="0"/>
                          </a:rPr>
                        </m:ctrlPr>
                      </m:dPr>
                      <m:e>
                        <m:r>
                          <a:rPr kumimoji="1" lang="en-US" altLang="zh-TW" i="1">
                            <a:latin typeface="Cambria Math" panose="02040503050406030204" pitchFamily="18" charset="0"/>
                            <a:ea typeface="Cambria Math" panose="02040503050406030204" pitchFamily="18" charset="0"/>
                          </a:rPr>
                          <m:t>𝜆</m:t>
                        </m:r>
                        <m:r>
                          <a:rPr kumimoji="1" lang="en-US" altLang="zh-TW" b="0" i="1" smtClean="0">
                            <a:latin typeface="Cambria Math" panose="02040503050406030204" pitchFamily="18" charset="0"/>
                            <a:ea typeface="Cambria Math" panose="02040503050406030204" pitchFamily="18" charset="0"/>
                          </a:rPr>
                          <m:t>−3</m:t>
                        </m:r>
                      </m:e>
                    </m:d>
                    <m:d>
                      <m:dPr>
                        <m:ctrlPr>
                          <a:rPr kumimoji="1" lang="en-US" altLang="zh-TW" b="0" i="1" smtClean="0">
                            <a:latin typeface="Cambria Math" panose="02040503050406030204" pitchFamily="18" charset="0"/>
                            <a:ea typeface="Cambria Math" panose="02040503050406030204" pitchFamily="18" charset="0"/>
                          </a:rPr>
                        </m:ctrlPr>
                      </m:dPr>
                      <m:e>
                        <m:r>
                          <a:rPr kumimoji="1" lang="en-US" altLang="zh-TW" i="1">
                            <a:latin typeface="Cambria Math" panose="02040503050406030204" pitchFamily="18" charset="0"/>
                            <a:ea typeface="Cambria Math" panose="02040503050406030204" pitchFamily="18" charset="0"/>
                          </a:rPr>
                          <m:t>𝜆</m:t>
                        </m:r>
                        <m:r>
                          <a:rPr kumimoji="1" lang="en-US" altLang="zh-TW" b="0" i="1" smtClean="0">
                            <a:latin typeface="Cambria Math" panose="02040503050406030204" pitchFamily="18" charset="0"/>
                            <a:ea typeface="Cambria Math" panose="02040503050406030204" pitchFamily="18" charset="0"/>
                          </a:rPr>
                          <m:t>−2</m:t>
                        </m:r>
                      </m:e>
                    </m:d>
                    <m:r>
                      <a:rPr kumimoji="1" lang="en-US" altLang="zh-TW" i="1">
                        <a:latin typeface="Cambria Math" panose="02040503050406030204" pitchFamily="18" charset="0"/>
                        <a:ea typeface="Cambria Math" panose="02040503050406030204" pitchFamily="18" charset="0"/>
                      </a:rPr>
                      <m:t>𝜆</m:t>
                    </m:r>
                    <m:r>
                      <a:rPr kumimoji="1" lang="en-US" altLang="zh-TW" b="0" i="1" smtClean="0">
                        <a:latin typeface="Cambria Math" panose="02040503050406030204" pitchFamily="18" charset="0"/>
                        <a:ea typeface="Cambria Math" panose="02040503050406030204" pitchFamily="18" charset="0"/>
                      </a:rPr>
                      <m:t>=0</m:t>
                    </m:r>
                  </m:oMath>
                </a14:m>
                <a:endParaRPr kumimoji="1" lang="en-US" altLang="zh-TW" dirty="0"/>
              </a:p>
              <a:p>
                <a:pPr lvl="1">
                  <a:lnSpc>
                    <a:spcPct val="110000"/>
                  </a:lnSpc>
                </a:pPr>
                <a14:m>
                  <m:oMath xmlns:m="http://schemas.openxmlformats.org/officeDocument/2006/math">
                    <m:r>
                      <a:rPr kumimoji="1" lang="en-US" altLang="zh-TW" b="0" i="1" smtClean="0">
                        <a:latin typeface="Cambria Math" panose="02040503050406030204" pitchFamily="18" charset="0"/>
                      </a:rPr>
                      <m:t>→</m:t>
                    </m:r>
                    <m:r>
                      <a:rPr kumimoji="1" lang="en-US" altLang="zh-TW" i="1">
                        <a:latin typeface="Cambria Math" panose="02040503050406030204" pitchFamily="18" charset="0"/>
                        <a:ea typeface="Cambria Math" panose="02040503050406030204" pitchFamily="18" charset="0"/>
                      </a:rPr>
                      <m:t>𝜆</m:t>
                    </m:r>
                    <m:r>
                      <a:rPr kumimoji="1" lang="en-US" altLang="zh-TW" b="0" i="1" smtClean="0">
                        <a:latin typeface="Cambria Math" panose="02040503050406030204" pitchFamily="18" charset="0"/>
                        <a:ea typeface="Cambria Math" panose="02040503050406030204" pitchFamily="18" charset="0"/>
                      </a:rPr>
                      <m:t>=3</m:t>
                    </m:r>
                    <m:r>
                      <a:rPr kumimoji="1" lang="zh-TW" altLang="en-US" b="0" i="1" smtClean="0">
                        <a:latin typeface="Cambria Math" panose="02040503050406030204" pitchFamily="18" charset="0"/>
                        <a:ea typeface="Cambria Math" panose="02040503050406030204" pitchFamily="18" charset="0"/>
                      </a:rPr>
                      <m:t> </m:t>
                    </m:r>
                    <m:r>
                      <a:rPr kumimoji="1" lang="en-US" altLang="zh-TW" b="0" i="1" smtClean="0">
                        <a:latin typeface="Cambria Math" panose="02040503050406030204" pitchFamily="18" charset="0"/>
                        <a:ea typeface="Cambria Math" panose="02040503050406030204" pitchFamily="18" charset="0"/>
                      </a:rPr>
                      <m:t>𝑜𝑟</m:t>
                    </m:r>
                    <m:r>
                      <a:rPr kumimoji="1" lang="zh-TW" altLang="en-US" b="0" i="1" smtClean="0">
                        <a:latin typeface="Cambria Math" panose="02040503050406030204" pitchFamily="18" charset="0"/>
                        <a:ea typeface="Cambria Math" panose="02040503050406030204" pitchFamily="18" charset="0"/>
                      </a:rPr>
                      <m:t> </m:t>
                    </m:r>
                    <m:r>
                      <a:rPr kumimoji="1" lang="en-US" altLang="zh-TW" b="0" i="1" smtClean="0">
                        <a:latin typeface="Cambria Math" panose="02040503050406030204" pitchFamily="18" charset="0"/>
                        <a:ea typeface="Cambria Math" panose="02040503050406030204" pitchFamily="18" charset="0"/>
                      </a:rPr>
                      <m:t>2</m:t>
                    </m:r>
                    <m:r>
                      <a:rPr kumimoji="1" lang="zh-TW" altLang="en-US" b="0" i="1" smtClean="0">
                        <a:latin typeface="Cambria Math" panose="02040503050406030204" pitchFamily="18" charset="0"/>
                        <a:ea typeface="Cambria Math" panose="02040503050406030204" pitchFamily="18" charset="0"/>
                      </a:rPr>
                      <m:t> </m:t>
                    </m:r>
                    <m:r>
                      <a:rPr kumimoji="1" lang="en-US" altLang="zh-TW" b="0" i="1" smtClean="0">
                        <a:latin typeface="Cambria Math" panose="02040503050406030204" pitchFamily="18" charset="0"/>
                        <a:ea typeface="Cambria Math" panose="02040503050406030204" pitchFamily="18" charset="0"/>
                      </a:rPr>
                      <m:t>𝑜𝑟</m:t>
                    </m:r>
                    <m:r>
                      <a:rPr kumimoji="1" lang="zh-TW" altLang="en-US" b="0" i="1" smtClean="0">
                        <a:latin typeface="Cambria Math" panose="02040503050406030204" pitchFamily="18" charset="0"/>
                        <a:ea typeface="Cambria Math" panose="02040503050406030204" pitchFamily="18" charset="0"/>
                      </a:rPr>
                      <m:t> </m:t>
                    </m:r>
                    <m:r>
                      <a:rPr kumimoji="1" lang="en-US" altLang="zh-TW" b="0" i="1" smtClean="0">
                        <a:latin typeface="Cambria Math" panose="02040503050406030204" pitchFamily="18" charset="0"/>
                        <a:ea typeface="Cambria Math" panose="02040503050406030204" pitchFamily="18" charset="0"/>
                      </a:rPr>
                      <m:t>0</m:t>
                    </m:r>
                  </m:oMath>
                </a14:m>
                <a:endParaRPr kumimoji="1" lang="en-US" altLang="zh-TW" dirty="0"/>
              </a:p>
              <a:p>
                <a:pPr lvl="1">
                  <a:lnSpc>
                    <a:spcPct val="110000"/>
                  </a:lnSpc>
                </a:pPr>
                <a:r>
                  <a:rPr kumimoji="1" lang="zh-TW" altLang="en-US" dirty="0"/>
                  <a:t>把這些</a:t>
                </a:r>
                <a14:m>
                  <m:oMath xmlns:m="http://schemas.openxmlformats.org/officeDocument/2006/math">
                    <m:r>
                      <a:rPr kumimoji="1" lang="en-US" altLang="zh-TW" i="1" smtClean="0">
                        <a:latin typeface="Cambria Math" panose="02040503050406030204" pitchFamily="18" charset="0"/>
                        <a:ea typeface="Cambria Math" panose="02040503050406030204" pitchFamily="18" charset="0"/>
                      </a:rPr>
                      <m:t>𝜆</m:t>
                    </m:r>
                  </m:oMath>
                </a14:m>
                <a:r>
                  <a:rPr kumimoji="1" lang="zh-TW" altLang="en-US" u="sng" dirty="0"/>
                  <a:t>開根號</a:t>
                </a:r>
                <a:r>
                  <a:rPr kumimoji="1" lang="zh-TW" altLang="en-US" dirty="0"/>
                  <a:t>後，按照從大到小放回跟</a:t>
                </a:r>
                <a14:m>
                  <m:oMath xmlns:m="http://schemas.openxmlformats.org/officeDocument/2006/math">
                    <m:r>
                      <a:rPr kumimoji="1" lang="en-US" altLang="zh-TW" i="1">
                        <a:latin typeface="Cambria Math" panose="02040503050406030204" pitchFamily="18" charset="0"/>
                      </a:rPr>
                      <m:t>𝐴</m:t>
                    </m:r>
                  </m:oMath>
                </a14:m>
                <a:r>
                  <a:rPr kumimoji="1" lang="zh-TW" altLang="en-US" dirty="0"/>
                  <a:t>一模一樣的矩陣內，其餘位置都放</a:t>
                </a:r>
                <a:r>
                  <a:rPr kumimoji="1" lang="en-US" altLang="zh-TW" dirty="0"/>
                  <a:t>0</a:t>
                </a:r>
                <a:r>
                  <a:rPr kumimoji="1" lang="zh-TW" altLang="en-US" dirty="0"/>
                  <a:t>，計算出</a:t>
                </a:r>
                <a14:m>
                  <m:oMath xmlns:m="http://schemas.openxmlformats.org/officeDocument/2006/math">
                    <m:r>
                      <m:rPr>
                        <m:sty m:val="p"/>
                      </m:rPr>
                      <a:rPr kumimoji="1" lang="el-GR" altLang="zh-TW" i="1">
                        <a:latin typeface="Cambria Math" panose="02040503050406030204" pitchFamily="18" charset="0"/>
                        <a:ea typeface="Cambria Math" panose="02040503050406030204" pitchFamily="18" charset="0"/>
                      </a:rPr>
                      <m:t>Σ</m:t>
                    </m:r>
                  </m:oMath>
                </a14:m>
                <a:endParaRPr kumimoji="1" lang="en-US" altLang="zh-TW" dirty="0"/>
              </a:p>
              <a:p>
                <a:pPr lvl="1">
                  <a:lnSpc>
                    <a:spcPct val="110000"/>
                  </a:lnSpc>
                </a:pPr>
                <a14:m>
                  <m:oMath xmlns:m="http://schemas.openxmlformats.org/officeDocument/2006/math">
                    <m:r>
                      <m:rPr>
                        <m:sty m:val="p"/>
                      </m:rPr>
                      <a:rPr kumimoji="1" lang="el-GR" altLang="zh-TW" sz="2800" i="1">
                        <a:latin typeface="Cambria Math" panose="02040503050406030204" pitchFamily="18" charset="0"/>
                        <a:ea typeface="Cambria Math" panose="02040503050406030204" pitchFamily="18" charset="0"/>
                      </a:rPr>
                      <m:t>Σ</m:t>
                    </m:r>
                    <m:r>
                      <a:rPr kumimoji="1" lang="en-US" altLang="zh-TW" sz="2800" b="0" i="1" smtClean="0">
                        <a:latin typeface="Cambria Math" panose="02040503050406030204" pitchFamily="18" charset="0"/>
                        <a:ea typeface="Cambria Math" panose="02040503050406030204" pitchFamily="18" charset="0"/>
                      </a:rPr>
                      <m:t>=</m:t>
                    </m:r>
                    <m:d>
                      <m:dPr>
                        <m:begChr m:val="["/>
                        <m:endChr m:val="]"/>
                        <m:ctrlPr>
                          <a:rPr kumimoji="1" lang="en-US" altLang="zh-TW" sz="2800" b="0" i="1" smtClean="0">
                            <a:latin typeface="Cambria Math" panose="02040503050406030204" pitchFamily="18" charset="0"/>
                            <a:ea typeface="Cambria Math" panose="02040503050406030204" pitchFamily="18" charset="0"/>
                          </a:rPr>
                        </m:ctrlPr>
                      </m:dPr>
                      <m:e>
                        <m:m>
                          <m:mPr>
                            <m:mcs>
                              <m:mc>
                                <m:mcPr>
                                  <m:count m:val="2"/>
                                  <m:mcJc m:val="center"/>
                                </m:mcPr>
                              </m:mc>
                            </m:mcs>
                            <m:ctrlPr>
                              <a:rPr kumimoji="1" lang="en-US" altLang="zh-TW" sz="2800" b="0" i="1" smtClean="0">
                                <a:latin typeface="Cambria Math" panose="02040503050406030204" pitchFamily="18" charset="0"/>
                                <a:ea typeface="Cambria Math" panose="02040503050406030204" pitchFamily="18" charset="0"/>
                              </a:rPr>
                            </m:ctrlPr>
                          </m:mPr>
                          <m:mr>
                            <m:e>
                              <m:rad>
                                <m:radPr>
                                  <m:degHide m:val="on"/>
                                  <m:ctrlPr>
                                    <a:rPr kumimoji="1" lang="en-US" altLang="zh-TW" sz="2800" b="0" i="1" smtClean="0">
                                      <a:latin typeface="Cambria Math" panose="02040503050406030204" pitchFamily="18" charset="0"/>
                                      <a:ea typeface="Cambria Math" panose="02040503050406030204" pitchFamily="18" charset="0"/>
                                    </a:rPr>
                                  </m:ctrlPr>
                                </m:radPr>
                                <m:deg/>
                                <m:e>
                                  <m:r>
                                    <a:rPr kumimoji="1" lang="en-US" altLang="zh-TW" sz="2800" b="0" i="1" smtClean="0">
                                      <a:latin typeface="Cambria Math" panose="02040503050406030204" pitchFamily="18" charset="0"/>
                                      <a:ea typeface="Cambria Math" panose="02040503050406030204" pitchFamily="18" charset="0"/>
                                    </a:rPr>
                                    <m:t>3</m:t>
                                  </m:r>
                                </m:e>
                              </m:rad>
                            </m:e>
                            <m:e>
                              <m:r>
                                <a:rPr kumimoji="1" lang="en-US" altLang="zh-TW" sz="2800" b="0" i="1" smtClean="0">
                                  <a:latin typeface="Cambria Math" panose="02040503050406030204" pitchFamily="18" charset="0"/>
                                  <a:ea typeface="Cambria Math" panose="02040503050406030204" pitchFamily="18" charset="0"/>
                                </a:rPr>
                                <m:t>0</m:t>
                              </m:r>
                            </m:e>
                          </m:mr>
                          <m:mr>
                            <m:e>
                              <m:r>
                                <a:rPr kumimoji="1" lang="en-US" altLang="zh-TW" sz="2800" b="0" i="1" smtClean="0">
                                  <a:latin typeface="Cambria Math" panose="02040503050406030204" pitchFamily="18" charset="0"/>
                                  <a:ea typeface="Cambria Math" panose="02040503050406030204" pitchFamily="18" charset="0"/>
                                </a:rPr>
                                <m:t>0</m:t>
                              </m:r>
                            </m:e>
                            <m:e>
                              <m:rad>
                                <m:radPr>
                                  <m:degHide m:val="on"/>
                                  <m:ctrlPr>
                                    <a:rPr kumimoji="1" lang="en-US" altLang="zh-TW" sz="2800" b="0" i="1" smtClean="0">
                                      <a:latin typeface="Cambria Math" panose="02040503050406030204" pitchFamily="18" charset="0"/>
                                      <a:ea typeface="Cambria Math" panose="02040503050406030204" pitchFamily="18" charset="0"/>
                                    </a:rPr>
                                  </m:ctrlPr>
                                </m:radPr>
                                <m:deg/>
                                <m:e>
                                  <m:r>
                                    <a:rPr kumimoji="1" lang="en-US" altLang="zh-TW" sz="2800" b="0" i="1" smtClean="0">
                                      <a:latin typeface="Cambria Math" panose="02040503050406030204" pitchFamily="18" charset="0"/>
                                      <a:ea typeface="Cambria Math" panose="02040503050406030204" pitchFamily="18" charset="0"/>
                                    </a:rPr>
                                    <m:t>2</m:t>
                                  </m:r>
                                </m:e>
                              </m:rad>
                            </m:e>
                          </m:mr>
                          <m:mr>
                            <m:e>
                              <m:r>
                                <a:rPr kumimoji="1" lang="en-US" altLang="zh-TW" sz="2800" b="0" i="1" smtClean="0">
                                  <a:latin typeface="Cambria Math" panose="02040503050406030204" pitchFamily="18" charset="0"/>
                                  <a:ea typeface="Cambria Math" panose="02040503050406030204" pitchFamily="18" charset="0"/>
                                </a:rPr>
                                <m:t>0</m:t>
                              </m:r>
                            </m:e>
                            <m:e>
                              <m:r>
                                <a:rPr kumimoji="1" lang="en-US" altLang="zh-TW" sz="2800" b="0" i="1" smtClean="0">
                                  <a:latin typeface="Cambria Math" panose="02040503050406030204" pitchFamily="18" charset="0"/>
                                  <a:ea typeface="Cambria Math" panose="02040503050406030204" pitchFamily="18" charset="0"/>
                                </a:rPr>
                                <m:t>0</m:t>
                              </m:r>
                            </m:e>
                          </m:mr>
                        </m:m>
                      </m:e>
                    </m:d>
                  </m:oMath>
                </a14:m>
                <a:endParaRPr kumimoji="1" lang="zh-TW" altLang="en-US" sz="2800" dirty="0"/>
              </a:p>
            </p:txBody>
          </p:sp>
        </mc:Choice>
        <mc:Fallback xmlns="">
          <p:sp>
            <p:nvSpPr>
              <p:cNvPr id="3" name="內容版面配置區 2">
                <a:extLst>
                  <a:ext uri="{FF2B5EF4-FFF2-40B4-BE49-F238E27FC236}">
                    <a16:creationId xmlns:a16="http://schemas.microsoft.com/office/drawing/2014/main" id="{5B482414-0CD2-C696-B0D5-8D8CF12E7372}"/>
                  </a:ext>
                </a:extLst>
              </p:cNvPr>
              <p:cNvSpPr>
                <a:spLocks noGrp="1" noRot="1" noChangeAspect="1" noMove="1" noResize="1" noEditPoints="1" noAdjustHandles="1" noChangeArrowheads="1" noChangeShapeType="1" noTextEdit="1"/>
              </p:cNvSpPr>
              <p:nvPr>
                <p:ph idx="1"/>
              </p:nvPr>
            </p:nvSpPr>
            <p:spPr>
              <a:xfrm>
                <a:off x="838200" y="1825625"/>
                <a:ext cx="10515600" cy="4888442"/>
              </a:xfrm>
              <a:blipFill>
                <a:blip r:embed="rId2"/>
                <a:stretch>
                  <a:fillRect l="-844" t="-51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265922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D56F72-6A9D-C691-3DE4-F3296CAAB3A6}"/>
              </a:ext>
            </a:extLst>
          </p:cNvPr>
          <p:cNvSpPr>
            <a:spLocks noGrp="1"/>
          </p:cNvSpPr>
          <p:nvPr>
            <p:ph type="title"/>
          </p:nvPr>
        </p:nvSpPr>
        <p:spPr/>
        <p:txBody>
          <a:bodyPr/>
          <a:lstStyle/>
          <a:p>
            <a:r>
              <a:rPr kumimoji="1" lang="zh-TW" altLang="en" dirty="0"/>
              <a:t>奇</a:t>
            </a:r>
            <a:r>
              <a:rPr kumimoji="1" lang="zh-TW" altLang="en-US" dirty="0"/>
              <a:t>異值分解</a:t>
            </a:r>
            <a:br>
              <a:rPr kumimoji="1" lang="en-US" altLang="zh-TW" dirty="0"/>
            </a:br>
            <a:r>
              <a:rPr kumimoji="1" lang="en" altLang="zh-TW" dirty="0"/>
              <a:t>Singular Value Decomposition</a:t>
            </a:r>
            <a:r>
              <a:rPr kumimoji="1" lang="en-US" altLang="zh-TW" dirty="0"/>
              <a:t>,</a:t>
            </a:r>
            <a:r>
              <a:rPr kumimoji="1" lang="zh-TW" altLang="en-US" dirty="0"/>
              <a:t> </a:t>
            </a:r>
            <a:r>
              <a:rPr kumimoji="1" lang="en-US" altLang="zh-TW" dirty="0"/>
              <a:t>SVD</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DFB6F34F-8A27-C4B2-8D7C-67F6DB9FE467}"/>
                  </a:ext>
                </a:extLst>
              </p:cNvPr>
              <p:cNvSpPr>
                <a:spLocks noGrp="1"/>
              </p:cNvSpPr>
              <p:nvPr>
                <p:ph idx="1"/>
              </p:nvPr>
            </p:nvSpPr>
            <p:spPr>
              <a:xfrm>
                <a:off x="838200" y="1825625"/>
                <a:ext cx="10515600" cy="5091642"/>
              </a:xfrm>
            </p:spPr>
            <p:txBody>
              <a:bodyPr>
                <a:normAutofit fontScale="92500" lnSpcReduction="10000"/>
              </a:bodyPr>
              <a:lstStyle/>
              <a:p>
                <a:pPr>
                  <a:lnSpc>
                    <a:spcPct val="110000"/>
                  </a:lnSpc>
                </a:pPr>
                <a:r>
                  <a:rPr kumimoji="1" lang="zh-TW" altLang="en-US" sz="2400" dirty="0"/>
                  <a:t>接著計算</a:t>
                </a:r>
                <a:r>
                  <a:rPr kumimoji="1" lang="en-US" altLang="zh-TW" sz="2400" dirty="0"/>
                  <a:t>eigenvector</a:t>
                </a:r>
                <a:r>
                  <a:rPr kumimoji="1" lang="zh-TW" altLang="en-US" sz="2400" dirty="0"/>
                  <a:t>，</a:t>
                </a:r>
                <a:r>
                  <a:rPr kumimoji="1" lang="en-US" altLang="zh-TW" sz="2400" b="0" dirty="0"/>
                  <a:t> </a:t>
                </a:r>
                <a14:m>
                  <m:oMath xmlns:m="http://schemas.openxmlformats.org/officeDocument/2006/math">
                    <m:r>
                      <a:rPr kumimoji="1" lang="zh-TW" altLang="en-US" sz="2400" i="1" dirty="0">
                        <a:latin typeface="Cambria Math" panose="02040503050406030204" pitchFamily="18" charset="0"/>
                      </a:rPr>
                      <m:t>計</m:t>
                    </m:r>
                    <m:r>
                      <a:rPr kumimoji="1" lang="zh-TW" altLang="en-US" sz="2400" i="1" dirty="0" smtClean="0">
                        <a:latin typeface="Cambria Math" panose="02040503050406030204" pitchFamily="18" charset="0"/>
                      </a:rPr>
                      <m:t>算</m:t>
                    </m:r>
                    <m:d>
                      <m:dPr>
                        <m:begChr m:val="["/>
                        <m:endChr m:val="]"/>
                        <m:ctrlPr>
                          <a:rPr kumimoji="1" lang="en-US" altLang="zh-TW" sz="2400" b="0" i="1" smtClean="0">
                            <a:latin typeface="Cambria Math" panose="02040503050406030204" pitchFamily="18" charset="0"/>
                          </a:rPr>
                        </m:ctrlPr>
                      </m:dPr>
                      <m:e>
                        <m:m>
                          <m:mPr>
                            <m:mcs>
                              <m:mc>
                                <m:mcPr>
                                  <m:count m:val="3"/>
                                  <m:mcJc m:val="center"/>
                                </m:mcPr>
                              </m:mc>
                            </m:mcs>
                            <m:ctrlPr>
                              <a:rPr kumimoji="1" lang="en-US" altLang="zh-TW" sz="2400" b="0" i="1" smtClean="0">
                                <a:latin typeface="Cambria Math" panose="02040503050406030204" pitchFamily="18" charset="0"/>
                              </a:rPr>
                            </m:ctrlPr>
                          </m:mPr>
                          <m:mr>
                            <m:e>
                              <m:r>
                                <m:rPr>
                                  <m:brk m:alnAt="7"/>
                                </m:rPr>
                                <a:rPr kumimoji="1" lang="en-US" altLang="zh-TW" sz="2400" b="0" i="1" smtClean="0">
                                  <a:latin typeface="Cambria Math" panose="02040503050406030204" pitchFamily="18" charset="0"/>
                                </a:rPr>
                                <m:t>2</m:t>
                              </m:r>
                              <m:r>
                                <a:rPr kumimoji="1" lang="en-US" altLang="zh-TW" sz="2400" i="1">
                                  <a:latin typeface="Cambria Math" panose="02040503050406030204" pitchFamily="18" charset="0"/>
                                </a:rPr>
                                <m:t>−</m:t>
                              </m:r>
                              <m:r>
                                <a:rPr kumimoji="1" lang="en-US" altLang="zh-TW" sz="2400" i="1">
                                  <a:latin typeface="Cambria Math" panose="02040503050406030204" pitchFamily="18" charset="0"/>
                                  <a:ea typeface="Cambria Math" panose="02040503050406030204" pitchFamily="18" charset="0"/>
                                </a:rPr>
                                <m:t>𝜆</m:t>
                              </m:r>
                            </m:e>
                            <m:e>
                              <m:r>
                                <a:rPr kumimoji="1" lang="en-US" altLang="zh-TW" sz="2400" b="0" i="1" smtClean="0">
                                  <a:latin typeface="Cambria Math" panose="02040503050406030204" pitchFamily="18" charset="0"/>
                                </a:rPr>
                                <m:t>−1</m:t>
                              </m:r>
                            </m:e>
                            <m:e>
                              <m:r>
                                <a:rPr kumimoji="1" lang="en-US" altLang="zh-TW" sz="2400" b="0" i="1" smtClean="0">
                                  <a:latin typeface="Cambria Math" panose="02040503050406030204" pitchFamily="18" charset="0"/>
                                </a:rPr>
                                <m:t>0</m:t>
                              </m:r>
                            </m:e>
                          </m:mr>
                          <m:mr>
                            <m:e>
                              <m:r>
                                <a:rPr kumimoji="1" lang="en-US" altLang="zh-TW" sz="2400" b="0" i="1" smtClean="0">
                                  <a:latin typeface="Cambria Math" panose="02040503050406030204" pitchFamily="18" charset="0"/>
                                </a:rPr>
                                <m:t>−1</m:t>
                              </m:r>
                            </m:e>
                            <m:e>
                              <m:r>
                                <a:rPr kumimoji="1" lang="en-US" altLang="zh-TW" sz="2400" b="0" i="1" smtClean="0">
                                  <a:latin typeface="Cambria Math" panose="02040503050406030204" pitchFamily="18" charset="0"/>
                                </a:rPr>
                                <m:t>1</m:t>
                              </m:r>
                              <m:r>
                                <m:rPr>
                                  <m:brk m:alnAt="7"/>
                                </m:rPr>
                                <a:rPr kumimoji="1" lang="en-US" altLang="zh-TW" sz="2400" i="1">
                                  <a:latin typeface="Cambria Math" panose="02040503050406030204" pitchFamily="18" charset="0"/>
                                </a:rPr>
                                <m:t>−</m:t>
                              </m:r>
                              <m:r>
                                <a:rPr kumimoji="1" lang="en-US" altLang="zh-TW" sz="2400" i="1">
                                  <a:latin typeface="Cambria Math" panose="02040503050406030204" pitchFamily="18" charset="0"/>
                                  <a:ea typeface="Cambria Math" panose="02040503050406030204" pitchFamily="18" charset="0"/>
                                </a:rPr>
                                <m:t>𝜆</m:t>
                              </m:r>
                            </m:e>
                            <m:e>
                              <m:r>
                                <a:rPr kumimoji="1" lang="en-US" altLang="zh-TW" sz="2400" b="0" i="1" smtClean="0">
                                  <a:latin typeface="Cambria Math" panose="02040503050406030204" pitchFamily="18" charset="0"/>
                                </a:rPr>
                                <m:t>−1</m:t>
                              </m:r>
                            </m:e>
                          </m:mr>
                          <m:mr>
                            <m:e>
                              <m:r>
                                <a:rPr kumimoji="1" lang="en-US" altLang="zh-TW" sz="2400" b="0" i="1" smtClean="0">
                                  <a:latin typeface="Cambria Math" panose="02040503050406030204" pitchFamily="18" charset="0"/>
                                </a:rPr>
                                <m:t>0</m:t>
                              </m:r>
                            </m:e>
                            <m:e>
                              <m:r>
                                <a:rPr kumimoji="1" lang="en-US" altLang="zh-TW" sz="2400" b="0" i="1" smtClean="0">
                                  <a:latin typeface="Cambria Math" panose="02040503050406030204" pitchFamily="18" charset="0"/>
                                </a:rPr>
                                <m:t>−1</m:t>
                              </m:r>
                            </m:e>
                            <m:e>
                              <m:r>
                                <a:rPr kumimoji="1" lang="en-US" altLang="zh-TW" sz="2400" b="0" i="1" smtClean="0">
                                  <a:latin typeface="Cambria Math" panose="02040503050406030204" pitchFamily="18" charset="0"/>
                                </a:rPr>
                                <m:t>2</m:t>
                              </m:r>
                              <m:r>
                                <m:rPr>
                                  <m:brk m:alnAt="7"/>
                                </m:rPr>
                                <a:rPr kumimoji="1" lang="en-US" altLang="zh-TW" sz="2400" i="1">
                                  <a:latin typeface="Cambria Math" panose="02040503050406030204" pitchFamily="18" charset="0"/>
                                </a:rPr>
                                <m:t>−</m:t>
                              </m:r>
                              <m:r>
                                <a:rPr kumimoji="1" lang="en-US" altLang="zh-TW" sz="2400" i="1">
                                  <a:latin typeface="Cambria Math" panose="02040503050406030204" pitchFamily="18" charset="0"/>
                                  <a:ea typeface="Cambria Math" panose="02040503050406030204" pitchFamily="18" charset="0"/>
                                </a:rPr>
                                <m:t>𝜆</m:t>
                              </m:r>
                            </m:e>
                          </m:mr>
                        </m:m>
                      </m:e>
                    </m:d>
                  </m:oMath>
                </a14:m>
                <a:endParaRPr kumimoji="1" lang="en-US" altLang="zh-TW" sz="2400" dirty="0"/>
              </a:p>
              <a:p>
                <a:pPr lvl="1">
                  <a:lnSpc>
                    <a:spcPct val="110000"/>
                  </a:lnSpc>
                </a:pPr>
                <a14:m>
                  <m:oMath xmlns:m="http://schemas.openxmlformats.org/officeDocument/2006/math">
                    <m:r>
                      <a:rPr kumimoji="1" lang="en-US" altLang="zh-TW" sz="2100" i="1" smtClean="0">
                        <a:latin typeface="Cambria Math" panose="02040503050406030204" pitchFamily="18" charset="0"/>
                        <a:ea typeface="Cambria Math" panose="02040503050406030204" pitchFamily="18" charset="0"/>
                      </a:rPr>
                      <m:t>𝜆</m:t>
                    </m:r>
                    <m:r>
                      <a:rPr kumimoji="1" lang="en-US" altLang="zh-TW" sz="2100" b="0" i="1" smtClean="0">
                        <a:latin typeface="Cambria Math" panose="02040503050406030204" pitchFamily="18" charset="0"/>
                        <a:ea typeface="Cambria Math" panose="02040503050406030204" pitchFamily="18" charset="0"/>
                      </a:rPr>
                      <m:t>=3</m:t>
                    </m:r>
                  </m:oMath>
                </a14:m>
                <a:r>
                  <a:rPr kumimoji="1" lang="zh-TW" altLang="en-US" sz="2100" dirty="0"/>
                  <a:t>時，</a:t>
                </a:r>
                <a14:m>
                  <m:oMath xmlns:m="http://schemas.openxmlformats.org/officeDocument/2006/math">
                    <m:d>
                      <m:dPr>
                        <m:begChr m:val="{"/>
                        <m:endChr m:val=""/>
                        <m:ctrlPr>
                          <a:rPr kumimoji="1" lang="en-US" altLang="zh-TW" sz="2100" i="1" smtClean="0">
                            <a:latin typeface="Cambria Math" panose="02040503050406030204" pitchFamily="18" charset="0"/>
                          </a:rPr>
                        </m:ctrlPr>
                      </m:dPr>
                      <m:e>
                        <m:m>
                          <m:mPr>
                            <m:mcs>
                              <m:mc>
                                <m:mcPr>
                                  <m:count m:val="1"/>
                                  <m:mcJc m:val="center"/>
                                </m:mcPr>
                              </m:mc>
                            </m:mcs>
                            <m:ctrlPr>
                              <a:rPr kumimoji="1" lang="en-US" altLang="zh-TW" sz="2100" i="1" smtClean="0">
                                <a:latin typeface="Cambria Math" panose="02040503050406030204" pitchFamily="18" charset="0"/>
                              </a:rPr>
                            </m:ctrlPr>
                          </m:mPr>
                          <m:mr>
                            <m:e>
                              <m:r>
                                <m:rPr>
                                  <m:brk m:alnAt="7"/>
                                </m:rPr>
                                <a:rPr kumimoji="1" lang="en-US" altLang="zh-TW" sz="2100" b="0" i="1" smtClean="0">
                                  <a:latin typeface="Cambria Math" panose="02040503050406030204" pitchFamily="18" charset="0"/>
                                </a:rPr>
                                <m:t>−</m:t>
                              </m:r>
                              <m:sSub>
                                <m:sSubPr>
                                  <m:ctrlPr>
                                    <a:rPr kumimoji="1" lang="en-US" altLang="zh-TW" sz="2100" b="0" i="1" smtClean="0">
                                      <a:latin typeface="Cambria Math" panose="02040503050406030204" pitchFamily="18" charset="0"/>
                                    </a:rPr>
                                  </m:ctrlPr>
                                </m:sSubPr>
                                <m:e>
                                  <m:r>
                                    <a:rPr kumimoji="1" lang="en-US" altLang="zh-TW" sz="2100" b="0" i="1" smtClean="0">
                                      <a:latin typeface="Cambria Math" panose="02040503050406030204" pitchFamily="18" charset="0"/>
                                    </a:rPr>
                                    <m:t>𝑥</m:t>
                                  </m:r>
                                </m:e>
                                <m:sub>
                                  <m:r>
                                    <a:rPr kumimoji="1" lang="en-US" altLang="zh-TW" sz="2100" b="0" i="1" smtClean="0">
                                      <a:latin typeface="Cambria Math" panose="02040503050406030204" pitchFamily="18" charset="0"/>
                                    </a:rPr>
                                    <m:t>1</m:t>
                                  </m:r>
                                </m:sub>
                              </m:sSub>
                              <m:r>
                                <m:rPr>
                                  <m:brk m:alnAt="7"/>
                                </m:rPr>
                                <a:rPr kumimoji="1" lang="en-US" altLang="zh-TW" sz="2100" b="0" i="1" smtClean="0">
                                  <a:latin typeface="Cambria Math" panose="02040503050406030204" pitchFamily="18" charset="0"/>
                                </a:rPr>
                                <m:t>−</m:t>
                              </m:r>
                              <m:sSub>
                                <m:sSubPr>
                                  <m:ctrlPr>
                                    <a:rPr kumimoji="1" lang="en-US" altLang="zh-TW" sz="2100" b="0" i="1" smtClean="0">
                                      <a:latin typeface="Cambria Math" panose="02040503050406030204" pitchFamily="18" charset="0"/>
                                    </a:rPr>
                                  </m:ctrlPr>
                                </m:sSubPr>
                                <m:e>
                                  <m:r>
                                    <a:rPr kumimoji="1" lang="en-US" altLang="zh-TW" sz="2100" b="0" i="1" smtClean="0">
                                      <a:latin typeface="Cambria Math" panose="02040503050406030204" pitchFamily="18" charset="0"/>
                                    </a:rPr>
                                    <m:t>𝑥</m:t>
                                  </m:r>
                                </m:e>
                                <m:sub>
                                  <m:r>
                                    <a:rPr kumimoji="1" lang="en-US" altLang="zh-TW" sz="2100" b="0" i="1" smtClean="0">
                                      <a:latin typeface="Cambria Math" panose="02040503050406030204" pitchFamily="18" charset="0"/>
                                    </a:rPr>
                                    <m:t>2</m:t>
                                  </m:r>
                                </m:sub>
                              </m:sSub>
                              <m:r>
                                <m:rPr>
                                  <m:brk m:alnAt="7"/>
                                </m:rPr>
                                <a:rPr kumimoji="1" lang="en-US" altLang="zh-TW" sz="2100" b="0" i="1" smtClean="0">
                                  <a:latin typeface="Cambria Math" panose="02040503050406030204" pitchFamily="18" charset="0"/>
                                </a:rPr>
                                <m:t>+</m:t>
                              </m:r>
                              <m:r>
                                <a:rPr kumimoji="1" lang="en-US" altLang="zh-TW" sz="2100" b="0" i="1" smtClean="0">
                                  <a:latin typeface="Cambria Math" panose="02040503050406030204" pitchFamily="18" charset="0"/>
                                </a:rPr>
                                <m:t>0</m:t>
                              </m:r>
                              <m:sSub>
                                <m:sSubPr>
                                  <m:ctrlPr>
                                    <a:rPr kumimoji="1" lang="en-US" altLang="zh-TW" sz="2100" b="0" i="1" smtClean="0">
                                      <a:latin typeface="Cambria Math" panose="02040503050406030204" pitchFamily="18" charset="0"/>
                                    </a:rPr>
                                  </m:ctrlPr>
                                </m:sSubPr>
                                <m:e>
                                  <m:r>
                                    <a:rPr kumimoji="1" lang="en-US" altLang="zh-TW" sz="2100" b="0" i="1" smtClean="0">
                                      <a:latin typeface="Cambria Math" panose="02040503050406030204" pitchFamily="18" charset="0"/>
                                    </a:rPr>
                                    <m:t>𝑥</m:t>
                                  </m:r>
                                </m:e>
                                <m:sub>
                                  <m:r>
                                    <a:rPr kumimoji="1" lang="en-US" altLang="zh-TW" sz="2100" b="0" i="1" smtClean="0">
                                      <a:latin typeface="Cambria Math" panose="02040503050406030204" pitchFamily="18" charset="0"/>
                                    </a:rPr>
                                    <m:t>3</m:t>
                                  </m:r>
                                </m:sub>
                              </m:sSub>
                              <m:r>
                                <m:rPr>
                                  <m:brk m:alnAt="7"/>
                                </m:rPr>
                                <a:rPr kumimoji="1" lang="en-US" altLang="zh-TW" sz="2100" b="0" i="1" smtClean="0">
                                  <a:latin typeface="Cambria Math" panose="02040503050406030204" pitchFamily="18" charset="0"/>
                                </a:rPr>
                                <m:t>=</m:t>
                              </m:r>
                              <m:r>
                                <a:rPr kumimoji="1" lang="en-US" altLang="zh-TW" sz="2100" b="0" i="1" smtClean="0">
                                  <a:latin typeface="Cambria Math" panose="02040503050406030204" pitchFamily="18" charset="0"/>
                                </a:rPr>
                                <m:t>0</m:t>
                              </m:r>
                            </m:e>
                          </m:mr>
                          <m:mr>
                            <m:e>
                              <m:r>
                                <m:rPr>
                                  <m:brk m:alnAt="7"/>
                                </m:rPr>
                                <a:rPr kumimoji="1" lang="en-US" altLang="zh-TW" sz="2100" i="1">
                                  <a:latin typeface="Cambria Math" panose="02040503050406030204" pitchFamily="18" charset="0"/>
                                </a:rPr>
                                <m:t>−</m:t>
                              </m:r>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1</m:t>
                                  </m:r>
                                </m:sub>
                              </m:sSub>
                              <m:r>
                                <m:rPr>
                                  <m:brk m:alnAt="7"/>
                                </m:rPr>
                                <a:rPr kumimoji="1" lang="en-US" altLang="zh-TW" sz="2100" i="1">
                                  <a:latin typeface="Cambria Math" panose="02040503050406030204" pitchFamily="18" charset="0"/>
                                </a:rPr>
                                <m:t>−</m:t>
                              </m:r>
                              <m:sSub>
                                <m:sSubPr>
                                  <m:ctrlPr>
                                    <a:rPr kumimoji="1" lang="en-US" altLang="zh-TW" sz="2100" i="1">
                                      <a:latin typeface="Cambria Math" panose="02040503050406030204" pitchFamily="18" charset="0"/>
                                    </a:rPr>
                                  </m:ctrlPr>
                                </m:sSubPr>
                                <m:e>
                                  <m:r>
                                    <a:rPr kumimoji="1" lang="en-US" altLang="zh-TW" sz="2100" b="0" i="1" smtClean="0">
                                      <a:latin typeface="Cambria Math" panose="02040503050406030204" pitchFamily="18" charset="0"/>
                                    </a:rPr>
                                    <m:t>2</m:t>
                                  </m:r>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2</m:t>
                                  </m:r>
                                </m:sub>
                              </m:sSub>
                              <m:r>
                                <a:rPr kumimoji="1" lang="en-US" altLang="zh-TW" sz="2100" b="0" i="1" smtClean="0">
                                  <a:latin typeface="Cambria Math" panose="02040503050406030204" pitchFamily="18" charset="0"/>
                                </a:rPr>
                                <m:t>−</m:t>
                              </m:r>
                              <m:sSub>
                                <m:sSubPr>
                                  <m:ctrlPr>
                                    <a:rPr kumimoji="1" lang="en-US" altLang="zh-TW" sz="2100" i="1" smtClean="0">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3</m:t>
                                  </m:r>
                                </m:sub>
                              </m:sSub>
                              <m:r>
                                <m:rPr>
                                  <m:brk m:alnAt="7"/>
                                </m:rPr>
                                <a:rPr kumimoji="1" lang="en-US" altLang="zh-TW" sz="2100" i="1">
                                  <a:latin typeface="Cambria Math" panose="02040503050406030204" pitchFamily="18" charset="0"/>
                                </a:rPr>
                                <m:t>=</m:t>
                              </m:r>
                              <m:r>
                                <a:rPr kumimoji="1" lang="en-US" altLang="zh-TW" sz="2100" i="1">
                                  <a:latin typeface="Cambria Math" panose="02040503050406030204" pitchFamily="18" charset="0"/>
                                </a:rPr>
                                <m:t>0</m:t>
                              </m:r>
                            </m:e>
                          </m:mr>
                          <m:mr>
                            <m:e>
                              <m:r>
                                <a:rPr kumimoji="1" lang="en-US" altLang="zh-TW" sz="2100" b="0" i="1" smtClean="0">
                                  <a:latin typeface="Cambria Math" panose="02040503050406030204" pitchFamily="18" charset="0"/>
                                </a:rPr>
                                <m:t>0</m:t>
                              </m:r>
                              <m:sSub>
                                <m:sSubPr>
                                  <m:ctrlPr>
                                    <a:rPr kumimoji="1" lang="en-US" altLang="zh-TW" sz="2100" i="1" smtClean="0">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1</m:t>
                                  </m:r>
                                </m:sub>
                              </m:sSub>
                              <m:r>
                                <m:rPr>
                                  <m:brk m:alnAt="7"/>
                                </m:rPr>
                                <a:rPr kumimoji="1" lang="en-US" altLang="zh-TW" sz="2100" i="1">
                                  <a:latin typeface="Cambria Math" panose="02040503050406030204" pitchFamily="18" charset="0"/>
                                </a:rPr>
                                <m:t>−</m:t>
                              </m:r>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2</m:t>
                                  </m:r>
                                </m:sub>
                              </m:sSub>
                              <m:r>
                                <a:rPr kumimoji="1" lang="en-US" altLang="zh-TW" sz="2100" i="1">
                                  <a:latin typeface="Cambria Math" panose="02040503050406030204" pitchFamily="18" charset="0"/>
                                </a:rPr>
                                <m:t>−</m:t>
                              </m:r>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3</m:t>
                                  </m:r>
                                </m:sub>
                              </m:sSub>
                              <m:r>
                                <m:rPr>
                                  <m:brk m:alnAt="7"/>
                                </m:rPr>
                                <a:rPr kumimoji="1" lang="en-US" altLang="zh-TW" sz="2100" i="1">
                                  <a:latin typeface="Cambria Math" panose="02040503050406030204" pitchFamily="18" charset="0"/>
                                </a:rPr>
                                <m:t>=</m:t>
                              </m:r>
                              <m:r>
                                <a:rPr kumimoji="1" lang="en-US" altLang="zh-TW" sz="2100" i="1">
                                  <a:latin typeface="Cambria Math" panose="02040503050406030204" pitchFamily="18" charset="0"/>
                                </a:rPr>
                                <m:t>0</m:t>
                              </m:r>
                            </m:e>
                          </m:mr>
                        </m:m>
                      </m:e>
                    </m:d>
                  </m:oMath>
                </a14:m>
                <a:r>
                  <a:rPr kumimoji="1" lang="zh-TW" altLang="en-US" sz="2100" dirty="0"/>
                  <a:t>，得到</a:t>
                </a:r>
                <a14:m>
                  <m:oMath xmlns:m="http://schemas.openxmlformats.org/officeDocument/2006/math">
                    <m:d>
                      <m:dPr>
                        <m:begChr m:val="["/>
                        <m:endChr m:val="]"/>
                        <m:ctrlPr>
                          <a:rPr kumimoji="1" lang="en-US" altLang="zh-TW" sz="2100" i="1" smtClean="0">
                            <a:latin typeface="Cambria Math" panose="02040503050406030204" pitchFamily="18" charset="0"/>
                          </a:rPr>
                        </m:ctrlPr>
                      </m:dPr>
                      <m:e>
                        <m:m>
                          <m:mPr>
                            <m:mcs>
                              <m:mc>
                                <m:mcPr>
                                  <m:count m:val="1"/>
                                  <m:mcJc m:val="center"/>
                                </m:mcPr>
                              </m:mc>
                            </m:mcs>
                            <m:ctrlPr>
                              <a:rPr kumimoji="1" lang="en-US" altLang="zh-TW" sz="2100" i="1" smtClean="0">
                                <a:latin typeface="Cambria Math" panose="02040503050406030204" pitchFamily="18" charset="0"/>
                              </a:rPr>
                            </m:ctrlPr>
                          </m:mPr>
                          <m:mr>
                            <m:e>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1</m:t>
                                  </m:r>
                                </m:sub>
                              </m:sSub>
                            </m:e>
                          </m:mr>
                          <m:mr>
                            <m:e>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b="0" i="1" smtClean="0">
                                      <a:latin typeface="Cambria Math" panose="02040503050406030204" pitchFamily="18" charset="0"/>
                                    </a:rPr>
                                    <m:t>2</m:t>
                                  </m:r>
                                </m:sub>
                              </m:sSub>
                            </m:e>
                          </m:mr>
                          <m:mr>
                            <m:e>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b="0" i="1" smtClean="0">
                                      <a:latin typeface="Cambria Math" panose="02040503050406030204" pitchFamily="18" charset="0"/>
                                    </a:rPr>
                                    <m:t>3</m:t>
                                  </m:r>
                                </m:sub>
                              </m:sSub>
                            </m:e>
                          </m:mr>
                        </m:m>
                      </m:e>
                    </m:d>
                    <m:r>
                      <a:rPr kumimoji="1" lang="en-US" altLang="zh-TW" sz="2100" b="0" i="1" smtClean="0">
                        <a:latin typeface="Cambria Math" panose="02040503050406030204" pitchFamily="18" charset="0"/>
                      </a:rPr>
                      <m:t>=</m:t>
                    </m:r>
                    <m:r>
                      <a:rPr kumimoji="1" lang="en-US" altLang="zh-TW" sz="2100" b="0" i="1" smtClean="0">
                        <a:latin typeface="Cambria Math" panose="02040503050406030204" pitchFamily="18" charset="0"/>
                      </a:rPr>
                      <m:t>𝑟</m:t>
                    </m:r>
                    <m:d>
                      <m:dPr>
                        <m:begChr m:val="["/>
                        <m:endChr m:val="]"/>
                        <m:ctrlPr>
                          <a:rPr kumimoji="1" lang="en-US" altLang="zh-TW" sz="2100" i="1">
                            <a:latin typeface="Cambria Math" panose="02040503050406030204" pitchFamily="18" charset="0"/>
                          </a:rPr>
                        </m:ctrlPr>
                      </m:dPr>
                      <m:e>
                        <m:m>
                          <m:mPr>
                            <m:mcs>
                              <m:mc>
                                <m:mcPr>
                                  <m:count m:val="1"/>
                                  <m:mcJc m:val="center"/>
                                </m:mcPr>
                              </m:mc>
                            </m:mcs>
                            <m:ctrlPr>
                              <a:rPr kumimoji="1" lang="en-US" altLang="zh-TW" sz="2100" i="1">
                                <a:latin typeface="Cambria Math" panose="02040503050406030204" pitchFamily="18" charset="0"/>
                              </a:rPr>
                            </m:ctrlPr>
                          </m:mPr>
                          <m:mr>
                            <m:e>
                              <m:r>
                                <a:rPr kumimoji="1" lang="en-US" altLang="zh-TW" sz="2100" i="1">
                                  <a:latin typeface="Cambria Math" panose="02040503050406030204" pitchFamily="18" charset="0"/>
                                </a:rPr>
                                <m:t>1</m:t>
                              </m:r>
                            </m:e>
                          </m:mr>
                          <m:mr>
                            <m:e>
                              <m:r>
                                <a:rPr kumimoji="1" lang="en-US" altLang="zh-TW" sz="2100" i="1">
                                  <a:latin typeface="Cambria Math" panose="02040503050406030204" pitchFamily="18" charset="0"/>
                                </a:rPr>
                                <m:t>−1</m:t>
                              </m:r>
                            </m:e>
                          </m:mr>
                          <m:mr>
                            <m:e>
                              <m:r>
                                <a:rPr kumimoji="1" lang="en-US" altLang="zh-TW" sz="2100" i="1">
                                  <a:latin typeface="Cambria Math" panose="02040503050406030204" pitchFamily="18" charset="0"/>
                                </a:rPr>
                                <m:t>1</m:t>
                              </m:r>
                            </m:e>
                          </m:mr>
                        </m:m>
                      </m:e>
                    </m:d>
                    <m:r>
                      <a:rPr kumimoji="1" lang="en-US" altLang="zh-TW" sz="2100" b="0" i="1" smtClean="0">
                        <a:latin typeface="Cambria Math" panose="02040503050406030204" pitchFamily="18" charset="0"/>
                      </a:rPr>
                      <m:t>⇒</m:t>
                    </m:r>
                    <m:d>
                      <m:dPr>
                        <m:begChr m:val="["/>
                        <m:endChr m:val="]"/>
                        <m:ctrlPr>
                          <a:rPr kumimoji="1" lang="en-US" altLang="zh-TW" sz="2100" i="1">
                            <a:latin typeface="Cambria Math" panose="02040503050406030204" pitchFamily="18" charset="0"/>
                          </a:rPr>
                        </m:ctrlPr>
                      </m:dPr>
                      <m:e>
                        <m:m>
                          <m:mPr>
                            <m:mcs>
                              <m:mc>
                                <m:mcPr>
                                  <m:count m:val="1"/>
                                  <m:mcJc m:val="center"/>
                                </m:mcPr>
                              </m:mc>
                            </m:mcs>
                            <m:ctrlPr>
                              <a:rPr kumimoji="1" lang="en-US" altLang="zh-TW" sz="2100" i="1">
                                <a:latin typeface="Cambria Math" panose="02040503050406030204" pitchFamily="18" charset="0"/>
                              </a:rPr>
                            </m:ctrlPr>
                          </m:mPr>
                          <m:mr>
                            <m:e>
                              <m:f>
                                <m:fPr>
                                  <m:ctrlPr>
                                    <a:rPr kumimoji="1" lang="en-US" altLang="zh-TW" sz="2100" i="1" smtClean="0">
                                      <a:latin typeface="Cambria Math" panose="02040503050406030204" pitchFamily="18" charset="0"/>
                                    </a:rPr>
                                  </m:ctrlPr>
                                </m:fPr>
                                <m:num>
                                  <m:r>
                                    <a:rPr kumimoji="1" lang="en-US" altLang="zh-TW" sz="2100" b="0" i="1" smtClean="0">
                                      <a:latin typeface="Cambria Math" panose="02040503050406030204" pitchFamily="18" charset="0"/>
                                    </a:rPr>
                                    <m:t>1</m:t>
                                  </m:r>
                                </m:num>
                                <m:den>
                                  <m:rad>
                                    <m:radPr>
                                      <m:degHide m:val="on"/>
                                      <m:ctrlPr>
                                        <a:rPr kumimoji="1" lang="en-US" altLang="zh-TW" sz="2100" i="1" smtClean="0">
                                          <a:latin typeface="Cambria Math" panose="02040503050406030204" pitchFamily="18" charset="0"/>
                                        </a:rPr>
                                      </m:ctrlPr>
                                    </m:radPr>
                                    <m:deg/>
                                    <m:e>
                                      <m:r>
                                        <a:rPr kumimoji="1" lang="en-US" altLang="zh-TW" sz="2100" b="0" i="1" smtClean="0">
                                          <a:latin typeface="Cambria Math" panose="02040503050406030204" pitchFamily="18" charset="0"/>
                                        </a:rPr>
                                        <m:t>3</m:t>
                                      </m:r>
                                    </m:e>
                                  </m:rad>
                                </m:den>
                              </m:f>
                            </m:e>
                          </m:mr>
                          <m:mr>
                            <m:e>
                              <m:f>
                                <m:fPr>
                                  <m:ctrlPr>
                                    <a:rPr kumimoji="1" lang="en-US" altLang="zh-TW" sz="2100" i="1">
                                      <a:latin typeface="Cambria Math" panose="02040503050406030204" pitchFamily="18" charset="0"/>
                                    </a:rPr>
                                  </m:ctrlPr>
                                </m:fPr>
                                <m:num>
                                  <m:r>
                                    <a:rPr kumimoji="1" lang="en-US" altLang="zh-TW" sz="2100" b="0" i="1" smtClean="0">
                                      <a:latin typeface="Cambria Math" panose="02040503050406030204" pitchFamily="18" charset="0"/>
                                    </a:rPr>
                                    <m:t>−</m:t>
                                  </m:r>
                                  <m:r>
                                    <a:rPr kumimoji="1" lang="en-US" altLang="zh-TW" sz="2100" i="1">
                                      <a:latin typeface="Cambria Math" panose="02040503050406030204" pitchFamily="18" charset="0"/>
                                    </a:rPr>
                                    <m:t>1</m:t>
                                  </m:r>
                                </m:num>
                                <m:den>
                                  <m:rad>
                                    <m:radPr>
                                      <m:degHide m:val="on"/>
                                      <m:ctrlPr>
                                        <a:rPr kumimoji="1" lang="en-US" altLang="zh-TW" sz="2100" i="1">
                                          <a:latin typeface="Cambria Math" panose="02040503050406030204" pitchFamily="18" charset="0"/>
                                        </a:rPr>
                                      </m:ctrlPr>
                                    </m:radPr>
                                    <m:deg/>
                                    <m:e>
                                      <m:r>
                                        <a:rPr kumimoji="1" lang="en-US" altLang="zh-TW" sz="2100" i="1">
                                          <a:latin typeface="Cambria Math" panose="02040503050406030204" pitchFamily="18" charset="0"/>
                                        </a:rPr>
                                        <m:t>3</m:t>
                                      </m:r>
                                    </m:e>
                                  </m:rad>
                                </m:den>
                              </m:f>
                            </m:e>
                          </m:mr>
                          <m:mr>
                            <m:e>
                              <m:f>
                                <m:fPr>
                                  <m:ctrlPr>
                                    <a:rPr kumimoji="1" lang="en-US" altLang="zh-TW" sz="2100" i="1">
                                      <a:latin typeface="Cambria Math" panose="02040503050406030204" pitchFamily="18" charset="0"/>
                                    </a:rPr>
                                  </m:ctrlPr>
                                </m:fPr>
                                <m:num>
                                  <m:r>
                                    <a:rPr kumimoji="1" lang="en-US" altLang="zh-TW" sz="2100" i="1">
                                      <a:latin typeface="Cambria Math" panose="02040503050406030204" pitchFamily="18" charset="0"/>
                                    </a:rPr>
                                    <m:t>1</m:t>
                                  </m:r>
                                </m:num>
                                <m:den>
                                  <m:rad>
                                    <m:radPr>
                                      <m:degHide m:val="on"/>
                                      <m:ctrlPr>
                                        <a:rPr kumimoji="1" lang="en-US" altLang="zh-TW" sz="2100" i="1">
                                          <a:latin typeface="Cambria Math" panose="02040503050406030204" pitchFamily="18" charset="0"/>
                                        </a:rPr>
                                      </m:ctrlPr>
                                    </m:radPr>
                                    <m:deg/>
                                    <m:e>
                                      <m:r>
                                        <a:rPr kumimoji="1" lang="en-US" altLang="zh-TW" sz="2100" i="1">
                                          <a:latin typeface="Cambria Math" panose="02040503050406030204" pitchFamily="18" charset="0"/>
                                        </a:rPr>
                                        <m:t>3</m:t>
                                      </m:r>
                                    </m:e>
                                  </m:rad>
                                </m:den>
                              </m:f>
                            </m:e>
                          </m:mr>
                        </m:m>
                      </m:e>
                    </m:d>
                  </m:oMath>
                </a14:m>
                <a:endParaRPr kumimoji="1" lang="en-US" altLang="zh-TW" sz="2100" dirty="0"/>
              </a:p>
              <a:p>
                <a:pPr lvl="1">
                  <a:lnSpc>
                    <a:spcPct val="110000"/>
                  </a:lnSpc>
                </a:pPr>
                <a14:m>
                  <m:oMath xmlns:m="http://schemas.openxmlformats.org/officeDocument/2006/math">
                    <m:r>
                      <a:rPr kumimoji="1" lang="en-US" altLang="zh-TW" sz="2100" i="1" smtClean="0">
                        <a:latin typeface="Cambria Math" panose="02040503050406030204" pitchFamily="18" charset="0"/>
                        <a:ea typeface="Cambria Math" panose="02040503050406030204" pitchFamily="18" charset="0"/>
                      </a:rPr>
                      <m:t>𝜆</m:t>
                    </m:r>
                    <m:r>
                      <a:rPr kumimoji="1" lang="en-US" altLang="zh-TW" sz="2100" b="0" i="1" smtClean="0">
                        <a:latin typeface="Cambria Math" panose="02040503050406030204" pitchFamily="18" charset="0"/>
                        <a:ea typeface="Cambria Math" panose="02040503050406030204" pitchFamily="18" charset="0"/>
                      </a:rPr>
                      <m:t>=2</m:t>
                    </m:r>
                  </m:oMath>
                </a14:m>
                <a:r>
                  <a:rPr kumimoji="1" lang="zh-TW" altLang="en-US" sz="2100" dirty="0"/>
                  <a:t>時，</a:t>
                </a:r>
                <a14:m>
                  <m:oMath xmlns:m="http://schemas.openxmlformats.org/officeDocument/2006/math">
                    <m:d>
                      <m:dPr>
                        <m:begChr m:val="{"/>
                        <m:endChr m:val=""/>
                        <m:ctrlPr>
                          <a:rPr kumimoji="1" lang="en-US" altLang="zh-TW" sz="2100" i="1" smtClean="0">
                            <a:latin typeface="Cambria Math" panose="02040503050406030204" pitchFamily="18" charset="0"/>
                          </a:rPr>
                        </m:ctrlPr>
                      </m:dPr>
                      <m:e>
                        <m:m>
                          <m:mPr>
                            <m:mcs>
                              <m:mc>
                                <m:mcPr>
                                  <m:count m:val="1"/>
                                  <m:mcJc m:val="center"/>
                                </m:mcPr>
                              </m:mc>
                            </m:mcs>
                            <m:ctrlPr>
                              <a:rPr kumimoji="1" lang="en-US" altLang="zh-TW" sz="2100" i="1" smtClean="0">
                                <a:latin typeface="Cambria Math" panose="02040503050406030204" pitchFamily="18" charset="0"/>
                              </a:rPr>
                            </m:ctrlPr>
                          </m:mPr>
                          <m:mr>
                            <m:e>
                              <m:r>
                                <m:rPr>
                                  <m:brk m:alnAt="7"/>
                                </m:rPr>
                                <a:rPr kumimoji="1" lang="en-US" altLang="zh-TW" sz="2100" b="0" i="1" smtClean="0">
                                  <a:latin typeface="Cambria Math" panose="02040503050406030204" pitchFamily="18" charset="0"/>
                                </a:rPr>
                                <m:t>0</m:t>
                              </m:r>
                              <m:sSub>
                                <m:sSubPr>
                                  <m:ctrlPr>
                                    <a:rPr kumimoji="1" lang="en-US" altLang="zh-TW" sz="2100" b="0" i="1" smtClean="0">
                                      <a:latin typeface="Cambria Math" panose="02040503050406030204" pitchFamily="18" charset="0"/>
                                    </a:rPr>
                                  </m:ctrlPr>
                                </m:sSubPr>
                                <m:e>
                                  <m:r>
                                    <a:rPr kumimoji="1" lang="en-US" altLang="zh-TW" sz="2100" b="0" i="1" smtClean="0">
                                      <a:latin typeface="Cambria Math" panose="02040503050406030204" pitchFamily="18" charset="0"/>
                                    </a:rPr>
                                    <m:t>𝑥</m:t>
                                  </m:r>
                                </m:e>
                                <m:sub>
                                  <m:r>
                                    <a:rPr kumimoji="1" lang="en-US" altLang="zh-TW" sz="2100" b="0" i="1" smtClean="0">
                                      <a:latin typeface="Cambria Math" panose="02040503050406030204" pitchFamily="18" charset="0"/>
                                    </a:rPr>
                                    <m:t>1</m:t>
                                  </m:r>
                                </m:sub>
                              </m:sSub>
                              <m:r>
                                <m:rPr>
                                  <m:brk m:alnAt="7"/>
                                </m:rPr>
                                <a:rPr kumimoji="1" lang="en-US" altLang="zh-TW" sz="2100" b="0" i="1" smtClean="0">
                                  <a:latin typeface="Cambria Math" panose="02040503050406030204" pitchFamily="18" charset="0"/>
                                </a:rPr>
                                <m:t>−</m:t>
                              </m:r>
                              <m:sSub>
                                <m:sSubPr>
                                  <m:ctrlPr>
                                    <a:rPr kumimoji="1" lang="en-US" altLang="zh-TW" sz="2100" b="0" i="1" smtClean="0">
                                      <a:latin typeface="Cambria Math" panose="02040503050406030204" pitchFamily="18" charset="0"/>
                                    </a:rPr>
                                  </m:ctrlPr>
                                </m:sSubPr>
                                <m:e>
                                  <m:r>
                                    <a:rPr kumimoji="1" lang="en-US" altLang="zh-TW" sz="2100" b="0" i="1" smtClean="0">
                                      <a:latin typeface="Cambria Math" panose="02040503050406030204" pitchFamily="18" charset="0"/>
                                    </a:rPr>
                                    <m:t>𝑥</m:t>
                                  </m:r>
                                </m:e>
                                <m:sub>
                                  <m:r>
                                    <a:rPr kumimoji="1" lang="en-US" altLang="zh-TW" sz="2100" b="0" i="1" smtClean="0">
                                      <a:latin typeface="Cambria Math" panose="02040503050406030204" pitchFamily="18" charset="0"/>
                                    </a:rPr>
                                    <m:t>2</m:t>
                                  </m:r>
                                </m:sub>
                              </m:sSub>
                              <m:r>
                                <m:rPr>
                                  <m:brk m:alnAt="7"/>
                                </m:rPr>
                                <a:rPr kumimoji="1" lang="en-US" altLang="zh-TW" sz="2100" b="0" i="1" smtClean="0">
                                  <a:latin typeface="Cambria Math" panose="02040503050406030204" pitchFamily="18" charset="0"/>
                                </a:rPr>
                                <m:t>+</m:t>
                              </m:r>
                              <m:r>
                                <a:rPr kumimoji="1" lang="en-US" altLang="zh-TW" sz="2100" b="0" i="1" smtClean="0">
                                  <a:latin typeface="Cambria Math" panose="02040503050406030204" pitchFamily="18" charset="0"/>
                                </a:rPr>
                                <m:t>0</m:t>
                              </m:r>
                              <m:sSub>
                                <m:sSubPr>
                                  <m:ctrlPr>
                                    <a:rPr kumimoji="1" lang="en-US" altLang="zh-TW" sz="2100" b="0" i="1" smtClean="0">
                                      <a:latin typeface="Cambria Math" panose="02040503050406030204" pitchFamily="18" charset="0"/>
                                    </a:rPr>
                                  </m:ctrlPr>
                                </m:sSubPr>
                                <m:e>
                                  <m:r>
                                    <a:rPr kumimoji="1" lang="en-US" altLang="zh-TW" sz="2100" b="0" i="1" smtClean="0">
                                      <a:latin typeface="Cambria Math" panose="02040503050406030204" pitchFamily="18" charset="0"/>
                                    </a:rPr>
                                    <m:t>𝑥</m:t>
                                  </m:r>
                                </m:e>
                                <m:sub>
                                  <m:r>
                                    <a:rPr kumimoji="1" lang="en-US" altLang="zh-TW" sz="2100" b="0" i="1" smtClean="0">
                                      <a:latin typeface="Cambria Math" panose="02040503050406030204" pitchFamily="18" charset="0"/>
                                    </a:rPr>
                                    <m:t>3</m:t>
                                  </m:r>
                                </m:sub>
                              </m:sSub>
                              <m:r>
                                <m:rPr>
                                  <m:brk m:alnAt="7"/>
                                </m:rPr>
                                <a:rPr kumimoji="1" lang="en-US" altLang="zh-TW" sz="2100" b="0" i="1" smtClean="0">
                                  <a:latin typeface="Cambria Math" panose="02040503050406030204" pitchFamily="18" charset="0"/>
                                </a:rPr>
                                <m:t>=</m:t>
                              </m:r>
                              <m:r>
                                <a:rPr kumimoji="1" lang="en-US" altLang="zh-TW" sz="2100" b="0" i="1" smtClean="0">
                                  <a:latin typeface="Cambria Math" panose="02040503050406030204" pitchFamily="18" charset="0"/>
                                </a:rPr>
                                <m:t>0</m:t>
                              </m:r>
                            </m:e>
                          </m:mr>
                          <m:mr>
                            <m:e>
                              <m:r>
                                <m:rPr>
                                  <m:brk m:alnAt="7"/>
                                </m:rPr>
                                <a:rPr kumimoji="1" lang="en-US" altLang="zh-TW" sz="2100" i="1">
                                  <a:latin typeface="Cambria Math" panose="02040503050406030204" pitchFamily="18" charset="0"/>
                                </a:rPr>
                                <m:t>−</m:t>
                              </m:r>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1</m:t>
                                  </m:r>
                                </m:sub>
                              </m:sSub>
                              <m:r>
                                <m:rPr>
                                  <m:brk m:alnAt="7"/>
                                </m:rPr>
                                <a:rPr kumimoji="1" lang="en-US" altLang="zh-TW" sz="2100" i="1">
                                  <a:latin typeface="Cambria Math" panose="02040503050406030204" pitchFamily="18" charset="0"/>
                                </a:rPr>
                                <m:t>−</m:t>
                              </m:r>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2</m:t>
                                  </m:r>
                                </m:sub>
                              </m:sSub>
                              <m:r>
                                <a:rPr kumimoji="1" lang="en-US" altLang="zh-TW" sz="2100" b="0" i="1" smtClean="0">
                                  <a:latin typeface="Cambria Math" panose="02040503050406030204" pitchFamily="18" charset="0"/>
                                </a:rPr>
                                <m:t>−</m:t>
                              </m:r>
                              <m:sSub>
                                <m:sSubPr>
                                  <m:ctrlPr>
                                    <a:rPr kumimoji="1" lang="en-US" altLang="zh-TW" sz="2100" i="1" smtClean="0">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3</m:t>
                                  </m:r>
                                </m:sub>
                              </m:sSub>
                              <m:r>
                                <m:rPr>
                                  <m:brk m:alnAt="7"/>
                                </m:rPr>
                                <a:rPr kumimoji="1" lang="en-US" altLang="zh-TW" sz="2100" i="1">
                                  <a:latin typeface="Cambria Math" panose="02040503050406030204" pitchFamily="18" charset="0"/>
                                </a:rPr>
                                <m:t>=</m:t>
                              </m:r>
                              <m:r>
                                <a:rPr kumimoji="1" lang="en-US" altLang="zh-TW" sz="2100" i="1">
                                  <a:latin typeface="Cambria Math" panose="02040503050406030204" pitchFamily="18" charset="0"/>
                                </a:rPr>
                                <m:t>0</m:t>
                              </m:r>
                            </m:e>
                          </m:mr>
                          <m:mr>
                            <m:e>
                              <m:r>
                                <a:rPr kumimoji="1" lang="en-US" altLang="zh-TW" sz="2100" b="0" i="1" smtClean="0">
                                  <a:latin typeface="Cambria Math" panose="02040503050406030204" pitchFamily="18" charset="0"/>
                                </a:rPr>
                                <m:t>0</m:t>
                              </m:r>
                              <m:sSub>
                                <m:sSubPr>
                                  <m:ctrlPr>
                                    <a:rPr kumimoji="1" lang="en-US" altLang="zh-TW" sz="2100" i="1" smtClean="0">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1</m:t>
                                  </m:r>
                                </m:sub>
                              </m:sSub>
                              <m:r>
                                <m:rPr>
                                  <m:brk m:alnAt="7"/>
                                </m:rPr>
                                <a:rPr kumimoji="1" lang="en-US" altLang="zh-TW" sz="2100" i="1">
                                  <a:latin typeface="Cambria Math" panose="02040503050406030204" pitchFamily="18" charset="0"/>
                                </a:rPr>
                                <m:t>−</m:t>
                              </m:r>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2</m:t>
                                  </m:r>
                                </m:sub>
                              </m:sSub>
                              <m:r>
                                <a:rPr kumimoji="1" lang="en-US" altLang="zh-TW" sz="2100" i="1">
                                  <a:latin typeface="Cambria Math" panose="02040503050406030204" pitchFamily="18" charset="0"/>
                                </a:rPr>
                                <m:t>−</m:t>
                              </m:r>
                              <m:sSub>
                                <m:sSubPr>
                                  <m:ctrlPr>
                                    <a:rPr kumimoji="1" lang="en-US" altLang="zh-TW" sz="2100" i="1">
                                      <a:latin typeface="Cambria Math" panose="02040503050406030204" pitchFamily="18" charset="0"/>
                                    </a:rPr>
                                  </m:ctrlPr>
                                </m:sSubPr>
                                <m:e>
                                  <m:r>
                                    <a:rPr kumimoji="1" lang="en-US" altLang="zh-TW" sz="2100" b="0" i="1" smtClean="0">
                                      <a:latin typeface="Cambria Math" panose="02040503050406030204" pitchFamily="18" charset="0"/>
                                    </a:rPr>
                                    <m:t>0</m:t>
                                  </m:r>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3</m:t>
                                  </m:r>
                                </m:sub>
                              </m:sSub>
                              <m:r>
                                <m:rPr>
                                  <m:brk m:alnAt="7"/>
                                </m:rPr>
                                <a:rPr kumimoji="1" lang="en-US" altLang="zh-TW" sz="2100" i="1">
                                  <a:latin typeface="Cambria Math" panose="02040503050406030204" pitchFamily="18" charset="0"/>
                                </a:rPr>
                                <m:t>=</m:t>
                              </m:r>
                              <m:r>
                                <a:rPr kumimoji="1" lang="en-US" altLang="zh-TW" sz="2100" i="1">
                                  <a:latin typeface="Cambria Math" panose="02040503050406030204" pitchFamily="18" charset="0"/>
                                </a:rPr>
                                <m:t>0</m:t>
                              </m:r>
                            </m:e>
                          </m:mr>
                        </m:m>
                      </m:e>
                    </m:d>
                  </m:oMath>
                </a14:m>
                <a:r>
                  <a:rPr kumimoji="1" lang="zh-TW" altLang="en-US" sz="2100" dirty="0"/>
                  <a:t>，得到</a:t>
                </a:r>
                <a14:m>
                  <m:oMath xmlns:m="http://schemas.openxmlformats.org/officeDocument/2006/math">
                    <m:d>
                      <m:dPr>
                        <m:begChr m:val="["/>
                        <m:endChr m:val="]"/>
                        <m:ctrlPr>
                          <a:rPr kumimoji="1" lang="en-US" altLang="zh-TW" sz="2100" i="1" smtClean="0">
                            <a:latin typeface="Cambria Math" panose="02040503050406030204" pitchFamily="18" charset="0"/>
                          </a:rPr>
                        </m:ctrlPr>
                      </m:dPr>
                      <m:e>
                        <m:m>
                          <m:mPr>
                            <m:mcs>
                              <m:mc>
                                <m:mcPr>
                                  <m:count m:val="1"/>
                                  <m:mcJc m:val="center"/>
                                </m:mcPr>
                              </m:mc>
                            </m:mcs>
                            <m:ctrlPr>
                              <a:rPr kumimoji="1" lang="en-US" altLang="zh-TW" sz="2100" i="1" smtClean="0">
                                <a:latin typeface="Cambria Math" panose="02040503050406030204" pitchFamily="18" charset="0"/>
                              </a:rPr>
                            </m:ctrlPr>
                          </m:mPr>
                          <m:mr>
                            <m:e>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1</m:t>
                                  </m:r>
                                </m:sub>
                              </m:sSub>
                            </m:e>
                          </m:mr>
                          <m:mr>
                            <m:e>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b="0" i="1" smtClean="0">
                                      <a:latin typeface="Cambria Math" panose="02040503050406030204" pitchFamily="18" charset="0"/>
                                    </a:rPr>
                                    <m:t>2</m:t>
                                  </m:r>
                                </m:sub>
                              </m:sSub>
                            </m:e>
                          </m:mr>
                          <m:mr>
                            <m:e>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b="0" i="1" smtClean="0">
                                      <a:latin typeface="Cambria Math" panose="02040503050406030204" pitchFamily="18" charset="0"/>
                                    </a:rPr>
                                    <m:t>3</m:t>
                                  </m:r>
                                </m:sub>
                              </m:sSub>
                            </m:e>
                          </m:mr>
                        </m:m>
                      </m:e>
                    </m:d>
                    <m:r>
                      <a:rPr kumimoji="1" lang="en-US" altLang="zh-TW" sz="2100" b="0" i="1" smtClean="0">
                        <a:latin typeface="Cambria Math" panose="02040503050406030204" pitchFamily="18" charset="0"/>
                      </a:rPr>
                      <m:t>⇒</m:t>
                    </m:r>
                    <m:d>
                      <m:dPr>
                        <m:begChr m:val="["/>
                        <m:endChr m:val="]"/>
                        <m:ctrlPr>
                          <a:rPr kumimoji="1" lang="en-US" altLang="zh-TW" sz="2100" i="1">
                            <a:latin typeface="Cambria Math" panose="02040503050406030204" pitchFamily="18" charset="0"/>
                          </a:rPr>
                        </m:ctrlPr>
                      </m:dPr>
                      <m:e>
                        <m:m>
                          <m:mPr>
                            <m:mcs>
                              <m:mc>
                                <m:mcPr>
                                  <m:count m:val="1"/>
                                  <m:mcJc m:val="center"/>
                                </m:mcPr>
                              </m:mc>
                            </m:mcs>
                            <m:ctrlPr>
                              <a:rPr kumimoji="1" lang="en-US" altLang="zh-TW" sz="2100" i="1">
                                <a:latin typeface="Cambria Math" panose="02040503050406030204" pitchFamily="18" charset="0"/>
                              </a:rPr>
                            </m:ctrlPr>
                          </m:mPr>
                          <m:mr>
                            <m:e>
                              <m:f>
                                <m:fPr>
                                  <m:ctrlPr>
                                    <a:rPr kumimoji="1" lang="en-US" altLang="zh-TW" sz="2100" i="1" smtClean="0">
                                      <a:latin typeface="Cambria Math" panose="02040503050406030204" pitchFamily="18" charset="0"/>
                                    </a:rPr>
                                  </m:ctrlPr>
                                </m:fPr>
                                <m:num>
                                  <m:r>
                                    <a:rPr kumimoji="1" lang="en-US" altLang="zh-TW" sz="2100" b="0" i="1" smtClean="0">
                                      <a:latin typeface="Cambria Math" panose="02040503050406030204" pitchFamily="18" charset="0"/>
                                    </a:rPr>
                                    <m:t>−1</m:t>
                                  </m:r>
                                </m:num>
                                <m:den>
                                  <m:rad>
                                    <m:radPr>
                                      <m:degHide m:val="on"/>
                                      <m:ctrlPr>
                                        <a:rPr kumimoji="1" lang="en-US" altLang="zh-TW" sz="2100" i="1" smtClean="0">
                                          <a:latin typeface="Cambria Math" panose="02040503050406030204" pitchFamily="18" charset="0"/>
                                        </a:rPr>
                                      </m:ctrlPr>
                                    </m:radPr>
                                    <m:deg/>
                                    <m:e>
                                      <m:r>
                                        <a:rPr kumimoji="1" lang="en-US" altLang="zh-TW" sz="2100" b="0" i="1" smtClean="0">
                                          <a:latin typeface="Cambria Math" panose="02040503050406030204" pitchFamily="18" charset="0"/>
                                        </a:rPr>
                                        <m:t>2</m:t>
                                      </m:r>
                                    </m:e>
                                  </m:rad>
                                </m:den>
                              </m:f>
                            </m:e>
                          </m:mr>
                          <m:mr>
                            <m:e>
                              <m:r>
                                <a:rPr kumimoji="1" lang="en-US" altLang="zh-TW" sz="2100" b="0" i="1" smtClean="0">
                                  <a:latin typeface="Cambria Math" panose="02040503050406030204" pitchFamily="18" charset="0"/>
                                </a:rPr>
                                <m:t>0</m:t>
                              </m:r>
                            </m:e>
                          </m:mr>
                          <m:mr>
                            <m:e>
                              <m:f>
                                <m:fPr>
                                  <m:ctrlPr>
                                    <a:rPr kumimoji="1" lang="en-US" altLang="zh-TW" sz="2100" i="1">
                                      <a:latin typeface="Cambria Math" panose="02040503050406030204" pitchFamily="18" charset="0"/>
                                    </a:rPr>
                                  </m:ctrlPr>
                                </m:fPr>
                                <m:num>
                                  <m:r>
                                    <a:rPr kumimoji="1" lang="en-US" altLang="zh-TW" sz="2100" i="1">
                                      <a:latin typeface="Cambria Math" panose="02040503050406030204" pitchFamily="18" charset="0"/>
                                    </a:rPr>
                                    <m:t>1</m:t>
                                  </m:r>
                                </m:num>
                                <m:den>
                                  <m:rad>
                                    <m:radPr>
                                      <m:degHide m:val="on"/>
                                      <m:ctrlPr>
                                        <a:rPr kumimoji="1" lang="en-US" altLang="zh-TW" sz="2100" i="1">
                                          <a:latin typeface="Cambria Math" panose="02040503050406030204" pitchFamily="18" charset="0"/>
                                        </a:rPr>
                                      </m:ctrlPr>
                                    </m:radPr>
                                    <m:deg/>
                                    <m:e>
                                      <m:r>
                                        <a:rPr kumimoji="1" lang="en-US" altLang="zh-TW" sz="2100" b="0" i="1" smtClean="0">
                                          <a:latin typeface="Cambria Math" panose="02040503050406030204" pitchFamily="18" charset="0"/>
                                        </a:rPr>
                                        <m:t>2</m:t>
                                      </m:r>
                                    </m:e>
                                  </m:rad>
                                </m:den>
                              </m:f>
                            </m:e>
                          </m:mr>
                        </m:m>
                      </m:e>
                    </m:d>
                  </m:oMath>
                </a14:m>
                <a:endParaRPr kumimoji="1" lang="en-US" altLang="zh-TW" sz="2100" dirty="0"/>
              </a:p>
              <a:p>
                <a:pPr lvl="1">
                  <a:lnSpc>
                    <a:spcPct val="110000"/>
                  </a:lnSpc>
                </a:pPr>
                <a14:m>
                  <m:oMath xmlns:m="http://schemas.openxmlformats.org/officeDocument/2006/math">
                    <m:r>
                      <a:rPr kumimoji="1" lang="en-US" altLang="zh-TW" sz="2100" i="1" smtClean="0">
                        <a:latin typeface="Cambria Math" panose="02040503050406030204" pitchFamily="18" charset="0"/>
                        <a:ea typeface="Cambria Math" panose="02040503050406030204" pitchFamily="18" charset="0"/>
                      </a:rPr>
                      <m:t>𝜆</m:t>
                    </m:r>
                    <m:r>
                      <a:rPr kumimoji="1" lang="en-US" altLang="zh-TW" sz="2100" b="0" i="1" smtClean="0">
                        <a:latin typeface="Cambria Math" panose="02040503050406030204" pitchFamily="18" charset="0"/>
                        <a:ea typeface="Cambria Math" panose="02040503050406030204" pitchFamily="18" charset="0"/>
                      </a:rPr>
                      <m:t>=0</m:t>
                    </m:r>
                  </m:oMath>
                </a14:m>
                <a:r>
                  <a:rPr kumimoji="1" lang="zh-TW" altLang="en-US" sz="2100" dirty="0"/>
                  <a:t>時，</a:t>
                </a:r>
                <a14:m>
                  <m:oMath xmlns:m="http://schemas.openxmlformats.org/officeDocument/2006/math">
                    <m:d>
                      <m:dPr>
                        <m:begChr m:val="{"/>
                        <m:endChr m:val=""/>
                        <m:ctrlPr>
                          <a:rPr kumimoji="1" lang="en-US" altLang="zh-TW" sz="2100" i="1" smtClean="0">
                            <a:latin typeface="Cambria Math" panose="02040503050406030204" pitchFamily="18" charset="0"/>
                          </a:rPr>
                        </m:ctrlPr>
                      </m:dPr>
                      <m:e>
                        <m:m>
                          <m:mPr>
                            <m:mcs>
                              <m:mc>
                                <m:mcPr>
                                  <m:count m:val="1"/>
                                  <m:mcJc m:val="center"/>
                                </m:mcPr>
                              </m:mc>
                            </m:mcs>
                            <m:ctrlPr>
                              <a:rPr kumimoji="1" lang="en-US" altLang="zh-TW" sz="2100" i="1" smtClean="0">
                                <a:latin typeface="Cambria Math" panose="02040503050406030204" pitchFamily="18" charset="0"/>
                              </a:rPr>
                            </m:ctrlPr>
                          </m:mPr>
                          <m:mr>
                            <m:e>
                              <m:r>
                                <m:rPr>
                                  <m:brk m:alnAt="7"/>
                                </m:rPr>
                                <a:rPr kumimoji="1" lang="en-US" altLang="zh-TW" sz="2100" b="0" i="1" smtClean="0">
                                  <a:latin typeface="Cambria Math" panose="02040503050406030204" pitchFamily="18" charset="0"/>
                                </a:rPr>
                                <m:t>2</m:t>
                              </m:r>
                              <m:sSub>
                                <m:sSubPr>
                                  <m:ctrlPr>
                                    <a:rPr kumimoji="1" lang="en-US" altLang="zh-TW" sz="2100" b="0" i="1" smtClean="0">
                                      <a:latin typeface="Cambria Math" panose="02040503050406030204" pitchFamily="18" charset="0"/>
                                    </a:rPr>
                                  </m:ctrlPr>
                                </m:sSubPr>
                                <m:e>
                                  <m:r>
                                    <a:rPr kumimoji="1" lang="en-US" altLang="zh-TW" sz="2100" b="0" i="1" smtClean="0">
                                      <a:latin typeface="Cambria Math" panose="02040503050406030204" pitchFamily="18" charset="0"/>
                                    </a:rPr>
                                    <m:t>𝑥</m:t>
                                  </m:r>
                                </m:e>
                                <m:sub>
                                  <m:r>
                                    <a:rPr kumimoji="1" lang="en-US" altLang="zh-TW" sz="2100" b="0" i="1" smtClean="0">
                                      <a:latin typeface="Cambria Math" panose="02040503050406030204" pitchFamily="18" charset="0"/>
                                    </a:rPr>
                                    <m:t>1</m:t>
                                  </m:r>
                                </m:sub>
                              </m:sSub>
                              <m:r>
                                <m:rPr>
                                  <m:brk m:alnAt="7"/>
                                </m:rPr>
                                <a:rPr kumimoji="1" lang="en-US" altLang="zh-TW" sz="2100" b="0" i="1" smtClean="0">
                                  <a:latin typeface="Cambria Math" panose="02040503050406030204" pitchFamily="18" charset="0"/>
                                </a:rPr>
                                <m:t>−</m:t>
                              </m:r>
                              <m:sSub>
                                <m:sSubPr>
                                  <m:ctrlPr>
                                    <a:rPr kumimoji="1" lang="en-US" altLang="zh-TW" sz="2100" b="0" i="1" smtClean="0">
                                      <a:latin typeface="Cambria Math" panose="02040503050406030204" pitchFamily="18" charset="0"/>
                                    </a:rPr>
                                  </m:ctrlPr>
                                </m:sSubPr>
                                <m:e>
                                  <m:r>
                                    <a:rPr kumimoji="1" lang="en-US" altLang="zh-TW" sz="2100" b="0" i="1" smtClean="0">
                                      <a:latin typeface="Cambria Math" panose="02040503050406030204" pitchFamily="18" charset="0"/>
                                    </a:rPr>
                                    <m:t>𝑥</m:t>
                                  </m:r>
                                </m:e>
                                <m:sub>
                                  <m:r>
                                    <a:rPr kumimoji="1" lang="en-US" altLang="zh-TW" sz="2100" b="0" i="1" smtClean="0">
                                      <a:latin typeface="Cambria Math" panose="02040503050406030204" pitchFamily="18" charset="0"/>
                                    </a:rPr>
                                    <m:t>2</m:t>
                                  </m:r>
                                </m:sub>
                              </m:sSub>
                              <m:r>
                                <m:rPr>
                                  <m:brk m:alnAt="7"/>
                                </m:rPr>
                                <a:rPr kumimoji="1" lang="en-US" altLang="zh-TW" sz="2100" b="0" i="1" smtClean="0">
                                  <a:latin typeface="Cambria Math" panose="02040503050406030204" pitchFamily="18" charset="0"/>
                                </a:rPr>
                                <m:t>+</m:t>
                              </m:r>
                              <m:r>
                                <a:rPr kumimoji="1" lang="en-US" altLang="zh-TW" sz="2100" b="0" i="1" smtClean="0">
                                  <a:latin typeface="Cambria Math" panose="02040503050406030204" pitchFamily="18" charset="0"/>
                                </a:rPr>
                                <m:t>0</m:t>
                              </m:r>
                              <m:sSub>
                                <m:sSubPr>
                                  <m:ctrlPr>
                                    <a:rPr kumimoji="1" lang="en-US" altLang="zh-TW" sz="2100" b="0" i="1" smtClean="0">
                                      <a:latin typeface="Cambria Math" panose="02040503050406030204" pitchFamily="18" charset="0"/>
                                    </a:rPr>
                                  </m:ctrlPr>
                                </m:sSubPr>
                                <m:e>
                                  <m:r>
                                    <a:rPr kumimoji="1" lang="en-US" altLang="zh-TW" sz="2100" b="0" i="1" smtClean="0">
                                      <a:latin typeface="Cambria Math" panose="02040503050406030204" pitchFamily="18" charset="0"/>
                                    </a:rPr>
                                    <m:t>𝑥</m:t>
                                  </m:r>
                                </m:e>
                                <m:sub>
                                  <m:r>
                                    <a:rPr kumimoji="1" lang="en-US" altLang="zh-TW" sz="2100" b="0" i="1" smtClean="0">
                                      <a:latin typeface="Cambria Math" panose="02040503050406030204" pitchFamily="18" charset="0"/>
                                    </a:rPr>
                                    <m:t>3</m:t>
                                  </m:r>
                                </m:sub>
                              </m:sSub>
                              <m:r>
                                <m:rPr>
                                  <m:brk m:alnAt="7"/>
                                </m:rPr>
                                <a:rPr kumimoji="1" lang="en-US" altLang="zh-TW" sz="2100" b="0" i="1" smtClean="0">
                                  <a:latin typeface="Cambria Math" panose="02040503050406030204" pitchFamily="18" charset="0"/>
                                </a:rPr>
                                <m:t>=</m:t>
                              </m:r>
                              <m:r>
                                <a:rPr kumimoji="1" lang="en-US" altLang="zh-TW" sz="2100" b="0" i="1" smtClean="0">
                                  <a:latin typeface="Cambria Math" panose="02040503050406030204" pitchFamily="18" charset="0"/>
                                </a:rPr>
                                <m:t>0</m:t>
                              </m:r>
                            </m:e>
                          </m:mr>
                          <m:mr>
                            <m:e>
                              <m:r>
                                <m:rPr>
                                  <m:brk m:alnAt="7"/>
                                </m:rPr>
                                <a:rPr kumimoji="1" lang="en-US" altLang="zh-TW" sz="2100" i="1">
                                  <a:latin typeface="Cambria Math" panose="02040503050406030204" pitchFamily="18" charset="0"/>
                                </a:rPr>
                                <m:t>−</m:t>
                              </m:r>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1</m:t>
                                  </m:r>
                                </m:sub>
                              </m:sSub>
                              <m:r>
                                <a:rPr kumimoji="1" lang="en-US" altLang="zh-TW" sz="2100" b="0" i="1" smtClean="0">
                                  <a:latin typeface="Cambria Math" panose="02040503050406030204" pitchFamily="18" charset="0"/>
                                </a:rPr>
                                <m:t>+</m:t>
                              </m:r>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2</m:t>
                                  </m:r>
                                </m:sub>
                              </m:sSub>
                              <m:r>
                                <a:rPr kumimoji="1" lang="en-US" altLang="zh-TW" sz="2100" b="0" i="1" smtClean="0">
                                  <a:latin typeface="Cambria Math" panose="02040503050406030204" pitchFamily="18" charset="0"/>
                                </a:rPr>
                                <m:t>−</m:t>
                              </m:r>
                              <m:sSub>
                                <m:sSubPr>
                                  <m:ctrlPr>
                                    <a:rPr kumimoji="1" lang="en-US" altLang="zh-TW" sz="2100" i="1" smtClean="0">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3</m:t>
                                  </m:r>
                                </m:sub>
                              </m:sSub>
                              <m:r>
                                <m:rPr>
                                  <m:brk m:alnAt="7"/>
                                </m:rPr>
                                <a:rPr kumimoji="1" lang="en-US" altLang="zh-TW" sz="2100" i="1">
                                  <a:latin typeface="Cambria Math" panose="02040503050406030204" pitchFamily="18" charset="0"/>
                                </a:rPr>
                                <m:t>=</m:t>
                              </m:r>
                              <m:r>
                                <a:rPr kumimoji="1" lang="en-US" altLang="zh-TW" sz="2100" i="1">
                                  <a:latin typeface="Cambria Math" panose="02040503050406030204" pitchFamily="18" charset="0"/>
                                </a:rPr>
                                <m:t>0</m:t>
                              </m:r>
                            </m:e>
                          </m:mr>
                          <m:mr>
                            <m:e>
                              <m:r>
                                <a:rPr kumimoji="1" lang="en-US" altLang="zh-TW" sz="2100" b="0" i="1" smtClean="0">
                                  <a:latin typeface="Cambria Math" panose="02040503050406030204" pitchFamily="18" charset="0"/>
                                </a:rPr>
                                <m:t>0</m:t>
                              </m:r>
                              <m:sSub>
                                <m:sSubPr>
                                  <m:ctrlPr>
                                    <a:rPr kumimoji="1" lang="en-US" altLang="zh-TW" sz="2100" i="1" smtClean="0">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1</m:t>
                                  </m:r>
                                </m:sub>
                              </m:sSub>
                              <m:r>
                                <m:rPr>
                                  <m:brk m:alnAt="7"/>
                                </m:rPr>
                                <a:rPr kumimoji="1" lang="en-US" altLang="zh-TW" sz="2100" i="1">
                                  <a:latin typeface="Cambria Math" panose="02040503050406030204" pitchFamily="18" charset="0"/>
                                </a:rPr>
                                <m:t>−</m:t>
                              </m:r>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2</m:t>
                                  </m:r>
                                </m:sub>
                              </m:sSub>
                              <m:r>
                                <a:rPr kumimoji="1" lang="en-US" altLang="zh-TW" sz="2100" b="0" i="1" smtClean="0">
                                  <a:latin typeface="Cambria Math" panose="02040503050406030204" pitchFamily="18" charset="0"/>
                                </a:rPr>
                                <m:t>+2</m:t>
                              </m:r>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3</m:t>
                                  </m:r>
                                </m:sub>
                              </m:sSub>
                              <m:r>
                                <m:rPr>
                                  <m:brk m:alnAt="7"/>
                                </m:rPr>
                                <a:rPr kumimoji="1" lang="en-US" altLang="zh-TW" sz="2100" i="1">
                                  <a:latin typeface="Cambria Math" panose="02040503050406030204" pitchFamily="18" charset="0"/>
                                </a:rPr>
                                <m:t>=</m:t>
                              </m:r>
                              <m:r>
                                <a:rPr kumimoji="1" lang="en-US" altLang="zh-TW" sz="2100" i="1">
                                  <a:latin typeface="Cambria Math" panose="02040503050406030204" pitchFamily="18" charset="0"/>
                                </a:rPr>
                                <m:t>0</m:t>
                              </m:r>
                            </m:e>
                          </m:mr>
                        </m:m>
                      </m:e>
                    </m:d>
                  </m:oMath>
                </a14:m>
                <a:r>
                  <a:rPr kumimoji="1" lang="zh-TW" altLang="en-US" sz="2100" dirty="0"/>
                  <a:t>，得到</a:t>
                </a:r>
                <a14:m>
                  <m:oMath xmlns:m="http://schemas.openxmlformats.org/officeDocument/2006/math">
                    <m:d>
                      <m:dPr>
                        <m:begChr m:val="["/>
                        <m:endChr m:val="]"/>
                        <m:ctrlPr>
                          <a:rPr kumimoji="1" lang="en-US" altLang="zh-TW" sz="2100" i="1" smtClean="0">
                            <a:latin typeface="Cambria Math" panose="02040503050406030204" pitchFamily="18" charset="0"/>
                          </a:rPr>
                        </m:ctrlPr>
                      </m:dPr>
                      <m:e>
                        <m:m>
                          <m:mPr>
                            <m:mcs>
                              <m:mc>
                                <m:mcPr>
                                  <m:count m:val="1"/>
                                  <m:mcJc m:val="center"/>
                                </m:mcPr>
                              </m:mc>
                            </m:mcs>
                            <m:ctrlPr>
                              <a:rPr kumimoji="1" lang="en-US" altLang="zh-TW" sz="2100" i="1" smtClean="0">
                                <a:latin typeface="Cambria Math" panose="02040503050406030204" pitchFamily="18" charset="0"/>
                              </a:rPr>
                            </m:ctrlPr>
                          </m:mPr>
                          <m:mr>
                            <m:e>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i="1">
                                      <a:latin typeface="Cambria Math" panose="02040503050406030204" pitchFamily="18" charset="0"/>
                                    </a:rPr>
                                    <m:t>1</m:t>
                                  </m:r>
                                </m:sub>
                              </m:sSub>
                            </m:e>
                          </m:mr>
                          <m:mr>
                            <m:e>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b="0" i="1" smtClean="0">
                                      <a:latin typeface="Cambria Math" panose="02040503050406030204" pitchFamily="18" charset="0"/>
                                    </a:rPr>
                                    <m:t>2</m:t>
                                  </m:r>
                                </m:sub>
                              </m:sSub>
                            </m:e>
                          </m:mr>
                          <m:mr>
                            <m:e>
                              <m:sSub>
                                <m:sSubPr>
                                  <m:ctrlPr>
                                    <a:rPr kumimoji="1" lang="en-US" altLang="zh-TW" sz="2100" i="1">
                                      <a:latin typeface="Cambria Math" panose="02040503050406030204" pitchFamily="18" charset="0"/>
                                    </a:rPr>
                                  </m:ctrlPr>
                                </m:sSubPr>
                                <m:e>
                                  <m:r>
                                    <a:rPr kumimoji="1" lang="en-US" altLang="zh-TW" sz="2100" i="1">
                                      <a:latin typeface="Cambria Math" panose="02040503050406030204" pitchFamily="18" charset="0"/>
                                    </a:rPr>
                                    <m:t>𝑥</m:t>
                                  </m:r>
                                </m:e>
                                <m:sub>
                                  <m:r>
                                    <a:rPr kumimoji="1" lang="en-US" altLang="zh-TW" sz="2100" b="0" i="1" smtClean="0">
                                      <a:latin typeface="Cambria Math" panose="02040503050406030204" pitchFamily="18" charset="0"/>
                                    </a:rPr>
                                    <m:t>3</m:t>
                                  </m:r>
                                </m:sub>
                              </m:sSub>
                            </m:e>
                          </m:mr>
                        </m:m>
                      </m:e>
                    </m:d>
                    <m:r>
                      <a:rPr kumimoji="1" lang="en-US" altLang="zh-TW" sz="2100" b="0" i="1" smtClean="0">
                        <a:latin typeface="Cambria Math" panose="02040503050406030204" pitchFamily="18" charset="0"/>
                      </a:rPr>
                      <m:t>⇒</m:t>
                    </m:r>
                    <m:d>
                      <m:dPr>
                        <m:begChr m:val="["/>
                        <m:endChr m:val="]"/>
                        <m:ctrlPr>
                          <a:rPr kumimoji="1" lang="en-US" altLang="zh-TW" sz="2100" i="1">
                            <a:latin typeface="Cambria Math" panose="02040503050406030204" pitchFamily="18" charset="0"/>
                          </a:rPr>
                        </m:ctrlPr>
                      </m:dPr>
                      <m:e>
                        <m:m>
                          <m:mPr>
                            <m:mcs>
                              <m:mc>
                                <m:mcPr>
                                  <m:count m:val="1"/>
                                  <m:mcJc m:val="center"/>
                                </m:mcPr>
                              </m:mc>
                            </m:mcs>
                            <m:ctrlPr>
                              <a:rPr kumimoji="1" lang="en-US" altLang="zh-TW" sz="2100" i="1">
                                <a:latin typeface="Cambria Math" panose="02040503050406030204" pitchFamily="18" charset="0"/>
                              </a:rPr>
                            </m:ctrlPr>
                          </m:mPr>
                          <m:mr>
                            <m:e>
                              <m:f>
                                <m:fPr>
                                  <m:ctrlPr>
                                    <a:rPr kumimoji="1" lang="en-US" altLang="zh-TW" sz="2100" i="1" smtClean="0">
                                      <a:latin typeface="Cambria Math" panose="02040503050406030204" pitchFamily="18" charset="0"/>
                                    </a:rPr>
                                  </m:ctrlPr>
                                </m:fPr>
                                <m:num>
                                  <m:r>
                                    <a:rPr kumimoji="1" lang="en-US" altLang="zh-TW" sz="2100" b="0" i="1" smtClean="0">
                                      <a:latin typeface="Cambria Math" panose="02040503050406030204" pitchFamily="18" charset="0"/>
                                    </a:rPr>
                                    <m:t>1</m:t>
                                  </m:r>
                                </m:num>
                                <m:den>
                                  <m:rad>
                                    <m:radPr>
                                      <m:degHide m:val="on"/>
                                      <m:ctrlPr>
                                        <a:rPr kumimoji="1" lang="en-US" altLang="zh-TW" sz="2100" i="1" smtClean="0">
                                          <a:latin typeface="Cambria Math" panose="02040503050406030204" pitchFamily="18" charset="0"/>
                                        </a:rPr>
                                      </m:ctrlPr>
                                    </m:radPr>
                                    <m:deg/>
                                    <m:e>
                                      <m:r>
                                        <a:rPr kumimoji="1" lang="en-US" altLang="zh-TW" sz="2100" b="0" i="1" smtClean="0">
                                          <a:latin typeface="Cambria Math" panose="02040503050406030204" pitchFamily="18" charset="0"/>
                                        </a:rPr>
                                        <m:t>6</m:t>
                                      </m:r>
                                    </m:e>
                                  </m:rad>
                                </m:den>
                              </m:f>
                            </m:e>
                          </m:mr>
                          <m:mr>
                            <m:e>
                              <m:f>
                                <m:fPr>
                                  <m:ctrlPr>
                                    <a:rPr kumimoji="1" lang="en-US" altLang="zh-TW" sz="2100" i="1">
                                      <a:latin typeface="Cambria Math" panose="02040503050406030204" pitchFamily="18" charset="0"/>
                                    </a:rPr>
                                  </m:ctrlPr>
                                </m:fPr>
                                <m:num>
                                  <m:r>
                                    <a:rPr kumimoji="1" lang="en-US" altLang="zh-TW" sz="2100" b="0" i="1" smtClean="0">
                                      <a:latin typeface="Cambria Math" panose="02040503050406030204" pitchFamily="18" charset="0"/>
                                    </a:rPr>
                                    <m:t>2</m:t>
                                  </m:r>
                                </m:num>
                                <m:den>
                                  <m:rad>
                                    <m:radPr>
                                      <m:degHide m:val="on"/>
                                      <m:ctrlPr>
                                        <a:rPr kumimoji="1" lang="en-US" altLang="zh-TW" sz="2100" i="1">
                                          <a:latin typeface="Cambria Math" panose="02040503050406030204" pitchFamily="18" charset="0"/>
                                        </a:rPr>
                                      </m:ctrlPr>
                                    </m:radPr>
                                    <m:deg/>
                                    <m:e>
                                      <m:r>
                                        <a:rPr kumimoji="1" lang="en-US" altLang="zh-TW" sz="2100" i="1">
                                          <a:latin typeface="Cambria Math" panose="02040503050406030204" pitchFamily="18" charset="0"/>
                                        </a:rPr>
                                        <m:t>6</m:t>
                                      </m:r>
                                    </m:e>
                                  </m:rad>
                                </m:den>
                              </m:f>
                            </m:e>
                          </m:mr>
                          <m:mr>
                            <m:e>
                              <m:f>
                                <m:fPr>
                                  <m:ctrlPr>
                                    <a:rPr kumimoji="1" lang="en-US" altLang="zh-TW" sz="2100" i="1">
                                      <a:latin typeface="Cambria Math" panose="02040503050406030204" pitchFamily="18" charset="0"/>
                                    </a:rPr>
                                  </m:ctrlPr>
                                </m:fPr>
                                <m:num>
                                  <m:r>
                                    <a:rPr kumimoji="1" lang="en-US" altLang="zh-TW" sz="2100" i="1">
                                      <a:latin typeface="Cambria Math" panose="02040503050406030204" pitchFamily="18" charset="0"/>
                                    </a:rPr>
                                    <m:t>1</m:t>
                                  </m:r>
                                </m:num>
                                <m:den>
                                  <m:rad>
                                    <m:radPr>
                                      <m:degHide m:val="on"/>
                                      <m:ctrlPr>
                                        <a:rPr kumimoji="1" lang="en-US" altLang="zh-TW" sz="2100" i="1">
                                          <a:latin typeface="Cambria Math" panose="02040503050406030204" pitchFamily="18" charset="0"/>
                                        </a:rPr>
                                      </m:ctrlPr>
                                    </m:radPr>
                                    <m:deg/>
                                    <m:e>
                                      <m:r>
                                        <a:rPr kumimoji="1" lang="en-US" altLang="zh-TW" sz="2100" i="1">
                                          <a:latin typeface="Cambria Math" panose="02040503050406030204" pitchFamily="18" charset="0"/>
                                        </a:rPr>
                                        <m:t>6</m:t>
                                      </m:r>
                                    </m:e>
                                  </m:rad>
                                </m:den>
                              </m:f>
                            </m:e>
                          </m:mr>
                        </m:m>
                      </m:e>
                    </m:d>
                  </m:oMath>
                </a14:m>
                <a:endParaRPr kumimoji="1" lang="en-US" altLang="zh-TW" sz="2100" dirty="0"/>
              </a:p>
              <a:p>
                <a:pPr lvl="1"/>
                <a:endParaRPr kumimoji="1" lang="zh-TW" altLang="en-US" dirty="0"/>
              </a:p>
            </p:txBody>
          </p:sp>
        </mc:Choice>
        <mc:Fallback xmlns="">
          <p:sp>
            <p:nvSpPr>
              <p:cNvPr id="3" name="內容版面配置區 2">
                <a:extLst>
                  <a:ext uri="{FF2B5EF4-FFF2-40B4-BE49-F238E27FC236}">
                    <a16:creationId xmlns:a16="http://schemas.microsoft.com/office/drawing/2014/main" id="{DFB6F34F-8A27-C4B2-8D7C-67F6DB9FE467}"/>
                  </a:ext>
                </a:extLst>
              </p:cNvPr>
              <p:cNvSpPr>
                <a:spLocks noGrp="1" noRot="1" noChangeAspect="1" noMove="1" noResize="1" noEditPoints="1" noAdjustHandles="1" noChangeArrowheads="1" noChangeShapeType="1" noTextEdit="1"/>
              </p:cNvSpPr>
              <p:nvPr>
                <p:ph idx="1"/>
              </p:nvPr>
            </p:nvSpPr>
            <p:spPr>
              <a:xfrm>
                <a:off x="838200" y="1825625"/>
                <a:ext cx="10515600" cy="5091642"/>
              </a:xfrm>
              <a:blipFill>
                <a:blip r:embed="rId2"/>
                <a:stretch>
                  <a:fillRect l="-724" t="-18657" b="-5497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0B4B2847-4717-8F40-E61D-BF8650AC6FAC}"/>
                  </a:ext>
                </a:extLst>
              </p:cNvPr>
              <p:cNvSpPr txBox="1"/>
              <p:nvPr/>
            </p:nvSpPr>
            <p:spPr>
              <a:xfrm>
                <a:off x="8813801" y="3730380"/>
                <a:ext cx="2247538" cy="19956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TW" sz="2000" b="0" i="1" smtClean="0">
                          <a:latin typeface="Cambria Math" panose="02040503050406030204" pitchFamily="18" charset="0"/>
                        </a:rPr>
                        <m:t>𝑈</m:t>
                      </m:r>
                      <m:r>
                        <a:rPr kumimoji="1" lang="en-US" altLang="zh-TW" sz="2000" b="0" i="1" smtClean="0">
                          <a:latin typeface="Cambria Math" panose="02040503050406030204" pitchFamily="18" charset="0"/>
                        </a:rPr>
                        <m:t>=</m:t>
                      </m:r>
                      <m:d>
                        <m:dPr>
                          <m:begChr m:val="["/>
                          <m:endChr m:val="]"/>
                          <m:ctrlPr>
                            <a:rPr kumimoji="1" lang="en-US" altLang="zh-TW" sz="2000" b="0" i="1" smtClean="0">
                              <a:latin typeface="Cambria Math" panose="02040503050406030204" pitchFamily="18" charset="0"/>
                            </a:rPr>
                          </m:ctrlPr>
                        </m:dPr>
                        <m:e>
                          <m:m>
                            <m:mPr>
                              <m:mcs>
                                <m:mc>
                                  <m:mcPr>
                                    <m:count m:val="3"/>
                                    <m:mcJc m:val="center"/>
                                  </m:mcPr>
                                </m:mc>
                              </m:mcs>
                              <m:ctrlPr>
                                <a:rPr kumimoji="1" lang="en-US" altLang="zh-TW" sz="2000" b="0" i="1" smtClean="0">
                                  <a:latin typeface="Cambria Math" panose="02040503050406030204" pitchFamily="18" charset="0"/>
                                </a:rPr>
                              </m:ctrlPr>
                            </m:mPr>
                            <m:mr>
                              <m:e>
                                <m:f>
                                  <m:fPr>
                                    <m:ctrlPr>
                                      <a:rPr kumimoji="1" lang="en-US" altLang="zh-TW" sz="2000" i="1">
                                        <a:latin typeface="Cambria Math" panose="02040503050406030204" pitchFamily="18" charset="0"/>
                                      </a:rPr>
                                    </m:ctrlPr>
                                  </m:fPr>
                                  <m:num>
                                    <m:r>
                                      <a:rPr kumimoji="1" lang="en-US" altLang="zh-TW" sz="2000" i="1">
                                        <a:latin typeface="Cambria Math" panose="02040503050406030204" pitchFamily="18" charset="0"/>
                                      </a:rPr>
                                      <m:t>1</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3</m:t>
                                        </m:r>
                                      </m:e>
                                    </m:rad>
                                  </m:den>
                                </m:f>
                              </m:e>
                              <m:e>
                                <m:f>
                                  <m:fPr>
                                    <m:ctrlPr>
                                      <a:rPr kumimoji="1" lang="en-US" altLang="zh-TW" sz="2000" i="1">
                                        <a:latin typeface="Cambria Math" panose="02040503050406030204" pitchFamily="18" charset="0"/>
                                      </a:rPr>
                                    </m:ctrlPr>
                                  </m:fPr>
                                  <m:num>
                                    <m:r>
                                      <a:rPr kumimoji="1" lang="en-US" altLang="zh-TW" sz="2000" b="0" i="1" smtClean="0">
                                        <a:latin typeface="Cambria Math" panose="02040503050406030204" pitchFamily="18" charset="0"/>
                                      </a:rPr>
                                      <m:t>−</m:t>
                                    </m:r>
                                    <m:r>
                                      <a:rPr kumimoji="1" lang="en-US" altLang="zh-TW" sz="2000" i="1">
                                        <a:latin typeface="Cambria Math" panose="02040503050406030204" pitchFamily="18" charset="0"/>
                                      </a:rPr>
                                      <m:t>1</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2</m:t>
                                        </m:r>
                                      </m:e>
                                    </m:rad>
                                  </m:den>
                                </m:f>
                              </m:e>
                              <m:e>
                                <m:f>
                                  <m:fPr>
                                    <m:ctrlPr>
                                      <a:rPr kumimoji="1" lang="en-US" altLang="zh-TW" sz="2000" i="1">
                                        <a:latin typeface="Cambria Math" panose="02040503050406030204" pitchFamily="18" charset="0"/>
                                      </a:rPr>
                                    </m:ctrlPr>
                                  </m:fPr>
                                  <m:num>
                                    <m:r>
                                      <a:rPr kumimoji="1" lang="en-US" altLang="zh-TW" sz="2000" i="1">
                                        <a:latin typeface="Cambria Math" panose="02040503050406030204" pitchFamily="18" charset="0"/>
                                      </a:rPr>
                                      <m:t>1</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6</m:t>
                                        </m:r>
                                      </m:e>
                                    </m:rad>
                                  </m:den>
                                </m:f>
                              </m:e>
                            </m:mr>
                            <m:mr>
                              <m:e>
                                <m:f>
                                  <m:fPr>
                                    <m:ctrlPr>
                                      <a:rPr kumimoji="1" lang="en-US" altLang="zh-TW" sz="2000" i="1">
                                        <a:latin typeface="Cambria Math" panose="02040503050406030204" pitchFamily="18" charset="0"/>
                                      </a:rPr>
                                    </m:ctrlPr>
                                  </m:fPr>
                                  <m:num>
                                    <m:r>
                                      <a:rPr kumimoji="1" lang="en-US" altLang="zh-TW" sz="2000" b="0" i="1" smtClean="0">
                                        <a:latin typeface="Cambria Math" panose="02040503050406030204" pitchFamily="18" charset="0"/>
                                      </a:rPr>
                                      <m:t>−</m:t>
                                    </m:r>
                                    <m:r>
                                      <a:rPr kumimoji="1" lang="en-US" altLang="zh-TW" sz="2000" i="1">
                                        <a:latin typeface="Cambria Math" panose="02040503050406030204" pitchFamily="18" charset="0"/>
                                      </a:rPr>
                                      <m:t>1</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3</m:t>
                                        </m:r>
                                      </m:e>
                                    </m:rad>
                                  </m:den>
                                </m:f>
                              </m:e>
                              <m:e>
                                <m:r>
                                  <a:rPr kumimoji="1" lang="en-US" altLang="zh-TW" sz="2000" b="0" i="1" smtClean="0">
                                    <a:latin typeface="Cambria Math" panose="02040503050406030204" pitchFamily="18" charset="0"/>
                                  </a:rPr>
                                  <m:t>0</m:t>
                                </m:r>
                              </m:e>
                              <m:e>
                                <m:f>
                                  <m:fPr>
                                    <m:ctrlPr>
                                      <a:rPr kumimoji="1" lang="en-US" altLang="zh-TW" sz="2000" i="1">
                                        <a:latin typeface="Cambria Math" panose="02040503050406030204" pitchFamily="18" charset="0"/>
                                      </a:rPr>
                                    </m:ctrlPr>
                                  </m:fPr>
                                  <m:num>
                                    <m:r>
                                      <a:rPr kumimoji="1" lang="en-US" altLang="zh-TW" sz="2000" b="0" i="1" smtClean="0">
                                        <a:latin typeface="Cambria Math" panose="02040503050406030204" pitchFamily="18" charset="0"/>
                                      </a:rPr>
                                      <m:t>2</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6</m:t>
                                        </m:r>
                                      </m:e>
                                    </m:rad>
                                  </m:den>
                                </m:f>
                              </m:e>
                            </m:mr>
                            <m:mr>
                              <m:e>
                                <m:f>
                                  <m:fPr>
                                    <m:ctrlPr>
                                      <a:rPr kumimoji="1" lang="en-US" altLang="zh-TW" sz="2000" i="1">
                                        <a:latin typeface="Cambria Math" panose="02040503050406030204" pitchFamily="18" charset="0"/>
                                      </a:rPr>
                                    </m:ctrlPr>
                                  </m:fPr>
                                  <m:num>
                                    <m:r>
                                      <a:rPr kumimoji="1" lang="en-US" altLang="zh-TW" sz="2000" i="1">
                                        <a:latin typeface="Cambria Math" panose="02040503050406030204" pitchFamily="18" charset="0"/>
                                      </a:rPr>
                                      <m:t>1</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3</m:t>
                                        </m:r>
                                      </m:e>
                                    </m:rad>
                                  </m:den>
                                </m:f>
                              </m:e>
                              <m:e>
                                <m:f>
                                  <m:fPr>
                                    <m:ctrlPr>
                                      <a:rPr kumimoji="1" lang="en-US" altLang="zh-TW" sz="2000" i="1">
                                        <a:latin typeface="Cambria Math" panose="02040503050406030204" pitchFamily="18" charset="0"/>
                                      </a:rPr>
                                    </m:ctrlPr>
                                  </m:fPr>
                                  <m:num>
                                    <m:r>
                                      <a:rPr kumimoji="1" lang="en-US" altLang="zh-TW" sz="2000" i="1">
                                        <a:latin typeface="Cambria Math" panose="02040503050406030204" pitchFamily="18" charset="0"/>
                                      </a:rPr>
                                      <m:t>1</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2</m:t>
                                        </m:r>
                                      </m:e>
                                    </m:rad>
                                  </m:den>
                                </m:f>
                              </m:e>
                              <m:e>
                                <m:f>
                                  <m:fPr>
                                    <m:ctrlPr>
                                      <a:rPr kumimoji="1" lang="en-US" altLang="zh-TW" sz="2000" i="1">
                                        <a:latin typeface="Cambria Math" panose="02040503050406030204" pitchFamily="18" charset="0"/>
                                      </a:rPr>
                                    </m:ctrlPr>
                                  </m:fPr>
                                  <m:num>
                                    <m:r>
                                      <a:rPr kumimoji="1" lang="en-US" altLang="zh-TW" sz="2000" i="1">
                                        <a:latin typeface="Cambria Math" panose="02040503050406030204" pitchFamily="18" charset="0"/>
                                      </a:rPr>
                                      <m:t>1</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6</m:t>
                                        </m:r>
                                      </m:e>
                                    </m:rad>
                                  </m:den>
                                </m:f>
                              </m:e>
                            </m:mr>
                          </m:m>
                        </m:e>
                      </m:d>
                    </m:oMath>
                  </m:oMathPara>
                </a14:m>
                <a:endParaRPr kumimoji="1" lang="zh-TW" altLang="en-US" dirty="0"/>
              </a:p>
            </p:txBody>
          </p:sp>
        </mc:Choice>
        <mc:Fallback xmlns="">
          <p:sp>
            <p:nvSpPr>
              <p:cNvPr id="4" name="文字方塊 3">
                <a:extLst>
                  <a:ext uri="{FF2B5EF4-FFF2-40B4-BE49-F238E27FC236}">
                    <a16:creationId xmlns:a16="http://schemas.microsoft.com/office/drawing/2014/main" id="{0B4B2847-4717-8F40-E61D-BF8650AC6FAC}"/>
                  </a:ext>
                </a:extLst>
              </p:cNvPr>
              <p:cNvSpPr txBox="1">
                <a:spLocks noRot="1" noChangeAspect="1" noMove="1" noResize="1" noEditPoints="1" noAdjustHandles="1" noChangeArrowheads="1" noChangeShapeType="1" noTextEdit="1"/>
              </p:cNvSpPr>
              <p:nvPr/>
            </p:nvSpPr>
            <p:spPr>
              <a:xfrm>
                <a:off x="8813801" y="3730380"/>
                <a:ext cx="2247538" cy="1995611"/>
              </a:xfrm>
              <a:prstGeom prst="rect">
                <a:avLst/>
              </a:prstGeom>
              <a:blipFill>
                <a:blip r:embed="rId3"/>
                <a:stretch>
                  <a:fillRect l="-2247" t="-633" b="-3165"/>
                </a:stretch>
              </a:blipFill>
            </p:spPr>
            <p:txBody>
              <a:bodyPr/>
              <a:lstStyle/>
              <a:p>
                <a:r>
                  <a:rPr lang="zh-TW" altLang="en-US">
                    <a:noFill/>
                  </a:rPr>
                  <a:t> </a:t>
                </a:r>
              </a:p>
            </p:txBody>
          </p:sp>
        </mc:Fallback>
      </mc:AlternateContent>
      <p:sp>
        <p:nvSpPr>
          <p:cNvPr id="5" name="向右箭號 4">
            <a:extLst>
              <a:ext uri="{FF2B5EF4-FFF2-40B4-BE49-F238E27FC236}">
                <a16:creationId xmlns:a16="http://schemas.microsoft.com/office/drawing/2014/main" id="{2362F04C-89CD-D0D9-8956-E51356310359}"/>
              </a:ext>
            </a:extLst>
          </p:cNvPr>
          <p:cNvSpPr/>
          <p:nvPr/>
        </p:nvSpPr>
        <p:spPr>
          <a:xfrm>
            <a:off x="8056033" y="4354601"/>
            <a:ext cx="635000" cy="5561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cxnSp>
        <p:nvCxnSpPr>
          <p:cNvPr id="7" name="直線箭頭接點 6">
            <a:extLst>
              <a:ext uri="{FF2B5EF4-FFF2-40B4-BE49-F238E27FC236}">
                <a16:creationId xmlns:a16="http://schemas.microsoft.com/office/drawing/2014/main" id="{EF927B68-A987-9463-4DDF-505C76C5A83B}"/>
              </a:ext>
            </a:extLst>
          </p:cNvPr>
          <p:cNvCxnSpPr/>
          <p:nvPr/>
        </p:nvCxnSpPr>
        <p:spPr>
          <a:xfrm>
            <a:off x="7890933" y="3302000"/>
            <a:ext cx="1600200" cy="35560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6" name="直線箭頭接點 15">
            <a:extLst>
              <a:ext uri="{FF2B5EF4-FFF2-40B4-BE49-F238E27FC236}">
                <a16:creationId xmlns:a16="http://schemas.microsoft.com/office/drawing/2014/main" id="{43D1FF4A-B828-4839-CC9F-22BE03A75E62}"/>
              </a:ext>
            </a:extLst>
          </p:cNvPr>
          <p:cNvCxnSpPr>
            <a:cxnSpLocks/>
          </p:cNvCxnSpPr>
          <p:nvPr/>
        </p:nvCxnSpPr>
        <p:spPr>
          <a:xfrm>
            <a:off x="6801481" y="4884737"/>
            <a:ext cx="2094041" cy="119722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8" name="直線箭頭接點 17">
            <a:extLst>
              <a:ext uri="{FF2B5EF4-FFF2-40B4-BE49-F238E27FC236}">
                <a16:creationId xmlns:a16="http://schemas.microsoft.com/office/drawing/2014/main" id="{7FFB88B7-3CD3-50E0-DDF0-F2132B191E41}"/>
              </a:ext>
            </a:extLst>
          </p:cNvPr>
          <p:cNvCxnSpPr>
            <a:cxnSpLocks/>
          </p:cNvCxnSpPr>
          <p:nvPr/>
        </p:nvCxnSpPr>
        <p:spPr>
          <a:xfrm>
            <a:off x="6839030" y="6081957"/>
            <a:ext cx="2839797" cy="410918"/>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9" name="直線箭頭接點 18">
            <a:extLst>
              <a:ext uri="{FF2B5EF4-FFF2-40B4-BE49-F238E27FC236}">
                <a16:creationId xmlns:a16="http://schemas.microsoft.com/office/drawing/2014/main" id="{CDFA6D44-6CF2-156D-D371-31BE90AD22ED}"/>
              </a:ext>
            </a:extLst>
          </p:cNvPr>
          <p:cNvCxnSpPr>
            <a:cxnSpLocks/>
          </p:cNvCxnSpPr>
          <p:nvPr/>
        </p:nvCxnSpPr>
        <p:spPr>
          <a:xfrm flipV="1">
            <a:off x="9680713" y="5725991"/>
            <a:ext cx="994762" cy="76688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3" name="直線箭頭接點 22">
            <a:extLst>
              <a:ext uri="{FF2B5EF4-FFF2-40B4-BE49-F238E27FC236}">
                <a16:creationId xmlns:a16="http://schemas.microsoft.com/office/drawing/2014/main" id="{2C639672-3781-5C24-5ACE-495320831F25}"/>
              </a:ext>
            </a:extLst>
          </p:cNvPr>
          <p:cNvCxnSpPr>
            <a:cxnSpLocks/>
          </p:cNvCxnSpPr>
          <p:nvPr/>
        </p:nvCxnSpPr>
        <p:spPr>
          <a:xfrm flipV="1">
            <a:off x="8828710" y="5725991"/>
            <a:ext cx="1457285" cy="355966"/>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31" name="文字方塊 30">
            <a:extLst>
              <a:ext uri="{FF2B5EF4-FFF2-40B4-BE49-F238E27FC236}">
                <a16:creationId xmlns:a16="http://schemas.microsoft.com/office/drawing/2014/main" id="{E6DC1B8B-766A-1FFC-5F45-EA6BFF3D4DE3}"/>
              </a:ext>
            </a:extLst>
          </p:cNvPr>
          <p:cNvSpPr txBox="1"/>
          <p:nvPr/>
        </p:nvSpPr>
        <p:spPr>
          <a:xfrm>
            <a:off x="4184374" y="181488"/>
            <a:ext cx="8007626" cy="646331"/>
          </a:xfrm>
          <a:prstGeom prst="rect">
            <a:avLst/>
          </a:prstGeom>
          <a:noFill/>
        </p:spPr>
        <p:txBody>
          <a:bodyPr wrap="square">
            <a:spAutoFit/>
          </a:bodyPr>
          <a:lstStyle/>
          <a:p>
            <a:r>
              <a:rPr lang="en" altLang="zh-TW" sz="1200" dirty="0"/>
              <a:t>Eigenvector</a:t>
            </a:r>
            <a:r>
              <a:rPr lang="zh-TW" altLang="en-US" sz="1200" dirty="0"/>
              <a:t>的方向選擇：https://flag-editors.medium.com/%E6%A9%9F%E5%99%A8%E5%AD%B8%E7%BF%92lesson-8-%E5%A5%87%E7%95%B0%E5%80%BC%E5%88%86%E8%A7%A3%E7%9A%84%E8%A8%88%E7%AE%97%E5%8F%8A%E9%99%B7%E9%98%B1-%E4%B8%8B%E7%AF%87-87f2a637f1cc</a:t>
            </a:r>
          </a:p>
        </p:txBody>
      </p:sp>
    </p:spTree>
    <p:extLst>
      <p:ext uri="{BB962C8B-B14F-4D97-AF65-F5344CB8AC3E}">
        <p14:creationId xmlns:p14="http://schemas.microsoft.com/office/powerpoint/2010/main" val="26995292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A9778E-F6FA-A445-8A55-BDCABE10C2F8}"/>
              </a:ext>
            </a:extLst>
          </p:cNvPr>
          <p:cNvSpPr>
            <a:spLocks noGrp="1"/>
          </p:cNvSpPr>
          <p:nvPr>
            <p:ph type="title"/>
          </p:nvPr>
        </p:nvSpPr>
        <p:spPr/>
        <p:txBody>
          <a:bodyPr/>
          <a:lstStyle/>
          <a:p>
            <a:r>
              <a:rPr kumimoji="1" lang="zh-TW" altLang="en" dirty="0"/>
              <a:t>奇</a:t>
            </a:r>
            <a:r>
              <a:rPr kumimoji="1" lang="zh-TW" altLang="en-US" dirty="0"/>
              <a:t>異值分解</a:t>
            </a:r>
            <a:r>
              <a:rPr kumimoji="1" lang="en-US" altLang="zh-TW" dirty="0"/>
              <a:t>SVD</a:t>
            </a:r>
            <a:br>
              <a:rPr kumimoji="1" lang="en-US" altLang="zh-TW" dirty="0"/>
            </a:br>
            <a:r>
              <a:rPr kumimoji="1" lang="en-US" altLang="zh-TW" sz="3200" dirty="0"/>
              <a:t>04_SVD_from_scratch.py</a:t>
            </a:r>
            <a:endParaRPr kumimoji="1"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F7F4680-1FE3-E9E8-33B7-2702ECD19192}"/>
                  </a:ext>
                </a:extLst>
              </p:cNvPr>
              <p:cNvSpPr>
                <a:spLocks noGrp="1"/>
              </p:cNvSpPr>
              <p:nvPr>
                <p:ph idx="1"/>
              </p:nvPr>
            </p:nvSpPr>
            <p:spPr>
              <a:xfrm>
                <a:off x="838200" y="1825625"/>
                <a:ext cx="10515600" cy="4952862"/>
              </a:xfrm>
            </p:spPr>
            <p:txBody>
              <a:bodyPr>
                <a:normAutofit/>
              </a:bodyPr>
              <a:lstStyle/>
              <a:p>
                <a14:m>
                  <m:oMath xmlns:m="http://schemas.openxmlformats.org/officeDocument/2006/math">
                    <m:r>
                      <a:rPr kumimoji="1" lang="en-US" altLang="zh-TW" sz="2000" b="0" i="1" smtClean="0">
                        <a:latin typeface="Cambria Math" panose="02040503050406030204" pitchFamily="18" charset="0"/>
                        <a:ea typeface="Cambria Math" panose="02040503050406030204" pitchFamily="18" charset="0"/>
                      </a:rPr>
                      <m:t>𝑉</m:t>
                    </m:r>
                  </m:oMath>
                </a14:m>
                <a:r>
                  <a:rPr kumimoji="1" lang="zh-TW" altLang="en-US" sz="2000" dirty="0"/>
                  <a:t>的計算方式，改算</a:t>
                </a:r>
                <a14:m>
                  <m:oMath xmlns:m="http://schemas.openxmlformats.org/officeDocument/2006/math">
                    <m:sSup>
                      <m:sSupPr>
                        <m:ctrlPr>
                          <a:rPr kumimoji="1" lang="en-US" altLang="zh-TW" sz="2000" i="1">
                            <a:latin typeface="Cambria Math" panose="02040503050406030204" pitchFamily="18" charset="0"/>
                          </a:rPr>
                        </m:ctrlPr>
                      </m:sSupPr>
                      <m:e>
                        <m:r>
                          <a:rPr kumimoji="1" lang="en-US" altLang="zh-TW" sz="2000" i="1">
                            <a:latin typeface="Cambria Math" panose="02040503050406030204" pitchFamily="18" charset="0"/>
                          </a:rPr>
                          <m:t>𝐴</m:t>
                        </m:r>
                      </m:e>
                      <m:sup>
                        <m:r>
                          <a:rPr kumimoji="1" lang="en-US" altLang="zh-TW" sz="2000" i="1">
                            <a:latin typeface="Cambria Math" panose="02040503050406030204" pitchFamily="18" charset="0"/>
                          </a:rPr>
                          <m:t>𝑇</m:t>
                        </m:r>
                      </m:sup>
                    </m:sSup>
                    <m:r>
                      <a:rPr kumimoji="1" lang="en-US" altLang="zh-TW" sz="2000" i="1">
                        <a:latin typeface="Cambria Math" panose="02040503050406030204" pitchFamily="18" charset="0"/>
                      </a:rPr>
                      <m:t>𝐴</m:t>
                    </m:r>
                    <m:r>
                      <a:rPr kumimoji="1" lang="en-US" altLang="zh-TW" sz="2000" b="0" i="1" smtClean="0">
                        <a:latin typeface="Cambria Math" panose="02040503050406030204" pitchFamily="18" charset="0"/>
                      </a:rPr>
                      <m:t>=</m:t>
                    </m:r>
                    <m:d>
                      <m:dPr>
                        <m:begChr m:val="["/>
                        <m:endChr m:val="]"/>
                        <m:ctrlPr>
                          <a:rPr kumimoji="1" lang="en-US" altLang="zh-TW" sz="2000" i="1">
                            <a:latin typeface="Cambria Math" panose="02040503050406030204" pitchFamily="18" charset="0"/>
                          </a:rPr>
                        </m:ctrlPr>
                      </m:dPr>
                      <m:e>
                        <m:m>
                          <m:mPr>
                            <m:mcs>
                              <m:mc>
                                <m:mcPr>
                                  <m:count m:val="3"/>
                                  <m:mcJc m:val="center"/>
                                </m:mcPr>
                              </m:mc>
                            </m:mcs>
                            <m:ctrlPr>
                              <a:rPr kumimoji="1" lang="en-US" altLang="zh-TW" sz="2000" i="1">
                                <a:latin typeface="Cambria Math" panose="02040503050406030204" pitchFamily="18" charset="0"/>
                              </a:rPr>
                            </m:ctrlPr>
                          </m:mPr>
                          <m:mr>
                            <m:e>
                              <m:r>
                                <m:rPr>
                                  <m:brk m:alnAt="7"/>
                                </m:rPr>
                                <a:rPr kumimoji="1" lang="en-US" altLang="zh-TW" sz="2000" i="1">
                                  <a:latin typeface="Cambria Math" panose="02040503050406030204" pitchFamily="18" charset="0"/>
                                </a:rPr>
                                <m:t>−</m:t>
                              </m:r>
                              <m:r>
                                <a:rPr kumimoji="1" lang="en-US" altLang="zh-TW" sz="2000" i="1">
                                  <a:latin typeface="Cambria Math" panose="02040503050406030204" pitchFamily="18" charset="0"/>
                                </a:rPr>
                                <m:t>1</m:t>
                              </m:r>
                            </m:e>
                            <m:e>
                              <m:r>
                                <a:rPr kumimoji="1" lang="en-US" altLang="zh-TW" sz="2000" i="1">
                                  <a:latin typeface="Cambria Math" panose="02040503050406030204" pitchFamily="18" charset="0"/>
                                </a:rPr>
                                <m:t>0</m:t>
                              </m:r>
                            </m:e>
                            <m:e>
                              <m:r>
                                <a:rPr kumimoji="1" lang="en-US" altLang="zh-TW" sz="2000" i="1">
                                  <a:latin typeface="Cambria Math" panose="02040503050406030204" pitchFamily="18" charset="0"/>
                                </a:rPr>
                                <m:t>1</m:t>
                              </m:r>
                            </m:e>
                          </m:mr>
                          <m:mr>
                            <m:e>
                              <m:r>
                                <a:rPr kumimoji="1" lang="en-US" altLang="zh-TW" sz="2000" i="1">
                                  <a:latin typeface="Cambria Math" panose="02040503050406030204" pitchFamily="18" charset="0"/>
                                </a:rPr>
                                <m:t>1</m:t>
                              </m:r>
                            </m:e>
                            <m:e>
                              <m:r>
                                <a:rPr kumimoji="1" lang="en-US" altLang="zh-TW" sz="2000" i="1">
                                  <a:latin typeface="Cambria Math" panose="02040503050406030204" pitchFamily="18" charset="0"/>
                                </a:rPr>
                                <m:t>−1</m:t>
                              </m:r>
                            </m:e>
                            <m:e>
                              <m:r>
                                <a:rPr kumimoji="1" lang="en-US" altLang="zh-TW" sz="2000" i="1">
                                  <a:latin typeface="Cambria Math" panose="02040503050406030204" pitchFamily="18" charset="0"/>
                                </a:rPr>
                                <m:t>1</m:t>
                              </m:r>
                            </m:e>
                          </m:mr>
                        </m:m>
                      </m:e>
                    </m:d>
                    <m:d>
                      <m:dPr>
                        <m:begChr m:val="["/>
                        <m:endChr m:val="]"/>
                        <m:ctrlPr>
                          <a:rPr kumimoji="1" lang="en-US" altLang="zh-TW" sz="2000" i="1">
                            <a:latin typeface="Cambria Math" panose="02040503050406030204" pitchFamily="18" charset="0"/>
                          </a:rPr>
                        </m:ctrlPr>
                      </m:dPr>
                      <m:e>
                        <m:m>
                          <m:mPr>
                            <m:mcs>
                              <m:mc>
                                <m:mcPr>
                                  <m:count m:val="2"/>
                                  <m:mcJc m:val="center"/>
                                </m:mcPr>
                              </m:mc>
                            </m:mcs>
                            <m:ctrlPr>
                              <a:rPr kumimoji="1" lang="en-US" altLang="zh-TW" sz="2000" i="1">
                                <a:latin typeface="Cambria Math" panose="02040503050406030204" pitchFamily="18" charset="0"/>
                              </a:rPr>
                            </m:ctrlPr>
                          </m:mPr>
                          <m:mr>
                            <m:e>
                              <m:r>
                                <m:rPr>
                                  <m:brk m:alnAt="7"/>
                                </m:rPr>
                                <a:rPr kumimoji="1" lang="en-US" altLang="zh-TW" sz="2000" i="1">
                                  <a:latin typeface="Cambria Math" panose="02040503050406030204" pitchFamily="18" charset="0"/>
                                </a:rPr>
                                <m:t>−</m:t>
                              </m:r>
                              <m:r>
                                <a:rPr kumimoji="1" lang="en-US" altLang="zh-TW" sz="2000" i="1">
                                  <a:latin typeface="Cambria Math" panose="02040503050406030204" pitchFamily="18" charset="0"/>
                                </a:rPr>
                                <m:t>1</m:t>
                              </m:r>
                            </m:e>
                            <m:e>
                              <m:r>
                                <a:rPr kumimoji="1" lang="en-US" altLang="zh-TW" sz="2000" i="1">
                                  <a:latin typeface="Cambria Math" panose="02040503050406030204" pitchFamily="18" charset="0"/>
                                </a:rPr>
                                <m:t>1</m:t>
                              </m:r>
                            </m:e>
                          </m:mr>
                          <m:mr>
                            <m:e>
                              <m:r>
                                <a:rPr kumimoji="1" lang="en-US" altLang="zh-TW" sz="2000" i="1">
                                  <a:latin typeface="Cambria Math" panose="02040503050406030204" pitchFamily="18" charset="0"/>
                                </a:rPr>
                                <m:t>0</m:t>
                              </m:r>
                            </m:e>
                            <m:e>
                              <m:r>
                                <a:rPr kumimoji="1" lang="en-US" altLang="zh-TW" sz="2000" i="1">
                                  <a:latin typeface="Cambria Math" panose="02040503050406030204" pitchFamily="18" charset="0"/>
                                </a:rPr>
                                <m:t>−1</m:t>
                              </m:r>
                            </m:e>
                          </m:mr>
                          <m:mr>
                            <m:e>
                              <m:r>
                                <a:rPr kumimoji="1" lang="en-US" altLang="zh-TW" sz="2000" i="1">
                                  <a:latin typeface="Cambria Math" panose="02040503050406030204" pitchFamily="18" charset="0"/>
                                </a:rPr>
                                <m:t>1</m:t>
                              </m:r>
                            </m:e>
                            <m:e>
                              <m:r>
                                <a:rPr kumimoji="1" lang="en-US" altLang="zh-TW" sz="2000" i="1">
                                  <a:latin typeface="Cambria Math" panose="02040503050406030204" pitchFamily="18" charset="0"/>
                                </a:rPr>
                                <m:t>1</m:t>
                              </m:r>
                            </m:e>
                          </m:mr>
                        </m:m>
                      </m:e>
                    </m:d>
                    <m:r>
                      <a:rPr kumimoji="1" lang="en-US" altLang="zh-TW" sz="2000" b="0" i="1" smtClean="0">
                        <a:latin typeface="Cambria Math" panose="02040503050406030204" pitchFamily="18" charset="0"/>
                      </a:rPr>
                      <m:t>=</m:t>
                    </m:r>
                    <m:d>
                      <m:dPr>
                        <m:begChr m:val="["/>
                        <m:endChr m:val="]"/>
                        <m:ctrlPr>
                          <a:rPr kumimoji="1" lang="en-US" altLang="zh-TW" sz="2000" b="0" i="1" smtClean="0">
                            <a:latin typeface="Cambria Math" panose="02040503050406030204" pitchFamily="18" charset="0"/>
                          </a:rPr>
                        </m:ctrlPr>
                      </m:dPr>
                      <m:e>
                        <m:m>
                          <m:mPr>
                            <m:mcs>
                              <m:mc>
                                <m:mcPr>
                                  <m:count m:val="2"/>
                                  <m:mcJc m:val="center"/>
                                </m:mcPr>
                              </m:mc>
                            </m:mcs>
                            <m:ctrlPr>
                              <a:rPr kumimoji="1" lang="en-US" altLang="zh-TW" sz="2000" b="0" i="1" smtClean="0">
                                <a:latin typeface="Cambria Math" panose="02040503050406030204" pitchFamily="18" charset="0"/>
                              </a:rPr>
                            </m:ctrlPr>
                          </m:mPr>
                          <m:mr>
                            <m:e>
                              <m:r>
                                <m:rPr>
                                  <m:brk m:alnAt="7"/>
                                </m:rPr>
                                <a:rPr kumimoji="1" lang="en-US" altLang="zh-TW" sz="2000" b="0" i="1" smtClean="0">
                                  <a:latin typeface="Cambria Math" panose="02040503050406030204" pitchFamily="18" charset="0"/>
                                </a:rPr>
                                <m:t>2</m:t>
                              </m:r>
                            </m:e>
                            <m:e>
                              <m:r>
                                <a:rPr kumimoji="1" lang="en-US" altLang="zh-TW" sz="2000" b="0" i="1" smtClean="0">
                                  <a:latin typeface="Cambria Math" panose="02040503050406030204" pitchFamily="18" charset="0"/>
                                </a:rPr>
                                <m:t>0</m:t>
                              </m:r>
                            </m:e>
                          </m:mr>
                          <m:mr>
                            <m:e>
                              <m:r>
                                <a:rPr kumimoji="1" lang="en-US" altLang="zh-TW" sz="2000" b="0" i="1" smtClean="0">
                                  <a:latin typeface="Cambria Math" panose="02040503050406030204" pitchFamily="18" charset="0"/>
                                </a:rPr>
                                <m:t>0</m:t>
                              </m:r>
                            </m:e>
                            <m:e>
                              <m:r>
                                <a:rPr kumimoji="1" lang="en-US" altLang="zh-TW" sz="2000" b="0" i="1" smtClean="0">
                                  <a:latin typeface="Cambria Math" panose="02040503050406030204" pitchFamily="18" charset="0"/>
                                </a:rPr>
                                <m:t>3</m:t>
                              </m:r>
                            </m:e>
                          </m:mr>
                        </m:m>
                      </m:e>
                    </m:d>
                  </m:oMath>
                </a14:m>
                <a:endParaRPr kumimoji="1" lang="en-US" altLang="zh-TW" sz="2000" dirty="0"/>
              </a:p>
              <a:p>
                <a:r>
                  <a:rPr kumimoji="1" lang="zh-TW" altLang="en-US" sz="2000" dirty="0"/>
                  <a:t>按照同樣的方式可以算出</a:t>
                </a:r>
                <a:r>
                  <a:rPr kumimoji="1" lang="en-US" altLang="zh-TW" sz="2000" dirty="0"/>
                  <a:t>eigenvalue</a:t>
                </a:r>
                <a:r>
                  <a:rPr kumimoji="1" lang="zh-TW" altLang="en-US" sz="2000" dirty="0"/>
                  <a:t>會是</a:t>
                </a:r>
                <a:r>
                  <a:rPr kumimoji="1" lang="en-US" altLang="zh-TW" sz="2000" dirty="0"/>
                  <a:t>3</a:t>
                </a:r>
                <a:r>
                  <a:rPr kumimoji="1" lang="zh-TW" altLang="en-US" sz="2000" dirty="0"/>
                  <a:t>或</a:t>
                </a:r>
                <a:r>
                  <a:rPr kumimoji="1" lang="en-US" altLang="zh-TW" sz="2000" dirty="0"/>
                  <a:t>2</a:t>
                </a:r>
              </a:p>
              <a:p>
                <a:r>
                  <a:rPr kumimoji="1" lang="zh-TW" altLang="en-US" sz="2000" dirty="0"/>
                  <a:t>透過</a:t>
                </a:r>
                <a14:m>
                  <m:oMath xmlns:m="http://schemas.openxmlformats.org/officeDocument/2006/math">
                    <m:r>
                      <a:rPr kumimoji="1" lang="en-US" altLang="zh-TW" sz="2000" i="1" smtClean="0">
                        <a:latin typeface="Cambria Math" panose="02040503050406030204" pitchFamily="18" charset="0"/>
                        <a:ea typeface="Cambria Math" panose="02040503050406030204" pitchFamily="18" charset="0"/>
                      </a:rPr>
                      <m:t>𝜆</m:t>
                    </m:r>
                    <m:r>
                      <a:rPr kumimoji="1" lang="en-US" altLang="zh-TW" sz="2000" b="0" i="1" smtClean="0">
                        <a:latin typeface="Cambria Math" panose="02040503050406030204" pitchFamily="18" charset="0"/>
                        <a:ea typeface="Cambria Math" panose="02040503050406030204" pitchFamily="18" charset="0"/>
                      </a:rPr>
                      <m:t>=3</m:t>
                    </m:r>
                    <m:r>
                      <a:rPr kumimoji="1" lang="zh-TW" altLang="en-US" sz="2000" b="0" i="1" smtClean="0">
                        <a:latin typeface="Cambria Math" panose="02040503050406030204" pitchFamily="18" charset="0"/>
                        <a:ea typeface="Cambria Math" panose="02040503050406030204" pitchFamily="18" charset="0"/>
                      </a:rPr>
                      <m:t> </m:t>
                    </m:r>
                    <m:r>
                      <a:rPr kumimoji="1" lang="en-US" altLang="zh-TW" sz="2000" b="0" i="1" smtClean="0">
                        <a:latin typeface="Cambria Math" panose="02040503050406030204" pitchFamily="18" charset="0"/>
                        <a:ea typeface="Cambria Math" panose="02040503050406030204" pitchFamily="18" charset="0"/>
                      </a:rPr>
                      <m:t>𝑜𝑟</m:t>
                    </m:r>
                    <m:r>
                      <a:rPr kumimoji="1" lang="zh-TW" altLang="en-US" sz="2000" b="0" i="1" smtClean="0">
                        <a:latin typeface="Cambria Math" panose="02040503050406030204" pitchFamily="18" charset="0"/>
                        <a:ea typeface="Cambria Math" panose="02040503050406030204" pitchFamily="18" charset="0"/>
                      </a:rPr>
                      <m:t> </m:t>
                    </m:r>
                    <m:r>
                      <a:rPr kumimoji="1" lang="en-US" altLang="zh-TW" sz="2000" b="0" i="1" smtClean="0">
                        <a:latin typeface="Cambria Math" panose="02040503050406030204" pitchFamily="18" charset="0"/>
                        <a:ea typeface="Cambria Math" panose="02040503050406030204" pitchFamily="18" charset="0"/>
                      </a:rPr>
                      <m:t>2</m:t>
                    </m:r>
                  </m:oMath>
                </a14:m>
                <a:r>
                  <a:rPr kumimoji="1" lang="zh-TW" altLang="en-US" sz="2000" dirty="0"/>
                  <a:t>計算後得出的</a:t>
                </a:r>
                <a:r>
                  <a:rPr kumimoji="1" lang="en-US" altLang="zh-TW" sz="2000" dirty="0"/>
                  <a:t>eigenvector</a:t>
                </a:r>
                <a:r>
                  <a:rPr kumimoji="1" lang="zh-TW" altLang="en-US" sz="2000" dirty="0"/>
                  <a:t>分別是</a:t>
                </a:r>
                <a14:m>
                  <m:oMath xmlns:m="http://schemas.openxmlformats.org/officeDocument/2006/math">
                    <m:d>
                      <m:dPr>
                        <m:begChr m:val="["/>
                        <m:endChr m:val="]"/>
                        <m:ctrlPr>
                          <a:rPr kumimoji="1" lang="en-US" altLang="zh-TW" sz="2000" i="1" smtClean="0">
                            <a:latin typeface="Cambria Math" panose="02040503050406030204" pitchFamily="18" charset="0"/>
                          </a:rPr>
                        </m:ctrlPr>
                      </m:dPr>
                      <m:e>
                        <m:m>
                          <m:mPr>
                            <m:mcs>
                              <m:mc>
                                <m:mcPr>
                                  <m:count m:val="1"/>
                                  <m:mcJc m:val="center"/>
                                </m:mcPr>
                              </m:mc>
                            </m:mcs>
                            <m:ctrlPr>
                              <a:rPr kumimoji="1" lang="en-US" altLang="zh-TW" sz="2000" i="1" smtClean="0">
                                <a:latin typeface="Cambria Math" panose="02040503050406030204" pitchFamily="18" charset="0"/>
                              </a:rPr>
                            </m:ctrlPr>
                          </m:mPr>
                          <m:mr>
                            <m:e>
                              <m:r>
                                <m:rPr>
                                  <m:brk m:alnAt="7"/>
                                </m:rPr>
                                <a:rPr kumimoji="1" lang="en-US" altLang="zh-TW" sz="2000" b="0" i="1" smtClean="0">
                                  <a:latin typeface="Cambria Math" panose="02040503050406030204" pitchFamily="18" charset="0"/>
                                </a:rPr>
                                <m:t>1</m:t>
                              </m:r>
                            </m:e>
                          </m:mr>
                          <m:mr>
                            <m:e>
                              <m:r>
                                <a:rPr kumimoji="1" lang="en-US" altLang="zh-TW" sz="2000" b="0" i="1" smtClean="0">
                                  <a:latin typeface="Cambria Math" panose="02040503050406030204" pitchFamily="18" charset="0"/>
                                </a:rPr>
                                <m:t>0</m:t>
                              </m:r>
                            </m:e>
                          </m:mr>
                        </m:m>
                      </m:e>
                    </m:d>
                  </m:oMath>
                </a14:m>
                <a:r>
                  <a:rPr kumimoji="1" lang="zh-TW" altLang="en-US" sz="2000" dirty="0"/>
                  <a:t>跟</a:t>
                </a:r>
                <a14:m>
                  <m:oMath xmlns:m="http://schemas.openxmlformats.org/officeDocument/2006/math">
                    <m:d>
                      <m:dPr>
                        <m:begChr m:val="["/>
                        <m:endChr m:val="]"/>
                        <m:ctrlPr>
                          <a:rPr kumimoji="1" lang="en-US" altLang="zh-TW" sz="2000" i="1">
                            <a:latin typeface="Cambria Math" panose="02040503050406030204" pitchFamily="18" charset="0"/>
                          </a:rPr>
                        </m:ctrlPr>
                      </m:dPr>
                      <m:e>
                        <m:m>
                          <m:mPr>
                            <m:mcs>
                              <m:mc>
                                <m:mcPr>
                                  <m:count m:val="1"/>
                                  <m:mcJc m:val="center"/>
                                </m:mcPr>
                              </m:mc>
                            </m:mcs>
                            <m:ctrlPr>
                              <a:rPr kumimoji="1" lang="en-US" altLang="zh-TW" sz="2000" i="1">
                                <a:latin typeface="Cambria Math" panose="02040503050406030204" pitchFamily="18" charset="0"/>
                              </a:rPr>
                            </m:ctrlPr>
                          </m:mPr>
                          <m:mr>
                            <m:e>
                              <m:r>
                                <m:rPr>
                                  <m:brk m:alnAt="7"/>
                                </m:rPr>
                                <a:rPr kumimoji="1" lang="en-US" altLang="zh-TW" sz="2000" b="0" i="1" smtClean="0">
                                  <a:latin typeface="Cambria Math" panose="02040503050406030204" pitchFamily="18" charset="0"/>
                                </a:rPr>
                                <m:t>0</m:t>
                              </m:r>
                            </m:e>
                          </m:mr>
                          <m:mr>
                            <m:e>
                              <m:r>
                                <a:rPr kumimoji="1" lang="en-US" altLang="zh-TW" sz="2000" b="0" i="1" smtClean="0">
                                  <a:latin typeface="Cambria Math" panose="02040503050406030204" pitchFamily="18" charset="0"/>
                                </a:rPr>
                                <m:t>1</m:t>
                              </m:r>
                            </m:e>
                          </m:mr>
                        </m:m>
                      </m:e>
                    </m:d>
                  </m:oMath>
                </a14:m>
                <a:endParaRPr kumimoji="1" lang="en-US" altLang="zh-TW" sz="2000" dirty="0"/>
              </a:p>
              <a:p>
                <a:r>
                  <a:rPr kumimoji="1" lang="zh-TW" altLang="en-US" sz="2000" dirty="0"/>
                  <a:t>所以</a:t>
                </a:r>
                <a14:m>
                  <m:oMath xmlns:m="http://schemas.openxmlformats.org/officeDocument/2006/math">
                    <m:r>
                      <a:rPr kumimoji="1" lang="en-US" altLang="zh-TW" sz="2000" b="0" i="1" smtClean="0">
                        <a:latin typeface="Cambria Math" panose="02040503050406030204" pitchFamily="18" charset="0"/>
                        <a:ea typeface="Cambria Math" panose="02040503050406030204" pitchFamily="18" charset="0"/>
                      </a:rPr>
                      <m:t>𝑉</m:t>
                    </m:r>
                    <m:r>
                      <a:rPr kumimoji="1" lang="en-US" altLang="zh-TW" sz="2000" b="0" i="1" smtClean="0">
                        <a:latin typeface="Cambria Math" panose="02040503050406030204" pitchFamily="18" charset="0"/>
                        <a:ea typeface="Cambria Math" panose="02040503050406030204" pitchFamily="18" charset="0"/>
                      </a:rPr>
                      <m:t>=</m:t>
                    </m:r>
                    <m:d>
                      <m:dPr>
                        <m:begChr m:val="["/>
                        <m:endChr m:val="]"/>
                        <m:ctrlPr>
                          <a:rPr kumimoji="1" lang="en-US" altLang="zh-TW" sz="2000" b="0" i="1" smtClean="0">
                            <a:latin typeface="Cambria Math" panose="02040503050406030204" pitchFamily="18" charset="0"/>
                            <a:ea typeface="Cambria Math" panose="02040503050406030204" pitchFamily="18" charset="0"/>
                          </a:rPr>
                        </m:ctrlPr>
                      </m:dPr>
                      <m:e>
                        <m:m>
                          <m:mPr>
                            <m:mcs>
                              <m:mc>
                                <m:mcPr>
                                  <m:count m:val="2"/>
                                  <m:mcJc m:val="center"/>
                                </m:mcPr>
                              </m:mc>
                            </m:mcs>
                            <m:ctrlPr>
                              <a:rPr kumimoji="1" lang="en-US" altLang="zh-TW" sz="2000" b="0" i="1" smtClean="0">
                                <a:latin typeface="Cambria Math" panose="02040503050406030204" pitchFamily="18" charset="0"/>
                                <a:ea typeface="Cambria Math" panose="02040503050406030204" pitchFamily="18" charset="0"/>
                              </a:rPr>
                            </m:ctrlPr>
                          </m:mPr>
                          <m:mr>
                            <m:e>
                              <m:r>
                                <m:rPr>
                                  <m:brk m:alnAt="7"/>
                                </m:rPr>
                                <a:rPr kumimoji="1" lang="en-US" altLang="zh-TW" sz="2000" b="0" i="1" smtClean="0">
                                  <a:latin typeface="Cambria Math" panose="02040503050406030204" pitchFamily="18" charset="0"/>
                                  <a:ea typeface="Cambria Math" panose="02040503050406030204" pitchFamily="18" charset="0"/>
                                </a:rPr>
                                <m:t>1</m:t>
                              </m:r>
                            </m:e>
                            <m:e>
                              <m:r>
                                <a:rPr kumimoji="1" lang="en-US" altLang="zh-TW" sz="2000" b="0" i="1" smtClean="0">
                                  <a:latin typeface="Cambria Math" panose="02040503050406030204" pitchFamily="18" charset="0"/>
                                  <a:ea typeface="Cambria Math" panose="02040503050406030204" pitchFamily="18" charset="0"/>
                                </a:rPr>
                                <m:t>0</m:t>
                              </m:r>
                            </m:e>
                          </m:mr>
                          <m:mr>
                            <m:e>
                              <m:r>
                                <a:rPr kumimoji="1" lang="en-US" altLang="zh-TW" sz="2000" b="0" i="1" smtClean="0">
                                  <a:latin typeface="Cambria Math" panose="02040503050406030204" pitchFamily="18" charset="0"/>
                                  <a:ea typeface="Cambria Math" panose="02040503050406030204" pitchFamily="18" charset="0"/>
                                </a:rPr>
                                <m:t>0</m:t>
                              </m:r>
                            </m:e>
                            <m:e>
                              <m:r>
                                <a:rPr kumimoji="1" lang="en-US" altLang="zh-TW" sz="2000" b="0" i="1" smtClean="0">
                                  <a:latin typeface="Cambria Math" panose="02040503050406030204" pitchFamily="18" charset="0"/>
                                  <a:ea typeface="Cambria Math" panose="02040503050406030204" pitchFamily="18" charset="0"/>
                                </a:rPr>
                                <m:t>1</m:t>
                              </m:r>
                            </m:e>
                          </m:mr>
                        </m:m>
                      </m:e>
                    </m:d>
                  </m:oMath>
                </a14:m>
                <a:endParaRPr kumimoji="1" lang="en-US" altLang="zh-TW" sz="2000" dirty="0"/>
              </a:p>
              <a:p>
                <a14:m>
                  <m:oMath xmlns:m="http://schemas.openxmlformats.org/officeDocument/2006/math">
                    <m:r>
                      <a:rPr kumimoji="1" lang="en-US" altLang="zh-TW" sz="2000" b="0" i="1" smtClean="0">
                        <a:latin typeface="Cambria Math" panose="02040503050406030204" pitchFamily="18" charset="0"/>
                      </a:rPr>
                      <m:t>𝐴</m:t>
                    </m:r>
                    <m:r>
                      <a:rPr kumimoji="1" lang="en-US" altLang="zh-TW" sz="2000" b="0" i="1" smtClean="0">
                        <a:latin typeface="Cambria Math" panose="02040503050406030204" pitchFamily="18" charset="0"/>
                      </a:rPr>
                      <m:t>=</m:t>
                    </m:r>
                    <m:d>
                      <m:dPr>
                        <m:begChr m:val="["/>
                        <m:endChr m:val="]"/>
                        <m:ctrlPr>
                          <a:rPr kumimoji="1" lang="en-US" altLang="zh-TW" sz="2000" b="0" i="1" smtClean="0">
                            <a:latin typeface="Cambria Math" panose="02040503050406030204" pitchFamily="18" charset="0"/>
                          </a:rPr>
                        </m:ctrlPr>
                      </m:dPr>
                      <m:e>
                        <m:m>
                          <m:mPr>
                            <m:mcs>
                              <m:mc>
                                <m:mcPr>
                                  <m:count m:val="2"/>
                                  <m:mcJc m:val="center"/>
                                </m:mcPr>
                              </m:mc>
                            </m:mcs>
                            <m:ctrlPr>
                              <a:rPr kumimoji="1" lang="en-US" altLang="zh-TW" sz="2000" b="0" i="1" smtClean="0">
                                <a:latin typeface="Cambria Math" panose="02040503050406030204" pitchFamily="18" charset="0"/>
                              </a:rPr>
                            </m:ctrlPr>
                          </m:mPr>
                          <m:mr>
                            <m:e>
                              <m:r>
                                <m:rPr>
                                  <m:brk m:alnAt="7"/>
                                </m:rP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1</m:t>
                              </m:r>
                            </m:e>
                            <m:e>
                              <m:r>
                                <a:rPr kumimoji="1" lang="en-US" altLang="zh-TW" sz="2000" b="0" i="1" smtClean="0">
                                  <a:latin typeface="Cambria Math" panose="02040503050406030204" pitchFamily="18" charset="0"/>
                                </a:rPr>
                                <m:t>1</m:t>
                              </m:r>
                            </m:e>
                          </m:mr>
                          <m:mr>
                            <m:e>
                              <m:r>
                                <a:rPr kumimoji="1" lang="en-US" altLang="zh-TW" sz="2000" b="0" i="1" smtClean="0">
                                  <a:latin typeface="Cambria Math" panose="02040503050406030204" pitchFamily="18" charset="0"/>
                                </a:rPr>
                                <m:t>0</m:t>
                              </m:r>
                            </m:e>
                            <m:e>
                              <m:r>
                                <a:rPr kumimoji="1" lang="en-US" altLang="zh-TW" sz="2000" b="0" i="1" smtClean="0">
                                  <a:latin typeface="Cambria Math" panose="02040503050406030204" pitchFamily="18" charset="0"/>
                                </a:rPr>
                                <m:t>−1</m:t>
                              </m:r>
                            </m:e>
                          </m:mr>
                          <m:mr>
                            <m:e>
                              <m:r>
                                <a:rPr kumimoji="1" lang="en-US" altLang="zh-TW" sz="2000" b="0" i="1" smtClean="0">
                                  <a:latin typeface="Cambria Math" panose="02040503050406030204" pitchFamily="18" charset="0"/>
                                </a:rPr>
                                <m:t>1</m:t>
                              </m:r>
                            </m:e>
                            <m:e>
                              <m:r>
                                <a:rPr kumimoji="1" lang="en-US" altLang="zh-TW" sz="2000" b="0" i="1" smtClean="0">
                                  <a:latin typeface="Cambria Math" panose="02040503050406030204" pitchFamily="18" charset="0"/>
                                </a:rPr>
                                <m:t>1</m:t>
                              </m:r>
                            </m:e>
                          </m:mr>
                        </m:m>
                      </m:e>
                    </m:d>
                    <m:r>
                      <a:rPr kumimoji="1" lang="en-US" altLang="zh-TW" sz="2000" b="0" i="1" smtClean="0">
                        <a:latin typeface="Cambria Math" panose="02040503050406030204" pitchFamily="18" charset="0"/>
                      </a:rPr>
                      <m:t>=</m:t>
                    </m:r>
                    <m:d>
                      <m:dPr>
                        <m:begChr m:val="["/>
                        <m:endChr m:val="]"/>
                        <m:ctrlPr>
                          <a:rPr kumimoji="1" lang="en-US" altLang="zh-TW" sz="2000" i="1">
                            <a:latin typeface="Cambria Math" panose="02040503050406030204" pitchFamily="18" charset="0"/>
                          </a:rPr>
                        </m:ctrlPr>
                      </m:dPr>
                      <m:e>
                        <m:m>
                          <m:mPr>
                            <m:mcs>
                              <m:mc>
                                <m:mcPr>
                                  <m:count m:val="3"/>
                                  <m:mcJc m:val="center"/>
                                </m:mcPr>
                              </m:mc>
                            </m:mcs>
                            <m:ctrlPr>
                              <a:rPr kumimoji="1" lang="en-US" altLang="zh-TW" sz="2000" i="1">
                                <a:latin typeface="Cambria Math" panose="02040503050406030204" pitchFamily="18" charset="0"/>
                              </a:rPr>
                            </m:ctrlPr>
                          </m:mPr>
                          <m:mr>
                            <m:e>
                              <m:f>
                                <m:fPr>
                                  <m:ctrlPr>
                                    <a:rPr kumimoji="1" lang="en-US" altLang="zh-TW" sz="2000" i="1">
                                      <a:latin typeface="Cambria Math" panose="02040503050406030204" pitchFamily="18" charset="0"/>
                                    </a:rPr>
                                  </m:ctrlPr>
                                </m:fPr>
                                <m:num>
                                  <m:r>
                                    <a:rPr kumimoji="1" lang="en-US" altLang="zh-TW" sz="2000" i="1">
                                      <a:latin typeface="Cambria Math" panose="02040503050406030204" pitchFamily="18" charset="0"/>
                                    </a:rPr>
                                    <m:t>1</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3</m:t>
                                      </m:r>
                                    </m:e>
                                  </m:rad>
                                </m:den>
                              </m:f>
                            </m:e>
                            <m:e>
                              <m:f>
                                <m:fPr>
                                  <m:ctrlPr>
                                    <a:rPr kumimoji="1" lang="en-US" altLang="zh-TW" sz="2000" i="1">
                                      <a:latin typeface="Cambria Math" panose="02040503050406030204" pitchFamily="18" charset="0"/>
                                    </a:rPr>
                                  </m:ctrlPr>
                                </m:fPr>
                                <m:num>
                                  <m:r>
                                    <a:rPr kumimoji="1" lang="en-US" altLang="zh-TW" sz="2000" i="1">
                                      <a:latin typeface="Cambria Math" panose="02040503050406030204" pitchFamily="18" charset="0"/>
                                    </a:rPr>
                                    <m:t>−1</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2</m:t>
                                      </m:r>
                                    </m:e>
                                  </m:rad>
                                </m:den>
                              </m:f>
                            </m:e>
                            <m:e>
                              <m:f>
                                <m:fPr>
                                  <m:ctrlPr>
                                    <a:rPr kumimoji="1" lang="en-US" altLang="zh-TW" sz="2000" i="1">
                                      <a:latin typeface="Cambria Math" panose="02040503050406030204" pitchFamily="18" charset="0"/>
                                    </a:rPr>
                                  </m:ctrlPr>
                                </m:fPr>
                                <m:num>
                                  <m:r>
                                    <a:rPr kumimoji="1" lang="en-US" altLang="zh-TW" sz="2000" i="1">
                                      <a:latin typeface="Cambria Math" panose="02040503050406030204" pitchFamily="18" charset="0"/>
                                    </a:rPr>
                                    <m:t>1</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6</m:t>
                                      </m:r>
                                    </m:e>
                                  </m:rad>
                                </m:den>
                              </m:f>
                            </m:e>
                          </m:mr>
                          <m:mr>
                            <m:e>
                              <m:f>
                                <m:fPr>
                                  <m:ctrlPr>
                                    <a:rPr kumimoji="1" lang="en-US" altLang="zh-TW" sz="2000" i="1">
                                      <a:latin typeface="Cambria Math" panose="02040503050406030204" pitchFamily="18" charset="0"/>
                                    </a:rPr>
                                  </m:ctrlPr>
                                </m:fPr>
                                <m:num>
                                  <m:r>
                                    <a:rPr kumimoji="1" lang="en-US" altLang="zh-TW" sz="2000" i="1">
                                      <a:latin typeface="Cambria Math" panose="02040503050406030204" pitchFamily="18" charset="0"/>
                                    </a:rPr>
                                    <m:t>−1</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3</m:t>
                                      </m:r>
                                    </m:e>
                                  </m:rad>
                                </m:den>
                              </m:f>
                            </m:e>
                            <m:e>
                              <m:r>
                                <a:rPr kumimoji="1" lang="en-US" altLang="zh-TW" sz="2000" i="1">
                                  <a:latin typeface="Cambria Math" panose="02040503050406030204" pitchFamily="18" charset="0"/>
                                </a:rPr>
                                <m:t>0</m:t>
                              </m:r>
                            </m:e>
                            <m:e>
                              <m:f>
                                <m:fPr>
                                  <m:ctrlPr>
                                    <a:rPr kumimoji="1" lang="en-US" altLang="zh-TW" sz="2000" i="1">
                                      <a:latin typeface="Cambria Math" panose="02040503050406030204" pitchFamily="18" charset="0"/>
                                    </a:rPr>
                                  </m:ctrlPr>
                                </m:fPr>
                                <m:num>
                                  <m:r>
                                    <a:rPr kumimoji="1" lang="en-US" altLang="zh-TW" sz="2000" i="1">
                                      <a:latin typeface="Cambria Math" panose="02040503050406030204" pitchFamily="18" charset="0"/>
                                    </a:rPr>
                                    <m:t>2</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6</m:t>
                                      </m:r>
                                    </m:e>
                                  </m:rad>
                                </m:den>
                              </m:f>
                            </m:e>
                          </m:mr>
                          <m:mr>
                            <m:e>
                              <m:f>
                                <m:fPr>
                                  <m:ctrlPr>
                                    <a:rPr kumimoji="1" lang="en-US" altLang="zh-TW" sz="2000" i="1">
                                      <a:latin typeface="Cambria Math" panose="02040503050406030204" pitchFamily="18" charset="0"/>
                                    </a:rPr>
                                  </m:ctrlPr>
                                </m:fPr>
                                <m:num>
                                  <m:r>
                                    <a:rPr kumimoji="1" lang="en-US" altLang="zh-TW" sz="2000" i="1">
                                      <a:latin typeface="Cambria Math" panose="02040503050406030204" pitchFamily="18" charset="0"/>
                                    </a:rPr>
                                    <m:t>1</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3</m:t>
                                      </m:r>
                                    </m:e>
                                  </m:rad>
                                </m:den>
                              </m:f>
                            </m:e>
                            <m:e>
                              <m:f>
                                <m:fPr>
                                  <m:ctrlPr>
                                    <a:rPr kumimoji="1" lang="en-US" altLang="zh-TW" sz="2000" i="1">
                                      <a:latin typeface="Cambria Math" panose="02040503050406030204" pitchFamily="18" charset="0"/>
                                    </a:rPr>
                                  </m:ctrlPr>
                                </m:fPr>
                                <m:num>
                                  <m:r>
                                    <a:rPr kumimoji="1" lang="en-US" altLang="zh-TW" sz="2000" i="1">
                                      <a:latin typeface="Cambria Math" panose="02040503050406030204" pitchFamily="18" charset="0"/>
                                    </a:rPr>
                                    <m:t>1</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2</m:t>
                                      </m:r>
                                    </m:e>
                                  </m:rad>
                                </m:den>
                              </m:f>
                            </m:e>
                            <m:e>
                              <m:f>
                                <m:fPr>
                                  <m:ctrlPr>
                                    <a:rPr kumimoji="1" lang="en-US" altLang="zh-TW" sz="2000" i="1">
                                      <a:latin typeface="Cambria Math" panose="02040503050406030204" pitchFamily="18" charset="0"/>
                                    </a:rPr>
                                  </m:ctrlPr>
                                </m:fPr>
                                <m:num>
                                  <m:r>
                                    <a:rPr kumimoji="1" lang="en-US" altLang="zh-TW" sz="2000" i="1">
                                      <a:latin typeface="Cambria Math" panose="02040503050406030204" pitchFamily="18" charset="0"/>
                                    </a:rPr>
                                    <m:t>1</m:t>
                                  </m:r>
                                </m:num>
                                <m:den>
                                  <m:rad>
                                    <m:radPr>
                                      <m:degHide m:val="on"/>
                                      <m:ctrlPr>
                                        <a:rPr kumimoji="1" lang="en-US" altLang="zh-TW" sz="2000" i="1">
                                          <a:latin typeface="Cambria Math" panose="02040503050406030204" pitchFamily="18" charset="0"/>
                                        </a:rPr>
                                      </m:ctrlPr>
                                    </m:radPr>
                                    <m:deg/>
                                    <m:e>
                                      <m:r>
                                        <a:rPr kumimoji="1" lang="en-US" altLang="zh-TW" sz="2000" i="1">
                                          <a:latin typeface="Cambria Math" panose="02040503050406030204" pitchFamily="18" charset="0"/>
                                        </a:rPr>
                                        <m:t>6</m:t>
                                      </m:r>
                                    </m:e>
                                  </m:rad>
                                </m:den>
                              </m:f>
                            </m:e>
                          </m:mr>
                        </m:m>
                      </m:e>
                    </m:d>
                  </m:oMath>
                </a14:m>
                <a:r>
                  <a:rPr kumimoji="1" lang="en-US" altLang="zh-TW" sz="2000" dirty="0">
                    <a:ea typeface="Cambria Math" panose="02040503050406030204" pitchFamily="18" charset="0"/>
                  </a:rPr>
                  <a:t> </a:t>
                </a:r>
                <a14:m>
                  <m:oMath xmlns:m="http://schemas.openxmlformats.org/officeDocument/2006/math">
                    <m:d>
                      <m:dPr>
                        <m:begChr m:val="["/>
                        <m:endChr m:val="]"/>
                        <m:ctrlPr>
                          <a:rPr kumimoji="1" lang="en-US" altLang="zh-TW" sz="2000" i="1">
                            <a:latin typeface="Cambria Math" panose="02040503050406030204" pitchFamily="18" charset="0"/>
                            <a:ea typeface="Cambria Math" panose="02040503050406030204" pitchFamily="18" charset="0"/>
                          </a:rPr>
                        </m:ctrlPr>
                      </m:dPr>
                      <m:e>
                        <m:m>
                          <m:mPr>
                            <m:mcs>
                              <m:mc>
                                <m:mcPr>
                                  <m:count m:val="2"/>
                                  <m:mcJc m:val="center"/>
                                </m:mcPr>
                              </m:mc>
                            </m:mcs>
                            <m:ctrlPr>
                              <a:rPr kumimoji="1" lang="en-US" altLang="zh-TW" sz="2000" i="1">
                                <a:latin typeface="Cambria Math" panose="02040503050406030204" pitchFamily="18" charset="0"/>
                                <a:ea typeface="Cambria Math" panose="02040503050406030204" pitchFamily="18" charset="0"/>
                              </a:rPr>
                            </m:ctrlPr>
                          </m:mPr>
                          <m:mr>
                            <m:e>
                              <m:rad>
                                <m:radPr>
                                  <m:degHide m:val="on"/>
                                  <m:ctrlPr>
                                    <a:rPr kumimoji="1" lang="en-US" altLang="zh-TW" sz="2000" i="1">
                                      <a:latin typeface="Cambria Math" panose="02040503050406030204" pitchFamily="18" charset="0"/>
                                      <a:ea typeface="Cambria Math" panose="02040503050406030204" pitchFamily="18" charset="0"/>
                                    </a:rPr>
                                  </m:ctrlPr>
                                </m:radPr>
                                <m:deg/>
                                <m:e>
                                  <m:r>
                                    <a:rPr kumimoji="1" lang="en-US" altLang="zh-TW" sz="2000" i="1">
                                      <a:latin typeface="Cambria Math" panose="02040503050406030204" pitchFamily="18" charset="0"/>
                                      <a:ea typeface="Cambria Math" panose="02040503050406030204" pitchFamily="18" charset="0"/>
                                    </a:rPr>
                                    <m:t>3</m:t>
                                  </m:r>
                                </m:e>
                              </m:rad>
                            </m:e>
                            <m:e>
                              <m:r>
                                <a:rPr kumimoji="1" lang="en-US" altLang="zh-TW" sz="2000" i="1">
                                  <a:latin typeface="Cambria Math" panose="02040503050406030204" pitchFamily="18" charset="0"/>
                                  <a:ea typeface="Cambria Math" panose="02040503050406030204" pitchFamily="18" charset="0"/>
                                </a:rPr>
                                <m:t>0</m:t>
                              </m:r>
                            </m:e>
                          </m:mr>
                          <m:mr>
                            <m:e>
                              <m:r>
                                <a:rPr kumimoji="1" lang="en-US" altLang="zh-TW" sz="2000" i="1">
                                  <a:latin typeface="Cambria Math" panose="02040503050406030204" pitchFamily="18" charset="0"/>
                                  <a:ea typeface="Cambria Math" panose="02040503050406030204" pitchFamily="18" charset="0"/>
                                </a:rPr>
                                <m:t>0</m:t>
                              </m:r>
                            </m:e>
                            <m:e>
                              <m:rad>
                                <m:radPr>
                                  <m:degHide m:val="on"/>
                                  <m:ctrlPr>
                                    <a:rPr kumimoji="1" lang="en-US" altLang="zh-TW" sz="2000" i="1">
                                      <a:latin typeface="Cambria Math" panose="02040503050406030204" pitchFamily="18" charset="0"/>
                                      <a:ea typeface="Cambria Math" panose="02040503050406030204" pitchFamily="18" charset="0"/>
                                    </a:rPr>
                                  </m:ctrlPr>
                                </m:radPr>
                                <m:deg/>
                                <m:e>
                                  <m:r>
                                    <a:rPr kumimoji="1" lang="en-US" altLang="zh-TW" sz="2000" i="1">
                                      <a:latin typeface="Cambria Math" panose="02040503050406030204" pitchFamily="18" charset="0"/>
                                      <a:ea typeface="Cambria Math" panose="02040503050406030204" pitchFamily="18" charset="0"/>
                                    </a:rPr>
                                    <m:t>2</m:t>
                                  </m:r>
                                </m:e>
                              </m:rad>
                            </m:e>
                          </m:mr>
                          <m:mr>
                            <m:e>
                              <m:r>
                                <a:rPr kumimoji="1" lang="en-US" altLang="zh-TW" sz="2000" i="1">
                                  <a:latin typeface="Cambria Math" panose="02040503050406030204" pitchFamily="18" charset="0"/>
                                  <a:ea typeface="Cambria Math" panose="02040503050406030204" pitchFamily="18" charset="0"/>
                                </a:rPr>
                                <m:t>0</m:t>
                              </m:r>
                            </m:e>
                            <m:e>
                              <m:r>
                                <a:rPr kumimoji="1" lang="en-US" altLang="zh-TW" sz="2000" i="1">
                                  <a:latin typeface="Cambria Math" panose="02040503050406030204" pitchFamily="18" charset="0"/>
                                  <a:ea typeface="Cambria Math" panose="02040503050406030204" pitchFamily="18" charset="0"/>
                                </a:rPr>
                                <m:t>0</m:t>
                              </m:r>
                            </m:e>
                          </m:mr>
                        </m:m>
                      </m:e>
                    </m:d>
                  </m:oMath>
                </a14:m>
                <a:r>
                  <a:rPr kumimoji="1" lang="en-US" altLang="zh-TW" sz="2000" dirty="0">
                    <a:ea typeface="Cambria Math" panose="02040503050406030204" pitchFamily="18" charset="0"/>
                  </a:rPr>
                  <a:t> </a:t>
                </a:r>
                <a14:m>
                  <m:oMath xmlns:m="http://schemas.openxmlformats.org/officeDocument/2006/math">
                    <m:d>
                      <m:dPr>
                        <m:begChr m:val="["/>
                        <m:endChr m:val="]"/>
                        <m:ctrlPr>
                          <a:rPr kumimoji="1" lang="en-US" altLang="zh-TW" sz="2000" i="1">
                            <a:latin typeface="Cambria Math" panose="02040503050406030204" pitchFamily="18" charset="0"/>
                            <a:ea typeface="Cambria Math" panose="02040503050406030204" pitchFamily="18" charset="0"/>
                          </a:rPr>
                        </m:ctrlPr>
                      </m:dPr>
                      <m:e>
                        <m:m>
                          <m:mPr>
                            <m:mcs>
                              <m:mc>
                                <m:mcPr>
                                  <m:count m:val="2"/>
                                  <m:mcJc m:val="center"/>
                                </m:mcPr>
                              </m:mc>
                            </m:mcs>
                            <m:ctrlPr>
                              <a:rPr kumimoji="1" lang="en-US" altLang="zh-TW" sz="2000" i="1">
                                <a:latin typeface="Cambria Math" panose="02040503050406030204" pitchFamily="18" charset="0"/>
                                <a:ea typeface="Cambria Math" panose="02040503050406030204" pitchFamily="18" charset="0"/>
                              </a:rPr>
                            </m:ctrlPr>
                          </m:mPr>
                          <m:mr>
                            <m:e>
                              <m:r>
                                <m:rPr>
                                  <m:brk m:alnAt="7"/>
                                </m:rPr>
                                <a:rPr kumimoji="1" lang="en-US" altLang="zh-TW" sz="2000" i="1">
                                  <a:latin typeface="Cambria Math" panose="02040503050406030204" pitchFamily="18" charset="0"/>
                                  <a:ea typeface="Cambria Math" panose="02040503050406030204" pitchFamily="18" charset="0"/>
                                </a:rPr>
                                <m:t>1</m:t>
                              </m:r>
                            </m:e>
                            <m:e>
                              <m:r>
                                <a:rPr kumimoji="1" lang="en-US" altLang="zh-TW" sz="2000" i="1">
                                  <a:latin typeface="Cambria Math" panose="02040503050406030204" pitchFamily="18" charset="0"/>
                                  <a:ea typeface="Cambria Math" panose="02040503050406030204" pitchFamily="18" charset="0"/>
                                </a:rPr>
                                <m:t>0</m:t>
                              </m:r>
                            </m:e>
                          </m:mr>
                          <m:mr>
                            <m:e>
                              <m:r>
                                <a:rPr kumimoji="1" lang="en-US" altLang="zh-TW" sz="2000" i="1">
                                  <a:latin typeface="Cambria Math" panose="02040503050406030204" pitchFamily="18" charset="0"/>
                                  <a:ea typeface="Cambria Math" panose="02040503050406030204" pitchFamily="18" charset="0"/>
                                </a:rPr>
                                <m:t>0</m:t>
                              </m:r>
                            </m:e>
                            <m:e>
                              <m:r>
                                <a:rPr kumimoji="1" lang="en-US" altLang="zh-TW" sz="2000" i="1">
                                  <a:latin typeface="Cambria Math" panose="02040503050406030204" pitchFamily="18" charset="0"/>
                                  <a:ea typeface="Cambria Math" panose="02040503050406030204" pitchFamily="18" charset="0"/>
                                </a:rPr>
                                <m:t>1</m:t>
                              </m:r>
                            </m:e>
                          </m:mr>
                        </m:m>
                      </m:e>
                    </m:d>
                  </m:oMath>
                </a14:m>
                <a:endParaRPr kumimoji="1" lang="en-US" altLang="zh-TW" sz="2000" dirty="0"/>
              </a:p>
              <a:p>
                <a:pPr lvl="1"/>
                <a:r>
                  <a:rPr kumimoji="1" lang="zh-TW" altLang="en-US" sz="2000" dirty="0"/>
                  <a:t>較大的奇異值代表該方向保留了較多的原始資料變異</a:t>
                </a:r>
              </a:p>
              <a:p>
                <a:pPr lvl="1"/>
                <a:r>
                  <a:rPr kumimoji="1" lang="zh-TW" altLang="en-US" sz="2000" dirty="0"/>
                  <a:t>我們可以只保留前</a:t>
                </a:r>
                <a:r>
                  <a:rPr kumimoji="1" lang="en" altLang="zh-TW" sz="2000" dirty="0"/>
                  <a:t>r</a:t>
                </a:r>
                <a:r>
                  <a:rPr kumimoji="1" lang="zh-TW" altLang="en-US" sz="2000" dirty="0"/>
                  <a:t>個最大的奇異值及其對應的向量來達到降維的目的</a:t>
                </a:r>
              </a:p>
              <a:p>
                <a:pPr lvl="1"/>
                <a:r>
                  <a:rPr kumimoji="1" lang="zh-TW" altLang="en-US" sz="2000" dirty="0"/>
                  <a:t>保留的維度數</a:t>
                </a:r>
                <a:r>
                  <a:rPr kumimoji="1" lang="en" altLang="zh-TW" sz="2000" dirty="0"/>
                  <a:t>r</a:t>
                </a:r>
                <a:r>
                  <a:rPr kumimoji="1" lang="zh-TW" altLang="en-US" sz="2000" dirty="0"/>
                  <a:t>可以根據累積解釋變異率來決定</a:t>
                </a:r>
              </a:p>
            </p:txBody>
          </p:sp>
        </mc:Choice>
        <mc:Fallback xmlns="">
          <p:sp>
            <p:nvSpPr>
              <p:cNvPr id="3" name="內容版面配置區 2">
                <a:extLst>
                  <a:ext uri="{FF2B5EF4-FFF2-40B4-BE49-F238E27FC236}">
                    <a16:creationId xmlns:a16="http://schemas.microsoft.com/office/drawing/2014/main" id="{9F7F4680-1FE3-E9E8-33B7-2702ECD19192}"/>
                  </a:ext>
                </a:extLst>
              </p:cNvPr>
              <p:cNvSpPr>
                <a:spLocks noGrp="1" noRot="1" noChangeAspect="1" noMove="1" noResize="1" noEditPoints="1" noAdjustHandles="1" noChangeArrowheads="1" noChangeShapeType="1" noTextEdit="1"/>
              </p:cNvSpPr>
              <p:nvPr>
                <p:ph idx="1"/>
              </p:nvPr>
            </p:nvSpPr>
            <p:spPr>
              <a:xfrm>
                <a:off x="838200" y="1825625"/>
                <a:ext cx="10515600" cy="4952862"/>
              </a:xfrm>
              <a:blipFill>
                <a:blip r:embed="rId2"/>
                <a:stretch>
                  <a:fillRect l="-603" t="-256"/>
                </a:stretch>
              </a:blipFill>
            </p:spPr>
            <p:txBody>
              <a:bodyPr/>
              <a:lstStyle/>
              <a:p>
                <a:r>
                  <a:rPr lang="zh-TW" altLang="en-US">
                    <a:noFill/>
                  </a:rPr>
                  <a:t> </a:t>
                </a:r>
              </a:p>
            </p:txBody>
          </p:sp>
        </mc:Fallback>
      </mc:AlternateContent>
      <p:pic>
        <p:nvPicPr>
          <p:cNvPr id="1026" name="Picture 2" descr="svd1">
            <a:extLst>
              <a:ext uri="{FF2B5EF4-FFF2-40B4-BE49-F238E27FC236}">
                <a16:creationId xmlns:a16="http://schemas.microsoft.com/office/drawing/2014/main" id="{4B6EB711-284A-975A-0EC9-61C68ADAAB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647" b="22059"/>
          <a:stretch/>
        </p:blipFill>
        <p:spPr bwMode="auto">
          <a:xfrm>
            <a:off x="7627063" y="3595676"/>
            <a:ext cx="3917153" cy="191825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33282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693CDF-5263-DEC9-D950-341DDA546EB3}"/>
              </a:ext>
            </a:extLst>
          </p:cNvPr>
          <p:cNvSpPr>
            <a:spLocks noGrp="1"/>
          </p:cNvSpPr>
          <p:nvPr>
            <p:ph type="title"/>
          </p:nvPr>
        </p:nvSpPr>
        <p:spPr/>
        <p:txBody>
          <a:bodyPr/>
          <a:lstStyle/>
          <a:p>
            <a:r>
              <a:rPr kumimoji="1" lang="zh-TW" altLang="en" dirty="0"/>
              <a:t>奇</a:t>
            </a:r>
            <a:r>
              <a:rPr kumimoji="1" lang="zh-TW" altLang="en-US" dirty="0"/>
              <a:t>異值分解</a:t>
            </a:r>
            <a:r>
              <a:rPr kumimoji="1" lang="en-US" altLang="zh-TW" dirty="0"/>
              <a:t>SVD</a:t>
            </a:r>
            <a:br>
              <a:rPr kumimoji="1" lang="en-US" altLang="zh-TW" dirty="0"/>
            </a:br>
            <a:r>
              <a:rPr kumimoji="1" lang="en-US" altLang="zh-TW" sz="3200" dirty="0"/>
              <a:t>04_SVD_MNIST.py</a:t>
            </a:r>
            <a:endParaRPr kumimoji="1" lang="zh-TW" altLang="en-US" dirty="0"/>
          </a:p>
        </p:txBody>
      </p:sp>
      <p:sp>
        <p:nvSpPr>
          <p:cNvPr id="3" name="內容版面配置區 2">
            <a:extLst>
              <a:ext uri="{FF2B5EF4-FFF2-40B4-BE49-F238E27FC236}">
                <a16:creationId xmlns:a16="http://schemas.microsoft.com/office/drawing/2014/main" id="{75798856-1A7E-C874-DB00-E472B6849607}"/>
              </a:ext>
            </a:extLst>
          </p:cNvPr>
          <p:cNvSpPr>
            <a:spLocks noGrp="1"/>
          </p:cNvSpPr>
          <p:nvPr>
            <p:ph idx="1"/>
          </p:nvPr>
        </p:nvSpPr>
        <p:spPr/>
        <p:txBody>
          <a:bodyPr/>
          <a:lstStyle/>
          <a:p>
            <a:r>
              <a:rPr kumimoji="1" lang="zh-TW" altLang="en-US" dirty="0"/>
              <a:t>保留前</a:t>
            </a:r>
            <a:r>
              <a:rPr kumimoji="1" lang="en-US" altLang="zh-TW" dirty="0"/>
              <a:t>154</a:t>
            </a:r>
            <a:r>
              <a:rPr kumimoji="1" lang="zh-TW" altLang="en-US" dirty="0"/>
              <a:t>特徵值進行比較</a:t>
            </a:r>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r>
              <a:rPr kumimoji="1" lang="zh-TW" altLang="en-US" dirty="0"/>
              <a:t>比較保留不同的特徵個數比較</a:t>
            </a:r>
          </a:p>
        </p:txBody>
      </p:sp>
      <p:pic>
        <p:nvPicPr>
          <p:cNvPr id="4" name="圖片 3">
            <a:extLst>
              <a:ext uri="{FF2B5EF4-FFF2-40B4-BE49-F238E27FC236}">
                <a16:creationId xmlns:a16="http://schemas.microsoft.com/office/drawing/2014/main" id="{4DB7873B-2961-4B7A-23FE-78B964B3C82E}"/>
              </a:ext>
            </a:extLst>
          </p:cNvPr>
          <p:cNvPicPr>
            <a:picLocks noChangeAspect="1"/>
          </p:cNvPicPr>
          <p:nvPr/>
        </p:nvPicPr>
        <p:blipFill>
          <a:blip r:embed="rId2"/>
          <a:stretch>
            <a:fillRect/>
          </a:stretch>
        </p:blipFill>
        <p:spPr>
          <a:xfrm>
            <a:off x="1177065" y="2218025"/>
            <a:ext cx="7772400" cy="2056190"/>
          </a:xfrm>
          <a:prstGeom prst="rect">
            <a:avLst/>
          </a:prstGeom>
        </p:spPr>
      </p:pic>
      <p:pic>
        <p:nvPicPr>
          <p:cNvPr id="5" name="圖片 4">
            <a:extLst>
              <a:ext uri="{FF2B5EF4-FFF2-40B4-BE49-F238E27FC236}">
                <a16:creationId xmlns:a16="http://schemas.microsoft.com/office/drawing/2014/main" id="{216497E9-BEA3-9D80-06F3-5D49DDC76D15}"/>
              </a:ext>
            </a:extLst>
          </p:cNvPr>
          <p:cNvPicPr>
            <a:picLocks noChangeAspect="1"/>
          </p:cNvPicPr>
          <p:nvPr/>
        </p:nvPicPr>
        <p:blipFill>
          <a:blip r:embed="rId3"/>
          <a:srcRect t="13880" b="21785"/>
          <a:stretch/>
        </p:blipFill>
        <p:spPr>
          <a:xfrm>
            <a:off x="1080246" y="4993453"/>
            <a:ext cx="6147996" cy="1318447"/>
          </a:xfrm>
          <a:prstGeom prst="rect">
            <a:avLst/>
          </a:prstGeom>
        </p:spPr>
      </p:pic>
    </p:spTree>
    <p:extLst>
      <p:ext uri="{BB962C8B-B14F-4D97-AF65-F5344CB8AC3E}">
        <p14:creationId xmlns:p14="http://schemas.microsoft.com/office/powerpoint/2010/main" val="229191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在这里插入图片描述">
            <a:extLst>
              <a:ext uri="{FF2B5EF4-FFF2-40B4-BE49-F238E27FC236}">
                <a16:creationId xmlns:a16="http://schemas.microsoft.com/office/drawing/2014/main" id="{03A544CA-39C0-EECD-8620-9424563657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5623" y="4296055"/>
            <a:ext cx="5539217" cy="2256094"/>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8E06D55A-82F9-5E0C-FC2A-C1A7D2835455}"/>
              </a:ext>
            </a:extLst>
          </p:cNvPr>
          <p:cNvSpPr>
            <a:spLocks noGrp="1"/>
          </p:cNvSpPr>
          <p:nvPr>
            <p:ph type="title"/>
          </p:nvPr>
        </p:nvSpPr>
        <p:spPr/>
        <p:txBody>
          <a:bodyPr/>
          <a:lstStyle/>
          <a:p>
            <a:r>
              <a:rPr lang="en" altLang="zh-TW" b="1" i="0" dirty="0">
                <a:solidFill>
                  <a:srgbClr val="4F4F4F"/>
                </a:solidFill>
                <a:effectLst/>
                <a:latin typeface="PingFang SC" panose="020B0400000000000000" pitchFamily="34" charset="-122"/>
                <a:ea typeface="PingFang SC" panose="020B0400000000000000" pitchFamily="34" charset="-122"/>
              </a:rPr>
              <a:t>LDA(Linear Discriminant Analysis</a:t>
            </a:r>
            <a:r>
              <a:rPr lang="en-US" altLang="zh-TW" b="1" i="0" dirty="0">
                <a:solidFill>
                  <a:srgbClr val="4F4F4F"/>
                </a:solidFill>
                <a:effectLst/>
                <a:latin typeface="PingFang SC" panose="020B0400000000000000" pitchFamily="34" charset="-122"/>
                <a:ea typeface="PingFang SC" panose="020B0400000000000000" pitchFamily="34" charset="-122"/>
              </a:rPr>
              <a:t>)</a:t>
            </a:r>
            <a:br>
              <a:rPr lang="en-US" altLang="zh-TW" b="1" i="0" dirty="0">
                <a:solidFill>
                  <a:srgbClr val="4F4F4F"/>
                </a:solidFill>
                <a:effectLst/>
                <a:latin typeface="PingFang SC" panose="020B0400000000000000" pitchFamily="34" charset="-122"/>
                <a:ea typeface="PingFang SC" panose="020B0400000000000000" pitchFamily="34" charset="-122"/>
              </a:rPr>
            </a:br>
            <a:r>
              <a:rPr lang="zh-TW" altLang="en-US" b="1" i="0" dirty="0">
                <a:solidFill>
                  <a:srgbClr val="4F4F4F"/>
                </a:solidFill>
                <a:effectLst/>
                <a:latin typeface="PingFang SC" panose="020B0400000000000000" pitchFamily="34" charset="-122"/>
                <a:ea typeface="PingFang SC" panose="020B0400000000000000" pitchFamily="34" charset="-122"/>
              </a:rPr>
              <a:t>線性判斷分析</a:t>
            </a:r>
            <a:endParaRPr kumimoji="1" lang="zh-TW" altLang="en-US" dirty="0"/>
          </a:p>
        </p:txBody>
      </p:sp>
      <p:sp>
        <p:nvSpPr>
          <p:cNvPr id="3" name="內容版面配置區 2">
            <a:extLst>
              <a:ext uri="{FF2B5EF4-FFF2-40B4-BE49-F238E27FC236}">
                <a16:creationId xmlns:a16="http://schemas.microsoft.com/office/drawing/2014/main" id="{9BBAB950-1D72-B3C6-4997-58DD21D0378F}"/>
              </a:ext>
            </a:extLst>
          </p:cNvPr>
          <p:cNvSpPr>
            <a:spLocks noGrp="1"/>
          </p:cNvSpPr>
          <p:nvPr>
            <p:ph idx="1"/>
          </p:nvPr>
        </p:nvSpPr>
        <p:spPr/>
        <p:txBody>
          <a:bodyPr>
            <a:normAutofit/>
          </a:bodyPr>
          <a:lstStyle/>
          <a:p>
            <a:r>
              <a:rPr kumimoji="1" lang="en" altLang="zh-TW" sz="2400" dirty="0"/>
              <a:t>LDA</a:t>
            </a:r>
            <a:r>
              <a:rPr kumimoji="1" lang="zh-TW" altLang="en-US" sz="2400" dirty="0"/>
              <a:t>是一種監督學習的降維技術，也就是說它的數據集的每個樣本是有「類別」輸出的。這點和</a:t>
            </a:r>
            <a:r>
              <a:rPr kumimoji="1" lang="en" altLang="zh-TW" sz="2400" dirty="0"/>
              <a:t>PCA</a:t>
            </a:r>
            <a:r>
              <a:rPr kumimoji="1" lang="zh-TW" altLang="en-US" sz="2400" dirty="0"/>
              <a:t>不同。</a:t>
            </a:r>
          </a:p>
          <a:p>
            <a:pPr lvl="1"/>
            <a:r>
              <a:rPr kumimoji="1" lang="en" altLang="zh-TW" sz="2000" dirty="0"/>
              <a:t>PCA</a:t>
            </a:r>
            <a:r>
              <a:rPr kumimoji="1" lang="zh-TW" altLang="en-US" sz="2000" dirty="0"/>
              <a:t>是不考慮樣本類別輸出的無監督降維技術。</a:t>
            </a:r>
          </a:p>
          <a:p>
            <a:r>
              <a:rPr kumimoji="1" lang="en" altLang="zh-TW" sz="2400" dirty="0"/>
              <a:t>LDA</a:t>
            </a:r>
            <a:r>
              <a:rPr kumimoji="1" lang="zh-TW" altLang="en-US" sz="2400" dirty="0"/>
              <a:t>的思想可以用一句話概括</a:t>
            </a:r>
            <a:endParaRPr kumimoji="1" lang="en-US" altLang="zh-TW" sz="2400" dirty="0"/>
          </a:p>
          <a:p>
            <a:pPr lvl="1"/>
            <a:r>
              <a:rPr kumimoji="1" lang="zh-TW" altLang="en-US" sz="2000" dirty="0"/>
              <a:t>「投影後類別內平方差最小，類別間平方差最大」</a:t>
            </a:r>
            <a:endParaRPr kumimoji="1" lang="en-US" altLang="zh-TW" sz="2000" dirty="0"/>
          </a:p>
          <a:p>
            <a:r>
              <a:rPr kumimoji="1" lang="zh-TW" altLang="en-US" sz="2400" dirty="0"/>
              <a:t>將數據在低維度上進行投影，投影後希望每一種類別數據的投影點盡可能的接近，而不同類別的數據的類別中心之間的距離盡可能的大。</a:t>
            </a:r>
          </a:p>
        </p:txBody>
      </p:sp>
      <p:sp>
        <p:nvSpPr>
          <p:cNvPr id="6" name="文字方塊 5">
            <a:extLst>
              <a:ext uri="{FF2B5EF4-FFF2-40B4-BE49-F238E27FC236}">
                <a16:creationId xmlns:a16="http://schemas.microsoft.com/office/drawing/2014/main" id="{6B2DB05C-E314-4B1B-9B3E-2C65B7CE3BDA}"/>
              </a:ext>
            </a:extLst>
          </p:cNvPr>
          <p:cNvSpPr txBox="1"/>
          <p:nvPr/>
        </p:nvSpPr>
        <p:spPr>
          <a:xfrm>
            <a:off x="1547388" y="6552149"/>
            <a:ext cx="8576441" cy="261610"/>
          </a:xfrm>
          <a:prstGeom prst="rect">
            <a:avLst/>
          </a:prstGeom>
          <a:noFill/>
        </p:spPr>
        <p:txBody>
          <a:bodyPr wrap="square">
            <a:spAutoFit/>
          </a:bodyPr>
          <a:lstStyle/>
          <a:p>
            <a:r>
              <a:rPr lang="en-US" altLang="zh-TW" sz="1100" dirty="0"/>
              <a:t>https://chih-sheng-huang821.medium.com/</a:t>
            </a:r>
            <a:r>
              <a:rPr lang="zh-TW" altLang="en-US" sz="1100" dirty="0"/>
              <a:t>機器學習</a:t>
            </a:r>
            <a:r>
              <a:rPr lang="en-US" altLang="zh-TW" sz="1100" dirty="0"/>
              <a:t>-</a:t>
            </a:r>
            <a:r>
              <a:rPr lang="zh-TW" altLang="en-US" sz="1100" dirty="0"/>
              <a:t>降維</a:t>
            </a:r>
            <a:r>
              <a:rPr lang="en-US" altLang="zh-TW" sz="1100" dirty="0"/>
              <a:t>-dimension-reduction-</a:t>
            </a:r>
            <a:r>
              <a:rPr lang="zh-TW" altLang="en-US" sz="1100" dirty="0"/>
              <a:t>線性區別分析</a:t>
            </a:r>
            <a:r>
              <a:rPr lang="en-US" altLang="zh-TW" sz="1100" dirty="0"/>
              <a:t>-linear-discriminant-analysis-d4c40c4cf937</a:t>
            </a:r>
            <a:endParaRPr lang="zh-TW" altLang="en-US" sz="1100" dirty="0"/>
          </a:p>
        </p:txBody>
      </p:sp>
    </p:spTree>
    <p:extLst>
      <p:ext uri="{BB962C8B-B14F-4D97-AF65-F5344CB8AC3E}">
        <p14:creationId xmlns:p14="http://schemas.microsoft.com/office/powerpoint/2010/main" val="18624929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243B0A-A00A-27C7-0D88-2A3C2685F15C}"/>
              </a:ext>
            </a:extLst>
          </p:cNvPr>
          <p:cNvSpPr>
            <a:spLocks noGrp="1"/>
          </p:cNvSpPr>
          <p:nvPr>
            <p:ph type="title"/>
          </p:nvPr>
        </p:nvSpPr>
        <p:spPr/>
        <p:txBody>
          <a:bodyPr/>
          <a:lstStyle/>
          <a:p>
            <a:r>
              <a:rPr lang="en" altLang="zh-TW" b="1" i="0" dirty="0">
                <a:solidFill>
                  <a:srgbClr val="4F4F4F"/>
                </a:solidFill>
                <a:effectLst/>
                <a:latin typeface="PingFang SC" panose="020B0400000000000000" pitchFamily="34" charset="-122"/>
                <a:ea typeface="PingFang SC" panose="020B0400000000000000" pitchFamily="34" charset="-122"/>
              </a:rPr>
              <a:t>Linear Discriminant Analysis</a:t>
            </a:r>
            <a:r>
              <a:rPr lang="en-US" altLang="zh-TW" b="1" dirty="0">
                <a:solidFill>
                  <a:srgbClr val="4F4F4F"/>
                </a:solidFill>
                <a:latin typeface="PingFang SC" panose="020B0400000000000000" pitchFamily="34" charset="-122"/>
                <a:ea typeface="PingFang SC" panose="020B0400000000000000" pitchFamily="34" charset="-122"/>
              </a:rPr>
              <a:t> (</a:t>
            </a:r>
            <a:r>
              <a:rPr lang="en" altLang="zh-TW" b="1" i="0" dirty="0">
                <a:solidFill>
                  <a:srgbClr val="4F4F4F"/>
                </a:solidFill>
                <a:effectLst/>
                <a:latin typeface="PingFang SC" panose="020B0400000000000000" pitchFamily="34" charset="-122"/>
                <a:ea typeface="PingFang SC" panose="020B0400000000000000" pitchFamily="34" charset="-122"/>
              </a:rPr>
              <a:t>LDA</a:t>
            </a:r>
            <a:r>
              <a:rPr lang="en-US" altLang="zh-TW" b="1" dirty="0">
                <a:solidFill>
                  <a:srgbClr val="4F4F4F"/>
                </a:solidFill>
                <a:latin typeface="PingFang SC" panose="020B0400000000000000" pitchFamily="34" charset="-122"/>
                <a:ea typeface="PingFang SC" panose="020B0400000000000000" pitchFamily="34" charset="-122"/>
              </a:rPr>
              <a:t>)</a:t>
            </a:r>
            <a:br>
              <a:rPr lang="en-US" altLang="zh-TW" b="1" i="0" dirty="0">
                <a:solidFill>
                  <a:srgbClr val="4F4F4F"/>
                </a:solidFill>
                <a:effectLst/>
                <a:latin typeface="PingFang SC" panose="020B0400000000000000" pitchFamily="34" charset="-122"/>
                <a:ea typeface="PingFang SC" panose="020B0400000000000000" pitchFamily="34" charset="-122"/>
              </a:rPr>
            </a:br>
            <a:r>
              <a:rPr lang="zh-TW" altLang="en-US" b="1" i="0" dirty="0">
                <a:solidFill>
                  <a:srgbClr val="4F4F4F"/>
                </a:solidFill>
                <a:effectLst/>
                <a:latin typeface="PingFang SC" panose="020B0400000000000000" pitchFamily="34" charset="-122"/>
                <a:ea typeface="PingFang SC" panose="020B0400000000000000" pitchFamily="34" charset="-122"/>
              </a:rPr>
              <a:t>線性判斷分析</a:t>
            </a:r>
            <a:endParaRPr kumimoji="1" lang="zh-TW" altLang="en-US" dirty="0"/>
          </a:p>
        </p:txBody>
      </p:sp>
      <p:sp>
        <p:nvSpPr>
          <p:cNvPr id="3" name="內容版面配置區 2">
            <a:extLst>
              <a:ext uri="{FF2B5EF4-FFF2-40B4-BE49-F238E27FC236}">
                <a16:creationId xmlns:a16="http://schemas.microsoft.com/office/drawing/2014/main" id="{23A2D7E2-1C97-A11E-C75A-D57E8152DCAB}"/>
              </a:ext>
            </a:extLst>
          </p:cNvPr>
          <p:cNvSpPr>
            <a:spLocks noGrp="1"/>
          </p:cNvSpPr>
          <p:nvPr>
            <p:ph idx="1"/>
          </p:nvPr>
        </p:nvSpPr>
        <p:spPr>
          <a:xfrm>
            <a:off x="838200" y="1825625"/>
            <a:ext cx="10515600" cy="4667250"/>
          </a:xfrm>
        </p:spPr>
        <p:txBody>
          <a:bodyPr>
            <a:normAutofit fontScale="70000" lnSpcReduction="20000"/>
          </a:bodyPr>
          <a:lstStyle/>
          <a:p>
            <a:r>
              <a:rPr kumimoji="1" lang="zh-TW" altLang="en-US" dirty="0"/>
              <a:t>優點：</a:t>
            </a:r>
            <a:endParaRPr kumimoji="1" lang="en-US" altLang="zh-TW" dirty="0"/>
          </a:p>
          <a:p>
            <a:pPr lvl="1"/>
            <a:r>
              <a:rPr kumimoji="1" lang="zh-TW" altLang="en-US" dirty="0"/>
              <a:t>在降維過程中可以使用類別的先驗知識經驗，而像</a:t>
            </a:r>
            <a:r>
              <a:rPr kumimoji="1" lang="en" altLang="zh-TW" dirty="0"/>
              <a:t>PCA</a:t>
            </a:r>
            <a:r>
              <a:rPr kumimoji="1" lang="zh-TW" altLang="en-US" dirty="0"/>
              <a:t>這樣的無監督學習則無法使用類別先驗知識。</a:t>
            </a:r>
            <a:endParaRPr kumimoji="1" lang="en-US" altLang="zh-TW" dirty="0"/>
          </a:p>
          <a:p>
            <a:pPr lvl="1"/>
            <a:r>
              <a:rPr kumimoji="1" lang="en" altLang="zh-TW" dirty="0"/>
              <a:t>LDA</a:t>
            </a:r>
            <a:r>
              <a:rPr kumimoji="1" lang="zh-TW" altLang="en-US" dirty="0"/>
              <a:t>在樣本分類信息依賴均值而不是方差的時候，比</a:t>
            </a:r>
            <a:r>
              <a:rPr kumimoji="1" lang="en" altLang="zh-TW" dirty="0"/>
              <a:t>PCA</a:t>
            </a:r>
            <a:r>
              <a:rPr kumimoji="1" lang="zh-TW" altLang="en-US" dirty="0"/>
              <a:t>之類的算法較優。</a:t>
            </a:r>
            <a:endParaRPr kumimoji="1" lang="en-US" altLang="zh-TW" dirty="0"/>
          </a:p>
          <a:p>
            <a:r>
              <a:rPr kumimoji="1" lang="zh-TW" altLang="en-US" dirty="0"/>
              <a:t>缺點：</a:t>
            </a:r>
            <a:endParaRPr kumimoji="1" lang="en-US" altLang="zh-TW" dirty="0"/>
          </a:p>
          <a:p>
            <a:pPr lvl="1"/>
            <a:r>
              <a:rPr kumimoji="1" lang="en" altLang="zh-TW" dirty="0"/>
              <a:t>LDA</a:t>
            </a:r>
            <a:r>
              <a:rPr kumimoji="1" lang="zh-TW" altLang="en-US" dirty="0"/>
              <a:t>不適合對非高斯分布樣本進行降維，</a:t>
            </a:r>
            <a:r>
              <a:rPr kumimoji="1" lang="en" altLang="zh-TW" dirty="0"/>
              <a:t>PCA</a:t>
            </a:r>
            <a:r>
              <a:rPr kumimoji="1" lang="zh-TW" altLang="en-US" dirty="0"/>
              <a:t>也有這個問題。</a:t>
            </a:r>
            <a:endParaRPr kumimoji="1" lang="en-US" altLang="zh-TW" dirty="0"/>
          </a:p>
          <a:p>
            <a:pPr lvl="1"/>
            <a:r>
              <a:rPr kumimoji="1" lang="en" altLang="zh-TW" dirty="0"/>
              <a:t>LDA</a:t>
            </a:r>
            <a:r>
              <a:rPr kumimoji="1" lang="zh-TW" altLang="en-US" dirty="0"/>
              <a:t>降維最多降到類別數</a:t>
            </a:r>
            <a:r>
              <a:rPr kumimoji="1" lang="en" altLang="zh-TW" dirty="0"/>
              <a:t>k-1</a:t>
            </a:r>
            <a:r>
              <a:rPr kumimoji="1" lang="zh-TW" altLang="en-US" dirty="0"/>
              <a:t>的維數，如果我們降維的維度大於</a:t>
            </a:r>
            <a:r>
              <a:rPr kumimoji="1" lang="en" altLang="zh-TW" dirty="0"/>
              <a:t>k-1</a:t>
            </a:r>
            <a:r>
              <a:rPr kumimoji="1" lang="zh-TW" altLang="en" dirty="0"/>
              <a:t>，</a:t>
            </a:r>
            <a:r>
              <a:rPr kumimoji="1" lang="zh-TW" altLang="en-US" dirty="0"/>
              <a:t>則不能使用</a:t>
            </a:r>
            <a:r>
              <a:rPr kumimoji="1" lang="en" altLang="zh-TW" dirty="0"/>
              <a:t>LDA</a:t>
            </a:r>
            <a:r>
              <a:rPr kumimoji="1" lang="zh-TW" altLang="en" dirty="0"/>
              <a:t>。</a:t>
            </a:r>
            <a:r>
              <a:rPr kumimoji="1" lang="zh-TW" altLang="en-US" dirty="0"/>
              <a:t>當然目前有一些</a:t>
            </a:r>
            <a:r>
              <a:rPr kumimoji="1" lang="en" altLang="zh-TW" dirty="0"/>
              <a:t>LDA</a:t>
            </a:r>
            <a:r>
              <a:rPr kumimoji="1" lang="zh-TW" altLang="en-US" dirty="0"/>
              <a:t>的進化版算法可以繞過這個問題。</a:t>
            </a:r>
            <a:endParaRPr kumimoji="1" lang="en-US" altLang="zh-TW" dirty="0"/>
          </a:p>
          <a:p>
            <a:pPr lvl="1"/>
            <a:r>
              <a:rPr kumimoji="1" lang="en" altLang="zh-TW" dirty="0"/>
              <a:t>LDA</a:t>
            </a:r>
            <a:r>
              <a:rPr kumimoji="1" lang="zh-TW" altLang="en-US" dirty="0"/>
              <a:t>在樣本分類信息依賴方差而不是均值的時候，降維效果不好。</a:t>
            </a:r>
            <a:endParaRPr kumimoji="1" lang="en-US" altLang="zh-TW" dirty="0"/>
          </a:p>
          <a:p>
            <a:pPr lvl="1"/>
            <a:r>
              <a:rPr kumimoji="1" lang="en" altLang="zh-TW" dirty="0"/>
              <a:t>LDA</a:t>
            </a:r>
            <a:r>
              <a:rPr kumimoji="1" lang="zh-TW" altLang="en-US" dirty="0"/>
              <a:t>可能過度擬合數據。</a:t>
            </a:r>
            <a:endParaRPr kumimoji="1" lang="en-US" altLang="zh-TW" dirty="0"/>
          </a:p>
          <a:p>
            <a:r>
              <a:rPr kumimoji="1" lang="en" altLang="zh-TW" dirty="0"/>
              <a:t>LDA</a:t>
            </a:r>
            <a:r>
              <a:rPr kumimoji="1" lang="en-US" altLang="zh-TW" dirty="0"/>
              <a:t> vs PCA</a:t>
            </a:r>
          </a:p>
          <a:p>
            <a:pPr lvl="1"/>
            <a:r>
              <a:rPr kumimoji="1" lang="zh-TW" altLang="en-US" dirty="0"/>
              <a:t>相同點</a:t>
            </a:r>
            <a:endParaRPr kumimoji="1" lang="en-US" altLang="zh-TW" dirty="0"/>
          </a:p>
          <a:p>
            <a:pPr lvl="2"/>
            <a:r>
              <a:rPr kumimoji="1" lang="zh-TW" altLang="en-US" dirty="0"/>
              <a:t>兩者均可以對數據進行降維。</a:t>
            </a:r>
            <a:endParaRPr kumimoji="1" lang="en-US" altLang="zh-TW" dirty="0"/>
          </a:p>
          <a:p>
            <a:pPr lvl="2"/>
            <a:r>
              <a:rPr kumimoji="1" lang="zh-TW" altLang="en-US" dirty="0"/>
              <a:t>兩者在降維時均使用了矩陣特征分解的思想。</a:t>
            </a:r>
            <a:endParaRPr kumimoji="1" lang="en-US" altLang="zh-TW" dirty="0"/>
          </a:p>
          <a:p>
            <a:pPr lvl="2"/>
            <a:r>
              <a:rPr kumimoji="1" lang="zh-TW" altLang="en-US" dirty="0"/>
              <a:t>兩者都假設數據符合高斯分布。</a:t>
            </a:r>
            <a:endParaRPr kumimoji="1" lang="en-US" altLang="zh-TW" dirty="0"/>
          </a:p>
          <a:p>
            <a:pPr lvl="1"/>
            <a:r>
              <a:rPr kumimoji="1" lang="zh-TW" altLang="en-US" dirty="0"/>
              <a:t>不同點</a:t>
            </a:r>
            <a:endParaRPr kumimoji="1" lang="en-US" altLang="zh-TW" dirty="0"/>
          </a:p>
          <a:p>
            <a:pPr lvl="2"/>
            <a:r>
              <a:rPr kumimoji="1" lang="en" altLang="zh-TW" dirty="0"/>
              <a:t>LDA</a:t>
            </a:r>
            <a:r>
              <a:rPr kumimoji="1" lang="zh-TW" altLang="en-US" dirty="0"/>
              <a:t>是有監督的降維方法，而</a:t>
            </a:r>
            <a:r>
              <a:rPr kumimoji="1" lang="en" altLang="zh-TW" dirty="0"/>
              <a:t>PCA</a:t>
            </a:r>
            <a:r>
              <a:rPr kumimoji="1" lang="zh-TW" altLang="en-US" dirty="0"/>
              <a:t>是無監督的降維方法</a:t>
            </a:r>
            <a:endParaRPr kumimoji="1" lang="en-US" altLang="zh-TW" dirty="0"/>
          </a:p>
          <a:p>
            <a:pPr lvl="2"/>
            <a:r>
              <a:rPr kumimoji="1" lang="en" altLang="zh-TW" dirty="0"/>
              <a:t>LDA</a:t>
            </a:r>
            <a:r>
              <a:rPr kumimoji="1" lang="zh-TW" altLang="en-US" dirty="0"/>
              <a:t>降維最多降到類別數</a:t>
            </a:r>
            <a:r>
              <a:rPr kumimoji="1" lang="en" altLang="zh-TW" dirty="0"/>
              <a:t>k-1</a:t>
            </a:r>
            <a:r>
              <a:rPr kumimoji="1" lang="zh-TW" altLang="en-US" dirty="0"/>
              <a:t>的維數，而</a:t>
            </a:r>
            <a:r>
              <a:rPr kumimoji="1" lang="en" altLang="zh-TW" dirty="0"/>
              <a:t>PCA</a:t>
            </a:r>
            <a:r>
              <a:rPr kumimoji="1" lang="zh-TW" altLang="en-US" dirty="0"/>
              <a:t>沒有這個限制。</a:t>
            </a:r>
            <a:endParaRPr kumimoji="1" lang="en-US" altLang="zh-TW" dirty="0"/>
          </a:p>
          <a:p>
            <a:pPr lvl="2"/>
            <a:r>
              <a:rPr kumimoji="1" lang="en" altLang="zh-TW" dirty="0"/>
              <a:t>LDA</a:t>
            </a:r>
            <a:r>
              <a:rPr kumimoji="1" lang="zh-TW" altLang="en-US" dirty="0"/>
              <a:t>除了可以用於降維，還可以用於分類。</a:t>
            </a:r>
            <a:endParaRPr kumimoji="1" lang="en-US" altLang="zh-TW" dirty="0"/>
          </a:p>
          <a:p>
            <a:pPr lvl="2"/>
            <a:r>
              <a:rPr kumimoji="1" lang="en" altLang="zh-TW" dirty="0"/>
              <a:t>LDA</a:t>
            </a:r>
            <a:r>
              <a:rPr kumimoji="1" lang="zh-TW" altLang="en-US" dirty="0"/>
              <a:t>選擇分類性能最好的投影方向，而</a:t>
            </a:r>
            <a:r>
              <a:rPr kumimoji="1" lang="en" altLang="zh-TW" dirty="0"/>
              <a:t>PCA</a:t>
            </a:r>
            <a:r>
              <a:rPr kumimoji="1" lang="zh-TW" altLang="en-US" dirty="0"/>
              <a:t>選擇樣本點投影具有最大方差的方向。</a:t>
            </a:r>
          </a:p>
        </p:txBody>
      </p:sp>
    </p:spTree>
    <p:extLst>
      <p:ext uri="{BB962C8B-B14F-4D97-AF65-F5344CB8AC3E}">
        <p14:creationId xmlns:p14="http://schemas.microsoft.com/office/powerpoint/2010/main" val="26679138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FD061E-C057-BD08-FB9E-42559C42FB8B}"/>
              </a:ext>
            </a:extLst>
          </p:cNvPr>
          <p:cNvSpPr>
            <a:spLocks noGrp="1"/>
          </p:cNvSpPr>
          <p:nvPr>
            <p:ph type="title"/>
          </p:nvPr>
        </p:nvSpPr>
        <p:spPr/>
        <p:txBody>
          <a:bodyPr/>
          <a:lstStyle/>
          <a:p>
            <a:r>
              <a:rPr lang="en" altLang="zh-TW" dirty="0"/>
              <a:t>Locally Linear Embedding (LLE)</a:t>
            </a:r>
            <a:endParaRPr kumimoji="1" lang="zh-TW" altLang="en-US" dirty="0"/>
          </a:p>
        </p:txBody>
      </p:sp>
      <p:sp>
        <p:nvSpPr>
          <p:cNvPr id="3" name="內容版面配置區 2">
            <a:extLst>
              <a:ext uri="{FF2B5EF4-FFF2-40B4-BE49-F238E27FC236}">
                <a16:creationId xmlns:a16="http://schemas.microsoft.com/office/drawing/2014/main" id="{890B673A-BDFD-E6AB-A879-993CC2C7A9BC}"/>
              </a:ext>
            </a:extLst>
          </p:cNvPr>
          <p:cNvSpPr>
            <a:spLocks noGrp="1"/>
          </p:cNvSpPr>
          <p:nvPr>
            <p:ph idx="1"/>
          </p:nvPr>
        </p:nvSpPr>
        <p:spPr/>
        <p:txBody>
          <a:bodyPr/>
          <a:lstStyle/>
          <a:p>
            <a:r>
              <a:rPr lang="zh-TW" altLang="en-US" b="0" i="0" dirty="0">
                <a:solidFill>
                  <a:srgbClr val="3D3D3D"/>
                </a:solidFill>
                <a:effectLst/>
                <a:latin typeface="-apple-system"/>
              </a:rPr>
              <a:t>局部線性嵌入（</a:t>
            </a:r>
            <a:r>
              <a:rPr lang="en" altLang="zh-TW" b="0" i="0" dirty="0">
                <a:solidFill>
                  <a:srgbClr val="3D3D3D"/>
                </a:solidFill>
                <a:effectLst/>
                <a:latin typeface="-apple-system"/>
              </a:rPr>
              <a:t>Locally Linear Embedding, LLE</a:t>
            </a:r>
            <a:r>
              <a:rPr lang="zh-TW" altLang="en" b="0" i="0" dirty="0">
                <a:solidFill>
                  <a:srgbClr val="3D3D3D"/>
                </a:solidFill>
                <a:effectLst/>
                <a:latin typeface="-apple-system"/>
              </a:rPr>
              <a:t>）</a:t>
            </a:r>
            <a:r>
              <a:rPr lang="zh-TW" altLang="en-US" b="0" i="0" dirty="0">
                <a:solidFill>
                  <a:srgbClr val="3D3D3D"/>
                </a:solidFill>
                <a:effectLst/>
                <a:latin typeface="-apple-system"/>
              </a:rPr>
              <a:t>是無監督非線性降維算法，是流形學習</a:t>
            </a:r>
            <a:r>
              <a:rPr lang="en-US" altLang="zh-TW" b="0" i="0" dirty="0">
                <a:solidFill>
                  <a:srgbClr val="3D3D3D"/>
                </a:solidFill>
                <a:effectLst/>
                <a:latin typeface="-apple-system"/>
              </a:rPr>
              <a:t>(manifold learning)</a:t>
            </a:r>
            <a:r>
              <a:rPr lang="zh-TW" altLang="en-US" b="0" i="0" dirty="0">
                <a:solidFill>
                  <a:srgbClr val="3D3D3D"/>
                </a:solidFill>
                <a:effectLst/>
                <a:latin typeface="-apple-system"/>
              </a:rPr>
              <a:t>的一種。</a:t>
            </a:r>
          </a:p>
          <a:p>
            <a:r>
              <a:rPr kumimoji="1" lang="en-US" altLang="zh-TW" dirty="0"/>
              <a:t>Manifold learning </a:t>
            </a:r>
            <a:r>
              <a:rPr kumimoji="1" lang="zh-TW" altLang="en-US" dirty="0"/>
              <a:t>是降維的理論基礎，主要是降維後保持原始資料的幾何結構。</a:t>
            </a:r>
            <a:endParaRPr kumimoji="1" lang="en-US" altLang="zh-TW" dirty="0"/>
          </a:p>
          <a:p>
            <a:r>
              <a:rPr lang="en" altLang="zh-TW" dirty="0">
                <a:solidFill>
                  <a:srgbClr val="3D3D3D"/>
                </a:solidFill>
                <a:latin typeface="-apple-system"/>
              </a:rPr>
              <a:t>LLE</a:t>
            </a:r>
            <a:r>
              <a:rPr lang="zh-TW" altLang="en-US" dirty="0">
                <a:solidFill>
                  <a:srgbClr val="3D3D3D"/>
                </a:solidFill>
                <a:latin typeface="-apple-system"/>
              </a:rPr>
              <a:t>認爲，在高維中間中的任意一個樣本點和它的鄰居樣本點近似位於一個</a:t>
            </a:r>
            <a:r>
              <a:rPr lang="zh-TW" altLang="en-US" dirty="0">
                <a:solidFill>
                  <a:srgbClr val="FF0000"/>
                </a:solidFill>
                <a:latin typeface="-apple-system"/>
              </a:rPr>
              <a:t>超平面</a:t>
            </a:r>
            <a:r>
              <a:rPr lang="zh-TW" altLang="en-US" dirty="0">
                <a:solidFill>
                  <a:srgbClr val="3D3D3D"/>
                </a:solidFill>
                <a:latin typeface="-apple-system"/>
              </a:rPr>
              <a:t>上，所以</a:t>
            </a:r>
            <a:r>
              <a:rPr lang="zh-TW" altLang="en-US" b="1" dirty="0">
                <a:solidFill>
                  <a:srgbClr val="3D3D3D"/>
                </a:solidFill>
                <a:latin typeface="-apple-system"/>
              </a:rPr>
              <a:t>該樣本點可以通過其鄰居樣本點的</a:t>
            </a:r>
            <a:r>
              <a:rPr lang="zh-TW" altLang="en-US" b="1" u="sng" dirty="0">
                <a:solidFill>
                  <a:srgbClr val="FF0000"/>
                </a:solidFill>
                <a:latin typeface="-apple-system"/>
              </a:rPr>
              <a:t>線性組合</a:t>
            </a:r>
            <a:r>
              <a:rPr lang="zh-TW" altLang="en-US" b="1" dirty="0">
                <a:solidFill>
                  <a:srgbClr val="3D3D3D"/>
                </a:solidFill>
                <a:latin typeface="-apple-system"/>
              </a:rPr>
              <a:t>重構出來。</a:t>
            </a:r>
            <a:endParaRPr lang="zh-TW" altLang="en-US" dirty="0">
              <a:solidFill>
                <a:srgbClr val="3D3D3D"/>
              </a:solidFill>
              <a:latin typeface="-apple-system"/>
            </a:endParaRPr>
          </a:p>
          <a:p>
            <a:endParaRPr kumimoji="1" lang="en-US" altLang="zh-TW" dirty="0"/>
          </a:p>
          <a:p>
            <a:endParaRPr kumimoji="1" lang="en-US" altLang="zh-TW"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361FBFA3-5685-A7C7-65D5-1CA292C1920E}"/>
                  </a:ext>
                </a:extLst>
              </p:cNvPr>
              <p:cNvSpPr txBox="1"/>
              <p:nvPr/>
            </p:nvSpPr>
            <p:spPr>
              <a:xfrm>
                <a:off x="1363724" y="4965258"/>
                <a:ext cx="1559594" cy="9273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l-GR" altLang="zh-TW" sz="2000" i="1" smtClean="0">
                              <a:latin typeface="Cambria Math" panose="02040503050406030204" pitchFamily="18" charset="0"/>
                            </a:rPr>
                          </m:ctrlPr>
                        </m:sSubPr>
                        <m:e>
                          <m:r>
                            <a:rPr kumimoji="1" lang="en-US" altLang="zh-TW" sz="2000" b="0" i="1" smtClean="0">
                              <a:latin typeface="Cambria Math" panose="02040503050406030204" pitchFamily="18" charset="0"/>
                            </a:rPr>
                            <m:t>𝑥</m:t>
                          </m:r>
                        </m:e>
                        <m:sub>
                          <m:r>
                            <a:rPr kumimoji="1" lang="en-US" altLang="zh-TW" sz="2000" b="0" i="1" smtClean="0">
                              <a:latin typeface="Cambria Math" panose="02040503050406030204" pitchFamily="18" charset="0"/>
                            </a:rPr>
                            <m:t>𝑖</m:t>
                          </m:r>
                        </m:sub>
                      </m:sSub>
                      <m:r>
                        <a:rPr kumimoji="1" lang="en-US" altLang="zh-TW" sz="2000" b="0" i="1" smtClean="0">
                          <a:latin typeface="Cambria Math" panose="02040503050406030204" pitchFamily="18" charset="0"/>
                        </a:rPr>
                        <m:t>=</m:t>
                      </m:r>
                      <m:nary>
                        <m:naryPr>
                          <m:chr m:val="∑"/>
                          <m:ctrlPr>
                            <a:rPr kumimoji="1" lang="en-US" altLang="zh-TW" sz="2000" b="0" i="1" smtClean="0">
                              <a:latin typeface="Cambria Math" panose="02040503050406030204" pitchFamily="18" charset="0"/>
                            </a:rPr>
                          </m:ctrlPr>
                        </m:naryPr>
                        <m:sub>
                          <m:r>
                            <m:rPr>
                              <m:brk m:alnAt="23"/>
                            </m:rPr>
                            <a:rPr kumimoji="1" lang="en-US" altLang="zh-TW" sz="2000" b="0" i="1" smtClean="0">
                              <a:latin typeface="Cambria Math" panose="02040503050406030204" pitchFamily="18" charset="0"/>
                            </a:rPr>
                            <m:t>𝑗</m:t>
                          </m:r>
                        </m:sub>
                        <m:sup/>
                        <m:e>
                          <m:sSub>
                            <m:sSubPr>
                              <m:ctrlPr>
                                <a:rPr kumimoji="1" lang="en-US" altLang="zh-TW" sz="2000" b="0" i="1" smtClean="0">
                                  <a:latin typeface="Cambria Math" panose="02040503050406030204" pitchFamily="18" charset="0"/>
                                </a:rPr>
                              </m:ctrlPr>
                            </m:sSubPr>
                            <m:e>
                              <m:r>
                                <a:rPr kumimoji="1" lang="en-US" altLang="zh-TW" sz="2000" b="0" i="1" smtClean="0">
                                  <a:latin typeface="Cambria Math" panose="02040503050406030204" pitchFamily="18" charset="0"/>
                                </a:rPr>
                                <m:t>𝑤</m:t>
                              </m:r>
                            </m:e>
                            <m:sub>
                              <m:r>
                                <a:rPr kumimoji="1" lang="en-US" altLang="zh-TW" sz="2000" b="0" i="1" smtClean="0">
                                  <a:latin typeface="Cambria Math" panose="02040503050406030204" pitchFamily="18" charset="0"/>
                                </a:rPr>
                                <m:t>𝑖𝑗</m:t>
                              </m:r>
                            </m:sub>
                          </m:sSub>
                          <m:sSub>
                            <m:sSubPr>
                              <m:ctrlPr>
                                <a:rPr kumimoji="1" lang="en-US" altLang="zh-TW" sz="2000" b="0" i="1" smtClean="0">
                                  <a:latin typeface="Cambria Math" panose="02040503050406030204" pitchFamily="18" charset="0"/>
                                </a:rPr>
                              </m:ctrlPr>
                            </m:sSubPr>
                            <m:e>
                              <m:r>
                                <a:rPr kumimoji="1" lang="en-US" altLang="zh-TW" sz="2000" b="0" i="1" smtClean="0">
                                  <a:latin typeface="Cambria Math" panose="02040503050406030204" pitchFamily="18" charset="0"/>
                                </a:rPr>
                                <m:t>𝑥</m:t>
                              </m:r>
                            </m:e>
                            <m:sub>
                              <m:r>
                                <a:rPr kumimoji="1" lang="en-US" altLang="zh-TW" sz="2000" b="0" i="1" smtClean="0">
                                  <a:latin typeface="Cambria Math" panose="02040503050406030204" pitchFamily="18" charset="0"/>
                                </a:rPr>
                                <m:t>𝑗</m:t>
                              </m:r>
                            </m:sub>
                          </m:sSub>
                        </m:e>
                      </m:nary>
                    </m:oMath>
                  </m:oMathPara>
                </a14:m>
                <a:endParaRPr kumimoji="1" lang="zh-TW" altLang="en-US" sz="2000" dirty="0"/>
              </a:p>
            </p:txBody>
          </p:sp>
        </mc:Choice>
        <mc:Fallback xmlns="">
          <p:sp>
            <p:nvSpPr>
              <p:cNvPr id="4" name="文字方塊 3">
                <a:extLst>
                  <a:ext uri="{FF2B5EF4-FFF2-40B4-BE49-F238E27FC236}">
                    <a16:creationId xmlns:a16="http://schemas.microsoft.com/office/drawing/2014/main" id="{361FBFA3-5685-A7C7-65D5-1CA292C1920E}"/>
                  </a:ext>
                </a:extLst>
              </p:cNvPr>
              <p:cNvSpPr txBox="1">
                <a:spLocks noRot="1" noChangeAspect="1" noMove="1" noResize="1" noEditPoints="1" noAdjustHandles="1" noChangeArrowheads="1" noChangeShapeType="1" noTextEdit="1"/>
              </p:cNvSpPr>
              <p:nvPr/>
            </p:nvSpPr>
            <p:spPr>
              <a:xfrm>
                <a:off x="1363724" y="4965258"/>
                <a:ext cx="1559594" cy="927370"/>
              </a:xfrm>
              <a:prstGeom prst="rect">
                <a:avLst/>
              </a:prstGeom>
              <a:blipFill>
                <a:blip r:embed="rId2"/>
                <a:stretch>
                  <a:fillRect l="-25000" t="-104054" r="-1613" b="-15810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467732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B4F4FC-071A-2133-768E-A7428600EDE8}"/>
              </a:ext>
            </a:extLst>
          </p:cNvPr>
          <p:cNvSpPr>
            <a:spLocks noGrp="1"/>
          </p:cNvSpPr>
          <p:nvPr>
            <p:ph type="title"/>
          </p:nvPr>
        </p:nvSpPr>
        <p:spPr/>
        <p:txBody>
          <a:bodyPr/>
          <a:lstStyle/>
          <a:p>
            <a:r>
              <a:rPr lang="en" altLang="zh-TW" dirty="0"/>
              <a:t>Locally Linear Embedding (LLE)</a:t>
            </a:r>
            <a:endParaRPr kumimoji="1" lang="zh-TW" altLang="en-US" dirty="0"/>
          </a:p>
        </p:txBody>
      </p:sp>
      <p:sp>
        <p:nvSpPr>
          <p:cNvPr id="3" name="內容版面配置區 2">
            <a:extLst>
              <a:ext uri="{FF2B5EF4-FFF2-40B4-BE49-F238E27FC236}">
                <a16:creationId xmlns:a16="http://schemas.microsoft.com/office/drawing/2014/main" id="{7B52A0F2-EFAF-2D65-76DF-026966282F83}"/>
              </a:ext>
            </a:extLst>
          </p:cNvPr>
          <p:cNvSpPr>
            <a:spLocks noGrp="1"/>
          </p:cNvSpPr>
          <p:nvPr>
            <p:ph idx="1"/>
          </p:nvPr>
        </p:nvSpPr>
        <p:spPr/>
        <p:txBody>
          <a:bodyPr/>
          <a:lstStyle/>
          <a:p>
            <a:r>
              <a:rPr lang="zh-TW" altLang="en-US" sz="2800" b="0" i="0" dirty="0">
                <a:solidFill>
                  <a:srgbClr val="333333"/>
                </a:solidFill>
                <a:effectLst/>
                <a:latin typeface="+mn-ea"/>
              </a:rPr>
              <a:t>原</a:t>
            </a:r>
            <a:r>
              <a:rPr lang="zh-TW" altLang="en-US" dirty="0">
                <a:solidFill>
                  <a:srgbClr val="333333"/>
                </a:solidFill>
                <a:latin typeface="+mn-ea"/>
              </a:rPr>
              <a:t>本的資料中，任一筆資料 </a:t>
            </a:r>
            <a:r>
              <a:rPr lang="en" altLang="zh-TW" dirty="0">
                <a:solidFill>
                  <a:srgbClr val="333333"/>
                </a:solidFill>
                <a:latin typeface="+mn-ea"/>
              </a:rPr>
              <a:t>xi </a:t>
            </a:r>
            <a:r>
              <a:rPr lang="zh-TW" altLang="en-US" dirty="0">
                <a:solidFill>
                  <a:srgbClr val="333333"/>
                </a:solidFill>
                <a:latin typeface="+mn-ea"/>
              </a:rPr>
              <a:t>假設可由</a:t>
            </a:r>
            <a:r>
              <a:rPr lang="zh-TW" altLang="en-US" dirty="0">
                <a:solidFill>
                  <a:srgbClr val="FF0000"/>
                </a:solidFill>
                <a:latin typeface="+mn-ea"/>
              </a:rPr>
              <a:t>周圍的</a:t>
            </a:r>
            <a:r>
              <a:rPr lang="en-US" altLang="zh-TW" dirty="0">
                <a:solidFill>
                  <a:srgbClr val="FF0000"/>
                </a:solidFill>
                <a:latin typeface="+mn-ea"/>
              </a:rPr>
              <a:t>k</a:t>
            </a:r>
            <a:r>
              <a:rPr lang="zh-TW" altLang="en-US" dirty="0">
                <a:solidFill>
                  <a:srgbClr val="FF0000"/>
                </a:solidFill>
                <a:latin typeface="+mn-ea"/>
              </a:rPr>
              <a:t>個資料點 </a:t>
            </a:r>
            <a:r>
              <a:rPr lang="en" altLang="zh-TW" dirty="0" err="1">
                <a:solidFill>
                  <a:srgbClr val="333333"/>
                </a:solidFill>
                <a:latin typeface="+mn-ea"/>
              </a:rPr>
              <a:t>x</a:t>
            </a:r>
            <a:r>
              <a:rPr lang="en" altLang="zh-TW" baseline="-25000" dirty="0" err="1">
                <a:solidFill>
                  <a:srgbClr val="333333"/>
                </a:solidFill>
                <a:latin typeface="+mn-ea"/>
              </a:rPr>
              <a:t>j</a:t>
            </a:r>
            <a:r>
              <a:rPr lang="en" altLang="zh-TW" dirty="0">
                <a:solidFill>
                  <a:srgbClr val="333333"/>
                </a:solidFill>
                <a:latin typeface="+mn-ea"/>
              </a:rPr>
              <a:t> </a:t>
            </a:r>
            <a:r>
              <a:rPr lang="zh-TW" altLang="en-US" u="sng" dirty="0">
                <a:solidFill>
                  <a:srgbClr val="333333"/>
                </a:solidFill>
                <a:latin typeface="+mn-ea"/>
              </a:rPr>
              <a:t>線性組合而來</a:t>
            </a:r>
            <a:r>
              <a:rPr lang="zh-TW" altLang="en-US" dirty="0">
                <a:solidFill>
                  <a:srgbClr val="333333"/>
                </a:solidFill>
                <a:latin typeface="+mn-ea"/>
              </a:rPr>
              <a:t>，其係數 </a:t>
            </a:r>
            <a:r>
              <a:rPr lang="en" altLang="zh-TW" dirty="0" err="1">
                <a:solidFill>
                  <a:srgbClr val="333333"/>
                </a:solidFill>
                <a:latin typeface="+mn-ea"/>
              </a:rPr>
              <a:t>w</a:t>
            </a:r>
            <a:r>
              <a:rPr lang="en" altLang="zh-TW" baseline="-25000" dirty="0" err="1">
                <a:solidFill>
                  <a:srgbClr val="333333"/>
                </a:solidFill>
                <a:latin typeface="+mn-ea"/>
              </a:rPr>
              <a:t>ij</a:t>
            </a:r>
            <a:r>
              <a:rPr lang="en" altLang="zh-TW" dirty="0">
                <a:solidFill>
                  <a:srgbClr val="333333"/>
                </a:solidFill>
                <a:latin typeface="+mn-ea"/>
              </a:rPr>
              <a:t> </a:t>
            </a:r>
            <a:r>
              <a:rPr lang="zh-TW" altLang="en-US" dirty="0">
                <a:solidFill>
                  <a:srgbClr val="333333"/>
                </a:solidFill>
                <a:latin typeface="+mn-ea"/>
              </a:rPr>
              <a:t>即為 </a:t>
            </a:r>
            <a:r>
              <a:rPr lang="en" altLang="zh-TW" dirty="0">
                <a:solidFill>
                  <a:srgbClr val="333333"/>
                </a:solidFill>
                <a:latin typeface="+mn-ea"/>
              </a:rPr>
              <a:t>x</a:t>
            </a:r>
            <a:r>
              <a:rPr lang="en" altLang="zh-TW" baseline="-25000" dirty="0">
                <a:solidFill>
                  <a:srgbClr val="333333"/>
                </a:solidFill>
                <a:latin typeface="+mn-ea"/>
              </a:rPr>
              <a:t>i</a:t>
            </a:r>
            <a:r>
              <a:rPr lang="en" altLang="zh-TW" dirty="0">
                <a:solidFill>
                  <a:srgbClr val="333333"/>
                </a:solidFill>
                <a:latin typeface="+mn-ea"/>
              </a:rPr>
              <a:t> </a:t>
            </a:r>
            <a:r>
              <a:rPr lang="zh-TW" altLang="en-US" dirty="0">
                <a:solidFill>
                  <a:srgbClr val="333333"/>
                </a:solidFill>
                <a:latin typeface="+mn-ea"/>
              </a:rPr>
              <a:t>與 </a:t>
            </a:r>
            <a:r>
              <a:rPr lang="en" altLang="zh-TW" dirty="0" err="1">
                <a:solidFill>
                  <a:srgbClr val="333333"/>
                </a:solidFill>
                <a:latin typeface="+mn-ea"/>
              </a:rPr>
              <a:t>xj</a:t>
            </a:r>
            <a:r>
              <a:rPr lang="en" altLang="zh-TW" dirty="0">
                <a:solidFill>
                  <a:srgbClr val="333333"/>
                </a:solidFill>
                <a:latin typeface="+mn-ea"/>
              </a:rPr>
              <a:t> </a:t>
            </a:r>
            <a:r>
              <a:rPr lang="zh-TW" altLang="en-US" dirty="0">
                <a:solidFill>
                  <a:srgbClr val="333333"/>
                </a:solidFill>
                <a:latin typeface="+mn-ea"/>
              </a:rPr>
              <a:t>之間的關係 </a:t>
            </a:r>
            <a:r>
              <a:rPr lang="en-US" altLang="zh-TW" dirty="0">
                <a:solidFill>
                  <a:srgbClr val="333333"/>
                </a:solidFill>
                <a:latin typeface="+mn-ea"/>
              </a:rPr>
              <a:t>(</a:t>
            </a:r>
            <a:r>
              <a:rPr lang="en" altLang="zh-TW" dirty="0">
                <a:solidFill>
                  <a:srgbClr val="333333"/>
                </a:solidFill>
                <a:latin typeface="+mn-ea"/>
              </a:rPr>
              <a:t>relation)</a:t>
            </a:r>
            <a:r>
              <a:rPr lang="zh-TW" altLang="en" dirty="0">
                <a:solidFill>
                  <a:srgbClr val="333333"/>
                </a:solidFill>
                <a:latin typeface="+mn-ea"/>
              </a:rPr>
              <a:t>。</a:t>
            </a:r>
            <a:endParaRPr lang="en-US" altLang="zh-TW" dirty="0">
              <a:solidFill>
                <a:srgbClr val="333333"/>
              </a:solidFill>
              <a:latin typeface="+mn-ea"/>
            </a:endParaRPr>
          </a:p>
          <a:p>
            <a:r>
              <a:rPr lang="zh-TW" altLang="en-US" dirty="0">
                <a:solidFill>
                  <a:srgbClr val="333333"/>
                </a:solidFill>
                <a:latin typeface="+mn-ea"/>
              </a:rPr>
              <a:t>而希望降維後後</a:t>
            </a:r>
            <a:r>
              <a:rPr lang="zh-TW" altLang="en-US" sz="2800" b="0" i="0" dirty="0">
                <a:solidFill>
                  <a:srgbClr val="333333"/>
                </a:solidFill>
                <a:effectLst/>
                <a:latin typeface="+mn-ea"/>
              </a:rPr>
              <a:t>的 </a:t>
            </a:r>
            <a:r>
              <a:rPr lang="en" altLang="zh-TW" sz="2800" b="0" i="0" dirty="0">
                <a:solidFill>
                  <a:srgbClr val="333333"/>
                </a:solidFill>
                <a:effectLst/>
                <a:latin typeface="+mn-ea"/>
              </a:rPr>
              <a:t>z</a:t>
            </a:r>
            <a:r>
              <a:rPr lang="en" altLang="zh-TW" sz="2800" b="0" i="0" baseline="-25000" dirty="0">
                <a:solidFill>
                  <a:srgbClr val="333333"/>
                </a:solidFill>
                <a:effectLst/>
                <a:latin typeface="+mn-ea"/>
              </a:rPr>
              <a:t>i</a:t>
            </a:r>
            <a:r>
              <a:rPr lang="en" altLang="zh-TW" sz="2800" b="0" i="0" dirty="0">
                <a:solidFill>
                  <a:srgbClr val="333333"/>
                </a:solidFill>
                <a:effectLst/>
                <a:latin typeface="+mn-ea"/>
              </a:rPr>
              <a:t> </a:t>
            </a:r>
            <a:r>
              <a:rPr lang="zh-TW" altLang="en-US" sz="2800" b="0" i="0" dirty="0">
                <a:solidFill>
                  <a:srgbClr val="333333"/>
                </a:solidFill>
                <a:effectLst/>
                <a:latin typeface="+mn-ea"/>
              </a:rPr>
              <a:t>與 </a:t>
            </a:r>
            <a:r>
              <a:rPr lang="en" altLang="zh-TW" sz="2800" b="0" i="0" dirty="0" err="1">
                <a:solidFill>
                  <a:srgbClr val="333333"/>
                </a:solidFill>
                <a:effectLst/>
                <a:latin typeface="+mn-ea"/>
              </a:rPr>
              <a:t>z</a:t>
            </a:r>
            <a:r>
              <a:rPr lang="en" altLang="zh-TW" sz="2800" b="0" i="0" baseline="-25000" dirty="0" err="1">
                <a:solidFill>
                  <a:srgbClr val="333333"/>
                </a:solidFill>
                <a:effectLst/>
                <a:latin typeface="+mn-ea"/>
              </a:rPr>
              <a:t>j</a:t>
            </a:r>
            <a:r>
              <a:rPr lang="en" altLang="zh-TW" sz="2800" b="0" i="0" dirty="0">
                <a:solidFill>
                  <a:srgbClr val="333333"/>
                </a:solidFill>
                <a:effectLst/>
                <a:latin typeface="+mn-ea"/>
              </a:rPr>
              <a:t> </a:t>
            </a:r>
            <a:r>
              <a:rPr lang="zh-TW" altLang="en-US" sz="2800" b="0" i="0" dirty="0">
                <a:solidFill>
                  <a:srgbClr val="333333"/>
                </a:solidFill>
                <a:effectLst/>
                <a:latin typeface="+mn-ea"/>
              </a:rPr>
              <a:t>仍保有 </a:t>
            </a:r>
            <a:r>
              <a:rPr lang="en" altLang="zh-TW" sz="2800" b="0" i="0" dirty="0" err="1">
                <a:solidFill>
                  <a:srgbClr val="333333"/>
                </a:solidFill>
                <a:effectLst/>
                <a:latin typeface="+mn-ea"/>
              </a:rPr>
              <a:t>w</a:t>
            </a:r>
            <a:r>
              <a:rPr lang="en" altLang="zh-TW" sz="2800" b="0" i="0" baseline="-25000" dirty="0" err="1">
                <a:solidFill>
                  <a:srgbClr val="333333"/>
                </a:solidFill>
                <a:effectLst/>
                <a:latin typeface="+mn-ea"/>
              </a:rPr>
              <a:t>ij</a:t>
            </a:r>
            <a:r>
              <a:rPr lang="en" altLang="zh-TW" sz="2800" b="0" i="0" dirty="0">
                <a:solidFill>
                  <a:srgbClr val="333333"/>
                </a:solidFill>
                <a:effectLst/>
                <a:latin typeface="+mn-ea"/>
              </a:rPr>
              <a:t> </a:t>
            </a:r>
            <a:r>
              <a:rPr lang="zh-TW" altLang="en-US" sz="2800" b="0" i="0" dirty="0">
                <a:solidFill>
                  <a:srgbClr val="333333"/>
                </a:solidFill>
                <a:effectLst/>
                <a:latin typeface="+mn-ea"/>
              </a:rPr>
              <a:t>這樣的關係，藉此來找出 </a:t>
            </a:r>
            <a:r>
              <a:rPr lang="en" altLang="zh-TW" sz="2800" b="0" i="0" dirty="0">
                <a:solidFill>
                  <a:srgbClr val="333333"/>
                </a:solidFill>
                <a:effectLst/>
                <a:latin typeface="+mn-ea"/>
              </a:rPr>
              <a:t>z</a:t>
            </a:r>
            <a:r>
              <a:rPr lang="en" altLang="zh-TW" sz="2800" b="0" i="0" baseline="-25000" dirty="0">
                <a:solidFill>
                  <a:srgbClr val="333333"/>
                </a:solidFill>
                <a:effectLst/>
                <a:latin typeface="+mn-ea"/>
              </a:rPr>
              <a:t>i</a:t>
            </a:r>
            <a:r>
              <a:rPr lang="en" altLang="zh-TW" sz="2800" b="0" i="0" dirty="0">
                <a:solidFill>
                  <a:srgbClr val="333333"/>
                </a:solidFill>
                <a:effectLst/>
                <a:latin typeface="+mn-ea"/>
              </a:rPr>
              <a:t> </a:t>
            </a:r>
            <a:r>
              <a:rPr lang="zh-TW" altLang="en-US" sz="2800" b="0" i="0" dirty="0">
                <a:solidFill>
                  <a:srgbClr val="333333"/>
                </a:solidFill>
                <a:effectLst/>
                <a:latin typeface="+mn-ea"/>
              </a:rPr>
              <a:t>與 </a:t>
            </a:r>
            <a:r>
              <a:rPr lang="en" altLang="zh-TW" sz="2800" b="0" i="0" dirty="0" err="1">
                <a:solidFill>
                  <a:srgbClr val="333333"/>
                </a:solidFill>
                <a:effectLst/>
                <a:latin typeface="+mn-ea"/>
              </a:rPr>
              <a:t>z</a:t>
            </a:r>
            <a:r>
              <a:rPr lang="en" altLang="zh-TW" sz="2800" b="0" i="0" baseline="-25000" dirty="0" err="1">
                <a:solidFill>
                  <a:srgbClr val="333333"/>
                </a:solidFill>
                <a:effectLst/>
                <a:latin typeface="+mn-ea"/>
              </a:rPr>
              <a:t>j</a:t>
            </a:r>
            <a:r>
              <a:rPr lang="zh-TW" altLang="en" sz="2800" b="0" i="0" dirty="0">
                <a:solidFill>
                  <a:srgbClr val="333333"/>
                </a:solidFill>
                <a:effectLst/>
                <a:latin typeface="+mn-ea"/>
              </a:rPr>
              <a:t>。</a:t>
            </a:r>
            <a:endParaRPr lang="zh-TW" altLang="en-US" sz="2800" dirty="0">
              <a:latin typeface="+mn-ea"/>
            </a:endParaRPr>
          </a:p>
          <a:p>
            <a:endParaRPr kumimoji="1" lang="zh-TW" altLang="en-US" dirty="0"/>
          </a:p>
        </p:txBody>
      </p:sp>
      <p:sp>
        <p:nvSpPr>
          <p:cNvPr id="7" name="文字方塊 6">
            <a:extLst>
              <a:ext uri="{FF2B5EF4-FFF2-40B4-BE49-F238E27FC236}">
                <a16:creationId xmlns:a16="http://schemas.microsoft.com/office/drawing/2014/main" id="{C798D761-18D7-6BF9-C2E9-3FA9BE83FD41}"/>
              </a:ext>
            </a:extLst>
          </p:cNvPr>
          <p:cNvSpPr txBox="1"/>
          <p:nvPr/>
        </p:nvSpPr>
        <p:spPr>
          <a:xfrm>
            <a:off x="336549" y="6488668"/>
            <a:ext cx="6096000" cy="369332"/>
          </a:xfrm>
          <a:prstGeom prst="rect">
            <a:avLst/>
          </a:prstGeom>
          <a:noFill/>
        </p:spPr>
        <p:txBody>
          <a:bodyPr wrap="square">
            <a:spAutoFit/>
          </a:bodyPr>
          <a:lstStyle/>
          <a:p>
            <a:r>
              <a:rPr lang="zh-TW" altLang="en-US" dirty="0"/>
              <a:t>https://hackmd.io/@allen108108/H1KpGZveS</a:t>
            </a:r>
          </a:p>
        </p:txBody>
      </p:sp>
      <p:pic>
        <p:nvPicPr>
          <p:cNvPr id="4" name="Picture 2">
            <a:extLst>
              <a:ext uri="{FF2B5EF4-FFF2-40B4-BE49-F238E27FC236}">
                <a16:creationId xmlns:a16="http://schemas.microsoft.com/office/drawing/2014/main" id="{3C220C9A-B5D0-0DE6-7408-0B8B9C46FA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4549" y="3274083"/>
            <a:ext cx="5560785" cy="3214585"/>
          </a:xfrm>
          <a:prstGeom prst="rect">
            <a:avLst/>
          </a:prstGeom>
          <a:noFill/>
          <a:extLst>
            <a:ext uri="{909E8E84-426E-40DD-AFC4-6F175D3DCCD1}">
              <a14:hiddenFill xmlns:a14="http://schemas.microsoft.com/office/drawing/2010/main">
                <a:solidFill>
                  <a:srgbClr val="FFFFFF"/>
                </a:solidFill>
              </a14:hiddenFill>
            </a:ext>
          </a:extLst>
        </p:spPr>
      </p:pic>
      <p:sp>
        <p:nvSpPr>
          <p:cNvPr id="5" name="向右箭號圖說文字 4">
            <a:extLst>
              <a:ext uri="{FF2B5EF4-FFF2-40B4-BE49-F238E27FC236}">
                <a16:creationId xmlns:a16="http://schemas.microsoft.com/office/drawing/2014/main" id="{76BC04CB-91D6-BC14-B6D8-5ACE68098C90}"/>
              </a:ext>
            </a:extLst>
          </p:cNvPr>
          <p:cNvSpPr/>
          <p:nvPr/>
        </p:nvSpPr>
        <p:spPr>
          <a:xfrm>
            <a:off x="949023" y="4082776"/>
            <a:ext cx="2435526" cy="2250039"/>
          </a:xfrm>
          <a:prstGeom prst="rightArrowCallout">
            <a:avLst>
              <a:gd name="adj1" fmla="val 19866"/>
              <a:gd name="adj2" fmla="val 19867"/>
              <a:gd name="adj3" fmla="val 16873"/>
              <a:gd name="adj4" fmla="val 7801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dirty="0"/>
              <a:t>剛好所有的點都可以是其它點的線性組合這種事基本上不太可能，所以就是求差異「最小化」就可以了</a:t>
            </a:r>
          </a:p>
        </p:txBody>
      </p:sp>
    </p:spTree>
    <p:extLst>
      <p:ext uri="{BB962C8B-B14F-4D97-AF65-F5344CB8AC3E}">
        <p14:creationId xmlns:p14="http://schemas.microsoft.com/office/powerpoint/2010/main" val="39670684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158F11-911C-7C33-E4AD-9DA1C7E33ABC}"/>
              </a:ext>
            </a:extLst>
          </p:cNvPr>
          <p:cNvSpPr>
            <a:spLocks noGrp="1"/>
          </p:cNvSpPr>
          <p:nvPr>
            <p:ph type="title"/>
          </p:nvPr>
        </p:nvSpPr>
        <p:spPr/>
        <p:txBody>
          <a:bodyPr/>
          <a:lstStyle/>
          <a:p>
            <a:r>
              <a:rPr lang="en" altLang="zh-TW" dirty="0"/>
              <a:t>Locally Linear Embedding (LLE)</a:t>
            </a:r>
            <a:endParaRPr kumimoji="1" lang="zh-TW" altLang="en-US" dirty="0"/>
          </a:p>
        </p:txBody>
      </p:sp>
      <p:sp>
        <p:nvSpPr>
          <p:cNvPr id="3" name="內容版面配置區 2">
            <a:extLst>
              <a:ext uri="{FF2B5EF4-FFF2-40B4-BE49-F238E27FC236}">
                <a16:creationId xmlns:a16="http://schemas.microsoft.com/office/drawing/2014/main" id="{E070BA23-79C1-1143-4E07-9AD2B740F108}"/>
              </a:ext>
            </a:extLst>
          </p:cNvPr>
          <p:cNvSpPr>
            <a:spLocks noGrp="1"/>
          </p:cNvSpPr>
          <p:nvPr>
            <p:ph idx="1"/>
          </p:nvPr>
        </p:nvSpPr>
        <p:spPr/>
        <p:txBody>
          <a:bodyPr>
            <a:normAutofit/>
          </a:bodyPr>
          <a:lstStyle/>
          <a:p>
            <a:r>
              <a:rPr kumimoji="1" lang="zh-TW" altLang="en-US" dirty="0">
                <a:latin typeface="Times New Roman" panose="02020603050405020304" pitchFamily="18" charset="0"/>
                <a:ea typeface="微軟正黑體" panose="020B0604030504040204" pitchFamily="34" charset="-120"/>
              </a:rPr>
              <a:t>要解決這樣的問題，可以經由兩段最優化過程而得 </a:t>
            </a:r>
            <a:r>
              <a:rPr kumimoji="1" lang="en-US" altLang="zh-TW" dirty="0">
                <a:latin typeface="Times New Roman" panose="02020603050405020304" pitchFamily="18" charset="0"/>
                <a:ea typeface="微軟正黑體" panose="020B0604030504040204" pitchFamily="34" charset="-120"/>
              </a:rPr>
              <a:t>:</a:t>
            </a:r>
          </a:p>
          <a:p>
            <a:r>
              <a:rPr kumimoji="1" lang="en" altLang="zh-TW" dirty="0">
                <a:latin typeface="Times New Roman" panose="02020603050405020304" pitchFamily="18" charset="0"/>
                <a:ea typeface="微軟正黑體" panose="020B0604030504040204" pitchFamily="34" charset="-120"/>
              </a:rPr>
              <a:t>Step 1 : </a:t>
            </a:r>
            <a:r>
              <a:rPr kumimoji="1" lang="zh-TW" altLang="en-US" dirty="0">
                <a:latin typeface="Times New Roman" panose="02020603050405020304" pitchFamily="18" charset="0"/>
                <a:ea typeface="微軟正黑體" panose="020B0604030504040204" pitchFamily="34" charset="-120"/>
              </a:rPr>
              <a:t>周圍 </a:t>
            </a:r>
            <a:r>
              <a:rPr kumimoji="1" lang="en" altLang="zh-TW" dirty="0">
                <a:latin typeface="Times New Roman" panose="02020603050405020304" pitchFamily="18" charset="0"/>
                <a:ea typeface="微軟正黑體" panose="020B0604030504040204" pitchFamily="34" charset="-120"/>
              </a:rPr>
              <a:t>k</a:t>
            </a:r>
            <a:r>
              <a:rPr kumimoji="1" lang="zh-TW" altLang="en-US" dirty="0">
                <a:latin typeface="Times New Roman" panose="02020603050405020304" pitchFamily="18" charset="0"/>
                <a:ea typeface="微軟正黑體" panose="020B0604030504040204" pitchFamily="34" charset="-120"/>
              </a:rPr>
              <a:t> </a:t>
            </a:r>
            <a:r>
              <a:rPr kumimoji="1" lang="en" altLang="zh-TW" dirty="0">
                <a:latin typeface="Times New Roman" panose="02020603050405020304" pitchFamily="18" charset="0"/>
                <a:ea typeface="微軟正黑體" panose="020B0604030504040204" pitchFamily="34" charset="-120"/>
              </a:rPr>
              <a:t> </a:t>
            </a:r>
            <a:r>
              <a:rPr kumimoji="1" lang="zh-TW" altLang="en-US" dirty="0">
                <a:latin typeface="Times New Roman" panose="02020603050405020304" pitchFamily="18" charset="0"/>
                <a:ea typeface="微軟正黑體" panose="020B0604030504040204" pitchFamily="34" charset="-120"/>
              </a:rPr>
              <a:t>個資料點</a:t>
            </a:r>
            <a:r>
              <a:rPr kumimoji="1" lang="en-US" altLang="zh-TW" dirty="0">
                <a:latin typeface="Times New Roman" panose="02020603050405020304" pitchFamily="18" charset="0"/>
                <a:ea typeface="微軟正黑體" panose="020B0604030504040204" pitchFamily="34" charset="-120"/>
              </a:rPr>
              <a:t>(</a:t>
            </a:r>
            <a:r>
              <a:rPr lang="en" altLang="zh-TW" dirty="0" err="1"/>
              <a:t>n_neighbors</a:t>
            </a:r>
            <a:r>
              <a:rPr lang="en-US" altLang="zh-TW" dirty="0"/>
              <a:t>)</a:t>
            </a:r>
            <a:r>
              <a:rPr kumimoji="1" lang="zh-TW" altLang="en-US" dirty="0">
                <a:latin typeface="Times New Roman" panose="02020603050405020304" pitchFamily="18" charset="0"/>
                <a:ea typeface="微軟正黑體" panose="020B0604030504040204" pitchFamily="34" charset="-120"/>
              </a:rPr>
              <a:t>線性組合後的向量與 </a:t>
            </a:r>
            <a:r>
              <a:rPr kumimoji="1" lang="en-US" altLang="zh-TW" dirty="0">
                <a:latin typeface="Times New Roman" panose="02020603050405020304" pitchFamily="18" charset="0"/>
                <a:ea typeface="微軟正黑體" panose="020B0604030504040204" pitchFamily="34" charset="-120"/>
              </a:rPr>
              <a:t>x</a:t>
            </a:r>
            <a:r>
              <a:rPr kumimoji="1" lang="en-US" altLang="zh-TW" baseline="-25000" dirty="0">
                <a:latin typeface="Times New Roman" panose="02020603050405020304" pitchFamily="18" charset="0"/>
                <a:ea typeface="微軟正黑體" panose="020B0604030504040204" pitchFamily="34" charset="-120"/>
              </a:rPr>
              <a:t>i</a:t>
            </a:r>
            <a:r>
              <a:rPr kumimoji="1" lang="en" altLang="zh-TW" dirty="0">
                <a:latin typeface="Times New Roman" panose="02020603050405020304" pitchFamily="18" charset="0"/>
                <a:ea typeface="微軟正黑體" panose="020B0604030504040204" pitchFamily="34" charset="-120"/>
              </a:rPr>
              <a:t> </a:t>
            </a:r>
            <a:r>
              <a:rPr kumimoji="1" lang="zh-TW" altLang="en-US" dirty="0">
                <a:latin typeface="Times New Roman" panose="02020603050405020304" pitchFamily="18" charset="0"/>
                <a:ea typeface="微軟正黑體" panose="020B0604030504040204" pitchFamily="34" charset="-120"/>
              </a:rPr>
              <a:t>的差距 </a:t>
            </a:r>
            <a:r>
              <a:rPr kumimoji="1" lang="en-US" altLang="zh-TW" dirty="0">
                <a:latin typeface="Times New Roman" panose="02020603050405020304" pitchFamily="18" charset="0"/>
                <a:ea typeface="微軟正黑體" panose="020B0604030504040204" pitchFamily="34" charset="-120"/>
              </a:rPr>
              <a:t>(2-</a:t>
            </a:r>
            <a:r>
              <a:rPr kumimoji="1" lang="en" altLang="zh-TW" dirty="0">
                <a:latin typeface="Times New Roman" panose="02020603050405020304" pitchFamily="18" charset="0"/>
                <a:ea typeface="微軟正黑體" panose="020B0604030504040204" pitchFamily="34" charset="-120"/>
              </a:rPr>
              <a:t>norm) </a:t>
            </a:r>
            <a:r>
              <a:rPr kumimoji="1" lang="zh-TW" altLang="en-US" dirty="0">
                <a:latin typeface="Times New Roman" panose="02020603050405020304" pitchFamily="18" charset="0"/>
                <a:ea typeface="微軟正黑體" panose="020B0604030504040204" pitchFamily="34" charset="-120"/>
              </a:rPr>
              <a:t>最小化找出 </a:t>
            </a:r>
            <a:r>
              <a:rPr kumimoji="1" lang="en-US" altLang="zh-TW" dirty="0" err="1">
                <a:latin typeface="Times New Roman" panose="02020603050405020304" pitchFamily="18" charset="0"/>
                <a:ea typeface="微軟正黑體" panose="020B0604030504040204" pitchFamily="34" charset="-120"/>
              </a:rPr>
              <a:t>w</a:t>
            </a:r>
            <a:r>
              <a:rPr kumimoji="1" lang="en-US" altLang="zh-TW" baseline="-25000" dirty="0" err="1">
                <a:latin typeface="Times New Roman" panose="02020603050405020304" pitchFamily="18" charset="0"/>
                <a:ea typeface="微軟正黑體" panose="020B0604030504040204" pitchFamily="34" charset="-120"/>
              </a:rPr>
              <a:t>ij</a:t>
            </a:r>
            <a:endParaRPr kumimoji="1" lang="en-US" altLang="zh-TW" baseline="-25000" dirty="0">
              <a:latin typeface="Times New Roman" panose="02020603050405020304" pitchFamily="18" charset="0"/>
              <a:ea typeface="微軟正黑體" panose="020B0604030504040204" pitchFamily="34" charset="-120"/>
            </a:endParaRPr>
          </a:p>
          <a:p>
            <a:r>
              <a:rPr kumimoji="1" lang="en" altLang="zh-TW" dirty="0">
                <a:latin typeface="Times New Roman" panose="02020603050405020304" pitchFamily="18" charset="0"/>
                <a:ea typeface="微軟正黑體" panose="020B0604030504040204" pitchFamily="34" charset="-120"/>
              </a:rPr>
              <a:t>Step 2 : </a:t>
            </a:r>
            <a:r>
              <a:rPr kumimoji="1" lang="zh-TW" altLang="en-US" dirty="0">
                <a:latin typeface="Times New Roman" panose="02020603050405020304" pitchFamily="18" charset="0"/>
                <a:ea typeface="微軟正黑體" panose="020B0604030504040204" pitchFamily="34" charset="-120"/>
              </a:rPr>
              <a:t>利用周圍 </a:t>
            </a:r>
            <a:r>
              <a:rPr kumimoji="1" lang="en" altLang="zh-TW" dirty="0">
                <a:latin typeface="Times New Roman" panose="02020603050405020304" pitchFamily="18" charset="0"/>
                <a:ea typeface="微軟正黑體" panose="020B0604030504040204" pitchFamily="34" charset="-120"/>
              </a:rPr>
              <a:t>k </a:t>
            </a:r>
            <a:r>
              <a:rPr kumimoji="1" lang="zh-TW" altLang="en-US" dirty="0">
                <a:latin typeface="Times New Roman" panose="02020603050405020304" pitchFamily="18" charset="0"/>
                <a:ea typeface="微軟正黑體" panose="020B0604030504040204" pitchFamily="34" charset="-120"/>
              </a:rPr>
              <a:t>個資料點線性組合 </a:t>
            </a:r>
            <a:r>
              <a:rPr kumimoji="1" lang="en-US" altLang="zh-TW" dirty="0">
                <a:latin typeface="Times New Roman" panose="02020603050405020304" pitchFamily="18" charset="0"/>
                <a:ea typeface="微軟正黑體" panose="020B0604030504040204" pitchFamily="34" charset="-120"/>
              </a:rPr>
              <a:t>( </a:t>
            </a:r>
            <a:r>
              <a:rPr kumimoji="1" lang="zh-TW" altLang="en-US" u="sng" dirty="0">
                <a:latin typeface="Times New Roman" panose="02020603050405020304" pitchFamily="18" charset="0"/>
                <a:ea typeface="微軟正黑體" panose="020B0604030504040204" pitchFamily="34" charset="-120"/>
              </a:rPr>
              <a:t>共用相同的 </a:t>
            </a:r>
            <a:r>
              <a:rPr kumimoji="1" lang="en-US" altLang="zh-TW" u="sng" dirty="0" err="1">
                <a:latin typeface="Times New Roman" panose="02020603050405020304" pitchFamily="18" charset="0"/>
                <a:ea typeface="微軟正黑體" panose="020B0604030504040204" pitchFamily="34" charset="-120"/>
              </a:rPr>
              <a:t>w</a:t>
            </a:r>
            <a:r>
              <a:rPr kumimoji="1" lang="en-US" altLang="zh-TW" u="sng" baseline="-25000" dirty="0" err="1">
                <a:latin typeface="Times New Roman" panose="02020603050405020304" pitchFamily="18" charset="0"/>
                <a:ea typeface="微軟正黑體" panose="020B0604030504040204" pitchFamily="34" charset="-120"/>
              </a:rPr>
              <a:t>ij</a:t>
            </a:r>
            <a:r>
              <a:rPr kumimoji="1" lang="en-US" altLang="zh-TW" dirty="0">
                <a:latin typeface="Times New Roman" panose="02020603050405020304" pitchFamily="18" charset="0"/>
                <a:ea typeface="微軟正黑體" panose="020B0604030504040204" pitchFamily="34" charset="-120"/>
              </a:rPr>
              <a:t>) </a:t>
            </a:r>
            <a:r>
              <a:rPr kumimoji="1" lang="zh-TW" altLang="en-US" dirty="0">
                <a:latin typeface="Times New Roman" panose="02020603050405020304" pitchFamily="18" charset="0"/>
                <a:ea typeface="微軟正黑體" panose="020B0604030504040204" pitchFamily="34" charset="-120"/>
              </a:rPr>
              <a:t>後的向量與</a:t>
            </a:r>
            <a:r>
              <a:rPr kumimoji="1" lang="en-US" altLang="zh-TW" dirty="0">
                <a:latin typeface="Times New Roman" panose="02020603050405020304" pitchFamily="18" charset="0"/>
                <a:ea typeface="微軟正黑體" panose="020B0604030504040204" pitchFamily="34" charset="-120"/>
              </a:rPr>
              <a:t>z</a:t>
            </a:r>
            <a:r>
              <a:rPr kumimoji="1" lang="en-US" altLang="zh-TW" baseline="-25000" dirty="0">
                <a:latin typeface="Times New Roman" panose="02020603050405020304" pitchFamily="18" charset="0"/>
                <a:ea typeface="微軟正黑體" panose="020B0604030504040204" pitchFamily="34" charset="-120"/>
              </a:rPr>
              <a:t>i</a:t>
            </a:r>
            <a:r>
              <a:rPr kumimoji="1" lang="zh-TW" altLang="en-US" dirty="0">
                <a:latin typeface="Times New Roman" panose="02020603050405020304" pitchFamily="18" charset="0"/>
                <a:ea typeface="微軟正黑體" panose="020B0604030504040204" pitchFamily="34" charset="-120"/>
              </a:rPr>
              <a:t> 的差距 </a:t>
            </a:r>
            <a:r>
              <a:rPr kumimoji="1" lang="en-US" altLang="zh-TW" dirty="0">
                <a:latin typeface="Times New Roman" panose="02020603050405020304" pitchFamily="18" charset="0"/>
                <a:ea typeface="微軟正黑體" panose="020B0604030504040204" pitchFamily="34" charset="-120"/>
              </a:rPr>
              <a:t>(2-</a:t>
            </a:r>
            <a:r>
              <a:rPr kumimoji="1" lang="en" altLang="zh-TW" dirty="0">
                <a:latin typeface="Times New Roman" panose="02020603050405020304" pitchFamily="18" charset="0"/>
                <a:ea typeface="微軟正黑體" panose="020B0604030504040204" pitchFamily="34" charset="-120"/>
              </a:rPr>
              <a:t>norm) </a:t>
            </a:r>
            <a:r>
              <a:rPr kumimoji="1" lang="zh-TW" altLang="en-US" dirty="0">
                <a:latin typeface="Times New Roman" panose="02020603050405020304" pitchFamily="18" charset="0"/>
                <a:ea typeface="微軟正黑體" panose="020B0604030504040204" pitchFamily="34" charset="-120"/>
              </a:rPr>
              <a:t>最小化找出 </a:t>
            </a:r>
            <a:r>
              <a:rPr kumimoji="1" lang="en" altLang="zh-TW" dirty="0">
                <a:latin typeface="Times New Roman" panose="02020603050405020304" pitchFamily="18" charset="0"/>
                <a:ea typeface="微軟正黑體" panose="020B0604030504040204" pitchFamily="34" charset="-120"/>
              </a:rPr>
              <a:t>z-set</a:t>
            </a:r>
          </a:p>
          <a:p>
            <a:r>
              <a:rPr lang="zh-TW" altLang="en-US" dirty="0">
                <a:latin typeface="Times New Roman" panose="02020603050405020304" pitchFamily="18" charset="0"/>
                <a:ea typeface="微軟正黑體" panose="020B0604030504040204" pitchFamily="34" charset="-120"/>
              </a:rPr>
              <a:t>意思就是根據鄰居 </a:t>
            </a:r>
            <a:r>
              <a:rPr lang="en" altLang="zh-TW" dirty="0">
                <a:latin typeface="Times New Roman" panose="02020603050405020304" pitchFamily="18" charset="0"/>
                <a:ea typeface="微軟正黑體" panose="020B0604030504040204" pitchFamily="34" charset="-120"/>
              </a:rPr>
              <a:t>neighbors </a:t>
            </a:r>
            <a:r>
              <a:rPr lang="zh-TW" altLang="en-US" dirty="0">
                <a:latin typeface="Times New Roman" panose="02020603050405020304" pitchFamily="18" charset="0"/>
                <a:ea typeface="微軟正黑體" panose="020B0604030504040204" pitchFamily="34" charset="-120"/>
              </a:rPr>
              <a:t>的相對關係，使得資料點由高維度的複雜曲面投射到低維度的平面，且仍然</a:t>
            </a:r>
            <a:r>
              <a:rPr lang="zh-TW" altLang="en-US" u="sng" dirty="0">
                <a:latin typeface="Times New Roman" panose="02020603050405020304" pitchFamily="18" charset="0"/>
                <a:ea typeface="微軟正黑體" panose="020B0604030504040204" pitchFamily="34" charset="-120"/>
              </a:rPr>
              <a:t>維持點與點</a:t>
            </a:r>
            <a:r>
              <a:rPr lang="zh-TW" altLang="en-US" dirty="0">
                <a:latin typeface="Times New Roman" panose="02020603050405020304" pitchFamily="18" charset="0"/>
                <a:ea typeface="微軟正黑體" panose="020B0604030504040204" pitchFamily="34" charset="-120"/>
              </a:rPr>
              <a:t>的相對位置</a:t>
            </a:r>
            <a:endParaRPr kumimoji="1" lang="en" altLang="zh-TW" dirty="0">
              <a:latin typeface="Times New Roman" panose="02020603050405020304" pitchFamily="18" charset="0"/>
              <a:ea typeface="微軟正黑體" panose="020B0604030504040204" pitchFamily="34" charset="-120"/>
            </a:endParaRPr>
          </a:p>
          <a:p>
            <a:r>
              <a:rPr kumimoji="1" lang="zh-TW" altLang="en-US" dirty="0">
                <a:latin typeface="Times New Roman" panose="02020603050405020304" pitchFamily="18" charset="0"/>
                <a:ea typeface="微軟正黑體" panose="020B0604030504040204" pitchFamily="34" charset="-120"/>
              </a:rPr>
              <a:t>轉換的優劣其實取決於 </a:t>
            </a:r>
            <a:r>
              <a:rPr kumimoji="1" lang="en" altLang="zh-TW" dirty="0">
                <a:latin typeface="Times New Roman" panose="02020603050405020304" pitchFamily="18" charset="0"/>
                <a:ea typeface="微軟正黑體" panose="020B0604030504040204" pitchFamily="34" charset="-120"/>
              </a:rPr>
              <a:t>k</a:t>
            </a:r>
            <a:r>
              <a:rPr kumimoji="1" lang="zh-TW" altLang="en-US" dirty="0">
                <a:latin typeface="Times New Roman" panose="02020603050405020304" pitchFamily="18" charset="0"/>
                <a:ea typeface="微軟正黑體" panose="020B0604030504040204" pitchFamily="34" charset="-120"/>
              </a:rPr>
              <a:t>值。</a:t>
            </a:r>
          </a:p>
        </p:txBody>
      </p:sp>
      <p:sp>
        <p:nvSpPr>
          <p:cNvPr id="5" name="文字方塊 4">
            <a:extLst>
              <a:ext uri="{FF2B5EF4-FFF2-40B4-BE49-F238E27FC236}">
                <a16:creationId xmlns:a16="http://schemas.microsoft.com/office/drawing/2014/main" id="{03757581-EF19-E154-23CC-319320A0117C}"/>
              </a:ext>
            </a:extLst>
          </p:cNvPr>
          <p:cNvSpPr txBox="1"/>
          <p:nvPr/>
        </p:nvSpPr>
        <p:spPr>
          <a:xfrm>
            <a:off x="603985" y="6031210"/>
            <a:ext cx="8617017" cy="584775"/>
          </a:xfrm>
          <a:prstGeom prst="rect">
            <a:avLst/>
          </a:prstGeom>
          <a:noFill/>
        </p:spPr>
        <p:txBody>
          <a:bodyPr wrap="square">
            <a:spAutoFit/>
          </a:bodyPr>
          <a:lstStyle/>
          <a:p>
            <a:r>
              <a:rPr lang="en" altLang="zh-TW" sz="1600" dirty="0">
                <a:latin typeface="Microsoft JhengHei" panose="020B0604030504040204" pitchFamily="34" charset="-120"/>
                <a:ea typeface="Microsoft JhengHei" panose="020B0604030504040204" pitchFamily="34" charset="-120"/>
                <a:hlinkClick r:id="rId2"/>
              </a:rPr>
              <a:t>https://tomohiroliu22.medium.com/</a:t>
            </a:r>
            <a:r>
              <a:rPr lang="zh-TW" altLang="en-US" sz="1600" dirty="0">
                <a:latin typeface="Microsoft JhengHei" panose="020B0604030504040204" pitchFamily="34" charset="-120"/>
                <a:ea typeface="Microsoft JhengHei" panose="020B0604030504040204" pitchFamily="34" charset="-120"/>
                <a:hlinkClick r:id="rId2"/>
              </a:rPr>
              <a:t>機器學習</a:t>
            </a:r>
            <a:r>
              <a:rPr lang="en-US" altLang="zh-TW" sz="1600" dirty="0">
                <a:latin typeface="Microsoft JhengHei" panose="020B0604030504040204" pitchFamily="34" charset="-120"/>
                <a:ea typeface="Microsoft JhengHei" panose="020B0604030504040204" pitchFamily="34" charset="-120"/>
                <a:hlinkClick r:id="rId2"/>
              </a:rPr>
              <a:t>-</a:t>
            </a:r>
            <a:r>
              <a:rPr lang="zh-TW" altLang="en-US" sz="1600" dirty="0">
                <a:latin typeface="Microsoft JhengHei" panose="020B0604030504040204" pitchFamily="34" charset="-120"/>
                <a:ea typeface="Microsoft JhengHei" panose="020B0604030504040204" pitchFamily="34" charset="-120"/>
                <a:hlinkClick r:id="rId2"/>
              </a:rPr>
              <a:t>學習筆記系列</a:t>
            </a:r>
            <a:r>
              <a:rPr lang="en-US" altLang="zh-TW" sz="1600" dirty="0">
                <a:latin typeface="Microsoft JhengHei" panose="020B0604030504040204" pitchFamily="34" charset="-120"/>
                <a:ea typeface="Microsoft JhengHei" panose="020B0604030504040204" pitchFamily="34" charset="-120"/>
                <a:hlinkClick r:id="rId2"/>
              </a:rPr>
              <a:t>-</a:t>
            </a:r>
            <a:br>
              <a:rPr lang="en-US" altLang="zh-TW" sz="1600" dirty="0">
                <a:latin typeface="Microsoft JhengHei" panose="020B0604030504040204" pitchFamily="34" charset="-120"/>
                <a:ea typeface="Microsoft JhengHei" panose="020B0604030504040204" pitchFamily="34" charset="-120"/>
                <a:hlinkClick r:id="rId2"/>
              </a:rPr>
            </a:br>
            <a:r>
              <a:rPr lang="en-US" altLang="zh-TW" sz="1600" dirty="0">
                <a:latin typeface="Microsoft JhengHei" panose="020B0604030504040204" pitchFamily="34" charset="-120"/>
                <a:ea typeface="Microsoft JhengHei" panose="020B0604030504040204" pitchFamily="34" charset="-120"/>
                <a:hlinkClick r:id="rId2"/>
              </a:rPr>
              <a:t>73-</a:t>
            </a:r>
            <a:r>
              <a:rPr lang="zh-TW" altLang="en-US" sz="1600" dirty="0">
                <a:latin typeface="Microsoft JhengHei" panose="020B0604030504040204" pitchFamily="34" charset="-120"/>
                <a:ea typeface="Microsoft JhengHei" panose="020B0604030504040204" pitchFamily="34" charset="-120"/>
                <a:hlinkClick r:id="rId2"/>
              </a:rPr>
              <a:t>局部線性嵌入演算法</a:t>
            </a:r>
            <a:r>
              <a:rPr lang="en-US" altLang="zh-TW" sz="1600" dirty="0">
                <a:latin typeface="Microsoft JhengHei" panose="020B0604030504040204" pitchFamily="34" charset="-120"/>
                <a:ea typeface="Microsoft JhengHei" panose="020B0604030504040204" pitchFamily="34" charset="-120"/>
                <a:hlinkClick r:id="rId2"/>
              </a:rPr>
              <a:t>-</a:t>
            </a:r>
            <a:r>
              <a:rPr lang="en" altLang="zh-TW" sz="1600" dirty="0">
                <a:latin typeface="Microsoft JhengHei" panose="020B0604030504040204" pitchFamily="34" charset="-120"/>
                <a:ea typeface="Microsoft JhengHei" panose="020B0604030504040204" pitchFamily="34" charset="-120"/>
                <a:hlinkClick r:id="rId2"/>
              </a:rPr>
              <a:t>locally-linear-embedding-66082ab586b1</a:t>
            </a:r>
            <a:endParaRPr lang="en" altLang="zh-TW" sz="1600" dirty="0">
              <a:latin typeface="Microsoft JhengHei" panose="020B0604030504040204" pitchFamily="34" charset="-120"/>
              <a:ea typeface="Microsoft JhengHei" panose="020B0604030504040204" pitchFamily="34" charset="-120"/>
            </a:endParaRPr>
          </a:p>
        </p:txBody>
      </p:sp>
      <p:sp>
        <p:nvSpPr>
          <p:cNvPr id="6" name="文字方塊 5">
            <a:extLst>
              <a:ext uri="{FF2B5EF4-FFF2-40B4-BE49-F238E27FC236}">
                <a16:creationId xmlns:a16="http://schemas.microsoft.com/office/drawing/2014/main" id="{37E38D5D-EF05-6607-C5F5-97333AC7446D}"/>
              </a:ext>
            </a:extLst>
          </p:cNvPr>
          <p:cNvSpPr txBox="1"/>
          <p:nvPr/>
        </p:nvSpPr>
        <p:spPr>
          <a:xfrm>
            <a:off x="603985" y="5661878"/>
            <a:ext cx="6099586" cy="338554"/>
          </a:xfrm>
          <a:prstGeom prst="rect">
            <a:avLst/>
          </a:prstGeom>
          <a:noFill/>
        </p:spPr>
        <p:txBody>
          <a:bodyPr wrap="square">
            <a:spAutoFit/>
          </a:bodyPr>
          <a:lstStyle/>
          <a:p>
            <a:r>
              <a:rPr lang="zh-TW" altLang="en-US" sz="1600" dirty="0">
                <a:latin typeface="Microsoft JhengHei" panose="020B0604030504040204" pitchFamily="34" charset="-120"/>
                <a:ea typeface="Microsoft JhengHei" panose="020B0604030504040204" pitchFamily="34" charset="-120"/>
                <a:hlinkClick r:id="rId3"/>
              </a:rPr>
              <a:t>https://hackmd.io/@allen108108/H1KpGZveS</a:t>
            </a:r>
            <a:endParaRPr lang="zh-TW" altLang="en-US" sz="1600" dirty="0">
              <a:latin typeface="Microsoft JhengHei" panose="020B0604030504040204" pitchFamily="34" charset="-120"/>
              <a:ea typeface="Microsoft JhengHei" panose="020B0604030504040204" pitchFamily="34" charset="-120"/>
            </a:endParaRPr>
          </a:p>
        </p:txBody>
      </p:sp>
      <p:pic>
        <p:nvPicPr>
          <p:cNvPr id="1026" name="Picture 2">
            <a:extLst>
              <a:ext uri="{FF2B5EF4-FFF2-40B4-BE49-F238E27FC236}">
                <a16:creationId xmlns:a16="http://schemas.microsoft.com/office/drawing/2014/main" id="{A8F7C431-0D9F-41F5-AFA2-FB4AEBA9482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7337" b="10267"/>
          <a:stretch/>
        </p:blipFill>
        <p:spPr bwMode="auto">
          <a:xfrm>
            <a:off x="7035913" y="5120640"/>
            <a:ext cx="4317887" cy="149534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09781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6DDF09-BDA8-52D7-9410-C5A408CC32AE}"/>
              </a:ext>
            </a:extLst>
          </p:cNvPr>
          <p:cNvSpPr>
            <a:spLocks noGrp="1"/>
          </p:cNvSpPr>
          <p:nvPr>
            <p:ph type="title"/>
          </p:nvPr>
        </p:nvSpPr>
        <p:spPr/>
        <p:txBody>
          <a:bodyPr/>
          <a:lstStyle/>
          <a:p>
            <a:r>
              <a:rPr lang="en" altLang="zh-TW" dirty="0"/>
              <a:t>Locally Linear Embedding (LLE)</a:t>
            </a:r>
            <a:endParaRPr kumimoji="1" lang="zh-TW" altLang="en-US" dirty="0"/>
          </a:p>
        </p:txBody>
      </p:sp>
      <p:sp>
        <p:nvSpPr>
          <p:cNvPr id="3" name="內容版面配置區 2">
            <a:extLst>
              <a:ext uri="{FF2B5EF4-FFF2-40B4-BE49-F238E27FC236}">
                <a16:creationId xmlns:a16="http://schemas.microsoft.com/office/drawing/2014/main" id="{46C65EAE-3E95-455D-766A-7E63B98FDE08}"/>
              </a:ext>
            </a:extLst>
          </p:cNvPr>
          <p:cNvSpPr>
            <a:spLocks noGrp="1"/>
          </p:cNvSpPr>
          <p:nvPr>
            <p:ph idx="1"/>
          </p:nvPr>
        </p:nvSpPr>
        <p:spPr>
          <a:xfrm>
            <a:off x="838200" y="1825625"/>
            <a:ext cx="4841395" cy="4667250"/>
          </a:xfrm>
        </p:spPr>
        <p:txBody>
          <a:bodyPr>
            <a:normAutofit fontScale="70000" lnSpcReduction="20000"/>
          </a:bodyPr>
          <a:lstStyle/>
          <a:p>
            <a:pPr>
              <a:lnSpc>
                <a:spcPct val="120000"/>
              </a:lnSpc>
              <a:buFont typeface="+mj-lt"/>
              <a:buAutoNum type="arabicPeriod"/>
            </a:pPr>
            <a:r>
              <a:rPr lang="zh-TW" altLang="en-US" dirty="0">
                <a:latin typeface="Microsoft JhengHei" panose="020B0604030504040204" pitchFamily="34" charset="-120"/>
                <a:ea typeface="Microsoft JhengHei" panose="020B0604030504040204" pitchFamily="34" charset="-120"/>
              </a:rPr>
              <a:t>當</a:t>
            </a:r>
            <a:r>
              <a:rPr lang="en" altLang="zh-TW" dirty="0" err="1">
                <a:latin typeface="Microsoft JhengHei" panose="020B0604030504040204" pitchFamily="34" charset="-120"/>
                <a:ea typeface="Microsoft JhengHei" panose="020B0604030504040204" pitchFamily="34" charset="-120"/>
              </a:rPr>
              <a:t>n_neighbors</a:t>
            </a:r>
            <a:r>
              <a:rPr lang="zh-TW" altLang="en-US" dirty="0">
                <a:latin typeface="Microsoft JhengHei" panose="020B0604030504040204" pitchFamily="34" charset="-120"/>
                <a:ea typeface="Microsoft JhengHei" panose="020B0604030504040204" pitchFamily="34" charset="-120"/>
              </a:rPr>
              <a:t>較小時（如</a:t>
            </a:r>
            <a:r>
              <a:rPr lang="en-US" altLang="zh-TW" dirty="0">
                <a:latin typeface="Microsoft JhengHei" panose="020B0604030504040204" pitchFamily="34" charset="-120"/>
                <a:ea typeface="Microsoft JhengHei" panose="020B0604030504040204" pitchFamily="34" charset="-120"/>
              </a:rPr>
              <a:t>5</a:t>
            </a:r>
            <a:r>
              <a:rPr lang="zh-TW" altLang="en-US" dirty="0">
                <a:latin typeface="Microsoft JhengHei" panose="020B0604030504040204" pitchFamily="34" charset="-120"/>
                <a:ea typeface="Microsoft JhengHei" panose="020B0604030504040204" pitchFamily="34" charset="-120"/>
              </a:rPr>
              <a:t>）： </a:t>
            </a:r>
          </a:p>
          <a:p>
            <a:pPr marL="742950" lvl="1" indent="-285750">
              <a:lnSpc>
                <a:spcPct val="120000"/>
              </a:lnSpc>
              <a:buFont typeface="+mj-lt"/>
              <a:buAutoNum type="arabicPeriod"/>
            </a:pPr>
            <a:r>
              <a:rPr lang="zh-TW" altLang="en-US" dirty="0">
                <a:latin typeface="Microsoft JhengHei" panose="020B0604030504040204" pitchFamily="34" charset="-120"/>
                <a:ea typeface="Microsoft JhengHei" panose="020B0604030504040204" pitchFamily="34" charset="-120"/>
              </a:rPr>
              <a:t>保留了更多局部結構</a:t>
            </a:r>
          </a:p>
          <a:p>
            <a:pPr marL="742950" lvl="1" indent="-285750">
              <a:lnSpc>
                <a:spcPct val="120000"/>
              </a:lnSpc>
              <a:buFont typeface="+mj-lt"/>
              <a:buAutoNum type="arabicPeriod"/>
            </a:pPr>
            <a:r>
              <a:rPr lang="zh-TW" altLang="en-US" dirty="0">
                <a:latin typeface="Microsoft JhengHei" panose="020B0604030504040204" pitchFamily="34" charset="-120"/>
                <a:ea typeface="Microsoft JhengHei" panose="020B0604030504040204" pitchFamily="34" charset="-120"/>
              </a:rPr>
              <a:t>可能會出現碎片化現象</a:t>
            </a:r>
          </a:p>
          <a:p>
            <a:pPr>
              <a:lnSpc>
                <a:spcPct val="120000"/>
              </a:lnSpc>
              <a:buFont typeface="+mj-lt"/>
              <a:buAutoNum type="arabicPeriod"/>
            </a:pPr>
            <a:r>
              <a:rPr lang="zh-TW" altLang="en-US" dirty="0">
                <a:latin typeface="Microsoft JhengHei" panose="020B0604030504040204" pitchFamily="34" charset="-120"/>
                <a:ea typeface="Microsoft JhengHei" panose="020B0604030504040204" pitchFamily="34" charset="-120"/>
              </a:rPr>
              <a:t>當</a:t>
            </a:r>
            <a:r>
              <a:rPr lang="en" altLang="zh-TW" dirty="0" err="1">
                <a:latin typeface="Microsoft JhengHei" panose="020B0604030504040204" pitchFamily="34" charset="-120"/>
                <a:ea typeface="Microsoft JhengHei" panose="020B0604030504040204" pitchFamily="34" charset="-120"/>
              </a:rPr>
              <a:t>n_neighbors</a:t>
            </a:r>
            <a:r>
              <a:rPr lang="zh-TW" altLang="en-US" dirty="0">
                <a:latin typeface="Microsoft JhengHei" panose="020B0604030504040204" pitchFamily="34" charset="-120"/>
                <a:ea typeface="Microsoft JhengHei" panose="020B0604030504040204" pitchFamily="34" charset="-120"/>
              </a:rPr>
              <a:t>較大時（如</a:t>
            </a:r>
            <a:r>
              <a:rPr lang="en-US" altLang="zh-TW" dirty="0">
                <a:latin typeface="Microsoft JhengHei" panose="020B0604030504040204" pitchFamily="34" charset="-120"/>
                <a:ea typeface="Microsoft JhengHei" panose="020B0604030504040204" pitchFamily="34" charset="-120"/>
              </a:rPr>
              <a:t>30</a:t>
            </a:r>
            <a:r>
              <a:rPr lang="zh-TW" altLang="en-US" dirty="0">
                <a:latin typeface="Microsoft JhengHei" panose="020B0604030504040204" pitchFamily="34" charset="-120"/>
                <a:ea typeface="Microsoft JhengHei" panose="020B0604030504040204" pitchFamily="34" charset="-120"/>
              </a:rPr>
              <a:t>）： </a:t>
            </a:r>
          </a:p>
          <a:p>
            <a:pPr marL="742950" lvl="1" indent="-285750">
              <a:lnSpc>
                <a:spcPct val="120000"/>
              </a:lnSpc>
              <a:buFont typeface="+mj-lt"/>
              <a:buAutoNum type="arabicPeriod"/>
            </a:pPr>
            <a:r>
              <a:rPr lang="zh-TW" altLang="en-US" dirty="0">
                <a:latin typeface="Microsoft JhengHei" panose="020B0604030504040204" pitchFamily="34" charset="-120"/>
                <a:ea typeface="Microsoft JhengHei" panose="020B0604030504040204" pitchFamily="34" charset="-120"/>
              </a:rPr>
              <a:t>整體結構更平滑</a:t>
            </a:r>
          </a:p>
          <a:p>
            <a:pPr marL="742950" lvl="1" indent="-285750">
              <a:lnSpc>
                <a:spcPct val="120000"/>
              </a:lnSpc>
              <a:buFont typeface="+mj-lt"/>
              <a:buAutoNum type="arabicPeriod"/>
            </a:pPr>
            <a:r>
              <a:rPr lang="zh-TW" altLang="en-US" dirty="0">
                <a:latin typeface="Microsoft JhengHei" panose="020B0604030504040204" pitchFamily="34" charset="-120"/>
                <a:ea typeface="Microsoft JhengHei" panose="020B0604030504040204" pitchFamily="34" charset="-120"/>
              </a:rPr>
              <a:t>可能會失去一些局部細節</a:t>
            </a:r>
          </a:p>
          <a:p>
            <a:pPr>
              <a:lnSpc>
                <a:spcPct val="120000"/>
              </a:lnSpc>
              <a:buFont typeface="+mj-lt"/>
              <a:buAutoNum type="arabicPeriod"/>
            </a:pPr>
            <a:r>
              <a:rPr lang="zh-TW" altLang="en-US" dirty="0">
                <a:latin typeface="Microsoft JhengHei" panose="020B0604030504040204" pitchFamily="34" charset="-120"/>
                <a:ea typeface="Microsoft JhengHei" panose="020B0604030504040204" pitchFamily="34" charset="-120"/>
              </a:rPr>
              <a:t>中等大小的</a:t>
            </a:r>
            <a:r>
              <a:rPr lang="en" altLang="zh-TW" dirty="0" err="1">
                <a:latin typeface="Microsoft JhengHei" panose="020B0604030504040204" pitchFamily="34" charset="-120"/>
                <a:ea typeface="Microsoft JhengHei" panose="020B0604030504040204" pitchFamily="34" charset="-120"/>
              </a:rPr>
              <a:t>n_neighbors</a:t>
            </a:r>
            <a:r>
              <a:rPr lang="zh-TW" altLang="en"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如</a:t>
            </a:r>
            <a:r>
              <a:rPr lang="en-US" altLang="zh-TW" dirty="0">
                <a:latin typeface="Microsoft JhengHei" panose="020B0604030504040204" pitchFamily="34" charset="-120"/>
                <a:ea typeface="Microsoft JhengHei" panose="020B0604030504040204" pitchFamily="34" charset="-120"/>
              </a:rPr>
              <a:t>10</a:t>
            </a:r>
            <a:r>
              <a:rPr lang="zh-TW" altLang="en-US" dirty="0">
                <a:latin typeface="Microsoft JhengHei" panose="020B0604030504040204" pitchFamily="34" charset="-120"/>
                <a:ea typeface="Microsoft JhengHei" panose="020B0604030504040204" pitchFamily="34" charset="-120"/>
              </a:rPr>
              <a:t>或</a:t>
            </a:r>
            <a:r>
              <a:rPr lang="en-US" altLang="zh-TW" dirty="0">
                <a:latin typeface="Microsoft JhengHei" panose="020B0604030504040204" pitchFamily="34" charset="-120"/>
                <a:ea typeface="Microsoft JhengHei" panose="020B0604030504040204" pitchFamily="34" charset="-120"/>
              </a:rPr>
              <a:t>20</a:t>
            </a:r>
            <a:r>
              <a:rPr lang="zh-TW" altLang="en-US" dirty="0">
                <a:latin typeface="Microsoft JhengHei" panose="020B0604030504040204" pitchFamily="34" charset="-120"/>
                <a:ea typeface="Microsoft JhengHei" panose="020B0604030504040204" pitchFamily="34" charset="-120"/>
              </a:rPr>
              <a:t>）通常能在保持局部結構和整體形狀之間取得較好的平衡</a:t>
            </a:r>
          </a:p>
          <a:p>
            <a:pPr>
              <a:lnSpc>
                <a:spcPct val="120000"/>
              </a:lnSpc>
            </a:pPr>
            <a:r>
              <a:rPr lang="zh-TW" altLang="en-US" dirty="0">
                <a:latin typeface="Microsoft JhengHei" panose="020B0604030504040204" pitchFamily="34" charset="-120"/>
                <a:ea typeface="Microsoft JhengHei" panose="020B0604030504040204" pitchFamily="34" charset="-120"/>
              </a:rPr>
              <a:t>重建誤差可以幫助我們評估不同參數設置的效果。較小的誤差表示降維後的數據</a:t>
            </a:r>
            <a:r>
              <a:rPr lang="zh-TW" altLang="en" dirty="0">
                <a:latin typeface="Microsoft JhengHei" panose="020B0604030504040204" pitchFamily="34" charset="-120"/>
                <a:ea typeface="Microsoft JhengHei" panose="020B0604030504040204" pitchFamily="34" charset="-120"/>
              </a:rPr>
              <a:t>較</a:t>
            </a:r>
            <a:r>
              <a:rPr lang="zh-TW" altLang="en-US" dirty="0">
                <a:latin typeface="Microsoft JhengHei" panose="020B0604030504040204" pitchFamily="34" charset="-120"/>
                <a:ea typeface="Microsoft JhengHei" panose="020B0604030504040204" pitchFamily="34" charset="-120"/>
              </a:rPr>
              <a:t>好地保留了原始數據的局部結構關係。</a:t>
            </a:r>
          </a:p>
        </p:txBody>
      </p:sp>
      <p:pic>
        <p:nvPicPr>
          <p:cNvPr id="6" name="圖片 5">
            <a:extLst>
              <a:ext uri="{FF2B5EF4-FFF2-40B4-BE49-F238E27FC236}">
                <a16:creationId xmlns:a16="http://schemas.microsoft.com/office/drawing/2014/main" id="{29D2B7D7-F0C0-D331-8C88-70FAF5AE5CE1}"/>
              </a:ext>
            </a:extLst>
          </p:cNvPr>
          <p:cNvPicPr>
            <a:picLocks noChangeAspect="1"/>
          </p:cNvPicPr>
          <p:nvPr/>
        </p:nvPicPr>
        <p:blipFill>
          <a:blip r:embed="rId2"/>
          <a:stretch>
            <a:fillRect/>
          </a:stretch>
        </p:blipFill>
        <p:spPr>
          <a:xfrm>
            <a:off x="5755340" y="1710742"/>
            <a:ext cx="5977667" cy="4782133"/>
          </a:xfrm>
          <a:prstGeom prst="rect">
            <a:avLst/>
          </a:prstGeom>
          <a:ln>
            <a:solidFill>
              <a:schemeClr val="tx1"/>
            </a:solidFill>
          </a:ln>
        </p:spPr>
      </p:pic>
      <p:sp>
        <p:nvSpPr>
          <p:cNvPr id="5" name="文字方塊 4">
            <a:extLst>
              <a:ext uri="{FF2B5EF4-FFF2-40B4-BE49-F238E27FC236}">
                <a16:creationId xmlns:a16="http://schemas.microsoft.com/office/drawing/2014/main" id="{A6249373-4295-152D-7B9F-B90666CBE0A7}"/>
              </a:ext>
            </a:extLst>
          </p:cNvPr>
          <p:cNvSpPr txBox="1"/>
          <p:nvPr/>
        </p:nvSpPr>
        <p:spPr>
          <a:xfrm>
            <a:off x="10254727" y="6123543"/>
            <a:ext cx="1689847" cy="369332"/>
          </a:xfrm>
          <a:prstGeom prst="rect">
            <a:avLst/>
          </a:prstGeom>
          <a:noFill/>
        </p:spPr>
        <p:txBody>
          <a:bodyPr wrap="square">
            <a:spAutoFit/>
          </a:bodyPr>
          <a:lstStyle/>
          <a:p>
            <a:r>
              <a:rPr lang="zh-TW" altLang="en-US" dirty="0"/>
              <a:t>15.LLE_1.py</a:t>
            </a:r>
          </a:p>
        </p:txBody>
      </p:sp>
    </p:spTree>
    <p:extLst>
      <p:ext uri="{BB962C8B-B14F-4D97-AF65-F5344CB8AC3E}">
        <p14:creationId xmlns:p14="http://schemas.microsoft.com/office/powerpoint/2010/main" val="8851979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4E4D6A9-6C0F-0442-B9A0-50C009B9905E}"/>
              </a:ext>
            </a:extLst>
          </p:cNvPr>
          <p:cNvSpPr>
            <a:spLocks noGrp="1"/>
          </p:cNvSpPr>
          <p:nvPr>
            <p:ph type="title"/>
          </p:nvPr>
        </p:nvSpPr>
        <p:spPr/>
        <p:txBody>
          <a:bodyPr>
            <a:normAutofit fontScale="90000"/>
          </a:bodyPr>
          <a:lstStyle/>
          <a:p>
            <a:r>
              <a:rPr lang="en" altLang="zh-TW" dirty="0"/>
              <a:t>t-distributed stochastic neighbor embedding(t-SNE)</a:t>
            </a:r>
            <a:br>
              <a:rPr lang="en" altLang="zh-TW" dirty="0"/>
            </a:br>
            <a:r>
              <a:rPr lang="en" altLang="zh-TW" dirty="0"/>
              <a:t>t-</a:t>
            </a:r>
            <a:r>
              <a:rPr lang="zh-TW" altLang="en-US" dirty="0"/>
              <a:t>隨機鄰近嵌入法</a:t>
            </a:r>
            <a:endParaRPr kumimoji="1" lang="zh-TW" altLang="en-US" dirty="0"/>
          </a:p>
        </p:txBody>
      </p:sp>
      <p:sp>
        <p:nvSpPr>
          <p:cNvPr id="3" name="內容版面配置區 2">
            <a:extLst>
              <a:ext uri="{FF2B5EF4-FFF2-40B4-BE49-F238E27FC236}">
                <a16:creationId xmlns:a16="http://schemas.microsoft.com/office/drawing/2014/main" id="{880B109E-E808-E64F-A079-6796A7E8915C}"/>
              </a:ext>
            </a:extLst>
          </p:cNvPr>
          <p:cNvSpPr>
            <a:spLocks noGrp="1"/>
          </p:cNvSpPr>
          <p:nvPr>
            <p:ph idx="1"/>
          </p:nvPr>
        </p:nvSpPr>
        <p:spPr/>
        <p:txBody>
          <a:bodyPr/>
          <a:lstStyle/>
          <a:p>
            <a:r>
              <a:rPr lang="zh-TW" altLang="en-US" dirty="0"/>
              <a:t>是一種非線性的機器學習降維方法，由 </a:t>
            </a:r>
            <a:r>
              <a:rPr lang="en" altLang="zh-TW" dirty="0"/>
              <a:t>Laurens van der </a:t>
            </a:r>
            <a:r>
              <a:rPr lang="en" altLang="zh-TW" dirty="0" err="1"/>
              <a:t>Maaten</a:t>
            </a:r>
            <a:r>
              <a:rPr lang="en" altLang="zh-TW" dirty="0"/>
              <a:t> </a:t>
            </a:r>
            <a:r>
              <a:rPr lang="zh-TW" altLang="en-US" dirty="0"/>
              <a:t>和 </a:t>
            </a:r>
            <a:r>
              <a:rPr lang="en" altLang="zh-TW" dirty="0"/>
              <a:t>Geoffrey Hinton </a:t>
            </a:r>
            <a:r>
              <a:rPr lang="zh-TW" altLang="en-US" dirty="0"/>
              <a:t>於 </a:t>
            </a:r>
            <a:r>
              <a:rPr lang="en-US" altLang="zh-TW" dirty="0"/>
              <a:t>2008 </a:t>
            </a:r>
            <a:r>
              <a:rPr lang="zh-TW" altLang="en-US" dirty="0"/>
              <a:t>年提出，由於 </a:t>
            </a:r>
            <a:r>
              <a:rPr lang="en" altLang="zh-TW" dirty="0"/>
              <a:t>t-SNE </a:t>
            </a:r>
            <a:r>
              <a:rPr lang="zh-TW" altLang="en-US" dirty="0"/>
              <a:t>降維時保持局部結構的能力十分傑出，因此成為近年來學術論文與模型比賽中資料視覺化的常客。</a:t>
            </a:r>
            <a:endParaRPr lang="en-US" altLang="zh-TW" dirty="0"/>
          </a:p>
          <a:p>
            <a:r>
              <a:rPr kumimoji="1" lang="en" altLang="zh-TW" dirty="0"/>
              <a:t>t-SNE </a:t>
            </a:r>
            <a:r>
              <a:rPr kumimoji="1" lang="zh-TW" altLang="en-US" dirty="0"/>
              <a:t>為改善 </a:t>
            </a:r>
            <a:r>
              <a:rPr kumimoji="1" lang="en" altLang="zh-TW" dirty="0"/>
              <a:t>PCA </a:t>
            </a:r>
            <a:r>
              <a:rPr kumimoji="1" lang="zh-TW" altLang="en-US" dirty="0"/>
              <a:t>的缺點，採取非線性的處理，將高維的資料假設為常態分配，低維的資料假設為自由度為</a:t>
            </a:r>
            <a:r>
              <a:rPr kumimoji="1" lang="en-US" altLang="zh-TW" dirty="0"/>
              <a:t>1</a:t>
            </a:r>
            <a:r>
              <a:rPr kumimoji="1" lang="zh-TW" altLang="en-US" dirty="0"/>
              <a:t>的</a:t>
            </a:r>
            <a:r>
              <a:rPr kumimoji="1" lang="en" altLang="zh-TW" dirty="0"/>
              <a:t>t</a:t>
            </a:r>
            <a:r>
              <a:rPr kumimoji="1" lang="zh-TW" altLang="en-US" dirty="0"/>
              <a:t>分配，以避免低維的資料受到變異數的影響，</a:t>
            </a:r>
            <a:r>
              <a:rPr kumimoji="1" lang="en" altLang="zh-TW" dirty="0"/>
              <a:t>t</a:t>
            </a:r>
            <a:r>
              <a:rPr kumimoji="1" lang="zh-TW" altLang="en-US" dirty="0"/>
              <a:t>分配的兩端尾部較厚，可避免低維全部擠在一起。</a:t>
            </a:r>
          </a:p>
        </p:txBody>
      </p:sp>
      <p:sp>
        <p:nvSpPr>
          <p:cNvPr id="4" name="矩形 3">
            <a:extLst>
              <a:ext uri="{FF2B5EF4-FFF2-40B4-BE49-F238E27FC236}">
                <a16:creationId xmlns:a16="http://schemas.microsoft.com/office/drawing/2014/main" id="{ACD52A3A-8B50-1043-8DB7-0BF11DE1D5E0}"/>
              </a:ext>
            </a:extLst>
          </p:cNvPr>
          <p:cNvSpPr/>
          <p:nvPr/>
        </p:nvSpPr>
        <p:spPr>
          <a:xfrm>
            <a:off x="838200" y="6127234"/>
            <a:ext cx="9585960" cy="646331"/>
          </a:xfrm>
          <a:prstGeom prst="rect">
            <a:avLst/>
          </a:prstGeom>
        </p:spPr>
        <p:txBody>
          <a:bodyPr wrap="square">
            <a:spAutoFit/>
          </a:bodyPr>
          <a:lstStyle/>
          <a:p>
            <a:r>
              <a:rPr lang="en-US" altLang="zh-TW" dirty="0"/>
              <a:t>Ref1: </a:t>
            </a:r>
            <a:r>
              <a:rPr lang="zh-TW" altLang="en-US" dirty="0">
                <a:hlinkClick r:id="rId2"/>
              </a:rPr>
              <a:t>資料降維與視覺化：</a:t>
            </a:r>
            <a:r>
              <a:rPr lang="en" altLang="zh-TW" dirty="0">
                <a:hlinkClick r:id="rId2"/>
              </a:rPr>
              <a:t>t-SNE </a:t>
            </a:r>
            <a:r>
              <a:rPr lang="zh-TW" altLang="en-US" dirty="0">
                <a:hlinkClick r:id="rId2"/>
              </a:rPr>
              <a:t>理論與應用 </a:t>
            </a:r>
            <a:r>
              <a:rPr lang="en-US" altLang="zh-TW" dirty="0">
                <a:hlinkClick r:id="rId2"/>
              </a:rPr>
              <a:t>| </a:t>
            </a:r>
            <a:r>
              <a:rPr lang="en" altLang="zh-TW" dirty="0">
                <a:hlinkClick r:id="rId2"/>
              </a:rPr>
              <a:t>Mr. Opengate (mropengate.blogspot.com)</a:t>
            </a:r>
            <a:endParaRPr lang="en" altLang="zh-TW" dirty="0"/>
          </a:p>
          <a:p>
            <a:r>
              <a:rPr lang="en-US" altLang="zh-TW" dirty="0"/>
              <a:t>Ref2: </a:t>
            </a:r>
            <a:r>
              <a:rPr lang="en-US" altLang="zh-TW" dirty="0">
                <a:hlinkClick r:id="rId3"/>
              </a:rPr>
              <a:t>https://distill.pub/2016/misread-tsne/</a:t>
            </a:r>
            <a:r>
              <a:rPr lang="en-US" altLang="zh-TW" dirty="0"/>
              <a:t> </a:t>
            </a:r>
            <a:endParaRPr lang="zh-TW" altLang="en-US" dirty="0"/>
          </a:p>
        </p:txBody>
      </p:sp>
    </p:spTree>
    <p:extLst>
      <p:ext uri="{BB962C8B-B14F-4D97-AF65-F5344CB8AC3E}">
        <p14:creationId xmlns:p14="http://schemas.microsoft.com/office/powerpoint/2010/main" val="7229872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9846AA-06C0-B8D3-4858-CFE2A346AF92}"/>
              </a:ext>
            </a:extLst>
          </p:cNvPr>
          <p:cNvSpPr>
            <a:spLocks noGrp="1"/>
          </p:cNvSpPr>
          <p:nvPr>
            <p:ph type="title"/>
          </p:nvPr>
        </p:nvSpPr>
        <p:spPr/>
        <p:txBody>
          <a:bodyPr>
            <a:normAutofit/>
          </a:bodyPr>
          <a:lstStyle/>
          <a:p>
            <a:r>
              <a:rPr lang="en" altLang="zh-TW" sz="4000" dirty="0"/>
              <a:t>t-SNE</a:t>
            </a:r>
            <a:endParaRPr kumimoji="1" lang="zh-TW" altLang="en-US" sz="4000" dirty="0"/>
          </a:p>
        </p:txBody>
      </p:sp>
      <p:sp>
        <p:nvSpPr>
          <p:cNvPr id="3" name="內容版面配置區 2">
            <a:extLst>
              <a:ext uri="{FF2B5EF4-FFF2-40B4-BE49-F238E27FC236}">
                <a16:creationId xmlns:a16="http://schemas.microsoft.com/office/drawing/2014/main" id="{0FF94984-147C-4B58-7DEF-11233033B59E}"/>
              </a:ext>
            </a:extLst>
          </p:cNvPr>
          <p:cNvSpPr>
            <a:spLocks noGrp="1"/>
          </p:cNvSpPr>
          <p:nvPr>
            <p:ph idx="1"/>
          </p:nvPr>
        </p:nvSpPr>
        <p:spPr/>
        <p:txBody>
          <a:bodyPr>
            <a:normAutofit lnSpcReduction="10000"/>
          </a:bodyPr>
          <a:lstStyle/>
          <a:p>
            <a:pPr algn="l"/>
            <a:r>
              <a:rPr lang="en-US" altLang="zh-TW" sz="2400" b="0" i="0" dirty="0">
                <a:solidFill>
                  <a:srgbClr val="292929"/>
                </a:solidFill>
                <a:effectLst/>
                <a:latin typeface="source-serif-pro"/>
              </a:rPr>
              <a:t>LLE</a:t>
            </a:r>
            <a:r>
              <a:rPr lang="zh-TW" altLang="en-US" sz="2400" b="0" i="0" dirty="0">
                <a:solidFill>
                  <a:srgbClr val="292929"/>
                </a:solidFill>
                <a:effectLst/>
                <a:latin typeface="source-serif-pro"/>
              </a:rPr>
              <a:t>只假設沿著 </a:t>
            </a:r>
            <a:r>
              <a:rPr lang="en" altLang="zh-TW" sz="2400" b="0" i="0" dirty="0">
                <a:solidFill>
                  <a:srgbClr val="292929"/>
                </a:solidFill>
                <a:effectLst/>
                <a:latin typeface="source-serif-pro"/>
              </a:rPr>
              <a:t>manifold surface </a:t>
            </a:r>
            <a:r>
              <a:rPr lang="zh-TW" altLang="en-US" sz="2400" b="0" i="0" dirty="0">
                <a:solidFill>
                  <a:srgbClr val="292929"/>
                </a:solidFill>
                <a:effectLst/>
                <a:latin typeface="source-serif-pro"/>
              </a:rPr>
              <a:t>距離相近的點降維後依然要很近，但沒說距離較遠的點降維後要越遠</a:t>
            </a:r>
            <a:endParaRPr lang="en-US" altLang="zh-TW" sz="2400" b="0" i="0" dirty="0">
              <a:solidFill>
                <a:srgbClr val="292929"/>
              </a:solidFill>
              <a:effectLst/>
              <a:latin typeface="source-serif-pro"/>
            </a:endParaRPr>
          </a:p>
          <a:p>
            <a:pPr algn="l"/>
            <a:r>
              <a:rPr lang="en" altLang="zh-TW" sz="2400" b="1" i="0" dirty="0">
                <a:solidFill>
                  <a:srgbClr val="292929"/>
                </a:solidFill>
                <a:effectLst/>
                <a:latin typeface="source-serif-pro"/>
              </a:rPr>
              <a:t>Key point:</a:t>
            </a:r>
            <a:br>
              <a:rPr lang="en" altLang="zh-TW" sz="2400" b="1" i="0" dirty="0">
                <a:solidFill>
                  <a:srgbClr val="292929"/>
                </a:solidFill>
                <a:effectLst/>
                <a:latin typeface="source-serif-pro"/>
              </a:rPr>
            </a:br>
            <a:r>
              <a:rPr lang="en-US" altLang="zh-TW" sz="2400" b="0" i="0" dirty="0">
                <a:solidFill>
                  <a:srgbClr val="292929"/>
                </a:solidFill>
                <a:effectLst/>
                <a:latin typeface="source-serif-pro"/>
              </a:rPr>
              <a:t>t-SNE</a:t>
            </a:r>
            <a:r>
              <a:rPr lang="zh-TW" altLang="en-US" sz="2400" b="0" i="0" dirty="0">
                <a:solidFill>
                  <a:srgbClr val="292929"/>
                </a:solidFill>
                <a:effectLst/>
                <a:latin typeface="source-serif-pro"/>
              </a:rPr>
              <a:t>不一樣的是，上述是看每戶住家的鄰居的相對位置，而這裡紀錄的是任意兩戶之間的距離與所有人的距離和的比例，換個說法就是一個「相對分布」，此處的距離並非是簡單的歐式距離，再做某種非線性轉換。</a:t>
            </a:r>
            <a:br>
              <a:rPr lang="zh-TW" altLang="en-US" sz="2400" b="0" i="0" dirty="0">
                <a:solidFill>
                  <a:srgbClr val="292929"/>
                </a:solidFill>
                <a:effectLst/>
                <a:latin typeface="source-serif-pro"/>
              </a:rPr>
            </a:br>
            <a:r>
              <a:rPr lang="zh-TW" altLang="en-US" sz="2400" b="0" i="0" dirty="0">
                <a:solidFill>
                  <a:srgbClr val="292929"/>
                </a:solidFill>
                <a:effectLst/>
                <a:latin typeface="source-serif-pro"/>
              </a:rPr>
              <a:t>搬入平地時，因為不能用原本住島上的距離分配每戶的擁有地，所以透過原有地的相對分布，加上平地的距離換算給居民新的土地，換算下，以前住的近的還是住的近，但住的遠的可能因換算後住得更遠了，但不變的是，聚落的群聚現象依然不能變，如果村長家是全村的中心，那麼搬家後村長家依然必須是全村中心。</a:t>
            </a:r>
            <a:endParaRPr lang="en-US" altLang="zh-TW" sz="2400" dirty="0">
              <a:solidFill>
                <a:srgbClr val="292929"/>
              </a:solidFill>
              <a:latin typeface="source-serif-pro"/>
            </a:endParaRPr>
          </a:p>
          <a:p>
            <a:pPr algn="l"/>
            <a:r>
              <a:rPr lang="en-US" altLang="zh-TW" sz="2400" b="0" i="0" dirty="0">
                <a:solidFill>
                  <a:srgbClr val="292929"/>
                </a:solidFill>
                <a:effectLst/>
                <a:latin typeface="source-serif-pro"/>
              </a:rPr>
              <a:t>t-SNE</a:t>
            </a:r>
            <a:r>
              <a:rPr lang="zh-TW" altLang="en-US" sz="2400" b="0" i="0" dirty="0">
                <a:solidFill>
                  <a:srgbClr val="292929"/>
                </a:solidFill>
                <a:effectLst/>
                <a:latin typeface="source-serif-pro"/>
              </a:rPr>
              <a:t>的目標是高維中距離相近的點低維中還要相近，高維中距離較遠的點，低維中距離要被拉大。</a:t>
            </a:r>
          </a:p>
        </p:txBody>
      </p:sp>
    </p:spTree>
    <p:extLst>
      <p:ext uri="{BB962C8B-B14F-4D97-AF65-F5344CB8AC3E}">
        <p14:creationId xmlns:p14="http://schemas.microsoft.com/office/powerpoint/2010/main" val="9022535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1F5F1982-9D60-39F7-6D4E-5C98705A095B}"/>
              </a:ext>
            </a:extLst>
          </p:cNvPr>
          <p:cNvPicPr>
            <a:picLocks noChangeAspect="1"/>
          </p:cNvPicPr>
          <p:nvPr/>
        </p:nvPicPr>
        <p:blipFill>
          <a:blip r:embed="rId2"/>
          <a:srcRect l="6644" t="4811" r="7659"/>
          <a:stretch/>
        </p:blipFill>
        <p:spPr>
          <a:xfrm>
            <a:off x="6017492" y="3708803"/>
            <a:ext cx="5336308" cy="2963731"/>
          </a:xfrm>
          <a:prstGeom prst="rect">
            <a:avLst/>
          </a:prstGeom>
        </p:spPr>
      </p:pic>
      <p:sp>
        <p:nvSpPr>
          <p:cNvPr id="2" name="標題 1">
            <a:extLst>
              <a:ext uri="{FF2B5EF4-FFF2-40B4-BE49-F238E27FC236}">
                <a16:creationId xmlns:a16="http://schemas.microsoft.com/office/drawing/2014/main" id="{6F217D5D-3C86-F7F7-4EE3-E0CDA6F6491E}"/>
              </a:ext>
            </a:extLst>
          </p:cNvPr>
          <p:cNvSpPr>
            <a:spLocks noGrp="1"/>
          </p:cNvSpPr>
          <p:nvPr>
            <p:ph type="title"/>
          </p:nvPr>
        </p:nvSpPr>
        <p:spPr/>
        <p:txBody>
          <a:bodyPr/>
          <a:lstStyle/>
          <a:p>
            <a:r>
              <a:rPr lang="en" altLang="zh-TW" sz="4400" dirty="0"/>
              <a:t>t-SNE</a:t>
            </a:r>
            <a:endParaRPr kumimoji="1" lang="zh-TW" altLang="en-US" dirty="0"/>
          </a:p>
        </p:txBody>
      </p:sp>
      <p:sp>
        <p:nvSpPr>
          <p:cNvPr id="3" name="內容版面配置區 2">
            <a:extLst>
              <a:ext uri="{FF2B5EF4-FFF2-40B4-BE49-F238E27FC236}">
                <a16:creationId xmlns:a16="http://schemas.microsoft.com/office/drawing/2014/main" id="{C80D0BF8-33ED-FE94-641C-C184300B9378}"/>
              </a:ext>
            </a:extLst>
          </p:cNvPr>
          <p:cNvSpPr>
            <a:spLocks noGrp="1"/>
          </p:cNvSpPr>
          <p:nvPr>
            <p:ph idx="1"/>
          </p:nvPr>
        </p:nvSpPr>
        <p:spPr/>
        <p:txBody>
          <a:bodyPr/>
          <a:lstStyle/>
          <a:p>
            <a:r>
              <a:rPr lang="zh-TW" altLang="en-US" dirty="0">
                <a:effectLst/>
              </a:rPr>
              <a:t>概念簡單來說就是，原本的分布，經過轉換後，分布狀況要盡可能的相同。</a:t>
            </a:r>
          </a:p>
          <a:p>
            <a:r>
              <a:rPr lang="zh-TW" altLang="en-US" dirty="0">
                <a:effectLst/>
              </a:rPr>
              <a:t>首先我們要先對轉換前後的資料空間定義出距離 </a:t>
            </a:r>
            <a:r>
              <a:rPr lang="en-US" altLang="zh-TW" dirty="0">
                <a:effectLst/>
              </a:rPr>
              <a:t>( </a:t>
            </a:r>
            <a:r>
              <a:rPr lang="zh-TW" altLang="en-US" dirty="0">
                <a:effectLst/>
              </a:rPr>
              <a:t>這</a:t>
            </a:r>
            <a:r>
              <a:rPr lang="zh-TW" altLang="en-US" dirty="0"/>
              <a:t>邊</a:t>
            </a:r>
            <a:r>
              <a:rPr lang="zh-TW" altLang="en-US" dirty="0">
                <a:effectLst/>
              </a:rPr>
              <a:t>將距離定義成為相似度 </a:t>
            </a:r>
            <a:r>
              <a:rPr lang="en-US" altLang="zh-TW" dirty="0">
                <a:effectLst/>
              </a:rPr>
              <a:t>) :</a:t>
            </a:r>
          </a:p>
          <a:p>
            <a:endParaRPr lang="en-US" altLang="zh-TW" dirty="0"/>
          </a:p>
          <a:p>
            <a:endParaRPr lang="en-US" altLang="zh-TW" dirty="0">
              <a:effectLst/>
            </a:endParaRPr>
          </a:p>
          <a:p>
            <a:r>
              <a:rPr lang="zh-TW" altLang="en-US" b="0" i="0" dirty="0">
                <a:solidFill>
                  <a:srgbClr val="333333"/>
                </a:solidFill>
                <a:effectLst/>
                <a:latin typeface="-apple-system"/>
              </a:rPr>
              <a:t>利用轉換前後空間不同的距離</a:t>
            </a:r>
            <a:br>
              <a:rPr lang="en-US" altLang="zh-TW" b="0" i="0" dirty="0">
                <a:solidFill>
                  <a:srgbClr val="333333"/>
                </a:solidFill>
                <a:effectLst/>
                <a:latin typeface="-apple-system"/>
              </a:rPr>
            </a:br>
            <a:r>
              <a:rPr lang="zh-TW" altLang="en-US" b="0" i="0" dirty="0">
                <a:solidFill>
                  <a:srgbClr val="333333"/>
                </a:solidFill>
                <a:effectLst/>
                <a:latin typeface="-apple-system"/>
              </a:rPr>
              <a:t>定義，來使資料間遠近能在轉</a:t>
            </a:r>
            <a:br>
              <a:rPr lang="en-US" altLang="zh-TW" b="0" i="0" dirty="0">
                <a:solidFill>
                  <a:srgbClr val="333333"/>
                </a:solidFill>
                <a:effectLst/>
                <a:latin typeface="-apple-system"/>
              </a:rPr>
            </a:br>
            <a:r>
              <a:rPr lang="zh-TW" altLang="en-US" b="0" i="0" dirty="0">
                <a:solidFill>
                  <a:srgbClr val="333333"/>
                </a:solidFill>
                <a:effectLst/>
                <a:latin typeface="-apple-system"/>
              </a:rPr>
              <a:t>換後更加明顯。</a:t>
            </a:r>
            <a:endParaRPr lang="en-US" altLang="zh-TW" dirty="0">
              <a:effectLst/>
            </a:endParaRPr>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ED4478D0-709A-A2EB-959D-A6F809AF0EBB}"/>
                  </a:ext>
                </a:extLst>
              </p:cNvPr>
              <p:cNvSpPr txBox="1"/>
              <p:nvPr/>
            </p:nvSpPr>
            <p:spPr>
              <a:xfrm>
                <a:off x="3754418" y="3200400"/>
                <a:ext cx="2872389" cy="50969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TW" sz="2400" b="0" i="1" smtClean="0">
                          <a:latin typeface="Cambria Math" panose="02040503050406030204" pitchFamily="18" charset="0"/>
                        </a:rPr>
                        <m:t>𝑆</m:t>
                      </m:r>
                      <m:r>
                        <a:rPr kumimoji="1" lang="en-US" altLang="zh-TW" sz="2400" b="0" i="1" smtClean="0">
                          <a:latin typeface="Cambria Math" panose="02040503050406030204" pitchFamily="18" charset="0"/>
                        </a:rPr>
                        <m:t>(</m:t>
                      </m:r>
                      <m:sSub>
                        <m:sSubPr>
                          <m:ctrlPr>
                            <a:rPr kumimoji="1" lang="en-US" altLang="zh-TW" sz="2400" b="0" i="1" smtClean="0">
                              <a:latin typeface="Cambria Math" panose="02040503050406030204" pitchFamily="18" charset="0"/>
                            </a:rPr>
                          </m:ctrlPr>
                        </m:sSubPr>
                        <m:e>
                          <m:r>
                            <a:rPr kumimoji="1" lang="en-US" altLang="zh-TW" sz="2400" b="0" i="1" smtClean="0">
                              <a:latin typeface="Cambria Math" panose="02040503050406030204" pitchFamily="18" charset="0"/>
                            </a:rPr>
                            <m:t>𝑥</m:t>
                          </m:r>
                        </m:e>
                        <m:sub>
                          <m:r>
                            <a:rPr kumimoji="1" lang="en-US" altLang="zh-TW" sz="2400" b="0" i="1" smtClean="0">
                              <a:latin typeface="Cambria Math" panose="02040503050406030204" pitchFamily="18" charset="0"/>
                            </a:rPr>
                            <m:t>𝑖</m:t>
                          </m:r>
                        </m:sub>
                      </m:sSub>
                      <m:r>
                        <a:rPr kumimoji="1" lang="en-US" altLang="zh-TW" sz="2400" b="0" i="1" smtClean="0">
                          <a:latin typeface="Cambria Math" panose="02040503050406030204" pitchFamily="18" charset="0"/>
                        </a:rPr>
                        <m:t>,</m:t>
                      </m:r>
                      <m:sSub>
                        <m:sSubPr>
                          <m:ctrlPr>
                            <a:rPr kumimoji="1" lang="en-US" altLang="zh-TW" sz="2400" b="0" i="1" smtClean="0">
                              <a:latin typeface="Cambria Math" panose="02040503050406030204" pitchFamily="18" charset="0"/>
                            </a:rPr>
                          </m:ctrlPr>
                        </m:sSubPr>
                        <m:e>
                          <m:r>
                            <a:rPr kumimoji="1" lang="en-US" altLang="zh-TW" sz="2400" b="0" i="1" smtClean="0">
                              <a:latin typeface="Cambria Math" panose="02040503050406030204" pitchFamily="18" charset="0"/>
                            </a:rPr>
                            <m:t>𝑥</m:t>
                          </m:r>
                        </m:e>
                        <m:sub>
                          <m:r>
                            <a:rPr kumimoji="1" lang="en-US" altLang="zh-TW" sz="2400" b="0" i="1" smtClean="0">
                              <a:latin typeface="Cambria Math" panose="02040503050406030204" pitchFamily="18" charset="0"/>
                            </a:rPr>
                            <m:t>𝑗</m:t>
                          </m:r>
                        </m:sub>
                      </m:sSub>
                      <m:r>
                        <a:rPr kumimoji="1" lang="en-US" altLang="zh-TW" sz="2400" b="0" i="1" smtClean="0">
                          <a:latin typeface="Cambria Math" panose="02040503050406030204" pitchFamily="18" charset="0"/>
                        </a:rPr>
                        <m:t>)=</m:t>
                      </m:r>
                      <m:sSup>
                        <m:sSupPr>
                          <m:ctrlPr>
                            <a:rPr kumimoji="1" lang="en-US" altLang="zh-TW" sz="2400" b="0" i="1" smtClean="0">
                              <a:latin typeface="Cambria Math" panose="02040503050406030204" pitchFamily="18" charset="0"/>
                            </a:rPr>
                          </m:ctrlPr>
                        </m:sSupPr>
                        <m:e>
                          <m:r>
                            <m:rPr>
                              <m:sty m:val="p"/>
                            </m:rPr>
                            <a:rPr kumimoji="1" lang="en-US" altLang="zh-TW" sz="2400" i="1">
                              <a:latin typeface="Cambria Math" panose="02040503050406030204" pitchFamily="18" charset="0"/>
                            </a:rPr>
                            <m:t>e</m:t>
                          </m:r>
                        </m:e>
                        <m:sup>
                          <m:r>
                            <a:rPr kumimoji="1" lang="en-US" altLang="zh-TW" sz="2400" b="0" i="1" smtClean="0">
                              <a:latin typeface="Cambria Math" panose="02040503050406030204" pitchFamily="18" charset="0"/>
                            </a:rPr>
                            <m:t>−</m:t>
                          </m:r>
                          <m:sSub>
                            <m:sSubPr>
                              <m:ctrlPr>
                                <a:rPr kumimoji="1" lang="en-US" altLang="zh-TW" sz="2400" b="0" i="1" smtClean="0">
                                  <a:latin typeface="Cambria Math" panose="02040503050406030204" pitchFamily="18" charset="0"/>
                                </a:rPr>
                              </m:ctrlPr>
                            </m:sSubPr>
                            <m:e>
                              <m:d>
                                <m:dPr>
                                  <m:begChr m:val="‖"/>
                                  <m:endChr m:val="‖"/>
                                  <m:ctrlPr>
                                    <a:rPr kumimoji="1" lang="en-US" altLang="zh-TW" sz="2400" b="0" i="1" smtClean="0">
                                      <a:latin typeface="Cambria Math" panose="02040503050406030204" pitchFamily="18" charset="0"/>
                                    </a:rPr>
                                  </m:ctrlPr>
                                </m:dPr>
                                <m:e>
                                  <m:sSub>
                                    <m:sSubPr>
                                      <m:ctrlPr>
                                        <a:rPr kumimoji="1" lang="en-US" altLang="zh-TW" sz="2400" b="0" i="1" smtClean="0">
                                          <a:latin typeface="Cambria Math" panose="02040503050406030204" pitchFamily="18" charset="0"/>
                                        </a:rPr>
                                      </m:ctrlPr>
                                    </m:sSubPr>
                                    <m:e>
                                      <m:r>
                                        <a:rPr kumimoji="1" lang="en-US" altLang="zh-TW" sz="2400" b="0" i="1" smtClean="0">
                                          <a:latin typeface="Cambria Math" panose="02040503050406030204" pitchFamily="18" charset="0"/>
                                        </a:rPr>
                                        <m:t>𝑥</m:t>
                                      </m:r>
                                    </m:e>
                                    <m:sub>
                                      <m:r>
                                        <a:rPr kumimoji="1" lang="en-US" altLang="zh-TW" sz="2400" b="0" i="1" smtClean="0">
                                          <a:latin typeface="Cambria Math" panose="02040503050406030204" pitchFamily="18" charset="0"/>
                                        </a:rPr>
                                        <m:t>𝑖</m:t>
                                      </m:r>
                                    </m:sub>
                                  </m:sSub>
                                  <m:r>
                                    <a:rPr kumimoji="1" lang="en-US" altLang="zh-TW" sz="2400" b="0" i="1" smtClean="0">
                                      <a:latin typeface="Cambria Math" panose="02040503050406030204" pitchFamily="18" charset="0"/>
                                    </a:rPr>
                                    <m:t>−</m:t>
                                  </m:r>
                                  <m:sSub>
                                    <m:sSubPr>
                                      <m:ctrlPr>
                                        <a:rPr kumimoji="1" lang="en-US" altLang="zh-TW" sz="2400" b="0" i="1" smtClean="0">
                                          <a:latin typeface="Cambria Math" panose="02040503050406030204" pitchFamily="18" charset="0"/>
                                        </a:rPr>
                                      </m:ctrlPr>
                                    </m:sSubPr>
                                    <m:e>
                                      <m:r>
                                        <a:rPr kumimoji="1" lang="en-US" altLang="zh-TW" sz="2400" b="0" i="1" smtClean="0">
                                          <a:latin typeface="Cambria Math" panose="02040503050406030204" pitchFamily="18" charset="0"/>
                                        </a:rPr>
                                        <m:t>𝑥</m:t>
                                      </m:r>
                                    </m:e>
                                    <m:sub>
                                      <m:r>
                                        <a:rPr kumimoji="1" lang="en-US" altLang="zh-TW" sz="2400" b="0" i="1" smtClean="0">
                                          <a:latin typeface="Cambria Math" panose="02040503050406030204" pitchFamily="18" charset="0"/>
                                        </a:rPr>
                                        <m:t>𝑗</m:t>
                                      </m:r>
                                    </m:sub>
                                  </m:sSub>
                                </m:e>
                              </m:d>
                            </m:e>
                            <m:sub>
                              <m:r>
                                <a:rPr kumimoji="1" lang="en-US" altLang="zh-TW" sz="2400" b="0" i="1" smtClean="0">
                                  <a:latin typeface="Cambria Math" panose="02040503050406030204" pitchFamily="18" charset="0"/>
                                </a:rPr>
                                <m:t>2</m:t>
                              </m:r>
                            </m:sub>
                          </m:sSub>
                        </m:sup>
                      </m:sSup>
                    </m:oMath>
                  </m:oMathPara>
                </a14:m>
                <a:endParaRPr kumimoji="1" lang="zh-TW" altLang="en-US" sz="2400" dirty="0"/>
              </a:p>
            </p:txBody>
          </p:sp>
        </mc:Choice>
        <mc:Fallback xmlns="">
          <p:sp>
            <p:nvSpPr>
              <p:cNvPr id="4" name="文字方塊 3">
                <a:extLst>
                  <a:ext uri="{FF2B5EF4-FFF2-40B4-BE49-F238E27FC236}">
                    <a16:creationId xmlns:a16="http://schemas.microsoft.com/office/drawing/2014/main" id="{ED4478D0-709A-A2EB-959D-A6F809AF0EBB}"/>
                  </a:ext>
                </a:extLst>
              </p:cNvPr>
              <p:cNvSpPr txBox="1">
                <a:spLocks noRot="1" noChangeAspect="1" noMove="1" noResize="1" noEditPoints="1" noAdjustHandles="1" noChangeArrowheads="1" noChangeShapeType="1" noTextEdit="1"/>
              </p:cNvSpPr>
              <p:nvPr/>
            </p:nvSpPr>
            <p:spPr>
              <a:xfrm>
                <a:off x="3754418" y="3200400"/>
                <a:ext cx="2872389" cy="509691"/>
              </a:xfrm>
              <a:prstGeom prst="rect">
                <a:avLst/>
              </a:prstGeom>
              <a:blipFill>
                <a:blip r:embed="rId3"/>
                <a:stretch>
                  <a:fillRect l="-881" b="-1707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CC6E9969-6452-DD1A-9330-6406654C0B7C}"/>
                  </a:ext>
                </a:extLst>
              </p:cNvPr>
              <p:cNvSpPr txBox="1"/>
              <p:nvPr/>
            </p:nvSpPr>
            <p:spPr>
              <a:xfrm>
                <a:off x="3223611" y="3843740"/>
                <a:ext cx="2872389" cy="7293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zh-TW" sz="2000" b="0" i="1" smtClean="0">
                              <a:latin typeface="Cambria Math" panose="02040503050406030204" pitchFamily="18" charset="0"/>
                            </a:rPr>
                          </m:ctrlPr>
                        </m:sSupPr>
                        <m:e>
                          <m:r>
                            <a:rPr kumimoji="1" lang="en-US" altLang="zh-TW" sz="2000" b="0" i="1" smtClean="0">
                              <a:latin typeface="Cambria Math" panose="02040503050406030204" pitchFamily="18" charset="0"/>
                            </a:rPr>
                            <m:t>𝑆</m:t>
                          </m:r>
                        </m:e>
                        <m:sup>
                          <m:r>
                            <a:rPr kumimoji="1" lang="en-US" altLang="zh-TW" sz="2000" b="0" i="1" smtClean="0">
                              <a:latin typeface="Cambria Math" panose="02040503050406030204" pitchFamily="18" charset="0"/>
                            </a:rPr>
                            <m:t>′</m:t>
                          </m:r>
                        </m:sup>
                      </m:sSup>
                      <m:r>
                        <a:rPr kumimoji="1" lang="en-US" altLang="zh-TW" sz="2000" b="0" i="1" smtClean="0">
                          <a:latin typeface="Cambria Math" panose="02040503050406030204" pitchFamily="18" charset="0"/>
                        </a:rPr>
                        <m:t>(</m:t>
                      </m:r>
                      <m:sSub>
                        <m:sSubPr>
                          <m:ctrlPr>
                            <a:rPr kumimoji="1" lang="en-US" altLang="zh-TW" sz="2000" b="0" i="1" smtClean="0">
                              <a:latin typeface="Cambria Math" panose="02040503050406030204" pitchFamily="18" charset="0"/>
                            </a:rPr>
                          </m:ctrlPr>
                        </m:sSubPr>
                        <m:e>
                          <m:r>
                            <a:rPr kumimoji="1" lang="en-US" altLang="zh-TW" sz="2000" b="0" i="1" smtClean="0">
                              <a:latin typeface="Cambria Math" panose="02040503050406030204" pitchFamily="18" charset="0"/>
                            </a:rPr>
                            <m:t>𝑧</m:t>
                          </m:r>
                        </m:e>
                        <m:sub>
                          <m:r>
                            <a:rPr kumimoji="1" lang="en-US" altLang="zh-TW" sz="2000" b="0" i="1" smtClean="0">
                              <a:latin typeface="Cambria Math" panose="02040503050406030204" pitchFamily="18" charset="0"/>
                            </a:rPr>
                            <m:t>𝑖</m:t>
                          </m:r>
                        </m:sub>
                      </m:sSub>
                      <m:r>
                        <a:rPr kumimoji="1" lang="en-US" altLang="zh-TW" sz="2000" b="0" i="1" smtClean="0">
                          <a:latin typeface="Cambria Math" panose="02040503050406030204" pitchFamily="18" charset="0"/>
                        </a:rPr>
                        <m:t>,</m:t>
                      </m:r>
                      <m:sSub>
                        <m:sSubPr>
                          <m:ctrlPr>
                            <a:rPr kumimoji="1" lang="en-US" altLang="zh-TW" sz="2000" b="0" i="1" smtClean="0">
                              <a:latin typeface="Cambria Math" panose="02040503050406030204" pitchFamily="18" charset="0"/>
                            </a:rPr>
                          </m:ctrlPr>
                        </m:sSubPr>
                        <m:e>
                          <m:r>
                            <a:rPr kumimoji="1" lang="en-US" altLang="zh-TW" sz="2000" b="0" i="1" smtClean="0">
                              <a:latin typeface="Cambria Math" panose="02040503050406030204" pitchFamily="18" charset="0"/>
                            </a:rPr>
                            <m:t>𝑧</m:t>
                          </m:r>
                        </m:e>
                        <m:sub>
                          <m:r>
                            <a:rPr kumimoji="1" lang="en-US" altLang="zh-TW" sz="2000" b="0" i="1" smtClean="0">
                              <a:latin typeface="Cambria Math" panose="02040503050406030204" pitchFamily="18" charset="0"/>
                            </a:rPr>
                            <m:t>𝑗</m:t>
                          </m:r>
                        </m:sub>
                      </m:sSub>
                      <m:r>
                        <a:rPr kumimoji="1" lang="en-US" altLang="zh-TW" sz="2000" b="0" i="1" smtClean="0">
                          <a:latin typeface="Cambria Math" panose="02040503050406030204" pitchFamily="18" charset="0"/>
                        </a:rPr>
                        <m:t>)=</m:t>
                      </m:r>
                      <m:f>
                        <m:fPr>
                          <m:ctrlPr>
                            <a:rPr kumimoji="1" lang="en-US" altLang="zh-TW" sz="2000" b="0" i="1" smtClean="0">
                              <a:latin typeface="Cambria Math" panose="02040503050406030204" pitchFamily="18" charset="0"/>
                            </a:rPr>
                          </m:ctrlPr>
                        </m:fPr>
                        <m:num>
                          <m:r>
                            <a:rPr kumimoji="1" lang="en-US" altLang="zh-TW" sz="2000" b="0" i="1" smtClean="0">
                              <a:latin typeface="Cambria Math" panose="02040503050406030204" pitchFamily="18" charset="0"/>
                            </a:rPr>
                            <m:t>1</m:t>
                          </m:r>
                        </m:num>
                        <m:den>
                          <m:r>
                            <a:rPr kumimoji="1" lang="en-US" altLang="zh-TW" sz="2000" b="0" i="1" smtClean="0">
                              <a:latin typeface="Cambria Math" panose="02040503050406030204" pitchFamily="18" charset="0"/>
                            </a:rPr>
                            <m:t>1+</m:t>
                          </m:r>
                          <m:sSub>
                            <m:sSubPr>
                              <m:ctrlPr>
                                <a:rPr kumimoji="1" lang="en-US" altLang="zh-TW" sz="2000" b="0" i="1" smtClean="0">
                                  <a:latin typeface="Cambria Math" panose="02040503050406030204" pitchFamily="18" charset="0"/>
                                </a:rPr>
                              </m:ctrlPr>
                            </m:sSubPr>
                            <m:e>
                              <m:d>
                                <m:dPr>
                                  <m:begChr m:val="‖"/>
                                  <m:endChr m:val="‖"/>
                                  <m:ctrlPr>
                                    <a:rPr kumimoji="1" lang="en-US" altLang="zh-TW" sz="2000" b="0" i="1" smtClean="0">
                                      <a:latin typeface="Cambria Math" panose="02040503050406030204" pitchFamily="18" charset="0"/>
                                    </a:rPr>
                                  </m:ctrlPr>
                                </m:dPr>
                                <m:e>
                                  <m:sSub>
                                    <m:sSubPr>
                                      <m:ctrlPr>
                                        <a:rPr kumimoji="1" lang="en-US" altLang="zh-TW" sz="2000" b="0" i="1" smtClean="0">
                                          <a:latin typeface="Cambria Math" panose="02040503050406030204" pitchFamily="18" charset="0"/>
                                        </a:rPr>
                                      </m:ctrlPr>
                                    </m:sSubPr>
                                    <m:e>
                                      <m:r>
                                        <a:rPr kumimoji="1" lang="en-US" altLang="zh-TW" sz="2000" b="0" i="1" smtClean="0">
                                          <a:latin typeface="Cambria Math" panose="02040503050406030204" pitchFamily="18" charset="0"/>
                                        </a:rPr>
                                        <m:t>𝑧</m:t>
                                      </m:r>
                                    </m:e>
                                    <m:sub>
                                      <m:r>
                                        <a:rPr kumimoji="1" lang="en-US" altLang="zh-TW" sz="2000" b="0" i="1" smtClean="0">
                                          <a:latin typeface="Cambria Math" panose="02040503050406030204" pitchFamily="18" charset="0"/>
                                        </a:rPr>
                                        <m:t>𝑖</m:t>
                                      </m:r>
                                    </m:sub>
                                  </m:sSub>
                                  <m:r>
                                    <a:rPr kumimoji="1" lang="en-US" altLang="zh-TW" sz="2000" b="0" i="1" smtClean="0">
                                      <a:latin typeface="Cambria Math" panose="02040503050406030204" pitchFamily="18" charset="0"/>
                                    </a:rPr>
                                    <m:t>−</m:t>
                                  </m:r>
                                  <m:sSub>
                                    <m:sSubPr>
                                      <m:ctrlPr>
                                        <a:rPr kumimoji="1" lang="en-US" altLang="zh-TW" sz="2000" b="0" i="1" smtClean="0">
                                          <a:latin typeface="Cambria Math" panose="02040503050406030204" pitchFamily="18" charset="0"/>
                                        </a:rPr>
                                      </m:ctrlPr>
                                    </m:sSubPr>
                                    <m:e>
                                      <m:r>
                                        <a:rPr kumimoji="1" lang="en-US" altLang="zh-TW" sz="2000" b="0" i="1" smtClean="0">
                                          <a:latin typeface="Cambria Math" panose="02040503050406030204" pitchFamily="18" charset="0"/>
                                        </a:rPr>
                                        <m:t>𝑧</m:t>
                                      </m:r>
                                    </m:e>
                                    <m:sub>
                                      <m:r>
                                        <a:rPr kumimoji="1" lang="en-US" altLang="zh-TW" sz="2000" b="0" i="1" smtClean="0">
                                          <a:latin typeface="Cambria Math" panose="02040503050406030204" pitchFamily="18" charset="0"/>
                                        </a:rPr>
                                        <m:t>𝑗</m:t>
                                      </m:r>
                                    </m:sub>
                                  </m:sSub>
                                </m:e>
                              </m:d>
                            </m:e>
                            <m:sub>
                              <m:r>
                                <a:rPr kumimoji="1" lang="en-US" altLang="zh-TW" sz="2000" b="0" i="1" smtClean="0">
                                  <a:latin typeface="Cambria Math" panose="02040503050406030204" pitchFamily="18" charset="0"/>
                                </a:rPr>
                                <m:t>2</m:t>
                              </m:r>
                            </m:sub>
                          </m:sSub>
                        </m:den>
                      </m:f>
                    </m:oMath>
                  </m:oMathPara>
                </a14:m>
                <a:endParaRPr kumimoji="1" lang="zh-TW" altLang="en-US" sz="2000" dirty="0"/>
              </a:p>
            </p:txBody>
          </p:sp>
        </mc:Choice>
        <mc:Fallback xmlns="">
          <p:sp>
            <p:nvSpPr>
              <p:cNvPr id="5" name="文字方塊 4">
                <a:extLst>
                  <a:ext uri="{FF2B5EF4-FFF2-40B4-BE49-F238E27FC236}">
                    <a16:creationId xmlns:a16="http://schemas.microsoft.com/office/drawing/2014/main" id="{CC6E9969-6452-DD1A-9330-6406654C0B7C}"/>
                  </a:ext>
                </a:extLst>
              </p:cNvPr>
              <p:cNvSpPr txBox="1">
                <a:spLocks noRot="1" noChangeAspect="1" noMove="1" noResize="1" noEditPoints="1" noAdjustHandles="1" noChangeArrowheads="1" noChangeShapeType="1" noTextEdit="1"/>
              </p:cNvSpPr>
              <p:nvPr/>
            </p:nvSpPr>
            <p:spPr>
              <a:xfrm>
                <a:off x="3223611" y="3843740"/>
                <a:ext cx="2872389" cy="729302"/>
              </a:xfrm>
              <a:prstGeom prst="rect">
                <a:avLst/>
              </a:prstGeom>
              <a:blipFill>
                <a:blip r:embed="rId4"/>
                <a:stretch>
                  <a:fillRect l="-1316" b="-1034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56105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D993D3A-8BE9-7AE5-0467-87C418AED6A5}"/>
              </a:ext>
            </a:extLst>
          </p:cNvPr>
          <p:cNvSpPr>
            <a:spLocks noGrp="1"/>
          </p:cNvSpPr>
          <p:nvPr>
            <p:ph type="title"/>
          </p:nvPr>
        </p:nvSpPr>
        <p:spPr/>
        <p:txBody>
          <a:bodyPr/>
          <a:lstStyle/>
          <a:p>
            <a:r>
              <a:rPr lang="en" altLang="zh-TW" sz="4400" dirty="0"/>
              <a:t>t-SNE</a:t>
            </a:r>
            <a:endParaRPr kumimoji="1" lang="zh-TW" altLang="en-US" dirty="0"/>
          </a:p>
        </p:txBody>
      </p:sp>
      <p:sp>
        <p:nvSpPr>
          <p:cNvPr id="3" name="內容版面配置區 2">
            <a:extLst>
              <a:ext uri="{FF2B5EF4-FFF2-40B4-BE49-F238E27FC236}">
                <a16:creationId xmlns:a16="http://schemas.microsoft.com/office/drawing/2014/main" id="{073DFD5F-6182-D7C2-E61F-A6B11859C011}"/>
              </a:ext>
            </a:extLst>
          </p:cNvPr>
          <p:cNvSpPr>
            <a:spLocks noGrp="1"/>
          </p:cNvSpPr>
          <p:nvPr>
            <p:ph idx="1"/>
          </p:nvPr>
        </p:nvSpPr>
        <p:spPr/>
        <p:txBody>
          <a:bodyPr/>
          <a:lstStyle/>
          <a:p>
            <a:r>
              <a:rPr lang="zh-TW" altLang="en-US" b="0" i="0" dirty="0">
                <a:solidFill>
                  <a:srgbClr val="333333"/>
                </a:solidFill>
                <a:effectLst/>
                <a:latin typeface="-apple-system"/>
              </a:rPr>
              <a:t>再來便可以定義轉換前後的分佈為</a:t>
            </a:r>
            <a:endParaRPr lang="en-US" altLang="zh-TW" b="0" i="0" dirty="0">
              <a:solidFill>
                <a:srgbClr val="333333"/>
              </a:solidFill>
              <a:effectLst/>
              <a:latin typeface="-apple-system"/>
            </a:endParaRPr>
          </a:p>
          <a:p>
            <a:endParaRPr kumimoji="1" lang="en-US" altLang="zh-TW" dirty="0">
              <a:solidFill>
                <a:srgbClr val="333333"/>
              </a:solidFill>
              <a:latin typeface="-apple-system"/>
            </a:endParaRPr>
          </a:p>
          <a:p>
            <a:pPr marL="0" indent="0">
              <a:buNone/>
            </a:pPr>
            <a:endParaRPr kumimoji="1" lang="en-US" altLang="zh-TW" dirty="0">
              <a:solidFill>
                <a:srgbClr val="333333"/>
              </a:solidFill>
              <a:latin typeface="-apple-system"/>
            </a:endParaRPr>
          </a:p>
          <a:p>
            <a:r>
              <a:rPr lang="zh-TW" altLang="en-US" b="0" i="0" dirty="0">
                <a:solidFill>
                  <a:srgbClr val="333333"/>
                </a:solidFill>
                <a:effectLst/>
                <a:latin typeface="-apple-system"/>
              </a:rPr>
              <a:t>一切就緒後，</a:t>
            </a:r>
            <a:r>
              <a:rPr lang="en" altLang="zh-TW" b="0" i="0" dirty="0">
                <a:solidFill>
                  <a:srgbClr val="333333"/>
                </a:solidFill>
                <a:effectLst/>
                <a:latin typeface="-apple-system"/>
              </a:rPr>
              <a:t>Loss function </a:t>
            </a:r>
            <a:r>
              <a:rPr lang="zh-TW" altLang="en-US" b="0" i="0" dirty="0">
                <a:solidFill>
                  <a:srgbClr val="333333"/>
                </a:solidFill>
                <a:effectLst/>
                <a:latin typeface="-apple-system"/>
              </a:rPr>
              <a:t>便為兩個分布之間的差距，在數學上使用 </a:t>
            </a:r>
            <a:r>
              <a:rPr lang="en" altLang="zh-TW" b="0" i="0" dirty="0">
                <a:solidFill>
                  <a:srgbClr val="333333"/>
                </a:solidFill>
                <a:effectLst/>
                <a:latin typeface="-apple-system"/>
              </a:rPr>
              <a:t>KL </a:t>
            </a:r>
            <a:r>
              <a:rPr lang="zh-TW" altLang="en-US" b="0" i="0" dirty="0">
                <a:solidFill>
                  <a:srgbClr val="333333"/>
                </a:solidFill>
                <a:effectLst/>
                <a:latin typeface="-apple-system"/>
              </a:rPr>
              <a:t>散度 </a:t>
            </a:r>
            <a:r>
              <a:rPr lang="en-US" altLang="zh-TW" b="0" i="0" dirty="0">
                <a:solidFill>
                  <a:srgbClr val="333333"/>
                </a:solidFill>
                <a:effectLst/>
                <a:latin typeface="-apple-system"/>
              </a:rPr>
              <a:t>( </a:t>
            </a:r>
            <a:r>
              <a:rPr lang="zh-TW" altLang="en-US" b="0" i="0" dirty="0">
                <a:solidFill>
                  <a:srgbClr val="333333"/>
                </a:solidFill>
                <a:effectLst/>
                <a:latin typeface="-apple-system"/>
              </a:rPr>
              <a:t>相對熵 </a:t>
            </a:r>
            <a:r>
              <a:rPr lang="en-US" altLang="zh-TW" b="0" i="0" dirty="0">
                <a:solidFill>
                  <a:srgbClr val="333333"/>
                </a:solidFill>
                <a:effectLst/>
                <a:latin typeface="-apple-system"/>
              </a:rPr>
              <a:t>)</a:t>
            </a:r>
            <a:r>
              <a:rPr lang="zh-TW" altLang="en-US" b="0" i="0" dirty="0">
                <a:solidFill>
                  <a:srgbClr val="333333"/>
                </a:solidFill>
                <a:effectLst/>
                <a:latin typeface="-apple-system"/>
              </a:rPr>
              <a:t>來計算，接著再找最優解即可 </a:t>
            </a:r>
            <a:r>
              <a:rPr lang="en-US" altLang="zh-TW" b="0" i="0" dirty="0">
                <a:solidFill>
                  <a:srgbClr val="333333"/>
                </a:solidFill>
                <a:effectLst/>
                <a:latin typeface="-apple-system"/>
              </a:rPr>
              <a:t>:</a:t>
            </a:r>
          </a:p>
          <a:p>
            <a:pPr lvl="1"/>
            <a:r>
              <a:rPr kumimoji="1" lang="en-US" altLang="zh-TW" dirty="0"/>
              <a:t>『</a:t>
            </a:r>
            <a:r>
              <a:rPr kumimoji="1" lang="en" altLang="zh-TW" dirty="0"/>
              <a:t>KL </a:t>
            </a:r>
            <a:r>
              <a:rPr kumimoji="1" lang="zh-TW" altLang="en-US" dirty="0"/>
              <a:t>散度</a:t>
            </a:r>
            <a:r>
              <a:rPr kumimoji="1" lang="en-US" altLang="zh-TW" dirty="0"/>
              <a:t>』</a:t>
            </a:r>
            <a:r>
              <a:rPr kumimoji="1" lang="zh-TW" altLang="en-US" dirty="0"/>
              <a:t>（</a:t>
            </a:r>
            <a:r>
              <a:rPr kumimoji="1" lang="en" altLang="zh-TW" dirty="0" err="1"/>
              <a:t>Kullback</a:t>
            </a:r>
            <a:r>
              <a:rPr kumimoji="1" lang="en" altLang="zh-TW" dirty="0"/>
              <a:t> </a:t>
            </a:r>
            <a:r>
              <a:rPr kumimoji="1" lang="en" altLang="zh-TW" dirty="0" err="1"/>
              <a:t>Libler</a:t>
            </a:r>
            <a:r>
              <a:rPr kumimoji="1" lang="en" altLang="zh-TW" dirty="0"/>
              <a:t> Divergence</a:t>
            </a:r>
            <a:r>
              <a:rPr kumimoji="1" lang="zh-TW" altLang="en" dirty="0"/>
              <a:t>）</a:t>
            </a:r>
            <a:r>
              <a:rPr kumimoji="1" lang="zh-TW" altLang="en-US" dirty="0"/>
              <a:t>：就是評估兩個機率分佈 </a:t>
            </a:r>
            <a:r>
              <a:rPr kumimoji="1" lang="en" altLang="zh-TW" dirty="0"/>
              <a:t>P </a:t>
            </a:r>
            <a:r>
              <a:rPr kumimoji="1" lang="zh-TW" altLang="en-US" dirty="0"/>
              <a:t>和 </a:t>
            </a:r>
            <a:r>
              <a:rPr kumimoji="1" lang="en" altLang="zh-TW" dirty="0"/>
              <a:t>Q </a:t>
            </a:r>
            <a:r>
              <a:rPr kumimoji="1" lang="zh-TW" altLang="en-US" dirty="0"/>
              <a:t>之間</a:t>
            </a:r>
            <a:r>
              <a:rPr kumimoji="1" lang="en-US" altLang="zh-TW" dirty="0"/>
              <a:t>『</a:t>
            </a:r>
            <a:r>
              <a:rPr kumimoji="1" lang="zh-TW" altLang="en-US" dirty="0"/>
              <a:t>差異性</a:t>
            </a:r>
            <a:r>
              <a:rPr kumimoji="1" lang="en-US" altLang="zh-TW" dirty="0"/>
              <a:t>』</a:t>
            </a:r>
            <a:r>
              <a:rPr kumimoji="1" lang="zh-TW" altLang="en-US" dirty="0"/>
              <a:t>的一個評估值。</a:t>
            </a: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7B329053-7B52-28C5-6CBB-9C0A841FDCE5}"/>
                  </a:ext>
                </a:extLst>
              </p:cNvPr>
              <p:cNvSpPr txBox="1"/>
              <p:nvPr/>
            </p:nvSpPr>
            <p:spPr>
              <a:xfrm>
                <a:off x="1364379" y="2424722"/>
                <a:ext cx="4256773" cy="7340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𝑃</m:t>
                      </m:r>
                      <m:d>
                        <m:dPr>
                          <m:ctrlPr>
                            <a:rPr lang="zh-TW" altLang="en-US" i="1">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𝑗</m:t>
                              </m:r>
                            </m:sub>
                          </m:sSub>
                        </m:e>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𝑖</m:t>
                              </m:r>
                            </m:sub>
                          </m:sSub>
                        </m:e>
                      </m:d>
                      <m:r>
                        <a:rPr lang="zh-TW" altLang="en-US" i="0">
                          <a:latin typeface="Cambria Math" panose="02040503050406030204" pitchFamily="18" charset="0"/>
                        </a:rPr>
                        <m:t>=</m:t>
                      </m:r>
                      <m:f>
                        <m:fPr>
                          <m:ctrlPr>
                            <a:rPr lang="zh-TW" altLang="en-US" i="1">
                              <a:solidFill>
                                <a:srgbClr val="836967"/>
                              </a:solidFill>
                              <a:latin typeface="Cambria Math" panose="02040503050406030204" pitchFamily="18" charset="0"/>
                            </a:rPr>
                          </m:ctrlPr>
                        </m:fPr>
                        <m:num>
                          <m:r>
                            <a:rPr lang="zh-TW" altLang="en-US" i="1">
                              <a:latin typeface="Cambria Math" panose="02040503050406030204" pitchFamily="18" charset="0"/>
                            </a:rPr>
                            <m:t>𝑆</m:t>
                          </m:r>
                          <m:d>
                            <m:dPr>
                              <m:sepChr m:val=","/>
                              <m:ctrlPr>
                                <a:rPr lang="zh-TW" altLang="en-US" i="1">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𝑖</m:t>
                                  </m:r>
                                </m:sub>
                              </m:sSub>
                            </m:e>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𝑗</m:t>
                                  </m:r>
                                </m:sub>
                              </m:sSub>
                            </m:e>
                          </m:d>
                        </m:num>
                        <m:den>
                          <m:nary>
                            <m:naryPr>
                              <m:chr m:val="∑"/>
                              <m:limLoc m:val="undOvr"/>
                              <m:grow m:val="on"/>
                              <m:supHide m:val="on"/>
                              <m:ctrlPr>
                                <a:rPr lang="zh-TW" altLang="en-US" i="1">
                                  <a:latin typeface="Cambria Math" panose="02040503050406030204" pitchFamily="18" charset="0"/>
                                </a:rPr>
                              </m:ctrlPr>
                            </m:naryPr>
                            <m:sub>
                              <m:r>
                                <a:rPr lang="zh-TW" altLang="en-US" i="1">
                                  <a:latin typeface="Cambria Math" panose="02040503050406030204" pitchFamily="18" charset="0"/>
                                </a:rPr>
                                <m:t>𝑘</m:t>
                              </m:r>
                              <m:r>
                                <a:rPr lang="zh-TW" altLang="en-US" i="0">
                                  <a:latin typeface="Cambria Math" panose="02040503050406030204" pitchFamily="18" charset="0"/>
                                </a:rPr>
                                <m:t>≠</m:t>
                              </m:r>
                              <m:r>
                                <a:rPr lang="zh-TW" altLang="en-US" i="1">
                                  <a:latin typeface="Cambria Math" panose="02040503050406030204" pitchFamily="18" charset="0"/>
                                </a:rPr>
                                <m:t>𝑖</m:t>
                              </m:r>
                            </m:sub>
                            <m:sup/>
                            <m:e>
                              <m:r>
                                <a:rPr lang="zh-TW" altLang="en-US" i="1">
                                  <a:latin typeface="Cambria Math" panose="02040503050406030204" pitchFamily="18" charset="0"/>
                                </a:rPr>
                                <m:t>𝑆</m:t>
                              </m:r>
                              <m:d>
                                <m:dPr>
                                  <m:sepChr m:val=","/>
                                  <m:ctrlPr>
                                    <a:rPr lang="zh-TW" altLang="en-US" i="1">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𝑖</m:t>
                                      </m:r>
                                    </m:sub>
                                  </m:sSub>
                                </m:e>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𝑘</m:t>
                                      </m:r>
                                    </m:sub>
                                  </m:sSub>
                                </m:e>
                              </m:d>
                            </m:e>
                          </m:nary>
                        </m:den>
                      </m:f>
                    </m:oMath>
                  </m:oMathPara>
                </a14:m>
                <a:endParaRPr lang="zh-TW" altLang="en-US" dirty="0"/>
              </a:p>
            </p:txBody>
          </p:sp>
        </mc:Choice>
        <mc:Fallback xmlns="">
          <p:sp>
            <p:nvSpPr>
              <p:cNvPr id="5" name="文字方塊 4">
                <a:extLst>
                  <a:ext uri="{FF2B5EF4-FFF2-40B4-BE49-F238E27FC236}">
                    <a16:creationId xmlns:a16="http://schemas.microsoft.com/office/drawing/2014/main" id="{7B329053-7B52-28C5-6CBB-9C0A841FDCE5}"/>
                  </a:ext>
                </a:extLst>
              </p:cNvPr>
              <p:cNvSpPr txBox="1">
                <a:spLocks noRot="1" noChangeAspect="1" noMove="1" noResize="1" noEditPoints="1" noAdjustHandles="1" noChangeArrowheads="1" noChangeShapeType="1" noTextEdit="1"/>
              </p:cNvSpPr>
              <p:nvPr/>
            </p:nvSpPr>
            <p:spPr>
              <a:xfrm>
                <a:off x="1364379" y="2424722"/>
                <a:ext cx="4256773" cy="734047"/>
              </a:xfrm>
              <a:prstGeom prst="rect">
                <a:avLst/>
              </a:prstGeom>
              <a:blipFill>
                <a:blip r:embed="rId2"/>
                <a:stretch>
                  <a:fillRect t="-10345" b="-8620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872BE868-2170-857E-A566-4897080EF353}"/>
                  </a:ext>
                </a:extLst>
              </p:cNvPr>
              <p:cNvSpPr txBox="1"/>
              <p:nvPr/>
            </p:nvSpPr>
            <p:spPr>
              <a:xfrm>
                <a:off x="5051993" y="2424722"/>
                <a:ext cx="4169010" cy="7340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𝑄</m:t>
                      </m:r>
                      <m:d>
                        <m:dPr>
                          <m:ctrlPr>
                            <a:rPr lang="zh-TW" altLang="en-US" i="1">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𝑗</m:t>
                              </m:r>
                            </m:sub>
                          </m:sSub>
                        </m:e>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𝑖</m:t>
                              </m:r>
                            </m:sub>
                          </m:sSub>
                        </m:e>
                      </m:d>
                      <m:r>
                        <a:rPr lang="zh-TW" altLang="en-US" i="0">
                          <a:latin typeface="Cambria Math" panose="02040503050406030204" pitchFamily="18" charset="0"/>
                        </a:rPr>
                        <m:t>=</m:t>
                      </m:r>
                      <m:f>
                        <m:fPr>
                          <m:ctrlPr>
                            <a:rPr lang="zh-TW" altLang="en-US" i="1">
                              <a:solidFill>
                                <a:srgbClr val="836967"/>
                              </a:solidFill>
                              <a:latin typeface="Cambria Math" panose="02040503050406030204" pitchFamily="18" charset="0"/>
                            </a:rPr>
                          </m:ctrlPr>
                        </m:fPr>
                        <m:num>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𝑆</m:t>
                              </m:r>
                            </m:e>
                            <m:sup>
                              <m:r>
                                <a:rPr lang="zh-TW" altLang="en-US" i="0">
                                  <a:latin typeface="Cambria Math" panose="02040503050406030204" pitchFamily="18" charset="0"/>
                                </a:rPr>
                                <m:t>′</m:t>
                              </m:r>
                            </m:sup>
                          </m:sSup>
                          <m:d>
                            <m:dPr>
                              <m:sepChr m:val=","/>
                              <m:ctrlPr>
                                <a:rPr lang="zh-TW" altLang="en-US" i="1">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𝑖</m:t>
                                  </m:r>
                                </m:sub>
                              </m:sSub>
                            </m:e>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𝑗</m:t>
                                  </m:r>
                                </m:sub>
                              </m:sSub>
                            </m:e>
                          </m:d>
                        </m:num>
                        <m:den>
                          <m:nary>
                            <m:naryPr>
                              <m:chr m:val="∑"/>
                              <m:limLoc m:val="undOvr"/>
                              <m:grow m:val="on"/>
                              <m:supHide m:val="on"/>
                              <m:ctrlPr>
                                <a:rPr lang="zh-TW" altLang="en-US" i="1">
                                  <a:latin typeface="Cambria Math" panose="02040503050406030204" pitchFamily="18" charset="0"/>
                                </a:rPr>
                              </m:ctrlPr>
                            </m:naryPr>
                            <m:sub>
                              <m:r>
                                <a:rPr lang="zh-TW" altLang="en-US" i="1">
                                  <a:latin typeface="Cambria Math" panose="02040503050406030204" pitchFamily="18" charset="0"/>
                                </a:rPr>
                                <m:t>𝑘</m:t>
                              </m:r>
                              <m:r>
                                <a:rPr lang="zh-TW" altLang="en-US" i="0">
                                  <a:latin typeface="Cambria Math" panose="02040503050406030204" pitchFamily="18" charset="0"/>
                                </a:rPr>
                                <m:t>≠</m:t>
                              </m:r>
                              <m:r>
                                <a:rPr lang="zh-TW" altLang="en-US" i="1">
                                  <a:latin typeface="Cambria Math" panose="02040503050406030204" pitchFamily="18" charset="0"/>
                                </a:rPr>
                                <m:t>𝑖</m:t>
                              </m:r>
                            </m:sub>
                            <m:sup/>
                            <m:e>
                              <m:sSup>
                                <m:sSupPr>
                                  <m:ctrlPr>
                                    <a:rPr lang="zh-TW" altLang="en-US" i="1">
                                      <a:solidFill>
                                        <a:srgbClr val="836967"/>
                                      </a:solidFill>
                                      <a:latin typeface="Cambria Math" panose="02040503050406030204" pitchFamily="18" charset="0"/>
                                    </a:rPr>
                                  </m:ctrlPr>
                                </m:sSupPr>
                                <m:e>
                                  <m:r>
                                    <a:rPr lang="zh-TW" altLang="en-US" i="1">
                                      <a:latin typeface="Cambria Math" panose="02040503050406030204" pitchFamily="18" charset="0"/>
                                    </a:rPr>
                                    <m:t>𝑆</m:t>
                                  </m:r>
                                </m:e>
                                <m:sup>
                                  <m:r>
                                    <a:rPr lang="zh-TW" altLang="en-US">
                                      <a:latin typeface="Cambria Math" panose="02040503050406030204" pitchFamily="18" charset="0"/>
                                    </a:rPr>
                                    <m:t>′</m:t>
                                  </m:r>
                                </m:sup>
                              </m:sSup>
                              <m:d>
                                <m:dPr>
                                  <m:sepChr m:val=","/>
                                  <m:ctrlPr>
                                    <a:rPr lang="zh-TW" altLang="en-US" i="1">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𝑖</m:t>
                                      </m:r>
                                    </m:sub>
                                  </m:sSub>
                                </m:e>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𝑘</m:t>
                                      </m:r>
                                    </m:sub>
                                  </m:sSub>
                                </m:e>
                              </m:d>
                            </m:e>
                          </m:nary>
                        </m:den>
                      </m:f>
                    </m:oMath>
                  </m:oMathPara>
                </a14:m>
                <a:endParaRPr lang="zh-TW" altLang="en-US" dirty="0"/>
              </a:p>
            </p:txBody>
          </p:sp>
        </mc:Choice>
        <mc:Fallback xmlns="">
          <p:sp>
            <p:nvSpPr>
              <p:cNvPr id="7" name="文字方塊 6">
                <a:extLst>
                  <a:ext uri="{FF2B5EF4-FFF2-40B4-BE49-F238E27FC236}">
                    <a16:creationId xmlns:a16="http://schemas.microsoft.com/office/drawing/2014/main" id="{872BE868-2170-857E-A566-4897080EF353}"/>
                  </a:ext>
                </a:extLst>
              </p:cNvPr>
              <p:cNvSpPr txBox="1">
                <a:spLocks noRot="1" noChangeAspect="1" noMove="1" noResize="1" noEditPoints="1" noAdjustHandles="1" noChangeArrowheads="1" noChangeShapeType="1" noTextEdit="1"/>
              </p:cNvSpPr>
              <p:nvPr/>
            </p:nvSpPr>
            <p:spPr>
              <a:xfrm>
                <a:off x="5051993" y="2424722"/>
                <a:ext cx="4169010" cy="734047"/>
              </a:xfrm>
              <a:prstGeom prst="rect">
                <a:avLst/>
              </a:prstGeom>
              <a:blipFill>
                <a:blip r:embed="rId3"/>
                <a:stretch>
                  <a:fillRect t="-10345" b="-86207"/>
                </a:stretch>
              </a:blipFill>
            </p:spPr>
            <p:txBody>
              <a:bodyPr/>
              <a:lstStyle/>
              <a:p>
                <a:r>
                  <a:rPr lang="zh-TW" altLang="en-US">
                    <a:noFill/>
                  </a:rPr>
                  <a:t> </a:t>
                </a:r>
              </a:p>
            </p:txBody>
          </p:sp>
        </mc:Fallback>
      </mc:AlternateContent>
      <p:sp>
        <p:nvSpPr>
          <p:cNvPr id="9" name="文字方塊 8">
            <a:extLst>
              <a:ext uri="{FF2B5EF4-FFF2-40B4-BE49-F238E27FC236}">
                <a16:creationId xmlns:a16="http://schemas.microsoft.com/office/drawing/2014/main" id="{04803407-0DEE-A98C-F751-72C9AEC4E185}"/>
              </a:ext>
            </a:extLst>
          </p:cNvPr>
          <p:cNvSpPr txBox="1"/>
          <p:nvPr/>
        </p:nvSpPr>
        <p:spPr>
          <a:xfrm>
            <a:off x="838199" y="6092722"/>
            <a:ext cx="6097604" cy="738664"/>
          </a:xfrm>
          <a:prstGeom prst="rect">
            <a:avLst/>
          </a:prstGeom>
          <a:noFill/>
        </p:spPr>
        <p:txBody>
          <a:bodyPr wrap="square">
            <a:spAutoFit/>
          </a:bodyPr>
          <a:lstStyle/>
          <a:p>
            <a:r>
              <a:rPr lang="zh-TW" altLang="en-US" sz="1400" dirty="0">
                <a:hlinkClick r:id="rId4"/>
              </a:rPr>
              <a:t>https://clay-atlas.com/blog/2023/07/19/kl-kullback-leibler-divergence/</a:t>
            </a:r>
            <a:endParaRPr lang="en-US" altLang="zh-TW" sz="1400" dirty="0"/>
          </a:p>
          <a:p>
            <a:r>
              <a:rPr lang="en" altLang="zh-TW" sz="1400" dirty="0">
                <a:hlinkClick r:id="rId5"/>
              </a:rPr>
              <a:t>https://medium.com/@sachinsoni600517/mastering-t-sne-t-distributed-stochastic-neighbor-embedding-0e365ee898ea</a:t>
            </a:r>
            <a:endParaRPr lang="zh-TW" altLang="en-US" sz="1400" dirty="0"/>
          </a:p>
        </p:txBody>
      </p:sp>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D1759E2B-DF15-510E-F919-6943DD038A01}"/>
                  </a:ext>
                </a:extLst>
              </p:cNvPr>
              <p:cNvSpPr txBox="1"/>
              <p:nvPr/>
            </p:nvSpPr>
            <p:spPr>
              <a:xfrm>
                <a:off x="6304547" y="4624641"/>
                <a:ext cx="5197357" cy="19641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TW" altLang="en-US" i="1" smtClean="0">
                          <a:latin typeface="Cambria Math" panose="02040503050406030204" pitchFamily="18" charset="0"/>
                        </a:rPr>
                        <m:t>𝐿</m:t>
                      </m:r>
                      <m:r>
                        <a:rPr lang="zh-TW" altLang="en-US" i="0">
                          <a:latin typeface="Cambria Math" panose="02040503050406030204" pitchFamily="18" charset="0"/>
                        </a:rPr>
                        <m:t>=</m:t>
                      </m:r>
                      <m:nary>
                        <m:naryPr>
                          <m:chr m:val="∑"/>
                          <m:limLoc m:val="undOvr"/>
                          <m:grow m:val="on"/>
                          <m:supHide m:val="on"/>
                          <m:ctrlPr>
                            <a:rPr lang="zh-TW" altLang="en-US" i="1">
                              <a:latin typeface="Cambria Math" panose="02040503050406030204" pitchFamily="18" charset="0"/>
                            </a:rPr>
                          </m:ctrlPr>
                        </m:naryPr>
                        <m:sub>
                          <m:r>
                            <a:rPr lang="zh-TW" altLang="en-US" i="1">
                              <a:latin typeface="Cambria Math" panose="02040503050406030204" pitchFamily="18" charset="0"/>
                            </a:rPr>
                            <m:t>𝑖</m:t>
                          </m:r>
                        </m:sub>
                        <m:sup/>
                        <m:e>
                          <m:r>
                            <a:rPr lang="zh-TW" altLang="en-US" i="1">
                              <a:latin typeface="Cambria Math" panose="02040503050406030204" pitchFamily="18" charset="0"/>
                            </a:rPr>
                            <m:t>𝐾𝐿</m:t>
                          </m:r>
                          <m:d>
                            <m:dPr>
                              <m:sepChr m:val="‖"/>
                              <m:ctrlPr>
                                <a:rPr lang="zh-TW" altLang="en-US" i="1">
                                  <a:latin typeface="Cambria Math" panose="02040503050406030204" pitchFamily="18" charset="0"/>
                                </a:rPr>
                              </m:ctrlPr>
                            </m:dPr>
                            <m:e>
                              <m:r>
                                <a:rPr lang="zh-TW" altLang="en-US" i="1">
                                  <a:latin typeface="Cambria Math" panose="02040503050406030204" pitchFamily="18" charset="0"/>
                                </a:rPr>
                                <m:t>𝑃</m:t>
                              </m:r>
                              <m:d>
                                <m:dPr>
                                  <m:ctrlPr>
                                    <a:rPr lang="zh-TW" altLang="en-US" i="1">
                                      <a:latin typeface="Cambria Math" panose="02040503050406030204" pitchFamily="18" charset="0"/>
                                    </a:rPr>
                                  </m:ctrlPr>
                                </m:dPr>
                                <m:e>
                                  <m:r>
                                    <a:rPr lang="zh-TW" altLang="en-US">
                                      <a:latin typeface="Cambria Math" panose="02040503050406030204" pitchFamily="18" charset="0"/>
                                    </a:rPr>
                                    <m:t>∗</m:t>
                                  </m:r>
                                </m:e>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𝑖</m:t>
                                      </m:r>
                                    </m:sub>
                                  </m:sSub>
                                </m:e>
                              </m:d>
                            </m:e>
                            <m:e>
                              <m:r>
                                <a:rPr lang="zh-TW" altLang="en-US" i="1">
                                  <a:latin typeface="Cambria Math" panose="02040503050406030204" pitchFamily="18" charset="0"/>
                                </a:rPr>
                                <m:t>𝑄</m:t>
                              </m:r>
                              <m:d>
                                <m:dPr>
                                  <m:ctrlPr>
                                    <a:rPr lang="zh-TW" altLang="en-US" i="1">
                                      <a:latin typeface="Cambria Math" panose="02040503050406030204" pitchFamily="18" charset="0"/>
                                    </a:rPr>
                                  </m:ctrlPr>
                                </m:dPr>
                                <m:e>
                                  <m:r>
                                    <a:rPr lang="zh-TW" altLang="en-US" i="0">
                                      <a:latin typeface="Cambria Math" panose="02040503050406030204" pitchFamily="18" charset="0"/>
                                    </a:rPr>
                                    <m:t>∗</m:t>
                                  </m:r>
                                </m:e>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𝑖</m:t>
                                      </m:r>
                                    </m:sub>
                                  </m:sSub>
                                </m:e>
                              </m:d>
                            </m:e>
                          </m:d>
                        </m:e>
                      </m:nary>
                      <m:r>
                        <a:rPr lang="zh-TW" altLang="en-US" i="0">
                          <a:latin typeface="Cambria Math" panose="02040503050406030204" pitchFamily="18" charset="0"/>
                        </a:rPr>
                        <m:t>=</m:t>
                      </m:r>
                      <m:nary>
                        <m:naryPr>
                          <m:chr m:val="∑"/>
                          <m:limLoc m:val="undOvr"/>
                          <m:grow m:val="on"/>
                          <m:supHide m:val="on"/>
                          <m:ctrlPr>
                            <a:rPr lang="zh-TW" altLang="en-US" i="1">
                              <a:latin typeface="Cambria Math" panose="02040503050406030204" pitchFamily="18" charset="0"/>
                            </a:rPr>
                          </m:ctrlPr>
                        </m:naryPr>
                        <m:sub>
                          <m:r>
                            <a:rPr lang="zh-TW" altLang="en-US" i="1">
                              <a:latin typeface="Cambria Math" panose="02040503050406030204" pitchFamily="18" charset="0"/>
                            </a:rPr>
                            <m:t>𝑖</m:t>
                          </m:r>
                        </m:sub>
                        <m:sup/>
                        <m:e>
                          <m:nary>
                            <m:naryPr>
                              <m:chr m:val="∑"/>
                              <m:limLoc m:val="undOvr"/>
                              <m:grow m:val="on"/>
                              <m:supHide m:val="on"/>
                              <m:ctrlPr>
                                <a:rPr lang="zh-TW" altLang="en-US" i="1">
                                  <a:latin typeface="Cambria Math" panose="02040503050406030204" pitchFamily="18" charset="0"/>
                                </a:rPr>
                              </m:ctrlPr>
                            </m:naryPr>
                            <m:sub>
                              <m:r>
                                <a:rPr lang="zh-TW" altLang="en-US" i="1">
                                  <a:latin typeface="Cambria Math" panose="02040503050406030204" pitchFamily="18" charset="0"/>
                                </a:rPr>
                                <m:t>𝑗</m:t>
                              </m:r>
                            </m:sub>
                            <m:sup/>
                            <m:e>
                              <m:r>
                                <a:rPr lang="zh-TW" altLang="en-US" i="1">
                                  <a:latin typeface="Cambria Math" panose="02040503050406030204" pitchFamily="18" charset="0"/>
                                </a:rPr>
                                <m:t>𝑃</m:t>
                              </m:r>
                              <m:d>
                                <m:dPr>
                                  <m:ctrlPr>
                                    <a:rPr lang="zh-TW" altLang="en-US" i="1">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𝑗</m:t>
                                      </m:r>
                                    </m:sub>
                                  </m:sSub>
                                </m:e>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𝑖</m:t>
                                      </m:r>
                                    </m:sub>
                                  </m:sSub>
                                </m:e>
                              </m:d>
                              <m:r>
                                <m:rPr>
                                  <m:sty m:val="p"/>
                                </m:rPr>
                                <a:rPr lang="zh-TW" altLang="en-US" i="0">
                                  <a:latin typeface="Cambria Math" panose="02040503050406030204" pitchFamily="18" charset="0"/>
                                </a:rPr>
                                <m:t>log</m:t>
                              </m:r>
                              <m:f>
                                <m:fPr>
                                  <m:ctrlPr>
                                    <a:rPr lang="zh-TW" altLang="en-US" i="1">
                                      <a:solidFill>
                                        <a:srgbClr val="836967"/>
                                      </a:solidFill>
                                      <a:latin typeface="Cambria Math" panose="02040503050406030204" pitchFamily="18" charset="0"/>
                                    </a:rPr>
                                  </m:ctrlPr>
                                </m:fPr>
                                <m:num>
                                  <m:r>
                                    <a:rPr lang="zh-TW" altLang="en-US" i="1">
                                      <a:latin typeface="Cambria Math" panose="02040503050406030204" pitchFamily="18" charset="0"/>
                                    </a:rPr>
                                    <m:t>𝑃</m:t>
                                  </m:r>
                                  <m:d>
                                    <m:dPr>
                                      <m:ctrlPr>
                                        <a:rPr lang="zh-TW" altLang="en-US" i="1">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𝑗</m:t>
                                          </m:r>
                                        </m:sub>
                                      </m:sSub>
                                    </m:e>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𝑖</m:t>
                                          </m:r>
                                        </m:sub>
                                      </m:sSub>
                                    </m:e>
                                  </m:d>
                                </m:num>
                                <m:den>
                                  <m:r>
                                    <a:rPr lang="zh-TW" altLang="en-US" i="1">
                                      <a:latin typeface="Cambria Math" panose="02040503050406030204" pitchFamily="18" charset="0"/>
                                    </a:rPr>
                                    <m:t>𝑄</m:t>
                                  </m:r>
                                  <m:d>
                                    <m:dPr>
                                      <m:ctrlPr>
                                        <a:rPr lang="zh-TW" altLang="en-US" i="1">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𝑗</m:t>
                                          </m:r>
                                        </m:sub>
                                      </m:sSub>
                                    </m:e>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𝑖</m:t>
                                          </m:r>
                                        </m:sub>
                                      </m:sSub>
                                    </m:e>
                                  </m:d>
                                </m:den>
                              </m:f>
                            </m:e>
                          </m:nary>
                        </m:e>
                      </m:nary>
                    </m:oMath>
                  </m:oMathPara>
                </a14:m>
                <a:endParaRPr lang="zh-TW" altLang="en-US" dirty="0"/>
              </a:p>
            </p:txBody>
          </p:sp>
        </mc:Choice>
        <mc:Fallback xmlns="">
          <p:sp>
            <p:nvSpPr>
              <p:cNvPr id="11" name="文字方塊 10">
                <a:extLst>
                  <a:ext uri="{FF2B5EF4-FFF2-40B4-BE49-F238E27FC236}">
                    <a16:creationId xmlns:a16="http://schemas.microsoft.com/office/drawing/2014/main" id="{D1759E2B-DF15-510E-F919-6943DD038A01}"/>
                  </a:ext>
                </a:extLst>
              </p:cNvPr>
              <p:cNvSpPr txBox="1">
                <a:spLocks noRot="1" noChangeAspect="1" noMove="1" noResize="1" noEditPoints="1" noAdjustHandles="1" noChangeArrowheads="1" noChangeShapeType="1" noTextEdit="1"/>
              </p:cNvSpPr>
              <p:nvPr/>
            </p:nvSpPr>
            <p:spPr>
              <a:xfrm>
                <a:off x="6304547" y="4624641"/>
                <a:ext cx="5197357" cy="1964192"/>
              </a:xfrm>
              <a:prstGeom prst="rect">
                <a:avLst/>
              </a:prstGeom>
              <a:blipFill>
                <a:blip r:embed="rId6"/>
                <a:stretch>
                  <a:fillRect l="-14878" t="-80645" b="-15935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84B2E712-5D1E-6683-D9E4-0B9539748AF5}"/>
                  </a:ext>
                </a:extLst>
              </p:cNvPr>
              <p:cNvSpPr txBox="1"/>
              <p:nvPr/>
            </p:nvSpPr>
            <p:spPr>
              <a:xfrm>
                <a:off x="2110746" y="5196130"/>
                <a:ext cx="3552511" cy="7469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TW" sz="2000" i="1" smtClean="0">
                              <a:latin typeface="Cambria Math" panose="02040503050406030204" pitchFamily="18" charset="0"/>
                            </a:rPr>
                          </m:ctrlPr>
                        </m:sSubPr>
                        <m:e>
                          <m:r>
                            <m:rPr>
                              <m:sty m:val="p"/>
                            </m:rPr>
                            <a:rPr kumimoji="1" lang="en-US" altLang="zh-TW" sz="2000" i="1">
                              <a:latin typeface="Cambria Math" panose="02040503050406030204" pitchFamily="18" charset="0"/>
                            </a:rPr>
                            <m:t>D</m:t>
                          </m:r>
                        </m:e>
                        <m:sub>
                          <m:r>
                            <a:rPr kumimoji="1" lang="en-US" altLang="zh-TW" sz="2000" b="0" i="1" smtClean="0">
                              <a:latin typeface="Cambria Math" panose="02040503050406030204" pitchFamily="18" charset="0"/>
                            </a:rPr>
                            <m:t>𝐾𝐿</m:t>
                          </m:r>
                        </m:sub>
                      </m:sSub>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𝑃</m:t>
                          </m:r>
                          <m:r>
                            <a:rPr kumimoji="1" lang="en-US" altLang="zh-TW" sz="2000" b="0" i="1" smtClean="0">
                              <a:latin typeface="Cambria Math" panose="02040503050406030204" pitchFamily="18" charset="0"/>
                              <a:ea typeface="Cambria Math" panose="02040503050406030204" pitchFamily="18" charset="0"/>
                            </a:rPr>
                            <m:t>∥</m:t>
                          </m:r>
                          <m:r>
                            <a:rPr kumimoji="1" lang="en-US" altLang="zh-TW" sz="2000" b="0" i="1" smtClean="0">
                              <a:latin typeface="Cambria Math" panose="02040503050406030204" pitchFamily="18" charset="0"/>
                              <a:ea typeface="Cambria Math" panose="02040503050406030204" pitchFamily="18" charset="0"/>
                            </a:rPr>
                            <m:t>𝑄</m:t>
                          </m:r>
                        </m:e>
                      </m:d>
                      <m:r>
                        <a:rPr kumimoji="1" lang="en-US" altLang="zh-TW" sz="2000" b="0" i="1" smtClean="0">
                          <a:latin typeface="Cambria Math" panose="02040503050406030204" pitchFamily="18" charset="0"/>
                        </a:rPr>
                        <m:t>=</m:t>
                      </m:r>
                      <m:nary>
                        <m:naryPr>
                          <m:chr m:val="∑"/>
                          <m:supHide m:val="on"/>
                          <m:ctrlPr>
                            <a:rPr kumimoji="1" lang="en-US" altLang="zh-TW" sz="2000" b="0" i="1" smtClean="0">
                              <a:latin typeface="Cambria Math" panose="02040503050406030204" pitchFamily="18" charset="0"/>
                            </a:rPr>
                          </m:ctrlPr>
                        </m:naryPr>
                        <m:sub>
                          <m:r>
                            <m:rPr>
                              <m:brk m:alnAt="7"/>
                            </m:rPr>
                            <a:rPr kumimoji="1" lang="en-US" altLang="zh-TW" sz="2000" b="0" i="1" smtClean="0">
                              <a:latin typeface="Cambria Math" panose="02040503050406030204" pitchFamily="18" charset="0"/>
                            </a:rPr>
                            <m:t>𝑖</m:t>
                          </m:r>
                        </m:sub>
                        <m:sup/>
                        <m:e>
                          <m:r>
                            <a:rPr kumimoji="1" lang="en-US" altLang="zh-TW" sz="2000" b="0" i="1" smtClean="0">
                              <a:latin typeface="Cambria Math" panose="02040503050406030204" pitchFamily="18" charset="0"/>
                            </a:rPr>
                            <m:t>𝑃</m:t>
                          </m:r>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𝑖</m:t>
                          </m:r>
                          <m:r>
                            <a:rPr kumimoji="1" lang="en-US" altLang="zh-TW" sz="2000" b="0" i="1" smtClean="0">
                              <a:latin typeface="Cambria Math" panose="02040503050406030204" pitchFamily="18" charset="0"/>
                            </a:rPr>
                            <m:t>)</m:t>
                          </m:r>
                          <m:func>
                            <m:funcPr>
                              <m:ctrlPr>
                                <a:rPr kumimoji="1" lang="en-US" altLang="zh-TW" sz="2000" b="0" i="1" smtClean="0">
                                  <a:latin typeface="Cambria Math" panose="02040503050406030204" pitchFamily="18" charset="0"/>
                                </a:rPr>
                              </m:ctrlPr>
                            </m:funcPr>
                            <m:fName>
                              <m:r>
                                <m:rPr>
                                  <m:sty m:val="p"/>
                                </m:rPr>
                                <a:rPr kumimoji="1" lang="en-US" altLang="zh-TW" sz="2000" b="0" i="0" smtClean="0">
                                  <a:latin typeface="Cambria Math" panose="02040503050406030204" pitchFamily="18" charset="0"/>
                                </a:rPr>
                                <m:t>log</m:t>
                              </m:r>
                            </m:fName>
                            <m:e>
                              <m:r>
                                <a:rPr kumimoji="1" lang="en-US" altLang="zh-TW" sz="2000" b="0" i="1" smtClean="0">
                                  <a:latin typeface="Cambria Math" panose="02040503050406030204" pitchFamily="18" charset="0"/>
                                </a:rPr>
                                <m:t>(</m:t>
                              </m:r>
                              <m:f>
                                <m:fPr>
                                  <m:ctrlPr>
                                    <a:rPr kumimoji="1" lang="en-US" altLang="zh-TW" sz="2000" b="0" i="1" smtClean="0">
                                      <a:latin typeface="Cambria Math" panose="02040503050406030204" pitchFamily="18" charset="0"/>
                                    </a:rPr>
                                  </m:ctrlPr>
                                </m:fPr>
                                <m:num>
                                  <m:r>
                                    <a:rPr kumimoji="1" lang="en-US" altLang="zh-TW" sz="2000" b="0" i="1" smtClean="0">
                                      <a:latin typeface="Cambria Math" panose="02040503050406030204" pitchFamily="18" charset="0"/>
                                    </a:rPr>
                                    <m:t>𝑃</m:t>
                                  </m:r>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𝑖</m:t>
                                  </m:r>
                                  <m:r>
                                    <a:rPr kumimoji="1" lang="en-US" altLang="zh-TW" sz="2000" b="0" i="1" smtClean="0">
                                      <a:latin typeface="Cambria Math" panose="02040503050406030204" pitchFamily="18" charset="0"/>
                                    </a:rPr>
                                    <m:t>)</m:t>
                                  </m:r>
                                </m:num>
                                <m:den>
                                  <m:r>
                                    <a:rPr kumimoji="1" lang="en-US" altLang="zh-TW" sz="2000" b="0" i="1" smtClean="0">
                                      <a:latin typeface="Cambria Math" panose="02040503050406030204" pitchFamily="18" charset="0"/>
                                    </a:rPr>
                                    <m:t>𝑄</m:t>
                                  </m:r>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𝑖</m:t>
                                  </m:r>
                                  <m:r>
                                    <a:rPr kumimoji="1" lang="en-US" altLang="zh-TW" sz="2000" b="0" i="1" smtClean="0">
                                      <a:latin typeface="Cambria Math" panose="02040503050406030204" pitchFamily="18" charset="0"/>
                                    </a:rPr>
                                    <m:t>)</m:t>
                                  </m:r>
                                </m:den>
                              </m:f>
                              <m:r>
                                <a:rPr kumimoji="1" lang="en-US" altLang="zh-TW" sz="2000" b="0" i="1" smtClean="0">
                                  <a:latin typeface="Cambria Math" panose="02040503050406030204" pitchFamily="18" charset="0"/>
                                </a:rPr>
                                <m:t>)</m:t>
                              </m:r>
                            </m:e>
                          </m:func>
                        </m:e>
                      </m:nary>
                    </m:oMath>
                  </m:oMathPara>
                </a14:m>
                <a:endParaRPr kumimoji="1" lang="zh-TW" altLang="en-US" sz="2000" dirty="0"/>
              </a:p>
            </p:txBody>
          </p:sp>
        </mc:Choice>
        <mc:Fallback xmlns="">
          <p:sp>
            <p:nvSpPr>
              <p:cNvPr id="4" name="文字方塊 3">
                <a:extLst>
                  <a:ext uri="{FF2B5EF4-FFF2-40B4-BE49-F238E27FC236}">
                    <a16:creationId xmlns:a16="http://schemas.microsoft.com/office/drawing/2014/main" id="{84B2E712-5D1E-6683-D9E4-0B9539748AF5}"/>
                  </a:ext>
                </a:extLst>
              </p:cNvPr>
              <p:cNvSpPr txBox="1">
                <a:spLocks noRot="1" noChangeAspect="1" noMove="1" noResize="1" noEditPoints="1" noAdjustHandles="1" noChangeArrowheads="1" noChangeShapeType="1" noTextEdit="1"/>
              </p:cNvSpPr>
              <p:nvPr/>
            </p:nvSpPr>
            <p:spPr>
              <a:xfrm>
                <a:off x="2110746" y="5196130"/>
                <a:ext cx="3552511" cy="746936"/>
              </a:xfrm>
              <a:prstGeom prst="rect">
                <a:avLst/>
              </a:prstGeom>
              <a:blipFill>
                <a:blip r:embed="rId7"/>
                <a:stretch>
                  <a:fillRect l="-1071" t="-140984" r="-2143" b="-19672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1125409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1C8585-CA9E-CCE1-0011-A8A5DEB68167}"/>
              </a:ext>
            </a:extLst>
          </p:cNvPr>
          <p:cNvSpPr>
            <a:spLocks noGrp="1"/>
          </p:cNvSpPr>
          <p:nvPr>
            <p:ph type="title"/>
          </p:nvPr>
        </p:nvSpPr>
        <p:spPr/>
        <p:txBody>
          <a:bodyPr/>
          <a:lstStyle/>
          <a:p>
            <a:r>
              <a:rPr lang="en" altLang="zh-TW" sz="4400" dirty="0"/>
              <a:t>t-SNE</a:t>
            </a:r>
            <a:endParaRPr kumimoji="1" lang="zh-TW" altLang="en-US" dirty="0"/>
          </a:p>
        </p:txBody>
      </p:sp>
      <p:sp>
        <p:nvSpPr>
          <p:cNvPr id="3" name="內容版面配置區 2">
            <a:extLst>
              <a:ext uri="{FF2B5EF4-FFF2-40B4-BE49-F238E27FC236}">
                <a16:creationId xmlns:a16="http://schemas.microsoft.com/office/drawing/2014/main" id="{DC1C792D-8ADD-5F56-C2C0-2AFD389466B9}"/>
              </a:ext>
            </a:extLst>
          </p:cNvPr>
          <p:cNvSpPr>
            <a:spLocks noGrp="1"/>
          </p:cNvSpPr>
          <p:nvPr>
            <p:ph idx="1"/>
          </p:nvPr>
        </p:nvSpPr>
        <p:spPr>
          <a:xfrm>
            <a:off x="838200" y="3781637"/>
            <a:ext cx="10515600" cy="2395325"/>
          </a:xfrm>
        </p:spPr>
        <p:txBody>
          <a:bodyPr/>
          <a:lstStyle/>
          <a:p>
            <a:r>
              <a:rPr kumimoji="1" lang="en-US" altLang="zh-TW" dirty="0"/>
              <a:t>Gradient Decent</a:t>
            </a:r>
            <a:r>
              <a:rPr kumimoji="1" lang="zh-TW" altLang="en-US" dirty="0"/>
              <a:t>，對每個目標</a:t>
            </a:r>
            <a:r>
              <a:rPr kumimoji="1" lang="en-US" altLang="zh-TW" dirty="0"/>
              <a:t>(z</a:t>
            </a:r>
            <a:r>
              <a:rPr kumimoji="1" lang="zh-TW" altLang="en-US" dirty="0"/>
              <a:t>，</a:t>
            </a:r>
            <a:r>
              <a:rPr lang="zh-TW" altLang="en-US" b="0" i="0" dirty="0">
                <a:solidFill>
                  <a:srgbClr val="242424"/>
                </a:solidFill>
                <a:effectLst/>
                <a:latin typeface="source-serif-pro"/>
              </a:rPr>
              <a:t>低維空間中點</a:t>
            </a:r>
            <a:r>
              <a:rPr lang="en-US" altLang="zh-TW" b="0" i="0" dirty="0">
                <a:solidFill>
                  <a:srgbClr val="242424"/>
                </a:solidFill>
                <a:effectLst/>
                <a:latin typeface="source-serif-pro"/>
              </a:rPr>
              <a:t>)</a:t>
            </a:r>
            <a:r>
              <a:rPr kumimoji="1" lang="zh-TW" altLang="en-US" dirty="0"/>
              <a:t>的</a:t>
            </a:r>
            <a:r>
              <a:rPr kumimoji="1" lang="en-US" altLang="zh-TW" dirty="0"/>
              <a:t>KL</a:t>
            </a:r>
            <a:r>
              <a:rPr kumimoji="1" lang="zh-TW" altLang="en-US" dirty="0"/>
              <a:t> </a:t>
            </a:r>
            <a:r>
              <a:rPr kumimoji="1" lang="en-US" altLang="zh-TW" dirty="0"/>
              <a:t>divergence</a:t>
            </a:r>
            <a:r>
              <a:rPr kumimoji="1" lang="zh-TW" altLang="en-US" dirty="0"/>
              <a:t>做微分</a:t>
            </a:r>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E8FD17DD-08F4-6998-D6C9-0A47AB26A205}"/>
                  </a:ext>
                </a:extLst>
              </p:cNvPr>
              <p:cNvSpPr txBox="1"/>
              <p:nvPr/>
            </p:nvSpPr>
            <p:spPr>
              <a:xfrm>
                <a:off x="838200" y="1825625"/>
                <a:ext cx="7451399" cy="18210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TW" sz="2000" i="1" smtClean="0">
                              <a:latin typeface="Cambria Math" panose="02040503050406030204" pitchFamily="18" charset="0"/>
                            </a:rPr>
                          </m:ctrlPr>
                        </m:sSubPr>
                        <m:e>
                          <m:r>
                            <m:rPr>
                              <m:sty m:val="p"/>
                            </m:rPr>
                            <a:rPr kumimoji="1" lang="en-US" altLang="zh-TW" sz="2000" i="1">
                              <a:latin typeface="Cambria Math" panose="02040503050406030204" pitchFamily="18" charset="0"/>
                            </a:rPr>
                            <m:t>D</m:t>
                          </m:r>
                        </m:e>
                        <m:sub>
                          <m:r>
                            <a:rPr kumimoji="1" lang="en-US" altLang="zh-TW" sz="2000" b="0" i="1" smtClean="0">
                              <a:latin typeface="Cambria Math" panose="02040503050406030204" pitchFamily="18" charset="0"/>
                            </a:rPr>
                            <m:t>𝐾𝐿</m:t>
                          </m:r>
                        </m:sub>
                      </m:sSub>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𝑃</m:t>
                          </m:r>
                          <m:r>
                            <a:rPr kumimoji="1" lang="en-US" altLang="zh-TW" sz="2000" b="0" i="1" smtClean="0">
                              <a:latin typeface="Cambria Math" panose="02040503050406030204" pitchFamily="18" charset="0"/>
                              <a:ea typeface="Cambria Math" panose="02040503050406030204" pitchFamily="18" charset="0"/>
                            </a:rPr>
                            <m:t>∥</m:t>
                          </m:r>
                          <m:r>
                            <a:rPr kumimoji="1" lang="en-US" altLang="zh-TW" sz="2000" b="0" i="1" smtClean="0">
                              <a:latin typeface="Cambria Math" panose="02040503050406030204" pitchFamily="18" charset="0"/>
                              <a:ea typeface="Cambria Math" panose="02040503050406030204" pitchFamily="18" charset="0"/>
                            </a:rPr>
                            <m:t>𝑄</m:t>
                          </m:r>
                        </m:e>
                      </m:d>
                      <m:r>
                        <a:rPr kumimoji="1" lang="en-US" altLang="zh-TW" sz="2000" b="0" i="1" smtClean="0">
                          <a:latin typeface="Cambria Math" panose="02040503050406030204" pitchFamily="18" charset="0"/>
                        </a:rPr>
                        <m:t>=</m:t>
                      </m:r>
                      <m:nary>
                        <m:naryPr>
                          <m:chr m:val="∑"/>
                          <m:supHide m:val="on"/>
                          <m:ctrlPr>
                            <a:rPr kumimoji="1" lang="en-US" altLang="zh-TW" sz="2000" b="0" i="1" smtClean="0">
                              <a:latin typeface="Cambria Math" panose="02040503050406030204" pitchFamily="18" charset="0"/>
                            </a:rPr>
                          </m:ctrlPr>
                        </m:naryPr>
                        <m:sub>
                          <m:r>
                            <m:rPr>
                              <m:brk m:alnAt="7"/>
                            </m:rPr>
                            <a:rPr kumimoji="1" lang="en-US" altLang="zh-TW" sz="2000" b="0" i="1" smtClean="0">
                              <a:latin typeface="Cambria Math" panose="02040503050406030204" pitchFamily="18" charset="0"/>
                            </a:rPr>
                            <m:t>𝑖</m:t>
                          </m:r>
                        </m:sub>
                        <m:sup/>
                        <m:e>
                          <m:r>
                            <a:rPr kumimoji="1" lang="en-US" altLang="zh-TW" sz="2000" b="0" i="1" smtClean="0">
                              <a:latin typeface="Cambria Math" panose="02040503050406030204" pitchFamily="18" charset="0"/>
                            </a:rPr>
                            <m:t>𝑃</m:t>
                          </m:r>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𝑖</m:t>
                          </m:r>
                          <m:r>
                            <a:rPr kumimoji="1" lang="en-US" altLang="zh-TW" sz="2000" b="0" i="1" smtClean="0">
                              <a:latin typeface="Cambria Math" panose="02040503050406030204" pitchFamily="18" charset="0"/>
                            </a:rPr>
                            <m:t>)</m:t>
                          </m:r>
                          <m:func>
                            <m:funcPr>
                              <m:ctrlPr>
                                <a:rPr kumimoji="1" lang="en-US" altLang="zh-TW" sz="2000" b="0" i="1" smtClean="0">
                                  <a:latin typeface="Cambria Math" panose="02040503050406030204" pitchFamily="18" charset="0"/>
                                </a:rPr>
                              </m:ctrlPr>
                            </m:funcPr>
                            <m:fName>
                              <m:r>
                                <m:rPr>
                                  <m:sty m:val="p"/>
                                </m:rPr>
                                <a:rPr kumimoji="1" lang="en-US" altLang="zh-TW" sz="2000" b="0" i="0" smtClean="0">
                                  <a:latin typeface="Cambria Math" panose="02040503050406030204" pitchFamily="18" charset="0"/>
                                </a:rPr>
                                <m:t>log</m:t>
                              </m:r>
                            </m:fName>
                            <m:e>
                              <m:d>
                                <m:dPr>
                                  <m:ctrlPr>
                                    <a:rPr kumimoji="1" lang="en-US" altLang="zh-TW" sz="2000" b="0" i="1" smtClean="0">
                                      <a:latin typeface="Cambria Math" panose="02040503050406030204" pitchFamily="18" charset="0"/>
                                    </a:rPr>
                                  </m:ctrlPr>
                                </m:dPr>
                                <m:e>
                                  <m:f>
                                    <m:fPr>
                                      <m:ctrlPr>
                                        <a:rPr kumimoji="1" lang="en-US" altLang="zh-TW" sz="2000" b="0" i="1" smtClean="0">
                                          <a:latin typeface="Cambria Math" panose="02040503050406030204" pitchFamily="18" charset="0"/>
                                        </a:rPr>
                                      </m:ctrlPr>
                                    </m:fPr>
                                    <m:num>
                                      <m:r>
                                        <a:rPr kumimoji="1" lang="en-US" altLang="zh-TW" sz="2000" b="0" i="1" smtClean="0">
                                          <a:latin typeface="Cambria Math" panose="02040503050406030204" pitchFamily="18" charset="0"/>
                                        </a:rPr>
                                        <m:t>𝑃</m:t>
                                      </m:r>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𝑖</m:t>
                                          </m:r>
                                        </m:e>
                                      </m:d>
                                    </m:num>
                                    <m:den>
                                      <m:r>
                                        <a:rPr kumimoji="1" lang="en-US" altLang="zh-TW" sz="2000" b="0" i="1" smtClean="0">
                                          <a:latin typeface="Cambria Math" panose="02040503050406030204" pitchFamily="18" charset="0"/>
                                        </a:rPr>
                                        <m:t>𝑄</m:t>
                                      </m:r>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𝑖</m:t>
                                          </m:r>
                                        </m:e>
                                      </m:d>
                                    </m:den>
                                  </m:f>
                                </m:e>
                              </m:d>
                              <m:r>
                                <a:rPr kumimoji="1" lang="en-US" altLang="zh-TW" sz="2000" b="0" i="1" smtClean="0">
                                  <a:latin typeface="Cambria Math" panose="02040503050406030204" pitchFamily="18" charset="0"/>
                                </a:rPr>
                                <m:t>=</m:t>
                              </m:r>
                            </m:e>
                          </m:func>
                        </m:e>
                      </m:nary>
                      <m:nary>
                        <m:naryPr>
                          <m:chr m:val="∑"/>
                          <m:supHide m:val="on"/>
                          <m:ctrlPr>
                            <a:rPr kumimoji="1" lang="en-US" altLang="zh-TW" sz="2000" b="0" i="1" smtClean="0">
                              <a:latin typeface="Cambria Math" panose="02040503050406030204" pitchFamily="18" charset="0"/>
                            </a:rPr>
                          </m:ctrlPr>
                        </m:naryPr>
                        <m:sub>
                          <m:r>
                            <m:rPr>
                              <m:brk m:alnAt="7"/>
                            </m:rPr>
                            <a:rPr kumimoji="1" lang="en-US" altLang="zh-TW" sz="2000" b="0" i="1" smtClean="0">
                              <a:latin typeface="Cambria Math" panose="02040503050406030204" pitchFamily="18" charset="0"/>
                            </a:rPr>
                            <m:t>𝑖</m:t>
                          </m:r>
                        </m:sub>
                        <m:sup/>
                        <m:e>
                          <m:r>
                            <a:rPr kumimoji="1" lang="en-US" altLang="zh-TW" sz="2000" b="0" i="1" smtClean="0">
                              <a:latin typeface="Cambria Math" panose="02040503050406030204" pitchFamily="18" charset="0"/>
                            </a:rPr>
                            <m:t>𝑃</m:t>
                          </m:r>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𝑖</m:t>
                          </m:r>
                          <m:r>
                            <a:rPr kumimoji="1" lang="en-US" altLang="zh-TW" sz="2000" b="0" i="1" smtClean="0">
                              <a:latin typeface="Cambria Math" panose="02040503050406030204" pitchFamily="18" charset="0"/>
                            </a:rPr>
                            <m:t>)(</m:t>
                          </m:r>
                          <m:func>
                            <m:funcPr>
                              <m:ctrlPr>
                                <a:rPr kumimoji="1" lang="en-US" altLang="zh-TW" sz="2000" b="0" i="1" smtClean="0">
                                  <a:latin typeface="Cambria Math" panose="02040503050406030204" pitchFamily="18" charset="0"/>
                                </a:rPr>
                              </m:ctrlPr>
                            </m:funcPr>
                            <m:fName>
                              <m:r>
                                <m:rPr>
                                  <m:sty m:val="p"/>
                                </m:rPr>
                                <a:rPr kumimoji="1" lang="en-US" altLang="zh-TW" sz="2000" b="0" i="0" smtClean="0">
                                  <a:latin typeface="Cambria Math" panose="02040503050406030204" pitchFamily="18" charset="0"/>
                                </a:rPr>
                                <m:t>log</m:t>
                              </m:r>
                            </m:fName>
                            <m:e>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𝑃</m:t>
                                  </m:r>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𝑖</m:t>
                                  </m:r>
                                  <m:r>
                                    <a:rPr kumimoji="1" lang="en-US" altLang="zh-TW" sz="2000" b="0" i="1" smtClean="0">
                                      <a:latin typeface="Cambria Math" panose="02040503050406030204" pitchFamily="18" charset="0"/>
                                    </a:rPr>
                                    <m:t>)</m:t>
                                  </m:r>
                                </m:e>
                              </m:d>
                              <m:r>
                                <a:rPr kumimoji="1" lang="en-US" altLang="zh-TW" sz="2000" b="0" i="1" smtClean="0">
                                  <a:latin typeface="Cambria Math" panose="02040503050406030204" pitchFamily="18" charset="0"/>
                                </a:rPr>
                                <m:t>−</m:t>
                              </m:r>
                              <m:func>
                                <m:funcPr>
                                  <m:ctrlPr>
                                    <a:rPr kumimoji="1" lang="en-US" altLang="zh-TW" sz="2000" b="0" i="1" smtClean="0">
                                      <a:latin typeface="Cambria Math" panose="02040503050406030204" pitchFamily="18" charset="0"/>
                                    </a:rPr>
                                  </m:ctrlPr>
                                </m:funcPr>
                                <m:fName>
                                  <m:r>
                                    <m:rPr>
                                      <m:sty m:val="p"/>
                                    </m:rPr>
                                    <a:rPr kumimoji="1" lang="en-US" altLang="zh-TW" sz="2000" b="0" i="0" smtClean="0">
                                      <a:latin typeface="Cambria Math" panose="02040503050406030204" pitchFamily="18" charset="0"/>
                                    </a:rPr>
                                    <m:t>log</m:t>
                                  </m:r>
                                </m:fName>
                                <m:e>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𝑄</m:t>
                                  </m:r>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𝑖</m:t>
                                  </m:r>
                                  <m:r>
                                    <a:rPr kumimoji="1" lang="en-US" altLang="zh-TW" sz="2000" b="0" i="1" smtClean="0">
                                      <a:latin typeface="Cambria Math" panose="02040503050406030204" pitchFamily="18" charset="0"/>
                                    </a:rPr>
                                    <m:t>))</m:t>
                                  </m:r>
                                </m:e>
                              </m:func>
                            </m:e>
                          </m:func>
                          <m:r>
                            <a:rPr kumimoji="1" lang="en-US" altLang="zh-TW" sz="2000" b="0" i="1" smtClean="0">
                              <a:latin typeface="Cambria Math" panose="02040503050406030204" pitchFamily="18" charset="0"/>
                            </a:rPr>
                            <m:t>)</m:t>
                          </m:r>
                        </m:e>
                      </m:nary>
                    </m:oMath>
                  </m:oMathPara>
                </a14:m>
                <a:endParaRPr kumimoji="1" lang="en-US" altLang="zh-TW" sz="20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kumimoji="1" lang="en-US" altLang="zh-TW" sz="2000" b="0" i="1" smtClean="0">
                          <a:latin typeface="Cambria Math" panose="02040503050406030204" pitchFamily="18" charset="0"/>
                        </a:rPr>
                        <m:t>=</m:t>
                      </m:r>
                      <m:nary>
                        <m:naryPr>
                          <m:chr m:val="∑"/>
                          <m:supHide m:val="on"/>
                          <m:ctrlPr>
                            <a:rPr kumimoji="1" lang="en-US" altLang="zh-TW" sz="2000" b="0" i="1" smtClean="0">
                              <a:latin typeface="Cambria Math" panose="02040503050406030204" pitchFamily="18" charset="0"/>
                            </a:rPr>
                          </m:ctrlPr>
                        </m:naryPr>
                        <m:sub>
                          <m:r>
                            <m:rPr>
                              <m:brk m:alnAt="7"/>
                            </m:rPr>
                            <a:rPr kumimoji="1" lang="en-US" altLang="zh-TW" sz="2000" b="0" i="1" smtClean="0">
                              <a:latin typeface="Cambria Math" panose="02040503050406030204" pitchFamily="18" charset="0"/>
                            </a:rPr>
                            <m:t>𝑖</m:t>
                          </m:r>
                        </m:sub>
                        <m:sup/>
                        <m:e>
                          <m:r>
                            <a:rPr kumimoji="1" lang="en-US" altLang="zh-TW" sz="2000" b="0" i="1" smtClean="0">
                              <a:latin typeface="Cambria Math" panose="02040503050406030204" pitchFamily="18" charset="0"/>
                            </a:rPr>
                            <m:t>𝑃</m:t>
                          </m:r>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𝑖</m:t>
                              </m:r>
                            </m:e>
                          </m:d>
                          <m:func>
                            <m:funcPr>
                              <m:ctrlPr>
                                <a:rPr kumimoji="1" lang="en-US" altLang="zh-TW" sz="2000" b="0" i="1" smtClean="0">
                                  <a:latin typeface="Cambria Math" panose="02040503050406030204" pitchFamily="18" charset="0"/>
                                </a:rPr>
                              </m:ctrlPr>
                            </m:funcPr>
                            <m:fName>
                              <m:r>
                                <m:rPr>
                                  <m:sty m:val="p"/>
                                </m:rPr>
                                <a:rPr kumimoji="1" lang="en-US" altLang="zh-TW" sz="2000" b="0" i="0" smtClean="0">
                                  <a:latin typeface="Cambria Math" panose="02040503050406030204" pitchFamily="18" charset="0"/>
                                </a:rPr>
                                <m:t>log</m:t>
                              </m:r>
                            </m:fName>
                            <m:e>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𝑃</m:t>
                                  </m:r>
                                  <m:d>
                                    <m:dPr>
                                      <m:ctrlPr>
                                        <a:rPr kumimoji="1" lang="en-US" altLang="zh-TW" sz="2000" b="0" i="1" smtClean="0">
                                          <a:latin typeface="Cambria Math" panose="02040503050406030204" pitchFamily="18" charset="0"/>
                                        </a:rPr>
                                      </m:ctrlPr>
                                    </m:dPr>
                                    <m:e>
                                      <m:r>
                                        <a:rPr kumimoji="1" lang="en-US" altLang="zh-TW" sz="2000" b="0" i="1" smtClean="0">
                                          <a:latin typeface="Cambria Math" panose="02040503050406030204" pitchFamily="18" charset="0"/>
                                        </a:rPr>
                                        <m:t>𝑖</m:t>
                                      </m:r>
                                    </m:e>
                                  </m:d>
                                </m:e>
                              </m:d>
                            </m:e>
                          </m:func>
                          <m:r>
                            <a:rPr kumimoji="1" lang="en-US" altLang="zh-TW" sz="2000" b="0" i="1" smtClean="0">
                              <a:latin typeface="Cambria Math" panose="02040503050406030204" pitchFamily="18" charset="0"/>
                            </a:rPr>
                            <m:t>−</m:t>
                          </m:r>
                          <m:nary>
                            <m:naryPr>
                              <m:chr m:val="∑"/>
                              <m:supHide m:val="on"/>
                              <m:ctrlPr>
                                <a:rPr kumimoji="1" lang="en-US" altLang="zh-TW" sz="2000" b="0" i="1" smtClean="0">
                                  <a:latin typeface="Cambria Math" panose="02040503050406030204" pitchFamily="18" charset="0"/>
                                </a:rPr>
                              </m:ctrlPr>
                            </m:naryPr>
                            <m:sub>
                              <m:r>
                                <m:rPr>
                                  <m:brk m:alnAt="7"/>
                                </m:rPr>
                                <a:rPr kumimoji="1" lang="en-US" altLang="zh-TW" sz="2000" b="0" i="1" smtClean="0">
                                  <a:latin typeface="Cambria Math" panose="02040503050406030204" pitchFamily="18" charset="0"/>
                                </a:rPr>
                                <m:t>𝑖</m:t>
                              </m:r>
                            </m:sub>
                            <m:sup/>
                            <m:e>
                              <m:r>
                                <a:rPr kumimoji="1" lang="en-US" altLang="zh-TW" sz="2000" i="1">
                                  <a:latin typeface="Cambria Math" panose="02040503050406030204" pitchFamily="18" charset="0"/>
                                </a:rPr>
                                <m:t>𝑃</m:t>
                              </m:r>
                              <m:d>
                                <m:dPr>
                                  <m:ctrlPr>
                                    <a:rPr kumimoji="1" lang="en-US" altLang="zh-TW" sz="2000" i="1">
                                      <a:latin typeface="Cambria Math" panose="02040503050406030204" pitchFamily="18" charset="0"/>
                                    </a:rPr>
                                  </m:ctrlPr>
                                </m:dPr>
                                <m:e>
                                  <m:r>
                                    <a:rPr kumimoji="1" lang="en-US" altLang="zh-TW" sz="2000" i="1">
                                      <a:latin typeface="Cambria Math" panose="02040503050406030204" pitchFamily="18" charset="0"/>
                                    </a:rPr>
                                    <m:t>𝑖</m:t>
                                  </m:r>
                                </m:e>
                              </m:d>
                              <m:func>
                                <m:funcPr>
                                  <m:ctrlPr>
                                    <a:rPr kumimoji="1" lang="en-US" altLang="zh-TW" sz="2000" i="1" smtClean="0">
                                      <a:latin typeface="Cambria Math" panose="02040503050406030204" pitchFamily="18" charset="0"/>
                                    </a:rPr>
                                  </m:ctrlPr>
                                </m:funcPr>
                                <m:fName>
                                  <m:r>
                                    <m:rPr>
                                      <m:sty m:val="p"/>
                                    </m:rPr>
                                    <a:rPr kumimoji="1" lang="en-US" altLang="zh-TW" sz="2000" i="0" smtClean="0">
                                      <a:latin typeface="Cambria Math" panose="02040503050406030204" pitchFamily="18" charset="0"/>
                                    </a:rPr>
                                    <m:t>log</m:t>
                                  </m:r>
                                </m:fName>
                                <m:e>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𝑄</m:t>
                                  </m:r>
                                  <m:r>
                                    <a:rPr kumimoji="1" lang="en-US" altLang="zh-TW" sz="2000" b="0" i="1" smtClean="0">
                                      <a:latin typeface="Cambria Math" panose="02040503050406030204" pitchFamily="18" charset="0"/>
                                    </a:rPr>
                                    <m:t>(</m:t>
                                  </m:r>
                                  <m:r>
                                    <a:rPr kumimoji="1" lang="en-US" altLang="zh-TW" sz="2000" b="0" i="1" smtClean="0">
                                      <a:latin typeface="Cambria Math" panose="02040503050406030204" pitchFamily="18" charset="0"/>
                                    </a:rPr>
                                    <m:t>𝑖</m:t>
                                  </m:r>
                                  <m:r>
                                    <a:rPr kumimoji="1" lang="en-US" altLang="zh-TW" sz="2000" b="0" i="1" smtClean="0">
                                      <a:latin typeface="Cambria Math" panose="02040503050406030204" pitchFamily="18" charset="0"/>
                                    </a:rPr>
                                    <m:t>))</m:t>
                                  </m:r>
                                </m:e>
                              </m:func>
                            </m:e>
                          </m:nary>
                        </m:e>
                      </m:nary>
                    </m:oMath>
                  </m:oMathPara>
                </a14:m>
                <a:endParaRPr kumimoji="1" lang="en-US" altLang="zh-TW" sz="2000" b="0" dirty="0"/>
              </a:p>
              <a:p>
                <a:r>
                  <a:rPr kumimoji="1" lang="zh-TW" altLang="en-US" sz="2000" dirty="0"/>
                  <a:t>就變成是  </a:t>
                </a:r>
                <a:r>
                  <a:rPr kumimoji="1" lang="en-US" altLang="zh-TW" sz="2000" dirty="0"/>
                  <a:t>Information Entropy – Cross Entropy</a:t>
                </a:r>
              </a:p>
            </p:txBody>
          </p:sp>
        </mc:Choice>
        <mc:Fallback xmlns="">
          <p:sp>
            <p:nvSpPr>
              <p:cNvPr id="4" name="文字方塊 3">
                <a:extLst>
                  <a:ext uri="{FF2B5EF4-FFF2-40B4-BE49-F238E27FC236}">
                    <a16:creationId xmlns:a16="http://schemas.microsoft.com/office/drawing/2014/main" id="{E8FD17DD-08F4-6998-D6C9-0A47AB26A205}"/>
                  </a:ext>
                </a:extLst>
              </p:cNvPr>
              <p:cNvSpPr txBox="1">
                <a:spLocks noRot="1" noChangeAspect="1" noMove="1" noResize="1" noEditPoints="1" noAdjustHandles="1" noChangeArrowheads="1" noChangeShapeType="1" noTextEdit="1"/>
              </p:cNvSpPr>
              <p:nvPr/>
            </p:nvSpPr>
            <p:spPr>
              <a:xfrm>
                <a:off x="838200" y="1825625"/>
                <a:ext cx="7451399" cy="1821076"/>
              </a:xfrm>
              <a:prstGeom prst="rect">
                <a:avLst/>
              </a:prstGeom>
              <a:blipFill>
                <a:blip r:embed="rId2"/>
                <a:stretch>
                  <a:fillRect l="-2215" t="-59310" r="-341" b="-6551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id="{B2A5CAFA-D477-CCA9-F2CE-CD5C68BC4F62}"/>
                  </a:ext>
                </a:extLst>
              </p:cNvPr>
              <p:cNvSpPr txBox="1"/>
              <p:nvPr/>
            </p:nvSpPr>
            <p:spPr>
              <a:xfrm>
                <a:off x="1150171" y="4814047"/>
                <a:ext cx="5656870" cy="70852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zh-TW" i="1" smtClean="0">
                              <a:latin typeface="Cambria Math" panose="02040503050406030204" pitchFamily="18" charset="0"/>
                            </a:rPr>
                          </m:ctrlPr>
                        </m:fPr>
                        <m:num>
                          <m:r>
                            <a:rPr kumimoji="1" lang="en-US" altLang="zh-TW" i="1" smtClean="0">
                              <a:latin typeface="Cambria Math" panose="02040503050406030204" pitchFamily="18" charset="0"/>
                              <a:ea typeface="Cambria Math" panose="02040503050406030204" pitchFamily="18" charset="0"/>
                            </a:rPr>
                            <m:t>𝜕</m:t>
                          </m:r>
                          <m:r>
                            <m:rPr>
                              <m:sty m:val="p"/>
                            </m:rPr>
                            <a:rPr kumimoji="1" lang="en-US" altLang="zh-TW" i="1">
                              <a:latin typeface="Cambria Math" panose="02040503050406030204" pitchFamily="18" charset="0"/>
                              <a:ea typeface="Cambria Math" panose="02040503050406030204" pitchFamily="18" charset="0"/>
                            </a:rPr>
                            <m:t>L</m:t>
                          </m:r>
                        </m:num>
                        <m:den>
                          <m:r>
                            <a:rPr kumimoji="1" lang="en-US" altLang="zh-TW" i="1">
                              <a:latin typeface="Cambria Math" panose="02040503050406030204" pitchFamily="18" charset="0"/>
                              <a:ea typeface="Cambria Math" panose="02040503050406030204" pitchFamily="18" charset="0"/>
                            </a:rPr>
                            <m:t>𝜕</m:t>
                          </m:r>
                          <m:sSub>
                            <m:sSubPr>
                              <m:ctrlPr>
                                <a:rPr kumimoji="1" lang="en-US" altLang="zh-TW" i="1" smtClean="0">
                                  <a:latin typeface="Cambria Math" panose="02040503050406030204" pitchFamily="18" charset="0"/>
                                  <a:ea typeface="Cambria Math" panose="02040503050406030204" pitchFamily="18" charset="0"/>
                                </a:rPr>
                              </m:ctrlPr>
                            </m:sSubPr>
                            <m:e>
                              <m:r>
                                <a:rPr kumimoji="1" lang="en-US" altLang="zh-TW" b="0" i="1" smtClean="0">
                                  <a:latin typeface="Cambria Math" panose="02040503050406030204" pitchFamily="18" charset="0"/>
                                  <a:ea typeface="Cambria Math" panose="02040503050406030204" pitchFamily="18" charset="0"/>
                                </a:rPr>
                                <m:t>𝑧</m:t>
                              </m:r>
                            </m:e>
                            <m:sub>
                              <m:r>
                                <a:rPr kumimoji="1" lang="en-US" altLang="zh-TW" b="0" i="1" smtClean="0">
                                  <a:latin typeface="Cambria Math" panose="02040503050406030204" pitchFamily="18" charset="0"/>
                                  <a:ea typeface="Cambria Math" panose="02040503050406030204" pitchFamily="18" charset="0"/>
                                </a:rPr>
                                <m:t>𝑖</m:t>
                              </m:r>
                            </m:sub>
                          </m:sSub>
                        </m:den>
                      </m:f>
                      <m:r>
                        <a:rPr kumimoji="1" lang="en-US" altLang="zh-TW" b="0" i="1" smtClean="0">
                          <a:latin typeface="Cambria Math" panose="02040503050406030204" pitchFamily="18" charset="0"/>
                        </a:rPr>
                        <m:t>=4</m:t>
                      </m:r>
                      <m:nary>
                        <m:naryPr>
                          <m:chr m:val="∑"/>
                          <m:supHide m:val="on"/>
                          <m:ctrlPr>
                            <a:rPr kumimoji="1" lang="en-US" altLang="zh-TW" b="0" i="1" smtClean="0">
                              <a:latin typeface="Cambria Math" panose="02040503050406030204" pitchFamily="18" charset="0"/>
                            </a:rPr>
                          </m:ctrlPr>
                        </m:naryPr>
                        <m:sub>
                          <m:r>
                            <m:rPr>
                              <m:brk m:alnAt="7"/>
                            </m:rPr>
                            <a:rPr kumimoji="1" lang="en-US" altLang="zh-TW" b="0" i="1" smtClean="0">
                              <a:latin typeface="Cambria Math" panose="02040503050406030204" pitchFamily="18" charset="0"/>
                            </a:rPr>
                            <m:t>𝑗</m:t>
                          </m:r>
                        </m:sub>
                        <m:sup/>
                        <m:e>
                          <m:r>
                            <a:rPr kumimoji="1" lang="en-US" altLang="zh-TW" b="0" i="1" smtClean="0">
                              <a:latin typeface="Cambria Math" panose="02040503050406030204" pitchFamily="18" charset="0"/>
                            </a:rPr>
                            <m:t>(</m:t>
                          </m:r>
                          <m:r>
                            <a:rPr lang="zh-TW" altLang="en-US" i="1">
                              <a:latin typeface="Cambria Math" panose="02040503050406030204" pitchFamily="18" charset="0"/>
                            </a:rPr>
                            <m:t>𝑃</m:t>
                          </m:r>
                          <m:d>
                            <m:dPr>
                              <m:ctrlPr>
                                <a:rPr lang="zh-TW" altLang="en-US" i="1">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𝑗</m:t>
                                  </m:r>
                                </m:sub>
                              </m:sSub>
                            </m:e>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𝑖</m:t>
                                  </m:r>
                                </m:sub>
                              </m:sSub>
                            </m:e>
                          </m:d>
                          <m:r>
                            <a:rPr lang="en-US" altLang="zh-TW" b="0" i="1" smtClean="0">
                              <a:latin typeface="Cambria Math" panose="02040503050406030204" pitchFamily="18" charset="0"/>
                            </a:rPr>
                            <m:t>−</m:t>
                          </m:r>
                          <m:r>
                            <a:rPr lang="zh-TW" altLang="en-US" i="1">
                              <a:latin typeface="Cambria Math" panose="02040503050406030204" pitchFamily="18" charset="0"/>
                            </a:rPr>
                            <m:t>𝑄</m:t>
                          </m:r>
                          <m:d>
                            <m:dPr>
                              <m:ctrlPr>
                                <a:rPr lang="zh-TW" altLang="en-US" i="1">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𝑗</m:t>
                                  </m:r>
                                </m:sub>
                              </m:sSub>
                            </m:e>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𝑧</m:t>
                                  </m:r>
                                </m:e>
                                <m:sub>
                                  <m:r>
                                    <a:rPr lang="zh-TW" altLang="en-US" i="1">
                                      <a:latin typeface="Cambria Math" panose="02040503050406030204" pitchFamily="18" charset="0"/>
                                    </a:rPr>
                                    <m:t>𝑖</m:t>
                                  </m:r>
                                </m:sub>
                              </m:sSub>
                            </m:e>
                          </m:d>
                          <m:r>
                            <a:rPr kumimoji="1" lang="en-US" altLang="zh-TW" b="0" i="1" smtClean="0">
                              <a:latin typeface="Cambria Math" panose="02040503050406030204" pitchFamily="18" charset="0"/>
                            </a:rPr>
                            <m:t>)(</m:t>
                          </m:r>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𝑧</m:t>
                              </m:r>
                            </m:e>
                            <m:sub>
                              <m:r>
                                <a:rPr kumimoji="1" lang="en-US" altLang="zh-TW" i="1">
                                  <a:latin typeface="Cambria Math" panose="02040503050406030204" pitchFamily="18" charset="0"/>
                                  <a:ea typeface="Cambria Math" panose="02040503050406030204" pitchFamily="18" charset="0"/>
                                </a:rPr>
                                <m:t>𝑖</m:t>
                              </m:r>
                            </m:sub>
                          </m:sSub>
                          <m:r>
                            <a:rPr kumimoji="1" lang="en-US" altLang="zh-TW" b="0" i="1" smtClean="0">
                              <a:latin typeface="Cambria Math" panose="02040503050406030204" pitchFamily="18" charset="0"/>
                              <a:ea typeface="Cambria Math" panose="02040503050406030204" pitchFamily="18" charset="0"/>
                            </a:rPr>
                            <m:t>−</m:t>
                          </m:r>
                          <m:sSub>
                            <m:sSubPr>
                              <m:ctrlPr>
                                <a:rPr kumimoji="1" lang="en-US" altLang="zh-TW" i="1">
                                  <a:latin typeface="Cambria Math" panose="02040503050406030204" pitchFamily="18" charset="0"/>
                                  <a:ea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𝑧</m:t>
                              </m:r>
                            </m:e>
                            <m:sub>
                              <m:r>
                                <a:rPr kumimoji="1" lang="en-US" altLang="zh-TW" b="0" i="1" smtClean="0">
                                  <a:latin typeface="Cambria Math" panose="02040503050406030204" pitchFamily="18" charset="0"/>
                                  <a:ea typeface="Cambria Math" panose="02040503050406030204" pitchFamily="18" charset="0"/>
                                </a:rPr>
                                <m:t>𝑗</m:t>
                              </m:r>
                            </m:sub>
                          </m:sSub>
                          <m:r>
                            <a:rPr kumimoji="1" lang="en-US" altLang="zh-TW" b="0" i="1" smtClean="0">
                              <a:latin typeface="Cambria Math" panose="02040503050406030204" pitchFamily="18" charset="0"/>
                            </a:rPr>
                            <m:t>)</m:t>
                          </m:r>
                          <m:f>
                            <m:fPr>
                              <m:ctrlPr>
                                <a:rPr kumimoji="1" lang="en-US" altLang="zh-TW" i="1">
                                  <a:latin typeface="Cambria Math" panose="02040503050406030204" pitchFamily="18" charset="0"/>
                                </a:rPr>
                              </m:ctrlPr>
                            </m:fPr>
                            <m:num>
                              <m:r>
                                <a:rPr kumimoji="1" lang="en-US" altLang="zh-TW" i="1">
                                  <a:latin typeface="Cambria Math" panose="02040503050406030204" pitchFamily="18" charset="0"/>
                                </a:rPr>
                                <m:t>1</m:t>
                              </m:r>
                            </m:num>
                            <m:den>
                              <m:r>
                                <a:rPr kumimoji="1" lang="en-US" altLang="zh-TW" i="1">
                                  <a:latin typeface="Cambria Math" panose="02040503050406030204" pitchFamily="18" charset="0"/>
                                </a:rPr>
                                <m:t>1+</m:t>
                              </m:r>
                              <m:sSub>
                                <m:sSubPr>
                                  <m:ctrlPr>
                                    <a:rPr kumimoji="1" lang="en-US" altLang="zh-TW" i="1">
                                      <a:latin typeface="Cambria Math" panose="02040503050406030204" pitchFamily="18" charset="0"/>
                                    </a:rPr>
                                  </m:ctrlPr>
                                </m:sSubPr>
                                <m:e>
                                  <m:d>
                                    <m:dPr>
                                      <m:begChr m:val="‖"/>
                                      <m:endChr m:val="‖"/>
                                      <m:ctrlPr>
                                        <a:rPr kumimoji="1" lang="en-US" altLang="zh-TW" i="1">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𝑧</m:t>
                                          </m:r>
                                        </m:e>
                                        <m:sub>
                                          <m:r>
                                            <a:rPr kumimoji="1" lang="en-US" altLang="zh-TW" i="1">
                                              <a:latin typeface="Cambria Math" panose="02040503050406030204" pitchFamily="18" charset="0"/>
                                            </a:rPr>
                                            <m:t>𝑖</m:t>
                                          </m:r>
                                        </m:sub>
                                      </m:sSub>
                                      <m:r>
                                        <a:rPr kumimoji="1" lang="en-US" altLang="zh-TW" i="1">
                                          <a:latin typeface="Cambria Math" panose="02040503050406030204" pitchFamily="18" charset="0"/>
                                        </a:rPr>
                                        <m:t>−</m:t>
                                      </m:r>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rPr>
                                            <m:t>𝑧</m:t>
                                          </m:r>
                                        </m:e>
                                        <m:sub>
                                          <m:r>
                                            <a:rPr kumimoji="1" lang="en-US" altLang="zh-TW" i="1">
                                              <a:latin typeface="Cambria Math" panose="02040503050406030204" pitchFamily="18" charset="0"/>
                                            </a:rPr>
                                            <m:t>𝑗</m:t>
                                          </m:r>
                                        </m:sub>
                                      </m:sSub>
                                    </m:e>
                                  </m:d>
                                </m:e>
                                <m:sub>
                                  <m:r>
                                    <a:rPr kumimoji="1" lang="en-US" altLang="zh-TW" i="1">
                                      <a:latin typeface="Cambria Math" panose="02040503050406030204" pitchFamily="18" charset="0"/>
                                    </a:rPr>
                                    <m:t>2</m:t>
                                  </m:r>
                                </m:sub>
                              </m:sSub>
                            </m:den>
                          </m:f>
                        </m:e>
                      </m:nary>
                    </m:oMath>
                  </m:oMathPara>
                </a14:m>
                <a:endParaRPr kumimoji="1" lang="zh-TW" altLang="en-US" dirty="0"/>
              </a:p>
            </p:txBody>
          </p:sp>
        </mc:Choice>
        <mc:Fallback xmlns="">
          <p:sp>
            <p:nvSpPr>
              <p:cNvPr id="7" name="文字方塊 6">
                <a:extLst>
                  <a:ext uri="{FF2B5EF4-FFF2-40B4-BE49-F238E27FC236}">
                    <a16:creationId xmlns:a16="http://schemas.microsoft.com/office/drawing/2014/main" id="{B2A5CAFA-D477-CCA9-F2CE-CD5C68BC4F62}"/>
                  </a:ext>
                </a:extLst>
              </p:cNvPr>
              <p:cNvSpPr txBox="1">
                <a:spLocks noRot="1" noChangeAspect="1" noMove="1" noResize="1" noEditPoints="1" noAdjustHandles="1" noChangeArrowheads="1" noChangeShapeType="1" noTextEdit="1"/>
              </p:cNvSpPr>
              <p:nvPr/>
            </p:nvSpPr>
            <p:spPr>
              <a:xfrm>
                <a:off x="1150171" y="4814047"/>
                <a:ext cx="5656870" cy="708527"/>
              </a:xfrm>
              <a:prstGeom prst="rect">
                <a:avLst/>
              </a:prstGeom>
              <a:blipFill>
                <a:blip r:embed="rId3"/>
                <a:stretch>
                  <a:fillRect t="-141071" b="-18750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092083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8C67F9-8AFE-6AFE-CD62-D6AD5B84410F}"/>
              </a:ext>
            </a:extLst>
          </p:cNvPr>
          <p:cNvSpPr>
            <a:spLocks noGrp="1"/>
          </p:cNvSpPr>
          <p:nvPr>
            <p:ph type="title"/>
          </p:nvPr>
        </p:nvSpPr>
        <p:spPr/>
        <p:txBody>
          <a:bodyPr/>
          <a:lstStyle/>
          <a:p>
            <a:r>
              <a:rPr lang="en" altLang="zh-TW" sz="4400" dirty="0"/>
              <a:t>t-SNE</a:t>
            </a:r>
            <a:endParaRPr kumimoji="1" lang="zh-TW" altLang="en-US" dirty="0"/>
          </a:p>
        </p:txBody>
      </p:sp>
      <p:sp>
        <p:nvSpPr>
          <p:cNvPr id="3" name="內容版面配置區 2">
            <a:extLst>
              <a:ext uri="{FF2B5EF4-FFF2-40B4-BE49-F238E27FC236}">
                <a16:creationId xmlns:a16="http://schemas.microsoft.com/office/drawing/2014/main" id="{113649DE-7F46-5A3B-5E11-6A88FEAF4E13}"/>
              </a:ext>
            </a:extLst>
          </p:cNvPr>
          <p:cNvSpPr>
            <a:spLocks noGrp="1"/>
          </p:cNvSpPr>
          <p:nvPr>
            <p:ph idx="1"/>
          </p:nvPr>
        </p:nvSpPr>
        <p:spPr/>
        <p:txBody>
          <a:bodyPr/>
          <a:lstStyle/>
          <a:p>
            <a:r>
              <a:rPr kumimoji="1" lang="zh-TW" altLang="en-US" dirty="0"/>
              <a:t>困惑度 </a:t>
            </a:r>
            <a:r>
              <a:rPr kumimoji="1" lang="en" altLang="zh-TW" dirty="0"/>
              <a:t>Perplexity</a:t>
            </a:r>
          </a:p>
          <a:p>
            <a:pPr lvl="1"/>
            <a:r>
              <a:rPr lang="en" altLang="zh-TW" b="0" i="0" dirty="0">
                <a:solidFill>
                  <a:srgbClr val="242424"/>
                </a:solidFill>
                <a:effectLst/>
                <a:latin typeface="source-serif-pro"/>
              </a:rPr>
              <a:t>as a measure of the effective number of neighbors for</a:t>
            </a:r>
            <a:r>
              <a:rPr lang="zh-TW" altLang="en-US" b="0" i="0" dirty="0">
                <a:solidFill>
                  <a:srgbClr val="242424"/>
                </a:solidFill>
                <a:effectLst/>
                <a:latin typeface="source-serif-pro"/>
              </a:rPr>
              <a:t> </a:t>
            </a:r>
            <a:r>
              <a:rPr lang="en" altLang="zh-TW" b="0" i="0" dirty="0">
                <a:solidFill>
                  <a:srgbClr val="242424"/>
                </a:solidFill>
                <a:effectLst/>
                <a:latin typeface="source-serif-pro"/>
              </a:rPr>
              <a:t>each point</a:t>
            </a:r>
            <a:endParaRPr kumimoji="1" lang="en-US" altLang="zh-TW" dirty="0"/>
          </a:p>
          <a:p>
            <a:pPr lvl="1"/>
            <a:r>
              <a:rPr kumimoji="1" lang="zh-TW" altLang="en-US" dirty="0"/>
              <a:t>在高維度資料轉換為條件機率時，需要設定以 </a:t>
            </a:r>
            <a:r>
              <a:rPr kumimoji="1" lang="en" altLang="zh-TW" dirty="0"/>
              <a:t>X</a:t>
            </a:r>
            <a:r>
              <a:rPr kumimoji="1" lang="en" altLang="zh-TW" baseline="-25000" dirty="0"/>
              <a:t>i</a:t>
            </a:r>
            <a:r>
              <a:rPr kumimoji="1" lang="en" altLang="zh-TW" dirty="0"/>
              <a:t> </a:t>
            </a:r>
            <a:r>
              <a:rPr kumimoji="1" lang="zh-TW" altLang="en-US" dirty="0"/>
              <a:t>為中心分佈的標準差，調整方式就是設定困惑度這個超參數，</a:t>
            </a:r>
            <a:r>
              <a:rPr kumimoji="1" lang="en" altLang="zh-TW" dirty="0"/>
              <a:t>t-SNE </a:t>
            </a:r>
            <a:r>
              <a:rPr kumimoji="1" lang="zh-TW" altLang="en-US" dirty="0"/>
              <a:t>會找到符合困惑度的 </a:t>
            </a:r>
            <a:r>
              <a:rPr kumimoji="1" lang="en" altLang="zh-TW" dirty="0"/>
              <a:t>P</a:t>
            </a:r>
            <a:r>
              <a:rPr kumimoji="1" lang="en" altLang="zh-TW" baseline="-25000" dirty="0"/>
              <a:t>i</a:t>
            </a:r>
            <a:r>
              <a:rPr kumimoji="1" lang="en" altLang="zh-TW" dirty="0"/>
              <a:t> </a:t>
            </a:r>
            <a:r>
              <a:rPr kumimoji="1" lang="zh-TW" altLang="en-US" dirty="0"/>
              <a:t>以及標準差。</a:t>
            </a:r>
            <a:endParaRPr kumimoji="1" lang="en-US" altLang="zh-TW" dirty="0"/>
          </a:p>
          <a:p>
            <a:pPr lvl="1"/>
            <a:endParaRPr kumimoji="1" lang="en-US" altLang="zh-TW" dirty="0"/>
          </a:p>
          <a:p>
            <a:pPr lvl="1"/>
            <a:endParaRPr kumimoji="1" lang="en-US" altLang="zh-TW" dirty="0"/>
          </a:p>
          <a:p>
            <a:pPr lvl="1"/>
            <a:endParaRPr kumimoji="1" lang="en-US" altLang="zh-TW" dirty="0"/>
          </a:p>
          <a:p>
            <a:pPr lvl="1"/>
            <a:endParaRPr kumimoji="1" lang="en-US" altLang="zh-TW" dirty="0"/>
          </a:p>
          <a:p>
            <a:pPr lvl="1"/>
            <a:r>
              <a:rPr lang="zh-TW" altLang="en-US" b="0" i="0" dirty="0">
                <a:solidFill>
                  <a:srgbClr val="242424"/>
                </a:solidFill>
                <a:effectLst/>
                <a:latin typeface="source-serif-pro"/>
              </a:rPr>
              <a:t>困惑度設定越大，此標準差就會越大，一般建議數值設定在 </a:t>
            </a:r>
            <a:r>
              <a:rPr lang="en-US" altLang="zh-TW" b="0" i="0" dirty="0">
                <a:solidFill>
                  <a:srgbClr val="242424"/>
                </a:solidFill>
                <a:effectLst/>
                <a:latin typeface="source-serif-pro"/>
              </a:rPr>
              <a:t>5 </a:t>
            </a:r>
            <a:r>
              <a:rPr lang="zh-TW" altLang="en-US" b="0" i="0" dirty="0">
                <a:solidFill>
                  <a:srgbClr val="242424"/>
                </a:solidFill>
                <a:effectLst/>
                <a:latin typeface="source-serif-pro"/>
              </a:rPr>
              <a:t>至 </a:t>
            </a:r>
            <a:r>
              <a:rPr lang="en-US" altLang="zh-TW" b="0" i="0" dirty="0">
                <a:solidFill>
                  <a:srgbClr val="242424"/>
                </a:solidFill>
                <a:effectLst/>
                <a:latin typeface="source-serif-pro"/>
              </a:rPr>
              <a:t>50 </a:t>
            </a:r>
            <a:r>
              <a:rPr lang="zh-TW" altLang="en-US" b="0" i="0" dirty="0">
                <a:solidFill>
                  <a:srgbClr val="242424"/>
                </a:solidFill>
                <a:effectLst/>
                <a:latin typeface="source-serif-pro"/>
              </a:rPr>
              <a:t>之間。</a:t>
            </a:r>
            <a:endParaRPr kumimoji="1" lang="en-US" altLang="zh-TW" dirty="0"/>
          </a:p>
          <a:p>
            <a:pPr lvl="1"/>
            <a:endParaRPr kumimoji="1" lang="zh-TW" altLang="en-US"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456531ED-31DE-3169-F274-AE0085599DFE}"/>
                  </a:ext>
                </a:extLst>
              </p:cNvPr>
              <p:cNvSpPr txBox="1"/>
              <p:nvPr/>
            </p:nvSpPr>
            <p:spPr>
              <a:xfrm>
                <a:off x="4071375" y="3448956"/>
                <a:ext cx="2764539" cy="448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zh-TW" sz="2800" i="1" smtClean="0">
                          <a:latin typeface="Cambria Math" panose="02040503050406030204" pitchFamily="18" charset="0"/>
                        </a:rPr>
                        <m:t>Perp</m:t>
                      </m:r>
                      <m:d>
                        <m:dPr>
                          <m:ctrlPr>
                            <a:rPr kumimoji="1" lang="en-US" altLang="zh-TW" sz="2800" b="0" i="1" smtClean="0">
                              <a:latin typeface="Cambria Math" panose="02040503050406030204" pitchFamily="18" charset="0"/>
                            </a:rPr>
                          </m:ctrlPr>
                        </m:dPr>
                        <m:e>
                          <m:sSub>
                            <m:sSubPr>
                              <m:ctrlPr>
                                <a:rPr kumimoji="1" lang="en-US" altLang="zh-TW" sz="2800" b="0" i="1" smtClean="0">
                                  <a:latin typeface="Cambria Math" panose="02040503050406030204" pitchFamily="18" charset="0"/>
                                </a:rPr>
                              </m:ctrlPr>
                            </m:sSubPr>
                            <m:e>
                              <m:r>
                                <a:rPr kumimoji="1" lang="en-US" altLang="zh-TW" sz="2800" b="0" i="1" smtClean="0">
                                  <a:latin typeface="Cambria Math" panose="02040503050406030204" pitchFamily="18" charset="0"/>
                                </a:rPr>
                                <m:t>𝑃</m:t>
                              </m:r>
                            </m:e>
                            <m:sub>
                              <m:r>
                                <a:rPr kumimoji="1" lang="en-US" altLang="zh-TW" sz="2800" b="0" i="1" smtClean="0">
                                  <a:latin typeface="Cambria Math" panose="02040503050406030204" pitchFamily="18" charset="0"/>
                                </a:rPr>
                                <m:t>𝑖</m:t>
                              </m:r>
                            </m:sub>
                          </m:sSub>
                        </m:e>
                      </m:d>
                      <m:r>
                        <a:rPr kumimoji="1" lang="en-US" altLang="zh-TW" sz="2800" b="0" i="1" smtClean="0">
                          <a:latin typeface="Cambria Math" panose="02040503050406030204" pitchFamily="18" charset="0"/>
                        </a:rPr>
                        <m:t>=</m:t>
                      </m:r>
                      <m:sSup>
                        <m:sSupPr>
                          <m:ctrlPr>
                            <a:rPr kumimoji="1" lang="en-US" altLang="zh-TW" sz="2800" b="0" i="1" smtClean="0">
                              <a:latin typeface="Cambria Math" panose="02040503050406030204" pitchFamily="18" charset="0"/>
                            </a:rPr>
                          </m:ctrlPr>
                        </m:sSupPr>
                        <m:e>
                          <m:r>
                            <a:rPr kumimoji="1" lang="en-US" altLang="zh-TW" sz="2800" b="0" i="1" smtClean="0">
                              <a:latin typeface="Cambria Math" panose="02040503050406030204" pitchFamily="18" charset="0"/>
                            </a:rPr>
                            <m:t>2</m:t>
                          </m:r>
                        </m:e>
                        <m:sup>
                          <m:r>
                            <a:rPr kumimoji="1" lang="en-US" altLang="zh-TW" sz="2800" b="0" i="1" smtClean="0">
                              <a:latin typeface="Cambria Math" panose="02040503050406030204" pitchFamily="18" charset="0"/>
                            </a:rPr>
                            <m:t>𝐻</m:t>
                          </m:r>
                          <m:r>
                            <a:rPr kumimoji="1" lang="en-US" altLang="zh-TW" sz="2800" b="0" i="1" smtClean="0">
                              <a:latin typeface="Cambria Math" panose="02040503050406030204" pitchFamily="18" charset="0"/>
                            </a:rPr>
                            <m:t>(</m:t>
                          </m:r>
                          <m:sSub>
                            <m:sSubPr>
                              <m:ctrlPr>
                                <a:rPr kumimoji="1" lang="en-US" altLang="zh-TW" sz="2800" b="0" i="1" smtClean="0">
                                  <a:latin typeface="Cambria Math" panose="02040503050406030204" pitchFamily="18" charset="0"/>
                                </a:rPr>
                              </m:ctrlPr>
                            </m:sSubPr>
                            <m:e>
                              <m:r>
                                <a:rPr kumimoji="1" lang="en-US" altLang="zh-TW" sz="2800" b="0" i="1" smtClean="0">
                                  <a:latin typeface="Cambria Math" panose="02040503050406030204" pitchFamily="18" charset="0"/>
                                </a:rPr>
                                <m:t>𝑃</m:t>
                              </m:r>
                            </m:e>
                            <m:sub>
                              <m:r>
                                <a:rPr kumimoji="1" lang="en-US" altLang="zh-TW" sz="2800" b="0" i="1" smtClean="0">
                                  <a:latin typeface="Cambria Math" panose="02040503050406030204" pitchFamily="18" charset="0"/>
                                </a:rPr>
                                <m:t>𝑖</m:t>
                              </m:r>
                            </m:sub>
                          </m:sSub>
                          <m:r>
                            <a:rPr kumimoji="1" lang="en-US" altLang="zh-TW" sz="2800" b="0" i="1" smtClean="0">
                              <a:latin typeface="Cambria Math" panose="02040503050406030204" pitchFamily="18" charset="0"/>
                            </a:rPr>
                            <m:t>)</m:t>
                          </m:r>
                        </m:sup>
                      </m:sSup>
                    </m:oMath>
                  </m:oMathPara>
                </a14:m>
                <a:endParaRPr kumimoji="1" lang="zh-TW" altLang="en-US" sz="2800" dirty="0"/>
              </a:p>
            </p:txBody>
          </p:sp>
        </mc:Choice>
        <mc:Fallback xmlns="">
          <p:sp>
            <p:nvSpPr>
              <p:cNvPr id="4" name="文字方塊 3">
                <a:extLst>
                  <a:ext uri="{FF2B5EF4-FFF2-40B4-BE49-F238E27FC236}">
                    <a16:creationId xmlns:a16="http://schemas.microsoft.com/office/drawing/2014/main" id="{456531ED-31DE-3169-F274-AE0085599DFE}"/>
                  </a:ext>
                </a:extLst>
              </p:cNvPr>
              <p:cNvSpPr txBox="1">
                <a:spLocks noRot="1" noChangeAspect="1" noMove="1" noResize="1" noEditPoints="1" noAdjustHandles="1" noChangeArrowheads="1" noChangeShapeType="1" noTextEdit="1"/>
              </p:cNvSpPr>
              <p:nvPr/>
            </p:nvSpPr>
            <p:spPr>
              <a:xfrm>
                <a:off x="4071375" y="3448956"/>
                <a:ext cx="2764539" cy="448777"/>
              </a:xfrm>
              <a:prstGeom prst="rect">
                <a:avLst/>
              </a:prstGeom>
              <a:blipFill>
                <a:blip r:embed="rId2"/>
                <a:stretch>
                  <a:fillRect l="-3653" t="-2778" r="-1826" b="-3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92A021A4-8CB8-388F-F20C-1EDBA33BF4A5}"/>
                  </a:ext>
                </a:extLst>
              </p:cNvPr>
              <p:cNvSpPr txBox="1"/>
              <p:nvPr/>
            </p:nvSpPr>
            <p:spPr>
              <a:xfrm>
                <a:off x="4071375" y="4001294"/>
                <a:ext cx="4049250" cy="10943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TW" sz="2800" b="0" i="1" smtClean="0">
                          <a:latin typeface="Cambria Math" panose="02040503050406030204" pitchFamily="18" charset="0"/>
                        </a:rPr>
                        <m:t>𝐻</m:t>
                      </m:r>
                      <m:d>
                        <m:dPr>
                          <m:ctrlPr>
                            <a:rPr kumimoji="1" lang="en-US" altLang="zh-TW" sz="2800" b="0" i="1" smtClean="0">
                              <a:latin typeface="Cambria Math" panose="02040503050406030204" pitchFamily="18" charset="0"/>
                            </a:rPr>
                          </m:ctrlPr>
                        </m:dPr>
                        <m:e>
                          <m:sSub>
                            <m:sSubPr>
                              <m:ctrlPr>
                                <a:rPr kumimoji="1" lang="en-US" altLang="zh-TW" sz="2800" b="0" i="1" smtClean="0">
                                  <a:latin typeface="Cambria Math" panose="02040503050406030204" pitchFamily="18" charset="0"/>
                                </a:rPr>
                              </m:ctrlPr>
                            </m:sSubPr>
                            <m:e>
                              <m:r>
                                <a:rPr kumimoji="1" lang="en-US" altLang="zh-TW" sz="2800" b="0" i="1" smtClean="0">
                                  <a:latin typeface="Cambria Math" panose="02040503050406030204" pitchFamily="18" charset="0"/>
                                </a:rPr>
                                <m:t>𝑃</m:t>
                              </m:r>
                            </m:e>
                            <m:sub>
                              <m:r>
                                <a:rPr kumimoji="1" lang="en-US" altLang="zh-TW" sz="2800" b="0" i="1" smtClean="0">
                                  <a:latin typeface="Cambria Math" panose="02040503050406030204" pitchFamily="18" charset="0"/>
                                </a:rPr>
                                <m:t>𝑖</m:t>
                              </m:r>
                            </m:sub>
                          </m:sSub>
                        </m:e>
                      </m:d>
                      <m:r>
                        <a:rPr kumimoji="1" lang="en-US" altLang="zh-TW" sz="2800" b="0" i="1" smtClean="0">
                          <a:latin typeface="Cambria Math" panose="02040503050406030204" pitchFamily="18" charset="0"/>
                        </a:rPr>
                        <m:t>=−</m:t>
                      </m:r>
                      <m:nary>
                        <m:naryPr>
                          <m:chr m:val="∑"/>
                          <m:supHide m:val="on"/>
                          <m:ctrlPr>
                            <a:rPr kumimoji="1" lang="en-US" altLang="zh-TW" sz="2800" b="0" i="1" smtClean="0">
                              <a:latin typeface="Cambria Math" panose="02040503050406030204" pitchFamily="18" charset="0"/>
                            </a:rPr>
                          </m:ctrlPr>
                        </m:naryPr>
                        <m:sub>
                          <m:r>
                            <m:rPr>
                              <m:brk m:alnAt="7"/>
                            </m:rPr>
                            <a:rPr kumimoji="1" lang="en-US" altLang="zh-TW" sz="2800" b="0" i="1" smtClean="0">
                              <a:latin typeface="Cambria Math" panose="02040503050406030204" pitchFamily="18" charset="0"/>
                            </a:rPr>
                            <m:t>𝑗</m:t>
                          </m:r>
                        </m:sub>
                        <m:sup/>
                        <m:e>
                          <m:sSub>
                            <m:sSubPr>
                              <m:ctrlPr>
                                <a:rPr kumimoji="1" lang="en-US" altLang="zh-TW" sz="2800" b="0" i="1" smtClean="0">
                                  <a:latin typeface="Cambria Math" panose="02040503050406030204" pitchFamily="18" charset="0"/>
                                </a:rPr>
                              </m:ctrlPr>
                            </m:sSubPr>
                            <m:e>
                              <m:r>
                                <a:rPr kumimoji="1" lang="en-US" altLang="zh-TW" sz="2800" b="0" i="1" smtClean="0">
                                  <a:latin typeface="Cambria Math" panose="02040503050406030204" pitchFamily="18" charset="0"/>
                                </a:rPr>
                                <m:t>𝑝</m:t>
                              </m:r>
                            </m:e>
                            <m:sub>
                              <m:r>
                                <a:rPr kumimoji="1" lang="en-US" altLang="zh-TW" sz="2800" b="0" i="1" smtClean="0">
                                  <a:latin typeface="Cambria Math" panose="02040503050406030204" pitchFamily="18" charset="0"/>
                                </a:rPr>
                                <m:t>𝑗</m:t>
                              </m:r>
                              <m:r>
                                <a:rPr kumimoji="1" lang="en-US" altLang="zh-TW" sz="2800" b="0" i="1" smtClean="0">
                                  <a:latin typeface="Cambria Math" panose="02040503050406030204" pitchFamily="18" charset="0"/>
                                </a:rPr>
                                <m:t>|</m:t>
                              </m:r>
                              <m:r>
                                <a:rPr kumimoji="1" lang="en-US" altLang="zh-TW" sz="2800" b="0" i="1" smtClean="0">
                                  <a:latin typeface="Cambria Math" panose="02040503050406030204" pitchFamily="18" charset="0"/>
                                </a:rPr>
                                <m:t>𝑖</m:t>
                              </m:r>
                            </m:sub>
                          </m:sSub>
                        </m:e>
                      </m:nary>
                      <m:func>
                        <m:funcPr>
                          <m:ctrlPr>
                            <a:rPr kumimoji="1" lang="en-US" altLang="zh-TW" sz="2800" b="0" i="1" smtClean="0">
                              <a:latin typeface="Cambria Math" panose="02040503050406030204" pitchFamily="18" charset="0"/>
                            </a:rPr>
                          </m:ctrlPr>
                        </m:funcPr>
                        <m:fName>
                          <m:sSub>
                            <m:sSubPr>
                              <m:ctrlPr>
                                <a:rPr kumimoji="1" lang="en-US" altLang="zh-TW" sz="2800" b="0" i="1" smtClean="0">
                                  <a:latin typeface="Cambria Math" panose="02040503050406030204" pitchFamily="18" charset="0"/>
                                </a:rPr>
                              </m:ctrlPr>
                            </m:sSubPr>
                            <m:e>
                              <m:r>
                                <m:rPr>
                                  <m:sty m:val="p"/>
                                </m:rPr>
                                <a:rPr kumimoji="1" lang="en-US" altLang="zh-TW" sz="2800" b="0" i="0" smtClean="0">
                                  <a:latin typeface="Cambria Math" panose="02040503050406030204" pitchFamily="18" charset="0"/>
                                </a:rPr>
                                <m:t>log</m:t>
                              </m:r>
                            </m:e>
                            <m:sub>
                              <m:r>
                                <a:rPr kumimoji="1" lang="en-US" altLang="zh-TW" sz="2800" b="0" i="1" smtClean="0">
                                  <a:latin typeface="Cambria Math" panose="02040503050406030204" pitchFamily="18" charset="0"/>
                                </a:rPr>
                                <m:t>2</m:t>
                              </m:r>
                            </m:sub>
                          </m:sSub>
                        </m:fName>
                        <m:e>
                          <m:sSub>
                            <m:sSubPr>
                              <m:ctrlPr>
                                <a:rPr kumimoji="1" lang="en-US" altLang="zh-TW" sz="2800" b="0" i="1" smtClean="0">
                                  <a:latin typeface="Cambria Math" panose="02040503050406030204" pitchFamily="18" charset="0"/>
                                </a:rPr>
                              </m:ctrlPr>
                            </m:sSubPr>
                            <m:e>
                              <m:r>
                                <a:rPr kumimoji="1" lang="en-US" altLang="zh-TW" sz="2800" b="0" i="1" smtClean="0">
                                  <a:latin typeface="Cambria Math" panose="02040503050406030204" pitchFamily="18" charset="0"/>
                                </a:rPr>
                                <m:t>𝑃</m:t>
                              </m:r>
                            </m:e>
                            <m:sub>
                              <m:r>
                                <a:rPr kumimoji="1" lang="en-US" altLang="zh-TW" sz="2800" b="0" i="1" smtClean="0">
                                  <a:latin typeface="Cambria Math" panose="02040503050406030204" pitchFamily="18" charset="0"/>
                                </a:rPr>
                                <m:t>𝑗</m:t>
                              </m:r>
                              <m:r>
                                <a:rPr kumimoji="1" lang="en-US" altLang="zh-TW" sz="2800" b="0" i="1" smtClean="0">
                                  <a:latin typeface="Cambria Math" panose="02040503050406030204" pitchFamily="18" charset="0"/>
                                </a:rPr>
                                <m:t>|</m:t>
                              </m:r>
                              <m:r>
                                <a:rPr kumimoji="1" lang="en-US" altLang="zh-TW" sz="2800" b="0" i="1" smtClean="0">
                                  <a:latin typeface="Cambria Math" panose="02040503050406030204" pitchFamily="18" charset="0"/>
                                </a:rPr>
                                <m:t>𝑖</m:t>
                              </m:r>
                            </m:sub>
                          </m:sSub>
                        </m:e>
                      </m:func>
                    </m:oMath>
                  </m:oMathPara>
                </a14:m>
                <a:endParaRPr kumimoji="1" lang="zh-TW" altLang="en-US" sz="2800" dirty="0"/>
              </a:p>
            </p:txBody>
          </p:sp>
        </mc:Choice>
        <mc:Fallback xmlns="">
          <p:sp>
            <p:nvSpPr>
              <p:cNvPr id="5" name="文字方塊 4">
                <a:extLst>
                  <a:ext uri="{FF2B5EF4-FFF2-40B4-BE49-F238E27FC236}">
                    <a16:creationId xmlns:a16="http://schemas.microsoft.com/office/drawing/2014/main" id="{92A021A4-8CB8-388F-F20C-1EDBA33BF4A5}"/>
                  </a:ext>
                </a:extLst>
              </p:cNvPr>
              <p:cNvSpPr txBox="1">
                <a:spLocks noRot="1" noChangeAspect="1" noMove="1" noResize="1" noEditPoints="1" noAdjustHandles="1" noChangeArrowheads="1" noChangeShapeType="1" noTextEdit="1"/>
              </p:cNvSpPr>
              <p:nvPr/>
            </p:nvSpPr>
            <p:spPr>
              <a:xfrm>
                <a:off x="4071375" y="4001294"/>
                <a:ext cx="4049250" cy="1094339"/>
              </a:xfrm>
              <a:prstGeom prst="rect">
                <a:avLst/>
              </a:prstGeom>
              <a:blipFill>
                <a:blip r:embed="rId3"/>
                <a:stretch>
                  <a:fillRect l="-1563" t="-137500" b="-18636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772798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C6D1D63-B310-82E9-1F20-EB5B059F4BB1}"/>
              </a:ext>
            </a:extLst>
          </p:cNvPr>
          <p:cNvSpPr>
            <a:spLocks noGrp="1"/>
          </p:cNvSpPr>
          <p:nvPr>
            <p:ph type="title"/>
          </p:nvPr>
        </p:nvSpPr>
        <p:spPr/>
        <p:txBody>
          <a:bodyPr/>
          <a:lstStyle/>
          <a:p>
            <a:r>
              <a:rPr kumimoji="1" lang="en-US" altLang="zh-TW" dirty="0"/>
              <a:t>LLE </a:t>
            </a:r>
            <a:r>
              <a:rPr kumimoji="1" lang="en-US" altLang="zh-TW" dirty="0" err="1"/>
              <a:t>v.s</a:t>
            </a:r>
            <a:r>
              <a:rPr kumimoji="1" lang="en-US" altLang="zh-TW" dirty="0"/>
              <a:t>. </a:t>
            </a:r>
            <a:r>
              <a:rPr lang="en" altLang="zh-TW" sz="4400" dirty="0"/>
              <a:t>t-SNE</a:t>
            </a:r>
            <a:endParaRPr kumimoji="1" lang="zh-TW" altLang="en-US" dirty="0"/>
          </a:p>
        </p:txBody>
      </p:sp>
      <p:sp>
        <p:nvSpPr>
          <p:cNvPr id="3" name="內容版面配置區 2">
            <a:extLst>
              <a:ext uri="{FF2B5EF4-FFF2-40B4-BE49-F238E27FC236}">
                <a16:creationId xmlns:a16="http://schemas.microsoft.com/office/drawing/2014/main" id="{A9745AD3-78B4-7DFD-69DC-F36B7D0CFCA0}"/>
              </a:ext>
            </a:extLst>
          </p:cNvPr>
          <p:cNvSpPr>
            <a:spLocks noGrp="1"/>
          </p:cNvSpPr>
          <p:nvPr>
            <p:ph idx="1"/>
          </p:nvPr>
        </p:nvSpPr>
        <p:spPr>
          <a:xfrm>
            <a:off x="838199" y="1825625"/>
            <a:ext cx="5984387" cy="4908662"/>
          </a:xfrm>
        </p:spPr>
        <p:txBody>
          <a:bodyPr>
            <a:normAutofit fontScale="62500" lnSpcReduction="20000"/>
          </a:bodyPr>
          <a:lstStyle/>
          <a:p>
            <a:pPr>
              <a:lnSpc>
                <a:spcPct val="120000"/>
              </a:lnSpc>
              <a:buFont typeface="+mj-lt"/>
              <a:buAutoNum type="arabicPeriod"/>
            </a:pPr>
            <a:r>
              <a:rPr lang="zh-TW" altLang="en-US" b="1" dirty="0">
                <a:latin typeface="Microsoft JhengHei" panose="020B0604030504040204" pitchFamily="34" charset="-120"/>
                <a:ea typeface="Microsoft JhengHei" panose="020B0604030504040204" pitchFamily="34" charset="-120"/>
              </a:rPr>
              <a:t>算法原理</a:t>
            </a:r>
            <a:r>
              <a:rPr lang="zh-TW" altLang="en-US" dirty="0">
                <a:latin typeface="Microsoft JhengHei" panose="020B0604030504040204" pitchFamily="34" charset="-120"/>
                <a:ea typeface="Microsoft JhengHei" panose="020B0604030504040204" pitchFamily="34" charset="-120"/>
              </a:rPr>
              <a:t>： </a:t>
            </a:r>
          </a:p>
          <a:p>
            <a:pPr marL="742950" lvl="1" indent="-285750">
              <a:lnSpc>
                <a:spcPct val="120000"/>
              </a:lnSpc>
              <a:buFont typeface="+mj-lt"/>
              <a:buAutoNum type="arabicPeriod"/>
            </a:pPr>
            <a:r>
              <a:rPr lang="en" altLang="zh-TW" dirty="0">
                <a:latin typeface="Microsoft JhengHei" panose="020B0604030504040204" pitchFamily="34" charset="-120"/>
                <a:ea typeface="Microsoft JhengHei" panose="020B0604030504040204" pitchFamily="34" charset="-120"/>
              </a:rPr>
              <a:t>LLE</a:t>
            </a:r>
            <a:r>
              <a:rPr lang="zh-TW" altLang="en"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基於線性重建，假設每個數據點可以由其近鄰點的線性組合來重建</a:t>
            </a:r>
          </a:p>
          <a:p>
            <a:pPr marL="742950" lvl="1" indent="-285750">
              <a:lnSpc>
                <a:spcPct val="120000"/>
              </a:lnSpc>
              <a:buFont typeface="+mj-lt"/>
              <a:buAutoNum type="arabicPeriod"/>
            </a:pPr>
            <a:r>
              <a:rPr lang="en" altLang="zh-TW" dirty="0">
                <a:latin typeface="Microsoft JhengHei" panose="020B0604030504040204" pitchFamily="34" charset="-120"/>
                <a:ea typeface="Microsoft JhengHei" panose="020B0604030504040204" pitchFamily="34" charset="-120"/>
              </a:rPr>
              <a:t>t-SNE</a:t>
            </a:r>
            <a:r>
              <a:rPr lang="zh-TW" altLang="en"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基於概率分佈，將高維空間中的歐氏距離轉換為條件概率，並在低維空間中保持這些概率關係</a:t>
            </a:r>
          </a:p>
          <a:p>
            <a:pPr>
              <a:lnSpc>
                <a:spcPct val="120000"/>
              </a:lnSpc>
              <a:buFont typeface="+mj-lt"/>
              <a:buAutoNum type="arabicPeriod"/>
            </a:pPr>
            <a:r>
              <a:rPr lang="zh-TW" altLang="en-US" b="1" dirty="0">
                <a:latin typeface="Microsoft JhengHei" panose="020B0604030504040204" pitchFamily="34" charset="-120"/>
                <a:ea typeface="Microsoft JhengHei" panose="020B0604030504040204" pitchFamily="34" charset="-120"/>
              </a:rPr>
              <a:t>參數設置</a:t>
            </a:r>
            <a:r>
              <a:rPr lang="zh-TW" altLang="en-US" dirty="0">
                <a:latin typeface="Microsoft JhengHei" panose="020B0604030504040204" pitchFamily="34" charset="-120"/>
                <a:ea typeface="Microsoft JhengHei" panose="020B0604030504040204" pitchFamily="34" charset="-120"/>
              </a:rPr>
              <a:t>： </a:t>
            </a:r>
          </a:p>
          <a:p>
            <a:pPr marL="742950" lvl="1" indent="-285750">
              <a:lnSpc>
                <a:spcPct val="120000"/>
              </a:lnSpc>
              <a:buFont typeface="+mj-lt"/>
              <a:buAutoNum type="arabicPeriod"/>
            </a:pPr>
            <a:r>
              <a:rPr lang="en" altLang="zh-TW" dirty="0">
                <a:latin typeface="Microsoft JhengHei" panose="020B0604030504040204" pitchFamily="34" charset="-120"/>
                <a:ea typeface="Microsoft JhengHei" panose="020B0604030504040204" pitchFamily="34" charset="-120"/>
              </a:rPr>
              <a:t>LLE</a:t>
            </a:r>
            <a:r>
              <a:rPr lang="zh-TW" altLang="en"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主要參數是</a:t>
            </a:r>
            <a:r>
              <a:rPr lang="en" altLang="zh-TW" dirty="0" err="1">
                <a:latin typeface="Microsoft JhengHei" panose="020B0604030504040204" pitchFamily="34" charset="-120"/>
                <a:ea typeface="Microsoft JhengHei" panose="020B0604030504040204" pitchFamily="34" charset="-120"/>
              </a:rPr>
              <a:t>n_neighbors</a:t>
            </a:r>
            <a:r>
              <a:rPr lang="zh-TW" altLang="en"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近鄰數量）</a:t>
            </a:r>
          </a:p>
          <a:p>
            <a:pPr marL="742950" lvl="1" indent="-285750">
              <a:lnSpc>
                <a:spcPct val="120000"/>
              </a:lnSpc>
              <a:buFont typeface="+mj-lt"/>
              <a:buAutoNum type="arabicPeriod"/>
            </a:pPr>
            <a:r>
              <a:rPr lang="en" altLang="zh-TW" dirty="0">
                <a:latin typeface="Microsoft JhengHei" panose="020B0604030504040204" pitchFamily="34" charset="-120"/>
                <a:ea typeface="Microsoft JhengHei" panose="020B0604030504040204" pitchFamily="34" charset="-120"/>
              </a:rPr>
              <a:t>t-SNE</a:t>
            </a:r>
            <a:r>
              <a:rPr lang="zh-TW" altLang="en"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主要參數是</a:t>
            </a:r>
            <a:r>
              <a:rPr lang="en" altLang="zh-TW" dirty="0">
                <a:latin typeface="Microsoft JhengHei" panose="020B0604030504040204" pitchFamily="34" charset="-120"/>
                <a:ea typeface="Microsoft JhengHei" panose="020B0604030504040204" pitchFamily="34" charset="-120"/>
              </a:rPr>
              <a:t>perplexity</a:t>
            </a:r>
            <a:r>
              <a:rPr lang="zh-TW" altLang="en"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困惑度，影響局部和全局結構的平衡）</a:t>
            </a:r>
          </a:p>
          <a:p>
            <a:pPr>
              <a:lnSpc>
                <a:spcPct val="120000"/>
              </a:lnSpc>
              <a:buFont typeface="+mj-lt"/>
              <a:buAutoNum type="arabicPeriod"/>
            </a:pPr>
            <a:r>
              <a:rPr lang="zh-TW" altLang="en-US" b="1" dirty="0">
                <a:latin typeface="Microsoft JhengHei" panose="020B0604030504040204" pitchFamily="34" charset="-120"/>
                <a:ea typeface="Microsoft JhengHei" panose="020B0604030504040204" pitchFamily="34" charset="-120"/>
              </a:rPr>
              <a:t>計算複雜度</a:t>
            </a:r>
            <a:r>
              <a:rPr lang="zh-TW" altLang="en-US" dirty="0">
                <a:latin typeface="Microsoft JhengHei" panose="020B0604030504040204" pitchFamily="34" charset="-120"/>
                <a:ea typeface="Microsoft JhengHei" panose="020B0604030504040204" pitchFamily="34" charset="-120"/>
              </a:rPr>
              <a:t>： </a:t>
            </a:r>
          </a:p>
          <a:p>
            <a:pPr marL="742950" lvl="1" indent="-285750">
              <a:lnSpc>
                <a:spcPct val="120000"/>
              </a:lnSpc>
              <a:buFont typeface="+mj-lt"/>
              <a:buAutoNum type="arabicPeriod"/>
            </a:pPr>
            <a:r>
              <a:rPr lang="en" altLang="zh-TW" dirty="0">
                <a:latin typeface="Microsoft JhengHei" panose="020B0604030504040204" pitchFamily="34" charset="-120"/>
                <a:ea typeface="Microsoft JhengHei" panose="020B0604030504040204" pitchFamily="34" charset="-120"/>
              </a:rPr>
              <a:t>LLE</a:t>
            </a:r>
            <a:r>
              <a:rPr lang="zh-TW" altLang="en"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相對較快，尤其是對於中等規模的數據集</a:t>
            </a:r>
          </a:p>
          <a:p>
            <a:pPr marL="742950" lvl="1" indent="-285750">
              <a:lnSpc>
                <a:spcPct val="120000"/>
              </a:lnSpc>
              <a:buFont typeface="+mj-lt"/>
              <a:buAutoNum type="arabicPeriod"/>
            </a:pPr>
            <a:r>
              <a:rPr lang="en" altLang="zh-TW" dirty="0">
                <a:latin typeface="Microsoft JhengHei" panose="020B0604030504040204" pitchFamily="34" charset="-120"/>
                <a:ea typeface="Microsoft JhengHei" panose="020B0604030504040204" pitchFamily="34" charset="-120"/>
              </a:rPr>
              <a:t>t-SNE</a:t>
            </a:r>
            <a:r>
              <a:rPr lang="zh-TW" altLang="en"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計算成本較高，對於大型數據集可能需要較長時間</a:t>
            </a:r>
          </a:p>
          <a:p>
            <a:pPr>
              <a:lnSpc>
                <a:spcPct val="120000"/>
              </a:lnSpc>
              <a:buFont typeface="+mj-lt"/>
              <a:buAutoNum type="arabicPeriod"/>
            </a:pPr>
            <a:r>
              <a:rPr lang="zh-TW" altLang="en-US" b="1" dirty="0">
                <a:latin typeface="Microsoft JhengHei" panose="020B0604030504040204" pitchFamily="34" charset="-120"/>
                <a:ea typeface="Microsoft JhengHei" panose="020B0604030504040204" pitchFamily="34" charset="-120"/>
              </a:rPr>
              <a:t>結果特點</a:t>
            </a:r>
            <a:r>
              <a:rPr lang="zh-TW" altLang="en-US" dirty="0">
                <a:latin typeface="Microsoft JhengHei" panose="020B0604030504040204" pitchFamily="34" charset="-120"/>
                <a:ea typeface="Microsoft JhengHei" panose="020B0604030504040204" pitchFamily="34" charset="-120"/>
              </a:rPr>
              <a:t>： </a:t>
            </a:r>
          </a:p>
          <a:p>
            <a:pPr marL="742950" lvl="1" indent="-285750">
              <a:lnSpc>
                <a:spcPct val="120000"/>
              </a:lnSpc>
              <a:buFont typeface="+mj-lt"/>
              <a:buAutoNum type="arabicPeriod"/>
            </a:pPr>
            <a:r>
              <a:rPr lang="en" altLang="zh-TW" dirty="0">
                <a:latin typeface="Microsoft JhengHei" panose="020B0604030504040204" pitchFamily="34" charset="-120"/>
                <a:ea typeface="Microsoft JhengHei" panose="020B0604030504040204" pitchFamily="34" charset="-120"/>
              </a:rPr>
              <a:t>LLE</a:t>
            </a:r>
            <a:r>
              <a:rPr lang="zh-TW" altLang="en"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更好地保持局部線性結構，但可能對噪聲敏感</a:t>
            </a:r>
          </a:p>
          <a:p>
            <a:pPr marL="742950" lvl="1" indent="-285750">
              <a:lnSpc>
                <a:spcPct val="120000"/>
              </a:lnSpc>
              <a:buFont typeface="+mj-lt"/>
              <a:buAutoNum type="arabicPeriod"/>
            </a:pPr>
            <a:r>
              <a:rPr lang="en" altLang="zh-TW" dirty="0">
                <a:latin typeface="Microsoft JhengHei" panose="020B0604030504040204" pitchFamily="34" charset="-120"/>
                <a:ea typeface="Microsoft JhengHei" panose="020B0604030504040204" pitchFamily="34" charset="-120"/>
              </a:rPr>
              <a:t>t-SNE</a:t>
            </a:r>
            <a:r>
              <a:rPr lang="zh-TW" altLang="en" dirty="0">
                <a:latin typeface="Microsoft JhengHei" panose="020B0604030504040204" pitchFamily="34" charset="-120"/>
                <a:ea typeface="Microsoft JhengHei" panose="020B0604030504040204" pitchFamily="34" charset="-120"/>
              </a:rPr>
              <a:t>：</a:t>
            </a:r>
            <a:r>
              <a:rPr lang="zh-TW" altLang="en-US" dirty="0">
                <a:latin typeface="Microsoft JhengHei" panose="020B0604030504040204" pitchFamily="34" charset="-120"/>
                <a:ea typeface="Microsoft JhengHei" panose="020B0604030504040204" pitchFamily="34" charset="-120"/>
              </a:rPr>
              <a:t>更好地展示數據的群集結構，但可能不保持原始數據的全局結構</a:t>
            </a:r>
          </a:p>
        </p:txBody>
      </p:sp>
      <p:pic>
        <p:nvPicPr>
          <p:cNvPr id="4" name="圖片 3">
            <a:extLst>
              <a:ext uri="{FF2B5EF4-FFF2-40B4-BE49-F238E27FC236}">
                <a16:creationId xmlns:a16="http://schemas.microsoft.com/office/drawing/2014/main" id="{EABD2ACA-DE45-6E6A-1E5F-EB4D2325104F}"/>
              </a:ext>
            </a:extLst>
          </p:cNvPr>
          <p:cNvPicPr>
            <a:picLocks noChangeAspect="1"/>
          </p:cNvPicPr>
          <p:nvPr/>
        </p:nvPicPr>
        <p:blipFill>
          <a:blip r:embed="rId2"/>
          <a:stretch>
            <a:fillRect/>
          </a:stretch>
        </p:blipFill>
        <p:spPr>
          <a:xfrm>
            <a:off x="6822586" y="2275896"/>
            <a:ext cx="5010151" cy="4008120"/>
          </a:xfrm>
          <a:prstGeom prst="rect">
            <a:avLst/>
          </a:prstGeom>
        </p:spPr>
      </p:pic>
    </p:spTree>
    <p:extLst>
      <p:ext uri="{BB962C8B-B14F-4D97-AF65-F5344CB8AC3E}">
        <p14:creationId xmlns:p14="http://schemas.microsoft.com/office/powerpoint/2010/main" val="27107095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1CB9B93-B92D-8DE1-4101-C7A4864D3716}"/>
              </a:ext>
            </a:extLst>
          </p:cNvPr>
          <p:cNvSpPr>
            <a:spLocks noGrp="1"/>
          </p:cNvSpPr>
          <p:nvPr>
            <p:ph type="title"/>
          </p:nvPr>
        </p:nvSpPr>
        <p:spPr/>
        <p:txBody>
          <a:bodyPr/>
          <a:lstStyle/>
          <a:p>
            <a:r>
              <a:rPr kumimoji="1" lang="en-US" altLang="zh-TW" dirty="0"/>
              <a:t>MNIST</a:t>
            </a:r>
            <a:endParaRPr kumimoji="1" lang="zh-TW" altLang="en-US" dirty="0"/>
          </a:p>
        </p:txBody>
      </p:sp>
      <p:sp>
        <p:nvSpPr>
          <p:cNvPr id="3" name="內容版面配置區 2">
            <a:extLst>
              <a:ext uri="{FF2B5EF4-FFF2-40B4-BE49-F238E27FC236}">
                <a16:creationId xmlns:a16="http://schemas.microsoft.com/office/drawing/2014/main" id="{220B648E-3FC0-15D1-9EAF-3EB01FCBAE34}"/>
              </a:ext>
            </a:extLst>
          </p:cNvPr>
          <p:cNvSpPr>
            <a:spLocks noGrp="1"/>
          </p:cNvSpPr>
          <p:nvPr>
            <p:ph idx="1"/>
          </p:nvPr>
        </p:nvSpPr>
        <p:spPr>
          <a:xfrm>
            <a:off x="838200" y="1825625"/>
            <a:ext cx="3624943" cy="3682546"/>
          </a:xfrm>
        </p:spPr>
        <p:txBody>
          <a:bodyPr/>
          <a:lstStyle/>
          <a:p>
            <a:r>
              <a:rPr kumimoji="1" lang="zh-TW" altLang="en-US" dirty="0"/>
              <a:t>執行</a:t>
            </a:r>
            <a:r>
              <a:rPr kumimoji="1" lang="en-US" altLang="zh-TW" dirty="0"/>
              <a:t>t-SNE</a:t>
            </a:r>
            <a:r>
              <a:rPr kumimoji="1" lang="zh-TW" altLang="en-US" dirty="0"/>
              <a:t>後資料的分佈</a:t>
            </a:r>
            <a:endParaRPr kumimoji="1" lang="en-US" altLang="zh-TW" dirty="0"/>
          </a:p>
          <a:p>
            <a:r>
              <a:rPr kumimoji="1" lang="zh-TW" altLang="en-US" dirty="0"/>
              <a:t>參考</a:t>
            </a:r>
            <a:r>
              <a:rPr kumimoji="1" lang="en-US" altLang="zh-TW" dirty="0"/>
              <a:t>t-SNE</a:t>
            </a:r>
            <a:r>
              <a:rPr kumimoji="1" lang="zh-TW" altLang="en-US" dirty="0"/>
              <a:t>作者的</a:t>
            </a:r>
            <a:r>
              <a:rPr kumimoji="1" lang="en-US" altLang="zh-TW" dirty="0" err="1"/>
              <a:t>github</a:t>
            </a:r>
            <a:r>
              <a:rPr kumimoji="1" lang="zh-TW" altLang="en-US" dirty="0"/>
              <a:t>：</a:t>
            </a:r>
            <a:r>
              <a:rPr kumimoji="1" lang="en" altLang="zh-TW" dirty="0">
                <a:hlinkClick r:id="rId2"/>
              </a:rPr>
              <a:t>https://lvdmaaten.github.io/tsne</a:t>
            </a:r>
            <a:r>
              <a:rPr kumimoji="1" lang="en" altLang="zh-TW">
                <a:hlinkClick r:id="rId2"/>
              </a:rPr>
              <a:t>/</a:t>
            </a:r>
            <a:endParaRPr kumimoji="1" lang="en" altLang="zh-TW"/>
          </a:p>
          <a:p>
            <a:pPr marL="0" indent="0">
              <a:buNone/>
            </a:pPr>
            <a:endParaRPr kumimoji="1" lang="zh-TW" altLang="en-US" dirty="0"/>
          </a:p>
        </p:txBody>
      </p:sp>
      <p:pic>
        <p:nvPicPr>
          <p:cNvPr id="5122" name="Picture 2">
            <a:extLst>
              <a:ext uri="{FF2B5EF4-FFF2-40B4-BE49-F238E27FC236}">
                <a16:creationId xmlns:a16="http://schemas.microsoft.com/office/drawing/2014/main" id="{9E26ADD9-F565-6E24-4B43-81E8967A4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4981" y="365125"/>
            <a:ext cx="6758819" cy="5747657"/>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D0BC7BF3-BA84-07D4-A783-2D88548351B1}"/>
              </a:ext>
            </a:extLst>
          </p:cNvPr>
          <p:cNvSpPr txBox="1"/>
          <p:nvPr/>
        </p:nvSpPr>
        <p:spPr>
          <a:xfrm>
            <a:off x="838200" y="6134554"/>
            <a:ext cx="6096000" cy="369332"/>
          </a:xfrm>
          <a:prstGeom prst="rect">
            <a:avLst/>
          </a:prstGeom>
          <a:noFill/>
        </p:spPr>
        <p:txBody>
          <a:bodyPr wrap="square">
            <a:spAutoFit/>
          </a:bodyPr>
          <a:lstStyle/>
          <a:p>
            <a:r>
              <a:rPr lang="zh-TW" altLang="en-US" dirty="0"/>
              <a:t>https://blog.csdn.net/hester_hester/article/details/102975819</a:t>
            </a:r>
          </a:p>
        </p:txBody>
      </p:sp>
      <p:sp>
        <p:nvSpPr>
          <p:cNvPr id="6" name="文字方塊 5">
            <a:extLst>
              <a:ext uri="{FF2B5EF4-FFF2-40B4-BE49-F238E27FC236}">
                <a16:creationId xmlns:a16="http://schemas.microsoft.com/office/drawing/2014/main" id="{F00B6EFE-6BDC-24E8-BFCE-227D1782012C}"/>
              </a:ext>
            </a:extLst>
          </p:cNvPr>
          <p:cNvSpPr txBox="1"/>
          <p:nvPr/>
        </p:nvSpPr>
        <p:spPr>
          <a:xfrm>
            <a:off x="834614" y="6483938"/>
            <a:ext cx="8858026" cy="369332"/>
          </a:xfrm>
          <a:prstGeom prst="rect">
            <a:avLst/>
          </a:prstGeom>
          <a:noFill/>
        </p:spPr>
        <p:txBody>
          <a:bodyPr wrap="square">
            <a:spAutoFit/>
          </a:bodyPr>
          <a:lstStyle/>
          <a:p>
            <a:r>
              <a:rPr lang="zh-TW" altLang="en-US" dirty="0"/>
              <a:t>https://www.kaggle.com/code/parulpandey/visualizing-kannada-mnist-with-t-sne/notebook</a:t>
            </a:r>
          </a:p>
        </p:txBody>
      </p:sp>
    </p:spTree>
    <p:extLst>
      <p:ext uri="{BB962C8B-B14F-4D97-AF65-F5344CB8AC3E}">
        <p14:creationId xmlns:p14="http://schemas.microsoft.com/office/powerpoint/2010/main" val="40862312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360931-14E2-0779-EE87-CA9B7729C5DF}"/>
              </a:ext>
            </a:extLst>
          </p:cNvPr>
          <p:cNvSpPr>
            <a:spLocks noGrp="1"/>
          </p:cNvSpPr>
          <p:nvPr>
            <p:ph type="title"/>
          </p:nvPr>
        </p:nvSpPr>
        <p:spPr>
          <a:xfrm>
            <a:off x="838200" y="365125"/>
            <a:ext cx="10515600" cy="1325563"/>
          </a:xfrm>
        </p:spPr>
        <p:txBody>
          <a:bodyPr>
            <a:normAutofit/>
          </a:bodyPr>
          <a:lstStyle/>
          <a:p>
            <a:r>
              <a:rPr lang="en-US" altLang="zh-TW"/>
              <a:t>MNIST</a:t>
            </a:r>
            <a:endParaRPr lang="zh-TW" altLang="en-US" dirty="0"/>
          </a:p>
        </p:txBody>
      </p:sp>
      <p:sp>
        <p:nvSpPr>
          <p:cNvPr id="6" name="內容版面配置區 5">
            <a:extLst>
              <a:ext uri="{FF2B5EF4-FFF2-40B4-BE49-F238E27FC236}">
                <a16:creationId xmlns:a16="http://schemas.microsoft.com/office/drawing/2014/main" id="{0FA4F8A6-1216-4101-8954-CAF1178E37E1}"/>
              </a:ext>
            </a:extLst>
          </p:cNvPr>
          <p:cNvSpPr>
            <a:spLocks noGrp="1"/>
          </p:cNvSpPr>
          <p:nvPr>
            <p:ph idx="1"/>
          </p:nvPr>
        </p:nvSpPr>
        <p:spPr>
          <a:xfrm>
            <a:off x="838200" y="1825624"/>
            <a:ext cx="4680788" cy="5032375"/>
          </a:xfrm>
        </p:spPr>
        <p:txBody>
          <a:bodyPr/>
          <a:lstStyle/>
          <a:p>
            <a:r>
              <a:rPr lang="zh-TW" altLang="en-US" dirty="0"/>
              <a:t>將手寫圖形攤平後，先透過</a:t>
            </a:r>
            <a:r>
              <a:rPr lang="en-US" altLang="zh-TW" dirty="0"/>
              <a:t>PCA</a:t>
            </a:r>
            <a:r>
              <a:rPr lang="zh-TW" altLang="en-US" dirty="0"/>
              <a:t>降維到</a:t>
            </a:r>
            <a:r>
              <a:rPr lang="en-US" altLang="zh-TW" dirty="0"/>
              <a:t>50</a:t>
            </a:r>
            <a:r>
              <a:rPr lang="zh-TW" altLang="en-US" dirty="0"/>
              <a:t>維</a:t>
            </a:r>
            <a:endParaRPr lang="en-US" altLang="zh-TW" dirty="0"/>
          </a:p>
          <a:p>
            <a:r>
              <a:rPr lang="zh-TW" altLang="en-US" dirty="0"/>
              <a:t>將</a:t>
            </a:r>
            <a:r>
              <a:rPr lang="en-US" altLang="zh-TW" dirty="0"/>
              <a:t>50</a:t>
            </a:r>
            <a:r>
              <a:rPr lang="zh-TW" altLang="en-US" dirty="0"/>
              <a:t>維的</a:t>
            </a:r>
            <a:r>
              <a:rPr lang="en-US" altLang="zh-TW" dirty="0"/>
              <a:t>PCA</a:t>
            </a:r>
            <a:r>
              <a:rPr lang="zh-TW" altLang="en-US" dirty="0"/>
              <a:t>的結果再透過</a:t>
            </a:r>
            <a:r>
              <a:rPr lang="en-US" altLang="zh-TW" dirty="0" err="1"/>
              <a:t>tSNE</a:t>
            </a:r>
            <a:r>
              <a:rPr lang="zh-TW" altLang="en-US" dirty="0"/>
              <a:t>降到</a:t>
            </a:r>
            <a:r>
              <a:rPr lang="en-US" altLang="zh-TW" dirty="0"/>
              <a:t>2</a:t>
            </a:r>
            <a:r>
              <a:rPr lang="zh-TW" altLang="en-US" dirty="0"/>
              <a:t>維</a:t>
            </a:r>
            <a:endParaRPr lang="en-US" altLang="zh-TW" dirty="0"/>
          </a:p>
          <a:p>
            <a:r>
              <a:rPr lang="zh-TW" altLang="en-US" dirty="0"/>
              <a:t>因為</a:t>
            </a:r>
            <a:r>
              <a:rPr lang="en-US" altLang="zh-TW" dirty="0" err="1"/>
              <a:t>tSNE</a:t>
            </a:r>
            <a:r>
              <a:rPr lang="zh-TW" altLang="en-US" dirty="0"/>
              <a:t>的計算量太過龐大，所以先透過</a:t>
            </a:r>
            <a:r>
              <a:rPr lang="en-US" altLang="zh-TW" dirty="0"/>
              <a:t>PCA</a:t>
            </a:r>
            <a:r>
              <a:rPr lang="zh-TW" altLang="en-US" dirty="0"/>
              <a:t>減少維度，減少計算量</a:t>
            </a:r>
            <a:endParaRPr lang="en-US" altLang="zh-TW" dirty="0"/>
          </a:p>
          <a:p>
            <a:r>
              <a:rPr lang="zh-TW" altLang="en-US" dirty="0"/>
              <a:t>可以看得出來</a:t>
            </a:r>
            <a:r>
              <a:rPr lang="en-US" altLang="zh-TW" dirty="0" err="1"/>
              <a:t>tSNE</a:t>
            </a:r>
            <a:r>
              <a:rPr lang="zh-TW" altLang="en-US" dirty="0"/>
              <a:t>可以有效呈現手寫數字的分佈狀況</a:t>
            </a:r>
            <a:endParaRPr lang="en-US" altLang="zh-TW" dirty="0"/>
          </a:p>
          <a:p>
            <a:r>
              <a:rPr lang="zh-TW" altLang="en-US" dirty="0"/>
              <a:t>可以透過</a:t>
            </a:r>
            <a:r>
              <a:rPr lang="en-US" altLang="zh-TW" dirty="0" err="1"/>
              <a:t>tSNE</a:t>
            </a:r>
            <a:r>
              <a:rPr lang="zh-TW" altLang="en-US" dirty="0"/>
              <a:t>簡單分析該資料集的分類難易度</a:t>
            </a:r>
          </a:p>
        </p:txBody>
      </p:sp>
      <p:pic>
        <p:nvPicPr>
          <p:cNvPr id="4" name="圖片 3">
            <a:extLst>
              <a:ext uri="{FF2B5EF4-FFF2-40B4-BE49-F238E27FC236}">
                <a16:creationId xmlns:a16="http://schemas.microsoft.com/office/drawing/2014/main" id="{ED362706-EB70-C8B7-1635-7E2B4E595FC5}"/>
              </a:ext>
            </a:extLst>
          </p:cNvPr>
          <p:cNvPicPr>
            <a:picLocks noChangeAspect="1"/>
          </p:cNvPicPr>
          <p:nvPr/>
        </p:nvPicPr>
        <p:blipFill>
          <a:blip r:embed="rId2"/>
          <a:srcRect l="3704" t="6711" r="11929" b="2865"/>
          <a:stretch/>
        </p:blipFill>
        <p:spPr>
          <a:xfrm>
            <a:off x="5605049" y="1644968"/>
            <a:ext cx="5834812" cy="5002941"/>
          </a:xfrm>
          <a:prstGeom prst="rect">
            <a:avLst/>
          </a:prstGeom>
        </p:spPr>
      </p:pic>
    </p:spTree>
    <p:extLst>
      <p:ext uri="{BB962C8B-B14F-4D97-AF65-F5344CB8AC3E}">
        <p14:creationId xmlns:p14="http://schemas.microsoft.com/office/powerpoint/2010/main" val="21931241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558B10-FD06-A8A4-3378-47DF293C5985}"/>
              </a:ext>
            </a:extLst>
          </p:cNvPr>
          <p:cNvSpPr>
            <a:spLocks noGrp="1"/>
          </p:cNvSpPr>
          <p:nvPr>
            <p:ph type="title"/>
          </p:nvPr>
        </p:nvSpPr>
        <p:spPr/>
        <p:txBody>
          <a:bodyPr/>
          <a:lstStyle/>
          <a:p>
            <a:endParaRPr kumimoji="1" lang="zh-TW" altLang="en-US"/>
          </a:p>
        </p:txBody>
      </p:sp>
      <p:sp>
        <p:nvSpPr>
          <p:cNvPr id="3" name="內容版面配置區 2">
            <a:extLst>
              <a:ext uri="{FF2B5EF4-FFF2-40B4-BE49-F238E27FC236}">
                <a16:creationId xmlns:a16="http://schemas.microsoft.com/office/drawing/2014/main" id="{EC2CDCC8-E8AF-DE04-23A3-C27C5B97EA74}"/>
              </a:ext>
            </a:extLst>
          </p:cNvPr>
          <p:cNvSpPr>
            <a:spLocks noGrp="1"/>
          </p:cNvSpPr>
          <p:nvPr>
            <p:ph idx="1"/>
          </p:nvPr>
        </p:nvSpPr>
        <p:spPr>
          <a:xfrm>
            <a:off x="838200" y="1825625"/>
            <a:ext cx="3390900" cy="4351338"/>
          </a:xfrm>
        </p:spPr>
        <p:txBody>
          <a:bodyPr/>
          <a:lstStyle/>
          <a:p>
            <a:r>
              <a:rPr kumimoji="1" lang="zh-TW" altLang="en-US" dirty="0"/>
              <a:t>這是不透過</a:t>
            </a:r>
            <a:r>
              <a:rPr kumimoji="1" lang="en-US" altLang="zh-TW" dirty="0"/>
              <a:t>PCA</a:t>
            </a:r>
            <a:r>
              <a:rPr kumimoji="1" lang="zh-TW" altLang="en-US" dirty="0"/>
              <a:t>，直接使用</a:t>
            </a:r>
            <a:r>
              <a:rPr kumimoji="1" lang="en-US" altLang="zh-TW" dirty="0" err="1"/>
              <a:t>tSNE</a:t>
            </a:r>
            <a:r>
              <a:rPr kumimoji="1" lang="zh-TW" altLang="en-US" dirty="0"/>
              <a:t>的結果</a:t>
            </a:r>
            <a:endParaRPr kumimoji="1" lang="en-US" altLang="zh-TW" dirty="0"/>
          </a:p>
          <a:p>
            <a:r>
              <a:rPr kumimoji="1" lang="zh-TW" altLang="en-US" dirty="0"/>
              <a:t>時長約是有用</a:t>
            </a:r>
            <a:r>
              <a:rPr kumimoji="1" lang="en-US" altLang="zh-TW" dirty="0"/>
              <a:t>PCA</a:t>
            </a:r>
            <a:r>
              <a:rPr kumimoji="1" lang="zh-TW" altLang="en-US" dirty="0"/>
              <a:t>的</a:t>
            </a:r>
            <a:r>
              <a:rPr kumimoji="1" lang="en-US" altLang="zh-TW" dirty="0"/>
              <a:t>5-6</a:t>
            </a:r>
            <a:r>
              <a:rPr kumimoji="1" lang="zh-TW" altLang="en-US"/>
              <a:t>倍</a:t>
            </a:r>
            <a:endParaRPr kumimoji="1" lang="zh-TW" altLang="en-US" dirty="0"/>
          </a:p>
        </p:txBody>
      </p:sp>
      <p:pic>
        <p:nvPicPr>
          <p:cNvPr id="2050" name="Picture 2">
            <a:extLst>
              <a:ext uri="{FF2B5EF4-FFF2-40B4-BE49-F238E27FC236}">
                <a16:creationId xmlns:a16="http://schemas.microsoft.com/office/drawing/2014/main" id="{4DB61C26-5BA5-17E7-3590-6D6909DC8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9100" y="0"/>
            <a:ext cx="79629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27440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40E9BBF-59F9-4211-AD5B-E7B65CC9DB7D}"/>
              </a:ext>
            </a:extLst>
          </p:cNvPr>
          <p:cNvSpPr>
            <a:spLocks noGrp="1"/>
          </p:cNvSpPr>
          <p:nvPr>
            <p:ph type="title"/>
          </p:nvPr>
        </p:nvSpPr>
        <p:spPr/>
        <p:txBody>
          <a:bodyPr/>
          <a:lstStyle/>
          <a:p>
            <a:r>
              <a:rPr lang="en-US" altLang="zh-TW"/>
              <a:t>UMAP</a:t>
            </a:r>
            <a:endParaRPr lang="zh-TW" altLang="en-US"/>
          </a:p>
        </p:txBody>
      </p:sp>
      <p:sp>
        <p:nvSpPr>
          <p:cNvPr id="3" name="內容版面配置區 2">
            <a:extLst>
              <a:ext uri="{FF2B5EF4-FFF2-40B4-BE49-F238E27FC236}">
                <a16:creationId xmlns:a16="http://schemas.microsoft.com/office/drawing/2014/main" id="{CB653259-E2FF-452F-9DFA-73D595FA1B6F}"/>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109806495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13576</TotalTime>
  <Words>4737</Words>
  <Application>Microsoft Office PowerPoint</Application>
  <PresentationFormat>寬螢幕</PresentationFormat>
  <Paragraphs>303</Paragraphs>
  <Slides>46</Slides>
  <Notes>0</Notes>
  <HiddenSlides>0</HiddenSlides>
  <MMClips>0</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46</vt:i4>
      </vt:variant>
    </vt:vector>
  </HeadingPairs>
  <TitlesOfParts>
    <vt:vector size="58" baseType="lpstr">
      <vt:lpstr>-apple-system</vt:lpstr>
      <vt:lpstr>Inter</vt:lpstr>
      <vt:lpstr>PingFang SC</vt:lpstr>
      <vt:lpstr>source-serif-pro</vt:lpstr>
      <vt:lpstr>Microsoft JhengHei</vt:lpstr>
      <vt:lpstr>新細明體</vt:lpstr>
      <vt:lpstr>Arial</vt:lpstr>
      <vt:lpstr>Calibri</vt:lpstr>
      <vt:lpstr>Calibri Light</vt:lpstr>
      <vt:lpstr>Cambria Math</vt:lpstr>
      <vt:lpstr>Times New Roman</vt:lpstr>
      <vt:lpstr>Office 佈景主題</vt:lpstr>
      <vt:lpstr>unsupervised learning-降維</vt:lpstr>
      <vt:lpstr>非監督式學習</vt:lpstr>
      <vt:lpstr>非監督式學習</vt:lpstr>
      <vt:lpstr>降維-PCA</vt:lpstr>
      <vt:lpstr>降維-PCA</vt:lpstr>
      <vt:lpstr>降維-PCA</vt:lpstr>
      <vt:lpstr>降維-PCA</vt:lpstr>
      <vt:lpstr>降維-PCA</vt:lpstr>
      <vt:lpstr>降維-PCA</vt:lpstr>
      <vt:lpstr>降維-PCA</vt:lpstr>
      <vt:lpstr>降維-PCA</vt:lpstr>
      <vt:lpstr>降維-PCA</vt:lpstr>
      <vt:lpstr>降維-PCA-特徵值</vt:lpstr>
      <vt:lpstr>降維-PCA-特徵值</vt:lpstr>
      <vt:lpstr>降維-PCA-特徵值</vt:lpstr>
      <vt:lpstr>降維-PCA-特徵值</vt:lpstr>
      <vt:lpstr>降維-PCA-特徵值</vt:lpstr>
      <vt:lpstr>降維-PCA-特徵值</vt:lpstr>
      <vt:lpstr>降維-PCA-特徵值</vt:lpstr>
      <vt:lpstr>降維-PCA-特徵值</vt:lpstr>
      <vt:lpstr>降維-PCA-特徵值</vt:lpstr>
      <vt:lpstr>降維-PCA-特徵值</vt:lpstr>
      <vt:lpstr>降維-PCA-特徵值</vt:lpstr>
      <vt:lpstr>降維-PCA</vt:lpstr>
      <vt:lpstr>奇異值分解 Singular Value Decomposition, SVD</vt:lpstr>
      <vt:lpstr>奇異值分解 Singular Value Decomposition, SVD</vt:lpstr>
      <vt:lpstr>奇異值分解 Singular Value Decomposition, SVD</vt:lpstr>
      <vt:lpstr>奇異值分解SVD 04_SVD_from_scratch.py</vt:lpstr>
      <vt:lpstr>奇異值分解SVD 04_SVD_MNIST.py</vt:lpstr>
      <vt:lpstr>LDA(Linear Discriminant Analysis) 線性判斷分析</vt:lpstr>
      <vt:lpstr>Linear Discriminant Analysis (LDA) 線性判斷分析</vt:lpstr>
      <vt:lpstr>Locally Linear Embedding (LLE)</vt:lpstr>
      <vt:lpstr>Locally Linear Embedding (LLE)</vt:lpstr>
      <vt:lpstr>Locally Linear Embedding (LLE)</vt:lpstr>
      <vt:lpstr>Locally Linear Embedding (LLE)</vt:lpstr>
      <vt:lpstr>t-distributed stochastic neighbor embedding(t-SNE) t-隨機鄰近嵌入法</vt:lpstr>
      <vt:lpstr>t-SNE</vt:lpstr>
      <vt:lpstr>t-SNE</vt:lpstr>
      <vt:lpstr>t-SNE</vt:lpstr>
      <vt:lpstr>t-SNE</vt:lpstr>
      <vt:lpstr>t-SNE</vt:lpstr>
      <vt:lpstr>LLE v.s. t-SNE</vt:lpstr>
      <vt:lpstr>MNIST</vt:lpstr>
      <vt:lpstr>MNIST</vt:lpstr>
      <vt:lpstr>PowerPoint 簡報</vt:lpstr>
      <vt:lpstr>UMAP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unsupervised learning</dc:title>
  <dc:creator>林俊杰</dc:creator>
  <cp:lastModifiedBy>Leon Lin</cp:lastModifiedBy>
  <cp:revision>3</cp:revision>
  <dcterms:created xsi:type="dcterms:W3CDTF">2024-04-15T12:09:30Z</dcterms:created>
  <dcterms:modified xsi:type="dcterms:W3CDTF">2025-10-28T05:27:15Z</dcterms:modified>
</cp:coreProperties>
</file>