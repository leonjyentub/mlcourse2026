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4"/>
  </p:notesMasterIdLst>
  <p:sldIdLst>
    <p:sldId id="256" r:id="rId2"/>
    <p:sldId id="257" r:id="rId3"/>
    <p:sldId id="258" r:id="rId4"/>
    <p:sldId id="259" r:id="rId5"/>
    <p:sldId id="260" r:id="rId6"/>
    <p:sldId id="265" r:id="rId7"/>
    <p:sldId id="261" r:id="rId8"/>
    <p:sldId id="267" r:id="rId9"/>
    <p:sldId id="262" r:id="rId10"/>
    <p:sldId id="263" r:id="rId11"/>
    <p:sldId id="264" r:id="rId12"/>
    <p:sldId id="338" r:id="rId13"/>
    <p:sldId id="340" r:id="rId14"/>
    <p:sldId id="341" r:id="rId15"/>
    <p:sldId id="342" r:id="rId16"/>
    <p:sldId id="343" r:id="rId17"/>
    <p:sldId id="266" r:id="rId18"/>
    <p:sldId id="272" r:id="rId19"/>
    <p:sldId id="335" r:id="rId20"/>
    <p:sldId id="331" r:id="rId21"/>
    <p:sldId id="332" r:id="rId22"/>
    <p:sldId id="333" r:id="rId23"/>
    <p:sldId id="334" r:id="rId24"/>
    <p:sldId id="274" r:id="rId25"/>
    <p:sldId id="344" r:id="rId26"/>
    <p:sldId id="345" r:id="rId27"/>
    <p:sldId id="346" r:id="rId28"/>
    <p:sldId id="347" r:id="rId29"/>
    <p:sldId id="348" r:id="rId30"/>
    <p:sldId id="349" r:id="rId31"/>
    <p:sldId id="350" r:id="rId32"/>
    <p:sldId id="351" r:id="rId33"/>
    <p:sldId id="352" r:id="rId34"/>
    <p:sldId id="353" r:id="rId35"/>
    <p:sldId id="354" r:id="rId36"/>
    <p:sldId id="307" r:id="rId37"/>
    <p:sldId id="329" r:id="rId38"/>
    <p:sldId id="309" r:id="rId39"/>
    <p:sldId id="330" r:id="rId40"/>
    <p:sldId id="328" r:id="rId41"/>
    <p:sldId id="322" r:id="rId42"/>
    <p:sldId id="310" r:id="rId43"/>
    <p:sldId id="311" r:id="rId44"/>
    <p:sldId id="281" r:id="rId45"/>
    <p:sldId id="323" r:id="rId46"/>
    <p:sldId id="325" r:id="rId47"/>
    <p:sldId id="293" r:id="rId48"/>
    <p:sldId id="283" r:id="rId49"/>
    <p:sldId id="284" r:id="rId50"/>
    <p:sldId id="312" r:id="rId51"/>
    <p:sldId id="355" r:id="rId52"/>
    <p:sldId id="356" r:id="rId53"/>
    <p:sldId id="313" r:id="rId54"/>
    <p:sldId id="326" r:id="rId55"/>
    <p:sldId id="357" r:id="rId56"/>
    <p:sldId id="327" r:id="rId57"/>
    <p:sldId id="336" r:id="rId58"/>
    <p:sldId id="457" r:id="rId59"/>
    <p:sldId id="287" r:id="rId60"/>
    <p:sldId id="441" r:id="rId61"/>
    <p:sldId id="286" r:id="rId62"/>
    <p:sldId id="443" r:id="rId63"/>
    <p:sldId id="448" r:id="rId64"/>
    <p:sldId id="449" r:id="rId65"/>
    <p:sldId id="308" r:id="rId66"/>
    <p:sldId id="450" r:id="rId67"/>
    <p:sldId id="458" r:id="rId68"/>
    <p:sldId id="483" r:id="rId69"/>
    <p:sldId id="459" r:id="rId70"/>
    <p:sldId id="318" r:id="rId71"/>
    <p:sldId id="317" r:id="rId72"/>
    <p:sldId id="460" r:id="rId73"/>
    <p:sldId id="461" r:id="rId74"/>
    <p:sldId id="451" r:id="rId75"/>
    <p:sldId id="452" r:id="rId76"/>
    <p:sldId id="453" r:id="rId77"/>
    <p:sldId id="454" r:id="rId78"/>
    <p:sldId id="319" r:id="rId79"/>
    <p:sldId id="320" r:id="rId80"/>
    <p:sldId id="321" r:id="rId81"/>
    <p:sldId id="455" r:id="rId82"/>
    <p:sldId id="437" r:id="rId83"/>
    <p:sldId id="438" r:id="rId84"/>
    <p:sldId id="439" r:id="rId85"/>
    <p:sldId id="440" r:id="rId86"/>
    <p:sldId id="482" r:id="rId87"/>
    <p:sldId id="339" r:id="rId88"/>
    <p:sldId id="275" r:id="rId89"/>
    <p:sldId id="270" r:id="rId90"/>
    <p:sldId id="359" r:id="rId91"/>
    <p:sldId id="463" r:id="rId92"/>
    <p:sldId id="464" r:id="rId93"/>
    <p:sldId id="465" r:id="rId94"/>
    <p:sldId id="466" r:id="rId95"/>
    <p:sldId id="467" r:id="rId96"/>
    <p:sldId id="468" r:id="rId97"/>
    <p:sldId id="469" r:id="rId98"/>
    <p:sldId id="470" r:id="rId99"/>
    <p:sldId id="471" r:id="rId100"/>
    <p:sldId id="472" r:id="rId101"/>
    <p:sldId id="473" r:id="rId102"/>
    <p:sldId id="474" r:id="rId103"/>
    <p:sldId id="475" r:id="rId104"/>
    <p:sldId id="476" r:id="rId105"/>
    <p:sldId id="477" r:id="rId106"/>
    <p:sldId id="478" r:id="rId107"/>
    <p:sldId id="479" r:id="rId108"/>
    <p:sldId id="480" r:id="rId109"/>
    <p:sldId id="358" r:id="rId110"/>
    <p:sldId id="360" r:id="rId111"/>
    <p:sldId id="361" r:id="rId112"/>
    <p:sldId id="481" r:id="rId1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8" d="100"/>
          <a:sy n="88" d="100"/>
        </p:scale>
        <p:origin x="69" y="1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林俊杰" userId="dcfdc803-95d8-409b-8404-351632be86e2" providerId="ADAL" clId="{5763F0A0-8751-4EF8-8ED5-D4E6209E4975}"/>
    <pc:docChg chg="undo custSel addSld delSld modSld sldOrd modMainMaster">
      <pc:chgData name="林俊杰" userId="dcfdc803-95d8-409b-8404-351632be86e2" providerId="ADAL" clId="{5763F0A0-8751-4EF8-8ED5-D4E6209E4975}" dt="2024-12-17T15:25:43.766" v="1738"/>
      <pc:docMkLst>
        <pc:docMk/>
      </pc:docMkLst>
      <pc:sldChg chg="modSp new mod">
        <pc:chgData name="林俊杰" userId="dcfdc803-95d8-409b-8404-351632be86e2" providerId="ADAL" clId="{5763F0A0-8751-4EF8-8ED5-D4E6209E4975}" dt="2024-12-17T08:24:58.493" v="663" actId="2711"/>
        <pc:sldMkLst>
          <pc:docMk/>
          <pc:sldMk cId="3547222898" sldId="257"/>
        </pc:sldMkLst>
        <pc:spChg chg="mod">
          <ac:chgData name="林俊杰" userId="dcfdc803-95d8-409b-8404-351632be86e2" providerId="ADAL" clId="{5763F0A0-8751-4EF8-8ED5-D4E6209E4975}" dt="2024-12-17T08:24:58.493" v="663" actId="2711"/>
          <ac:spMkLst>
            <pc:docMk/>
            <pc:sldMk cId="3547222898" sldId="257"/>
            <ac:spMk id="2" creationId="{55D8815F-AF2F-4396-8AFA-652603FD7B42}"/>
          </ac:spMkLst>
        </pc:spChg>
        <pc:spChg chg="mod">
          <ac:chgData name="林俊杰" userId="dcfdc803-95d8-409b-8404-351632be86e2" providerId="ADAL" clId="{5763F0A0-8751-4EF8-8ED5-D4E6209E4975}" dt="2024-12-17T08:24:58.493" v="663" actId="2711"/>
          <ac:spMkLst>
            <pc:docMk/>
            <pc:sldMk cId="3547222898" sldId="257"/>
            <ac:spMk id="3" creationId="{EA53AD4E-1726-4EA7-AA2A-F703B9642EFF}"/>
          </ac:spMkLst>
        </pc:spChg>
      </pc:sldChg>
      <pc:sldChg chg="addSp modSp new mod">
        <pc:chgData name="林俊杰" userId="dcfdc803-95d8-409b-8404-351632be86e2" providerId="ADAL" clId="{5763F0A0-8751-4EF8-8ED5-D4E6209E4975}" dt="2024-12-17T08:19:43.911" v="451" actId="20577"/>
        <pc:sldMkLst>
          <pc:docMk/>
          <pc:sldMk cId="2433331939" sldId="258"/>
        </pc:sldMkLst>
        <pc:spChg chg="mod">
          <ac:chgData name="林俊杰" userId="dcfdc803-95d8-409b-8404-351632be86e2" providerId="ADAL" clId="{5763F0A0-8751-4EF8-8ED5-D4E6209E4975}" dt="2024-12-17T08:13:21.919" v="152" actId="20577"/>
          <ac:spMkLst>
            <pc:docMk/>
            <pc:sldMk cId="2433331939" sldId="258"/>
            <ac:spMk id="2" creationId="{6D94F2DC-6952-4B1F-A3BF-42EB2E7B5655}"/>
          </ac:spMkLst>
        </pc:spChg>
        <pc:spChg chg="mod">
          <ac:chgData name="林俊杰" userId="dcfdc803-95d8-409b-8404-351632be86e2" providerId="ADAL" clId="{5763F0A0-8751-4EF8-8ED5-D4E6209E4975}" dt="2024-12-17T08:19:43.911" v="451" actId="20577"/>
          <ac:spMkLst>
            <pc:docMk/>
            <pc:sldMk cId="2433331939" sldId="258"/>
            <ac:spMk id="3" creationId="{C3DAA9EC-7BA4-4B8D-AA7F-F2D9CC2958F2}"/>
          </ac:spMkLst>
        </pc:spChg>
        <pc:picChg chg="add mod">
          <ac:chgData name="林俊杰" userId="dcfdc803-95d8-409b-8404-351632be86e2" providerId="ADAL" clId="{5763F0A0-8751-4EF8-8ED5-D4E6209E4975}" dt="2024-12-17T08:13:56.739" v="237" actId="1076"/>
          <ac:picMkLst>
            <pc:docMk/>
            <pc:sldMk cId="2433331939" sldId="258"/>
            <ac:picMk id="1026" creationId="{5A5BC3DA-73C9-429D-8010-9B0D9766795F}"/>
          </ac:picMkLst>
        </pc:picChg>
      </pc:sldChg>
      <pc:sldChg chg="addSp modSp new mod">
        <pc:chgData name="林俊杰" userId="dcfdc803-95d8-409b-8404-351632be86e2" providerId="ADAL" clId="{5763F0A0-8751-4EF8-8ED5-D4E6209E4975}" dt="2024-12-17T08:22:10.397" v="630" actId="14100"/>
        <pc:sldMkLst>
          <pc:docMk/>
          <pc:sldMk cId="3327100750" sldId="259"/>
        </pc:sldMkLst>
        <pc:spChg chg="mod">
          <ac:chgData name="林俊杰" userId="dcfdc803-95d8-409b-8404-351632be86e2" providerId="ADAL" clId="{5763F0A0-8751-4EF8-8ED5-D4E6209E4975}" dt="2024-12-17T08:20:17.977" v="470" actId="20577"/>
          <ac:spMkLst>
            <pc:docMk/>
            <pc:sldMk cId="3327100750" sldId="259"/>
            <ac:spMk id="2" creationId="{E0C0D890-2326-40F4-9AF4-595CC375D3BE}"/>
          </ac:spMkLst>
        </pc:spChg>
        <pc:spChg chg="mod">
          <ac:chgData name="林俊杰" userId="dcfdc803-95d8-409b-8404-351632be86e2" providerId="ADAL" clId="{5763F0A0-8751-4EF8-8ED5-D4E6209E4975}" dt="2024-12-17T08:22:03.530" v="629" actId="15"/>
          <ac:spMkLst>
            <pc:docMk/>
            <pc:sldMk cId="3327100750" sldId="259"/>
            <ac:spMk id="3" creationId="{39ADD1F4-6853-497A-9FE6-7344741A2328}"/>
          </ac:spMkLst>
        </pc:spChg>
        <pc:spChg chg="add mod">
          <ac:chgData name="林俊杰" userId="dcfdc803-95d8-409b-8404-351632be86e2" providerId="ADAL" clId="{5763F0A0-8751-4EF8-8ED5-D4E6209E4975}" dt="2024-12-17T08:20:56.709" v="475" actId="1076"/>
          <ac:spMkLst>
            <pc:docMk/>
            <pc:sldMk cId="3327100750" sldId="259"/>
            <ac:spMk id="6" creationId="{D7F43CF2-A259-42E8-9FC2-FD97F95266FC}"/>
          </ac:spMkLst>
        </pc:spChg>
        <pc:picChg chg="add mod">
          <ac:chgData name="林俊杰" userId="dcfdc803-95d8-409b-8404-351632be86e2" providerId="ADAL" clId="{5763F0A0-8751-4EF8-8ED5-D4E6209E4975}" dt="2024-12-17T08:22:10.397" v="630" actId="14100"/>
          <ac:picMkLst>
            <pc:docMk/>
            <pc:sldMk cId="3327100750" sldId="259"/>
            <ac:picMk id="4" creationId="{0ADC1E29-D586-49C5-8FF2-15191CE03C00}"/>
          </ac:picMkLst>
        </pc:picChg>
      </pc:sldChg>
      <pc:sldChg chg="addSp delSp modSp new mod ord">
        <pc:chgData name="林俊杰" userId="dcfdc803-95d8-409b-8404-351632be86e2" providerId="ADAL" clId="{5763F0A0-8751-4EF8-8ED5-D4E6209E4975}" dt="2024-12-17T08:42:17.459" v="846" actId="1076"/>
        <pc:sldMkLst>
          <pc:docMk/>
          <pc:sldMk cId="1511227563" sldId="260"/>
        </pc:sldMkLst>
        <pc:spChg chg="mod">
          <ac:chgData name="林俊杰" userId="dcfdc803-95d8-409b-8404-351632be86e2" providerId="ADAL" clId="{5763F0A0-8751-4EF8-8ED5-D4E6209E4975}" dt="2024-12-17T08:22:36.315" v="632"/>
          <ac:spMkLst>
            <pc:docMk/>
            <pc:sldMk cId="1511227563" sldId="260"/>
            <ac:spMk id="2" creationId="{5F2CF93B-7D97-46FF-8D27-1A47475E6F7C}"/>
          </ac:spMkLst>
        </pc:spChg>
        <pc:spChg chg="mod">
          <ac:chgData name="林俊杰" userId="dcfdc803-95d8-409b-8404-351632be86e2" providerId="ADAL" clId="{5763F0A0-8751-4EF8-8ED5-D4E6209E4975}" dt="2024-12-17T08:22:47.583" v="633"/>
          <ac:spMkLst>
            <pc:docMk/>
            <pc:sldMk cId="1511227563" sldId="260"/>
            <ac:spMk id="3" creationId="{1E247E19-EFBF-4DB4-8D7E-99C53F6BA7D8}"/>
          </ac:spMkLst>
        </pc:spChg>
        <pc:spChg chg="mod">
          <ac:chgData name="林俊杰" userId="dcfdc803-95d8-409b-8404-351632be86e2" providerId="ADAL" clId="{5763F0A0-8751-4EF8-8ED5-D4E6209E4975}" dt="2024-12-17T08:23:03.967" v="636"/>
          <ac:spMkLst>
            <pc:docMk/>
            <pc:sldMk cId="1511227563" sldId="260"/>
            <ac:spMk id="7" creationId="{34D6DABD-169B-437D-9A22-B18950464024}"/>
          </ac:spMkLst>
        </pc:spChg>
        <pc:grpChg chg="add del mod">
          <ac:chgData name="林俊杰" userId="dcfdc803-95d8-409b-8404-351632be86e2" providerId="ADAL" clId="{5763F0A0-8751-4EF8-8ED5-D4E6209E4975}" dt="2024-12-17T08:41:48.684" v="836" actId="21"/>
          <ac:grpSpMkLst>
            <pc:docMk/>
            <pc:sldMk cId="1511227563" sldId="260"/>
            <ac:grpSpMk id="5" creationId="{0CDDA123-1470-48B0-A180-07A13DFE963F}"/>
          </ac:grpSpMkLst>
        </pc:grpChg>
        <pc:picChg chg="add mod">
          <ac:chgData name="林俊杰" userId="dcfdc803-95d8-409b-8404-351632be86e2" providerId="ADAL" clId="{5763F0A0-8751-4EF8-8ED5-D4E6209E4975}" dt="2024-12-17T08:42:17.459" v="846" actId="1076"/>
          <ac:picMkLst>
            <pc:docMk/>
            <pc:sldMk cId="1511227563" sldId="260"/>
            <ac:picMk id="4" creationId="{40525297-B504-4396-93E5-A12D37C10C9E}"/>
          </ac:picMkLst>
        </pc:picChg>
        <pc:picChg chg="mod">
          <ac:chgData name="林俊杰" userId="dcfdc803-95d8-409b-8404-351632be86e2" providerId="ADAL" clId="{5763F0A0-8751-4EF8-8ED5-D4E6209E4975}" dt="2024-12-17T08:23:03.967" v="636"/>
          <ac:picMkLst>
            <pc:docMk/>
            <pc:sldMk cId="1511227563" sldId="260"/>
            <ac:picMk id="6" creationId="{D604D451-AE9A-4139-9C06-2B782B8CC182}"/>
          </ac:picMkLst>
        </pc:picChg>
        <pc:picChg chg="add del mod modCrop">
          <ac:chgData name="林俊杰" userId="dcfdc803-95d8-409b-8404-351632be86e2" providerId="ADAL" clId="{5763F0A0-8751-4EF8-8ED5-D4E6209E4975}" dt="2024-12-17T08:41:48.684" v="836" actId="21"/>
          <ac:picMkLst>
            <pc:docMk/>
            <pc:sldMk cId="1511227563" sldId="260"/>
            <ac:picMk id="8" creationId="{163A4F46-FBE6-4035-9A69-239286215693}"/>
          </ac:picMkLst>
        </pc:picChg>
      </pc:sldChg>
      <pc:sldChg chg="addSp modSp new mod">
        <pc:chgData name="林俊杰" userId="dcfdc803-95d8-409b-8404-351632be86e2" providerId="ADAL" clId="{5763F0A0-8751-4EF8-8ED5-D4E6209E4975}" dt="2024-12-17T08:25:46.537" v="668" actId="208"/>
        <pc:sldMkLst>
          <pc:docMk/>
          <pc:sldMk cId="3412877689" sldId="261"/>
        </pc:sldMkLst>
        <pc:spChg chg="mod">
          <ac:chgData name="林俊杰" userId="dcfdc803-95d8-409b-8404-351632be86e2" providerId="ADAL" clId="{5763F0A0-8751-4EF8-8ED5-D4E6209E4975}" dt="2024-12-17T08:25:34.905" v="665"/>
          <ac:spMkLst>
            <pc:docMk/>
            <pc:sldMk cId="3412877689" sldId="261"/>
            <ac:spMk id="2" creationId="{41AAF93C-9BD0-4953-9B19-371006F6F79E}"/>
          </ac:spMkLst>
        </pc:spChg>
        <pc:spChg chg="mod">
          <ac:chgData name="林俊杰" userId="dcfdc803-95d8-409b-8404-351632be86e2" providerId="ADAL" clId="{5763F0A0-8751-4EF8-8ED5-D4E6209E4975}" dt="2024-12-17T08:24:49.706" v="662" actId="20577"/>
          <ac:spMkLst>
            <pc:docMk/>
            <pc:sldMk cId="3412877689" sldId="261"/>
            <ac:spMk id="3" creationId="{6D044B90-5309-42FA-9656-C8C9DFAD26E8}"/>
          </ac:spMkLst>
        </pc:spChg>
        <pc:picChg chg="add mod">
          <ac:chgData name="林俊杰" userId="dcfdc803-95d8-409b-8404-351632be86e2" providerId="ADAL" clId="{5763F0A0-8751-4EF8-8ED5-D4E6209E4975}" dt="2024-12-17T08:25:46.537" v="668" actId="208"/>
          <ac:picMkLst>
            <pc:docMk/>
            <pc:sldMk cId="3412877689" sldId="261"/>
            <ac:picMk id="4" creationId="{9DBC0ACA-CDA6-44A2-A143-A9856C21609E}"/>
          </ac:picMkLst>
        </pc:picChg>
      </pc:sldChg>
      <pc:sldChg chg="addSp modSp new mod modAnim">
        <pc:chgData name="林俊杰" userId="dcfdc803-95d8-409b-8404-351632be86e2" providerId="ADAL" clId="{5763F0A0-8751-4EF8-8ED5-D4E6209E4975}" dt="2024-12-17T08:29:29.800" v="705"/>
        <pc:sldMkLst>
          <pc:docMk/>
          <pc:sldMk cId="3095460750" sldId="262"/>
        </pc:sldMkLst>
        <pc:spChg chg="mod">
          <ac:chgData name="林俊杰" userId="dcfdc803-95d8-409b-8404-351632be86e2" providerId="ADAL" clId="{5763F0A0-8751-4EF8-8ED5-D4E6209E4975}" dt="2024-12-17T08:25:53.820" v="670"/>
          <ac:spMkLst>
            <pc:docMk/>
            <pc:sldMk cId="3095460750" sldId="262"/>
            <ac:spMk id="2" creationId="{EDC1EC75-8180-4EA3-97C8-ADC6E1099440}"/>
          </ac:spMkLst>
        </pc:spChg>
        <pc:spChg chg="mod">
          <ac:chgData name="林俊杰" userId="dcfdc803-95d8-409b-8404-351632be86e2" providerId="ADAL" clId="{5763F0A0-8751-4EF8-8ED5-D4E6209E4975}" dt="2024-12-17T08:26:35.648" v="684"/>
          <ac:spMkLst>
            <pc:docMk/>
            <pc:sldMk cId="3095460750" sldId="262"/>
            <ac:spMk id="3" creationId="{57539A2B-47E3-43C1-B904-06793DCF77EE}"/>
          </ac:spMkLst>
        </pc:spChg>
        <pc:spChg chg="add mod">
          <ac:chgData name="林俊杰" userId="dcfdc803-95d8-409b-8404-351632be86e2" providerId="ADAL" clId="{5763F0A0-8751-4EF8-8ED5-D4E6209E4975}" dt="2024-12-17T08:28:09.928" v="697" actId="1076"/>
          <ac:spMkLst>
            <pc:docMk/>
            <pc:sldMk cId="3095460750" sldId="262"/>
            <ac:spMk id="4" creationId="{B2E899BE-5D13-450F-BD61-5D26A46F15AE}"/>
          </ac:spMkLst>
        </pc:spChg>
        <pc:spChg chg="add mod">
          <ac:chgData name="林俊杰" userId="dcfdc803-95d8-409b-8404-351632be86e2" providerId="ADAL" clId="{5763F0A0-8751-4EF8-8ED5-D4E6209E4975}" dt="2024-12-17T08:27:54.985" v="695" actId="164"/>
          <ac:spMkLst>
            <pc:docMk/>
            <pc:sldMk cId="3095460750" sldId="262"/>
            <ac:spMk id="6" creationId="{3CF5E236-86C1-46BE-8474-368C439DFB06}"/>
          </ac:spMkLst>
        </pc:spChg>
        <pc:spChg chg="add mod">
          <ac:chgData name="林俊杰" userId="dcfdc803-95d8-409b-8404-351632be86e2" providerId="ADAL" clId="{5763F0A0-8751-4EF8-8ED5-D4E6209E4975}" dt="2024-12-17T08:28:34.378" v="699" actId="1076"/>
          <ac:spMkLst>
            <pc:docMk/>
            <pc:sldMk cId="3095460750" sldId="262"/>
            <ac:spMk id="9" creationId="{832191AE-7F1C-4B0B-9499-6DE3EC1F63E4}"/>
          </ac:spMkLst>
        </pc:spChg>
        <pc:spChg chg="add mod">
          <ac:chgData name="林俊杰" userId="dcfdc803-95d8-409b-8404-351632be86e2" providerId="ADAL" clId="{5763F0A0-8751-4EF8-8ED5-D4E6209E4975}" dt="2024-12-17T08:28:34.378" v="699" actId="1076"/>
          <ac:spMkLst>
            <pc:docMk/>
            <pc:sldMk cId="3095460750" sldId="262"/>
            <ac:spMk id="10" creationId="{27A50990-056D-4EE2-80AA-9C0C17AFABA5}"/>
          </ac:spMkLst>
        </pc:spChg>
        <pc:spChg chg="add mod">
          <ac:chgData name="林俊杰" userId="dcfdc803-95d8-409b-8404-351632be86e2" providerId="ADAL" clId="{5763F0A0-8751-4EF8-8ED5-D4E6209E4975}" dt="2024-12-17T08:28:34.378" v="699" actId="1076"/>
          <ac:spMkLst>
            <pc:docMk/>
            <pc:sldMk cId="3095460750" sldId="262"/>
            <ac:spMk id="11" creationId="{78D1F8F6-EBB4-4971-AA5B-BF3B4E938908}"/>
          </ac:spMkLst>
        </pc:spChg>
        <pc:spChg chg="add mod">
          <ac:chgData name="林俊杰" userId="dcfdc803-95d8-409b-8404-351632be86e2" providerId="ADAL" clId="{5763F0A0-8751-4EF8-8ED5-D4E6209E4975}" dt="2024-12-17T08:28:34.378" v="699" actId="1076"/>
          <ac:spMkLst>
            <pc:docMk/>
            <pc:sldMk cId="3095460750" sldId="262"/>
            <ac:spMk id="12" creationId="{913A8107-BE75-457F-9293-86A6D4B91909}"/>
          </ac:spMkLst>
        </pc:spChg>
        <pc:spChg chg="add mod">
          <ac:chgData name="林俊杰" userId="dcfdc803-95d8-409b-8404-351632be86e2" providerId="ADAL" clId="{5763F0A0-8751-4EF8-8ED5-D4E6209E4975}" dt="2024-12-17T08:28:34.378" v="699" actId="1076"/>
          <ac:spMkLst>
            <pc:docMk/>
            <pc:sldMk cId="3095460750" sldId="262"/>
            <ac:spMk id="13" creationId="{06ABE40E-CBD4-4EC0-8BA9-4FE244B5520E}"/>
          </ac:spMkLst>
        </pc:spChg>
        <pc:spChg chg="add mod">
          <ac:chgData name="林俊杰" userId="dcfdc803-95d8-409b-8404-351632be86e2" providerId="ADAL" clId="{5763F0A0-8751-4EF8-8ED5-D4E6209E4975}" dt="2024-12-17T08:29:06.483" v="703" actId="1076"/>
          <ac:spMkLst>
            <pc:docMk/>
            <pc:sldMk cId="3095460750" sldId="262"/>
            <ac:spMk id="15" creationId="{313DBC66-66D8-4ABF-B629-52001E07B141}"/>
          </ac:spMkLst>
        </pc:spChg>
        <pc:spChg chg="add">
          <ac:chgData name="林俊杰" userId="dcfdc803-95d8-409b-8404-351632be86e2" providerId="ADAL" clId="{5763F0A0-8751-4EF8-8ED5-D4E6209E4975}" dt="2024-12-17T08:29:13.194" v="704" actId="11529"/>
          <ac:spMkLst>
            <pc:docMk/>
            <pc:sldMk cId="3095460750" sldId="262"/>
            <ac:spMk id="16" creationId="{35EF4C50-B150-420E-BE0C-9C05EDBADCBB}"/>
          </ac:spMkLst>
        </pc:spChg>
        <pc:grpChg chg="add mod">
          <ac:chgData name="林俊杰" userId="dcfdc803-95d8-409b-8404-351632be86e2" providerId="ADAL" clId="{5763F0A0-8751-4EF8-8ED5-D4E6209E4975}" dt="2024-12-17T08:28:04.890" v="696" actId="1076"/>
          <ac:grpSpMkLst>
            <pc:docMk/>
            <pc:sldMk cId="3095460750" sldId="262"/>
            <ac:grpSpMk id="7" creationId="{DA35373F-8958-4760-83B0-A7EFFA935BE4}"/>
          </ac:grpSpMkLst>
        </pc:grpChg>
        <pc:picChg chg="add mod">
          <ac:chgData name="林俊杰" userId="dcfdc803-95d8-409b-8404-351632be86e2" providerId="ADAL" clId="{5763F0A0-8751-4EF8-8ED5-D4E6209E4975}" dt="2024-12-17T08:27:54.985" v="695" actId="164"/>
          <ac:picMkLst>
            <pc:docMk/>
            <pc:sldMk cId="3095460750" sldId="262"/>
            <ac:picMk id="5" creationId="{051E1D7D-80CE-4EC6-89B0-F97FC2DC754A}"/>
          </ac:picMkLst>
        </pc:picChg>
        <pc:picChg chg="add mod">
          <ac:chgData name="林俊杰" userId="dcfdc803-95d8-409b-8404-351632be86e2" providerId="ADAL" clId="{5763F0A0-8751-4EF8-8ED5-D4E6209E4975}" dt="2024-12-17T08:28:34.378" v="699" actId="1076"/>
          <ac:picMkLst>
            <pc:docMk/>
            <pc:sldMk cId="3095460750" sldId="262"/>
            <ac:picMk id="8" creationId="{FDEEF290-0389-4116-82D3-E54F6A1EF28E}"/>
          </ac:picMkLst>
        </pc:picChg>
      </pc:sldChg>
      <pc:sldChg chg="add del">
        <pc:chgData name="林俊杰" userId="dcfdc803-95d8-409b-8404-351632be86e2" providerId="ADAL" clId="{5763F0A0-8751-4EF8-8ED5-D4E6209E4975}" dt="2024-12-17T08:27:45.955" v="692"/>
        <pc:sldMkLst>
          <pc:docMk/>
          <pc:sldMk cId="1163736615" sldId="263"/>
        </pc:sldMkLst>
      </pc:sldChg>
      <pc:sldChg chg="addSp delSp modSp new mod modAnim">
        <pc:chgData name="林俊杰" userId="dcfdc803-95d8-409b-8404-351632be86e2" providerId="ADAL" clId="{5763F0A0-8751-4EF8-8ED5-D4E6209E4975}" dt="2024-12-17T08:41:04.418" v="829"/>
        <pc:sldMkLst>
          <pc:docMk/>
          <pc:sldMk cId="2682987798" sldId="263"/>
        </pc:sldMkLst>
        <pc:spChg chg="mod">
          <ac:chgData name="林俊杰" userId="dcfdc803-95d8-409b-8404-351632be86e2" providerId="ADAL" clId="{5763F0A0-8751-4EF8-8ED5-D4E6209E4975}" dt="2024-12-17T08:30:24.658" v="713" actId="1076"/>
          <ac:spMkLst>
            <pc:docMk/>
            <pc:sldMk cId="2682987798" sldId="263"/>
            <ac:spMk id="2" creationId="{F89B9DAD-F698-4195-9337-C2B29E37C4AA}"/>
          </ac:spMkLst>
        </pc:spChg>
        <pc:spChg chg="del">
          <ac:chgData name="林俊杰" userId="dcfdc803-95d8-409b-8404-351632be86e2" providerId="ADAL" clId="{5763F0A0-8751-4EF8-8ED5-D4E6209E4975}" dt="2024-12-17T08:30:20.464" v="711" actId="478"/>
          <ac:spMkLst>
            <pc:docMk/>
            <pc:sldMk cId="2682987798" sldId="263"/>
            <ac:spMk id="3" creationId="{FC10EE81-EEBC-43DA-9E2A-0040568FCC12}"/>
          </ac:spMkLst>
        </pc:spChg>
        <pc:spChg chg="add mod">
          <ac:chgData name="林俊杰" userId="dcfdc803-95d8-409b-8404-351632be86e2" providerId="ADAL" clId="{5763F0A0-8751-4EF8-8ED5-D4E6209E4975}" dt="2024-12-17T08:30:33.454" v="714" actId="1076"/>
          <ac:spMkLst>
            <pc:docMk/>
            <pc:sldMk cId="2682987798" sldId="263"/>
            <ac:spMk id="5" creationId="{DCC8CFEE-1903-48CE-A437-E838365ABE46}"/>
          </ac:spMkLst>
        </pc:spChg>
        <pc:spChg chg="add mod">
          <ac:chgData name="林俊杰" userId="dcfdc803-95d8-409b-8404-351632be86e2" providerId="ADAL" clId="{5763F0A0-8751-4EF8-8ED5-D4E6209E4975}" dt="2024-12-17T08:30:33.454" v="714" actId="1076"/>
          <ac:spMkLst>
            <pc:docMk/>
            <pc:sldMk cId="2682987798" sldId="263"/>
            <ac:spMk id="6" creationId="{2741EED3-3381-4E4A-98E5-850FCFDC5623}"/>
          </ac:spMkLst>
        </pc:spChg>
        <pc:spChg chg="add mod">
          <ac:chgData name="林俊杰" userId="dcfdc803-95d8-409b-8404-351632be86e2" providerId="ADAL" clId="{5763F0A0-8751-4EF8-8ED5-D4E6209E4975}" dt="2024-12-17T08:30:33.454" v="714" actId="1076"/>
          <ac:spMkLst>
            <pc:docMk/>
            <pc:sldMk cId="2682987798" sldId="263"/>
            <ac:spMk id="7" creationId="{64C8818F-FC72-414B-8815-344E8858CD7F}"/>
          </ac:spMkLst>
        </pc:spChg>
        <pc:spChg chg="add mod">
          <ac:chgData name="林俊杰" userId="dcfdc803-95d8-409b-8404-351632be86e2" providerId="ADAL" clId="{5763F0A0-8751-4EF8-8ED5-D4E6209E4975}" dt="2024-12-17T08:30:33.454" v="714" actId="1076"/>
          <ac:spMkLst>
            <pc:docMk/>
            <pc:sldMk cId="2682987798" sldId="263"/>
            <ac:spMk id="8" creationId="{4F1F2DDB-FF02-40BF-B9B9-BA4BFEB49A82}"/>
          </ac:spMkLst>
        </pc:spChg>
        <pc:spChg chg="add mod">
          <ac:chgData name="林俊杰" userId="dcfdc803-95d8-409b-8404-351632be86e2" providerId="ADAL" clId="{5763F0A0-8751-4EF8-8ED5-D4E6209E4975}" dt="2024-12-17T08:30:33.454" v="714" actId="1076"/>
          <ac:spMkLst>
            <pc:docMk/>
            <pc:sldMk cId="2682987798" sldId="263"/>
            <ac:spMk id="9" creationId="{91E4AF1F-FD87-4371-A99D-AFD1DDFA8FA7}"/>
          </ac:spMkLst>
        </pc:spChg>
        <pc:spChg chg="add mod">
          <ac:chgData name="林俊杰" userId="dcfdc803-95d8-409b-8404-351632be86e2" providerId="ADAL" clId="{5763F0A0-8751-4EF8-8ED5-D4E6209E4975}" dt="2024-12-17T08:30:17.642" v="710" actId="1076"/>
          <ac:spMkLst>
            <pc:docMk/>
            <pc:sldMk cId="2682987798" sldId="263"/>
            <ac:spMk id="10" creationId="{50AC5980-76C5-4DBD-AC30-E053B13D0319}"/>
          </ac:spMkLst>
        </pc:spChg>
        <pc:spChg chg="add mod">
          <ac:chgData name="林俊杰" userId="dcfdc803-95d8-409b-8404-351632be86e2" providerId="ADAL" clId="{5763F0A0-8751-4EF8-8ED5-D4E6209E4975}" dt="2024-12-17T08:31:01.898" v="722" actId="1037"/>
          <ac:spMkLst>
            <pc:docMk/>
            <pc:sldMk cId="2682987798" sldId="263"/>
            <ac:spMk id="11" creationId="{66B674B3-DB45-48FA-858E-AAB1D0D20E2F}"/>
          </ac:spMkLst>
        </pc:spChg>
        <pc:spChg chg="add mod">
          <ac:chgData name="林俊杰" userId="dcfdc803-95d8-409b-8404-351632be86e2" providerId="ADAL" clId="{5763F0A0-8751-4EF8-8ED5-D4E6209E4975}" dt="2024-12-17T08:36:06.993" v="751" actId="21"/>
          <ac:spMkLst>
            <pc:docMk/>
            <pc:sldMk cId="2682987798" sldId="263"/>
            <ac:spMk id="13" creationId="{4DC9777E-CDC8-4AAE-A755-9DE1E9B1C1FD}"/>
          </ac:spMkLst>
        </pc:spChg>
        <pc:spChg chg="add mod">
          <ac:chgData name="林俊杰" userId="dcfdc803-95d8-409b-8404-351632be86e2" providerId="ADAL" clId="{5763F0A0-8751-4EF8-8ED5-D4E6209E4975}" dt="2024-12-17T08:32:08.648" v="731"/>
          <ac:spMkLst>
            <pc:docMk/>
            <pc:sldMk cId="2682987798" sldId="263"/>
            <ac:spMk id="15" creationId="{085EDE5E-B2FE-45AF-819D-B8136E777711}"/>
          </ac:spMkLst>
        </pc:spChg>
        <pc:spChg chg="add mod">
          <ac:chgData name="林俊杰" userId="dcfdc803-95d8-409b-8404-351632be86e2" providerId="ADAL" clId="{5763F0A0-8751-4EF8-8ED5-D4E6209E4975}" dt="2024-12-17T08:32:08.648" v="731"/>
          <ac:spMkLst>
            <pc:docMk/>
            <pc:sldMk cId="2682987798" sldId="263"/>
            <ac:spMk id="16" creationId="{100B2F67-0F04-49C3-AFC1-1AD64AC3BEB8}"/>
          </ac:spMkLst>
        </pc:spChg>
        <pc:spChg chg="add mod">
          <ac:chgData name="林俊杰" userId="dcfdc803-95d8-409b-8404-351632be86e2" providerId="ADAL" clId="{5763F0A0-8751-4EF8-8ED5-D4E6209E4975}" dt="2024-12-17T08:34:01.839" v="734" actId="1076"/>
          <ac:spMkLst>
            <pc:docMk/>
            <pc:sldMk cId="2682987798" sldId="263"/>
            <ac:spMk id="17" creationId="{DACAFA57-B143-4A37-83D5-E5CA6DCEE4C6}"/>
          </ac:spMkLst>
        </pc:spChg>
        <pc:spChg chg="add mod">
          <ac:chgData name="林俊杰" userId="dcfdc803-95d8-409b-8404-351632be86e2" providerId="ADAL" clId="{5763F0A0-8751-4EF8-8ED5-D4E6209E4975}" dt="2024-12-17T08:32:08.648" v="731"/>
          <ac:spMkLst>
            <pc:docMk/>
            <pc:sldMk cId="2682987798" sldId="263"/>
            <ac:spMk id="18" creationId="{2AD92436-BAD7-4F12-8701-8CBE085FE9DE}"/>
          </ac:spMkLst>
        </pc:spChg>
        <pc:spChg chg="add mod">
          <ac:chgData name="林俊杰" userId="dcfdc803-95d8-409b-8404-351632be86e2" providerId="ADAL" clId="{5763F0A0-8751-4EF8-8ED5-D4E6209E4975}" dt="2024-12-17T08:32:08.648" v="731"/>
          <ac:spMkLst>
            <pc:docMk/>
            <pc:sldMk cId="2682987798" sldId="263"/>
            <ac:spMk id="19" creationId="{933BE93B-6E94-4932-8D99-D7E28C55BE68}"/>
          </ac:spMkLst>
        </pc:spChg>
        <pc:spChg chg="add mod">
          <ac:chgData name="林俊杰" userId="dcfdc803-95d8-409b-8404-351632be86e2" providerId="ADAL" clId="{5763F0A0-8751-4EF8-8ED5-D4E6209E4975}" dt="2024-12-17T08:36:43.803" v="769" actId="1037"/>
          <ac:spMkLst>
            <pc:docMk/>
            <pc:sldMk cId="2682987798" sldId="263"/>
            <ac:spMk id="21" creationId="{0A8F792C-13B3-46A4-932A-E4615ADC44EC}"/>
          </ac:spMkLst>
        </pc:spChg>
        <pc:spChg chg="add mod">
          <ac:chgData name="林俊杰" userId="dcfdc803-95d8-409b-8404-351632be86e2" providerId="ADAL" clId="{5763F0A0-8751-4EF8-8ED5-D4E6209E4975}" dt="2024-12-17T08:40:04.826" v="824" actId="1076"/>
          <ac:spMkLst>
            <pc:docMk/>
            <pc:sldMk cId="2682987798" sldId="263"/>
            <ac:spMk id="22" creationId="{E63A50BD-F103-4E36-821C-EDB20D51BE7D}"/>
          </ac:spMkLst>
        </pc:spChg>
        <pc:picChg chg="add mod">
          <ac:chgData name="林俊杰" userId="dcfdc803-95d8-409b-8404-351632be86e2" providerId="ADAL" clId="{5763F0A0-8751-4EF8-8ED5-D4E6209E4975}" dt="2024-12-17T08:37:05.004" v="773" actId="1076"/>
          <ac:picMkLst>
            <pc:docMk/>
            <pc:sldMk cId="2682987798" sldId="263"/>
            <ac:picMk id="4" creationId="{51360550-5542-45E7-A1E2-D477704EC531}"/>
          </ac:picMkLst>
        </pc:picChg>
        <pc:picChg chg="add mod">
          <ac:chgData name="林俊杰" userId="dcfdc803-95d8-409b-8404-351632be86e2" providerId="ADAL" clId="{5763F0A0-8751-4EF8-8ED5-D4E6209E4975}" dt="2024-12-17T08:32:08.648" v="731"/>
          <ac:picMkLst>
            <pc:docMk/>
            <pc:sldMk cId="2682987798" sldId="263"/>
            <ac:picMk id="14" creationId="{14C627B9-7F19-47ED-8B26-D9E1CEDCC30F}"/>
          </ac:picMkLst>
        </pc:picChg>
      </pc:sldChg>
      <pc:sldChg chg="addSp modSp new mod modAnim">
        <pc:chgData name="林俊杰" userId="dcfdc803-95d8-409b-8404-351632be86e2" providerId="ADAL" clId="{5763F0A0-8751-4EF8-8ED5-D4E6209E4975}" dt="2024-12-17T09:28:02.691" v="1092" actId="20577"/>
        <pc:sldMkLst>
          <pc:docMk/>
          <pc:sldMk cId="27037799" sldId="264"/>
        </pc:sldMkLst>
        <pc:spChg chg="mod">
          <ac:chgData name="林俊杰" userId="dcfdc803-95d8-409b-8404-351632be86e2" providerId="ADAL" clId="{5763F0A0-8751-4EF8-8ED5-D4E6209E4975}" dt="2024-12-17T08:52:21.124" v="847"/>
          <ac:spMkLst>
            <pc:docMk/>
            <pc:sldMk cId="27037799" sldId="264"/>
            <ac:spMk id="2" creationId="{481DF5AD-FB63-4AFC-A693-D9CFDBCB7E69}"/>
          </ac:spMkLst>
        </pc:spChg>
        <pc:spChg chg="mod">
          <ac:chgData name="林俊杰" userId="dcfdc803-95d8-409b-8404-351632be86e2" providerId="ADAL" clId="{5763F0A0-8751-4EF8-8ED5-D4E6209E4975}" dt="2024-12-17T09:28:02.691" v="1092" actId="20577"/>
          <ac:spMkLst>
            <pc:docMk/>
            <pc:sldMk cId="27037799" sldId="264"/>
            <ac:spMk id="3" creationId="{081B159B-529A-4B9D-B6A0-85A3E01751B8}"/>
          </ac:spMkLst>
        </pc:spChg>
        <pc:spChg chg="add mod">
          <ac:chgData name="林俊杰" userId="dcfdc803-95d8-409b-8404-351632be86e2" providerId="ADAL" clId="{5763F0A0-8751-4EF8-8ED5-D4E6209E4975}" dt="2024-12-17T09:26:35.616" v="1034" actId="164"/>
          <ac:spMkLst>
            <pc:docMk/>
            <pc:sldMk cId="27037799" sldId="264"/>
            <ac:spMk id="6" creationId="{C51033DE-D37F-49E5-BD89-CAF61623775C}"/>
          </ac:spMkLst>
        </pc:spChg>
        <pc:spChg chg="add mod">
          <ac:chgData name="林俊杰" userId="dcfdc803-95d8-409b-8404-351632be86e2" providerId="ADAL" clId="{5763F0A0-8751-4EF8-8ED5-D4E6209E4975}" dt="2024-12-17T09:26:35.616" v="1034" actId="164"/>
          <ac:spMkLst>
            <pc:docMk/>
            <pc:sldMk cId="27037799" sldId="264"/>
            <ac:spMk id="7" creationId="{585D1FED-7B88-4085-A76B-1783D2ED5985}"/>
          </ac:spMkLst>
        </pc:spChg>
        <pc:spChg chg="add mod">
          <ac:chgData name="林俊杰" userId="dcfdc803-95d8-409b-8404-351632be86e2" providerId="ADAL" clId="{5763F0A0-8751-4EF8-8ED5-D4E6209E4975}" dt="2024-12-17T09:26:35.616" v="1034" actId="164"/>
          <ac:spMkLst>
            <pc:docMk/>
            <pc:sldMk cId="27037799" sldId="264"/>
            <ac:spMk id="8" creationId="{A08A1DA6-27B4-48DE-B0D5-7514698CAF6E}"/>
          </ac:spMkLst>
        </pc:spChg>
        <pc:spChg chg="add mod">
          <ac:chgData name="林俊杰" userId="dcfdc803-95d8-409b-8404-351632be86e2" providerId="ADAL" clId="{5763F0A0-8751-4EF8-8ED5-D4E6209E4975}" dt="2024-12-17T09:26:35.616" v="1034" actId="164"/>
          <ac:spMkLst>
            <pc:docMk/>
            <pc:sldMk cId="27037799" sldId="264"/>
            <ac:spMk id="9" creationId="{E802D487-CA0E-4615-AA07-AC566DF0ACCE}"/>
          </ac:spMkLst>
        </pc:spChg>
        <pc:spChg chg="add mod">
          <ac:chgData name="林俊杰" userId="dcfdc803-95d8-409b-8404-351632be86e2" providerId="ADAL" clId="{5763F0A0-8751-4EF8-8ED5-D4E6209E4975}" dt="2024-12-17T09:26:35.616" v="1034" actId="164"/>
          <ac:spMkLst>
            <pc:docMk/>
            <pc:sldMk cId="27037799" sldId="264"/>
            <ac:spMk id="10" creationId="{538CC347-E6CD-4B6E-96E5-077F4D587C01}"/>
          </ac:spMkLst>
        </pc:spChg>
        <pc:spChg chg="add mod">
          <ac:chgData name="林俊杰" userId="dcfdc803-95d8-409b-8404-351632be86e2" providerId="ADAL" clId="{5763F0A0-8751-4EF8-8ED5-D4E6209E4975}" dt="2024-12-17T09:26:35.616" v="1034" actId="164"/>
          <ac:spMkLst>
            <pc:docMk/>
            <pc:sldMk cId="27037799" sldId="264"/>
            <ac:spMk id="11" creationId="{819DFAFC-8748-44A0-8485-5B69C597E6F7}"/>
          </ac:spMkLst>
        </pc:spChg>
        <pc:grpChg chg="add mod">
          <ac:chgData name="林俊杰" userId="dcfdc803-95d8-409b-8404-351632be86e2" providerId="ADAL" clId="{5763F0A0-8751-4EF8-8ED5-D4E6209E4975}" dt="2024-12-17T09:26:53.312" v="1041" actId="1076"/>
          <ac:grpSpMkLst>
            <pc:docMk/>
            <pc:sldMk cId="27037799" sldId="264"/>
            <ac:grpSpMk id="12" creationId="{A4C7838C-C2AC-4D3F-A757-1D89CFF3CF98}"/>
          </ac:grpSpMkLst>
        </pc:grpChg>
        <pc:picChg chg="add mod">
          <ac:chgData name="林俊杰" userId="dcfdc803-95d8-409b-8404-351632be86e2" providerId="ADAL" clId="{5763F0A0-8751-4EF8-8ED5-D4E6209E4975}" dt="2024-12-17T09:26:35.616" v="1034" actId="164"/>
          <ac:picMkLst>
            <pc:docMk/>
            <pc:sldMk cId="27037799" sldId="264"/>
            <ac:picMk id="5" creationId="{D16E0345-529E-44C9-B836-979458CA9473}"/>
          </ac:picMkLst>
        </pc:picChg>
        <pc:picChg chg="add mod">
          <ac:chgData name="林俊杰" userId="dcfdc803-95d8-409b-8404-351632be86e2" providerId="ADAL" clId="{5763F0A0-8751-4EF8-8ED5-D4E6209E4975}" dt="2024-12-17T09:27:07.811" v="1046" actId="208"/>
          <ac:picMkLst>
            <pc:docMk/>
            <pc:sldMk cId="27037799" sldId="264"/>
            <ac:picMk id="2050" creationId="{6CA948DF-4F8E-436F-9208-75F870C0EA83}"/>
          </ac:picMkLst>
        </pc:picChg>
      </pc:sldChg>
      <pc:sldChg chg="addSp modSp new mod">
        <pc:chgData name="林俊杰" userId="dcfdc803-95d8-409b-8404-351632be86e2" providerId="ADAL" clId="{5763F0A0-8751-4EF8-8ED5-D4E6209E4975}" dt="2024-12-17T08:42:10.841" v="843" actId="1076"/>
        <pc:sldMkLst>
          <pc:docMk/>
          <pc:sldMk cId="2917996352" sldId="265"/>
        </pc:sldMkLst>
        <pc:spChg chg="mod">
          <ac:chgData name="林俊杰" userId="dcfdc803-95d8-409b-8404-351632be86e2" providerId="ADAL" clId="{5763F0A0-8751-4EF8-8ED5-D4E6209E4975}" dt="2024-12-17T08:41:43.834" v="833"/>
          <ac:spMkLst>
            <pc:docMk/>
            <pc:sldMk cId="2917996352" sldId="265"/>
            <ac:spMk id="2" creationId="{B38FD69C-7A07-4266-8AFA-5DAFAD206887}"/>
          </ac:spMkLst>
        </pc:spChg>
        <pc:spChg chg="mod">
          <ac:chgData name="林俊杰" userId="dcfdc803-95d8-409b-8404-351632be86e2" providerId="ADAL" clId="{5763F0A0-8751-4EF8-8ED5-D4E6209E4975}" dt="2024-12-17T08:41:38.655" v="832"/>
          <ac:spMkLst>
            <pc:docMk/>
            <pc:sldMk cId="2917996352" sldId="265"/>
            <ac:spMk id="3" creationId="{12D20476-C3F8-4F1D-B7A4-B18DDD2856A3}"/>
          </ac:spMkLst>
        </pc:spChg>
        <pc:spChg chg="mod">
          <ac:chgData name="林俊杰" userId="dcfdc803-95d8-409b-8404-351632be86e2" providerId="ADAL" clId="{5763F0A0-8751-4EF8-8ED5-D4E6209E4975}" dt="2024-12-17T08:41:50.494" v="837"/>
          <ac:spMkLst>
            <pc:docMk/>
            <pc:sldMk cId="2917996352" sldId="265"/>
            <ac:spMk id="6" creationId="{FE6C7726-A946-4C3E-AE6D-0FF6882EB793}"/>
          </ac:spMkLst>
        </pc:spChg>
        <pc:grpChg chg="add mod">
          <ac:chgData name="林俊杰" userId="dcfdc803-95d8-409b-8404-351632be86e2" providerId="ADAL" clId="{5763F0A0-8751-4EF8-8ED5-D4E6209E4975}" dt="2024-12-17T08:42:08.066" v="842" actId="1076"/>
          <ac:grpSpMkLst>
            <pc:docMk/>
            <pc:sldMk cId="2917996352" sldId="265"/>
            <ac:grpSpMk id="4" creationId="{61D4C187-75E8-498A-8F95-7BA362D835CC}"/>
          </ac:grpSpMkLst>
        </pc:grpChg>
        <pc:picChg chg="mod">
          <ac:chgData name="林俊杰" userId="dcfdc803-95d8-409b-8404-351632be86e2" providerId="ADAL" clId="{5763F0A0-8751-4EF8-8ED5-D4E6209E4975}" dt="2024-12-17T08:41:50.494" v="837"/>
          <ac:picMkLst>
            <pc:docMk/>
            <pc:sldMk cId="2917996352" sldId="265"/>
            <ac:picMk id="5" creationId="{A7547502-91EA-4E97-B731-3D1D67DAA602}"/>
          </ac:picMkLst>
        </pc:picChg>
        <pc:picChg chg="add mod">
          <ac:chgData name="林俊杰" userId="dcfdc803-95d8-409b-8404-351632be86e2" providerId="ADAL" clId="{5763F0A0-8751-4EF8-8ED5-D4E6209E4975}" dt="2024-12-17T08:42:10.841" v="843" actId="1076"/>
          <ac:picMkLst>
            <pc:docMk/>
            <pc:sldMk cId="2917996352" sldId="265"/>
            <ac:picMk id="7" creationId="{02C7353D-4814-4B16-A54B-B53BC2AAD1F2}"/>
          </ac:picMkLst>
        </pc:picChg>
      </pc:sldChg>
      <pc:sldChg chg="modSp new mod">
        <pc:chgData name="林俊杰" userId="dcfdc803-95d8-409b-8404-351632be86e2" providerId="ADAL" clId="{5763F0A0-8751-4EF8-8ED5-D4E6209E4975}" dt="2024-12-17T09:31:38.565" v="1122"/>
        <pc:sldMkLst>
          <pc:docMk/>
          <pc:sldMk cId="774584705" sldId="266"/>
        </pc:sldMkLst>
        <pc:spChg chg="mod">
          <ac:chgData name="林俊杰" userId="dcfdc803-95d8-409b-8404-351632be86e2" providerId="ADAL" clId="{5763F0A0-8751-4EF8-8ED5-D4E6209E4975}" dt="2024-12-17T08:53:09.953" v="930"/>
          <ac:spMkLst>
            <pc:docMk/>
            <pc:sldMk cId="774584705" sldId="266"/>
            <ac:spMk id="2" creationId="{85184822-A114-446A-B396-C18BA2DA8203}"/>
          </ac:spMkLst>
        </pc:spChg>
        <pc:spChg chg="mod">
          <ac:chgData name="林俊杰" userId="dcfdc803-95d8-409b-8404-351632be86e2" providerId="ADAL" clId="{5763F0A0-8751-4EF8-8ED5-D4E6209E4975}" dt="2024-12-17T09:31:38.565" v="1122"/>
          <ac:spMkLst>
            <pc:docMk/>
            <pc:sldMk cId="774584705" sldId="266"/>
            <ac:spMk id="3" creationId="{EDAC0680-8102-4E73-960A-BBE58FBE8169}"/>
          </ac:spMkLst>
        </pc:spChg>
      </pc:sldChg>
      <pc:sldChg chg="modSp add mod">
        <pc:chgData name="林俊杰" userId="dcfdc803-95d8-409b-8404-351632be86e2" providerId="ADAL" clId="{5763F0A0-8751-4EF8-8ED5-D4E6209E4975}" dt="2024-12-17T09:42:37.030" v="1140" actId="27636"/>
        <pc:sldMkLst>
          <pc:docMk/>
          <pc:sldMk cId="878834983" sldId="267"/>
        </pc:sldMkLst>
        <pc:spChg chg="mod">
          <ac:chgData name="林俊杰" userId="dcfdc803-95d8-409b-8404-351632be86e2" providerId="ADAL" clId="{5763F0A0-8751-4EF8-8ED5-D4E6209E4975}" dt="2024-12-17T09:42:37.030" v="1140" actId="27636"/>
          <ac:spMkLst>
            <pc:docMk/>
            <pc:sldMk cId="878834983" sldId="267"/>
            <ac:spMk id="2" creationId="{5D55C3BE-7064-EA92-D406-B877829725D8}"/>
          </ac:spMkLst>
        </pc:spChg>
      </pc:sldChg>
      <pc:sldChg chg="add del">
        <pc:chgData name="林俊杰" userId="dcfdc803-95d8-409b-8404-351632be86e2" providerId="ADAL" clId="{5763F0A0-8751-4EF8-8ED5-D4E6209E4975}" dt="2024-12-17T09:42:10.706" v="1127" actId="2696"/>
        <pc:sldMkLst>
          <pc:docMk/>
          <pc:sldMk cId="1724695494" sldId="267"/>
        </pc:sldMkLst>
      </pc:sldChg>
      <pc:sldChg chg="add">
        <pc:chgData name="林俊杰" userId="dcfdc803-95d8-409b-8404-351632be86e2" providerId="ADAL" clId="{5763F0A0-8751-4EF8-8ED5-D4E6209E4975}" dt="2024-12-17T08:55:35.635" v="970"/>
        <pc:sldMkLst>
          <pc:docMk/>
          <pc:sldMk cId="4193987710" sldId="270"/>
        </pc:sldMkLst>
      </pc:sldChg>
      <pc:sldChg chg="addSp delSp modSp add mod chgLayout">
        <pc:chgData name="林俊杰" userId="dcfdc803-95d8-409b-8404-351632be86e2" providerId="ADAL" clId="{5763F0A0-8751-4EF8-8ED5-D4E6209E4975}" dt="2024-12-17T09:45:02.034" v="1181" actId="1076"/>
        <pc:sldMkLst>
          <pc:docMk/>
          <pc:sldMk cId="1221466781" sldId="272"/>
        </pc:sldMkLst>
        <pc:spChg chg="mod ord">
          <ac:chgData name="林俊杰" userId="dcfdc803-95d8-409b-8404-351632be86e2" providerId="ADAL" clId="{5763F0A0-8751-4EF8-8ED5-D4E6209E4975}" dt="2024-12-17T08:53:55.946" v="950" actId="6264"/>
          <ac:spMkLst>
            <pc:docMk/>
            <pc:sldMk cId="1221466781" sldId="272"/>
            <ac:spMk id="2" creationId="{C7459C46-BEC7-F63D-343C-C174DB403321}"/>
          </ac:spMkLst>
        </pc:spChg>
        <pc:spChg chg="add del mod">
          <ac:chgData name="林俊杰" userId="dcfdc803-95d8-409b-8404-351632be86e2" providerId="ADAL" clId="{5763F0A0-8751-4EF8-8ED5-D4E6209E4975}" dt="2024-12-17T08:53:55.946" v="950" actId="6264"/>
          <ac:spMkLst>
            <pc:docMk/>
            <pc:sldMk cId="1221466781" sldId="272"/>
            <ac:spMk id="3" creationId="{1C39F6D0-E56C-44B4-B6A8-91EBB08DAEAE}"/>
          </ac:spMkLst>
        </pc:spChg>
        <pc:spChg chg="mod">
          <ac:chgData name="林俊杰" userId="dcfdc803-95d8-409b-8404-351632be86e2" providerId="ADAL" clId="{5763F0A0-8751-4EF8-8ED5-D4E6209E4975}" dt="2024-12-17T09:44:29.856" v="1158" actId="14100"/>
          <ac:spMkLst>
            <pc:docMk/>
            <pc:sldMk cId="1221466781" sldId="272"/>
            <ac:spMk id="5" creationId="{ED39AE05-81FD-BF28-0245-3F1C7C26FF74}"/>
          </ac:spMkLst>
        </pc:spChg>
        <pc:spChg chg="add mod">
          <ac:chgData name="林俊杰" userId="dcfdc803-95d8-409b-8404-351632be86e2" providerId="ADAL" clId="{5763F0A0-8751-4EF8-8ED5-D4E6209E4975}" dt="2024-12-17T09:45:02.034" v="1181" actId="1076"/>
          <ac:spMkLst>
            <pc:docMk/>
            <pc:sldMk cId="1221466781" sldId="272"/>
            <ac:spMk id="8" creationId="{F15084DA-747C-458C-8159-00AC493C6091}"/>
          </ac:spMkLst>
        </pc:spChg>
        <pc:picChg chg="mod ord">
          <ac:chgData name="林俊杰" userId="dcfdc803-95d8-409b-8404-351632be86e2" providerId="ADAL" clId="{5763F0A0-8751-4EF8-8ED5-D4E6209E4975}" dt="2024-12-17T09:44:46.026" v="1178" actId="1038"/>
          <ac:picMkLst>
            <pc:docMk/>
            <pc:sldMk cId="1221466781" sldId="272"/>
            <ac:picMk id="4" creationId="{DB85F4D1-6FF1-6661-3816-3D36090B8ECD}"/>
          </ac:picMkLst>
        </pc:picChg>
        <pc:picChg chg="add mod">
          <ac:chgData name="林俊杰" userId="dcfdc803-95d8-409b-8404-351632be86e2" providerId="ADAL" clId="{5763F0A0-8751-4EF8-8ED5-D4E6209E4975}" dt="2024-12-17T09:43:25.819" v="1143" actId="1076"/>
          <ac:picMkLst>
            <pc:docMk/>
            <pc:sldMk cId="1221466781" sldId="272"/>
            <ac:picMk id="6" creationId="{0B29373C-0570-42CC-8C2C-B98536319C55}"/>
          </ac:picMkLst>
        </pc:picChg>
      </pc:sldChg>
      <pc:sldChg chg="addSp delSp modSp add del mod chgLayout">
        <pc:chgData name="林俊杰" userId="dcfdc803-95d8-409b-8404-351632be86e2" providerId="ADAL" clId="{5763F0A0-8751-4EF8-8ED5-D4E6209E4975}" dt="2024-12-17T08:55:09.476" v="966" actId="47"/>
        <pc:sldMkLst>
          <pc:docMk/>
          <pc:sldMk cId="1733203399" sldId="273"/>
        </pc:sldMkLst>
        <pc:spChg chg="mod ord">
          <ac:chgData name="林俊杰" userId="dcfdc803-95d8-409b-8404-351632be86e2" providerId="ADAL" clId="{5763F0A0-8751-4EF8-8ED5-D4E6209E4975}" dt="2024-12-17T08:54:40.880" v="958" actId="6264"/>
          <ac:spMkLst>
            <pc:docMk/>
            <pc:sldMk cId="1733203399" sldId="273"/>
            <ac:spMk id="2" creationId="{3E4A4227-F6EC-6BF7-9380-B0D577D95EDF}"/>
          </ac:spMkLst>
        </pc:spChg>
        <pc:spChg chg="add del mod">
          <ac:chgData name="林俊杰" userId="dcfdc803-95d8-409b-8404-351632be86e2" providerId="ADAL" clId="{5763F0A0-8751-4EF8-8ED5-D4E6209E4975}" dt="2024-12-17T08:54:40.880" v="958" actId="6264"/>
          <ac:spMkLst>
            <pc:docMk/>
            <pc:sldMk cId="1733203399" sldId="273"/>
            <ac:spMk id="5" creationId="{5AFD13DA-0DE6-44D4-AE15-DBC8DB590756}"/>
          </ac:spMkLst>
        </pc:spChg>
        <pc:picChg chg="del">
          <ac:chgData name="林俊杰" userId="dcfdc803-95d8-409b-8404-351632be86e2" providerId="ADAL" clId="{5763F0A0-8751-4EF8-8ED5-D4E6209E4975}" dt="2024-12-17T08:54:45.573" v="959" actId="21"/>
          <ac:picMkLst>
            <pc:docMk/>
            <pc:sldMk cId="1733203399" sldId="273"/>
            <ac:picMk id="4" creationId="{571F8279-4E67-47B4-7E57-A07CF12C00E5}"/>
          </ac:picMkLst>
        </pc:picChg>
      </pc:sldChg>
      <pc:sldChg chg="modSp add mod">
        <pc:chgData name="林俊杰" userId="dcfdc803-95d8-409b-8404-351632be86e2" providerId="ADAL" clId="{5763F0A0-8751-4EF8-8ED5-D4E6209E4975}" dt="2024-12-17T08:55:20.169" v="968" actId="1076"/>
        <pc:sldMkLst>
          <pc:docMk/>
          <pc:sldMk cId="58546282" sldId="274"/>
        </pc:sldMkLst>
        <pc:picChg chg="mod">
          <ac:chgData name="林俊杰" userId="dcfdc803-95d8-409b-8404-351632be86e2" providerId="ADAL" clId="{5763F0A0-8751-4EF8-8ED5-D4E6209E4975}" dt="2024-12-17T08:55:20.169" v="968" actId="1076"/>
          <ac:picMkLst>
            <pc:docMk/>
            <pc:sldMk cId="58546282" sldId="274"/>
            <ac:picMk id="5" creationId="{3BBFEABE-F477-E59F-33E9-F68C9B5E1CAF}"/>
          </ac:picMkLst>
        </pc:picChg>
      </pc:sldChg>
      <pc:sldChg chg="add">
        <pc:chgData name="林俊杰" userId="dcfdc803-95d8-409b-8404-351632be86e2" providerId="ADAL" clId="{5763F0A0-8751-4EF8-8ED5-D4E6209E4975}" dt="2024-12-17T08:55:25.664" v="969"/>
        <pc:sldMkLst>
          <pc:docMk/>
          <pc:sldMk cId="2036574753" sldId="275"/>
        </pc:sldMkLst>
      </pc:sldChg>
      <pc:sldChg chg="modSp add mod">
        <pc:chgData name="林俊杰" userId="dcfdc803-95d8-409b-8404-351632be86e2" providerId="ADAL" clId="{5763F0A0-8751-4EF8-8ED5-D4E6209E4975}" dt="2024-12-17T09:52:40.037" v="1276" actId="27636"/>
        <pc:sldMkLst>
          <pc:docMk/>
          <pc:sldMk cId="2361892338" sldId="281"/>
        </pc:sldMkLst>
        <pc:spChg chg="mod">
          <ac:chgData name="林俊杰" userId="dcfdc803-95d8-409b-8404-351632be86e2" providerId="ADAL" clId="{5763F0A0-8751-4EF8-8ED5-D4E6209E4975}" dt="2024-12-17T09:52:40.037" v="1276" actId="27636"/>
          <ac:spMkLst>
            <pc:docMk/>
            <pc:sldMk cId="2361892338" sldId="281"/>
            <ac:spMk id="3" creationId="{F97EBEB4-87A4-F112-8EB5-BA5B2D52D8AF}"/>
          </ac:spMkLst>
        </pc:spChg>
      </pc:sldChg>
      <pc:sldChg chg="add">
        <pc:chgData name="林俊杰" userId="dcfdc803-95d8-409b-8404-351632be86e2" providerId="ADAL" clId="{5763F0A0-8751-4EF8-8ED5-D4E6209E4975}" dt="2024-12-17T09:52:39.857" v="1272"/>
        <pc:sldMkLst>
          <pc:docMk/>
          <pc:sldMk cId="111276272" sldId="283"/>
        </pc:sldMkLst>
      </pc:sldChg>
      <pc:sldChg chg="add">
        <pc:chgData name="林俊杰" userId="dcfdc803-95d8-409b-8404-351632be86e2" providerId="ADAL" clId="{5763F0A0-8751-4EF8-8ED5-D4E6209E4975}" dt="2024-12-17T09:52:39.857" v="1272"/>
        <pc:sldMkLst>
          <pc:docMk/>
          <pc:sldMk cId="2458699537" sldId="284"/>
        </pc:sldMkLst>
      </pc:sldChg>
      <pc:sldChg chg="add ord">
        <pc:chgData name="林俊杰" userId="dcfdc803-95d8-409b-8404-351632be86e2" providerId="ADAL" clId="{5763F0A0-8751-4EF8-8ED5-D4E6209E4975}" dt="2024-12-17T14:05:09.806" v="1516"/>
        <pc:sldMkLst>
          <pc:docMk/>
          <pc:sldMk cId="4001326036" sldId="286"/>
        </pc:sldMkLst>
      </pc:sldChg>
      <pc:sldChg chg="add">
        <pc:chgData name="林俊杰" userId="dcfdc803-95d8-409b-8404-351632be86e2" providerId="ADAL" clId="{5763F0A0-8751-4EF8-8ED5-D4E6209E4975}" dt="2024-12-17T09:52:39.857" v="1272"/>
        <pc:sldMkLst>
          <pc:docMk/>
          <pc:sldMk cId="2354989865" sldId="287"/>
        </pc:sldMkLst>
      </pc:sldChg>
      <pc:sldChg chg="add">
        <pc:chgData name="林俊杰" userId="dcfdc803-95d8-409b-8404-351632be86e2" providerId="ADAL" clId="{5763F0A0-8751-4EF8-8ED5-D4E6209E4975}" dt="2024-12-17T09:52:39.857" v="1272"/>
        <pc:sldMkLst>
          <pc:docMk/>
          <pc:sldMk cId="1663569843" sldId="293"/>
        </pc:sldMkLst>
      </pc:sldChg>
      <pc:sldChg chg="add">
        <pc:chgData name="林俊杰" userId="dcfdc803-95d8-409b-8404-351632be86e2" providerId="ADAL" clId="{5763F0A0-8751-4EF8-8ED5-D4E6209E4975}" dt="2024-12-17T09:52:39.857" v="1272"/>
        <pc:sldMkLst>
          <pc:docMk/>
          <pc:sldMk cId="2789324068" sldId="307"/>
        </pc:sldMkLst>
      </pc:sldChg>
      <pc:sldChg chg="addSp delSp modSp add mod chgLayout">
        <pc:chgData name="林俊杰" userId="dcfdc803-95d8-409b-8404-351632be86e2" providerId="ADAL" clId="{5763F0A0-8751-4EF8-8ED5-D4E6209E4975}" dt="2024-12-17T13:05:01.983" v="1391" actId="6264"/>
        <pc:sldMkLst>
          <pc:docMk/>
          <pc:sldMk cId="2667312219" sldId="308"/>
        </pc:sldMkLst>
        <pc:spChg chg="mod ord">
          <ac:chgData name="林俊杰" userId="dcfdc803-95d8-409b-8404-351632be86e2" providerId="ADAL" clId="{5763F0A0-8751-4EF8-8ED5-D4E6209E4975}" dt="2024-12-17T13:05:01.983" v="1391" actId="6264"/>
          <ac:spMkLst>
            <pc:docMk/>
            <pc:sldMk cId="2667312219" sldId="308"/>
            <ac:spMk id="2" creationId="{52A9FFAF-CF3D-9FAB-D832-B9B873398A84}"/>
          </ac:spMkLst>
        </pc:spChg>
        <pc:spChg chg="mod ord">
          <ac:chgData name="林俊杰" userId="dcfdc803-95d8-409b-8404-351632be86e2" providerId="ADAL" clId="{5763F0A0-8751-4EF8-8ED5-D4E6209E4975}" dt="2024-12-17T13:05:01.983" v="1391" actId="6264"/>
          <ac:spMkLst>
            <pc:docMk/>
            <pc:sldMk cId="2667312219" sldId="308"/>
            <ac:spMk id="3" creationId="{ACCF5BB3-7E67-964B-C172-E19C6992025C}"/>
          </ac:spMkLst>
        </pc:spChg>
        <pc:spChg chg="add del mod">
          <ac:chgData name="林俊杰" userId="dcfdc803-95d8-409b-8404-351632be86e2" providerId="ADAL" clId="{5763F0A0-8751-4EF8-8ED5-D4E6209E4975}" dt="2024-12-17T13:05:01.983" v="1391" actId="6264"/>
          <ac:spMkLst>
            <pc:docMk/>
            <pc:sldMk cId="2667312219" sldId="308"/>
            <ac:spMk id="5" creationId="{6272ADE2-73D6-4134-A374-969913C19D13}"/>
          </ac:spMkLst>
        </pc:spChg>
        <pc:spChg chg="add del mod">
          <ac:chgData name="林俊杰" userId="dcfdc803-95d8-409b-8404-351632be86e2" providerId="ADAL" clId="{5763F0A0-8751-4EF8-8ED5-D4E6209E4975}" dt="2024-12-17T13:05:01.983" v="1391" actId="6264"/>
          <ac:spMkLst>
            <pc:docMk/>
            <pc:sldMk cId="2667312219" sldId="308"/>
            <ac:spMk id="6" creationId="{F978F995-DFA3-4C8E-94F2-E2C957238256}"/>
          </ac:spMkLst>
        </pc:spChg>
      </pc:sldChg>
      <pc:sldChg chg="add">
        <pc:chgData name="林俊杰" userId="dcfdc803-95d8-409b-8404-351632be86e2" providerId="ADAL" clId="{5763F0A0-8751-4EF8-8ED5-D4E6209E4975}" dt="2024-12-17T09:52:39.857" v="1272"/>
        <pc:sldMkLst>
          <pc:docMk/>
          <pc:sldMk cId="1934834487" sldId="309"/>
        </pc:sldMkLst>
      </pc:sldChg>
      <pc:sldChg chg="add">
        <pc:chgData name="林俊杰" userId="dcfdc803-95d8-409b-8404-351632be86e2" providerId="ADAL" clId="{5763F0A0-8751-4EF8-8ED5-D4E6209E4975}" dt="2024-12-17T09:52:39.857" v="1272"/>
        <pc:sldMkLst>
          <pc:docMk/>
          <pc:sldMk cId="1043047746" sldId="310"/>
        </pc:sldMkLst>
      </pc:sldChg>
      <pc:sldChg chg="add">
        <pc:chgData name="林俊杰" userId="dcfdc803-95d8-409b-8404-351632be86e2" providerId="ADAL" clId="{5763F0A0-8751-4EF8-8ED5-D4E6209E4975}" dt="2024-12-17T09:52:39.857" v="1272"/>
        <pc:sldMkLst>
          <pc:docMk/>
          <pc:sldMk cId="644003758" sldId="311"/>
        </pc:sldMkLst>
      </pc:sldChg>
      <pc:sldChg chg="add">
        <pc:chgData name="林俊杰" userId="dcfdc803-95d8-409b-8404-351632be86e2" providerId="ADAL" clId="{5763F0A0-8751-4EF8-8ED5-D4E6209E4975}" dt="2024-12-17T09:52:39.857" v="1272"/>
        <pc:sldMkLst>
          <pc:docMk/>
          <pc:sldMk cId="1384575116" sldId="312"/>
        </pc:sldMkLst>
      </pc:sldChg>
      <pc:sldChg chg="add">
        <pc:chgData name="林俊杰" userId="dcfdc803-95d8-409b-8404-351632be86e2" providerId="ADAL" clId="{5763F0A0-8751-4EF8-8ED5-D4E6209E4975}" dt="2024-12-17T09:52:39.857" v="1272"/>
        <pc:sldMkLst>
          <pc:docMk/>
          <pc:sldMk cId="2894528967" sldId="313"/>
        </pc:sldMkLst>
      </pc:sldChg>
      <pc:sldChg chg="add">
        <pc:chgData name="林俊杰" userId="dcfdc803-95d8-409b-8404-351632be86e2" providerId="ADAL" clId="{5763F0A0-8751-4EF8-8ED5-D4E6209E4975}" dt="2024-12-17T09:52:39.857" v="1272"/>
        <pc:sldMkLst>
          <pc:docMk/>
          <pc:sldMk cId="3647703030" sldId="317"/>
        </pc:sldMkLst>
      </pc:sldChg>
      <pc:sldChg chg="add">
        <pc:chgData name="林俊杰" userId="dcfdc803-95d8-409b-8404-351632be86e2" providerId="ADAL" clId="{5763F0A0-8751-4EF8-8ED5-D4E6209E4975}" dt="2024-12-17T09:52:39.857" v="1272"/>
        <pc:sldMkLst>
          <pc:docMk/>
          <pc:sldMk cId="2171447738" sldId="318"/>
        </pc:sldMkLst>
      </pc:sldChg>
      <pc:sldChg chg="modSp add mod">
        <pc:chgData name="林俊杰" userId="dcfdc803-95d8-409b-8404-351632be86e2" providerId="ADAL" clId="{5763F0A0-8751-4EF8-8ED5-D4E6209E4975}" dt="2024-12-17T14:53:14.190" v="1598" actId="20577"/>
        <pc:sldMkLst>
          <pc:docMk/>
          <pc:sldMk cId="3509266440" sldId="319"/>
        </pc:sldMkLst>
        <pc:spChg chg="mod">
          <ac:chgData name="林俊杰" userId="dcfdc803-95d8-409b-8404-351632be86e2" providerId="ADAL" clId="{5763F0A0-8751-4EF8-8ED5-D4E6209E4975}" dt="2024-12-17T14:53:14.190" v="1598" actId="20577"/>
          <ac:spMkLst>
            <pc:docMk/>
            <pc:sldMk cId="3509266440" sldId="319"/>
            <ac:spMk id="3" creationId="{122F5765-21B8-D151-DF67-21E5D66601C0}"/>
          </ac:spMkLst>
        </pc:spChg>
      </pc:sldChg>
      <pc:sldChg chg="add">
        <pc:chgData name="林俊杰" userId="dcfdc803-95d8-409b-8404-351632be86e2" providerId="ADAL" clId="{5763F0A0-8751-4EF8-8ED5-D4E6209E4975}" dt="2024-12-17T09:52:39.857" v="1272"/>
        <pc:sldMkLst>
          <pc:docMk/>
          <pc:sldMk cId="3767728823" sldId="320"/>
        </pc:sldMkLst>
      </pc:sldChg>
      <pc:sldChg chg="add">
        <pc:chgData name="林俊杰" userId="dcfdc803-95d8-409b-8404-351632be86e2" providerId="ADAL" clId="{5763F0A0-8751-4EF8-8ED5-D4E6209E4975}" dt="2024-12-17T09:52:39.857" v="1272"/>
        <pc:sldMkLst>
          <pc:docMk/>
          <pc:sldMk cId="3677775330" sldId="321"/>
        </pc:sldMkLst>
      </pc:sldChg>
      <pc:sldChg chg="add">
        <pc:chgData name="林俊杰" userId="dcfdc803-95d8-409b-8404-351632be86e2" providerId="ADAL" clId="{5763F0A0-8751-4EF8-8ED5-D4E6209E4975}" dt="2024-12-17T09:52:39.857" v="1272"/>
        <pc:sldMkLst>
          <pc:docMk/>
          <pc:sldMk cId="1411805802" sldId="322"/>
        </pc:sldMkLst>
      </pc:sldChg>
      <pc:sldChg chg="add">
        <pc:chgData name="林俊杰" userId="dcfdc803-95d8-409b-8404-351632be86e2" providerId="ADAL" clId="{5763F0A0-8751-4EF8-8ED5-D4E6209E4975}" dt="2024-12-17T09:52:39.857" v="1272"/>
        <pc:sldMkLst>
          <pc:docMk/>
          <pc:sldMk cId="1447482631" sldId="323"/>
        </pc:sldMkLst>
      </pc:sldChg>
      <pc:sldChg chg="add">
        <pc:chgData name="林俊杰" userId="dcfdc803-95d8-409b-8404-351632be86e2" providerId="ADAL" clId="{5763F0A0-8751-4EF8-8ED5-D4E6209E4975}" dt="2024-12-17T09:52:39.857" v="1272"/>
        <pc:sldMkLst>
          <pc:docMk/>
          <pc:sldMk cId="1969029798" sldId="325"/>
        </pc:sldMkLst>
      </pc:sldChg>
      <pc:sldChg chg="add">
        <pc:chgData name="林俊杰" userId="dcfdc803-95d8-409b-8404-351632be86e2" providerId="ADAL" clId="{5763F0A0-8751-4EF8-8ED5-D4E6209E4975}" dt="2024-12-17T09:52:39.857" v="1272"/>
        <pc:sldMkLst>
          <pc:docMk/>
          <pc:sldMk cId="1645392891" sldId="326"/>
        </pc:sldMkLst>
      </pc:sldChg>
      <pc:sldChg chg="add">
        <pc:chgData name="林俊杰" userId="dcfdc803-95d8-409b-8404-351632be86e2" providerId="ADAL" clId="{5763F0A0-8751-4EF8-8ED5-D4E6209E4975}" dt="2024-12-17T09:52:39.857" v="1272"/>
        <pc:sldMkLst>
          <pc:docMk/>
          <pc:sldMk cId="617990785" sldId="327"/>
        </pc:sldMkLst>
      </pc:sldChg>
      <pc:sldChg chg="add">
        <pc:chgData name="林俊杰" userId="dcfdc803-95d8-409b-8404-351632be86e2" providerId="ADAL" clId="{5763F0A0-8751-4EF8-8ED5-D4E6209E4975}" dt="2024-12-17T09:52:39.857" v="1272"/>
        <pc:sldMkLst>
          <pc:docMk/>
          <pc:sldMk cId="2002371828" sldId="328"/>
        </pc:sldMkLst>
      </pc:sldChg>
      <pc:sldChg chg="add">
        <pc:chgData name="林俊杰" userId="dcfdc803-95d8-409b-8404-351632be86e2" providerId="ADAL" clId="{5763F0A0-8751-4EF8-8ED5-D4E6209E4975}" dt="2024-12-17T09:52:39.857" v="1272"/>
        <pc:sldMkLst>
          <pc:docMk/>
          <pc:sldMk cId="2964182" sldId="329"/>
        </pc:sldMkLst>
      </pc:sldChg>
      <pc:sldChg chg="add">
        <pc:chgData name="林俊杰" userId="dcfdc803-95d8-409b-8404-351632be86e2" providerId="ADAL" clId="{5763F0A0-8751-4EF8-8ED5-D4E6209E4975}" dt="2024-12-17T09:52:39.857" v="1272"/>
        <pc:sldMkLst>
          <pc:docMk/>
          <pc:sldMk cId="929098568" sldId="330"/>
        </pc:sldMkLst>
      </pc:sldChg>
      <pc:sldChg chg="add">
        <pc:chgData name="林俊杰" userId="dcfdc803-95d8-409b-8404-351632be86e2" providerId="ADAL" clId="{5763F0A0-8751-4EF8-8ED5-D4E6209E4975}" dt="2024-12-17T09:11:37.677" v="971"/>
        <pc:sldMkLst>
          <pc:docMk/>
          <pc:sldMk cId="1802932097" sldId="331"/>
        </pc:sldMkLst>
      </pc:sldChg>
      <pc:sldChg chg="add">
        <pc:chgData name="林俊杰" userId="dcfdc803-95d8-409b-8404-351632be86e2" providerId="ADAL" clId="{5763F0A0-8751-4EF8-8ED5-D4E6209E4975}" dt="2024-12-17T09:11:37.677" v="971"/>
        <pc:sldMkLst>
          <pc:docMk/>
          <pc:sldMk cId="755210945" sldId="332"/>
        </pc:sldMkLst>
      </pc:sldChg>
      <pc:sldChg chg="add">
        <pc:chgData name="林俊杰" userId="dcfdc803-95d8-409b-8404-351632be86e2" providerId="ADAL" clId="{5763F0A0-8751-4EF8-8ED5-D4E6209E4975}" dt="2024-12-17T09:11:37.677" v="971"/>
        <pc:sldMkLst>
          <pc:docMk/>
          <pc:sldMk cId="941505751" sldId="333"/>
        </pc:sldMkLst>
      </pc:sldChg>
      <pc:sldChg chg="add">
        <pc:chgData name="林俊杰" userId="dcfdc803-95d8-409b-8404-351632be86e2" providerId="ADAL" clId="{5763F0A0-8751-4EF8-8ED5-D4E6209E4975}" dt="2024-12-17T09:11:37.677" v="971"/>
        <pc:sldMkLst>
          <pc:docMk/>
          <pc:sldMk cId="2530130929" sldId="334"/>
        </pc:sldMkLst>
      </pc:sldChg>
      <pc:sldChg chg="add">
        <pc:chgData name="林俊杰" userId="dcfdc803-95d8-409b-8404-351632be86e2" providerId="ADAL" clId="{5763F0A0-8751-4EF8-8ED5-D4E6209E4975}" dt="2024-12-17T09:11:37.677" v="971"/>
        <pc:sldMkLst>
          <pc:docMk/>
          <pc:sldMk cId="964129108" sldId="335"/>
        </pc:sldMkLst>
      </pc:sldChg>
      <pc:sldChg chg="add">
        <pc:chgData name="林俊杰" userId="dcfdc803-95d8-409b-8404-351632be86e2" providerId="ADAL" clId="{5763F0A0-8751-4EF8-8ED5-D4E6209E4975}" dt="2024-12-17T09:52:39.857" v="1272"/>
        <pc:sldMkLst>
          <pc:docMk/>
          <pc:sldMk cId="584296597" sldId="336"/>
        </pc:sldMkLst>
      </pc:sldChg>
      <pc:sldChg chg="add">
        <pc:chgData name="林俊杰" userId="dcfdc803-95d8-409b-8404-351632be86e2" providerId="ADAL" clId="{5763F0A0-8751-4EF8-8ED5-D4E6209E4975}" dt="2024-12-17T09:40:05.862" v="1123"/>
        <pc:sldMkLst>
          <pc:docMk/>
          <pc:sldMk cId="561642353" sldId="338"/>
        </pc:sldMkLst>
      </pc:sldChg>
      <pc:sldChg chg="modSp add del mod">
        <pc:chgData name="林俊杰" userId="dcfdc803-95d8-409b-8404-351632be86e2" providerId="ADAL" clId="{5763F0A0-8751-4EF8-8ED5-D4E6209E4975}" dt="2024-12-17T09:40:34.517" v="1125" actId="2696"/>
        <pc:sldMkLst>
          <pc:docMk/>
          <pc:sldMk cId="1334515053" sldId="339"/>
        </pc:sldMkLst>
        <pc:spChg chg="mod">
          <ac:chgData name="林俊杰" userId="dcfdc803-95d8-409b-8404-351632be86e2" providerId="ADAL" clId="{5763F0A0-8751-4EF8-8ED5-D4E6209E4975}" dt="2024-12-17T09:40:05.980" v="1124" actId="27636"/>
          <ac:spMkLst>
            <pc:docMk/>
            <pc:sldMk cId="1334515053" sldId="339"/>
            <ac:spMk id="3" creationId="{9BF26F4A-8B09-41BA-955C-75988EA80A6F}"/>
          </ac:spMkLst>
        </pc:spChg>
      </pc:sldChg>
      <pc:sldChg chg="add del ord">
        <pc:chgData name="林俊杰" userId="dcfdc803-95d8-409b-8404-351632be86e2" providerId="ADAL" clId="{5763F0A0-8751-4EF8-8ED5-D4E6209E4975}" dt="2024-12-17T12:42:04.164" v="1373" actId="2696"/>
        <pc:sldMkLst>
          <pc:docMk/>
          <pc:sldMk cId="1828168794" sldId="339"/>
        </pc:sldMkLst>
      </pc:sldChg>
      <pc:sldChg chg="add del">
        <pc:chgData name="林俊杰" userId="dcfdc803-95d8-409b-8404-351632be86e2" providerId="ADAL" clId="{5763F0A0-8751-4EF8-8ED5-D4E6209E4975}" dt="2024-12-17T09:54:02.414" v="1281" actId="2696"/>
        <pc:sldMkLst>
          <pc:docMk/>
          <pc:sldMk cId="1993886616" sldId="339"/>
        </pc:sldMkLst>
      </pc:sldChg>
      <pc:sldChg chg="add del">
        <pc:chgData name="林俊杰" userId="dcfdc803-95d8-409b-8404-351632be86e2" providerId="ADAL" clId="{5763F0A0-8751-4EF8-8ED5-D4E6209E4975}" dt="2024-12-17T12:43:00.826" v="1375" actId="2696"/>
        <pc:sldMkLst>
          <pc:docMk/>
          <pc:sldMk cId="2622939065" sldId="339"/>
        </pc:sldMkLst>
      </pc:sldChg>
      <pc:sldChg chg="addSp delSp modSp add mod chgLayout">
        <pc:chgData name="林俊杰" userId="dcfdc803-95d8-409b-8404-351632be86e2" providerId="ADAL" clId="{5763F0A0-8751-4EF8-8ED5-D4E6209E4975}" dt="2024-12-17T14:54:30.595" v="1612" actId="1076"/>
        <pc:sldMkLst>
          <pc:docMk/>
          <pc:sldMk cId="3699032196" sldId="339"/>
        </pc:sldMkLst>
        <pc:spChg chg="mod ord">
          <ac:chgData name="林俊杰" userId="dcfdc803-95d8-409b-8404-351632be86e2" providerId="ADAL" clId="{5763F0A0-8751-4EF8-8ED5-D4E6209E4975}" dt="2024-12-17T14:54:11.181" v="1604" actId="20577"/>
          <ac:spMkLst>
            <pc:docMk/>
            <pc:sldMk cId="3699032196" sldId="339"/>
            <ac:spMk id="2" creationId="{CDAD7937-ACA5-40D7-B5E6-DF6238678F23}"/>
          </ac:spMkLst>
        </pc:spChg>
        <pc:spChg chg="mod ord">
          <ac:chgData name="林俊杰" userId="dcfdc803-95d8-409b-8404-351632be86e2" providerId="ADAL" clId="{5763F0A0-8751-4EF8-8ED5-D4E6209E4975}" dt="2024-12-17T14:54:18.559" v="1607" actId="14100"/>
          <ac:spMkLst>
            <pc:docMk/>
            <pc:sldMk cId="3699032196" sldId="339"/>
            <ac:spMk id="3" creationId="{9BF26F4A-8B09-41BA-955C-75988EA80A6F}"/>
          </ac:spMkLst>
        </pc:spChg>
        <pc:spChg chg="add del mod">
          <ac:chgData name="林俊杰" userId="dcfdc803-95d8-409b-8404-351632be86e2" providerId="ADAL" clId="{5763F0A0-8751-4EF8-8ED5-D4E6209E4975}" dt="2024-12-17T14:53:59.667" v="1599" actId="6264"/>
          <ac:spMkLst>
            <pc:docMk/>
            <pc:sldMk cId="3699032196" sldId="339"/>
            <ac:spMk id="4" creationId="{10581CD8-3853-4084-946D-45DA54695E6F}"/>
          </ac:spMkLst>
        </pc:spChg>
        <pc:spChg chg="add del mod">
          <ac:chgData name="林俊杰" userId="dcfdc803-95d8-409b-8404-351632be86e2" providerId="ADAL" clId="{5763F0A0-8751-4EF8-8ED5-D4E6209E4975}" dt="2024-12-17T14:53:59.667" v="1599" actId="6264"/>
          <ac:spMkLst>
            <pc:docMk/>
            <pc:sldMk cId="3699032196" sldId="339"/>
            <ac:spMk id="5" creationId="{F034C5B3-B797-4007-B643-7DDE82B8E0B6}"/>
          </ac:spMkLst>
        </pc:spChg>
        <pc:spChg chg="add del mod">
          <ac:chgData name="林俊杰" userId="dcfdc803-95d8-409b-8404-351632be86e2" providerId="ADAL" clId="{5763F0A0-8751-4EF8-8ED5-D4E6209E4975}" dt="2024-12-17T14:54:06.059" v="1601" actId="6264"/>
          <ac:spMkLst>
            <pc:docMk/>
            <pc:sldMk cId="3699032196" sldId="339"/>
            <ac:spMk id="6" creationId="{2619497B-6929-4CFF-BF50-34A78A859953}"/>
          </ac:spMkLst>
        </pc:spChg>
        <pc:spChg chg="add del mod">
          <ac:chgData name="林俊杰" userId="dcfdc803-95d8-409b-8404-351632be86e2" providerId="ADAL" clId="{5763F0A0-8751-4EF8-8ED5-D4E6209E4975}" dt="2024-12-17T14:54:06.059" v="1601" actId="6264"/>
          <ac:spMkLst>
            <pc:docMk/>
            <pc:sldMk cId="3699032196" sldId="339"/>
            <ac:spMk id="7" creationId="{404EE91B-F42A-4449-BCC6-8DDDA7D655F9}"/>
          </ac:spMkLst>
        </pc:spChg>
        <pc:spChg chg="add mod">
          <ac:chgData name="林俊杰" userId="dcfdc803-95d8-409b-8404-351632be86e2" providerId="ADAL" clId="{5763F0A0-8751-4EF8-8ED5-D4E6209E4975}" dt="2024-12-17T14:54:28.258" v="1611" actId="14100"/>
          <ac:spMkLst>
            <pc:docMk/>
            <pc:sldMk cId="3699032196" sldId="339"/>
            <ac:spMk id="10" creationId="{F7763C90-A40B-4C3E-8A8C-3FE5818FC269}"/>
          </ac:spMkLst>
        </pc:spChg>
        <pc:picChg chg="mod">
          <ac:chgData name="林俊杰" userId="dcfdc803-95d8-409b-8404-351632be86e2" providerId="ADAL" clId="{5763F0A0-8751-4EF8-8ED5-D4E6209E4975}" dt="2024-12-17T14:54:30.595" v="1612" actId="1076"/>
          <ac:picMkLst>
            <pc:docMk/>
            <pc:sldMk cId="3699032196" sldId="339"/>
            <ac:picMk id="2050" creationId="{6E5F7DE9-593E-40F1-921B-FE25B88C4260}"/>
          </ac:picMkLst>
        </pc:picChg>
      </pc:sldChg>
      <pc:sldChg chg="add">
        <pc:chgData name="林俊杰" userId="dcfdc803-95d8-409b-8404-351632be86e2" providerId="ADAL" clId="{5763F0A0-8751-4EF8-8ED5-D4E6209E4975}" dt="2024-12-17T09:40:05.862" v="1123"/>
        <pc:sldMkLst>
          <pc:docMk/>
          <pc:sldMk cId="3343525325" sldId="340"/>
        </pc:sldMkLst>
      </pc:sldChg>
      <pc:sldChg chg="add">
        <pc:chgData name="林俊杰" userId="dcfdc803-95d8-409b-8404-351632be86e2" providerId="ADAL" clId="{5763F0A0-8751-4EF8-8ED5-D4E6209E4975}" dt="2024-12-17T09:40:05.862" v="1123"/>
        <pc:sldMkLst>
          <pc:docMk/>
          <pc:sldMk cId="2754231320" sldId="341"/>
        </pc:sldMkLst>
      </pc:sldChg>
      <pc:sldChg chg="add">
        <pc:chgData name="林俊杰" userId="dcfdc803-95d8-409b-8404-351632be86e2" providerId="ADAL" clId="{5763F0A0-8751-4EF8-8ED5-D4E6209E4975}" dt="2024-12-17T09:40:05.862" v="1123"/>
        <pc:sldMkLst>
          <pc:docMk/>
          <pc:sldMk cId="63098359" sldId="342"/>
        </pc:sldMkLst>
      </pc:sldChg>
      <pc:sldChg chg="add">
        <pc:chgData name="林俊杰" userId="dcfdc803-95d8-409b-8404-351632be86e2" providerId="ADAL" clId="{5763F0A0-8751-4EF8-8ED5-D4E6209E4975}" dt="2024-12-17T09:40:05.862" v="1123"/>
        <pc:sldMkLst>
          <pc:docMk/>
          <pc:sldMk cId="2115113222" sldId="343"/>
        </pc:sldMkLst>
      </pc:sldChg>
      <pc:sldChg chg="modSp new mod">
        <pc:chgData name="林俊杰" userId="dcfdc803-95d8-409b-8404-351632be86e2" providerId="ADAL" clId="{5763F0A0-8751-4EF8-8ED5-D4E6209E4975}" dt="2024-12-17T09:47:00.205" v="1230" actId="115"/>
        <pc:sldMkLst>
          <pc:docMk/>
          <pc:sldMk cId="497387599" sldId="344"/>
        </pc:sldMkLst>
        <pc:spChg chg="mod">
          <ac:chgData name="林俊杰" userId="dcfdc803-95d8-409b-8404-351632be86e2" providerId="ADAL" clId="{5763F0A0-8751-4EF8-8ED5-D4E6209E4975}" dt="2024-12-17T09:45:51.114" v="1187" actId="20577"/>
          <ac:spMkLst>
            <pc:docMk/>
            <pc:sldMk cId="497387599" sldId="344"/>
            <ac:spMk id="2" creationId="{CA7B714F-4776-49DF-8146-7EF5A3E374E5}"/>
          </ac:spMkLst>
        </pc:spChg>
        <pc:spChg chg="mod">
          <ac:chgData name="林俊杰" userId="dcfdc803-95d8-409b-8404-351632be86e2" providerId="ADAL" clId="{5763F0A0-8751-4EF8-8ED5-D4E6209E4975}" dt="2024-12-17T09:47:00.205" v="1230" actId="115"/>
          <ac:spMkLst>
            <pc:docMk/>
            <pc:sldMk cId="497387599" sldId="344"/>
            <ac:spMk id="3" creationId="{BFCD365F-F193-44B6-AA8A-D535CDB0ABED}"/>
          </ac:spMkLst>
        </pc:spChg>
      </pc:sldChg>
      <pc:sldChg chg="new del">
        <pc:chgData name="林俊杰" userId="dcfdc803-95d8-409b-8404-351632be86e2" providerId="ADAL" clId="{5763F0A0-8751-4EF8-8ED5-D4E6209E4975}" dt="2024-12-17T09:47:29.702" v="1231" actId="47"/>
        <pc:sldMkLst>
          <pc:docMk/>
          <pc:sldMk cId="1337671630" sldId="345"/>
        </pc:sldMkLst>
      </pc:sldChg>
      <pc:sldChg chg="addSp delSp modSp new mod modClrScheme chgLayout">
        <pc:chgData name="林俊杰" userId="dcfdc803-95d8-409b-8404-351632be86e2" providerId="ADAL" clId="{5763F0A0-8751-4EF8-8ED5-D4E6209E4975}" dt="2024-12-17T09:48:34.727" v="1270"/>
        <pc:sldMkLst>
          <pc:docMk/>
          <pc:sldMk cId="3067841139" sldId="345"/>
        </pc:sldMkLst>
        <pc:spChg chg="del mod ord">
          <ac:chgData name="林俊杰" userId="dcfdc803-95d8-409b-8404-351632be86e2" providerId="ADAL" clId="{5763F0A0-8751-4EF8-8ED5-D4E6209E4975}" dt="2024-12-17T09:47:54.636" v="1233" actId="700"/>
          <ac:spMkLst>
            <pc:docMk/>
            <pc:sldMk cId="3067841139" sldId="345"/>
            <ac:spMk id="2" creationId="{F6C79B12-9E70-421D-8F1B-2121C69ADADE}"/>
          </ac:spMkLst>
        </pc:spChg>
        <pc:spChg chg="del mod ord">
          <ac:chgData name="林俊杰" userId="dcfdc803-95d8-409b-8404-351632be86e2" providerId="ADAL" clId="{5763F0A0-8751-4EF8-8ED5-D4E6209E4975}" dt="2024-12-17T09:47:54.636" v="1233" actId="700"/>
          <ac:spMkLst>
            <pc:docMk/>
            <pc:sldMk cId="3067841139" sldId="345"/>
            <ac:spMk id="3" creationId="{AC2BDCCB-0921-4970-8FBB-1E8A19B34969}"/>
          </ac:spMkLst>
        </pc:spChg>
        <pc:spChg chg="add mod ord">
          <ac:chgData name="林俊杰" userId="dcfdc803-95d8-409b-8404-351632be86e2" providerId="ADAL" clId="{5763F0A0-8751-4EF8-8ED5-D4E6209E4975}" dt="2024-12-17T09:48:34.727" v="1270"/>
          <ac:spMkLst>
            <pc:docMk/>
            <pc:sldMk cId="3067841139" sldId="345"/>
            <ac:spMk id="4" creationId="{BF7272BB-F960-4581-8B2C-733A2659D062}"/>
          </ac:spMkLst>
        </pc:spChg>
        <pc:spChg chg="add mod ord">
          <ac:chgData name="林俊杰" userId="dcfdc803-95d8-409b-8404-351632be86e2" providerId="ADAL" clId="{5763F0A0-8751-4EF8-8ED5-D4E6209E4975}" dt="2024-12-17T09:47:54.636" v="1233" actId="700"/>
          <ac:spMkLst>
            <pc:docMk/>
            <pc:sldMk cId="3067841139" sldId="345"/>
            <ac:spMk id="5" creationId="{6EC54387-1529-40ED-802E-C36D9DF90D41}"/>
          </ac:spMkLst>
        </pc:spChg>
      </pc:sldChg>
      <pc:sldChg chg="new del">
        <pc:chgData name="林俊杰" userId="dcfdc803-95d8-409b-8404-351632be86e2" providerId="ADAL" clId="{5763F0A0-8751-4EF8-8ED5-D4E6209E4975}" dt="2024-12-17T09:52:37.047" v="1271" actId="47"/>
        <pc:sldMkLst>
          <pc:docMk/>
          <pc:sldMk cId="1560513911" sldId="346"/>
        </pc:sldMkLst>
      </pc:sldChg>
      <pc:sldChg chg="modSp add mod">
        <pc:chgData name="林俊杰" userId="dcfdc803-95d8-409b-8404-351632be86e2" providerId="ADAL" clId="{5763F0A0-8751-4EF8-8ED5-D4E6209E4975}" dt="2024-12-17T09:52:39.903" v="1273" actId="27636"/>
        <pc:sldMkLst>
          <pc:docMk/>
          <pc:sldMk cId="3435877057" sldId="346"/>
        </pc:sldMkLst>
        <pc:spChg chg="mod">
          <ac:chgData name="林俊杰" userId="dcfdc803-95d8-409b-8404-351632be86e2" providerId="ADAL" clId="{5763F0A0-8751-4EF8-8ED5-D4E6209E4975}" dt="2024-12-17T09:52:39.903" v="1273" actId="27636"/>
          <ac:spMkLst>
            <pc:docMk/>
            <pc:sldMk cId="3435877057" sldId="346"/>
            <ac:spMk id="3" creationId="{45D1C5A9-C3C8-5ADB-0FEC-F763AEB7DA08}"/>
          </ac:spMkLst>
        </pc:spChg>
      </pc:sldChg>
      <pc:sldChg chg="add">
        <pc:chgData name="林俊杰" userId="dcfdc803-95d8-409b-8404-351632be86e2" providerId="ADAL" clId="{5763F0A0-8751-4EF8-8ED5-D4E6209E4975}" dt="2024-12-17T09:52:39.857" v="1272"/>
        <pc:sldMkLst>
          <pc:docMk/>
          <pc:sldMk cId="4270269252" sldId="347"/>
        </pc:sldMkLst>
      </pc:sldChg>
      <pc:sldChg chg="add">
        <pc:chgData name="林俊杰" userId="dcfdc803-95d8-409b-8404-351632be86e2" providerId="ADAL" clId="{5763F0A0-8751-4EF8-8ED5-D4E6209E4975}" dt="2024-12-17T09:52:39.857" v="1272"/>
        <pc:sldMkLst>
          <pc:docMk/>
          <pc:sldMk cId="1497745035" sldId="348"/>
        </pc:sldMkLst>
      </pc:sldChg>
      <pc:sldChg chg="add">
        <pc:chgData name="林俊杰" userId="dcfdc803-95d8-409b-8404-351632be86e2" providerId="ADAL" clId="{5763F0A0-8751-4EF8-8ED5-D4E6209E4975}" dt="2024-12-17T09:52:39.857" v="1272"/>
        <pc:sldMkLst>
          <pc:docMk/>
          <pc:sldMk cId="4138515685" sldId="349"/>
        </pc:sldMkLst>
      </pc:sldChg>
      <pc:sldChg chg="add">
        <pc:chgData name="林俊杰" userId="dcfdc803-95d8-409b-8404-351632be86e2" providerId="ADAL" clId="{5763F0A0-8751-4EF8-8ED5-D4E6209E4975}" dt="2024-12-17T09:52:39.857" v="1272"/>
        <pc:sldMkLst>
          <pc:docMk/>
          <pc:sldMk cId="454010382" sldId="350"/>
        </pc:sldMkLst>
      </pc:sldChg>
      <pc:sldChg chg="modSp add mod">
        <pc:chgData name="林俊杰" userId="dcfdc803-95d8-409b-8404-351632be86e2" providerId="ADAL" clId="{5763F0A0-8751-4EF8-8ED5-D4E6209E4975}" dt="2024-12-17T09:52:39.962" v="1274" actId="27636"/>
        <pc:sldMkLst>
          <pc:docMk/>
          <pc:sldMk cId="2476631265" sldId="351"/>
        </pc:sldMkLst>
        <pc:spChg chg="mod">
          <ac:chgData name="林俊杰" userId="dcfdc803-95d8-409b-8404-351632be86e2" providerId="ADAL" clId="{5763F0A0-8751-4EF8-8ED5-D4E6209E4975}" dt="2024-12-17T09:52:39.962" v="1274" actId="27636"/>
          <ac:spMkLst>
            <pc:docMk/>
            <pc:sldMk cId="2476631265" sldId="351"/>
            <ac:spMk id="3" creationId="{F8FE9FA6-2F2D-1803-85FF-769C04416F61}"/>
          </ac:spMkLst>
        </pc:spChg>
      </pc:sldChg>
      <pc:sldChg chg="add">
        <pc:chgData name="林俊杰" userId="dcfdc803-95d8-409b-8404-351632be86e2" providerId="ADAL" clId="{5763F0A0-8751-4EF8-8ED5-D4E6209E4975}" dt="2024-12-17T09:52:39.857" v="1272"/>
        <pc:sldMkLst>
          <pc:docMk/>
          <pc:sldMk cId="423943176" sldId="352"/>
        </pc:sldMkLst>
      </pc:sldChg>
      <pc:sldChg chg="add">
        <pc:chgData name="林俊杰" userId="dcfdc803-95d8-409b-8404-351632be86e2" providerId="ADAL" clId="{5763F0A0-8751-4EF8-8ED5-D4E6209E4975}" dt="2024-12-17T09:52:39.857" v="1272"/>
        <pc:sldMkLst>
          <pc:docMk/>
          <pc:sldMk cId="1255059155" sldId="353"/>
        </pc:sldMkLst>
      </pc:sldChg>
      <pc:sldChg chg="modSp add mod">
        <pc:chgData name="林俊杰" userId="dcfdc803-95d8-409b-8404-351632be86e2" providerId="ADAL" clId="{5763F0A0-8751-4EF8-8ED5-D4E6209E4975}" dt="2024-12-17T09:52:39.981" v="1275" actId="27636"/>
        <pc:sldMkLst>
          <pc:docMk/>
          <pc:sldMk cId="183097882" sldId="354"/>
        </pc:sldMkLst>
        <pc:spChg chg="mod">
          <ac:chgData name="林俊杰" userId="dcfdc803-95d8-409b-8404-351632be86e2" providerId="ADAL" clId="{5763F0A0-8751-4EF8-8ED5-D4E6209E4975}" dt="2024-12-17T09:52:39.981" v="1275" actId="27636"/>
          <ac:spMkLst>
            <pc:docMk/>
            <pc:sldMk cId="183097882" sldId="354"/>
            <ac:spMk id="3" creationId="{49A72CE8-E8E5-7418-9856-342D331CDF88}"/>
          </ac:spMkLst>
        </pc:spChg>
      </pc:sldChg>
      <pc:sldChg chg="add">
        <pc:chgData name="林俊杰" userId="dcfdc803-95d8-409b-8404-351632be86e2" providerId="ADAL" clId="{5763F0A0-8751-4EF8-8ED5-D4E6209E4975}" dt="2024-12-17T09:52:39.857" v="1272"/>
        <pc:sldMkLst>
          <pc:docMk/>
          <pc:sldMk cId="1720785422" sldId="355"/>
        </pc:sldMkLst>
      </pc:sldChg>
      <pc:sldChg chg="add">
        <pc:chgData name="林俊杰" userId="dcfdc803-95d8-409b-8404-351632be86e2" providerId="ADAL" clId="{5763F0A0-8751-4EF8-8ED5-D4E6209E4975}" dt="2024-12-17T09:52:39.857" v="1272"/>
        <pc:sldMkLst>
          <pc:docMk/>
          <pc:sldMk cId="577953553" sldId="356"/>
        </pc:sldMkLst>
      </pc:sldChg>
      <pc:sldChg chg="add">
        <pc:chgData name="林俊杰" userId="dcfdc803-95d8-409b-8404-351632be86e2" providerId="ADAL" clId="{5763F0A0-8751-4EF8-8ED5-D4E6209E4975}" dt="2024-12-17T09:52:39.857" v="1272"/>
        <pc:sldMkLst>
          <pc:docMk/>
          <pc:sldMk cId="1649280860" sldId="357"/>
        </pc:sldMkLst>
      </pc:sldChg>
      <pc:sldChg chg="modSp add mod">
        <pc:chgData name="林俊杰" userId="dcfdc803-95d8-409b-8404-351632be86e2" providerId="ADAL" clId="{5763F0A0-8751-4EF8-8ED5-D4E6209E4975}" dt="2024-12-17T15:25:33.300" v="1735"/>
        <pc:sldMkLst>
          <pc:docMk/>
          <pc:sldMk cId="393950040" sldId="358"/>
        </pc:sldMkLst>
        <pc:spChg chg="mod">
          <ac:chgData name="林俊杰" userId="dcfdc803-95d8-409b-8404-351632be86e2" providerId="ADAL" clId="{5763F0A0-8751-4EF8-8ED5-D4E6209E4975}" dt="2024-12-17T15:25:33.300" v="1735"/>
          <ac:spMkLst>
            <pc:docMk/>
            <pc:sldMk cId="393950040" sldId="358"/>
            <ac:spMk id="2" creationId="{EDE97DE0-090D-75A0-2553-DD0DF8C6A209}"/>
          </ac:spMkLst>
        </pc:spChg>
      </pc:sldChg>
      <pc:sldChg chg="add">
        <pc:chgData name="林俊杰" userId="dcfdc803-95d8-409b-8404-351632be86e2" providerId="ADAL" clId="{5763F0A0-8751-4EF8-8ED5-D4E6209E4975}" dt="2024-12-17T09:53:57.079" v="1278"/>
        <pc:sldMkLst>
          <pc:docMk/>
          <pc:sldMk cId="2057532681" sldId="359"/>
        </pc:sldMkLst>
      </pc:sldChg>
      <pc:sldChg chg="modSp add mod">
        <pc:chgData name="林俊杰" userId="dcfdc803-95d8-409b-8404-351632be86e2" providerId="ADAL" clId="{5763F0A0-8751-4EF8-8ED5-D4E6209E4975}" dt="2024-12-17T15:25:36.270" v="1736"/>
        <pc:sldMkLst>
          <pc:docMk/>
          <pc:sldMk cId="796091745" sldId="360"/>
        </pc:sldMkLst>
        <pc:spChg chg="mod">
          <ac:chgData name="林俊杰" userId="dcfdc803-95d8-409b-8404-351632be86e2" providerId="ADAL" clId="{5763F0A0-8751-4EF8-8ED5-D4E6209E4975}" dt="2024-12-17T15:25:36.270" v="1736"/>
          <ac:spMkLst>
            <pc:docMk/>
            <pc:sldMk cId="796091745" sldId="360"/>
            <ac:spMk id="2" creationId="{2E973CD6-6C6C-7F48-C0FE-24AFB8DE9C47}"/>
          </ac:spMkLst>
        </pc:spChg>
      </pc:sldChg>
      <pc:sldChg chg="modSp add mod">
        <pc:chgData name="林俊杰" userId="dcfdc803-95d8-409b-8404-351632be86e2" providerId="ADAL" clId="{5763F0A0-8751-4EF8-8ED5-D4E6209E4975}" dt="2024-12-17T15:25:39.669" v="1737"/>
        <pc:sldMkLst>
          <pc:docMk/>
          <pc:sldMk cId="889618089" sldId="361"/>
        </pc:sldMkLst>
        <pc:spChg chg="mod">
          <ac:chgData name="林俊杰" userId="dcfdc803-95d8-409b-8404-351632be86e2" providerId="ADAL" clId="{5763F0A0-8751-4EF8-8ED5-D4E6209E4975}" dt="2024-12-17T15:25:39.669" v="1737"/>
          <ac:spMkLst>
            <pc:docMk/>
            <pc:sldMk cId="889618089" sldId="361"/>
            <ac:spMk id="2" creationId="{9F16089C-1207-196F-EAA8-50E9072A80D8}"/>
          </ac:spMkLst>
        </pc:spChg>
      </pc:sldChg>
      <pc:sldChg chg="add">
        <pc:chgData name="林俊杰" userId="dcfdc803-95d8-409b-8404-351632be86e2" providerId="ADAL" clId="{5763F0A0-8751-4EF8-8ED5-D4E6209E4975}" dt="2024-12-17T09:52:39.857" v="1272"/>
        <pc:sldMkLst>
          <pc:docMk/>
          <pc:sldMk cId="2183128281" sldId="437"/>
        </pc:sldMkLst>
      </pc:sldChg>
      <pc:sldChg chg="add">
        <pc:chgData name="林俊杰" userId="dcfdc803-95d8-409b-8404-351632be86e2" providerId="ADAL" clId="{5763F0A0-8751-4EF8-8ED5-D4E6209E4975}" dt="2024-12-17T09:52:39.857" v="1272"/>
        <pc:sldMkLst>
          <pc:docMk/>
          <pc:sldMk cId="2483244039" sldId="438"/>
        </pc:sldMkLst>
      </pc:sldChg>
      <pc:sldChg chg="add">
        <pc:chgData name="林俊杰" userId="dcfdc803-95d8-409b-8404-351632be86e2" providerId="ADAL" clId="{5763F0A0-8751-4EF8-8ED5-D4E6209E4975}" dt="2024-12-17T09:52:39.857" v="1272"/>
        <pc:sldMkLst>
          <pc:docMk/>
          <pc:sldMk cId="2032582637" sldId="439"/>
        </pc:sldMkLst>
      </pc:sldChg>
      <pc:sldChg chg="add">
        <pc:chgData name="林俊杰" userId="dcfdc803-95d8-409b-8404-351632be86e2" providerId="ADAL" clId="{5763F0A0-8751-4EF8-8ED5-D4E6209E4975}" dt="2024-12-17T09:52:39.857" v="1272"/>
        <pc:sldMkLst>
          <pc:docMk/>
          <pc:sldMk cId="2446260064" sldId="440"/>
        </pc:sldMkLst>
      </pc:sldChg>
      <pc:sldChg chg="modSp add mod">
        <pc:chgData name="林俊杰" userId="dcfdc803-95d8-409b-8404-351632be86e2" providerId="ADAL" clId="{5763F0A0-8751-4EF8-8ED5-D4E6209E4975}" dt="2024-12-17T12:39:25.313" v="1284"/>
        <pc:sldMkLst>
          <pc:docMk/>
          <pc:sldMk cId="3772706671" sldId="441"/>
        </pc:sldMkLst>
        <pc:spChg chg="mod">
          <ac:chgData name="林俊杰" userId="dcfdc803-95d8-409b-8404-351632be86e2" providerId="ADAL" clId="{5763F0A0-8751-4EF8-8ED5-D4E6209E4975}" dt="2024-12-17T12:39:25.313" v="1284"/>
          <ac:spMkLst>
            <pc:docMk/>
            <pc:sldMk cId="3772706671" sldId="441"/>
            <ac:spMk id="5" creationId="{6ADB1BA6-13E1-EF22-27A5-9758CC6A9E2A}"/>
          </ac:spMkLst>
        </pc:spChg>
      </pc:sldChg>
      <pc:sldChg chg="addSp delSp modSp add mod chgLayout">
        <pc:chgData name="林俊杰" userId="dcfdc803-95d8-409b-8404-351632be86e2" providerId="ADAL" clId="{5763F0A0-8751-4EF8-8ED5-D4E6209E4975}" dt="2024-12-17T13:04:36.610" v="1385" actId="6264"/>
        <pc:sldMkLst>
          <pc:docMk/>
          <pc:sldMk cId="3054391144" sldId="443"/>
        </pc:sldMkLst>
        <pc:spChg chg="mod ord">
          <ac:chgData name="林俊杰" userId="dcfdc803-95d8-409b-8404-351632be86e2" providerId="ADAL" clId="{5763F0A0-8751-4EF8-8ED5-D4E6209E4975}" dt="2024-12-17T13:04:36.610" v="1385" actId="6264"/>
          <ac:spMkLst>
            <pc:docMk/>
            <pc:sldMk cId="3054391144" sldId="443"/>
            <ac:spMk id="2" creationId="{3E1A5D61-C392-7DF5-4C27-3C0696D38C4A}"/>
          </ac:spMkLst>
        </pc:spChg>
        <pc:spChg chg="mod ord">
          <ac:chgData name="林俊杰" userId="dcfdc803-95d8-409b-8404-351632be86e2" providerId="ADAL" clId="{5763F0A0-8751-4EF8-8ED5-D4E6209E4975}" dt="2024-12-17T13:04:36.610" v="1385" actId="6264"/>
          <ac:spMkLst>
            <pc:docMk/>
            <pc:sldMk cId="3054391144" sldId="443"/>
            <ac:spMk id="3" creationId="{DA2ED64C-DA8A-A955-78AE-01C19BA59A3A}"/>
          </ac:spMkLst>
        </pc:spChg>
        <pc:spChg chg="add del mod">
          <ac:chgData name="林俊杰" userId="dcfdc803-95d8-409b-8404-351632be86e2" providerId="ADAL" clId="{5763F0A0-8751-4EF8-8ED5-D4E6209E4975}" dt="2024-12-17T13:04:36.610" v="1385" actId="6264"/>
          <ac:spMkLst>
            <pc:docMk/>
            <pc:sldMk cId="3054391144" sldId="443"/>
            <ac:spMk id="4" creationId="{4E9DC6DC-C3C4-4943-963A-07076BC6CA9D}"/>
          </ac:spMkLst>
        </pc:spChg>
        <pc:spChg chg="add del mod">
          <ac:chgData name="林俊杰" userId="dcfdc803-95d8-409b-8404-351632be86e2" providerId="ADAL" clId="{5763F0A0-8751-4EF8-8ED5-D4E6209E4975}" dt="2024-12-17T13:04:36.610" v="1385" actId="6264"/>
          <ac:spMkLst>
            <pc:docMk/>
            <pc:sldMk cId="3054391144" sldId="443"/>
            <ac:spMk id="5" creationId="{064D91C4-973A-47E8-A66C-C14433853BAA}"/>
          </ac:spMkLst>
        </pc:spChg>
      </pc:sldChg>
      <pc:sldChg chg="addSp delSp modSp add mod chgLayout">
        <pc:chgData name="林俊杰" userId="dcfdc803-95d8-409b-8404-351632be86e2" providerId="ADAL" clId="{5763F0A0-8751-4EF8-8ED5-D4E6209E4975}" dt="2024-12-17T13:04:47.093" v="1388" actId="14100"/>
        <pc:sldMkLst>
          <pc:docMk/>
          <pc:sldMk cId="1273531494" sldId="448"/>
        </pc:sldMkLst>
        <pc:spChg chg="mod ord">
          <ac:chgData name="林俊杰" userId="dcfdc803-95d8-409b-8404-351632be86e2" providerId="ADAL" clId="{5763F0A0-8751-4EF8-8ED5-D4E6209E4975}" dt="2024-12-17T13:04:40.179" v="1386" actId="6264"/>
          <ac:spMkLst>
            <pc:docMk/>
            <pc:sldMk cId="1273531494" sldId="448"/>
            <ac:spMk id="2" creationId="{935C4F71-8F83-71EF-6636-9BF82CDFE64E}"/>
          </ac:spMkLst>
        </pc:spChg>
        <pc:spChg chg="add del mod">
          <ac:chgData name="林俊杰" userId="dcfdc803-95d8-409b-8404-351632be86e2" providerId="ADAL" clId="{5763F0A0-8751-4EF8-8ED5-D4E6209E4975}" dt="2024-12-17T13:04:40.179" v="1386" actId="6264"/>
          <ac:spMkLst>
            <pc:docMk/>
            <pc:sldMk cId="1273531494" sldId="448"/>
            <ac:spMk id="3" creationId="{BAFE7CF9-D656-4D57-8D62-7117BEA4647C}"/>
          </ac:spMkLst>
        </pc:spChg>
        <pc:spChg chg="add del mod ord">
          <ac:chgData name="林俊杰" userId="dcfdc803-95d8-409b-8404-351632be86e2" providerId="ADAL" clId="{5763F0A0-8751-4EF8-8ED5-D4E6209E4975}" dt="2024-12-17T13:04:43.393" v="1387" actId="478"/>
          <ac:spMkLst>
            <pc:docMk/>
            <pc:sldMk cId="1273531494" sldId="448"/>
            <ac:spMk id="5" creationId="{D60AA33E-B024-4B5D-8FE6-76DAC1BC6F93}"/>
          </ac:spMkLst>
        </pc:spChg>
        <pc:picChg chg="mod">
          <ac:chgData name="林俊杰" userId="dcfdc803-95d8-409b-8404-351632be86e2" providerId="ADAL" clId="{5763F0A0-8751-4EF8-8ED5-D4E6209E4975}" dt="2024-12-17T13:04:47.093" v="1388" actId="14100"/>
          <ac:picMkLst>
            <pc:docMk/>
            <pc:sldMk cId="1273531494" sldId="448"/>
            <ac:picMk id="4" creationId="{2D35264D-321B-9F38-C5F7-63584293725E}"/>
          </ac:picMkLst>
        </pc:picChg>
      </pc:sldChg>
      <pc:sldChg chg="addSp delSp modSp add mod chgLayout">
        <pc:chgData name="林俊杰" userId="dcfdc803-95d8-409b-8404-351632be86e2" providerId="ADAL" clId="{5763F0A0-8751-4EF8-8ED5-D4E6209E4975}" dt="2024-12-17T13:04:55.537" v="1390" actId="14100"/>
        <pc:sldMkLst>
          <pc:docMk/>
          <pc:sldMk cId="1649178524" sldId="449"/>
        </pc:sldMkLst>
        <pc:spChg chg="mod ord">
          <ac:chgData name="林俊杰" userId="dcfdc803-95d8-409b-8404-351632be86e2" providerId="ADAL" clId="{5763F0A0-8751-4EF8-8ED5-D4E6209E4975}" dt="2024-12-17T13:04:50.851" v="1389" actId="6264"/>
          <ac:spMkLst>
            <pc:docMk/>
            <pc:sldMk cId="1649178524" sldId="449"/>
            <ac:spMk id="2" creationId="{3C0BB73A-9805-37C2-A415-5D939125FDE8}"/>
          </ac:spMkLst>
        </pc:spChg>
        <pc:spChg chg="mod ord">
          <ac:chgData name="林俊杰" userId="dcfdc803-95d8-409b-8404-351632be86e2" providerId="ADAL" clId="{5763F0A0-8751-4EF8-8ED5-D4E6209E4975}" dt="2024-12-17T13:04:50.851" v="1389" actId="6264"/>
          <ac:spMkLst>
            <pc:docMk/>
            <pc:sldMk cId="1649178524" sldId="449"/>
            <ac:spMk id="3" creationId="{4B116F7E-1458-9D4E-9A62-BF8DC80BD938}"/>
          </ac:spMkLst>
        </pc:spChg>
        <pc:spChg chg="add del mod">
          <ac:chgData name="林俊杰" userId="dcfdc803-95d8-409b-8404-351632be86e2" providerId="ADAL" clId="{5763F0A0-8751-4EF8-8ED5-D4E6209E4975}" dt="2024-12-17T13:04:50.851" v="1389" actId="6264"/>
          <ac:spMkLst>
            <pc:docMk/>
            <pc:sldMk cId="1649178524" sldId="449"/>
            <ac:spMk id="4" creationId="{A5E66A4B-A0E8-4CA0-A2E9-1D5A1308CD88}"/>
          </ac:spMkLst>
        </pc:spChg>
        <pc:spChg chg="add del mod">
          <ac:chgData name="林俊杰" userId="dcfdc803-95d8-409b-8404-351632be86e2" providerId="ADAL" clId="{5763F0A0-8751-4EF8-8ED5-D4E6209E4975}" dt="2024-12-17T13:04:50.851" v="1389" actId="6264"/>
          <ac:spMkLst>
            <pc:docMk/>
            <pc:sldMk cId="1649178524" sldId="449"/>
            <ac:spMk id="6" creationId="{2354A9E3-9B75-4AA7-A494-236D5DF2B8EC}"/>
          </ac:spMkLst>
        </pc:spChg>
        <pc:picChg chg="mod">
          <ac:chgData name="林俊杰" userId="dcfdc803-95d8-409b-8404-351632be86e2" providerId="ADAL" clId="{5763F0A0-8751-4EF8-8ED5-D4E6209E4975}" dt="2024-12-17T13:04:55.537" v="1390" actId="14100"/>
          <ac:picMkLst>
            <pc:docMk/>
            <pc:sldMk cId="1649178524" sldId="449"/>
            <ac:picMk id="2052" creationId="{F7927F0D-15D5-42C8-9EB3-1A5957252ED3}"/>
          </ac:picMkLst>
        </pc:picChg>
      </pc:sldChg>
      <pc:sldChg chg="addSp delSp modSp add mod chgLayout">
        <pc:chgData name="林俊杰" userId="dcfdc803-95d8-409b-8404-351632be86e2" providerId="ADAL" clId="{5763F0A0-8751-4EF8-8ED5-D4E6209E4975}" dt="2024-12-17T13:05:12.113" v="1393" actId="14100"/>
        <pc:sldMkLst>
          <pc:docMk/>
          <pc:sldMk cId="2782090852" sldId="450"/>
        </pc:sldMkLst>
        <pc:spChg chg="mod ord">
          <ac:chgData name="林俊杰" userId="dcfdc803-95d8-409b-8404-351632be86e2" providerId="ADAL" clId="{5763F0A0-8751-4EF8-8ED5-D4E6209E4975}" dt="2024-12-17T13:05:07.218" v="1392" actId="6264"/>
          <ac:spMkLst>
            <pc:docMk/>
            <pc:sldMk cId="2782090852" sldId="450"/>
            <ac:spMk id="2" creationId="{CC474D7C-ACE2-881E-2074-2AE792A620B1}"/>
          </ac:spMkLst>
        </pc:spChg>
        <pc:spChg chg="mod ord">
          <ac:chgData name="林俊杰" userId="dcfdc803-95d8-409b-8404-351632be86e2" providerId="ADAL" clId="{5763F0A0-8751-4EF8-8ED5-D4E6209E4975}" dt="2024-12-17T13:05:07.218" v="1392" actId="6264"/>
          <ac:spMkLst>
            <pc:docMk/>
            <pc:sldMk cId="2782090852" sldId="450"/>
            <ac:spMk id="3" creationId="{96B62C32-78D9-580A-4600-5F272DE31E29}"/>
          </ac:spMkLst>
        </pc:spChg>
        <pc:spChg chg="add del mod">
          <ac:chgData name="林俊杰" userId="dcfdc803-95d8-409b-8404-351632be86e2" providerId="ADAL" clId="{5763F0A0-8751-4EF8-8ED5-D4E6209E4975}" dt="2024-12-17T13:05:07.218" v="1392" actId="6264"/>
          <ac:spMkLst>
            <pc:docMk/>
            <pc:sldMk cId="2782090852" sldId="450"/>
            <ac:spMk id="5" creationId="{D2514615-800D-439D-8CFE-6637A5340BBE}"/>
          </ac:spMkLst>
        </pc:spChg>
        <pc:spChg chg="add del mod">
          <ac:chgData name="林俊杰" userId="dcfdc803-95d8-409b-8404-351632be86e2" providerId="ADAL" clId="{5763F0A0-8751-4EF8-8ED5-D4E6209E4975}" dt="2024-12-17T13:05:07.218" v="1392" actId="6264"/>
          <ac:spMkLst>
            <pc:docMk/>
            <pc:sldMk cId="2782090852" sldId="450"/>
            <ac:spMk id="6" creationId="{6FD3EB72-7C2F-42EA-8D22-25FE0E35E855}"/>
          </ac:spMkLst>
        </pc:spChg>
        <pc:picChg chg="mod">
          <ac:chgData name="林俊杰" userId="dcfdc803-95d8-409b-8404-351632be86e2" providerId="ADAL" clId="{5763F0A0-8751-4EF8-8ED5-D4E6209E4975}" dt="2024-12-17T13:05:12.113" v="1393" actId="14100"/>
          <ac:picMkLst>
            <pc:docMk/>
            <pc:sldMk cId="2782090852" sldId="450"/>
            <ac:picMk id="4" creationId="{2B1196E0-6E08-7715-F123-7E408963D90A}"/>
          </ac:picMkLst>
        </pc:picChg>
      </pc:sldChg>
      <pc:sldChg chg="add">
        <pc:chgData name="林俊杰" userId="dcfdc803-95d8-409b-8404-351632be86e2" providerId="ADAL" clId="{5763F0A0-8751-4EF8-8ED5-D4E6209E4975}" dt="2024-12-17T09:52:39.857" v="1272"/>
        <pc:sldMkLst>
          <pc:docMk/>
          <pc:sldMk cId="2383368616" sldId="451"/>
        </pc:sldMkLst>
      </pc:sldChg>
      <pc:sldChg chg="add">
        <pc:chgData name="林俊杰" userId="dcfdc803-95d8-409b-8404-351632be86e2" providerId="ADAL" clId="{5763F0A0-8751-4EF8-8ED5-D4E6209E4975}" dt="2024-12-17T09:52:39.857" v="1272"/>
        <pc:sldMkLst>
          <pc:docMk/>
          <pc:sldMk cId="845151510" sldId="452"/>
        </pc:sldMkLst>
      </pc:sldChg>
      <pc:sldChg chg="add">
        <pc:chgData name="林俊杰" userId="dcfdc803-95d8-409b-8404-351632be86e2" providerId="ADAL" clId="{5763F0A0-8751-4EF8-8ED5-D4E6209E4975}" dt="2024-12-17T09:52:39.857" v="1272"/>
        <pc:sldMkLst>
          <pc:docMk/>
          <pc:sldMk cId="829773542" sldId="453"/>
        </pc:sldMkLst>
      </pc:sldChg>
      <pc:sldChg chg="add">
        <pc:chgData name="林俊杰" userId="dcfdc803-95d8-409b-8404-351632be86e2" providerId="ADAL" clId="{5763F0A0-8751-4EF8-8ED5-D4E6209E4975}" dt="2024-12-17T09:52:39.857" v="1272"/>
        <pc:sldMkLst>
          <pc:docMk/>
          <pc:sldMk cId="2073331249" sldId="454"/>
        </pc:sldMkLst>
      </pc:sldChg>
      <pc:sldChg chg="add">
        <pc:chgData name="林俊杰" userId="dcfdc803-95d8-409b-8404-351632be86e2" providerId="ADAL" clId="{5763F0A0-8751-4EF8-8ED5-D4E6209E4975}" dt="2024-12-17T09:52:39.857" v="1272"/>
        <pc:sldMkLst>
          <pc:docMk/>
          <pc:sldMk cId="1763803561" sldId="455"/>
        </pc:sldMkLst>
      </pc:sldChg>
      <pc:sldChg chg="modSp add del mod">
        <pc:chgData name="林俊杰" userId="dcfdc803-95d8-409b-8404-351632be86e2" providerId="ADAL" clId="{5763F0A0-8751-4EF8-8ED5-D4E6209E4975}" dt="2024-12-17T14:51:32.727" v="1579" actId="47"/>
        <pc:sldMkLst>
          <pc:docMk/>
          <pc:sldMk cId="1226469364" sldId="456"/>
        </pc:sldMkLst>
        <pc:spChg chg="mod">
          <ac:chgData name="林俊杰" userId="dcfdc803-95d8-409b-8404-351632be86e2" providerId="ADAL" clId="{5763F0A0-8751-4EF8-8ED5-D4E6209E4975}" dt="2024-12-17T14:50:30.230" v="1517" actId="21"/>
          <ac:spMkLst>
            <pc:docMk/>
            <pc:sldMk cId="1226469364" sldId="456"/>
            <ac:spMk id="3" creationId="{70CDE1CE-1ADB-1182-73F2-A550576D8684}"/>
          </ac:spMkLst>
        </pc:spChg>
      </pc:sldChg>
      <pc:sldChg chg="modSp add mod">
        <pc:chgData name="林俊杰" userId="dcfdc803-95d8-409b-8404-351632be86e2" providerId="ADAL" clId="{5763F0A0-8751-4EF8-8ED5-D4E6209E4975}" dt="2024-12-17T09:52:40.106" v="1277" actId="27636"/>
        <pc:sldMkLst>
          <pc:docMk/>
          <pc:sldMk cId="2737506978" sldId="457"/>
        </pc:sldMkLst>
        <pc:spChg chg="mod">
          <ac:chgData name="林俊杰" userId="dcfdc803-95d8-409b-8404-351632be86e2" providerId="ADAL" clId="{5763F0A0-8751-4EF8-8ED5-D4E6209E4975}" dt="2024-12-17T09:52:40.106" v="1277" actId="27636"/>
          <ac:spMkLst>
            <pc:docMk/>
            <pc:sldMk cId="2737506978" sldId="457"/>
            <ac:spMk id="3" creationId="{3412C23C-A521-7A9B-57C2-576D9656D7E4}"/>
          </ac:spMkLst>
        </pc:spChg>
      </pc:sldChg>
      <pc:sldChg chg="addSp delSp modSp add mod chgLayout">
        <pc:chgData name="林俊杰" userId="dcfdc803-95d8-409b-8404-351632be86e2" providerId="ADAL" clId="{5763F0A0-8751-4EF8-8ED5-D4E6209E4975}" dt="2024-12-17T14:51:30.180" v="1578" actId="20577"/>
        <pc:sldMkLst>
          <pc:docMk/>
          <pc:sldMk cId="218505753" sldId="458"/>
        </pc:sldMkLst>
        <pc:spChg chg="mod ord">
          <ac:chgData name="林俊杰" userId="dcfdc803-95d8-409b-8404-351632be86e2" providerId="ADAL" clId="{5763F0A0-8751-4EF8-8ED5-D4E6209E4975}" dt="2024-12-17T13:05:25.187" v="1394" actId="6264"/>
          <ac:spMkLst>
            <pc:docMk/>
            <pc:sldMk cId="218505753" sldId="458"/>
            <ac:spMk id="2" creationId="{4C14DC5B-1D10-997F-7179-C77A8ACDF3A9}"/>
          </ac:spMkLst>
        </pc:spChg>
        <pc:spChg chg="mod ord">
          <ac:chgData name="林俊杰" userId="dcfdc803-95d8-409b-8404-351632be86e2" providerId="ADAL" clId="{5763F0A0-8751-4EF8-8ED5-D4E6209E4975}" dt="2024-12-17T14:51:30.180" v="1578" actId="20577"/>
          <ac:spMkLst>
            <pc:docMk/>
            <pc:sldMk cId="218505753" sldId="458"/>
            <ac:spMk id="3" creationId="{A7194428-CBE7-23FA-EC53-1DB72E051167}"/>
          </ac:spMkLst>
        </pc:spChg>
        <pc:spChg chg="add del mod">
          <ac:chgData name="林俊杰" userId="dcfdc803-95d8-409b-8404-351632be86e2" providerId="ADAL" clId="{5763F0A0-8751-4EF8-8ED5-D4E6209E4975}" dt="2024-12-17T13:05:25.187" v="1394" actId="6264"/>
          <ac:spMkLst>
            <pc:docMk/>
            <pc:sldMk cId="218505753" sldId="458"/>
            <ac:spMk id="4" creationId="{511A3559-842F-48C1-8DEB-BE31A31CC7F9}"/>
          </ac:spMkLst>
        </pc:spChg>
        <pc:spChg chg="add del mod">
          <ac:chgData name="林俊杰" userId="dcfdc803-95d8-409b-8404-351632be86e2" providerId="ADAL" clId="{5763F0A0-8751-4EF8-8ED5-D4E6209E4975}" dt="2024-12-17T13:05:25.187" v="1394" actId="6264"/>
          <ac:spMkLst>
            <pc:docMk/>
            <pc:sldMk cId="218505753" sldId="458"/>
            <ac:spMk id="5" creationId="{F0300A14-2BE0-41AC-A643-F7BEF090CD3B}"/>
          </ac:spMkLst>
        </pc:spChg>
        <pc:spChg chg="add del mod">
          <ac:chgData name="林俊杰" userId="dcfdc803-95d8-409b-8404-351632be86e2" providerId="ADAL" clId="{5763F0A0-8751-4EF8-8ED5-D4E6209E4975}" dt="2024-12-17T14:51:21.490" v="1572" actId="478"/>
          <ac:spMkLst>
            <pc:docMk/>
            <pc:sldMk cId="218505753" sldId="458"/>
            <ac:spMk id="8" creationId="{9918491F-0F9A-4579-A876-9255E1DA7F9C}"/>
          </ac:spMkLst>
        </pc:spChg>
        <pc:picChg chg="mod">
          <ac:chgData name="林俊杰" userId="dcfdc803-95d8-409b-8404-351632be86e2" providerId="ADAL" clId="{5763F0A0-8751-4EF8-8ED5-D4E6209E4975}" dt="2024-12-17T14:51:10.054" v="1567" actId="1076"/>
          <ac:picMkLst>
            <pc:docMk/>
            <pc:sldMk cId="218505753" sldId="458"/>
            <ac:picMk id="1026" creationId="{983AB27A-A71F-A71E-86C0-D45F4EFB8531}"/>
          </ac:picMkLst>
        </pc:picChg>
      </pc:sldChg>
      <pc:sldChg chg="add">
        <pc:chgData name="林俊杰" userId="dcfdc803-95d8-409b-8404-351632be86e2" providerId="ADAL" clId="{5763F0A0-8751-4EF8-8ED5-D4E6209E4975}" dt="2024-12-17T09:52:39.857" v="1272"/>
        <pc:sldMkLst>
          <pc:docMk/>
          <pc:sldMk cId="89200710" sldId="459"/>
        </pc:sldMkLst>
      </pc:sldChg>
      <pc:sldChg chg="modSp add mod modShow">
        <pc:chgData name="林俊杰" userId="dcfdc803-95d8-409b-8404-351632be86e2" providerId="ADAL" clId="{5763F0A0-8751-4EF8-8ED5-D4E6209E4975}" dt="2024-12-17T14:52:20.420" v="1582" actId="729"/>
        <pc:sldMkLst>
          <pc:docMk/>
          <pc:sldMk cId="99504842" sldId="460"/>
        </pc:sldMkLst>
        <pc:spChg chg="mod">
          <ac:chgData name="林俊杰" userId="dcfdc803-95d8-409b-8404-351632be86e2" providerId="ADAL" clId="{5763F0A0-8751-4EF8-8ED5-D4E6209E4975}" dt="2024-12-17T14:52:14.784" v="1581" actId="1076"/>
          <ac:spMkLst>
            <pc:docMk/>
            <pc:sldMk cId="99504842" sldId="460"/>
            <ac:spMk id="5" creationId="{DE269994-8E6B-45E6-82C2-5CB22087E079}"/>
          </ac:spMkLst>
        </pc:spChg>
        <pc:graphicFrameChg chg="mod">
          <ac:chgData name="林俊杰" userId="dcfdc803-95d8-409b-8404-351632be86e2" providerId="ADAL" clId="{5763F0A0-8751-4EF8-8ED5-D4E6209E4975}" dt="2024-12-17T14:52:09.980" v="1580" actId="1076"/>
          <ac:graphicFrameMkLst>
            <pc:docMk/>
            <pc:sldMk cId="99504842" sldId="460"/>
            <ac:graphicFrameMk id="4" creationId="{E361A370-5D15-46B1-BA5B-B5C09E64449F}"/>
          </ac:graphicFrameMkLst>
        </pc:graphicFrameChg>
      </pc:sldChg>
      <pc:sldChg chg="add">
        <pc:chgData name="林俊杰" userId="dcfdc803-95d8-409b-8404-351632be86e2" providerId="ADAL" clId="{5763F0A0-8751-4EF8-8ED5-D4E6209E4975}" dt="2024-12-17T09:52:39.857" v="1272"/>
        <pc:sldMkLst>
          <pc:docMk/>
          <pc:sldMk cId="467395534" sldId="461"/>
        </pc:sldMkLst>
      </pc:sldChg>
      <pc:sldChg chg="add del">
        <pc:chgData name="林俊杰" userId="dcfdc803-95d8-409b-8404-351632be86e2" providerId="ADAL" clId="{5763F0A0-8751-4EF8-8ED5-D4E6209E4975}" dt="2024-12-17T13:04:18.555" v="1384" actId="47"/>
        <pc:sldMkLst>
          <pc:docMk/>
          <pc:sldMk cId="3932032857" sldId="462"/>
        </pc:sldMkLst>
      </pc:sldChg>
      <pc:sldChg chg="addSp delSp modSp add mod chgLayout">
        <pc:chgData name="林俊杰" userId="dcfdc803-95d8-409b-8404-351632be86e2" providerId="ADAL" clId="{5763F0A0-8751-4EF8-8ED5-D4E6209E4975}" dt="2024-12-17T14:56:06.524" v="1622" actId="14100"/>
        <pc:sldMkLst>
          <pc:docMk/>
          <pc:sldMk cId="2549412984" sldId="463"/>
        </pc:sldMkLst>
        <pc:spChg chg="mod ord">
          <ac:chgData name="林俊杰" userId="dcfdc803-95d8-409b-8404-351632be86e2" providerId="ADAL" clId="{5763F0A0-8751-4EF8-8ED5-D4E6209E4975}" dt="2024-12-17T14:55:57.140" v="1618" actId="6264"/>
          <ac:spMkLst>
            <pc:docMk/>
            <pc:sldMk cId="2549412984" sldId="463"/>
            <ac:spMk id="2" creationId="{B0CB3F56-5E51-47BB-88E1-D9D6EBE14292}"/>
          </ac:spMkLst>
        </pc:spChg>
        <pc:spChg chg="mod ord">
          <ac:chgData name="林俊杰" userId="dcfdc803-95d8-409b-8404-351632be86e2" providerId="ADAL" clId="{5763F0A0-8751-4EF8-8ED5-D4E6209E4975}" dt="2024-12-17T14:56:06.524" v="1622" actId="14100"/>
          <ac:spMkLst>
            <pc:docMk/>
            <pc:sldMk cId="2549412984" sldId="463"/>
            <ac:spMk id="3" creationId="{E309CF9D-C5D9-4DA4-8705-FD1CBE44078C}"/>
          </ac:spMkLst>
        </pc:spChg>
        <pc:spChg chg="add del mod">
          <ac:chgData name="林俊杰" userId="dcfdc803-95d8-409b-8404-351632be86e2" providerId="ADAL" clId="{5763F0A0-8751-4EF8-8ED5-D4E6209E4975}" dt="2024-12-17T14:55:57.140" v="1618" actId="6264"/>
          <ac:spMkLst>
            <pc:docMk/>
            <pc:sldMk cId="2549412984" sldId="463"/>
            <ac:spMk id="4" creationId="{4148E7C6-8E91-44F1-9F8D-6DBBD0129068}"/>
          </ac:spMkLst>
        </pc:spChg>
        <pc:spChg chg="add del mod">
          <ac:chgData name="林俊杰" userId="dcfdc803-95d8-409b-8404-351632be86e2" providerId="ADAL" clId="{5763F0A0-8751-4EF8-8ED5-D4E6209E4975}" dt="2024-12-17T14:55:57.140" v="1618" actId="6264"/>
          <ac:spMkLst>
            <pc:docMk/>
            <pc:sldMk cId="2549412984" sldId="463"/>
            <ac:spMk id="5" creationId="{46D21837-9B52-4339-BDAE-0BA1C7220B9E}"/>
          </ac:spMkLst>
        </pc:spChg>
      </pc:sldChg>
      <pc:sldChg chg="addSp delSp modSp add mod chgLayout">
        <pc:chgData name="林俊杰" userId="dcfdc803-95d8-409b-8404-351632be86e2" providerId="ADAL" clId="{5763F0A0-8751-4EF8-8ED5-D4E6209E4975}" dt="2024-12-17T14:55:54.082" v="1617" actId="6264"/>
        <pc:sldMkLst>
          <pc:docMk/>
          <pc:sldMk cId="2368337731" sldId="464"/>
        </pc:sldMkLst>
        <pc:spChg chg="mod ord">
          <ac:chgData name="林俊杰" userId="dcfdc803-95d8-409b-8404-351632be86e2" providerId="ADAL" clId="{5763F0A0-8751-4EF8-8ED5-D4E6209E4975}" dt="2024-12-17T14:55:54.082" v="1617" actId="6264"/>
          <ac:spMkLst>
            <pc:docMk/>
            <pc:sldMk cId="2368337731" sldId="464"/>
            <ac:spMk id="2" creationId="{1BC64FCB-FF23-C573-9187-A8D261EB03D5}"/>
          </ac:spMkLst>
        </pc:spChg>
        <pc:spChg chg="mod ord">
          <ac:chgData name="林俊杰" userId="dcfdc803-95d8-409b-8404-351632be86e2" providerId="ADAL" clId="{5763F0A0-8751-4EF8-8ED5-D4E6209E4975}" dt="2024-12-17T14:55:54.082" v="1617" actId="6264"/>
          <ac:spMkLst>
            <pc:docMk/>
            <pc:sldMk cId="2368337731" sldId="464"/>
            <ac:spMk id="3" creationId="{5E8E4982-CF2A-4FBD-C03F-1B835B971139}"/>
          </ac:spMkLst>
        </pc:spChg>
        <pc:spChg chg="add del mod">
          <ac:chgData name="林俊杰" userId="dcfdc803-95d8-409b-8404-351632be86e2" providerId="ADAL" clId="{5763F0A0-8751-4EF8-8ED5-D4E6209E4975}" dt="2024-12-17T14:55:52.178" v="1616" actId="6264"/>
          <ac:spMkLst>
            <pc:docMk/>
            <pc:sldMk cId="2368337731" sldId="464"/>
            <ac:spMk id="5" creationId="{FE6A5858-35D8-474B-AD1C-4B4C3BC822A1}"/>
          </ac:spMkLst>
        </pc:spChg>
        <pc:spChg chg="add del mod">
          <ac:chgData name="林俊杰" userId="dcfdc803-95d8-409b-8404-351632be86e2" providerId="ADAL" clId="{5763F0A0-8751-4EF8-8ED5-D4E6209E4975}" dt="2024-12-17T14:55:52.178" v="1616" actId="6264"/>
          <ac:spMkLst>
            <pc:docMk/>
            <pc:sldMk cId="2368337731" sldId="464"/>
            <ac:spMk id="6" creationId="{7FDA1DE1-01C0-40D0-92EB-1637C0FAF9FB}"/>
          </ac:spMkLst>
        </pc:spChg>
        <pc:spChg chg="add del mod">
          <ac:chgData name="林俊杰" userId="dcfdc803-95d8-409b-8404-351632be86e2" providerId="ADAL" clId="{5763F0A0-8751-4EF8-8ED5-D4E6209E4975}" dt="2024-12-17T14:55:54.082" v="1617" actId="6264"/>
          <ac:spMkLst>
            <pc:docMk/>
            <pc:sldMk cId="2368337731" sldId="464"/>
            <ac:spMk id="7" creationId="{60205764-202B-4D87-BFDE-BD9F23F95033}"/>
          </ac:spMkLst>
        </pc:spChg>
        <pc:spChg chg="add del mod">
          <ac:chgData name="林俊杰" userId="dcfdc803-95d8-409b-8404-351632be86e2" providerId="ADAL" clId="{5763F0A0-8751-4EF8-8ED5-D4E6209E4975}" dt="2024-12-17T14:55:54.082" v="1617" actId="6264"/>
          <ac:spMkLst>
            <pc:docMk/>
            <pc:sldMk cId="2368337731" sldId="464"/>
            <ac:spMk id="8" creationId="{D63A8131-7CEF-4499-8EA8-A352D7167F28}"/>
          </ac:spMkLst>
        </pc:spChg>
      </pc:sldChg>
      <pc:sldChg chg="addSp delSp modSp add mod chgLayout">
        <pc:chgData name="林俊杰" userId="dcfdc803-95d8-409b-8404-351632be86e2" providerId="ADAL" clId="{5763F0A0-8751-4EF8-8ED5-D4E6209E4975}" dt="2024-12-17T14:56:45.141" v="1632" actId="1076"/>
        <pc:sldMkLst>
          <pc:docMk/>
          <pc:sldMk cId="1309117610" sldId="465"/>
        </pc:sldMkLst>
        <pc:spChg chg="mod ord">
          <ac:chgData name="林俊杰" userId="dcfdc803-95d8-409b-8404-351632be86e2" providerId="ADAL" clId="{5763F0A0-8751-4EF8-8ED5-D4E6209E4975}" dt="2024-12-17T14:56:25.426" v="1626" actId="20577"/>
          <ac:spMkLst>
            <pc:docMk/>
            <pc:sldMk cId="1309117610" sldId="465"/>
            <ac:spMk id="2" creationId="{9B3113D4-F637-49EF-A7D8-FAA4741C0231}"/>
          </ac:spMkLst>
        </pc:spChg>
        <pc:spChg chg="add del mod">
          <ac:chgData name="林俊杰" userId="dcfdc803-95d8-409b-8404-351632be86e2" providerId="ADAL" clId="{5763F0A0-8751-4EF8-8ED5-D4E6209E4975}" dt="2024-12-17T14:56:20.541" v="1623" actId="6264"/>
          <ac:spMkLst>
            <pc:docMk/>
            <pc:sldMk cId="1309117610" sldId="465"/>
            <ac:spMk id="3" creationId="{EDDEC82E-E52D-45E4-BD94-BB01525DBA34}"/>
          </ac:spMkLst>
        </pc:spChg>
        <pc:spChg chg="add del mod ord">
          <ac:chgData name="林俊杰" userId="dcfdc803-95d8-409b-8404-351632be86e2" providerId="ADAL" clId="{5763F0A0-8751-4EF8-8ED5-D4E6209E4975}" dt="2024-12-17T14:56:33.187" v="1628" actId="478"/>
          <ac:spMkLst>
            <pc:docMk/>
            <pc:sldMk cId="1309117610" sldId="465"/>
            <ac:spMk id="5" creationId="{7FAC5A72-2BF4-4067-969B-57C2CAD85424}"/>
          </ac:spMkLst>
        </pc:spChg>
        <pc:spChg chg="add mod">
          <ac:chgData name="林俊杰" userId="dcfdc803-95d8-409b-8404-351632be86e2" providerId="ADAL" clId="{5763F0A0-8751-4EF8-8ED5-D4E6209E4975}" dt="2024-12-17T14:56:45.141" v="1632" actId="1076"/>
          <ac:spMkLst>
            <pc:docMk/>
            <pc:sldMk cId="1309117610" sldId="465"/>
            <ac:spMk id="23" creationId="{F8422538-0AA2-4CEC-8A90-6341EB108335}"/>
          </ac:spMkLst>
        </pc:spChg>
      </pc:sldChg>
      <pc:sldChg chg="addSp delSp modSp add mod chgLayout">
        <pc:chgData name="林俊杰" userId="dcfdc803-95d8-409b-8404-351632be86e2" providerId="ADAL" clId="{5763F0A0-8751-4EF8-8ED5-D4E6209E4975}" dt="2024-12-17T14:56:50.950" v="1633" actId="6264"/>
        <pc:sldMkLst>
          <pc:docMk/>
          <pc:sldMk cId="207753320" sldId="466"/>
        </pc:sldMkLst>
        <pc:spChg chg="mod ord">
          <ac:chgData name="林俊杰" userId="dcfdc803-95d8-409b-8404-351632be86e2" providerId="ADAL" clId="{5763F0A0-8751-4EF8-8ED5-D4E6209E4975}" dt="2024-12-17T14:56:50.950" v="1633" actId="6264"/>
          <ac:spMkLst>
            <pc:docMk/>
            <pc:sldMk cId="207753320" sldId="466"/>
            <ac:spMk id="2" creationId="{D5B40A1D-C54D-22B0-DDAF-F601C945318D}"/>
          </ac:spMkLst>
        </pc:spChg>
        <pc:spChg chg="mod ord">
          <ac:chgData name="林俊杰" userId="dcfdc803-95d8-409b-8404-351632be86e2" providerId="ADAL" clId="{5763F0A0-8751-4EF8-8ED5-D4E6209E4975}" dt="2024-12-17T14:56:50.950" v="1633" actId="6264"/>
          <ac:spMkLst>
            <pc:docMk/>
            <pc:sldMk cId="207753320" sldId="466"/>
            <ac:spMk id="3" creationId="{65ED46D3-73A2-C279-279C-A2B922069586}"/>
          </ac:spMkLst>
        </pc:spChg>
        <pc:spChg chg="add del mod">
          <ac:chgData name="林俊杰" userId="dcfdc803-95d8-409b-8404-351632be86e2" providerId="ADAL" clId="{5763F0A0-8751-4EF8-8ED5-D4E6209E4975}" dt="2024-12-17T14:56:50.950" v="1633" actId="6264"/>
          <ac:spMkLst>
            <pc:docMk/>
            <pc:sldMk cId="207753320" sldId="466"/>
            <ac:spMk id="4" creationId="{59DC0415-0143-4D67-86DF-57282D1CBF05}"/>
          </ac:spMkLst>
        </pc:spChg>
        <pc:spChg chg="add del mod">
          <ac:chgData name="林俊杰" userId="dcfdc803-95d8-409b-8404-351632be86e2" providerId="ADAL" clId="{5763F0A0-8751-4EF8-8ED5-D4E6209E4975}" dt="2024-12-17T14:56:50.950" v="1633" actId="6264"/>
          <ac:spMkLst>
            <pc:docMk/>
            <pc:sldMk cId="207753320" sldId="466"/>
            <ac:spMk id="5" creationId="{024DF3C5-FC55-45BD-A70C-E06B849FA81A}"/>
          </ac:spMkLst>
        </pc:spChg>
      </pc:sldChg>
      <pc:sldChg chg="add">
        <pc:chgData name="林俊杰" userId="dcfdc803-95d8-409b-8404-351632be86e2" providerId="ADAL" clId="{5763F0A0-8751-4EF8-8ED5-D4E6209E4975}" dt="2024-12-17T09:53:57.079" v="1278"/>
        <pc:sldMkLst>
          <pc:docMk/>
          <pc:sldMk cId="3533887577" sldId="467"/>
        </pc:sldMkLst>
      </pc:sldChg>
      <pc:sldChg chg="add">
        <pc:chgData name="林俊杰" userId="dcfdc803-95d8-409b-8404-351632be86e2" providerId="ADAL" clId="{5763F0A0-8751-4EF8-8ED5-D4E6209E4975}" dt="2024-12-17T09:53:57.079" v="1278"/>
        <pc:sldMkLst>
          <pc:docMk/>
          <pc:sldMk cId="1136920195" sldId="468"/>
        </pc:sldMkLst>
      </pc:sldChg>
      <pc:sldChg chg="add">
        <pc:chgData name="林俊杰" userId="dcfdc803-95d8-409b-8404-351632be86e2" providerId="ADAL" clId="{5763F0A0-8751-4EF8-8ED5-D4E6209E4975}" dt="2024-12-17T09:53:57.079" v="1278"/>
        <pc:sldMkLst>
          <pc:docMk/>
          <pc:sldMk cId="3042689907" sldId="469"/>
        </pc:sldMkLst>
      </pc:sldChg>
      <pc:sldChg chg="modSp add mod">
        <pc:chgData name="林俊杰" userId="dcfdc803-95d8-409b-8404-351632be86e2" providerId="ADAL" clId="{5763F0A0-8751-4EF8-8ED5-D4E6209E4975}" dt="2024-12-17T09:53:57.264" v="1279" actId="27636"/>
        <pc:sldMkLst>
          <pc:docMk/>
          <pc:sldMk cId="38973600" sldId="470"/>
        </pc:sldMkLst>
        <pc:spChg chg="mod">
          <ac:chgData name="林俊杰" userId="dcfdc803-95d8-409b-8404-351632be86e2" providerId="ADAL" clId="{5763F0A0-8751-4EF8-8ED5-D4E6209E4975}" dt="2024-12-17T09:53:57.264" v="1279" actId="27636"/>
          <ac:spMkLst>
            <pc:docMk/>
            <pc:sldMk cId="38973600" sldId="470"/>
            <ac:spMk id="3" creationId="{233E2124-6410-CA13-6140-EEDC1490D130}"/>
          </ac:spMkLst>
        </pc:spChg>
      </pc:sldChg>
      <pc:sldChg chg="add">
        <pc:chgData name="林俊杰" userId="dcfdc803-95d8-409b-8404-351632be86e2" providerId="ADAL" clId="{5763F0A0-8751-4EF8-8ED5-D4E6209E4975}" dt="2024-12-17T09:53:57.079" v="1278"/>
        <pc:sldMkLst>
          <pc:docMk/>
          <pc:sldMk cId="2726367802" sldId="471"/>
        </pc:sldMkLst>
      </pc:sldChg>
      <pc:sldChg chg="add">
        <pc:chgData name="林俊杰" userId="dcfdc803-95d8-409b-8404-351632be86e2" providerId="ADAL" clId="{5763F0A0-8751-4EF8-8ED5-D4E6209E4975}" dt="2024-12-17T09:53:57.079" v="1278"/>
        <pc:sldMkLst>
          <pc:docMk/>
          <pc:sldMk cId="4070115485" sldId="472"/>
        </pc:sldMkLst>
      </pc:sldChg>
      <pc:sldChg chg="add">
        <pc:chgData name="林俊杰" userId="dcfdc803-95d8-409b-8404-351632be86e2" providerId="ADAL" clId="{5763F0A0-8751-4EF8-8ED5-D4E6209E4975}" dt="2024-12-17T09:53:57.079" v="1278"/>
        <pc:sldMkLst>
          <pc:docMk/>
          <pc:sldMk cId="4165987015" sldId="473"/>
        </pc:sldMkLst>
      </pc:sldChg>
      <pc:sldChg chg="add">
        <pc:chgData name="林俊杰" userId="dcfdc803-95d8-409b-8404-351632be86e2" providerId="ADAL" clId="{5763F0A0-8751-4EF8-8ED5-D4E6209E4975}" dt="2024-12-17T09:53:57.079" v="1278"/>
        <pc:sldMkLst>
          <pc:docMk/>
          <pc:sldMk cId="507499070" sldId="474"/>
        </pc:sldMkLst>
      </pc:sldChg>
      <pc:sldChg chg="add">
        <pc:chgData name="林俊杰" userId="dcfdc803-95d8-409b-8404-351632be86e2" providerId="ADAL" clId="{5763F0A0-8751-4EF8-8ED5-D4E6209E4975}" dt="2024-12-17T09:53:57.079" v="1278"/>
        <pc:sldMkLst>
          <pc:docMk/>
          <pc:sldMk cId="20918506" sldId="475"/>
        </pc:sldMkLst>
      </pc:sldChg>
      <pc:sldChg chg="modSp add mod">
        <pc:chgData name="林俊杰" userId="dcfdc803-95d8-409b-8404-351632be86e2" providerId="ADAL" clId="{5763F0A0-8751-4EF8-8ED5-D4E6209E4975}" dt="2024-12-17T15:14:27.233" v="1636" actId="20577"/>
        <pc:sldMkLst>
          <pc:docMk/>
          <pc:sldMk cId="388778228" sldId="476"/>
        </pc:sldMkLst>
        <pc:spChg chg="mod">
          <ac:chgData name="林俊杰" userId="dcfdc803-95d8-409b-8404-351632be86e2" providerId="ADAL" clId="{5763F0A0-8751-4EF8-8ED5-D4E6209E4975}" dt="2024-12-17T15:14:27.233" v="1636" actId="20577"/>
          <ac:spMkLst>
            <pc:docMk/>
            <pc:sldMk cId="388778228" sldId="476"/>
            <ac:spMk id="2" creationId="{C083FA29-B502-FBCD-421B-3B96F02925AA}"/>
          </ac:spMkLst>
        </pc:spChg>
      </pc:sldChg>
      <pc:sldChg chg="addSp modSp add mod">
        <pc:chgData name="林俊杰" userId="dcfdc803-95d8-409b-8404-351632be86e2" providerId="ADAL" clId="{5763F0A0-8751-4EF8-8ED5-D4E6209E4975}" dt="2024-12-17T15:23:54.827" v="1729"/>
        <pc:sldMkLst>
          <pc:docMk/>
          <pc:sldMk cId="1894989892" sldId="477"/>
        </pc:sldMkLst>
        <pc:spChg chg="mod">
          <ac:chgData name="林俊杰" userId="dcfdc803-95d8-409b-8404-351632be86e2" providerId="ADAL" clId="{5763F0A0-8751-4EF8-8ED5-D4E6209E4975}" dt="2024-12-17T15:23:54.827" v="1729"/>
          <ac:spMkLst>
            <pc:docMk/>
            <pc:sldMk cId="1894989892" sldId="477"/>
            <ac:spMk id="2" creationId="{C2BDB744-906B-BA5D-9ED4-AFA67B273906}"/>
          </ac:spMkLst>
        </pc:spChg>
        <pc:spChg chg="mod">
          <ac:chgData name="林俊杰" userId="dcfdc803-95d8-409b-8404-351632be86e2" providerId="ADAL" clId="{5763F0A0-8751-4EF8-8ED5-D4E6209E4975}" dt="2024-12-17T09:53:57.322" v="1280" actId="27636"/>
          <ac:spMkLst>
            <pc:docMk/>
            <pc:sldMk cId="1894989892" sldId="477"/>
            <ac:spMk id="3" creationId="{C71A7C99-C64A-79C6-CBC1-00C4C8801086}"/>
          </ac:spMkLst>
        </pc:spChg>
        <pc:spChg chg="mod">
          <ac:chgData name="林俊杰" userId="dcfdc803-95d8-409b-8404-351632be86e2" providerId="ADAL" clId="{5763F0A0-8751-4EF8-8ED5-D4E6209E4975}" dt="2024-12-17T13:03:14.401" v="1378" actId="1076"/>
          <ac:spMkLst>
            <pc:docMk/>
            <pc:sldMk cId="1894989892" sldId="477"/>
            <ac:spMk id="5" creationId="{8BC66418-51AA-DBFA-6836-0DF91B2F25E1}"/>
          </ac:spMkLst>
        </pc:spChg>
        <pc:spChg chg="add mod">
          <ac:chgData name="林俊杰" userId="dcfdc803-95d8-409b-8404-351632be86e2" providerId="ADAL" clId="{5763F0A0-8751-4EF8-8ED5-D4E6209E4975}" dt="2024-12-17T15:23:43.298" v="1728" actId="207"/>
          <ac:spMkLst>
            <pc:docMk/>
            <pc:sldMk cId="1894989892" sldId="477"/>
            <ac:spMk id="6" creationId="{7600FC34-AB6B-46B2-ADE8-D9C1B08B5950}"/>
          </ac:spMkLst>
        </pc:spChg>
      </pc:sldChg>
      <pc:sldChg chg="modSp add mod">
        <pc:chgData name="林俊杰" userId="dcfdc803-95d8-409b-8404-351632be86e2" providerId="ADAL" clId="{5763F0A0-8751-4EF8-8ED5-D4E6209E4975}" dt="2024-12-17T15:23:58.577" v="1730"/>
        <pc:sldMkLst>
          <pc:docMk/>
          <pc:sldMk cId="1232850742" sldId="478"/>
        </pc:sldMkLst>
        <pc:spChg chg="mod">
          <ac:chgData name="林俊杰" userId="dcfdc803-95d8-409b-8404-351632be86e2" providerId="ADAL" clId="{5763F0A0-8751-4EF8-8ED5-D4E6209E4975}" dt="2024-12-17T15:23:58.577" v="1730"/>
          <ac:spMkLst>
            <pc:docMk/>
            <pc:sldMk cId="1232850742" sldId="478"/>
            <ac:spMk id="2" creationId="{01028304-DCD3-0EC1-6AB3-D49FA4DE0779}"/>
          </ac:spMkLst>
        </pc:spChg>
      </pc:sldChg>
      <pc:sldChg chg="modSp add mod">
        <pc:chgData name="林俊杰" userId="dcfdc803-95d8-409b-8404-351632be86e2" providerId="ADAL" clId="{5763F0A0-8751-4EF8-8ED5-D4E6209E4975}" dt="2024-12-17T15:24:09.609" v="1731"/>
        <pc:sldMkLst>
          <pc:docMk/>
          <pc:sldMk cId="4004293273" sldId="479"/>
        </pc:sldMkLst>
        <pc:spChg chg="mod">
          <ac:chgData name="林俊杰" userId="dcfdc803-95d8-409b-8404-351632be86e2" providerId="ADAL" clId="{5763F0A0-8751-4EF8-8ED5-D4E6209E4975}" dt="2024-12-17T15:24:09.609" v="1731"/>
          <ac:spMkLst>
            <pc:docMk/>
            <pc:sldMk cId="4004293273" sldId="479"/>
            <ac:spMk id="2" creationId="{076B6D7A-F91D-D2CA-12C2-E005A9785238}"/>
          </ac:spMkLst>
        </pc:spChg>
      </pc:sldChg>
      <pc:sldChg chg="modSp add mod">
        <pc:chgData name="林俊杰" userId="dcfdc803-95d8-409b-8404-351632be86e2" providerId="ADAL" clId="{5763F0A0-8751-4EF8-8ED5-D4E6209E4975}" dt="2024-12-17T15:25:27.750" v="1734"/>
        <pc:sldMkLst>
          <pc:docMk/>
          <pc:sldMk cId="1131805231" sldId="480"/>
        </pc:sldMkLst>
        <pc:spChg chg="mod">
          <ac:chgData name="林俊杰" userId="dcfdc803-95d8-409b-8404-351632be86e2" providerId="ADAL" clId="{5763F0A0-8751-4EF8-8ED5-D4E6209E4975}" dt="2024-12-17T15:25:27.750" v="1734"/>
          <ac:spMkLst>
            <pc:docMk/>
            <pc:sldMk cId="1131805231" sldId="480"/>
            <ac:spMk id="2" creationId="{7F7EC802-5CD4-719B-855E-9E1B949347A8}"/>
          </ac:spMkLst>
        </pc:spChg>
        <pc:spChg chg="mod">
          <ac:chgData name="林俊杰" userId="dcfdc803-95d8-409b-8404-351632be86e2" providerId="ADAL" clId="{5763F0A0-8751-4EF8-8ED5-D4E6209E4975}" dt="2024-12-17T15:24:25.751" v="1733" actId="27636"/>
          <ac:spMkLst>
            <pc:docMk/>
            <pc:sldMk cId="1131805231" sldId="480"/>
            <ac:spMk id="3" creationId="{6F4ECFBE-243E-FEE0-888B-F48566777815}"/>
          </ac:spMkLst>
        </pc:spChg>
      </pc:sldChg>
      <pc:sldChg chg="modSp add mod">
        <pc:chgData name="林俊杰" userId="dcfdc803-95d8-409b-8404-351632be86e2" providerId="ADAL" clId="{5763F0A0-8751-4EF8-8ED5-D4E6209E4975}" dt="2024-12-17T15:25:43.766" v="1738"/>
        <pc:sldMkLst>
          <pc:docMk/>
          <pc:sldMk cId="1595793178" sldId="481"/>
        </pc:sldMkLst>
        <pc:spChg chg="mod">
          <ac:chgData name="林俊杰" userId="dcfdc803-95d8-409b-8404-351632be86e2" providerId="ADAL" clId="{5763F0A0-8751-4EF8-8ED5-D4E6209E4975}" dt="2024-12-17T15:25:43.766" v="1738"/>
          <ac:spMkLst>
            <pc:docMk/>
            <pc:sldMk cId="1595793178" sldId="481"/>
            <ac:spMk id="2" creationId="{AD86944D-3848-F98F-95AF-F9DCB7EE04C9}"/>
          </ac:spMkLst>
        </pc:spChg>
      </pc:sldChg>
      <pc:sldChg chg="addSp delSp modSp new mod modClrScheme chgLayout">
        <pc:chgData name="林俊杰" userId="dcfdc803-95d8-409b-8404-351632be86e2" providerId="ADAL" clId="{5763F0A0-8751-4EF8-8ED5-D4E6209E4975}" dt="2024-12-17T12:41:16.298" v="1366" actId="20577"/>
        <pc:sldMkLst>
          <pc:docMk/>
          <pc:sldMk cId="2994767047" sldId="482"/>
        </pc:sldMkLst>
        <pc:spChg chg="add del mod ord">
          <ac:chgData name="林俊杰" userId="dcfdc803-95d8-409b-8404-351632be86e2" providerId="ADAL" clId="{5763F0A0-8751-4EF8-8ED5-D4E6209E4975}" dt="2024-12-17T12:40:45.441" v="1287" actId="700"/>
          <ac:spMkLst>
            <pc:docMk/>
            <pc:sldMk cId="2994767047" sldId="482"/>
            <ac:spMk id="2" creationId="{5AB721BC-14DF-4755-B852-69872CE225DF}"/>
          </ac:spMkLst>
        </pc:spChg>
        <pc:spChg chg="add del mod ord">
          <ac:chgData name="林俊杰" userId="dcfdc803-95d8-409b-8404-351632be86e2" providerId="ADAL" clId="{5763F0A0-8751-4EF8-8ED5-D4E6209E4975}" dt="2024-12-17T12:40:45.441" v="1287" actId="700"/>
          <ac:spMkLst>
            <pc:docMk/>
            <pc:sldMk cId="2994767047" sldId="482"/>
            <ac:spMk id="3" creationId="{00FA1BD6-C661-471F-83AA-C999F461294D}"/>
          </ac:spMkLst>
        </pc:spChg>
        <pc:spChg chg="add mod ord">
          <ac:chgData name="林俊杰" userId="dcfdc803-95d8-409b-8404-351632be86e2" providerId="ADAL" clId="{5763F0A0-8751-4EF8-8ED5-D4E6209E4975}" dt="2024-12-17T12:41:16.298" v="1366" actId="20577"/>
          <ac:spMkLst>
            <pc:docMk/>
            <pc:sldMk cId="2994767047" sldId="482"/>
            <ac:spMk id="4" creationId="{6C36DBEF-0158-4733-84D8-08362FA08C92}"/>
          </ac:spMkLst>
        </pc:spChg>
        <pc:spChg chg="add mod ord">
          <ac:chgData name="林俊杰" userId="dcfdc803-95d8-409b-8404-351632be86e2" providerId="ADAL" clId="{5763F0A0-8751-4EF8-8ED5-D4E6209E4975}" dt="2024-12-17T12:40:45.441" v="1287" actId="700"/>
          <ac:spMkLst>
            <pc:docMk/>
            <pc:sldMk cId="2994767047" sldId="482"/>
            <ac:spMk id="5" creationId="{615D2094-CFA0-4D49-87BD-C7826D2F02AC}"/>
          </ac:spMkLst>
        </pc:spChg>
      </pc:sldChg>
      <pc:sldChg chg="addSp modSp new mod">
        <pc:chgData name="林俊杰" userId="dcfdc803-95d8-409b-8404-351632be86e2" providerId="ADAL" clId="{5763F0A0-8751-4EF8-8ED5-D4E6209E4975}" dt="2024-12-17T14:03:27.150" v="1510"/>
        <pc:sldMkLst>
          <pc:docMk/>
          <pc:sldMk cId="130160708" sldId="483"/>
        </pc:sldMkLst>
        <pc:spChg chg="mod">
          <ac:chgData name="林俊杰" userId="dcfdc803-95d8-409b-8404-351632be86e2" providerId="ADAL" clId="{5763F0A0-8751-4EF8-8ED5-D4E6209E4975}" dt="2024-12-17T13:09:31.246" v="1398"/>
          <ac:spMkLst>
            <pc:docMk/>
            <pc:sldMk cId="130160708" sldId="483"/>
            <ac:spMk id="2" creationId="{EA6AFAFF-66EF-4AD2-9118-10A3D37D8D00}"/>
          </ac:spMkLst>
        </pc:spChg>
        <pc:spChg chg="mod">
          <ac:chgData name="林俊杰" userId="dcfdc803-95d8-409b-8404-351632be86e2" providerId="ADAL" clId="{5763F0A0-8751-4EF8-8ED5-D4E6209E4975}" dt="2024-12-17T14:03:27.150" v="1510"/>
          <ac:spMkLst>
            <pc:docMk/>
            <pc:sldMk cId="130160708" sldId="483"/>
            <ac:spMk id="3" creationId="{D7AA2A8E-E237-4D1A-A0CA-E1CD0ED1F290}"/>
          </ac:spMkLst>
        </pc:spChg>
        <pc:spChg chg="add mod">
          <ac:chgData name="林俊杰" userId="dcfdc803-95d8-409b-8404-351632be86e2" providerId="ADAL" clId="{5763F0A0-8751-4EF8-8ED5-D4E6209E4975}" dt="2024-12-17T14:02:13.081" v="1488" actId="1076"/>
          <ac:spMkLst>
            <pc:docMk/>
            <pc:sldMk cId="130160708" sldId="483"/>
            <ac:spMk id="6" creationId="{A39E7146-E729-4EC0-8BAB-B082C3323DDD}"/>
          </ac:spMkLst>
        </pc:spChg>
        <pc:picChg chg="add mod">
          <ac:chgData name="林俊杰" userId="dcfdc803-95d8-409b-8404-351632be86e2" providerId="ADAL" clId="{5763F0A0-8751-4EF8-8ED5-D4E6209E4975}" dt="2024-12-17T14:02:52.625" v="1496" actId="1076"/>
          <ac:picMkLst>
            <pc:docMk/>
            <pc:sldMk cId="130160708" sldId="483"/>
            <ac:picMk id="3074" creationId="{4172DD9B-B919-43B8-901E-8CBA89E4675D}"/>
          </ac:picMkLst>
        </pc:picChg>
      </pc:sldChg>
      <pc:sldMasterChg chg="modSldLayout">
        <pc:chgData name="林俊杰" userId="dcfdc803-95d8-409b-8404-351632be86e2" providerId="ADAL" clId="{5763F0A0-8751-4EF8-8ED5-D4E6209E4975}" dt="2024-12-17T08:25:14.570" v="664" actId="2711"/>
        <pc:sldMasterMkLst>
          <pc:docMk/>
          <pc:sldMasterMk cId="2649156886" sldId="2147483648"/>
        </pc:sldMasterMkLst>
        <pc:sldLayoutChg chg="modSp">
          <pc:chgData name="林俊杰" userId="dcfdc803-95d8-409b-8404-351632be86e2" providerId="ADAL" clId="{5763F0A0-8751-4EF8-8ED5-D4E6209E4975}" dt="2024-12-17T08:25:14.570" v="664" actId="2711"/>
          <pc:sldLayoutMkLst>
            <pc:docMk/>
            <pc:sldMasterMk cId="2649156886" sldId="2147483648"/>
            <pc:sldLayoutMk cId="781681599" sldId="2147483650"/>
          </pc:sldLayoutMkLst>
          <pc:spChg chg="mod">
            <ac:chgData name="林俊杰" userId="dcfdc803-95d8-409b-8404-351632be86e2" providerId="ADAL" clId="{5763F0A0-8751-4EF8-8ED5-D4E6209E4975}" dt="2024-12-17T08:25:14.570" v="664" actId="2711"/>
            <ac:spMkLst>
              <pc:docMk/>
              <pc:sldMasterMk cId="2649156886" sldId="2147483648"/>
              <pc:sldLayoutMk cId="781681599" sldId="2147483650"/>
              <ac:spMk id="2" creationId="{0158FC3B-7E29-40C1-A2CB-1624C52295B5}"/>
            </ac:spMkLst>
          </pc:spChg>
          <pc:spChg chg="mod">
            <ac:chgData name="林俊杰" userId="dcfdc803-95d8-409b-8404-351632be86e2" providerId="ADAL" clId="{5763F0A0-8751-4EF8-8ED5-D4E6209E4975}" dt="2024-12-17T08:25:14.570" v="664" actId="2711"/>
            <ac:spMkLst>
              <pc:docMk/>
              <pc:sldMasterMk cId="2649156886" sldId="2147483648"/>
              <pc:sldLayoutMk cId="781681599" sldId="2147483650"/>
              <ac:spMk id="3" creationId="{F16D97F5-AC54-4EC7-9D37-16CE3F6E22B1}"/>
            </ac:spMkLst>
          </pc:spChg>
          <pc:spChg chg="mod">
            <ac:chgData name="林俊杰" userId="dcfdc803-95d8-409b-8404-351632be86e2" providerId="ADAL" clId="{5763F0A0-8751-4EF8-8ED5-D4E6209E4975}" dt="2024-12-17T08:25:14.570" v="664" actId="2711"/>
            <ac:spMkLst>
              <pc:docMk/>
              <pc:sldMasterMk cId="2649156886" sldId="2147483648"/>
              <pc:sldLayoutMk cId="781681599" sldId="2147483650"/>
              <ac:spMk id="4" creationId="{04660823-9A6F-45B8-8A6F-B5E3D06BBDC9}"/>
            </ac:spMkLst>
          </pc:spChg>
          <pc:spChg chg="mod">
            <ac:chgData name="林俊杰" userId="dcfdc803-95d8-409b-8404-351632be86e2" providerId="ADAL" clId="{5763F0A0-8751-4EF8-8ED5-D4E6209E4975}" dt="2024-12-17T08:25:14.570" v="664" actId="2711"/>
            <ac:spMkLst>
              <pc:docMk/>
              <pc:sldMasterMk cId="2649156886" sldId="2147483648"/>
              <pc:sldLayoutMk cId="781681599" sldId="2147483650"/>
              <ac:spMk id="5" creationId="{EA972666-4AF1-4E44-ADDE-7D036AEF920C}"/>
            </ac:spMkLst>
          </pc:spChg>
          <pc:spChg chg="mod">
            <ac:chgData name="林俊杰" userId="dcfdc803-95d8-409b-8404-351632be86e2" providerId="ADAL" clId="{5763F0A0-8751-4EF8-8ED5-D4E6209E4975}" dt="2024-12-17T08:25:14.570" v="664" actId="2711"/>
            <ac:spMkLst>
              <pc:docMk/>
              <pc:sldMasterMk cId="2649156886" sldId="2147483648"/>
              <pc:sldLayoutMk cId="781681599" sldId="2147483650"/>
              <ac:spMk id="6" creationId="{F0C635A1-7B22-49B9-9738-B5F6FC6F6D4A}"/>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E73C8A-DB14-4809-AEBD-F323BABD9EA5}" type="datetimeFigureOut">
              <a:rPr lang="zh-TW" altLang="en-US" smtClean="0"/>
              <a:t>2024/12/17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C97ED-425A-4F97-B3FF-EFBE2FAAC29C}" type="slidenum">
              <a:rPr lang="zh-TW" altLang="en-US" smtClean="0"/>
              <a:t>‹#›</a:t>
            </a:fld>
            <a:endParaRPr lang="zh-TW" altLang="en-US"/>
          </a:p>
        </p:txBody>
      </p:sp>
    </p:spTree>
    <p:extLst>
      <p:ext uri="{BB962C8B-B14F-4D97-AF65-F5344CB8AC3E}">
        <p14:creationId xmlns:p14="http://schemas.microsoft.com/office/powerpoint/2010/main" val="2762092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buFont typeface="+mj-lt"/>
              <a:buAutoNum type="arabicPeriod"/>
            </a:pPr>
            <a:r>
              <a:rPr lang="en-US" altLang="zh-TW" b="0" i="0" dirty="0">
                <a:solidFill>
                  <a:srgbClr val="333333"/>
                </a:solidFill>
                <a:effectLst/>
                <a:latin typeface="-apple-system"/>
              </a:rPr>
              <a:t>input: (3,1,0)</a:t>
            </a:r>
          </a:p>
          <a:p>
            <a:pPr marL="742950" lvl="1" indent="-285750" algn="l">
              <a:buFont typeface="+mj-lt"/>
              <a:buAutoNum type="arabicPeriod"/>
            </a:pPr>
            <a:r>
              <a:rPr lang="en-US" altLang="zh-TW" b="0" i="0" dirty="0">
                <a:solidFill>
                  <a:srgbClr val="333333"/>
                </a:solidFill>
                <a:effectLst/>
                <a:latin typeface="-apple-system"/>
              </a:rPr>
              <a:t>input: 3</a:t>
            </a:r>
          </a:p>
          <a:p>
            <a:pPr marL="742950" lvl="1" indent="-285750" algn="l">
              <a:buFont typeface="+mj-lt"/>
              <a:buAutoNum type="arabicPeriod"/>
            </a:pPr>
            <a:r>
              <a:rPr lang="en-US" altLang="zh-TW" b="0" i="0" dirty="0" err="1">
                <a:solidFill>
                  <a:srgbClr val="333333"/>
                </a:solidFill>
                <a:effectLst/>
                <a:latin typeface="-apple-system"/>
              </a:rPr>
              <a:t>input_gate</a:t>
            </a:r>
            <a:r>
              <a:rPr lang="en-US" altLang="zh-TW" b="0" i="0" dirty="0">
                <a:solidFill>
                  <a:srgbClr val="333333"/>
                </a:solidFill>
                <a:effectLst/>
                <a:latin typeface="-apple-system"/>
              </a:rPr>
              <a:t>: open</a:t>
            </a:r>
          </a:p>
          <a:p>
            <a:pPr marL="742950" lvl="1" indent="-285750" algn="l">
              <a:buFont typeface="+mj-lt"/>
              <a:buAutoNum type="arabicPeriod"/>
            </a:pPr>
            <a:r>
              <a:rPr lang="en-US" altLang="zh-TW" b="0" i="0" dirty="0" err="1">
                <a:solidFill>
                  <a:srgbClr val="333333"/>
                </a:solidFill>
                <a:effectLst/>
                <a:latin typeface="-apple-system"/>
              </a:rPr>
              <a:t>forget_gate</a:t>
            </a:r>
            <a:r>
              <a:rPr lang="en-US" altLang="zh-TW" b="0" i="0" dirty="0">
                <a:solidFill>
                  <a:srgbClr val="333333"/>
                </a:solidFill>
                <a:effectLst/>
                <a:latin typeface="-apple-system"/>
              </a:rPr>
              <a:t>: open</a:t>
            </a:r>
          </a:p>
          <a:p>
            <a:pPr marL="742950" lvl="1" indent="-285750" algn="l">
              <a:buFont typeface="+mj-lt"/>
              <a:buAutoNum type="arabicPeriod"/>
            </a:pPr>
            <a:r>
              <a:rPr lang="en-US" altLang="zh-TW" b="0" i="0" dirty="0" err="1">
                <a:solidFill>
                  <a:srgbClr val="333333"/>
                </a:solidFill>
                <a:effectLst/>
                <a:latin typeface="-apple-system"/>
              </a:rPr>
              <a:t>memory_cell</a:t>
            </a:r>
            <a:r>
              <a:rPr lang="en-US" altLang="zh-TW" b="0" i="0" dirty="0">
                <a:solidFill>
                  <a:srgbClr val="333333"/>
                </a:solidFill>
                <a:effectLst/>
                <a:latin typeface="-apple-system"/>
              </a:rPr>
              <a:t>: 3</a:t>
            </a:r>
          </a:p>
          <a:p>
            <a:pPr marL="742950" lvl="1" indent="-285750" algn="l">
              <a:buFont typeface="+mj-lt"/>
              <a:buAutoNum type="arabicPeriod"/>
            </a:pPr>
            <a:r>
              <a:rPr lang="en-US" altLang="zh-TW" b="0" i="0" dirty="0" err="1">
                <a:solidFill>
                  <a:srgbClr val="333333"/>
                </a:solidFill>
                <a:effectLst/>
                <a:latin typeface="-apple-system"/>
              </a:rPr>
              <a:t>output_gate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a:solidFill>
                  <a:srgbClr val="333333"/>
                </a:solidFill>
                <a:effectLst/>
                <a:latin typeface="-apple-system"/>
              </a:rPr>
              <a:t>output: 0</a:t>
            </a:r>
          </a:p>
          <a:p>
            <a:pPr algn="l">
              <a:buFont typeface="+mj-lt"/>
              <a:buAutoNum type="arabicPeriod"/>
            </a:pPr>
            <a:r>
              <a:rPr lang="en-US" altLang="zh-TW" b="0" i="0" dirty="0">
                <a:solidFill>
                  <a:srgbClr val="333333"/>
                </a:solidFill>
                <a:effectLst/>
                <a:latin typeface="-apple-system"/>
              </a:rPr>
              <a:t>input: (4,1,0)</a:t>
            </a:r>
          </a:p>
          <a:p>
            <a:pPr marL="742950" lvl="1" indent="-285750" algn="l">
              <a:buFont typeface="+mj-lt"/>
              <a:buAutoNum type="arabicPeriod"/>
            </a:pPr>
            <a:r>
              <a:rPr lang="en-US" altLang="zh-TW" b="0" i="0" dirty="0">
                <a:solidFill>
                  <a:srgbClr val="333333"/>
                </a:solidFill>
                <a:effectLst/>
                <a:latin typeface="-apple-system"/>
              </a:rPr>
              <a:t>input: 4</a:t>
            </a:r>
          </a:p>
          <a:p>
            <a:pPr marL="742950" lvl="1" indent="-285750" algn="l">
              <a:buFont typeface="+mj-lt"/>
              <a:buAutoNum type="arabicPeriod"/>
            </a:pPr>
            <a:r>
              <a:rPr lang="en-US" altLang="zh-TW" b="0" i="0" dirty="0" err="1">
                <a:solidFill>
                  <a:srgbClr val="333333"/>
                </a:solidFill>
                <a:effectLst/>
                <a:latin typeface="-apple-system"/>
              </a:rPr>
              <a:t>input_gate</a:t>
            </a:r>
            <a:r>
              <a:rPr lang="en-US" altLang="zh-TW" b="0" i="0" dirty="0">
                <a:solidFill>
                  <a:srgbClr val="333333"/>
                </a:solidFill>
                <a:effectLst/>
                <a:latin typeface="-apple-system"/>
              </a:rPr>
              <a:t>: open</a:t>
            </a:r>
          </a:p>
          <a:p>
            <a:pPr marL="742950" lvl="1" indent="-285750" algn="l">
              <a:buFont typeface="+mj-lt"/>
              <a:buAutoNum type="arabicPeriod"/>
            </a:pPr>
            <a:r>
              <a:rPr lang="en-US" altLang="zh-TW" b="0" i="0" dirty="0" err="1">
                <a:solidFill>
                  <a:srgbClr val="333333"/>
                </a:solidFill>
                <a:effectLst/>
                <a:latin typeface="-apple-system"/>
              </a:rPr>
              <a:t>forget_gate</a:t>
            </a:r>
            <a:r>
              <a:rPr lang="en-US" altLang="zh-TW" b="0" i="0" dirty="0">
                <a:solidFill>
                  <a:srgbClr val="333333"/>
                </a:solidFill>
                <a:effectLst/>
                <a:latin typeface="-apple-system"/>
              </a:rPr>
              <a:t>: open</a:t>
            </a:r>
          </a:p>
          <a:p>
            <a:pPr marL="742950" lvl="1" indent="-285750" algn="l">
              <a:buFont typeface="+mj-lt"/>
              <a:buAutoNum type="arabicPeriod"/>
            </a:pPr>
            <a:r>
              <a:rPr lang="en-US" altLang="zh-TW" b="0" i="0" dirty="0" err="1">
                <a:solidFill>
                  <a:srgbClr val="333333"/>
                </a:solidFill>
                <a:effectLst/>
                <a:latin typeface="-apple-system"/>
              </a:rPr>
              <a:t>memory_cell</a:t>
            </a:r>
            <a:r>
              <a:rPr lang="en-US" altLang="zh-TW" b="0" i="0" dirty="0">
                <a:solidFill>
                  <a:srgbClr val="333333"/>
                </a:solidFill>
                <a:effectLst/>
                <a:latin typeface="-apple-system"/>
              </a:rPr>
              <a:t>: 7</a:t>
            </a:r>
          </a:p>
          <a:p>
            <a:pPr marL="742950" lvl="1" indent="-285750" algn="l">
              <a:buFont typeface="+mj-lt"/>
              <a:buAutoNum type="arabicPeriod"/>
            </a:pPr>
            <a:r>
              <a:rPr lang="en-US" altLang="zh-TW" b="0" i="0" dirty="0" err="1">
                <a:solidFill>
                  <a:srgbClr val="333333"/>
                </a:solidFill>
                <a:effectLst/>
                <a:latin typeface="-apple-system"/>
              </a:rPr>
              <a:t>output_gate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a:solidFill>
                  <a:srgbClr val="333333"/>
                </a:solidFill>
                <a:effectLst/>
                <a:latin typeface="-apple-system"/>
              </a:rPr>
              <a:t>output: 0</a:t>
            </a:r>
          </a:p>
          <a:p>
            <a:pPr algn="l">
              <a:buFont typeface="+mj-lt"/>
              <a:buAutoNum type="arabicPeriod"/>
            </a:pPr>
            <a:r>
              <a:rPr lang="en-US" altLang="zh-TW" b="0" i="0" dirty="0">
                <a:solidFill>
                  <a:srgbClr val="333333"/>
                </a:solidFill>
                <a:effectLst/>
                <a:latin typeface="-apple-system"/>
              </a:rPr>
              <a:t>input: (2,0,0)</a:t>
            </a:r>
          </a:p>
          <a:p>
            <a:pPr marL="742950" lvl="1" indent="-285750" algn="l">
              <a:buFont typeface="+mj-lt"/>
              <a:buAutoNum type="arabicPeriod"/>
            </a:pPr>
            <a:r>
              <a:rPr lang="en-US" altLang="zh-TW" b="0" i="0" dirty="0">
                <a:solidFill>
                  <a:srgbClr val="333333"/>
                </a:solidFill>
                <a:effectLst/>
                <a:latin typeface="-apple-system"/>
              </a:rPr>
              <a:t>input: 2</a:t>
            </a:r>
          </a:p>
          <a:p>
            <a:pPr marL="742950" lvl="1" indent="-285750" algn="l">
              <a:buFont typeface="+mj-lt"/>
              <a:buAutoNum type="arabicPeriod"/>
            </a:pPr>
            <a:r>
              <a:rPr lang="en-US" altLang="zh-TW" b="0" i="0" dirty="0" err="1">
                <a:solidFill>
                  <a:srgbClr val="333333"/>
                </a:solidFill>
                <a:effectLst/>
                <a:latin typeface="-apple-system"/>
              </a:rPr>
              <a:t>input_gate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err="1">
                <a:solidFill>
                  <a:srgbClr val="333333"/>
                </a:solidFill>
                <a:effectLst/>
                <a:latin typeface="-apple-system"/>
              </a:rPr>
              <a:t>forget_gate</a:t>
            </a:r>
            <a:r>
              <a:rPr lang="en-US" altLang="zh-TW" b="0" i="0" dirty="0">
                <a:solidFill>
                  <a:srgbClr val="333333"/>
                </a:solidFill>
                <a:effectLst/>
                <a:latin typeface="-apple-system"/>
              </a:rPr>
              <a:t>: open</a:t>
            </a:r>
          </a:p>
          <a:p>
            <a:pPr marL="742950" lvl="1" indent="-285750" algn="l">
              <a:buFont typeface="+mj-lt"/>
              <a:buAutoNum type="arabicPeriod"/>
            </a:pPr>
            <a:r>
              <a:rPr lang="en-US" altLang="zh-TW" b="0" i="0" dirty="0" err="1">
                <a:solidFill>
                  <a:srgbClr val="333333"/>
                </a:solidFill>
                <a:effectLst/>
                <a:latin typeface="-apple-system"/>
              </a:rPr>
              <a:t>memory_cell</a:t>
            </a:r>
            <a:r>
              <a:rPr lang="en-US" altLang="zh-TW" b="0" i="0" dirty="0">
                <a:solidFill>
                  <a:srgbClr val="333333"/>
                </a:solidFill>
                <a:effectLst/>
                <a:latin typeface="-apple-system"/>
              </a:rPr>
              <a:t>: 7</a:t>
            </a:r>
          </a:p>
          <a:p>
            <a:pPr marL="742950" lvl="1" indent="-285750" algn="l">
              <a:buFont typeface="+mj-lt"/>
              <a:buAutoNum type="arabicPeriod"/>
            </a:pPr>
            <a:r>
              <a:rPr lang="en-US" altLang="zh-TW" b="0" i="0" dirty="0" err="1">
                <a:solidFill>
                  <a:srgbClr val="333333"/>
                </a:solidFill>
                <a:effectLst/>
                <a:latin typeface="-apple-system"/>
              </a:rPr>
              <a:t>output_gate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a:solidFill>
                  <a:srgbClr val="333333"/>
                </a:solidFill>
                <a:effectLst/>
                <a:latin typeface="-apple-system"/>
              </a:rPr>
              <a:t>output: 0</a:t>
            </a:r>
          </a:p>
          <a:p>
            <a:pPr algn="l">
              <a:buFont typeface="+mj-lt"/>
              <a:buAutoNum type="arabicPeriod"/>
            </a:pPr>
            <a:r>
              <a:rPr lang="en-US" altLang="zh-TW" b="0" i="0" dirty="0">
                <a:solidFill>
                  <a:srgbClr val="333333"/>
                </a:solidFill>
                <a:effectLst/>
                <a:latin typeface="-apple-system"/>
              </a:rPr>
              <a:t>input: (1,0,1)</a:t>
            </a:r>
          </a:p>
          <a:p>
            <a:pPr marL="742950" lvl="1" indent="-285750" algn="l">
              <a:buFont typeface="+mj-lt"/>
              <a:buAutoNum type="arabicPeriod"/>
            </a:pPr>
            <a:r>
              <a:rPr lang="en-US" altLang="zh-TW" b="0" i="0" dirty="0">
                <a:solidFill>
                  <a:srgbClr val="333333"/>
                </a:solidFill>
                <a:effectLst/>
                <a:latin typeface="-apple-system"/>
              </a:rPr>
              <a:t>input: 1</a:t>
            </a:r>
          </a:p>
          <a:p>
            <a:pPr marL="742950" lvl="1" indent="-285750" algn="l">
              <a:buFont typeface="+mj-lt"/>
              <a:buAutoNum type="arabicPeriod"/>
            </a:pPr>
            <a:r>
              <a:rPr lang="en-US" altLang="zh-TW" b="0" i="0" dirty="0" err="1">
                <a:solidFill>
                  <a:srgbClr val="333333"/>
                </a:solidFill>
                <a:effectLst/>
                <a:latin typeface="-apple-system"/>
              </a:rPr>
              <a:t>input_gate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err="1">
                <a:solidFill>
                  <a:srgbClr val="333333"/>
                </a:solidFill>
                <a:effectLst/>
                <a:latin typeface="-apple-system"/>
              </a:rPr>
              <a:t>forget_gate</a:t>
            </a:r>
            <a:r>
              <a:rPr lang="en-US" altLang="zh-TW" b="0" i="0" dirty="0">
                <a:solidFill>
                  <a:srgbClr val="333333"/>
                </a:solidFill>
                <a:effectLst/>
                <a:latin typeface="-apple-system"/>
              </a:rPr>
              <a:t>: open</a:t>
            </a:r>
          </a:p>
          <a:p>
            <a:pPr marL="742950" lvl="1" indent="-285750" algn="l">
              <a:buFont typeface="+mj-lt"/>
              <a:buAutoNum type="arabicPeriod"/>
            </a:pPr>
            <a:r>
              <a:rPr lang="en-US" altLang="zh-TW" b="0" i="0" dirty="0" err="1">
                <a:solidFill>
                  <a:srgbClr val="333333"/>
                </a:solidFill>
                <a:effectLst/>
                <a:latin typeface="-apple-system"/>
              </a:rPr>
              <a:t>memory_cell</a:t>
            </a:r>
            <a:r>
              <a:rPr lang="en-US" altLang="zh-TW" b="0" i="0" dirty="0">
                <a:solidFill>
                  <a:srgbClr val="333333"/>
                </a:solidFill>
                <a:effectLst/>
                <a:latin typeface="-apple-system"/>
              </a:rPr>
              <a:t>: 7</a:t>
            </a:r>
          </a:p>
          <a:p>
            <a:pPr marL="742950" lvl="1" indent="-285750" algn="l">
              <a:buFont typeface="+mj-lt"/>
              <a:buAutoNum type="arabicPeriod"/>
            </a:pPr>
            <a:r>
              <a:rPr lang="en-US" altLang="zh-TW" b="0" i="0" dirty="0" err="1">
                <a:solidFill>
                  <a:srgbClr val="333333"/>
                </a:solidFill>
                <a:effectLst/>
                <a:latin typeface="-apple-system"/>
              </a:rPr>
              <a:t>output_gate</a:t>
            </a:r>
            <a:r>
              <a:rPr lang="en-US" altLang="zh-TW" b="0" i="0" dirty="0">
                <a:solidFill>
                  <a:srgbClr val="333333"/>
                </a:solidFill>
                <a:effectLst/>
                <a:latin typeface="-apple-system"/>
              </a:rPr>
              <a:t>: open</a:t>
            </a:r>
          </a:p>
          <a:p>
            <a:pPr marL="742950" lvl="1" indent="-285750" algn="l">
              <a:buFont typeface="+mj-lt"/>
              <a:buAutoNum type="arabicPeriod"/>
            </a:pPr>
            <a:r>
              <a:rPr lang="en-US" altLang="zh-TW" b="0" i="0" dirty="0">
                <a:solidFill>
                  <a:srgbClr val="333333"/>
                </a:solidFill>
                <a:effectLst/>
                <a:latin typeface="-apple-system"/>
              </a:rPr>
              <a:t>output: 7</a:t>
            </a:r>
          </a:p>
          <a:p>
            <a:pPr algn="l">
              <a:buFont typeface="+mj-lt"/>
              <a:buAutoNum type="arabicPeriod"/>
            </a:pPr>
            <a:r>
              <a:rPr lang="en-US" altLang="zh-TW" b="0" i="0" dirty="0">
                <a:solidFill>
                  <a:srgbClr val="333333"/>
                </a:solidFill>
                <a:effectLst/>
                <a:latin typeface="-apple-system"/>
              </a:rPr>
              <a:t>input: (3,-1,0)</a:t>
            </a:r>
          </a:p>
          <a:p>
            <a:pPr marL="742950" lvl="1" indent="-285750" algn="l">
              <a:buFont typeface="+mj-lt"/>
              <a:buAutoNum type="arabicPeriod"/>
            </a:pPr>
            <a:r>
              <a:rPr lang="en-US" altLang="zh-TW" b="0" i="0" dirty="0">
                <a:solidFill>
                  <a:srgbClr val="333333"/>
                </a:solidFill>
                <a:effectLst/>
                <a:latin typeface="-apple-system"/>
              </a:rPr>
              <a:t>input: 3</a:t>
            </a:r>
          </a:p>
          <a:p>
            <a:pPr marL="742950" lvl="1" indent="-285750" algn="l">
              <a:buFont typeface="+mj-lt"/>
              <a:buAutoNum type="arabicPeriod"/>
            </a:pPr>
            <a:r>
              <a:rPr lang="en-US" altLang="zh-TW" b="0" i="0" dirty="0" err="1">
                <a:solidFill>
                  <a:srgbClr val="333333"/>
                </a:solidFill>
                <a:effectLst/>
                <a:latin typeface="-apple-system"/>
              </a:rPr>
              <a:t>input_gate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err="1">
                <a:solidFill>
                  <a:srgbClr val="333333"/>
                </a:solidFill>
                <a:effectLst/>
                <a:latin typeface="-apple-system"/>
              </a:rPr>
              <a:t>forget_gate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err="1">
                <a:solidFill>
                  <a:srgbClr val="333333"/>
                </a:solidFill>
                <a:effectLst/>
                <a:latin typeface="-apple-system"/>
              </a:rPr>
              <a:t>memory_cell</a:t>
            </a:r>
            <a:r>
              <a:rPr lang="en-US" altLang="zh-TW" b="0" i="0" dirty="0">
                <a:solidFill>
                  <a:srgbClr val="333333"/>
                </a:solidFill>
                <a:effectLst/>
                <a:latin typeface="-apple-system"/>
              </a:rPr>
              <a:t>: 0</a:t>
            </a:r>
          </a:p>
          <a:p>
            <a:pPr marL="742950" lvl="1" indent="-285750" algn="l">
              <a:buFont typeface="+mj-lt"/>
              <a:buAutoNum type="arabicPeriod"/>
            </a:pPr>
            <a:r>
              <a:rPr lang="en-US" altLang="zh-TW" b="0" i="0" dirty="0" err="1">
                <a:solidFill>
                  <a:srgbClr val="333333"/>
                </a:solidFill>
                <a:effectLst/>
                <a:latin typeface="-apple-system"/>
              </a:rPr>
              <a:t>output_gate</a:t>
            </a:r>
            <a:r>
              <a:rPr lang="en-US" altLang="zh-TW" b="0" i="0" dirty="0">
                <a:solidFill>
                  <a:srgbClr val="333333"/>
                </a:solidFill>
                <a:effectLst/>
                <a:latin typeface="-apple-system"/>
              </a:rPr>
              <a:t>: close</a:t>
            </a:r>
          </a:p>
          <a:p>
            <a:pPr marL="742950" lvl="1" indent="-285750" algn="l">
              <a:buFont typeface="+mj-lt"/>
              <a:buAutoNum type="arabicPeriod"/>
            </a:pPr>
            <a:r>
              <a:rPr lang="en-US" altLang="zh-TW" b="0" i="0" dirty="0">
                <a:solidFill>
                  <a:srgbClr val="333333"/>
                </a:solidFill>
                <a:effectLst/>
                <a:latin typeface="-apple-system"/>
              </a:rPr>
              <a:t>output: 0</a:t>
            </a:r>
          </a:p>
          <a:p>
            <a:endParaRPr lang="zh-TW" altLang="en-US" dirty="0"/>
          </a:p>
        </p:txBody>
      </p:sp>
      <p:sp>
        <p:nvSpPr>
          <p:cNvPr id="4" name="投影片編號版面配置區 3"/>
          <p:cNvSpPr>
            <a:spLocks noGrp="1"/>
          </p:cNvSpPr>
          <p:nvPr>
            <p:ph type="sldNum" sz="quarter" idx="5"/>
          </p:nvPr>
        </p:nvSpPr>
        <p:spPr/>
        <p:txBody>
          <a:bodyPr/>
          <a:lstStyle/>
          <a:p>
            <a:fld id="{ED158280-B955-43C3-8350-C8DC67CBFC1D}" type="slidenum">
              <a:rPr lang="zh-TW" altLang="en-US" smtClean="0"/>
              <a:t>23</a:t>
            </a:fld>
            <a:endParaRPr lang="zh-TW" altLang="en-US"/>
          </a:p>
        </p:txBody>
      </p:sp>
    </p:spTree>
    <p:extLst>
      <p:ext uri="{BB962C8B-B14F-4D97-AF65-F5344CB8AC3E}">
        <p14:creationId xmlns:p14="http://schemas.microsoft.com/office/powerpoint/2010/main" val="1143725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7E529A-45C3-4626-BFDC-F436D7CBB358}"/>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BAF43DE6-C6F8-4AC0-9A12-C13633C3EB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197146D-BEDD-46B4-9A53-F0847ECCBFC1}"/>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5" name="頁尾版面配置區 4">
            <a:extLst>
              <a:ext uri="{FF2B5EF4-FFF2-40B4-BE49-F238E27FC236}">
                <a16:creationId xmlns:a16="http://schemas.microsoft.com/office/drawing/2014/main" id="{51FA22EF-E876-4B65-B17C-1EFE90D961E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FBFFFA3-7F45-456E-839C-F4CB36389174}"/>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467420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58FC3B-7E29-40C1-A2CB-1624C52295B5}"/>
              </a:ext>
            </a:extLst>
          </p:cNvPr>
          <p:cNvSpPr>
            <a:spLocks noGrp="1"/>
          </p:cNvSpPr>
          <p:nvPr>
            <p:ph type="title"/>
          </p:nvPr>
        </p:nvSpPr>
        <p:spPr/>
        <p:txBody>
          <a:bodyPr/>
          <a:lstStyle>
            <a:lvl1pPr>
              <a:defRPr>
                <a:latin typeface="微軟正黑體" panose="020B0604030504040204" pitchFamily="34" charset="-120"/>
                <a:ea typeface="微軟正黑體" panose="020B0604030504040204" pitchFamily="34" charset="-120"/>
              </a:defRPr>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16D97F5-AC54-4EC7-9D37-16CE3F6E22B1}"/>
              </a:ext>
            </a:extLst>
          </p:cNvPr>
          <p:cNvSpPr>
            <a:spLocks noGrp="1"/>
          </p:cNvSpPr>
          <p:nvPr>
            <p:ph idx="1"/>
          </p:nvPr>
        </p:nvSpPr>
        <p:spPr/>
        <p:txBody>
          <a:bodyPr/>
          <a:lstStyle>
            <a:lvl1pPr>
              <a:defRPr>
                <a:latin typeface="微軟正黑體" panose="020B0604030504040204" pitchFamily="34" charset="-120"/>
                <a:ea typeface="微軟正黑體" panose="020B0604030504040204" pitchFamily="34" charset="-120"/>
              </a:defRPr>
            </a:lvl1pPr>
            <a:lvl2pPr>
              <a:defRPr>
                <a:latin typeface="微軟正黑體" panose="020B0604030504040204" pitchFamily="34" charset="-120"/>
                <a:ea typeface="微軟正黑體" panose="020B0604030504040204" pitchFamily="34" charset="-120"/>
              </a:defRPr>
            </a:lvl2pPr>
            <a:lvl3pPr>
              <a:defRPr>
                <a:latin typeface="微軟正黑體" panose="020B0604030504040204" pitchFamily="34" charset="-120"/>
                <a:ea typeface="微軟正黑體" panose="020B0604030504040204" pitchFamily="34" charset="-120"/>
              </a:defRPr>
            </a:lvl3pPr>
            <a:lvl4pPr>
              <a:defRPr>
                <a:latin typeface="微軟正黑體" panose="020B0604030504040204" pitchFamily="34" charset="-120"/>
                <a:ea typeface="微軟正黑體" panose="020B0604030504040204" pitchFamily="34" charset="-120"/>
              </a:defRPr>
            </a:lvl4pPr>
            <a:lvl5pPr>
              <a:defRPr>
                <a:latin typeface="微軟正黑體" panose="020B0604030504040204" pitchFamily="34" charset="-120"/>
                <a:ea typeface="微軟正黑體" panose="020B0604030504040204" pitchFamily="34" charset="-120"/>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4660823-9A6F-45B8-8A6F-B5E3D06BBDC9}"/>
              </a:ext>
            </a:extLst>
          </p:cNvPr>
          <p:cNvSpPr>
            <a:spLocks noGrp="1"/>
          </p:cNvSpPr>
          <p:nvPr>
            <p:ph type="dt" sz="half" idx="10"/>
          </p:nvPr>
        </p:nvSpPr>
        <p:spPr/>
        <p:txBody>
          <a:bodyPr/>
          <a:lstStyle>
            <a:lvl1pPr>
              <a:defRPr>
                <a:latin typeface="微軟正黑體" panose="020B0604030504040204" pitchFamily="34" charset="-120"/>
                <a:ea typeface="微軟正黑體" panose="020B0604030504040204" pitchFamily="34" charset="-120"/>
              </a:defRPr>
            </a:lvl1pPr>
          </a:lstStyle>
          <a:p>
            <a:fld id="{E4AFD807-D915-4447-A158-1BC5C189BEE6}" type="datetimeFigureOut">
              <a:rPr lang="zh-TW" altLang="en-US" smtClean="0"/>
              <a:pPr/>
              <a:t>2024/12/17</a:t>
            </a:fld>
            <a:endParaRPr lang="zh-TW" altLang="en-US"/>
          </a:p>
        </p:txBody>
      </p:sp>
      <p:sp>
        <p:nvSpPr>
          <p:cNvPr id="5" name="頁尾版面配置區 4">
            <a:extLst>
              <a:ext uri="{FF2B5EF4-FFF2-40B4-BE49-F238E27FC236}">
                <a16:creationId xmlns:a16="http://schemas.microsoft.com/office/drawing/2014/main" id="{EA972666-4AF1-4E44-ADDE-7D036AEF920C}"/>
              </a:ext>
            </a:extLst>
          </p:cNvPr>
          <p:cNvSpPr>
            <a:spLocks noGrp="1"/>
          </p:cNvSpPr>
          <p:nvPr>
            <p:ph type="ftr" sz="quarter" idx="11"/>
          </p:nvPr>
        </p:nvSpPr>
        <p:spPr/>
        <p:txBody>
          <a:bodyPr/>
          <a:lstStyle>
            <a:lvl1pPr>
              <a:defRPr>
                <a:latin typeface="微軟正黑體" panose="020B0604030504040204" pitchFamily="34" charset="-120"/>
                <a:ea typeface="微軟正黑體" panose="020B0604030504040204" pitchFamily="34" charset="-120"/>
              </a:defRPr>
            </a:lvl1pPr>
          </a:lstStyle>
          <a:p>
            <a:endParaRPr lang="zh-TW" altLang="en-US"/>
          </a:p>
        </p:txBody>
      </p:sp>
      <p:sp>
        <p:nvSpPr>
          <p:cNvPr id="6" name="投影片編號版面配置區 5">
            <a:extLst>
              <a:ext uri="{FF2B5EF4-FFF2-40B4-BE49-F238E27FC236}">
                <a16:creationId xmlns:a16="http://schemas.microsoft.com/office/drawing/2014/main" id="{F0C635A1-7B22-49B9-9738-B5F6FC6F6D4A}"/>
              </a:ext>
            </a:extLst>
          </p:cNvPr>
          <p:cNvSpPr>
            <a:spLocks noGrp="1"/>
          </p:cNvSpPr>
          <p:nvPr>
            <p:ph type="sldNum" sz="quarter" idx="12"/>
          </p:nvPr>
        </p:nvSpPr>
        <p:spPr/>
        <p:txBody>
          <a:bodyPr/>
          <a:lstStyle>
            <a:lvl1pPr>
              <a:defRPr>
                <a:latin typeface="微軟正黑體" panose="020B0604030504040204" pitchFamily="34" charset="-120"/>
                <a:ea typeface="微軟正黑體" panose="020B0604030504040204" pitchFamily="34" charset="-120"/>
              </a:defRPr>
            </a:lvl1pPr>
          </a:lstStyle>
          <a:p>
            <a:fld id="{D173F6AD-0191-4C11-BE88-55F1866DE743}" type="slidenum">
              <a:rPr lang="zh-TW" altLang="en-US" smtClean="0"/>
              <a:pPr/>
              <a:t>‹#›</a:t>
            </a:fld>
            <a:endParaRPr lang="zh-TW" altLang="en-US"/>
          </a:p>
        </p:txBody>
      </p:sp>
    </p:spTree>
    <p:extLst>
      <p:ext uri="{BB962C8B-B14F-4D97-AF65-F5344CB8AC3E}">
        <p14:creationId xmlns:p14="http://schemas.microsoft.com/office/powerpoint/2010/main" val="781681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55629-380A-44FA-9D37-8183E6B3E5C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BE8385D-DE59-402B-886A-3D39D6F333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27533F1-7CCD-4111-8994-9ACA7DA5D06E}"/>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5" name="頁尾版面配置區 4">
            <a:extLst>
              <a:ext uri="{FF2B5EF4-FFF2-40B4-BE49-F238E27FC236}">
                <a16:creationId xmlns:a16="http://schemas.microsoft.com/office/drawing/2014/main" id="{CB7A7FE2-75AA-44D4-BFE7-B83416ED10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44212A-9A4C-48C2-A968-BA0274393066}"/>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3023037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B87DE8-C2E1-460C-8440-AA88A4DDF06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AB487B5-C86A-43B7-9B8C-E73BC082AD8D}"/>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79EEEBF-E79A-41B6-BEC7-9A6F4E40026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50B1F44-625D-4708-9E3F-994EE1C74EBE}"/>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6" name="頁尾版面配置區 5">
            <a:extLst>
              <a:ext uri="{FF2B5EF4-FFF2-40B4-BE49-F238E27FC236}">
                <a16:creationId xmlns:a16="http://schemas.microsoft.com/office/drawing/2014/main" id="{41EA7977-BF72-4ADB-B3BE-4CD0448960C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E0448B8-8EF6-453E-B307-08FCB34BC912}"/>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255489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1132F9-B0EC-4849-B87B-345A53A4FE9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4681CF4-89D6-49B1-A2EB-ED85C916C9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07642E4-B070-4584-8276-20C272963351}"/>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34E768C-7DA7-4A93-98A3-6F5550500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E0ADB5D7-609F-4497-AE1F-362B73DD4178}"/>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D0E6BFF1-2F38-4391-90A4-FCB50489AE70}"/>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8" name="頁尾版面配置區 7">
            <a:extLst>
              <a:ext uri="{FF2B5EF4-FFF2-40B4-BE49-F238E27FC236}">
                <a16:creationId xmlns:a16="http://schemas.microsoft.com/office/drawing/2014/main" id="{4147C809-0C9F-4FED-A64E-38A423A6AC66}"/>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CFC22B5-EA5E-45EE-99A5-B1311B9596CF}"/>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2163766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8B1E59-9E47-4A45-AF60-72AA5145CCE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2F8C2A7-492F-447F-B1A8-54BA88390A6B}"/>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4" name="頁尾版面配置區 3">
            <a:extLst>
              <a:ext uri="{FF2B5EF4-FFF2-40B4-BE49-F238E27FC236}">
                <a16:creationId xmlns:a16="http://schemas.microsoft.com/office/drawing/2014/main" id="{D344F733-6F79-49D0-BF24-59FCDE864E2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2927080B-7285-4DDF-9872-D53688E9B051}"/>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388563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2A2BAE21-8269-480C-881C-2774B1434424}"/>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3" name="頁尾版面配置區 2">
            <a:extLst>
              <a:ext uri="{FF2B5EF4-FFF2-40B4-BE49-F238E27FC236}">
                <a16:creationId xmlns:a16="http://schemas.microsoft.com/office/drawing/2014/main" id="{1422079E-41FA-4623-A78F-66AB8742CCE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AA8A9F1-D2EC-4E7E-8646-CA8E1E811305}"/>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3335035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274A0A-E56F-4E1E-ABB3-4164A849999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F0E6FAE-1756-4032-AE82-2551C55CCB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669A2A-0785-4AB0-B5C1-D3D0482E2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6B92DAA9-A6A4-4E62-9BE1-35B4D8EFF5A6}"/>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6" name="頁尾版面配置區 5">
            <a:extLst>
              <a:ext uri="{FF2B5EF4-FFF2-40B4-BE49-F238E27FC236}">
                <a16:creationId xmlns:a16="http://schemas.microsoft.com/office/drawing/2014/main" id="{13AFD465-5027-4562-87FE-F54C13E2600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F67D991-D62F-4C38-ACCE-695B909E5857}"/>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3131814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82EB02-BC57-4832-A196-502211297B3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9C45B32-AA47-4B74-B7AB-2FF9E13FF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CB4FEB3-9452-4F62-9F26-CE2E8E2E7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BC9F4A5-1F8B-4F58-8AA3-5DEF680E3D58}"/>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6" name="頁尾版面配置區 5">
            <a:extLst>
              <a:ext uri="{FF2B5EF4-FFF2-40B4-BE49-F238E27FC236}">
                <a16:creationId xmlns:a16="http://schemas.microsoft.com/office/drawing/2014/main" id="{9DD840DF-6988-48B5-95BC-0DE26C41A02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13378F1-84B2-470A-9392-BF4878D5C672}"/>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77364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B2AD0A-563B-43F3-B5BB-D016B547F6E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CA0210CE-4672-4680-AF7C-01C57A09134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02B0B75-337E-447B-9438-69E75F29D2DE}"/>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5" name="頁尾版面配置區 4">
            <a:extLst>
              <a:ext uri="{FF2B5EF4-FFF2-40B4-BE49-F238E27FC236}">
                <a16:creationId xmlns:a16="http://schemas.microsoft.com/office/drawing/2014/main" id="{EC4152A2-9068-4E75-B4AA-BBB947F1565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6E7D6D5-2A65-4B31-9966-8EB3C9D2C7D4}"/>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4200214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0CDDAC9-0E5C-45A3-B72D-B73152B4080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D654709-9753-4FF8-A7AC-8BF07AA6FE8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A84742C-F004-42BA-9204-DE6132E41B1D}"/>
              </a:ext>
            </a:extLst>
          </p:cNvPr>
          <p:cNvSpPr>
            <a:spLocks noGrp="1"/>
          </p:cNvSpPr>
          <p:nvPr>
            <p:ph type="dt" sz="half" idx="10"/>
          </p:nvPr>
        </p:nvSpPr>
        <p:spPr/>
        <p:txBody>
          <a:bodyPr/>
          <a:lstStyle/>
          <a:p>
            <a:fld id="{E4AFD807-D915-4447-A158-1BC5C189BEE6}" type="datetimeFigureOut">
              <a:rPr lang="zh-TW" altLang="en-US" smtClean="0"/>
              <a:t>2024/12/17</a:t>
            </a:fld>
            <a:endParaRPr lang="zh-TW" altLang="en-US"/>
          </a:p>
        </p:txBody>
      </p:sp>
      <p:sp>
        <p:nvSpPr>
          <p:cNvPr id="5" name="頁尾版面配置區 4">
            <a:extLst>
              <a:ext uri="{FF2B5EF4-FFF2-40B4-BE49-F238E27FC236}">
                <a16:creationId xmlns:a16="http://schemas.microsoft.com/office/drawing/2014/main" id="{8839493C-6BB7-4B34-8D78-72FF0188EE9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D9E968-ACE3-469A-A8DE-484DA926322F}"/>
              </a:ext>
            </a:extLst>
          </p:cNvPr>
          <p:cNvSpPr>
            <a:spLocks noGrp="1"/>
          </p:cNvSpPr>
          <p:nvPr>
            <p:ph type="sldNum" sz="quarter" idx="12"/>
          </p:nvPr>
        </p:nvSpPr>
        <p:spPr/>
        <p:txBody>
          <a:body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3893191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54727FE-D718-426C-AAAB-D470A1699F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97474FE-8540-410A-841C-ADFF365541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03D0F0F-0A7C-4047-A1B7-EBEA1FF653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AFD807-D915-4447-A158-1BC5C189BEE6}" type="datetimeFigureOut">
              <a:rPr lang="zh-TW" altLang="en-US" smtClean="0"/>
              <a:t>2024/12/17</a:t>
            </a:fld>
            <a:endParaRPr lang="zh-TW" altLang="en-US"/>
          </a:p>
        </p:txBody>
      </p:sp>
      <p:sp>
        <p:nvSpPr>
          <p:cNvPr id="5" name="頁尾版面配置區 4">
            <a:extLst>
              <a:ext uri="{FF2B5EF4-FFF2-40B4-BE49-F238E27FC236}">
                <a16:creationId xmlns:a16="http://schemas.microsoft.com/office/drawing/2014/main" id="{58BCBC08-CC65-4C10-8623-6E687447E1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F8380E5-80D1-42B2-97B0-12A62A01C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73F6AD-0191-4C11-BE88-55F1866DE743}" type="slidenum">
              <a:rPr lang="zh-TW" altLang="en-US" smtClean="0"/>
              <a:t>‹#›</a:t>
            </a:fld>
            <a:endParaRPr lang="zh-TW" altLang="en-US"/>
          </a:p>
        </p:txBody>
      </p:sp>
    </p:spTree>
    <p:extLst>
      <p:ext uri="{BB962C8B-B14F-4D97-AF65-F5344CB8AC3E}">
        <p14:creationId xmlns:p14="http://schemas.microsoft.com/office/powerpoint/2010/main" val="2649156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colab.research.google.com/drive/1xLV_9R74YfoMEfY6z2XZrycpZb-IFNq-?usp=sharing"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hyperlink" Target="https://towardsdatascience.com/derivative-of-the-softmax-function-and-the-categorical-cross-entropy-loss-ffceefc081d1" TargetMode="External"/><Relationship Id="rId7" Type="http://schemas.openxmlformats.org/officeDocument/2006/relationships/image" Target="../media/image13.png"/><Relationship Id="rId2" Type="http://schemas.openxmlformats.org/officeDocument/2006/relationships/hyperlink" Target="https://www.cuemath.com/calculus/derivative-of-log-x/" TargetMode="Externa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0.png"/><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sv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projector.tensorflow.org/"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code.google.com/archive/p/word2vec/"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colab.research.google.com/drive/1jfHbXHgoorLpjUsjejtpdo6Kg3BWbXAx?usp=sharing"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arxiv.org/pdf/1301.3781.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github.com/stanfordnlp/GloVe"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arxiv.org/pdf/1802.05365.pdf" TargetMode="External"/><Relationship Id="rId2" Type="http://schemas.openxmlformats.org/officeDocument/2006/relationships/image" Target="../media/image58.jpe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hyperlink" Target="https://colab.research.google.com/drive/1pEnRQXshxZPyrw3JniJh54O_eTO-XP7f?usp=sharing" TargetMode="External"/><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www.kaggle.com/datasets/lakshmi25npathi/imdb-dataset-of-50k-movie-reviews" TargetMode="External"/><Relationship Id="rId2" Type="http://schemas.openxmlformats.org/officeDocument/2006/relationships/hyperlink" Target="http://ai.stanford.edu/~amaas/data/sentiment/aclImdb_v1.tar.gz"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hyperlink" Target="https://colab.research.google.com/drive/1DTvc4egWytFnYhQyv6L5MDsSwV96-ygS?usp=sharing"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hyperlink" Target="https://www.gutenberg.org/ebooks/11.txt.utf-8" TargetMode="External"/><Relationship Id="rId2" Type="http://schemas.openxmlformats.org/officeDocument/2006/relationships/hyperlink" Target="https://www.gutenberg.org/ebooks/11" TargetMode="External"/><Relationship Id="rId1" Type="http://schemas.openxmlformats.org/officeDocument/2006/relationships/slideLayout" Target="../slideLayouts/slideLayout2.xml"/><Relationship Id="rId4" Type="http://schemas.openxmlformats.org/officeDocument/2006/relationships/hyperlink" Target="https://colab.research.google.com/drive/1IPILalnIXPFUH_JvRuPSqHF0O3vRC3RV?usp=sharing"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s://raw.githubusercontent.com/fxsjy/jieba/master/extra_dict/dict.txt.big" TargetMode="External"/><Relationship Id="rId2" Type="http://schemas.openxmlformats.org/officeDocument/2006/relationships/hyperlink" Target="https://www.kaggle.com/code/leonjye/three-kingdoms-text-generator" TargetMode="External"/><Relationship Id="rId1" Type="http://schemas.openxmlformats.org/officeDocument/2006/relationships/slideLayout" Target="../slideLayouts/slideLayout2.xml"/><Relationship Id="rId4" Type="http://schemas.openxmlformats.org/officeDocument/2006/relationships/hyperlink" Target="https://github.com/fxsjy/jieba" TargetMode="External"/></Relationships>
</file>

<file path=ppt/slides/_rels/slide105.xml.rels><?xml version="1.0" encoding="UTF-8" standalone="yes"?>
<Relationships xmlns="http://schemas.openxmlformats.org/package/2006/relationships"><Relationship Id="rId3" Type="http://schemas.openxmlformats.org/officeDocument/2006/relationships/hyperlink" Target="https://github.com/leonjyentub/Text_Generation/blob/main/Text_Generation_LSTM.py" TargetMode="External"/><Relationship Id="rId2" Type="http://schemas.openxmlformats.org/officeDocument/2006/relationships/hyperlink" Target="https://github.com/leonjyentub/Text_Generation/tree/main/Data"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C15C0F-34A3-4BCC-8FC8-7FD73047A505}"/>
              </a:ext>
            </a:extLst>
          </p:cNvPr>
          <p:cNvSpPr>
            <a:spLocks noGrp="1"/>
          </p:cNvSpPr>
          <p:nvPr>
            <p:ph type="ctrTitle"/>
          </p:nvPr>
        </p:nvSpPr>
        <p:spPr/>
        <p:txBody>
          <a:bodyPr/>
          <a:lstStyle/>
          <a:p>
            <a:r>
              <a:rPr lang="en-US" altLang="zh-TW" dirty="0"/>
              <a:t>Recurrent Neuron Networks</a:t>
            </a:r>
            <a:endParaRPr lang="zh-TW" altLang="en-US" dirty="0"/>
          </a:p>
        </p:txBody>
      </p:sp>
      <p:sp>
        <p:nvSpPr>
          <p:cNvPr id="3" name="副標題 2">
            <a:extLst>
              <a:ext uri="{FF2B5EF4-FFF2-40B4-BE49-F238E27FC236}">
                <a16:creationId xmlns:a16="http://schemas.microsoft.com/office/drawing/2014/main" id="{588F5B26-0F8E-438F-9873-1DA0891F1ADF}"/>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3047095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D8815F-AF2F-4396-8AFA-652603FD7B42}"/>
              </a:ext>
            </a:extLst>
          </p:cNvPr>
          <p:cNvSpPr>
            <a:spLocks noGrp="1"/>
          </p:cNvSpPr>
          <p:nvPr>
            <p:ph type="title"/>
          </p:nvPr>
        </p:nvSpPr>
        <p:spPr/>
        <p:txBody>
          <a:bodyPr/>
          <a:lstStyle/>
          <a:p>
            <a:r>
              <a:rPr lang="en-US" altLang="zh-TW" dirty="0">
                <a:latin typeface="微軟正黑體" panose="020B0604030504040204" pitchFamily="34" charset="-120"/>
                <a:ea typeface="微軟正黑體" panose="020B0604030504040204" pitchFamily="34" charset="-120"/>
              </a:rPr>
              <a:t>RNN</a:t>
            </a:r>
            <a:endParaRPr lang="zh-TW" altLang="en-US"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EA53AD4E-1726-4EA7-AA2A-F703B9642EFF}"/>
              </a:ext>
            </a:extLst>
          </p:cNvPr>
          <p:cNvSpPr>
            <a:spLocks noGrp="1"/>
          </p:cNvSpPr>
          <p:nvPr>
            <p:ph idx="1"/>
          </p:nvPr>
        </p:nvSpPr>
        <p:spPr>
          <a:xfrm>
            <a:off x="838200" y="1825625"/>
            <a:ext cx="10515600" cy="4667250"/>
          </a:xfrm>
        </p:spPr>
        <p:txBody>
          <a:bodyPr>
            <a:normAutofit/>
          </a:bodyPr>
          <a:lstStyle/>
          <a:p>
            <a:r>
              <a:rPr lang="zh-TW" altLang="en-US" dirty="0">
                <a:latin typeface="微軟正黑體" panose="020B0604030504040204" pitchFamily="34" charset="-120"/>
                <a:ea typeface="微軟正黑體" panose="020B0604030504040204" pitchFamily="34" charset="-120"/>
              </a:rPr>
              <a:t>循環神經網路（</a:t>
            </a:r>
            <a:r>
              <a:rPr lang="en-US" altLang="zh-TW" dirty="0">
                <a:latin typeface="微軟正黑體" panose="020B0604030504040204" pitchFamily="34" charset="-120"/>
                <a:ea typeface="微軟正黑體" panose="020B0604030504040204" pitchFamily="34" charset="-120"/>
              </a:rPr>
              <a:t>Recurrent Neural Network, RNN</a:t>
            </a:r>
            <a:r>
              <a:rPr lang="zh-TW" altLang="en-US" dirty="0">
                <a:latin typeface="微軟正黑體" panose="020B0604030504040204" pitchFamily="34" charset="-120"/>
                <a:ea typeface="微軟正黑體" panose="020B0604030504040204" pitchFamily="34" charset="-120"/>
              </a:rPr>
              <a:t>）主要用於處理序列資料，例如時間序列、語音、文字資料、或其他帶有</a:t>
            </a:r>
            <a:r>
              <a:rPr lang="zh-TW" altLang="en-US" b="1" dirty="0">
                <a:latin typeface="微軟正黑體" panose="020B0604030504040204" pitchFamily="34" charset="-120"/>
                <a:ea typeface="微軟正黑體" panose="020B0604030504040204" pitchFamily="34" charset="-120"/>
              </a:rPr>
              <a:t>順序依賴</a:t>
            </a:r>
            <a:r>
              <a:rPr lang="zh-TW" altLang="en-US" dirty="0">
                <a:latin typeface="微軟正黑體" panose="020B0604030504040204" pitchFamily="34" charset="-120"/>
                <a:ea typeface="微軟正黑體" panose="020B0604030504040204" pitchFamily="34" charset="-120"/>
              </a:rPr>
              <a:t>關係的數據。</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自然語言處理 </a:t>
            </a:r>
            <a:r>
              <a:rPr lang="en-US" altLang="zh-TW" dirty="0">
                <a:latin typeface="微軟正黑體" panose="020B0604030504040204" pitchFamily="34" charset="-120"/>
                <a:ea typeface="微軟正黑體" panose="020B0604030504040204" pitchFamily="34" charset="-120"/>
              </a:rPr>
              <a:t>(NLP)</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文字生成、語言模型、情感分析、機器翻譯</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資料集：</a:t>
            </a:r>
            <a:r>
              <a:rPr lang="en-US" altLang="zh-TW" dirty="0">
                <a:latin typeface="微軟正黑體" panose="020B0604030504040204" pitchFamily="34" charset="-120"/>
                <a:ea typeface="微軟正黑體" panose="020B0604030504040204" pitchFamily="34" charset="-120"/>
              </a:rPr>
              <a:t>IMDb</a:t>
            </a:r>
            <a:r>
              <a:rPr lang="zh-TW" altLang="en-US" dirty="0">
                <a:latin typeface="微軟正黑體" panose="020B0604030504040204" pitchFamily="34" charset="-120"/>
                <a:ea typeface="微軟正黑體" panose="020B0604030504040204" pitchFamily="34" charset="-120"/>
              </a:rPr>
              <a:t>：電影評論情感分析資料集。每筆資料包含一個評論與標籤（正面或負面）。</a:t>
            </a:r>
            <a:endParaRPr lang="en-US" altLang="zh-TW" dirty="0">
              <a:latin typeface="微軟正黑體" panose="020B0604030504040204" pitchFamily="34" charset="-120"/>
              <a:ea typeface="微軟正黑體" panose="020B0604030504040204" pitchFamily="34" charset="-120"/>
            </a:endParaRPr>
          </a:p>
          <a:p>
            <a:pPr lvl="2"/>
            <a:r>
              <a:rPr lang="en-US" altLang="zh-TW" dirty="0">
                <a:latin typeface="微軟正黑體" panose="020B0604030504040204" pitchFamily="34" charset="-120"/>
                <a:ea typeface="微軟正黑體" panose="020B0604030504040204" pitchFamily="34" charset="-120"/>
              </a:rPr>
              <a:t>Penn Treebank</a:t>
            </a:r>
            <a:r>
              <a:rPr lang="zh-TW" altLang="en-US" dirty="0">
                <a:latin typeface="微軟正黑體" panose="020B0604030504040204" pitchFamily="34" charset="-120"/>
                <a:ea typeface="微軟正黑體" panose="020B0604030504040204" pitchFamily="34" charset="-120"/>
              </a:rPr>
              <a:t>：用於語言模型或詞性標註的語料庫，適合訓練語言模型。</a:t>
            </a:r>
            <a:endParaRPr lang="en-US" altLang="zh-TW" dirty="0">
              <a:latin typeface="微軟正黑體" panose="020B0604030504040204" pitchFamily="34" charset="-120"/>
              <a:ea typeface="微軟正黑體" panose="020B0604030504040204" pitchFamily="34" charset="-120"/>
            </a:endParaRPr>
          </a:p>
          <a:p>
            <a:pPr lvl="2"/>
            <a:r>
              <a:rPr lang="en-US" altLang="zh-TW" dirty="0">
                <a:latin typeface="微軟正黑體" panose="020B0604030504040204" pitchFamily="34" charset="-120"/>
                <a:ea typeface="微軟正黑體" panose="020B0604030504040204" pitchFamily="34" charset="-120"/>
              </a:rPr>
              <a:t>Wikipedia Corpus</a:t>
            </a:r>
            <a:r>
              <a:rPr lang="zh-TW" altLang="en-US" dirty="0">
                <a:latin typeface="微軟正黑體" panose="020B0604030504040204" pitchFamily="34" charset="-120"/>
                <a:ea typeface="微軟正黑體" panose="020B0604030504040204" pitchFamily="34" charset="-120"/>
              </a:rPr>
              <a:t>：大規模文本資料，適合文本生成任務。</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時間序列預測：股票價格預測、天氣預測、能源消耗預測。</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時間序列資料具有時間依賴性，即當前的狀態會受到過去狀態的影響。</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語音辨識、音樂生成、手寫文字順序、語言翻譯等等</a:t>
            </a:r>
          </a:p>
        </p:txBody>
      </p:sp>
    </p:spTree>
    <p:extLst>
      <p:ext uri="{BB962C8B-B14F-4D97-AF65-F5344CB8AC3E}">
        <p14:creationId xmlns:p14="http://schemas.microsoft.com/office/powerpoint/2010/main" val="354722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94F2DC-6952-4B1F-A3BF-42EB2E7B5655}"/>
              </a:ext>
            </a:extLst>
          </p:cNvPr>
          <p:cNvSpPr>
            <a:spLocks noGrp="1"/>
          </p:cNvSpPr>
          <p:nvPr>
            <p:ph type="title"/>
          </p:nvPr>
        </p:nvSpPr>
        <p:spPr/>
        <p:txBody>
          <a:bodyPr/>
          <a:lstStyle/>
          <a:p>
            <a:r>
              <a:rPr lang="en-US" altLang="zh-TW" dirty="0"/>
              <a:t>Time Series using RNNs</a:t>
            </a:r>
            <a:endParaRPr lang="zh-TW" altLang="en-US" dirty="0"/>
          </a:p>
        </p:txBody>
      </p:sp>
      <p:sp>
        <p:nvSpPr>
          <p:cNvPr id="3" name="內容版面配置區 2">
            <a:extLst>
              <a:ext uri="{FF2B5EF4-FFF2-40B4-BE49-F238E27FC236}">
                <a16:creationId xmlns:a16="http://schemas.microsoft.com/office/drawing/2014/main" id="{C3DAA9EC-7BA4-4B8D-AA7F-F2D9CC2958F2}"/>
              </a:ext>
            </a:extLst>
          </p:cNvPr>
          <p:cNvSpPr>
            <a:spLocks noGrp="1"/>
          </p:cNvSpPr>
          <p:nvPr>
            <p:ph idx="1"/>
          </p:nvPr>
        </p:nvSpPr>
        <p:spPr>
          <a:xfrm>
            <a:off x="838200" y="1825625"/>
            <a:ext cx="3066312" cy="4890068"/>
          </a:xfrm>
        </p:spPr>
        <p:txBody>
          <a:bodyPr>
            <a:normAutofit/>
          </a:bodyPr>
          <a:lstStyle/>
          <a:p>
            <a:r>
              <a:rPr lang="zh-TW" altLang="en-US" dirty="0">
                <a:latin typeface="微軟正黑體" panose="020B0604030504040204" pitchFamily="34" charset="-120"/>
                <a:ea typeface="微軟正黑體" panose="020B0604030504040204" pitchFamily="34" charset="-120"/>
              </a:rPr>
              <a:t>假設我們可以使用前</a:t>
            </a:r>
            <a:r>
              <a:rPr lang="en-US" altLang="zh-TW" dirty="0">
                <a:latin typeface="微軟正黑體" panose="020B0604030504040204" pitchFamily="34" charset="-120"/>
                <a:ea typeface="微軟正黑體" panose="020B0604030504040204" pitchFamily="34" charset="-120"/>
              </a:rPr>
              <a:t>n</a:t>
            </a:r>
            <a:r>
              <a:rPr lang="zh-TW" altLang="en-US" dirty="0">
                <a:latin typeface="微軟正黑體" panose="020B0604030504040204" pitchFamily="34" charset="-120"/>
                <a:ea typeface="微軟正黑體" panose="020B0604030504040204" pitchFamily="34" charset="-120"/>
              </a:rPr>
              <a:t>天的資料預測下一天的股價</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假設</a:t>
            </a:r>
            <a:r>
              <a:rPr lang="en-US" altLang="zh-TW" dirty="0">
                <a:latin typeface="微軟正黑體" panose="020B0604030504040204" pitchFamily="34" charset="-120"/>
                <a:ea typeface="微軟正黑體" panose="020B0604030504040204" pitchFamily="34" charset="-120"/>
              </a:rPr>
              <a:t>n=1</a:t>
            </a:r>
            <a:r>
              <a:rPr lang="zh-TW" altLang="en-US" dirty="0">
                <a:latin typeface="微軟正黑體" panose="020B0604030504040204" pitchFamily="34" charset="-120"/>
                <a:ea typeface="微軟正黑體" panose="020B0604030504040204" pitchFamily="34" charset="-120"/>
              </a:rPr>
              <a:t>的話，可能會發現</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f(804)=&gt;804</a:t>
            </a:r>
          </a:p>
          <a:p>
            <a:pPr lvl="1"/>
            <a:r>
              <a:rPr lang="en-US" altLang="zh-TW" dirty="0">
                <a:latin typeface="微軟正黑體" panose="020B0604030504040204" pitchFamily="34" charset="-120"/>
                <a:ea typeface="微軟正黑體" panose="020B0604030504040204" pitchFamily="34" charset="-120"/>
              </a:rPr>
              <a:t>f(804)=&gt;750</a:t>
            </a:r>
          </a:p>
          <a:p>
            <a:r>
              <a:rPr lang="zh-TW" altLang="en-US" dirty="0">
                <a:latin typeface="微軟正黑體" panose="020B0604030504040204" pitchFamily="34" charset="-120"/>
                <a:ea typeface="微軟正黑體" panose="020B0604030504040204" pitchFamily="34" charset="-120"/>
              </a:rPr>
              <a:t>我們需要能</a:t>
            </a:r>
            <a:r>
              <a:rPr lang="zh-TW" altLang="en-US" b="1" dirty="0">
                <a:latin typeface="微軟正黑體" panose="020B0604030504040204" pitchFamily="34" charset="-120"/>
                <a:ea typeface="微軟正黑體" panose="020B0604030504040204" pitchFamily="34" charset="-120"/>
              </a:rPr>
              <a:t>「累積」</a:t>
            </a:r>
            <a:r>
              <a:rPr lang="zh-TW" altLang="en-US" dirty="0">
                <a:latin typeface="微軟正黑體" panose="020B0604030504040204" pitchFamily="34" charset="-120"/>
                <a:ea typeface="微軟正黑體" panose="020B0604030504040204" pitchFamily="34" charset="-120"/>
              </a:rPr>
              <a:t>前面資訊的模型</a:t>
            </a:r>
            <a:endParaRPr lang="en-US" altLang="zh-TW" dirty="0">
              <a:latin typeface="微軟正黑體" panose="020B0604030504040204" pitchFamily="34" charset="-120"/>
              <a:ea typeface="微軟正黑體" panose="020B0604030504040204" pitchFamily="34" charset="-120"/>
            </a:endParaRPr>
          </a:p>
        </p:txBody>
      </p:sp>
      <p:pic>
        <p:nvPicPr>
          <p:cNvPr id="1026" name="Picture 2">
            <a:extLst>
              <a:ext uri="{FF2B5EF4-FFF2-40B4-BE49-F238E27FC236}">
                <a16:creationId xmlns:a16="http://schemas.microsoft.com/office/drawing/2014/main" id="{5A5BC3DA-73C9-429D-8010-9B0D976679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957" y="2207971"/>
            <a:ext cx="7663694" cy="4083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331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C0D890-2326-40F4-9AF4-595CC375D3BE}"/>
              </a:ext>
            </a:extLst>
          </p:cNvPr>
          <p:cNvSpPr>
            <a:spLocks noGrp="1"/>
          </p:cNvSpPr>
          <p:nvPr>
            <p:ph type="title"/>
          </p:nvPr>
        </p:nvSpPr>
        <p:spPr/>
        <p:txBody>
          <a:bodyPr/>
          <a:lstStyle/>
          <a:p>
            <a:r>
              <a:rPr lang="en-US" altLang="zh-TW" dirty="0"/>
              <a:t>Slot filling</a:t>
            </a:r>
            <a:endParaRPr lang="zh-TW" altLang="en-US" dirty="0"/>
          </a:p>
        </p:txBody>
      </p:sp>
      <p:sp>
        <p:nvSpPr>
          <p:cNvPr id="3" name="內容版面配置區 2">
            <a:extLst>
              <a:ext uri="{FF2B5EF4-FFF2-40B4-BE49-F238E27FC236}">
                <a16:creationId xmlns:a16="http://schemas.microsoft.com/office/drawing/2014/main" id="{39ADD1F4-6853-497A-9FE6-7344741A2328}"/>
              </a:ext>
            </a:extLst>
          </p:cNvPr>
          <p:cNvSpPr>
            <a:spLocks noGrp="1"/>
          </p:cNvSpPr>
          <p:nvPr>
            <p:ph idx="1"/>
          </p:nvPr>
        </p:nvSpPr>
        <p:spPr>
          <a:xfrm>
            <a:off x="838200" y="1825625"/>
            <a:ext cx="3461297" cy="4351338"/>
          </a:xfrm>
        </p:spPr>
        <p:txBody>
          <a:bodyPr/>
          <a:lstStyle/>
          <a:p>
            <a:r>
              <a:rPr lang="zh-TW" altLang="en-US" dirty="0"/>
              <a:t>需要前後文關係才能知道</a:t>
            </a:r>
            <a:endParaRPr lang="en-US" altLang="zh-TW" dirty="0"/>
          </a:p>
          <a:p>
            <a:pPr lvl="1"/>
            <a:r>
              <a:rPr lang="en-US" altLang="zh-TW" dirty="0"/>
              <a:t>Taipei</a:t>
            </a:r>
            <a:r>
              <a:rPr lang="zh-TW" altLang="en-US" dirty="0"/>
              <a:t>是地點，而且是目的地而不是出發地</a:t>
            </a:r>
            <a:endParaRPr lang="en-US" altLang="zh-TW" dirty="0"/>
          </a:p>
          <a:p>
            <a:pPr lvl="1"/>
            <a:r>
              <a:rPr lang="en-US" altLang="zh-TW" dirty="0" err="1"/>
              <a:t>Novemember</a:t>
            </a:r>
            <a:r>
              <a:rPr lang="zh-TW" altLang="en-US" dirty="0"/>
              <a:t>是時間，而且是抵達時間</a:t>
            </a:r>
            <a:endParaRPr lang="en-US" altLang="zh-TW" dirty="0"/>
          </a:p>
          <a:p>
            <a:pPr lvl="1"/>
            <a:endParaRPr lang="zh-TW" altLang="en-US" dirty="0"/>
          </a:p>
        </p:txBody>
      </p:sp>
      <p:pic>
        <p:nvPicPr>
          <p:cNvPr id="4" name="圖片 3">
            <a:extLst>
              <a:ext uri="{FF2B5EF4-FFF2-40B4-BE49-F238E27FC236}">
                <a16:creationId xmlns:a16="http://schemas.microsoft.com/office/drawing/2014/main" id="{0ADC1E29-D586-49C5-8FF2-15191CE03C00}"/>
              </a:ext>
            </a:extLst>
          </p:cNvPr>
          <p:cNvPicPr/>
          <p:nvPr/>
        </p:nvPicPr>
        <p:blipFill rotWithShape="1">
          <a:blip r:embed="rId2"/>
          <a:srcRect t="8481"/>
          <a:stretch/>
        </p:blipFill>
        <p:spPr>
          <a:xfrm>
            <a:off x="4547777" y="1783457"/>
            <a:ext cx="5984758" cy="42655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文字方塊 5">
            <a:extLst>
              <a:ext uri="{FF2B5EF4-FFF2-40B4-BE49-F238E27FC236}">
                <a16:creationId xmlns:a16="http://schemas.microsoft.com/office/drawing/2014/main" id="{D7F43CF2-A259-42E8-9FC2-FD97F95266FC}"/>
              </a:ext>
            </a:extLst>
          </p:cNvPr>
          <p:cNvSpPr txBox="1"/>
          <p:nvPr/>
        </p:nvSpPr>
        <p:spPr>
          <a:xfrm>
            <a:off x="3610163" y="6269732"/>
            <a:ext cx="7743637" cy="369332"/>
          </a:xfrm>
          <a:prstGeom prst="rect">
            <a:avLst/>
          </a:prstGeom>
          <a:noFill/>
        </p:spPr>
        <p:txBody>
          <a:bodyPr wrap="square">
            <a:spAutoFit/>
          </a:bodyPr>
          <a:lstStyle/>
          <a:p>
            <a:pPr marL="864000" lvl="1" indent="-324000">
              <a:spcAft>
                <a:spcPts val="848"/>
              </a:spcAft>
              <a:buClr>
                <a:srgbClr val="000000"/>
              </a:buClr>
              <a:buSzPct val="40000"/>
              <a:buFont typeface="Wingdings" charset="2"/>
              <a:buChar char=""/>
            </a:pPr>
            <a:r>
              <a:rPr lang="en-US" altLang="zh-TW" sz="1800" b="0" strike="noStrike" spc="-1" dirty="0">
                <a:solidFill>
                  <a:srgbClr val="050505"/>
                </a:solidFill>
                <a:latin typeface="Arial"/>
              </a:rPr>
              <a:t>(Hung-</a:t>
            </a:r>
            <a:r>
              <a:rPr lang="en-US" altLang="zh-TW" sz="1800" b="0" strike="noStrike" spc="-1" dirty="0" err="1">
                <a:solidFill>
                  <a:srgbClr val="050505"/>
                </a:solidFill>
                <a:latin typeface="Arial"/>
              </a:rPr>
              <a:t>yi</a:t>
            </a:r>
            <a:r>
              <a:rPr lang="en-US" altLang="zh-TW" sz="1800" b="0" strike="noStrike" spc="-1" dirty="0">
                <a:solidFill>
                  <a:srgbClr val="050505"/>
                </a:solidFill>
                <a:latin typeface="Arial"/>
              </a:rPr>
              <a:t> Lee</a:t>
            </a:r>
            <a:r>
              <a:rPr lang="zh-TW" altLang="zh-TW" sz="1800" b="0" strike="noStrike" spc="-1" dirty="0">
                <a:solidFill>
                  <a:srgbClr val="050505"/>
                </a:solidFill>
                <a:latin typeface="Arial"/>
              </a:rPr>
              <a:t>：</a:t>
            </a:r>
            <a:r>
              <a:rPr lang="en-US" altLang="zh-TW" sz="1800" b="0" strike="noStrike" spc="-1" dirty="0">
                <a:solidFill>
                  <a:srgbClr val="050505"/>
                </a:solidFill>
                <a:latin typeface="Arial"/>
              </a:rPr>
              <a:t>https://www.youtube.com/watch?v=xCGidAeyS4M)</a:t>
            </a:r>
          </a:p>
        </p:txBody>
      </p:sp>
    </p:spTree>
    <p:extLst>
      <p:ext uri="{BB962C8B-B14F-4D97-AF65-F5344CB8AC3E}">
        <p14:creationId xmlns:p14="http://schemas.microsoft.com/office/powerpoint/2010/main" val="3327100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2CF93B-7D97-46FF-8D27-1A47475E6F7C}"/>
              </a:ext>
            </a:extLst>
          </p:cNvPr>
          <p:cNvSpPr>
            <a:spLocks noGrp="1"/>
          </p:cNvSpPr>
          <p:nvPr>
            <p:ph type="title"/>
          </p:nvPr>
        </p:nvSpPr>
        <p:spPr/>
        <p:txBody>
          <a:bodyPr/>
          <a:lstStyle/>
          <a:p>
            <a:r>
              <a:rPr lang="en-US" altLang="zh-TW" dirty="0"/>
              <a:t>Recurrent Neural Network, RNN</a:t>
            </a:r>
            <a:endParaRPr lang="zh-TW" altLang="en-US" dirty="0"/>
          </a:p>
        </p:txBody>
      </p:sp>
      <p:sp>
        <p:nvSpPr>
          <p:cNvPr id="3" name="內容版面配置區 2">
            <a:extLst>
              <a:ext uri="{FF2B5EF4-FFF2-40B4-BE49-F238E27FC236}">
                <a16:creationId xmlns:a16="http://schemas.microsoft.com/office/drawing/2014/main" id="{1E247E19-EFBF-4DB4-8D7E-99C53F6BA7D8}"/>
              </a:ext>
            </a:extLst>
          </p:cNvPr>
          <p:cNvSpPr>
            <a:spLocks noGrp="1"/>
          </p:cNvSpPr>
          <p:nvPr>
            <p:ph idx="1"/>
          </p:nvPr>
        </p:nvSpPr>
        <p:spPr/>
        <p:txBody>
          <a:bodyPr/>
          <a:lstStyle/>
          <a:p>
            <a:r>
              <a:rPr lang="zh-TW" altLang="en-US" dirty="0"/>
              <a:t>將「前次」執行時的輸出</a:t>
            </a:r>
            <a:r>
              <a:rPr lang="en-US" altLang="zh-TW" dirty="0"/>
              <a:t>(</a:t>
            </a:r>
            <a:r>
              <a:rPr lang="zh-TW" altLang="en-US" dirty="0"/>
              <a:t>可以是隱藏層或是輸出層</a:t>
            </a:r>
            <a:r>
              <a:rPr lang="en-US" altLang="zh-TW" dirty="0"/>
              <a:t>)</a:t>
            </a:r>
            <a:r>
              <a:rPr lang="zh-TW" altLang="en-US" dirty="0"/>
              <a:t>，當作「這次」執行的輸入之一，這次執行的輸出會當作「下次」執行的輸入之一</a:t>
            </a:r>
          </a:p>
          <a:p>
            <a:endParaRPr lang="zh-TW" altLang="en-US" dirty="0"/>
          </a:p>
        </p:txBody>
      </p:sp>
      <p:pic>
        <p:nvPicPr>
          <p:cNvPr id="4" name="Picture 4">
            <a:extLst>
              <a:ext uri="{FF2B5EF4-FFF2-40B4-BE49-F238E27FC236}">
                <a16:creationId xmlns:a16="http://schemas.microsoft.com/office/drawing/2014/main" id="{40525297-B504-4396-93E5-A12D37C10C9E}"/>
              </a:ext>
            </a:extLst>
          </p:cNvPr>
          <p:cNvPicPr>
            <a:picLocks noChangeAspect="1"/>
          </p:cNvPicPr>
          <p:nvPr/>
        </p:nvPicPr>
        <p:blipFill>
          <a:blip r:embed="rId2"/>
          <a:stretch/>
        </p:blipFill>
        <p:spPr>
          <a:xfrm>
            <a:off x="1747187" y="3696236"/>
            <a:ext cx="8037435" cy="2103497"/>
          </a:xfrm>
          <a:prstGeom prst="rect">
            <a:avLst/>
          </a:prstGeom>
          <a:ln w="18000">
            <a:noFill/>
          </a:ln>
        </p:spPr>
      </p:pic>
    </p:spTree>
    <p:extLst>
      <p:ext uri="{BB962C8B-B14F-4D97-AF65-F5344CB8AC3E}">
        <p14:creationId xmlns:p14="http://schemas.microsoft.com/office/powerpoint/2010/main" val="1511227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8FD69C-7A07-4266-8AFA-5DAFAD206887}"/>
              </a:ext>
            </a:extLst>
          </p:cNvPr>
          <p:cNvSpPr>
            <a:spLocks noGrp="1"/>
          </p:cNvSpPr>
          <p:nvPr>
            <p:ph type="title"/>
          </p:nvPr>
        </p:nvSpPr>
        <p:spPr/>
        <p:txBody>
          <a:bodyPr/>
          <a:lstStyle/>
          <a:p>
            <a:r>
              <a:rPr lang="en-US" altLang="zh-TW" dirty="0"/>
              <a:t>Recurrent Neural Network, RNN</a:t>
            </a:r>
            <a:endParaRPr lang="zh-TW" altLang="en-US" dirty="0"/>
          </a:p>
        </p:txBody>
      </p:sp>
      <p:sp>
        <p:nvSpPr>
          <p:cNvPr id="3" name="內容版面配置區 2">
            <a:extLst>
              <a:ext uri="{FF2B5EF4-FFF2-40B4-BE49-F238E27FC236}">
                <a16:creationId xmlns:a16="http://schemas.microsoft.com/office/drawing/2014/main" id="{12D20476-C3F8-4F1D-B7A4-B18DDD2856A3}"/>
              </a:ext>
            </a:extLst>
          </p:cNvPr>
          <p:cNvSpPr>
            <a:spLocks noGrp="1"/>
          </p:cNvSpPr>
          <p:nvPr>
            <p:ph idx="1"/>
          </p:nvPr>
        </p:nvSpPr>
        <p:spPr/>
        <p:txBody>
          <a:bodyPr/>
          <a:lstStyle/>
          <a:p>
            <a:r>
              <a:rPr lang="zh-TW" altLang="en-US" dirty="0"/>
              <a:t>由於循環神經元在時間</a:t>
            </a:r>
            <a:r>
              <a:rPr lang="en" altLang="zh-TW" dirty="0"/>
              <a:t>t</a:t>
            </a:r>
            <a:r>
              <a:rPr lang="zh-TW" altLang="en-US" dirty="0"/>
              <a:t>的輸出是所有從之前的時間步驟輸入的函數，可以說它有一種記憶形式</a:t>
            </a:r>
            <a:r>
              <a:rPr lang="en-US" altLang="zh-TW" dirty="0"/>
              <a:t>(</a:t>
            </a:r>
            <a:r>
              <a:rPr lang="en" altLang="zh-TW" dirty="0"/>
              <a:t>memory)</a:t>
            </a:r>
            <a:r>
              <a:rPr lang="zh-TW" altLang="en" dirty="0"/>
              <a:t>。</a:t>
            </a:r>
          </a:p>
          <a:p>
            <a:r>
              <a:rPr lang="zh-TW" altLang="en-US" dirty="0"/>
              <a:t>一部分跨時間步驟，保留某些狀態的神經網絡稱為記憶細胞（</a:t>
            </a:r>
            <a:r>
              <a:rPr lang="en" altLang="zh-TW" dirty="0"/>
              <a:t>cell</a:t>
            </a:r>
            <a:r>
              <a:rPr lang="zh-TW" altLang="en" dirty="0"/>
              <a:t>）。</a:t>
            </a:r>
          </a:p>
          <a:p>
            <a:endParaRPr lang="zh-TW" altLang="en-US" dirty="0"/>
          </a:p>
        </p:txBody>
      </p:sp>
      <p:grpSp>
        <p:nvGrpSpPr>
          <p:cNvPr id="4" name="群組 3">
            <a:extLst>
              <a:ext uri="{FF2B5EF4-FFF2-40B4-BE49-F238E27FC236}">
                <a16:creationId xmlns:a16="http://schemas.microsoft.com/office/drawing/2014/main" id="{61D4C187-75E8-498A-8F95-7BA362D835CC}"/>
              </a:ext>
            </a:extLst>
          </p:cNvPr>
          <p:cNvGrpSpPr/>
          <p:nvPr/>
        </p:nvGrpSpPr>
        <p:grpSpPr>
          <a:xfrm>
            <a:off x="1724999" y="3753420"/>
            <a:ext cx="5622397" cy="2491581"/>
            <a:chOff x="2143440" y="1401480"/>
            <a:chExt cx="7020000" cy="3215520"/>
          </a:xfrm>
        </p:grpSpPr>
        <p:pic>
          <p:nvPicPr>
            <p:cNvPr id="5" name="圖片 4">
              <a:extLst>
                <a:ext uri="{FF2B5EF4-FFF2-40B4-BE49-F238E27FC236}">
                  <a16:creationId xmlns:a16="http://schemas.microsoft.com/office/drawing/2014/main" id="{A7547502-91EA-4E97-B731-3D1D67DAA602}"/>
                </a:ext>
              </a:extLst>
            </p:cNvPr>
            <p:cNvPicPr/>
            <p:nvPr/>
          </p:nvPicPr>
          <p:blipFill>
            <a:blip r:embed="rId2"/>
            <a:stretch/>
          </p:blipFill>
          <p:spPr>
            <a:xfrm>
              <a:off x="2143440" y="1401480"/>
              <a:ext cx="7020000" cy="3215520"/>
            </a:xfrm>
            <a:prstGeom prst="rect">
              <a:avLst/>
            </a:prstGeom>
            <a:ln w="18000">
              <a:noFill/>
            </a:ln>
          </p:spPr>
        </p:pic>
        <p:sp>
          <p:nvSpPr>
            <p:cNvPr id="6" name="手繪多邊形 5">
              <a:extLst>
                <a:ext uri="{FF2B5EF4-FFF2-40B4-BE49-F238E27FC236}">
                  <a16:creationId xmlns:a16="http://schemas.microsoft.com/office/drawing/2014/main" id="{FE6C7726-A946-4C3E-AE6D-0FF6882EB793}"/>
                </a:ext>
              </a:extLst>
            </p:cNvPr>
            <p:cNvSpPr/>
            <p:nvPr/>
          </p:nvSpPr>
          <p:spPr>
            <a:xfrm>
              <a:off x="3223440" y="2733480"/>
              <a:ext cx="540000" cy="360000"/>
            </a:xfrm>
            <a:custGeom>
              <a:avLst/>
              <a:gdLst/>
              <a:ahLst/>
              <a:cxnLst/>
              <a:rect l="l" t="t" r="r" b="b"/>
              <a:pathLst>
                <a:path w="21600" h="21600">
                  <a:moveTo>
                    <a:pt x="0" y="5400"/>
                  </a:moveTo>
                  <a:lnTo>
                    <a:pt x="16200" y="5400"/>
                  </a:lnTo>
                  <a:lnTo>
                    <a:pt x="16200" y="0"/>
                  </a:lnTo>
                  <a:lnTo>
                    <a:pt x="21600" y="10800"/>
                  </a:lnTo>
                  <a:lnTo>
                    <a:pt x="16200" y="21600"/>
                  </a:lnTo>
                  <a:lnTo>
                    <a:pt x="16200" y="16200"/>
                  </a:lnTo>
                  <a:lnTo>
                    <a:pt x="0" y="16200"/>
                  </a:lnTo>
                  <a:close/>
                </a:path>
              </a:pathLst>
            </a:custGeom>
            <a:solidFill>
              <a:srgbClr val="DEE6EF"/>
            </a:solidFill>
            <a:ln w="18000">
              <a:solidFill>
                <a:srgbClr val="2A6099"/>
              </a:solidFill>
              <a:round/>
            </a:ln>
          </p:spPr>
          <p:style>
            <a:lnRef idx="0">
              <a:scrgbClr r="0" g="0" b="0"/>
            </a:lnRef>
            <a:fillRef idx="0">
              <a:scrgbClr r="0" g="0" b="0"/>
            </a:fillRef>
            <a:effectRef idx="0">
              <a:scrgbClr r="0" g="0" b="0"/>
            </a:effectRef>
            <a:fontRef idx="minor"/>
          </p:style>
        </p:sp>
      </p:grpSp>
      <p:pic>
        <p:nvPicPr>
          <p:cNvPr id="7" name="圖片 6">
            <a:extLst>
              <a:ext uri="{FF2B5EF4-FFF2-40B4-BE49-F238E27FC236}">
                <a16:creationId xmlns:a16="http://schemas.microsoft.com/office/drawing/2014/main" id="{02C7353D-4814-4B16-A54B-B53BC2AAD1F2}"/>
              </a:ext>
            </a:extLst>
          </p:cNvPr>
          <p:cNvPicPr/>
          <p:nvPr/>
        </p:nvPicPr>
        <p:blipFill rotWithShape="1">
          <a:blip r:embed="rId3"/>
          <a:srcRect t="16167"/>
          <a:stretch/>
        </p:blipFill>
        <p:spPr>
          <a:xfrm>
            <a:off x="7485308" y="4503463"/>
            <a:ext cx="4049096" cy="495747"/>
          </a:xfrm>
          <a:prstGeom prst="rect">
            <a:avLst/>
          </a:prstGeom>
          <a:ln w="18000">
            <a:noFill/>
          </a:ln>
        </p:spPr>
      </p:pic>
    </p:spTree>
    <p:extLst>
      <p:ext uri="{BB962C8B-B14F-4D97-AF65-F5344CB8AC3E}">
        <p14:creationId xmlns:p14="http://schemas.microsoft.com/office/powerpoint/2010/main" val="2917996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AAF93C-9BD0-4953-9B19-371006F6F79E}"/>
              </a:ext>
            </a:extLst>
          </p:cNvPr>
          <p:cNvSpPr>
            <a:spLocks noGrp="1"/>
          </p:cNvSpPr>
          <p:nvPr>
            <p:ph type="title"/>
          </p:nvPr>
        </p:nvSpPr>
        <p:spPr/>
        <p:txBody>
          <a:bodyPr/>
          <a:lstStyle/>
          <a:p>
            <a:r>
              <a:rPr lang="en-US" altLang="zh-TW" dirty="0"/>
              <a:t>Recurrent Neural Network, RNN</a:t>
            </a:r>
            <a:endParaRPr lang="zh-TW" altLang="en-US" dirty="0"/>
          </a:p>
        </p:txBody>
      </p:sp>
      <p:sp>
        <p:nvSpPr>
          <p:cNvPr id="3" name="內容版面配置區 2">
            <a:extLst>
              <a:ext uri="{FF2B5EF4-FFF2-40B4-BE49-F238E27FC236}">
                <a16:creationId xmlns:a16="http://schemas.microsoft.com/office/drawing/2014/main" id="{6D044B90-5309-42FA-9656-C8C9DFAD26E8}"/>
              </a:ext>
            </a:extLst>
          </p:cNvPr>
          <p:cNvSpPr>
            <a:spLocks noGrp="1"/>
          </p:cNvSpPr>
          <p:nvPr>
            <p:ph idx="1"/>
          </p:nvPr>
        </p:nvSpPr>
        <p:spPr/>
        <p:txBody>
          <a:bodyPr/>
          <a:lstStyle/>
          <a:p>
            <a:r>
              <a:rPr lang="zh-TW" altLang="en-US" dirty="0"/>
              <a:t>當然，你也可以在每一個</a:t>
            </a:r>
            <a:r>
              <a:rPr lang="en-US" altLang="zh-TW" dirty="0"/>
              <a:t>layer</a:t>
            </a:r>
            <a:r>
              <a:rPr lang="zh-TW" altLang="en-US" dirty="0"/>
              <a:t>裡放一個以上的遞迴神經元</a:t>
            </a:r>
          </a:p>
          <a:p>
            <a:endParaRPr kumimoji="1" lang="zh-TW" altLang="en-US" dirty="0"/>
          </a:p>
        </p:txBody>
      </p:sp>
      <p:pic>
        <p:nvPicPr>
          <p:cNvPr id="4" name="圖片 3">
            <a:extLst>
              <a:ext uri="{FF2B5EF4-FFF2-40B4-BE49-F238E27FC236}">
                <a16:creationId xmlns:a16="http://schemas.microsoft.com/office/drawing/2014/main" id="{9DBC0ACA-CDA6-44A2-A143-A9856C21609E}"/>
              </a:ext>
            </a:extLst>
          </p:cNvPr>
          <p:cNvPicPr>
            <a:picLocks noChangeAspect="1"/>
          </p:cNvPicPr>
          <p:nvPr/>
        </p:nvPicPr>
        <p:blipFill>
          <a:blip r:embed="rId2"/>
          <a:stretch>
            <a:fillRect/>
          </a:stretch>
        </p:blipFill>
        <p:spPr>
          <a:xfrm>
            <a:off x="2099564" y="2634879"/>
            <a:ext cx="7772400" cy="3092767"/>
          </a:xfrm>
          <a:prstGeom prst="rect">
            <a:avLst/>
          </a:prstGeom>
          <a:ln>
            <a:solidFill>
              <a:schemeClr val="tx1"/>
            </a:solidFill>
          </a:ln>
        </p:spPr>
      </p:pic>
    </p:spTree>
    <p:extLst>
      <p:ext uri="{BB962C8B-B14F-4D97-AF65-F5344CB8AC3E}">
        <p14:creationId xmlns:p14="http://schemas.microsoft.com/office/powerpoint/2010/main" val="3412877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55C3BE-7064-EA92-D406-B877829725D8}"/>
              </a:ext>
            </a:extLst>
          </p:cNvPr>
          <p:cNvSpPr>
            <a:spLocks noGrp="1"/>
          </p:cNvSpPr>
          <p:nvPr>
            <p:ph type="title"/>
          </p:nvPr>
        </p:nvSpPr>
        <p:spPr/>
        <p:txBody>
          <a:bodyPr>
            <a:normAutofit fontScale="90000"/>
          </a:bodyPr>
          <a:lstStyle/>
          <a:p>
            <a:r>
              <a:rPr lang="en-US" altLang="zh-TW" sz="5400" dirty="0"/>
              <a:t>Recurrent Neural Network -Deep RNN</a:t>
            </a:r>
            <a:endParaRPr lang="zh-TW" altLang="en-US" sz="5400" dirty="0"/>
          </a:p>
        </p:txBody>
      </p:sp>
      <p:pic>
        <p:nvPicPr>
          <p:cNvPr id="4" name="圖片 3">
            <a:extLst>
              <a:ext uri="{FF2B5EF4-FFF2-40B4-BE49-F238E27FC236}">
                <a16:creationId xmlns:a16="http://schemas.microsoft.com/office/drawing/2014/main" id="{70484F71-2CD4-3C94-CB15-8C4283750FCC}"/>
              </a:ext>
            </a:extLst>
          </p:cNvPr>
          <p:cNvPicPr/>
          <p:nvPr/>
        </p:nvPicPr>
        <p:blipFill>
          <a:blip r:embed="rId2"/>
          <a:stretch/>
        </p:blipFill>
        <p:spPr>
          <a:xfrm>
            <a:off x="2119104" y="1824624"/>
            <a:ext cx="7530120" cy="4448160"/>
          </a:xfrm>
          <a:prstGeom prst="rect">
            <a:avLst/>
          </a:prstGeom>
          <a:ln w="18000">
            <a:noFill/>
          </a:ln>
        </p:spPr>
      </p:pic>
    </p:spTree>
    <p:extLst>
      <p:ext uri="{BB962C8B-B14F-4D97-AF65-F5344CB8AC3E}">
        <p14:creationId xmlns:p14="http://schemas.microsoft.com/office/powerpoint/2010/main" val="878834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C1EC75-8180-4EA3-97C8-ADC6E1099440}"/>
              </a:ext>
            </a:extLst>
          </p:cNvPr>
          <p:cNvSpPr>
            <a:spLocks noGrp="1"/>
          </p:cNvSpPr>
          <p:nvPr>
            <p:ph type="title"/>
          </p:nvPr>
        </p:nvSpPr>
        <p:spPr/>
        <p:txBody>
          <a:bodyPr/>
          <a:lstStyle/>
          <a:p>
            <a:r>
              <a:rPr lang="en-US" altLang="zh-TW" dirty="0"/>
              <a:t>Recurrent Neural Network, RNN</a:t>
            </a:r>
            <a:endParaRPr lang="zh-TW" altLang="en-US" dirty="0"/>
          </a:p>
        </p:txBody>
      </p:sp>
      <p:sp>
        <p:nvSpPr>
          <p:cNvPr id="3" name="內容版面配置區 2">
            <a:extLst>
              <a:ext uri="{FF2B5EF4-FFF2-40B4-BE49-F238E27FC236}">
                <a16:creationId xmlns:a16="http://schemas.microsoft.com/office/drawing/2014/main" id="{57539A2B-47E3-43C1-B904-06793DCF77EE}"/>
              </a:ext>
            </a:extLst>
          </p:cNvPr>
          <p:cNvSpPr>
            <a:spLocks noGrp="1"/>
          </p:cNvSpPr>
          <p:nvPr>
            <p:ph idx="1"/>
          </p:nvPr>
        </p:nvSpPr>
        <p:spPr/>
        <p:txBody>
          <a:bodyPr/>
          <a:lstStyle/>
          <a:p>
            <a:r>
              <a:rPr lang="zh-TW" altLang="en-US" dirty="0"/>
              <a:t>來個範例</a:t>
            </a:r>
            <a:endParaRPr lang="en-US" altLang="zh-TW" dirty="0"/>
          </a:p>
          <a:p>
            <a:r>
              <a:rPr lang="zh-TW" altLang="zh-TW" sz="2800" b="0" strike="noStrike" spc="-1" dirty="0">
                <a:solidFill>
                  <a:srgbClr val="050505"/>
                </a:solidFill>
                <a:latin typeface="Arial"/>
              </a:rPr>
              <a:t>假設所有權重都是</a:t>
            </a:r>
            <a:r>
              <a:rPr lang="en-US" altLang="zh-TW" sz="2800" b="0" strike="noStrike" spc="-1" dirty="0">
                <a:solidFill>
                  <a:srgbClr val="050505"/>
                </a:solidFill>
                <a:latin typeface="Arial"/>
              </a:rPr>
              <a:t>1</a:t>
            </a:r>
            <a:r>
              <a:rPr lang="zh-TW" altLang="zh-TW" sz="2800" b="0" strike="noStrike" spc="-1" dirty="0">
                <a:solidFill>
                  <a:srgbClr val="050505"/>
                </a:solidFill>
                <a:latin typeface="Arial"/>
              </a:rPr>
              <a:t>，沒有</a:t>
            </a:r>
            <a:r>
              <a:rPr lang="en-US" altLang="zh-TW" sz="2800" b="0" strike="noStrike" spc="-1" dirty="0">
                <a:solidFill>
                  <a:srgbClr val="050505"/>
                </a:solidFill>
                <a:latin typeface="Arial"/>
              </a:rPr>
              <a:t>bias</a:t>
            </a:r>
            <a:r>
              <a:rPr lang="zh-TW" altLang="zh-TW" sz="2800" b="0" strike="noStrike" spc="-1" dirty="0">
                <a:solidFill>
                  <a:srgbClr val="050505"/>
                </a:solidFill>
                <a:latin typeface="Arial"/>
              </a:rPr>
              <a:t>值，活化函數是</a:t>
            </a:r>
            <a:r>
              <a:rPr lang="en-US" altLang="zh-TW" sz="2800" b="0" strike="noStrike" spc="-1" dirty="0">
                <a:solidFill>
                  <a:srgbClr val="050505"/>
                </a:solidFill>
                <a:latin typeface="Arial"/>
              </a:rPr>
              <a:t>linear</a:t>
            </a:r>
          </a:p>
          <a:p>
            <a:r>
              <a:rPr lang="zh-TW" altLang="zh-TW" sz="2800" b="0" strike="noStrike" spc="-1" dirty="0">
                <a:latin typeface="Arial"/>
              </a:rPr>
              <a:t>輸入序列依序是</a:t>
            </a:r>
            <a:endParaRPr lang="en-US" altLang="zh-TW" sz="2800" b="0" strike="noStrike" spc="-1" dirty="0">
              <a:latin typeface="Arial"/>
            </a:endParaRPr>
          </a:p>
          <a:p>
            <a:endParaRPr lang="en-US" altLang="zh-TW" sz="2800" b="0" strike="noStrike" spc="-1" dirty="0">
              <a:solidFill>
                <a:srgbClr val="050505"/>
              </a:solidFill>
              <a:latin typeface="Arial"/>
            </a:endParaRPr>
          </a:p>
          <a:p>
            <a:endParaRPr lang="zh-TW" altLang="en-US" dirty="0"/>
          </a:p>
        </p:txBody>
      </p:sp>
      <mc:AlternateContent xmlns:mc="http://schemas.openxmlformats.org/markup-compatibility/2006">
        <mc:Choice xmlns:a14="http://schemas.microsoft.com/office/drawing/2010/main" Requires="a14">
          <p:sp>
            <p:nvSpPr>
              <p:cNvPr id="4" name="文字方塊 3">
                <a:extLst>
                  <a:ext uri="{FF2B5EF4-FFF2-40B4-BE49-F238E27FC236}">
                    <a16:creationId xmlns:a16="http://schemas.microsoft.com/office/drawing/2014/main" id="{B2E899BE-5D13-450F-BD61-5D26A46F15AE}"/>
                  </a:ext>
                </a:extLst>
              </p:cNvPr>
              <p:cNvSpPr txBox="1"/>
              <p:nvPr/>
            </p:nvSpPr>
            <p:spPr>
              <a:xfrm>
                <a:off x="1176948" y="3340100"/>
                <a:ext cx="1413160" cy="749388"/>
              </a:xfrm>
              <a:prstGeom prst="rect">
                <a:avLst/>
              </a:prstGeom>
            </p:spPr>
            <p:txBody>
              <a:bodyPr/>
              <a:lstStyle/>
              <a:p>
                <a:pPr/>
                <a14:m>
                  <m:oMathPara xmlns:m="http://schemas.openxmlformats.org/officeDocument/2006/math">
                    <m:oMathParaPr>
                      <m:jc m:val="centerGroup"/>
                    </m:oMathParaPr>
                    <m:oMath xmlns:m="http://schemas.openxmlformats.org/officeDocument/2006/math">
                      <m:d>
                        <m:dPr>
                          <m:begChr m:val="["/>
                          <m:endChr m:val="]"/>
                          <m:ctrlPr>
                            <a:rPr sz="2400" i="1">
                              <a:latin typeface="Cambria Math" panose="02040503050406030204" pitchFamily="18" charset="0"/>
                            </a:rPr>
                          </m:ctrlPr>
                        </m:dPr>
                        <m:e>
                          <m:eqArr>
                            <m:eqArrPr>
                              <m:ctrlPr>
                                <a:rPr sz="2400" i="1">
                                  <a:latin typeface="Cambria Math" panose="02040503050406030204" pitchFamily="18" charset="0"/>
                                </a:rPr>
                              </m:ctrlPr>
                            </m:eqArrPr>
                            <m:e>
                              <m:r>
                                <a:rPr sz="2400">
                                  <a:latin typeface="Cambria Math" panose="02040503050406030204" pitchFamily="18" charset="0"/>
                                </a:rPr>
                                <m:t>1</m:t>
                              </m:r>
                            </m:e>
                            <m:e>
                              <m:r>
                                <a:rPr sz="2400">
                                  <a:latin typeface="Cambria Math" panose="02040503050406030204" pitchFamily="18" charset="0"/>
                                </a:rPr>
                                <m:t>1</m:t>
                              </m:r>
                            </m:e>
                          </m:eqArr>
                        </m:e>
                      </m:d>
                      <m:d>
                        <m:dPr>
                          <m:begChr m:val="["/>
                          <m:endChr m:val="]"/>
                          <m:ctrlPr>
                            <a:rPr sz="2400" i="1">
                              <a:latin typeface="Cambria Math" panose="02040503050406030204" pitchFamily="18" charset="0"/>
                            </a:rPr>
                          </m:ctrlPr>
                        </m:dPr>
                        <m:e>
                          <m:eqArr>
                            <m:eqArrPr>
                              <m:ctrlPr>
                                <a:rPr sz="2400" i="1">
                                  <a:latin typeface="Cambria Math" panose="02040503050406030204" pitchFamily="18" charset="0"/>
                                </a:rPr>
                              </m:ctrlPr>
                            </m:eqArrPr>
                            <m:e>
                              <m:r>
                                <a:rPr sz="2400">
                                  <a:latin typeface="Cambria Math" panose="02040503050406030204" pitchFamily="18" charset="0"/>
                                </a:rPr>
                                <m:t>2</m:t>
                              </m:r>
                            </m:e>
                            <m:e>
                              <m:r>
                                <a:rPr sz="2400">
                                  <a:latin typeface="Cambria Math" panose="02040503050406030204" pitchFamily="18" charset="0"/>
                                </a:rPr>
                                <m:t>2</m:t>
                              </m:r>
                            </m:e>
                          </m:eqArr>
                        </m:e>
                      </m:d>
                      <m:d>
                        <m:dPr>
                          <m:begChr m:val="["/>
                          <m:endChr m:val="]"/>
                          <m:ctrlPr>
                            <a:rPr sz="2400" i="1">
                              <a:latin typeface="Cambria Math" panose="02040503050406030204" pitchFamily="18" charset="0"/>
                            </a:rPr>
                          </m:ctrlPr>
                        </m:dPr>
                        <m:e>
                          <m:eqArr>
                            <m:eqArrPr>
                              <m:ctrlPr>
                                <a:rPr sz="2400" i="1">
                                  <a:latin typeface="Cambria Math" panose="02040503050406030204" pitchFamily="18" charset="0"/>
                                </a:rPr>
                              </m:ctrlPr>
                            </m:eqArrPr>
                            <m:e>
                              <m:r>
                                <a:rPr sz="2400">
                                  <a:latin typeface="Cambria Math" panose="02040503050406030204" pitchFamily="18" charset="0"/>
                                </a:rPr>
                                <m:t>1</m:t>
                              </m:r>
                            </m:e>
                            <m:e>
                              <m:r>
                                <a:rPr sz="2400">
                                  <a:latin typeface="Cambria Math" panose="02040503050406030204" pitchFamily="18" charset="0"/>
                                </a:rPr>
                                <m:t>1</m:t>
                              </m:r>
                            </m:e>
                          </m:eqArr>
                        </m:e>
                      </m:d>
                    </m:oMath>
                  </m:oMathPara>
                </a14:m>
                <a:endParaRPr sz="2400" dirty="0"/>
              </a:p>
            </p:txBody>
          </p:sp>
        </mc:Choice>
        <mc:Fallback>
          <p:sp>
            <p:nvSpPr>
              <p:cNvPr id="4" name="文字方塊 3">
                <a:extLst>
                  <a:ext uri="{FF2B5EF4-FFF2-40B4-BE49-F238E27FC236}">
                    <a16:creationId xmlns:a16="http://schemas.microsoft.com/office/drawing/2014/main" id="{B2E899BE-5D13-450F-BD61-5D26A46F15AE}"/>
                  </a:ext>
                </a:extLst>
              </p:cNvPr>
              <p:cNvSpPr txBox="1">
                <a:spLocks noRot="1" noChangeAspect="1" noMove="1" noResize="1" noEditPoints="1" noAdjustHandles="1" noChangeArrowheads="1" noChangeShapeType="1" noTextEdit="1"/>
              </p:cNvSpPr>
              <p:nvPr/>
            </p:nvSpPr>
            <p:spPr>
              <a:xfrm>
                <a:off x="1176948" y="3340100"/>
                <a:ext cx="1413160" cy="749388"/>
              </a:xfrm>
              <a:prstGeom prst="rect">
                <a:avLst/>
              </a:prstGeom>
              <a:blipFill>
                <a:blip r:embed="rId2"/>
                <a:stretch>
                  <a:fillRect/>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DA35373F-8958-4760-83B0-A7EFFA935BE4}"/>
              </a:ext>
            </a:extLst>
          </p:cNvPr>
          <p:cNvGrpSpPr/>
          <p:nvPr/>
        </p:nvGrpSpPr>
        <p:grpSpPr>
          <a:xfrm>
            <a:off x="2299000" y="3004643"/>
            <a:ext cx="3624120" cy="3172320"/>
            <a:chOff x="5188250" y="2991987"/>
            <a:chExt cx="3624120" cy="3172320"/>
          </a:xfrm>
        </p:grpSpPr>
        <p:pic>
          <p:nvPicPr>
            <p:cNvPr id="5" name="圖片 4">
              <a:extLst>
                <a:ext uri="{FF2B5EF4-FFF2-40B4-BE49-F238E27FC236}">
                  <a16:creationId xmlns:a16="http://schemas.microsoft.com/office/drawing/2014/main" id="{051E1D7D-80CE-4EC6-89B0-F97FC2DC754A}"/>
                </a:ext>
              </a:extLst>
            </p:cNvPr>
            <p:cNvPicPr/>
            <p:nvPr/>
          </p:nvPicPr>
          <p:blipFill>
            <a:blip r:embed="rId3"/>
            <a:stretch/>
          </p:blipFill>
          <p:spPr>
            <a:xfrm>
              <a:off x="5188250" y="2991987"/>
              <a:ext cx="3624120" cy="3172320"/>
            </a:xfrm>
            <a:prstGeom prst="rect">
              <a:avLst/>
            </a:prstGeom>
            <a:ln w="18000">
              <a:noFill/>
            </a:ln>
          </p:spPr>
        </p:pic>
        <p:sp>
          <p:nvSpPr>
            <p:cNvPr id="6" name="文字方塊 5">
              <a:extLst>
                <a:ext uri="{FF2B5EF4-FFF2-40B4-BE49-F238E27FC236}">
                  <a16:creationId xmlns:a16="http://schemas.microsoft.com/office/drawing/2014/main" id="{3CF5E236-86C1-46BE-8474-368C439DFB06}"/>
                </a:ext>
              </a:extLst>
            </p:cNvPr>
            <p:cNvSpPr txBox="1"/>
            <p:nvPr/>
          </p:nvSpPr>
          <p:spPr>
            <a:xfrm>
              <a:off x="5700810" y="4281165"/>
              <a:ext cx="468000" cy="402840"/>
            </a:xfrm>
            <a:prstGeom prst="rect">
              <a:avLst/>
            </a:prstGeom>
            <a:noFill/>
            <a:ln w="18000">
              <a:noFill/>
            </a:ln>
          </p:spPr>
          <p:txBody>
            <a:bodyPr lIns="90000" tIns="45000" rIns="90000" bIns="45000" anchor="t">
              <a:noAutofit/>
            </a:bodyPr>
            <a:lstStyle/>
            <a:p>
              <a:r>
                <a:rPr lang="en-US" sz="2200" b="0" strike="noStrike" spc="-1" dirty="0">
                  <a:solidFill>
                    <a:srgbClr val="5983B0"/>
                  </a:solidFill>
                  <a:latin typeface="Arial"/>
                </a:rPr>
                <a:t>0</a:t>
              </a:r>
              <a:endParaRPr lang="en-US" sz="2200" b="0" strike="noStrike" spc="-1" dirty="0">
                <a:latin typeface="Arial"/>
              </a:endParaRPr>
            </a:p>
          </p:txBody>
        </p:sp>
      </p:grpSp>
      <p:pic>
        <p:nvPicPr>
          <p:cNvPr id="8" name="圖片 7">
            <a:extLst>
              <a:ext uri="{FF2B5EF4-FFF2-40B4-BE49-F238E27FC236}">
                <a16:creationId xmlns:a16="http://schemas.microsoft.com/office/drawing/2014/main" id="{FDEEF290-0389-4116-82D3-E54F6A1EF28E}"/>
              </a:ext>
            </a:extLst>
          </p:cNvPr>
          <p:cNvPicPr/>
          <p:nvPr/>
        </p:nvPicPr>
        <p:blipFill>
          <a:blip r:embed="rId3"/>
          <a:stretch/>
        </p:blipFill>
        <p:spPr>
          <a:xfrm>
            <a:off x="7239400" y="2841505"/>
            <a:ext cx="3624120" cy="3172320"/>
          </a:xfrm>
          <a:prstGeom prst="rect">
            <a:avLst/>
          </a:prstGeom>
          <a:ln w="18000">
            <a:noFill/>
          </a:ln>
        </p:spPr>
      </p:pic>
      <p:sp>
        <p:nvSpPr>
          <p:cNvPr id="9" name="文字方塊 8">
            <a:extLst>
              <a:ext uri="{FF2B5EF4-FFF2-40B4-BE49-F238E27FC236}">
                <a16:creationId xmlns:a16="http://schemas.microsoft.com/office/drawing/2014/main" id="{832191AE-7F1C-4B0B-9499-6DE3EC1F63E4}"/>
              </a:ext>
            </a:extLst>
          </p:cNvPr>
          <p:cNvSpPr txBox="1"/>
          <p:nvPr/>
        </p:nvSpPr>
        <p:spPr>
          <a:xfrm>
            <a:off x="7374400" y="4141465"/>
            <a:ext cx="468000" cy="402840"/>
          </a:xfrm>
          <a:prstGeom prst="rect">
            <a:avLst/>
          </a:prstGeom>
          <a:noFill/>
          <a:ln w="18000">
            <a:noFill/>
          </a:ln>
        </p:spPr>
        <p:txBody>
          <a:bodyPr lIns="90000" tIns="45000" rIns="90000" bIns="45000" anchor="t">
            <a:noAutofit/>
          </a:bodyPr>
          <a:lstStyle/>
          <a:p>
            <a:r>
              <a:rPr lang="en-US" sz="2200" b="0" strike="noStrike" spc="-1" dirty="0">
                <a:solidFill>
                  <a:srgbClr val="5983B0"/>
                </a:solidFill>
                <a:latin typeface="Arial"/>
              </a:rPr>
              <a:t>0</a:t>
            </a:r>
            <a:endParaRPr lang="en-US" sz="2200" b="0" strike="noStrike" spc="-1" dirty="0">
              <a:latin typeface="Arial"/>
            </a:endParaRPr>
          </a:p>
        </p:txBody>
      </p:sp>
      <p:sp>
        <p:nvSpPr>
          <p:cNvPr id="10" name="文字方塊 9">
            <a:extLst>
              <a:ext uri="{FF2B5EF4-FFF2-40B4-BE49-F238E27FC236}">
                <a16:creationId xmlns:a16="http://schemas.microsoft.com/office/drawing/2014/main" id="{27A50990-056D-4EE2-80AA-9C0C17AFABA5}"/>
              </a:ext>
            </a:extLst>
          </p:cNvPr>
          <p:cNvSpPr txBox="1"/>
          <p:nvPr/>
        </p:nvSpPr>
        <p:spPr>
          <a:xfrm>
            <a:off x="8891800" y="5877745"/>
            <a:ext cx="360000" cy="346320"/>
          </a:xfrm>
          <a:prstGeom prst="rect">
            <a:avLst/>
          </a:prstGeom>
          <a:noFill/>
          <a:ln w="18000">
            <a:noFill/>
          </a:ln>
        </p:spPr>
        <p:txBody>
          <a:bodyPr lIns="90000" tIns="45000" rIns="90000" bIns="45000" anchor="t">
            <a:noAutofit/>
          </a:bodyPr>
          <a:lstStyle/>
          <a:p>
            <a:r>
              <a:rPr lang="en-US" sz="1800" b="0" strike="noStrike" spc="-1">
                <a:latin typeface="Arial"/>
              </a:rPr>
              <a:t>1</a:t>
            </a:r>
          </a:p>
        </p:txBody>
      </p:sp>
      <p:sp>
        <p:nvSpPr>
          <p:cNvPr id="11" name="文字方塊 10">
            <a:extLst>
              <a:ext uri="{FF2B5EF4-FFF2-40B4-BE49-F238E27FC236}">
                <a16:creationId xmlns:a16="http://schemas.microsoft.com/office/drawing/2014/main" id="{78D1F8F6-EBB4-4971-AA5B-BF3B4E938908}"/>
              </a:ext>
            </a:extLst>
          </p:cNvPr>
          <p:cNvSpPr txBox="1"/>
          <p:nvPr/>
        </p:nvSpPr>
        <p:spPr>
          <a:xfrm>
            <a:off x="10277440" y="5869825"/>
            <a:ext cx="360000" cy="346320"/>
          </a:xfrm>
          <a:prstGeom prst="rect">
            <a:avLst/>
          </a:prstGeom>
          <a:noFill/>
          <a:ln w="18000">
            <a:noFill/>
          </a:ln>
        </p:spPr>
        <p:txBody>
          <a:bodyPr lIns="90000" tIns="45000" rIns="90000" bIns="45000" anchor="t">
            <a:noAutofit/>
          </a:bodyPr>
          <a:lstStyle/>
          <a:p>
            <a:r>
              <a:rPr lang="en-US" sz="1800" b="0" strike="noStrike" spc="-1">
                <a:latin typeface="Arial"/>
              </a:rPr>
              <a:t>1</a:t>
            </a:r>
          </a:p>
        </p:txBody>
      </p:sp>
      <p:sp>
        <p:nvSpPr>
          <p:cNvPr id="12" name="文字方塊 11">
            <a:extLst>
              <a:ext uri="{FF2B5EF4-FFF2-40B4-BE49-F238E27FC236}">
                <a16:creationId xmlns:a16="http://schemas.microsoft.com/office/drawing/2014/main" id="{913A8107-BE75-457F-9293-86A6D4B91909}"/>
              </a:ext>
            </a:extLst>
          </p:cNvPr>
          <p:cNvSpPr txBox="1"/>
          <p:nvPr/>
        </p:nvSpPr>
        <p:spPr>
          <a:xfrm>
            <a:off x="9521440" y="2721265"/>
            <a:ext cx="360000" cy="402840"/>
          </a:xfrm>
          <a:prstGeom prst="rect">
            <a:avLst/>
          </a:prstGeom>
          <a:noFill/>
          <a:ln w="18000">
            <a:noFill/>
          </a:ln>
        </p:spPr>
        <p:txBody>
          <a:bodyPr lIns="90000" tIns="45000" rIns="90000" bIns="45000" anchor="t">
            <a:noAutofit/>
          </a:bodyPr>
          <a:lstStyle/>
          <a:p>
            <a:r>
              <a:rPr lang="en-US" sz="2200" b="0" strike="noStrike" spc="-1" dirty="0">
                <a:solidFill>
                  <a:srgbClr val="FF0000"/>
                </a:solidFill>
                <a:latin typeface="Arial"/>
              </a:rPr>
              <a:t>2</a:t>
            </a:r>
            <a:endParaRPr lang="en-US" sz="2200" b="0" strike="noStrike" spc="-1" dirty="0">
              <a:latin typeface="Arial"/>
            </a:endParaRPr>
          </a:p>
        </p:txBody>
      </p:sp>
      <p:sp>
        <p:nvSpPr>
          <p:cNvPr id="13" name="文字方塊 12">
            <a:extLst>
              <a:ext uri="{FF2B5EF4-FFF2-40B4-BE49-F238E27FC236}">
                <a16:creationId xmlns:a16="http://schemas.microsoft.com/office/drawing/2014/main" id="{06ABE40E-CBD4-4EC0-8BA9-4FE244B5520E}"/>
              </a:ext>
            </a:extLst>
          </p:cNvPr>
          <p:cNvSpPr txBox="1"/>
          <p:nvPr/>
        </p:nvSpPr>
        <p:spPr>
          <a:xfrm>
            <a:off x="7878400" y="4141825"/>
            <a:ext cx="468000" cy="402840"/>
          </a:xfrm>
          <a:prstGeom prst="rect">
            <a:avLst/>
          </a:prstGeom>
          <a:noFill/>
          <a:ln w="18000">
            <a:noFill/>
          </a:ln>
        </p:spPr>
        <p:txBody>
          <a:bodyPr lIns="90000" tIns="45000" rIns="90000" bIns="45000" anchor="t">
            <a:noAutofit/>
          </a:bodyPr>
          <a:lstStyle/>
          <a:p>
            <a:r>
              <a:rPr lang="en-US" sz="2200" b="0" strike="noStrike" spc="-1" dirty="0">
                <a:solidFill>
                  <a:srgbClr val="FF0000"/>
                </a:solidFill>
                <a:latin typeface="Arial"/>
              </a:rPr>
              <a:t>2</a:t>
            </a:r>
            <a:endParaRPr lang="en-US" sz="2200" b="0" strike="noStrike" spc="-1" dirty="0">
              <a:latin typeface="Arial"/>
            </a:endParaRPr>
          </a:p>
        </p:txBody>
      </p:sp>
      <p:sp>
        <p:nvSpPr>
          <p:cNvPr id="15" name="文字方塊 14">
            <a:extLst>
              <a:ext uri="{FF2B5EF4-FFF2-40B4-BE49-F238E27FC236}">
                <a16:creationId xmlns:a16="http://schemas.microsoft.com/office/drawing/2014/main" id="{313DBC66-66D8-4ABF-B629-52001E07B141}"/>
              </a:ext>
            </a:extLst>
          </p:cNvPr>
          <p:cNvSpPr txBox="1"/>
          <p:nvPr/>
        </p:nvSpPr>
        <p:spPr>
          <a:xfrm>
            <a:off x="6649955" y="2878435"/>
            <a:ext cx="2317750" cy="461665"/>
          </a:xfrm>
          <a:prstGeom prst="rect">
            <a:avLst/>
          </a:prstGeom>
          <a:noFill/>
        </p:spPr>
        <p:txBody>
          <a:bodyPr wrap="square">
            <a:spAutoFit/>
          </a:bodyPr>
          <a:lstStyle/>
          <a:p>
            <a:r>
              <a:rPr lang="zh-TW" altLang="zh-TW" sz="2400" b="0" strike="noStrike" spc="-1" dirty="0">
                <a:latin typeface="Microsoft JhengHei" panose="020B0604030504040204" pitchFamily="34" charset="-120"/>
                <a:ea typeface="Microsoft JhengHei" panose="020B0604030504040204" pitchFamily="34" charset="-120"/>
              </a:rPr>
              <a:t>輸出序列</a:t>
            </a:r>
            <a:r>
              <a:rPr lang="en-US" altLang="zh-TW" sz="2400" b="0" strike="noStrike" spc="-1" dirty="0">
                <a:latin typeface="Microsoft JhengHei" panose="020B0604030504040204" pitchFamily="34" charset="-120"/>
                <a:ea typeface="Microsoft JhengHei" panose="020B0604030504040204" pitchFamily="34" charset="-120"/>
              </a:rPr>
              <a:t>[2]</a:t>
            </a:r>
          </a:p>
        </p:txBody>
      </p:sp>
      <p:sp>
        <p:nvSpPr>
          <p:cNvPr id="16" name="箭號: 向右 15">
            <a:extLst>
              <a:ext uri="{FF2B5EF4-FFF2-40B4-BE49-F238E27FC236}">
                <a16:creationId xmlns:a16="http://schemas.microsoft.com/office/drawing/2014/main" id="{35EF4C50-B150-420E-BE0C-9C05EDBADCBB}"/>
              </a:ext>
            </a:extLst>
          </p:cNvPr>
          <p:cNvSpPr/>
          <p:nvPr/>
        </p:nvSpPr>
        <p:spPr>
          <a:xfrm>
            <a:off x="6096000" y="4128793"/>
            <a:ext cx="949172" cy="5678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95460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hidden"/>
                                      </p:to>
                                    </p:set>
                                  </p:childTnLst>
                                </p:cTn>
                              </p:par>
                              <p:par>
                                <p:cTn id="7" presetID="1" presetClass="entr" fill="hold" nodeType="withEffect">
                                  <p:stCondLst>
                                    <p:cond delay="0"/>
                                  </p:stCondLst>
                                  <p:childTnLst>
                                    <p:set>
                                      <p:cBhvr>
                                        <p:cTn id="8" dur="1" fill="hold">
                                          <p:stCondLst>
                                            <p:cond delay="0"/>
                                          </p:stCondLst>
                                        </p:cTn>
                                        <p:tgtEl>
                                          <p:spTgt spid="13">
                                            <p:txEl>
                                              <p:pRg st="0" end="0"/>
                                            </p:txEl>
                                          </p:spTgt>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9B9DAD-F698-4195-9337-C2B29E37C4AA}"/>
              </a:ext>
            </a:extLst>
          </p:cNvPr>
          <p:cNvSpPr>
            <a:spLocks noGrp="1"/>
          </p:cNvSpPr>
          <p:nvPr>
            <p:ph type="title"/>
          </p:nvPr>
        </p:nvSpPr>
        <p:spPr/>
        <p:txBody>
          <a:bodyPr/>
          <a:lstStyle/>
          <a:p>
            <a:r>
              <a:rPr lang="en-US" altLang="zh-TW" dirty="0"/>
              <a:t>Recurrent Neural Network, RNN</a:t>
            </a:r>
            <a:endParaRPr lang="zh-TW" altLang="en-US" dirty="0"/>
          </a:p>
        </p:txBody>
      </p:sp>
      <p:pic>
        <p:nvPicPr>
          <p:cNvPr id="4" name="圖片 3">
            <a:extLst>
              <a:ext uri="{FF2B5EF4-FFF2-40B4-BE49-F238E27FC236}">
                <a16:creationId xmlns:a16="http://schemas.microsoft.com/office/drawing/2014/main" id="{51360550-5542-45E7-A1E2-D477704EC531}"/>
              </a:ext>
            </a:extLst>
          </p:cNvPr>
          <p:cNvPicPr/>
          <p:nvPr/>
        </p:nvPicPr>
        <p:blipFill>
          <a:blip r:embed="rId2"/>
          <a:stretch/>
        </p:blipFill>
        <p:spPr>
          <a:xfrm>
            <a:off x="904710" y="2276078"/>
            <a:ext cx="4383034" cy="3836624"/>
          </a:xfrm>
          <a:prstGeom prst="rect">
            <a:avLst/>
          </a:prstGeom>
          <a:ln w="18000">
            <a:noFill/>
          </a:ln>
        </p:spPr>
      </p:pic>
      <p:sp>
        <p:nvSpPr>
          <p:cNvPr id="5" name="文字方塊 4">
            <a:extLst>
              <a:ext uri="{FF2B5EF4-FFF2-40B4-BE49-F238E27FC236}">
                <a16:creationId xmlns:a16="http://schemas.microsoft.com/office/drawing/2014/main" id="{DCC8CFEE-1903-48CE-A437-E838365ABE46}"/>
              </a:ext>
            </a:extLst>
          </p:cNvPr>
          <p:cNvSpPr txBox="1"/>
          <p:nvPr/>
        </p:nvSpPr>
        <p:spPr>
          <a:xfrm>
            <a:off x="1067980" y="3848258"/>
            <a:ext cx="566002" cy="487197"/>
          </a:xfrm>
          <a:prstGeom prst="rect">
            <a:avLst/>
          </a:prstGeom>
          <a:noFill/>
          <a:ln w="18000">
            <a:noFill/>
          </a:ln>
        </p:spPr>
        <p:txBody>
          <a:bodyPr lIns="108847" tIns="54423" rIns="108847" bIns="54423" anchor="t">
            <a:noAutofit/>
          </a:bodyPr>
          <a:lstStyle/>
          <a:p>
            <a:r>
              <a:rPr lang="en-US" sz="2661" spc="-1">
                <a:solidFill>
                  <a:srgbClr val="5983B0"/>
                </a:solidFill>
                <a:latin typeface="Arial"/>
              </a:rPr>
              <a:t>2</a:t>
            </a:r>
            <a:endParaRPr lang="en-US" sz="2661" spc="-1">
              <a:latin typeface="Arial"/>
            </a:endParaRPr>
          </a:p>
        </p:txBody>
      </p:sp>
      <p:sp>
        <p:nvSpPr>
          <p:cNvPr id="6" name="文字方塊 5">
            <a:extLst>
              <a:ext uri="{FF2B5EF4-FFF2-40B4-BE49-F238E27FC236}">
                <a16:creationId xmlns:a16="http://schemas.microsoft.com/office/drawing/2014/main" id="{2741EED3-3381-4E4A-98E5-850FCFDC5623}"/>
              </a:ext>
            </a:extLst>
          </p:cNvPr>
          <p:cNvSpPr txBox="1"/>
          <p:nvPr/>
        </p:nvSpPr>
        <p:spPr>
          <a:xfrm>
            <a:off x="2903133" y="5948126"/>
            <a:ext cx="435386" cy="418842"/>
          </a:xfrm>
          <a:prstGeom prst="rect">
            <a:avLst/>
          </a:prstGeom>
          <a:noFill/>
          <a:ln w="18000">
            <a:noFill/>
          </a:ln>
        </p:spPr>
        <p:txBody>
          <a:bodyPr lIns="108847" tIns="54423" rIns="108847" bIns="54423" anchor="t">
            <a:noAutofit/>
          </a:bodyPr>
          <a:lstStyle/>
          <a:p>
            <a:r>
              <a:rPr lang="en-US" sz="2177" spc="-1">
                <a:latin typeface="Arial"/>
              </a:rPr>
              <a:t>2</a:t>
            </a:r>
          </a:p>
        </p:txBody>
      </p:sp>
      <p:sp>
        <p:nvSpPr>
          <p:cNvPr id="7" name="文字方塊 6">
            <a:extLst>
              <a:ext uri="{FF2B5EF4-FFF2-40B4-BE49-F238E27FC236}">
                <a16:creationId xmlns:a16="http://schemas.microsoft.com/office/drawing/2014/main" id="{64C8818F-FC72-414B-8815-344E8858CD7F}"/>
              </a:ext>
            </a:extLst>
          </p:cNvPr>
          <p:cNvSpPr txBox="1"/>
          <p:nvPr/>
        </p:nvSpPr>
        <p:spPr>
          <a:xfrm>
            <a:off x="4578935" y="5938548"/>
            <a:ext cx="435386" cy="418842"/>
          </a:xfrm>
          <a:prstGeom prst="rect">
            <a:avLst/>
          </a:prstGeom>
          <a:noFill/>
          <a:ln w="18000">
            <a:noFill/>
          </a:ln>
        </p:spPr>
        <p:txBody>
          <a:bodyPr lIns="108847" tIns="54423" rIns="108847" bIns="54423" anchor="t">
            <a:noAutofit/>
          </a:bodyPr>
          <a:lstStyle/>
          <a:p>
            <a:r>
              <a:rPr lang="en-US" sz="2177" spc="-1">
                <a:latin typeface="Arial"/>
              </a:rPr>
              <a:t>2</a:t>
            </a:r>
          </a:p>
        </p:txBody>
      </p:sp>
      <p:sp>
        <p:nvSpPr>
          <p:cNvPr id="8" name="文字方塊 7">
            <a:extLst>
              <a:ext uri="{FF2B5EF4-FFF2-40B4-BE49-F238E27FC236}">
                <a16:creationId xmlns:a16="http://schemas.microsoft.com/office/drawing/2014/main" id="{4F1F2DDB-FF02-40BF-B9B9-BA4BFEB49A82}"/>
              </a:ext>
            </a:extLst>
          </p:cNvPr>
          <p:cNvSpPr txBox="1"/>
          <p:nvPr/>
        </p:nvSpPr>
        <p:spPr>
          <a:xfrm>
            <a:off x="3664624" y="2130659"/>
            <a:ext cx="435386" cy="487197"/>
          </a:xfrm>
          <a:prstGeom prst="rect">
            <a:avLst/>
          </a:prstGeom>
          <a:noFill/>
          <a:ln w="18000">
            <a:noFill/>
          </a:ln>
        </p:spPr>
        <p:txBody>
          <a:bodyPr lIns="108847" tIns="54423" rIns="108847" bIns="54423" anchor="t">
            <a:noAutofit/>
          </a:bodyPr>
          <a:lstStyle/>
          <a:p>
            <a:r>
              <a:rPr lang="en-US" sz="2661" spc="-1">
                <a:solidFill>
                  <a:srgbClr val="FF0000"/>
                </a:solidFill>
                <a:latin typeface="Arial"/>
              </a:rPr>
              <a:t>6</a:t>
            </a:r>
            <a:endParaRPr lang="en-US" sz="2661" spc="-1">
              <a:latin typeface="Arial"/>
            </a:endParaRPr>
          </a:p>
        </p:txBody>
      </p:sp>
      <p:sp>
        <p:nvSpPr>
          <p:cNvPr id="9" name="文字方塊 8">
            <a:extLst>
              <a:ext uri="{FF2B5EF4-FFF2-40B4-BE49-F238E27FC236}">
                <a16:creationId xmlns:a16="http://schemas.microsoft.com/office/drawing/2014/main" id="{91E4AF1F-FD87-4371-A99D-AFD1DDFA8FA7}"/>
              </a:ext>
            </a:extLst>
          </p:cNvPr>
          <p:cNvSpPr txBox="1"/>
          <p:nvPr/>
        </p:nvSpPr>
        <p:spPr>
          <a:xfrm>
            <a:off x="1677521" y="3848694"/>
            <a:ext cx="566002" cy="487197"/>
          </a:xfrm>
          <a:prstGeom prst="rect">
            <a:avLst/>
          </a:prstGeom>
          <a:noFill/>
          <a:ln w="18000">
            <a:noFill/>
          </a:ln>
        </p:spPr>
        <p:txBody>
          <a:bodyPr lIns="108847" tIns="54423" rIns="108847" bIns="54423" anchor="t">
            <a:noAutofit/>
          </a:bodyPr>
          <a:lstStyle/>
          <a:p>
            <a:r>
              <a:rPr lang="en-US" sz="2661" spc="-1" dirty="0">
                <a:solidFill>
                  <a:srgbClr val="FF0000"/>
                </a:solidFill>
                <a:latin typeface="Arial"/>
              </a:rPr>
              <a:t>6</a:t>
            </a:r>
            <a:endParaRPr lang="en-US" sz="2661" spc="-1" dirty="0">
              <a:latin typeface="Arial"/>
            </a:endParaRPr>
          </a:p>
        </p:txBody>
      </p: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50AC5980-76C5-4DBD-AC30-E053B13D0319}"/>
                  </a:ext>
                </a:extLst>
              </p:cNvPr>
              <p:cNvSpPr txBox="1"/>
              <p:nvPr/>
            </p:nvSpPr>
            <p:spPr>
              <a:xfrm>
                <a:off x="1094398" y="1825625"/>
                <a:ext cx="1413160" cy="749388"/>
              </a:xfrm>
              <a:prstGeom prst="rect">
                <a:avLst/>
              </a:prstGeom>
            </p:spPr>
            <p:txBody>
              <a:bodyPr/>
              <a:lstStyle/>
              <a:p>
                <a:pPr/>
                <a14:m>
                  <m:oMathPara xmlns:m="http://schemas.openxmlformats.org/officeDocument/2006/math">
                    <m:oMathParaPr>
                      <m:jc m:val="centerGroup"/>
                    </m:oMathParaPr>
                    <m:oMath xmlns:m="http://schemas.openxmlformats.org/officeDocument/2006/math">
                      <m:d>
                        <m:dPr>
                          <m:begChr m:val="["/>
                          <m:endChr m:val="]"/>
                          <m:ctrlPr>
                            <a:rPr sz="2400" i="1">
                              <a:latin typeface="Cambria Math" panose="02040503050406030204" pitchFamily="18" charset="0"/>
                            </a:rPr>
                          </m:ctrlPr>
                        </m:dPr>
                        <m:e>
                          <m:eqArr>
                            <m:eqArrPr>
                              <m:ctrlPr>
                                <a:rPr sz="2400" i="1">
                                  <a:latin typeface="Cambria Math" panose="02040503050406030204" pitchFamily="18" charset="0"/>
                                </a:rPr>
                              </m:ctrlPr>
                            </m:eqArrPr>
                            <m:e>
                              <m:r>
                                <a:rPr sz="2400">
                                  <a:latin typeface="Cambria Math" panose="02040503050406030204" pitchFamily="18" charset="0"/>
                                </a:rPr>
                                <m:t>1</m:t>
                              </m:r>
                            </m:e>
                            <m:e>
                              <m:r>
                                <a:rPr sz="2400">
                                  <a:latin typeface="Cambria Math" panose="02040503050406030204" pitchFamily="18" charset="0"/>
                                </a:rPr>
                                <m:t>1</m:t>
                              </m:r>
                            </m:e>
                          </m:eqArr>
                        </m:e>
                      </m:d>
                      <m:d>
                        <m:dPr>
                          <m:begChr m:val="["/>
                          <m:endChr m:val="]"/>
                          <m:ctrlPr>
                            <a:rPr sz="2400" i="1">
                              <a:latin typeface="Cambria Math" panose="02040503050406030204" pitchFamily="18" charset="0"/>
                            </a:rPr>
                          </m:ctrlPr>
                        </m:dPr>
                        <m:e>
                          <m:eqArr>
                            <m:eqArrPr>
                              <m:ctrlPr>
                                <a:rPr sz="2400" i="1">
                                  <a:latin typeface="Cambria Math" panose="02040503050406030204" pitchFamily="18" charset="0"/>
                                </a:rPr>
                              </m:ctrlPr>
                            </m:eqArrPr>
                            <m:e>
                              <m:r>
                                <a:rPr sz="2400">
                                  <a:latin typeface="Cambria Math" panose="02040503050406030204" pitchFamily="18" charset="0"/>
                                </a:rPr>
                                <m:t>2</m:t>
                              </m:r>
                            </m:e>
                            <m:e>
                              <m:r>
                                <a:rPr sz="2400">
                                  <a:latin typeface="Cambria Math" panose="02040503050406030204" pitchFamily="18" charset="0"/>
                                </a:rPr>
                                <m:t>2</m:t>
                              </m:r>
                            </m:e>
                          </m:eqArr>
                        </m:e>
                      </m:d>
                      <m:d>
                        <m:dPr>
                          <m:begChr m:val="["/>
                          <m:endChr m:val="]"/>
                          <m:ctrlPr>
                            <a:rPr sz="2400" i="1">
                              <a:latin typeface="Cambria Math" panose="02040503050406030204" pitchFamily="18" charset="0"/>
                            </a:rPr>
                          </m:ctrlPr>
                        </m:dPr>
                        <m:e>
                          <m:eqArr>
                            <m:eqArrPr>
                              <m:ctrlPr>
                                <a:rPr sz="2400" i="1">
                                  <a:latin typeface="Cambria Math" panose="02040503050406030204" pitchFamily="18" charset="0"/>
                                </a:rPr>
                              </m:ctrlPr>
                            </m:eqArrPr>
                            <m:e>
                              <m:r>
                                <a:rPr sz="2400">
                                  <a:latin typeface="Cambria Math" panose="02040503050406030204" pitchFamily="18" charset="0"/>
                                </a:rPr>
                                <m:t>1</m:t>
                              </m:r>
                            </m:e>
                            <m:e>
                              <m:r>
                                <a:rPr sz="2400">
                                  <a:latin typeface="Cambria Math" panose="02040503050406030204" pitchFamily="18" charset="0"/>
                                </a:rPr>
                                <m:t>1</m:t>
                              </m:r>
                            </m:e>
                          </m:eqArr>
                        </m:e>
                      </m:d>
                    </m:oMath>
                  </m:oMathPara>
                </a14:m>
                <a:endParaRPr sz="2400" dirty="0"/>
              </a:p>
            </p:txBody>
          </p:sp>
        </mc:Choice>
        <mc:Fallback>
          <p:sp>
            <p:nvSpPr>
              <p:cNvPr id="10" name="文字方塊 9">
                <a:extLst>
                  <a:ext uri="{FF2B5EF4-FFF2-40B4-BE49-F238E27FC236}">
                    <a16:creationId xmlns:a16="http://schemas.microsoft.com/office/drawing/2014/main" id="{50AC5980-76C5-4DBD-AC30-E053B13D0319}"/>
                  </a:ext>
                </a:extLst>
              </p:cNvPr>
              <p:cNvSpPr txBox="1">
                <a:spLocks noRot="1" noChangeAspect="1" noMove="1" noResize="1" noEditPoints="1" noAdjustHandles="1" noChangeArrowheads="1" noChangeShapeType="1" noTextEdit="1"/>
              </p:cNvSpPr>
              <p:nvPr/>
            </p:nvSpPr>
            <p:spPr>
              <a:xfrm>
                <a:off x="1094398" y="1825625"/>
                <a:ext cx="1413160" cy="749388"/>
              </a:xfrm>
              <a:prstGeom prst="rect">
                <a:avLst/>
              </a:prstGeom>
              <a:blipFill>
                <a:blip r:embed="rId3"/>
                <a:stretch>
                  <a:fillRect/>
                </a:stretch>
              </a:blipFill>
            </p:spPr>
            <p:txBody>
              <a:bodyPr/>
              <a:lstStyle/>
              <a:p>
                <a:r>
                  <a:rPr lang="zh-TW" altLang="en-US">
                    <a:noFill/>
                  </a:rPr>
                  <a:t> </a:t>
                </a:r>
              </a:p>
            </p:txBody>
          </p:sp>
        </mc:Fallback>
      </mc:AlternateContent>
      <p:sp>
        <p:nvSpPr>
          <p:cNvPr id="11" name="矩形: 圓角 10">
            <a:extLst>
              <a:ext uri="{FF2B5EF4-FFF2-40B4-BE49-F238E27FC236}">
                <a16:creationId xmlns:a16="http://schemas.microsoft.com/office/drawing/2014/main" id="{66B674B3-DB45-48FA-858E-AAB1D0D20E2F}"/>
              </a:ext>
            </a:extLst>
          </p:cNvPr>
          <p:cNvSpPr/>
          <p:nvPr/>
        </p:nvSpPr>
        <p:spPr>
          <a:xfrm>
            <a:off x="1614932" y="1819275"/>
            <a:ext cx="435386" cy="79223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4DC9777E-CDC8-4AAE-A755-9DE1E9B1C1FD}"/>
              </a:ext>
            </a:extLst>
          </p:cNvPr>
          <p:cNvSpPr txBox="1"/>
          <p:nvPr/>
        </p:nvSpPr>
        <p:spPr>
          <a:xfrm>
            <a:off x="4082325" y="1800557"/>
            <a:ext cx="2608249" cy="461665"/>
          </a:xfrm>
          <a:prstGeom prst="rect">
            <a:avLst/>
          </a:prstGeom>
          <a:noFill/>
        </p:spPr>
        <p:txBody>
          <a:bodyPr wrap="square">
            <a:spAutoFit/>
          </a:bodyPr>
          <a:lstStyle/>
          <a:p>
            <a:r>
              <a:rPr lang="zh-TW" altLang="zh-TW" sz="2400" b="0" strike="noStrike" spc="-1" dirty="0">
                <a:latin typeface="Microsoft JhengHei" panose="020B0604030504040204" pitchFamily="34" charset="-120"/>
                <a:ea typeface="Microsoft JhengHei" panose="020B0604030504040204" pitchFamily="34" charset="-120"/>
              </a:rPr>
              <a:t>輸出序列</a:t>
            </a:r>
            <a:r>
              <a:rPr lang="en-US" altLang="zh-TW" sz="2400" b="0" strike="noStrike" spc="-1" dirty="0">
                <a:latin typeface="Microsoft JhengHei" panose="020B0604030504040204" pitchFamily="34" charset="-120"/>
                <a:ea typeface="Microsoft JhengHei" panose="020B0604030504040204" pitchFamily="34" charset="-120"/>
              </a:rPr>
              <a:t>[2][6]</a:t>
            </a:r>
          </a:p>
        </p:txBody>
      </p:sp>
      <p:pic>
        <p:nvPicPr>
          <p:cNvPr id="14" name="圖片 13">
            <a:extLst>
              <a:ext uri="{FF2B5EF4-FFF2-40B4-BE49-F238E27FC236}">
                <a16:creationId xmlns:a16="http://schemas.microsoft.com/office/drawing/2014/main" id="{14C627B9-7F19-47ED-8B26-D9E1CEDCC30F}"/>
              </a:ext>
            </a:extLst>
          </p:cNvPr>
          <p:cNvPicPr/>
          <p:nvPr/>
        </p:nvPicPr>
        <p:blipFill>
          <a:blip r:embed="rId2"/>
          <a:stretch/>
        </p:blipFill>
        <p:spPr>
          <a:xfrm>
            <a:off x="6340310" y="2409428"/>
            <a:ext cx="4383034" cy="3836624"/>
          </a:xfrm>
          <a:prstGeom prst="rect">
            <a:avLst/>
          </a:prstGeom>
          <a:ln w="18000">
            <a:noFill/>
          </a:ln>
        </p:spPr>
      </p:pic>
      <p:sp>
        <p:nvSpPr>
          <p:cNvPr id="15" name="文字方塊 14">
            <a:extLst>
              <a:ext uri="{FF2B5EF4-FFF2-40B4-BE49-F238E27FC236}">
                <a16:creationId xmlns:a16="http://schemas.microsoft.com/office/drawing/2014/main" id="{085EDE5E-B2FE-45AF-819D-B8136E777711}"/>
              </a:ext>
            </a:extLst>
          </p:cNvPr>
          <p:cNvSpPr txBox="1"/>
          <p:nvPr/>
        </p:nvSpPr>
        <p:spPr>
          <a:xfrm>
            <a:off x="6503580" y="3981608"/>
            <a:ext cx="566002" cy="487197"/>
          </a:xfrm>
          <a:prstGeom prst="rect">
            <a:avLst/>
          </a:prstGeom>
          <a:noFill/>
          <a:ln w="18000">
            <a:noFill/>
          </a:ln>
        </p:spPr>
        <p:txBody>
          <a:bodyPr lIns="108847" tIns="54423" rIns="108847" bIns="54423" anchor="t">
            <a:noAutofit/>
          </a:bodyPr>
          <a:lstStyle/>
          <a:p>
            <a:r>
              <a:rPr lang="en-US" sz="2661" spc="-1">
                <a:solidFill>
                  <a:srgbClr val="5983B0"/>
                </a:solidFill>
                <a:latin typeface="Arial"/>
              </a:rPr>
              <a:t>6</a:t>
            </a:r>
            <a:endParaRPr lang="en-US" sz="2661" spc="-1">
              <a:latin typeface="Arial"/>
            </a:endParaRPr>
          </a:p>
        </p:txBody>
      </p:sp>
      <p:sp>
        <p:nvSpPr>
          <p:cNvPr id="16" name="文字方塊 15">
            <a:extLst>
              <a:ext uri="{FF2B5EF4-FFF2-40B4-BE49-F238E27FC236}">
                <a16:creationId xmlns:a16="http://schemas.microsoft.com/office/drawing/2014/main" id="{100B2F67-0F04-49C3-AFC1-1AD64AC3BEB8}"/>
              </a:ext>
            </a:extLst>
          </p:cNvPr>
          <p:cNvSpPr txBox="1"/>
          <p:nvPr/>
        </p:nvSpPr>
        <p:spPr>
          <a:xfrm>
            <a:off x="8338733" y="6081476"/>
            <a:ext cx="435386" cy="418842"/>
          </a:xfrm>
          <a:prstGeom prst="rect">
            <a:avLst/>
          </a:prstGeom>
          <a:noFill/>
          <a:ln w="18000">
            <a:noFill/>
          </a:ln>
        </p:spPr>
        <p:txBody>
          <a:bodyPr lIns="108847" tIns="54423" rIns="108847" bIns="54423" anchor="t">
            <a:noAutofit/>
          </a:bodyPr>
          <a:lstStyle/>
          <a:p>
            <a:r>
              <a:rPr lang="en-US" sz="2177" spc="-1" dirty="0">
                <a:latin typeface="Arial"/>
              </a:rPr>
              <a:t>1</a:t>
            </a:r>
          </a:p>
        </p:txBody>
      </p:sp>
      <p:sp>
        <p:nvSpPr>
          <p:cNvPr id="17" name="文字方塊 16">
            <a:extLst>
              <a:ext uri="{FF2B5EF4-FFF2-40B4-BE49-F238E27FC236}">
                <a16:creationId xmlns:a16="http://schemas.microsoft.com/office/drawing/2014/main" id="{DACAFA57-B143-4A37-83D5-E5CA6DCEE4C6}"/>
              </a:ext>
            </a:extLst>
          </p:cNvPr>
          <p:cNvSpPr txBox="1"/>
          <p:nvPr/>
        </p:nvSpPr>
        <p:spPr>
          <a:xfrm>
            <a:off x="10014535" y="6074033"/>
            <a:ext cx="435386" cy="418842"/>
          </a:xfrm>
          <a:prstGeom prst="rect">
            <a:avLst/>
          </a:prstGeom>
          <a:noFill/>
          <a:ln w="18000">
            <a:noFill/>
          </a:ln>
        </p:spPr>
        <p:txBody>
          <a:bodyPr lIns="108847" tIns="54423" rIns="108847" bIns="54423" anchor="t">
            <a:noAutofit/>
          </a:bodyPr>
          <a:lstStyle/>
          <a:p>
            <a:r>
              <a:rPr lang="en-US" sz="2177" spc="-1" dirty="0">
                <a:latin typeface="Arial"/>
              </a:rPr>
              <a:t>1</a:t>
            </a:r>
          </a:p>
        </p:txBody>
      </p:sp>
      <p:sp>
        <p:nvSpPr>
          <p:cNvPr id="18" name="文字方塊 17">
            <a:extLst>
              <a:ext uri="{FF2B5EF4-FFF2-40B4-BE49-F238E27FC236}">
                <a16:creationId xmlns:a16="http://schemas.microsoft.com/office/drawing/2014/main" id="{2AD92436-BAD7-4F12-8701-8CBE085FE9DE}"/>
              </a:ext>
            </a:extLst>
          </p:cNvPr>
          <p:cNvSpPr txBox="1"/>
          <p:nvPr/>
        </p:nvSpPr>
        <p:spPr>
          <a:xfrm>
            <a:off x="9100224" y="2264009"/>
            <a:ext cx="435386" cy="487197"/>
          </a:xfrm>
          <a:prstGeom prst="rect">
            <a:avLst/>
          </a:prstGeom>
          <a:noFill/>
          <a:ln w="18000">
            <a:noFill/>
          </a:ln>
        </p:spPr>
        <p:txBody>
          <a:bodyPr lIns="108847" tIns="54423" rIns="108847" bIns="54423" anchor="t">
            <a:noAutofit/>
          </a:bodyPr>
          <a:lstStyle/>
          <a:p>
            <a:r>
              <a:rPr lang="en-US" sz="2661" spc="-1" dirty="0">
                <a:solidFill>
                  <a:srgbClr val="FF0000"/>
                </a:solidFill>
                <a:latin typeface="Arial"/>
              </a:rPr>
              <a:t>8</a:t>
            </a:r>
            <a:endParaRPr lang="en-US" sz="2661" spc="-1" dirty="0">
              <a:latin typeface="Arial"/>
            </a:endParaRPr>
          </a:p>
        </p:txBody>
      </p:sp>
      <p:sp>
        <p:nvSpPr>
          <p:cNvPr id="19" name="文字方塊 18">
            <a:extLst>
              <a:ext uri="{FF2B5EF4-FFF2-40B4-BE49-F238E27FC236}">
                <a16:creationId xmlns:a16="http://schemas.microsoft.com/office/drawing/2014/main" id="{933BE93B-6E94-4932-8D99-D7E28C55BE68}"/>
              </a:ext>
            </a:extLst>
          </p:cNvPr>
          <p:cNvSpPr txBox="1"/>
          <p:nvPr/>
        </p:nvSpPr>
        <p:spPr>
          <a:xfrm>
            <a:off x="7113121" y="3982044"/>
            <a:ext cx="566002" cy="487197"/>
          </a:xfrm>
          <a:prstGeom prst="rect">
            <a:avLst/>
          </a:prstGeom>
          <a:noFill/>
          <a:ln w="18000">
            <a:noFill/>
          </a:ln>
        </p:spPr>
        <p:txBody>
          <a:bodyPr lIns="108847" tIns="54423" rIns="108847" bIns="54423" anchor="t">
            <a:noAutofit/>
          </a:bodyPr>
          <a:lstStyle/>
          <a:p>
            <a:r>
              <a:rPr lang="en-US" sz="2661" spc="-1">
                <a:solidFill>
                  <a:srgbClr val="FF0000"/>
                </a:solidFill>
                <a:latin typeface="Arial"/>
              </a:rPr>
              <a:t>8</a:t>
            </a:r>
            <a:endParaRPr lang="en-US" sz="2661" spc="-1">
              <a:latin typeface="Arial"/>
            </a:endParaRPr>
          </a:p>
        </p:txBody>
      </p:sp>
      <p:sp>
        <p:nvSpPr>
          <p:cNvPr id="21" name="文字方塊 20">
            <a:extLst>
              <a:ext uri="{FF2B5EF4-FFF2-40B4-BE49-F238E27FC236}">
                <a16:creationId xmlns:a16="http://schemas.microsoft.com/office/drawing/2014/main" id="{0A8F792C-13B3-46A4-932A-E4615ADC44EC}"/>
              </a:ext>
            </a:extLst>
          </p:cNvPr>
          <p:cNvSpPr txBox="1"/>
          <p:nvPr/>
        </p:nvSpPr>
        <p:spPr>
          <a:xfrm>
            <a:off x="6057114" y="1807266"/>
            <a:ext cx="566002" cy="461665"/>
          </a:xfrm>
          <a:prstGeom prst="rect">
            <a:avLst/>
          </a:prstGeom>
          <a:noFill/>
        </p:spPr>
        <p:txBody>
          <a:bodyPr wrap="square">
            <a:spAutoFit/>
          </a:bodyPr>
          <a:lstStyle/>
          <a:p>
            <a:r>
              <a:rPr lang="en-US" altLang="zh-TW" sz="2400" b="0" strike="noStrike" spc="-1" dirty="0">
                <a:latin typeface="Microsoft JhengHei" panose="020B0604030504040204" pitchFamily="34" charset="-120"/>
                <a:ea typeface="Microsoft JhengHei" panose="020B0604030504040204" pitchFamily="34" charset="-120"/>
              </a:rPr>
              <a:t>[8]</a:t>
            </a:r>
            <a:endParaRPr lang="zh-TW" altLang="en-US" sz="2400" dirty="0"/>
          </a:p>
        </p:txBody>
      </p:sp>
      <p:sp>
        <p:nvSpPr>
          <p:cNvPr id="22" name="文字方塊 21">
            <a:extLst>
              <a:ext uri="{FF2B5EF4-FFF2-40B4-BE49-F238E27FC236}">
                <a16:creationId xmlns:a16="http://schemas.microsoft.com/office/drawing/2014/main" id="{E63A50BD-F103-4E36-821C-EDB20D51BE7D}"/>
              </a:ext>
            </a:extLst>
          </p:cNvPr>
          <p:cNvSpPr txBox="1"/>
          <p:nvPr/>
        </p:nvSpPr>
        <p:spPr>
          <a:xfrm>
            <a:off x="6786581" y="1474338"/>
            <a:ext cx="4792446" cy="861487"/>
          </a:xfrm>
          <a:prstGeom prst="rect">
            <a:avLst/>
          </a:prstGeom>
          <a:noFill/>
          <a:ln w="18000">
            <a:solidFill>
              <a:srgbClr val="000000"/>
            </a:solidFill>
            <a:round/>
          </a:ln>
        </p:spPr>
        <p:txBody>
          <a:bodyPr lIns="108847" tIns="54423" rIns="108847" bIns="54423" anchor="t">
            <a:noAutofit/>
          </a:bodyPr>
          <a:lstStyle/>
          <a:p>
            <a:r>
              <a:rPr lang="zh-TW" altLang="en-US" sz="2200" spc="-1" dirty="0">
                <a:latin typeface="Arial"/>
              </a:rPr>
              <a:t>在</a:t>
            </a:r>
            <a:r>
              <a:rPr lang="en-US" sz="2200" spc="-1" dirty="0">
                <a:latin typeface="Arial"/>
              </a:rPr>
              <a:t>RNN</a:t>
            </a:r>
            <a:r>
              <a:rPr lang="zh-TW" altLang="en-US" sz="2200" spc="-1" dirty="0">
                <a:latin typeface="Arial"/>
              </a:rPr>
              <a:t>的架構下，可以讓一樣的輸入因為先前資料的關係而有不同的輸出</a:t>
            </a:r>
            <a:endParaRPr lang="en-US" sz="2200" spc="-1" dirty="0">
              <a:latin typeface="Arial"/>
            </a:endParaRPr>
          </a:p>
        </p:txBody>
      </p:sp>
    </p:spTree>
    <p:extLst>
      <p:ext uri="{BB962C8B-B14F-4D97-AF65-F5344CB8AC3E}">
        <p14:creationId xmlns:p14="http://schemas.microsoft.com/office/powerpoint/2010/main" val="268298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0" fill="hold" nodeType="clickEffect">
                                  <p:stCondLst>
                                    <p:cond delay="0"/>
                                  </p:stCondLst>
                                  <p:childTnLst>
                                    <p:anim calcmode="lin" valueType="num">
                                      <p:cBhvr additive="repl">
                                        <p:cTn id="6" dur="500"/>
                                        <p:tgtEl>
                                          <p:spTgt spid="5">
                                            <p:txEl>
                                              <p:pRg st="0" end="0"/>
                                            </p:txEl>
                                          </p:spTgt>
                                        </p:tgtEl>
                                        <p:attrNameLst>
                                          <p:attrName>ppt_x</p:attrName>
                                        </p:attrNameLst>
                                      </p:cBhvr>
                                      <p:tavLst>
                                        <p:tav tm="0">
                                          <p:val>
                                            <p:strVal val="#ppt_x"/>
                                          </p:val>
                                        </p:tav>
                                        <p:tav tm="100000">
                                          <p:val>
                                            <p:strVal val="0-#ppt_w/2"/>
                                          </p:val>
                                        </p:tav>
                                      </p:tavLst>
                                    </p:anim>
                                    <p:anim calcmode="lin" valueType="num">
                                      <p:cBhvr additive="repl">
                                        <p:cTn id="7" dur="500"/>
                                        <p:tgtEl>
                                          <p:spTgt spid="5">
                                            <p:txEl>
                                              <p:pRg st="0" end="0"/>
                                            </p:txEl>
                                          </p:spTgt>
                                        </p:tgtEl>
                                        <p:attrNameLst>
                                          <p:attrName>ppt_y</p:attrName>
                                        </p:attrNameLst>
                                      </p:cBhvr>
                                      <p:tavLst>
                                        <p:tav tm="0">
                                          <p:val>
                                            <p:strVal val="#ppt_y"/>
                                          </p:val>
                                        </p:tav>
                                        <p:tav tm="100000">
                                          <p:val>
                                            <p:strVal val="#ppt_y"/>
                                          </p:val>
                                        </p:tav>
                                      </p:tavLst>
                                    </p:anim>
                                    <p:set>
                                      <p:cBhvr>
                                        <p:cTn id="8" dur="1" fill="hold">
                                          <p:stCondLst>
                                            <p:cond delay="499"/>
                                          </p:stCondLst>
                                        </p:cTn>
                                        <p:tgtEl>
                                          <p:spTgt spid="5">
                                            <p:txEl>
                                              <p:pRg st="0" end="0"/>
                                            </p:txEl>
                                          </p:spTgt>
                                        </p:tgtEl>
                                        <p:attrNameLst>
                                          <p:attrName>style.visibility</p:attrName>
                                        </p:attrNameLst>
                                      </p:cBhvr>
                                      <p:to>
                                        <p:strVal val="hidden"/>
                                      </p:to>
                                    </p:set>
                                  </p:childTnLst>
                                </p:cTn>
                              </p:par>
                              <p:par>
                                <p:cTn id="9" presetID="1" presetClass="entr" fill="hold" nodeType="with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par>
                          <p:cTn id="17" fill="hold">
                            <p:stCondLst>
                              <p:cond delay="0"/>
                            </p:stCondLst>
                            <p:childTnLst>
                              <p:par>
                                <p:cTn id="18" presetID="42" presetClass="path" presetSubtype="0" accel="50000" decel="50000" fill="hold" grpId="0" nodeType="afterEffect">
                                  <p:stCondLst>
                                    <p:cond delay="0"/>
                                  </p:stCondLst>
                                  <p:childTnLst>
                                    <p:animMotion origin="layout" path="M -4.16667E-7 3.33333E-6 L 0.03984 0.00185 " pathEditMode="relative" rAng="0" ptsTypes="AA">
                                      <p:cBhvr>
                                        <p:cTn id="19" dur="2000" fill="hold"/>
                                        <p:tgtEl>
                                          <p:spTgt spid="11"/>
                                        </p:tgtEl>
                                        <p:attrNameLst>
                                          <p:attrName>ppt_x</p:attrName>
                                          <p:attrName>ppt_y</p:attrName>
                                        </p:attrNameLst>
                                      </p:cBhvr>
                                      <p:rCtr x="1992" y="93"/>
                                    </p:animMotion>
                                  </p:childTnLst>
                                </p:cTn>
                              </p:par>
                              <p:par>
                                <p:cTn id="20" presetID="1"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xit" presetSubtype="0" fill="hold" nodeType="clickEffect">
                                  <p:stCondLst>
                                    <p:cond delay="0"/>
                                  </p:stCondLst>
                                  <p:childTnLst>
                                    <p:anim calcmode="lin" valueType="num">
                                      <p:cBhvr additive="repl">
                                        <p:cTn id="29" dur="500"/>
                                        <p:tgtEl>
                                          <p:spTgt spid="15">
                                            <p:txEl>
                                              <p:pRg st="0" end="0"/>
                                            </p:txEl>
                                          </p:spTgt>
                                        </p:tgtEl>
                                        <p:attrNameLst>
                                          <p:attrName>ppt_x</p:attrName>
                                        </p:attrNameLst>
                                      </p:cBhvr>
                                      <p:tavLst>
                                        <p:tav tm="0">
                                          <p:val>
                                            <p:strVal val="#ppt_x"/>
                                          </p:val>
                                        </p:tav>
                                        <p:tav tm="100000">
                                          <p:val>
                                            <p:strVal val="0-#ppt_w/2"/>
                                          </p:val>
                                        </p:tav>
                                      </p:tavLst>
                                    </p:anim>
                                    <p:anim calcmode="lin" valueType="num">
                                      <p:cBhvr additive="repl">
                                        <p:cTn id="30" dur="500"/>
                                        <p:tgtEl>
                                          <p:spTgt spid="15">
                                            <p:txEl>
                                              <p:pRg st="0" end="0"/>
                                            </p:txEl>
                                          </p:spTgt>
                                        </p:tgtEl>
                                        <p:attrNameLst>
                                          <p:attrName>ppt_y</p:attrName>
                                        </p:attrNameLst>
                                      </p:cBhvr>
                                      <p:tavLst>
                                        <p:tav tm="0">
                                          <p:val>
                                            <p:strVal val="#ppt_y"/>
                                          </p:val>
                                        </p:tav>
                                        <p:tav tm="100000">
                                          <p:val>
                                            <p:strVal val="#ppt_y"/>
                                          </p:val>
                                        </p:tav>
                                      </p:tavLst>
                                    </p:anim>
                                    <p:set>
                                      <p:cBhvr>
                                        <p:cTn id="31" dur="1" fill="hold">
                                          <p:stCondLst>
                                            <p:cond delay="499"/>
                                          </p:stCondLst>
                                        </p:cTn>
                                        <p:tgtEl>
                                          <p:spTgt spid="15">
                                            <p:txEl>
                                              <p:pRg st="0" end="0"/>
                                            </p:txEl>
                                          </p:spTgt>
                                        </p:tgtEl>
                                        <p:attrNameLst>
                                          <p:attrName>style.visibility</p:attrName>
                                        </p:attrNameLst>
                                      </p:cBhvr>
                                      <p:to>
                                        <p:strVal val="hidden"/>
                                      </p:to>
                                    </p:set>
                                  </p:childTnLst>
                                </p:cTn>
                              </p:par>
                              <p:par>
                                <p:cTn id="32" presetID="1" presetClass="entr" fill="hold" nodeType="withEffect">
                                  <p:stCondLst>
                                    <p:cond delay="0"/>
                                  </p:stCondLst>
                                  <p:childTnLst>
                                    <p:set>
                                      <p:cBhvr>
                                        <p:cTn id="33" dur="1" fill="hold">
                                          <p:stCondLst>
                                            <p:cond delay="0"/>
                                          </p:stCondLst>
                                        </p:cTn>
                                        <p:tgtEl>
                                          <p:spTgt spid="19">
                                            <p:txEl>
                                              <p:pRg st="0" end="0"/>
                                            </p:txEl>
                                          </p:spTgt>
                                        </p:tgtEl>
                                        <p:attrNameLst>
                                          <p:attrName>style.visibility</p:attrName>
                                        </p:attrNameLst>
                                      </p:cBhvr>
                                      <p:to>
                                        <p:strVal val="visible"/>
                                      </p:to>
                                    </p:set>
                                  </p:childTnLst>
                                </p:cTn>
                              </p:par>
                              <p:par>
                                <p:cTn id="34" presetID="1" presetClass="entr" fill="hold" nodeType="withEffect">
                                  <p:stCondLst>
                                    <p:cond delay="0"/>
                                  </p:stCondLst>
                                  <p:childTnLst>
                                    <p:set>
                                      <p:cBhvr>
                                        <p:cTn id="35" dur="1" fill="hold">
                                          <p:stCondLst>
                                            <p:cond delay="0"/>
                                          </p:stCondLst>
                                        </p:cTn>
                                        <p:tgtEl>
                                          <p:spTgt spid="18">
                                            <p:txEl>
                                              <p:pRg st="0" end="0"/>
                                            </p:txEl>
                                          </p:spTgt>
                                        </p:tgtEl>
                                        <p:attrNameLst>
                                          <p:attrName>style.visibility</p:attrName>
                                        </p:attrNameLst>
                                      </p:cBhvr>
                                      <p:to>
                                        <p:strVal val="visible"/>
                                      </p:to>
                                    </p:set>
                                  </p:childTnLst>
                                </p:cTn>
                              </p:par>
                            </p:childTnLst>
                          </p:cTn>
                        </p:par>
                        <p:par>
                          <p:cTn id="36" fill="hold">
                            <p:stCondLst>
                              <p:cond delay="500"/>
                            </p:stCondLst>
                            <p:childTnLst>
                              <p:par>
                                <p:cTn id="37" presetID="2" presetClass="entr" presetSubtype="2"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1+#ppt_w/2"/>
                                          </p:val>
                                        </p:tav>
                                        <p:tav tm="100000">
                                          <p:val>
                                            <p:strVal val="#ppt_x"/>
                                          </p:val>
                                        </p:tav>
                                      </p:tavLst>
                                    </p:anim>
                                    <p:anim calcmode="lin" valueType="num">
                                      <p:cBhvr additive="base">
                                        <p:cTn id="4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22">
                                            <p:txEl>
                                              <p:pRg st="0" end="0"/>
                                            </p:txEl>
                                          </p:spTgt>
                                        </p:tgtEl>
                                        <p:attrNameLst>
                                          <p:attrName>style.visibility</p:attrName>
                                        </p:attrNameLst>
                                      </p:cBhvr>
                                      <p:to>
                                        <p:strVal val="visible"/>
                                      </p:to>
                                    </p:set>
                                    <p:animEffect transition="in" filter="blinds(horizontal)">
                                      <p:cBhvr additive="repl">
                                        <p:cTn id="45" dur="500"/>
                                        <p:tgtEl>
                                          <p:spTgt spid="22">
                                            <p:txEl>
                                              <p:pRg st="0" end="0"/>
                                            </p:txEl>
                                          </p:spTgt>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22">
                                            <p:bg/>
                                          </p:spTgt>
                                        </p:tgtEl>
                                        <p:attrNameLst>
                                          <p:attrName>style.visibility</p:attrName>
                                        </p:attrNameLst>
                                      </p:cBhvr>
                                      <p:to>
                                        <p:strVal val="visible"/>
                                      </p:to>
                                    </p:set>
                                    <p:animEffect transition="in" filter="randombar(horizontal)">
                                      <p:cBhvr>
                                        <p:cTn id="48" dur="500"/>
                                        <p:tgtEl>
                                          <p:spTgt spid="22">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build="allAtOnce"/>
      <p:bldP spid="16" grpId="0"/>
      <p:bldP spid="17" grpId="0"/>
      <p:bldP spid="21" grpId="0"/>
      <p:bldP spid="22" grpId="0" uiExpand="1"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1DF5AD-FB63-4AFC-A693-D9CFDBCB7E69}"/>
              </a:ext>
            </a:extLst>
          </p:cNvPr>
          <p:cNvSpPr>
            <a:spLocks noGrp="1"/>
          </p:cNvSpPr>
          <p:nvPr>
            <p:ph type="title"/>
          </p:nvPr>
        </p:nvSpPr>
        <p:spPr/>
        <p:txBody>
          <a:bodyPr/>
          <a:lstStyle/>
          <a:p>
            <a:r>
              <a:rPr lang="en-US" altLang="zh-TW" dirty="0"/>
              <a:t>Recurrent Neural Network, RNN</a:t>
            </a:r>
            <a:endParaRPr lang="zh-TW" altLang="en-US" dirty="0"/>
          </a:p>
        </p:txBody>
      </p:sp>
      <p:sp>
        <p:nvSpPr>
          <p:cNvPr id="3" name="內容版面配置區 2">
            <a:extLst>
              <a:ext uri="{FF2B5EF4-FFF2-40B4-BE49-F238E27FC236}">
                <a16:creationId xmlns:a16="http://schemas.microsoft.com/office/drawing/2014/main" id="{081B159B-529A-4B9D-B6A0-85A3E01751B8}"/>
              </a:ext>
            </a:extLst>
          </p:cNvPr>
          <p:cNvSpPr>
            <a:spLocks noGrp="1"/>
          </p:cNvSpPr>
          <p:nvPr>
            <p:ph idx="1"/>
          </p:nvPr>
        </p:nvSpPr>
        <p:spPr>
          <a:xfrm>
            <a:off x="838200" y="1440673"/>
            <a:ext cx="10515600" cy="4736290"/>
          </a:xfrm>
        </p:spPr>
        <p:txBody>
          <a:bodyPr/>
          <a:lstStyle/>
          <a:p>
            <a:r>
              <a:rPr lang="zh-TW" altLang="en-US" dirty="0"/>
              <a:t>程式範例：</a:t>
            </a:r>
            <a:r>
              <a:rPr lang="en-US" altLang="zh-TW" sz="2000" dirty="0">
                <a:hlinkClick r:id="rId2"/>
              </a:rPr>
              <a:t>https://colab.research.google.com/drive/1xLV_9R74YfoMEfY6z2XZrycpZb-IFNq-?usp=sharing</a:t>
            </a:r>
            <a:r>
              <a:rPr lang="en-US" altLang="zh-TW" sz="2000" dirty="0"/>
              <a:t> </a:t>
            </a:r>
            <a:endParaRPr lang="en-US" altLang="zh-TW" dirty="0"/>
          </a:p>
          <a:p>
            <a:r>
              <a:rPr lang="zh-TW" altLang="en-US" sz="2400" dirty="0"/>
              <a:t>抓兩年的資料，使用前</a:t>
            </a:r>
            <a:r>
              <a:rPr lang="en-US" altLang="zh-TW" sz="2400" dirty="0"/>
              <a:t>n</a:t>
            </a:r>
            <a:r>
              <a:rPr lang="zh-TW" altLang="en-US" sz="2400" dirty="0"/>
              <a:t>天</a:t>
            </a:r>
            <a:br>
              <a:rPr lang="en-US" altLang="zh-TW" sz="2400" dirty="0"/>
            </a:br>
            <a:r>
              <a:rPr lang="zh-TW" altLang="en-US" sz="2400" dirty="0"/>
              <a:t>來預測下一天的股價</a:t>
            </a:r>
            <a:r>
              <a:rPr lang="en-US" altLang="zh-TW" sz="2400" dirty="0"/>
              <a:t>(n=5)</a:t>
            </a:r>
            <a:endParaRPr lang="zh-TW" altLang="en-US" dirty="0"/>
          </a:p>
        </p:txBody>
      </p:sp>
      <p:grpSp>
        <p:nvGrpSpPr>
          <p:cNvPr id="12" name="群組 11">
            <a:extLst>
              <a:ext uri="{FF2B5EF4-FFF2-40B4-BE49-F238E27FC236}">
                <a16:creationId xmlns:a16="http://schemas.microsoft.com/office/drawing/2014/main" id="{A4C7838C-C2AC-4D3F-A757-1D89CFF3CF98}"/>
              </a:ext>
            </a:extLst>
          </p:cNvPr>
          <p:cNvGrpSpPr/>
          <p:nvPr/>
        </p:nvGrpSpPr>
        <p:grpSpPr>
          <a:xfrm>
            <a:off x="838200" y="3507941"/>
            <a:ext cx="4070859" cy="3076995"/>
            <a:chOff x="1190694" y="3429000"/>
            <a:chExt cx="4070859" cy="3076995"/>
          </a:xfrm>
        </p:grpSpPr>
        <p:pic>
          <p:nvPicPr>
            <p:cNvPr id="5" name="圖片 4">
              <a:extLst>
                <a:ext uri="{FF2B5EF4-FFF2-40B4-BE49-F238E27FC236}">
                  <a16:creationId xmlns:a16="http://schemas.microsoft.com/office/drawing/2014/main" id="{D16E0345-529E-44C9-B836-979458CA9473}"/>
                </a:ext>
              </a:extLst>
            </p:cNvPr>
            <p:cNvPicPr>
              <a:picLocks noChangeAspect="1"/>
            </p:cNvPicPr>
            <p:nvPr/>
          </p:nvPicPr>
          <p:blipFill>
            <a:blip r:embed="rId3"/>
            <a:stretch>
              <a:fillRect/>
            </a:stretch>
          </p:blipFill>
          <p:spPr>
            <a:xfrm>
              <a:off x="1190694" y="3429000"/>
              <a:ext cx="4061034" cy="3076995"/>
            </a:xfrm>
            <a:prstGeom prst="rect">
              <a:avLst/>
            </a:prstGeom>
            <a:ln>
              <a:solidFill>
                <a:schemeClr val="tx1"/>
              </a:solidFill>
            </a:ln>
          </p:spPr>
        </p:pic>
        <p:sp>
          <p:nvSpPr>
            <p:cNvPr id="6" name="矩形 5">
              <a:extLst>
                <a:ext uri="{FF2B5EF4-FFF2-40B4-BE49-F238E27FC236}">
                  <a16:creationId xmlns:a16="http://schemas.microsoft.com/office/drawing/2014/main" id="{C51033DE-D37F-49E5-BD89-CAF61623775C}"/>
                </a:ext>
              </a:extLst>
            </p:cNvPr>
            <p:cNvSpPr/>
            <p:nvPr/>
          </p:nvSpPr>
          <p:spPr>
            <a:xfrm>
              <a:off x="4585158" y="3729927"/>
              <a:ext cx="666570" cy="2960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585D1FED-7B88-4085-A76B-1783D2ED5985}"/>
                </a:ext>
              </a:extLst>
            </p:cNvPr>
            <p:cNvSpPr/>
            <p:nvPr/>
          </p:nvSpPr>
          <p:spPr>
            <a:xfrm>
              <a:off x="3928413" y="4002355"/>
              <a:ext cx="666570" cy="2960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A08A1DA6-27B4-48DE-B0D5-7514698CAF6E}"/>
                </a:ext>
              </a:extLst>
            </p:cNvPr>
            <p:cNvSpPr/>
            <p:nvPr/>
          </p:nvSpPr>
          <p:spPr>
            <a:xfrm>
              <a:off x="3323199" y="4298384"/>
              <a:ext cx="666570" cy="2960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E802D487-CA0E-4615-AA07-AC566DF0ACCE}"/>
                </a:ext>
              </a:extLst>
            </p:cNvPr>
            <p:cNvSpPr/>
            <p:nvPr/>
          </p:nvSpPr>
          <p:spPr>
            <a:xfrm>
              <a:off x="4594983" y="4024097"/>
              <a:ext cx="666570" cy="29602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538CC347-E6CD-4B6E-96E5-077F4D587C01}"/>
                </a:ext>
              </a:extLst>
            </p:cNvPr>
            <p:cNvSpPr/>
            <p:nvPr/>
          </p:nvSpPr>
          <p:spPr>
            <a:xfrm>
              <a:off x="3938238" y="4296525"/>
              <a:ext cx="666570" cy="29602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19DFAFC-8748-44A0-8485-5B69C597E6F7}"/>
                </a:ext>
              </a:extLst>
            </p:cNvPr>
            <p:cNvSpPr/>
            <p:nvPr/>
          </p:nvSpPr>
          <p:spPr>
            <a:xfrm>
              <a:off x="3333024" y="4592554"/>
              <a:ext cx="666570" cy="29602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2050" name="Picture 2">
            <a:extLst>
              <a:ext uri="{FF2B5EF4-FFF2-40B4-BE49-F238E27FC236}">
                <a16:creationId xmlns:a16="http://schemas.microsoft.com/office/drawing/2014/main" id="{6CA948DF-4F8E-436F-9208-75F870C0EA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6676" y="2298532"/>
            <a:ext cx="6701848" cy="445278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7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C960A2-7488-4587-8A33-3ED4F0D6B4E9}"/>
              </a:ext>
            </a:extLst>
          </p:cNvPr>
          <p:cNvSpPr>
            <a:spLocks noGrp="1"/>
          </p:cNvSpPr>
          <p:nvPr>
            <p:ph type="title"/>
          </p:nvPr>
        </p:nvSpPr>
        <p:spPr/>
        <p:txBody>
          <a:bodyPr/>
          <a:lstStyle/>
          <a:p>
            <a:r>
              <a:rPr lang="en-US" altLang="zh-TW" sz="4400" b="0" strike="noStrike" spc="-1" dirty="0">
                <a:solidFill>
                  <a:srgbClr val="050505"/>
                </a:solidFill>
                <a:latin typeface="Times New Roman"/>
              </a:rPr>
              <a:t>RNN from scratch</a:t>
            </a:r>
            <a:endParaRPr lang="zh-TW" altLang="en-US" dirty="0"/>
          </a:p>
        </p:txBody>
      </p:sp>
      <p:sp>
        <p:nvSpPr>
          <p:cNvPr id="3" name="內容版面配置區 2">
            <a:extLst>
              <a:ext uri="{FF2B5EF4-FFF2-40B4-BE49-F238E27FC236}">
                <a16:creationId xmlns:a16="http://schemas.microsoft.com/office/drawing/2014/main" id="{901575DC-E375-4FFF-874D-55B90B7EC3BA}"/>
              </a:ext>
            </a:extLst>
          </p:cNvPr>
          <p:cNvSpPr>
            <a:spLocks noGrp="1"/>
          </p:cNvSpPr>
          <p:nvPr>
            <p:ph idx="1"/>
          </p:nvPr>
        </p:nvSpPr>
        <p:spPr/>
        <p:txBody>
          <a:bodyPr/>
          <a:lstStyle/>
          <a:p>
            <a:r>
              <a:rPr lang="zh-TW" altLang="en-US" dirty="0"/>
              <a:t>這邊來一張複雜的圖</a:t>
            </a:r>
          </a:p>
        </p:txBody>
      </p:sp>
      <p:sp>
        <p:nvSpPr>
          <p:cNvPr id="5" name="文字方塊 4">
            <a:extLst>
              <a:ext uri="{FF2B5EF4-FFF2-40B4-BE49-F238E27FC236}">
                <a16:creationId xmlns:a16="http://schemas.microsoft.com/office/drawing/2014/main" id="{EC67DCE9-114B-4718-AFE6-18188F4A5A0F}"/>
              </a:ext>
            </a:extLst>
          </p:cNvPr>
          <p:cNvSpPr txBox="1"/>
          <p:nvPr/>
        </p:nvSpPr>
        <p:spPr>
          <a:xfrm>
            <a:off x="838200" y="6176963"/>
            <a:ext cx="10572750" cy="307777"/>
          </a:xfrm>
          <a:prstGeom prst="rect">
            <a:avLst/>
          </a:prstGeom>
          <a:noFill/>
        </p:spPr>
        <p:txBody>
          <a:bodyPr wrap="square">
            <a:spAutoFit/>
          </a:bodyPr>
          <a:lstStyle/>
          <a:p>
            <a:r>
              <a:rPr lang="zh-TW" altLang="en-US" sz="1400" dirty="0"/>
              <a:t>https://medium.com/@thisislong/building-a-recurrent-neural-network-from-scratch-ba9b27a42856</a:t>
            </a:r>
          </a:p>
        </p:txBody>
      </p:sp>
      <p:pic>
        <p:nvPicPr>
          <p:cNvPr id="1026" name="Picture 2">
            <a:extLst>
              <a:ext uri="{FF2B5EF4-FFF2-40B4-BE49-F238E27FC236}">
                <a16:creationId xmlns:a16="http://schemas.microsoft.com/office/drawing/2014/main" id="{82602006-48CB-40A8-90B7-6C83E9532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49" y="2277536"/>
            <a:ext cx="9804509" cy="38237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EFEFCD97-54F0-5591-7608-3B9718B0F240}"/>
              </a:ext>
            </a:extLst>
          </p:cNvPr>
          <p:cNvSpPr txBox="1"/>
          <p:nvPr/>
        </p:nvSpPr>
        <p:spPr>
          <a:xfrm>
            <a:off x="6248400" y="186942"/>
            <a:ext cx="5791200" cy="2031325"/>
          </a:xfrm>
          <a:prstGeom prst="rect">
            <a:avLst/>
          </a:prstGeom>
          <a:noFill/>
        </p:spPr>
        <p:txBody>
          <a:bodyPr wrap="square">
            <a:spAutoFit/>
          </a:bodyPr>
          <a:lstStyle/>
          <a:p>
            <a:pPr algn="l">
              <a:buFont typeface="Arial" panose="020B0604020202020204" pitchFamily="34" charset="0"/>
              <a:buChar char="•"/>
            </a:pPr>
            <a:r>
              <a:rPr lang="en" altLang="zh-TW" sz="1400" b="1" i="1" dirty="0">
                <a:solidFill>
                  <a:srgbClr val="242424"/>
                </a:solidFill>
                <a:effectLst/>
                <a:highlight>
                  <a:srgbClr val="FFFFFF"/>
                </a:highlight>
                <a:latin typeface="inherit"/>
              </a:rPr>
              <a:t>W</a:t>
            </a:r>
            <a:r>
              <a:rPr lang="en" altLang="zh-TW" sz="1400" b="0" i="0" dirty="0">
                <a:solidFill>
                  <a:srgbClr val="242424"/>
                </a:solidFill>
                <a:effectLst/>
                <a:highlight>
                  <a:srgbClr val="FFFFFF"/>
                </a:highlight>
                <a:latin typeface="source-serif-pro"/>
              </a:rPr>
              <a:t>: Recurrent weight matrix — weights connecting hidden states</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U</a:t>
            </a:r>
            <a:r>
              <a:rPr lang="en" altLang="zh-TW" sz="1400" b="0" i="0" dirty="0">
                <a:solidFill>
                  <a:srgbClr val="242424"/>
                </a:solidFill>
                <a:effectLst/>
                <a:highlight>
                  <a:srgbClr val="FFFFFF"/>
                </a:highlight>
                <a:latin typeface="source-serif-pro"/>
              </a:rPr>
              <a:t>: Input weight matrix — weights connecting input to hidden state</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V</a:t>
            </a:r>
            <a:r>
              <a:rPr lang="en" altLang="zh-TW" sz="1400" b="0" i="0" dirty="0">
                <a:solidFill>
                  <a:srgbClr val="242424"/>
                </a:solidFill>
                <a:effectLst/>
                <a:highlight>
                  <a:srgbClr val="FFFFFF"/>
                </a:highlight>
                <a:latin typeface="source-serif-pro"/>
              </a:rPr>
              <a:t>: Output weight matrix — weights connecting hidden state to output</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s</a:t>
            </a:r>
            <a:r>
              <a:rPr lang="en" altLang="zh-TW" sz="1400" b="0" i="0" dirty="0">
                <a:solidFill>
                  <a:srgbClr val="242424"/>
                </a:solidFill>
                <a:effectLst/>
                <a:highlight>
                  <a:srgbClr val="FFFFFF"/>
                </a:highlight>
                <a:latin typeface="source-serif-pro"/>
              </a:rPr>
              <a:t>: Weighted sum of previous hidden state and current input</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a</a:t>
            </a:r>
            <a:r>
              <a:rPr lang="en" altLang="zh-TW" sz="1400" b="0" i="0" dirty="0">
                <a:solidFill>
                  <a:srgbClr val="242424"/>
                </a:solidFill>
                <a:effectLst/>
                <a:highlight>
                  <a:srgbClr val="FFFFFF"/>
                </a:highlight>
                <a:latin typeface="source-serif-pro"/>
              </a:rPr>
              <a:t>: Hidden state activation value</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o</a:t>
            </a:r>
            <a:r>
              <a:rPr lang="en" altLang="zh-TW" sz="1400" b="0" i="0" dirty="0">
                <a:solidFill>
                  <a:srgbClr val="242424"/>
                </a:solidFill>
                <a:effectLst/>
                <a:highlight>
                  <a:srgbClr val="FFFFFF"/>
                </a:highlight>
                <a:latin typeface="source-serif-pro"/>
              </a:rPr>
              <a:t>: Weighted output of activation value</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y^</a:t>
            </a:r>
            <a:r>
              <a:rPr lang="en" altLang="zh-TW" sz="1400" b="0" i="0" dirty="0">
                <a:solidFill>
                  <a:srgbClr val="242424"/>
                </a:solidFill>
                <a:effectLst/>
                <a:highlight>
                  <a:srgbClr val="FFFFFF"/>
                </a:highlight>
                <a:latin typeface="source-serif-pro"/>
              </a:rPr>
              <a:t>:</a:t>
            </a:r>
            <a:r>
              <a:rPr lang="zh-TW" altLang="en-US" sz="1400" b="0" i="0" dirty="0">
                <a:solidFill>
                  <a:srgbClr val="242424"/>
                </a:solidFill>
                <a:effectLst/>
                <a:highlight>
                  <a:srgbClr val="FFFFFF"/>
                </a:highlight>
                <a:latin typeface="source-serif-pro"/>
              </a:rPr>
              <a:t> </a:t>
            </a:r>
            <a:r>
              <a:rPr lang="en" altLang="zh-TW" sz="1400" b="0" i="0" dirty="0">
                <a:solidFill>
                  <a:srgbClr val="242424"/>
                </a:solidFill>
                <a:effectLst/>
                <a:highlight>
                  <a:srgbClr val="FFFFFF"/>
                </a:highlight>
                <a:latin typeface="source-serif-pro"/>
              </a:rPr>
              <a:t>Predicted value (normalized probabilities)</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y</a:t>
            </a:r>
            <a:r>
              <a:rPr lang="en" altLang="zh-TW" sz="1400" b="0" i="0" dirty="0">
                <a:solidFill>
                  <a:srgbClr val="242424"/>
                </a:solidFill>
                <a:effectLst/>
                <a:highlight>
                  <a:srgbClr val="FFFFFF"/>
                </a:highlight>
                <a:latin typeface="source-serif-pro"/>
              </a:rPr>
              <a:t>: True target value</a:t>
            </a:r>
            <a:r>
              <a:rPr lang="zh-TW" altLang="en-US" sz="1400" b="0" i="0" dirty="0">
                <a:solidFill>
                  <a:srgbClr val="242424"/>
                </a:solidFill>
                <a:effectLst/>
                <a:highlight>
                  <a:srgbClr val="FFFFFF"/>
                </a:highlight>
                <a:latin typeface="source-serif-pro"/>
              </a:rPr>
              <a:t>      </a:t>
            </a:r>
            <a:r>
              <a:rPr lang="en" altLang="zh-TW" sz="1400" b="1" i="1" dirty="0">
                <a:solidFill>
                  <a:srgbClr val="242424"/>
                </a:solidFill>
                <a:effectLst/>
                <a:highlight>
                  <a:srgbClr val="FFFFFF"/>
                </a:highlight>
                <a:latin typeface="inherit"/>
              </a:rPr>
              <a:t>L</a:t>
            </a:r>
            <a:r>
              <a:rPr lang="en" altLang="zh-TW" sz="1400" b="0" i="0" dirty="0">
                <a:solidFill>
                  <a:srgbClr val="242424"/>
                </a:solidFill>
                <a:effectLst/>
                <a:highlight>
                  <a:srgbClr val="FFFFFF"/>
                </a:highlight>
                <a:latin typeface="source-serif-pro"/>
              </a:rPr>
              <a:t>: Loss value</a:t>
            </a:r>
            <a:r>
              <a:rPr lang="zh-TW" altLang="en-US" sz="1400" b="0" i="0" dirty="0">
                <a:solidFill>
                  <a:srgbClr val="242424"/>
                </a:solidFill>
                <a:effectLst/>
                <a:highlight>
                  <a:srgbClr val="FFFFFF"/>
                </a:highlight>
                <a:latin typeface="source-serif-pro"/>
              </a:rPr>
              <a:t>     </a:t>
            </a:r>
            <a:r>
              <a:rPr lang="en" altLang="zh-TW" sz="1400" b="1" i="1" dirty="0">
                <a:solidFill>
                  <a:srgbClr val="242424"/>
                </a:solidFill>
                <a:effectLst/>
                <a:highlight>
                  <a:srgbClr val="FFFFFF"/>
                </a:highlight>
                <a:latin typeface="inherit"/>
              </a:rPr>
              <a:t>t</a:t>
            </a:r>
            <a:r>
              <a:rPr lang="en" altLang="zh-TW" sz="1400" b="0" i="0" dirty="0">
                <a:solidFill>
                  <a:srgbClr val="242424"/>
                </a:solidFill>
                <a:effectLst/>
                <a:highlight>
                  <a:srgbClr val="FFFFFF"/>
                </a:highlight>
                <a:latin typeface="source-serif-pro"/>
              </a:rPr>
              <a:t>: Time step</a:t>
            </a:r>
          </a:p>
          <a:p>
            <a:pPr algn="l">
              <a:buFont typeface="Arial" panose="020B0604020202020204" pitchFamily="34" charset="0"/>
              <a:buChar char="•"/>
            </a:pPr>
            <a:r>
              <a:rPr lang="en" altLang="zh-TW" sz="1400" b="1" i="1" dirty="0">
                <a:solidFill>
                  <a:srgbClr val="242424"/>
                </a:solidFill>
                <a:effectLst/>
                <a:highlight>
                  <a:srgbClr val="FFFFFF"/>
                </a:highlight>
                <a:latin typeface="inherit"/>
              </a:rPr>
              <a:t>b</a:t>
            </a:r>
            <a:r>
              <a:rPr lang="en" altLang="zh-TW" sz="1400" b="0" i="0" dirty="0">
                <a:solidFill>
                  <a:srgbClr val="242424"/>
                </a:solidFill>
                <a:effectLst/>
                <a:highlight>
                  <a:srgbClr val="FFFFFF"/>
                </a:highlight>
                <a:latin typeface="source-serif-pro"/>
              </a:rPr>
              <a:t>: Bias matrix for hidden states</a:t>
            </a:r>
            <a:r>
              <a:rPr lang="zh-TW" altLang="en-US" sz="1400" b="0" i="0" dirty="0">
                <a:solidFill>
                  <a:srgbClr val="242424"/>
                </a:solidFill>
                <a:effectLst/>
                <a:highlight>
                  <a:srgbClr val="FFFFFF"/>
                </a:highlight>
                <a:latin typeface="source-serif-pro"/>
              </a:rPr>
              <a:t>    </a:t>
            </a:r>
            <a:r>
              <a:rPr lang="en" altLang="zh-TW" sz="1400" b="1" i="1" dirty="0">
                <a:solidFill>
                  <a:srgbClr val="242424"/>
                </a:solidFill>
                <a:effectLst/>
                <a:highlight>
                  <a:srgbClr val="FFFFFF"/>
                </a:highlight>
                <a:latin typeface="inherit"/>
              </a:rPr>
              <a:t>c</a:t>
            </a:r>
            <a:r>
              <a:rPr lang="en" altLang="zh-TW" sz="1400" b="0" i="0" dirty="0">
                <a:solidFill>
                  <a:srgbClr val="242424"/>
                </a:solidFill>
                <a:effectLst/>
                <a:highlight>
                  <a:srgbClr val="FFFFFF"/>
                </a:highlight>
                <a:latin typeface="source-serif-pro"/>
              </a:rPr>
              <a:t>: Bias matrix for output</a:t>
            </a:r>
            <a:r>
              <a:rPr lang="zh-TW" altLang="en-US" sz="1400" b="0" i="0" dirty="0">
                <a:solidFill>
                  <a:srgbClr val="242424"/>
                </a:solidFill>
                <a:effectLst/>
                <a:highlight>
                  <a:srgbClr val="FFFFFF"/>
                </a:highlight>
                <a:latin typeface="source-serif-pro"/>
              </a:rPr>
              <a:t>   </a:t>
            </a:r>
            <a:r>
              <a:rPr lang="en" altLang="zh-TW" sz="1400" b="1" i="1" dirty="0">
                <a:solidFill>
                  <a:srgbClr val="242424"/>
                </a:solidFill>
                <a:effectLst/>
                <a:highlight>
                  <a:srgbClr val="FFFFFF"/>
                </a:highlight>
                <a:latin typeface="inherit"/>
              </a:rPr>
              <a:t>x</a:t>
            </a:r>
            <a:r>
              <a:rPr lang="en" altLang="zh-TW" sz="1400" b="0" i="0" dirty="0">
                <a:solidFill>
                  <a:srgbClr val="242424"/>
                </a:solidFill>
                <a:effectLst/>
                <a:highlight>
                  <a:srgbClr val="FFFFFF"/>
                </a:highlight>
                <a:latin typeface="source-serif-pro"/>
              </a:rPr>
              <a:t>: Input vector</a:t>
            </a:r>
          </a:p>
        </p:txBody>
      </p:sp>
    </p:spTree>
    <p:extLst>
      <p:ext uri="{BB962C8B-B14F-4D97-AF65-F5344CB8AC3E}">
        <p14:creationId xmlns:p14="http://schemas.microsoft.com/office/powerpoint/2010/main" val="561642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C1CFE0-6429-4CF3-B4D4-DA6B60F0159E}"/>
              </a:ext>
            </a:extLst>
          </p:cNvPr>
          <p:cNvSpPr>
            <a:spLocks noGrp="1"/>
          </p:cNvSpPr>
          <p:nvPr>
            <p:ph type="title"/>
          </p:nvPr>
        </p:nvSpPr>
        <p:spPr/>
        <p:txBody>
          <a:bodyPr/>
          <a:lstStyle/>
          <a:p>
            <a:r>
              <a:rPr lang="en-US" altLang="zh-TW" sz="4400" b="0" strike="noStrike" spc="-1" dirty="0">
                <a:solidFill>
                  <a:srgbClr val="050505"/>
                </a:solidFill>
                <a:latin typeface="Times New Roman"/>
              </a:rPr>
              <a:t>RNN from scratch</a:t>
            </a:r>
            <a:endParaRPr lang="zh-TW" altLang="en-US" dirty="0"/>
          </a:p>
        </p:txBody>
      </p:sp>
      <p:sp>
        <p:nvSpPr>
          <p:cNvPr id="3" name="內容版面配置區 2">
            <a:extLst>
              <a:ext uri="{FF2B5EF4-FFF2-40B4-BE49-F238E27FC236}">
                <a16:creationId xmlns:a16="http://schemas.microsoft.com/office/drawing/2014/main" id="{4CFF149A-8673-4106-A326-4DAA8B5F4298}"/>
              </a:ext>
            </a:extLst>
          </p:cNvPr>
          <p:cNvSpPr>
            <a:spLocks noGrp="1"/>
          </p:cNvSpPr>
          <p:nvPr>
            <p:ph idx="1"/>
          </p:nvPr>
        </p:nvSpPr>
        <p:spPr>
          <a:xfrm>
            <a:off x="838200" y="1825625"/>
            <a:ext cx="6883400" cy="4351338"/>
          </a:xfrm>
        </p:spPr>
        <p:txBody>
          <a:bodyPr/>
          <a:lstStyle/>
          <a:p>
            <a:r>
              <a:rPr lang="zh-TW" altLang="en-US" dirty="0"/>
              <a:t>與先前的</a:t>
            </a:r>
            <a:r>
              <a:rPr lang="en-US" altLang="zh-TW" dirty="0"/>
              <a:t>ANN</a:t>
            </a:r>
            <a:r>
              <a:rPr lang="zh-TW" altLang="en-US" dirty="0"/>
              <a:t>另一個不一樣的地方在於「倒傳遞」的部分</a:t>
            </a:r>
            <a:endParaRPr lang="en-US" altLang="zh-TW" dirty="0"/>
          </a:p>
          <a:p>
            <a:r>
              <a:rPr lang="zh-TW" altLang="en-US" dirty="0"/>
              <a:t>因為</a:t>
            </a:r>
            <a:r>
              <a:rPr lang="en-US" altLang="zh-TW" dirty="0"/>
              <a:t>RNN</a:t>
            </a:r>
            <a:r>
              <a:rPr lang="zh-TW" altLang="en-US" dirty="0"/>
              <a:t>帶有時間軸，所以「倒傳遞」也必須延著計算過程一步一步回推回去</a:t>
            </a:r>
            <a:endParaRPr lang="en-US" altLang="zh-TW" dirty="0"/>
          </a:p>
          <a:p>
            <a:pPr lvl="1"/>
            <a:r>
              <a:rPr lang="en-US" altLang="zh-TW" dirty="0"/>
              <a:t>Backpropagation Through Time (BTT)</a:t>
            </a:r>
          </a:p>
          <a:p>
            <a:endParaRPr lang="zh-TW" altLang="en-US" dirty="0"/>
          </a:p>
        </p:txBody>
      </p:sp>
      <p:pic>
        <p:nvPicPr>
          <p:cNvPr id="3074" name="Picture 2">
            <a:extLst>
              <a:ext uri="{FF2B5EF4-FFF2-40B4-BE49-F238E27FC236}">
                <a16:creationId xmlns:a16="http://schemas.microsoft.com/office/drawing/2014/main" id="{D962530E-CEAA-48C3-B5B8-920CBD51028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29934" y="1825625"/>
            <a:ext cx="9495104" cy="4899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3525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613983-C873-4C5D-A63C-FB8B8CD03074}"/>
              </a:ext>
            </a:extLst>
          </p:cNvPr>
          <p:cNvSpPr>
            <a:spLocks noGrp="1"/>
          </p:cNvSpPr>
          <p:nvPr>
            <p:ph type="title"/>
          </p:nvPr>
        </p:nvSpPr>
        <p:spPr/>
        <p:txBody>
          <a:bodyPr/>
          <a:lstStyle/>
          <a:p>
            <a:r>
              <a:rPr lang="en-US" altLang="zh-TW" sz="4400" b="0" strike="noStrike" spc="-1" dirty="0">
                <a:solidFill>
                  <a:srgbClr val="050505"/>
                </a:solidFill>
                <a:latin typeface="Times New Roman"/>
              </a:rPr>
              <a:t>RNN from scratch</a:t>
            </a:r>
            <a:endParaRPr lang="zh-TW" altLang="en-US" dirty="0"/>
          </a:p>
        </p:txBody>
      </p:sp>
      <p:sp>
        <p:nvSpPr>
          <p:cNvPr id="3" name="內容版面配置區 2">
            <a:extLst>
              <a:ext uri="{FF2B5EF4-FFF2-40B4-BE49-F238E27FC236}">
                <a16:creationId xmlns:a16="http://schemas.microsoft.com/office/drawing/2014/main" id="{AA39B74F-4E20-4EBC-88AD-1BA9B451ECA8}"/>
              </a:ext>
            </a:extLst>
          </p:cNvPr>
          <p:cNvSpPr>
            <a:spLocks noGrp="1"/>
          </p:cNvSpPr>
          <p:nvPr>
            <p:ph sz="half" idx="1"/>
          </p:nvPr>
        </p:nvSpPr>
        <p:spPr/>
        <p:txBody>
          <a:bodyPr/>
          <a:lstStyle/>
          <a:p>
            <a:r>
              <a:rPr lang="zh-TW" altLang="en-US" dirty="0"/>
              <a:t>來點數學</a:t>
            </a:r>
            <a:endParaRPr lang="en-US" altLang="zh-TW" dirty="0"/>
          </a:p>
          <a:p>
            <a:endParaRPr lang="en-US" altLang="zh-TW" dirty="0"/>
          </a:p>
          <a:p>
            <a:r>
              <a:rPr lang="zh-TW" altLang="en-US" dirty="0"/>
              <a:t>一樣</a:t>
            </a:r>
            <a:r>
              <a:rPr lang="zh-TW" altLang="en-US" dirty="0">
                <a:hlinkClick r:id="rId2"/>
              </a:rPr>
              <a:t>計算微分</a:t>
            </a:r>
            <a:r>
              <a:rPr lang="zh-TW" altLang="en-US" dirty="0"/>
              <a:t>後得到</a:t>
            </a:r>
            <a:endParaRPr lang="en-US" altLang="zh-TW" dirty="0"/>
          </a:p>
          <a:p>
            <a:endParaRPr lang="en-US" altLang="zh-TW" sz="4000" dirty="0"/>
          </a:p>
          <a:p>
            <a:pPr>
              <a:lnSpc>
                <a:spcPct val="100000"/>
              </a:lnSpc>
            </a:pPr>
            <a:r>
              <a:rPr lang="zh-TW" altLang="en-US" dirty="0"/>
              <a:t>接著對</a:t>
            </a:r>
            <a:r>
              <a:rPr lang="en-US" altLang="zh-TW" i="1" dirty="0" err="1"/>
              <a:t>o</a:t>
            </a:r>
            <a:r>
              <a:rPr lang="en-US" altLang="zh-TW" i="1" baseline="-25000" dirty="0" err="1"/>
              <a:t>t</a:t>
            </a:r>
            <a:r>
              <a:rPr lang="zh-TW" altLang="en-US" dirty="0"/>
              <a:t>微分，加上</a:t>
            </a:r>
            <a:r>
              <a:rPr lang="en-US" altLang="zh-TW" dirty="0">
                <a:hlinkClick r:id="rId3"/>
              </a:rPr>
              <a:t>SoftMax</a:t>
            </a:r>
            <a:r>
              <a:rPr lang="zh-TW" altLang="en-US" dirty="0">
                <a:hlinkClick r:id="rId3"/>
              </a:rPr>
              <a:t>微分</a:t>
            </a:r>
            <a:endParaRPr lang="en-US" altLang="zh-TW" dirty="0"/>
          </a:p>
        </p:txBody>
      </p:sp>
      <p:sp>
        <p:nvSpPr>
          <p:cNvPr id="7" name="內容版面配置區 6">
            <a:extLst>
              <a:ext uri="{FF2B5EF4-FFF2-40B4-BE49-F238E27FC236}">
                <a16:creationId xmlns:a16="http://schemas.microsoft.com/office/drawing/2014/main" id="{6D7C27F2-CCE3-9B88-3BDB-2CB76984E211}"/>
              </a:ext>
            </a:extLst>
          </p:cNvPr>
          <p:cNvSpPr>
            <a:spLocks noGrp="1"/>
          </p:cNvSpPr>
          <p:nvPr>
            <p:ph sz="half" idx="2"/>
          </p:nvPr>
        </p:nvSpPr>
        <p:spPr/>
        <p:txBody>
          <a:bodyPr/>
          <a:lstStyle/>
          <a:p>
            <a:r>
              <a:rPr lang="en-US" altLang="zh-TW" i="1" dirty="0" err="1"/>
              <a:t>O</a:t>
            </a:r>
            <a:r>
              <a:rPr lang="en-US" altLang="zh-TW" i="1" baseline="-25000" dirty="0" err="1"/>
              <a:t>t</a:t>
            </a:r>
            <a:r>
              <a:rPr lang="zh-TW" altLang="en-US" dirty="0"/>
              <a:t>由</a:t>
            </a:r>
            <a:r>
              <a:rPr lang="en-US" altLang="zh-TW" dirty="0"/>
              <a:t>weight</a:t>
            </a:r>
            <a:r>
              <a:rPr lang="zh-TW" altLang="en-US" dirty="0"/>
              <a:t> </a:t>
            </a:r>
            <a:r>
              <a:rPr lang="en-US" altLang="zh-TW" dirty="0"/>
              <a:t>matrix:</a:t>
            </a:r>
            <a:r>
              <a:rPr lang="zh-TW" altLang="en-US" dirty="0"/>
              <a:t> </a:t>
            </a:r>
            <a:r>
              <a:rPr lang="en-US" altLang="zh-TW" dirty="0"/>
              <a:t>V</a:t>
            </a:r>
            <a:r>
              <a:rPr lang="zh-TW" altLang="en-US" dirty="0"/>
              <a:t>以及</a:t>
            </a:r>
            <a:r>
              <a:rPr lang="en-US" altLang="zh-TW" dirty="0"/>
              <a:t>bias:</a:t>
            </a:r>
            <a:r>
              <a:rPr lang="zh-TW" altLang="en-US" dirty="0"/>
              <a:t> </a:t>
            </a:r>
            <a:r>
              <a:rPr lang="en-US" altLang="zh-TW" dirty="0"/>
              <a:t>c</a:t>
            </a:r>
            <a:r>
              <a:rPr lang="zh-TW" altLang="en-US" dirty="0"/>
              <a:t>所組成，所以</a:t>
            </a:r>
            <a:endParaRPr lang="en-US" altLang="zh-TW" dirty="0"/>
          </a:p>
          <a:p>
            <a:endParaRPr lang="en-US" altLang="zh-TW" dirty="0"/>
          </a:p>
          <a:p>
            <a:endParaRPr lang="en-US" altLang="zh-TW" dirty="0"/>
          </a:p>
          <a:p>
            <a:endParaRPr lang="en-US" altLang="zh-TW"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BA19D70F-5744-41AF-8ECF-1A0FBD368325}"/>
                  </a:ext>
                </a:extLst>
              </p:cNvPr>
              <p:cNvSpPr txBox="1"/>
              <p:nvPr/>
            </p:nvSpPr>
            <p:spPr>
              <a:xfrm>
                <a:off x="1191764" y="2432525"/>
                <a:ext cx="23668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𝑙𝑜𝑠𝑠</m:t>
                          </m:r>
                          <m:r>
                            <a:rPr lang="en-US" altLang="zh-TW" b="0" i="1" smtClean="0">
                              <a:latin typeface="Cambria Math" panose="02040503050406030204" pitchFamily="18" charset="0"/>
                            </a:rPr>
                            <m:t>=</m:t>
                          </m:r>
                          <m:r>
                            <a:rPr lang="en-US" altLang="zh-TW" b="0" i="1" smtClean="0">
                              <a:latin typeface="Cambria Math" panose="02040503050406030204" pitchFamily="18" charset="0"/>
                            </a:rPr>
                            <m:t>𝐿</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𝑡</m:t>
                          </m:r>
                        </m:sub>
                      </m:sSub>
                      <m:r>
                        <m:rPr>
                          <m:sty m:val="p"/>
                        </m:rPr>
                        <a:rPr lang="en-US" altLang="zh-TW" b="0" i="0" smtClean="0">
                          <a:latin typeface="Cambria Math" panose="02040503050406030204" pitchFamily="18" charset="0"/>
                        </a:rPr>
                        <m:t>log</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𝑦</m:t>
                              </m:r>
                            </m:e>
                          </m:acc>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oMath>
                  </m:oMathPara>
                </a14:m>
                <a:endParaRPr lang="zh-TW" altLang="en-US" dirty="0"/>
              </a:p>
            </p:txBody>
          </p:sp>
        </mc:Choice>
        <mc:Fallback xmlns="">
          <p:sp>
            <p:nvSpPr>
              <p:cNvPr id="4" name="文字方塊 3">
                <a:extLst>
                  <a:ext uri="{FF2B5EF4-FFF2-40B4-BE49-F238E27FC236}">
                    <a16:creationId xmlns:a16="http://schemas.microsoft.com/office/drawing/2014/main" id="{BA19D70F-5744-41AF-8ECF-1A0FBD368325}"/>
                  </a:ext>
                </a:extLst>
              </p:cNvPr>
              <p:cNvSpPr txBox="1">
                <a:spLocks noRot="1" noChangeAspect="1" noMove="1" noResize="1" noEditPoints="1" noAdjustHandles="1" noChangeArrowheads="1" noChangeShapeType="1" noTextEdit="1"/>
              </p:cNvSpPr>
              <p:nvPr/>
            </p:nvSpPr>
            <p:spPr>
              <a:xfrm>
                <a:off x="1191764" y="2432525"/>
                <a:ext cx="2366865" cy="276999"/>
              </a:xfrm>
              <a:prstGeom prst="rect">
                <a:avLst/>
              </a:prstGeom>
              <a:blipFill>
                <a:blip r:embed="rId4"/>
                <a:stretch>
                  <a:fillRect l="-1799" t="-24444" r="-7198" b="-35556"/>
                </a:stretch>
              </a:blipFill>
            </p:spPr>
            <p:txBody>
              <a:bodyPr/>
              <a:lstStyle/>
              <a:p>
                <a:r>
                  <a:rPr lang="zh-TW" altLang="en-US">
                    <a:noFill/>
                  </a:rPr>
                  <a:t> </a:t>
                </a:r>
              </a:p>
            </p:txBody>
          </p:sp>
        </mc:Fallback>
      </mc:AlternateContent>
      <p:sp>
        <p:nvSpPr>
          <p:cNvPr id="6" name="文字方塊 5">
            <a:extLst>
              <a:ext uri="{FF2B5EF4-FFF2-40B4-BE49-F238E27FC236}">
                <a16:creationId xmlns:a16="http://schemas.microsoft.com/office/drawing/2014/main" id="{FC1B8A07-9363-480A-A1EA-A2AFC46B8267}"/>
              </a:ext>
            </a:extLst>
          </p:cNvPr>
          <p:cNvSpPr txBox="1"/>
          <p:nvPr/>
        </p:nvSpPr>
        <p:spPr>
          <a:xfrm>
            <a:off x="838200" y="6393279"/>
            <a:ext cx="6097836" cy="369332"/>
          </a:xfrm>
          <a:prstGeom prst="rect">
            <a:avLst/>
          </a:prstGeom>
          <a:noFill/>
        </p:spPr>
        <p:txBody>
          <a:bodyPr wrap="square">
            <a:spAutoFit/>
          </a:bodyPr>
          <a:lstStyle/>
          <a:p>
            <a:r>
              <a:rPr lang="zh-TW" altLang="en-US" dirty="0"/>
              <a:t>https://www.cuemath.com/calculus/derivative-of-log-x/</a:t>
            </a:r>
          </a:p>
        </p:txBody>
      </p:sp>
      <p:pic>
        <p:nvPicPr>
          <p:cNvPr id="1026" name="Picture 2">
            <a:extLst>
              <a:ext uri="{FF2B5EF4-FFF2-40B4-BE49-F238E27FC236}">
                <a16:creationId xmlns:a16="http://schemas.microsoft.com/office/drawing/2014/main" id="{C324AAFC-2A30-4241-45CB-518D5A51EE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0633" y="3316424"/>
            <a:ext cx="1549400" cy="774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B707C9B-4527-A612-F156-D1ADD154B9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283" y="4954194"/>
            <a:ext cx="4381500" cy="749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F1D8F28A-C5EF-A25C-6189-31132B5998C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9373" t="44285" r="37223" b="29999"/>
          <a:stretch/>
        </p:blipFill>
        <p:spPr bwMode="auto">
          <a:xfrm>
            <a:off x="9419967" y="378635"/>
            <a:ext cx="1933833" cy="144699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3DF737C-62DE-2D26-A58F-BFC5C5974B9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3364" y="2715736"/>
            <a:ext cx="5706533" cy="60068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5C4568C-C48E-EBCA-8CDC-418C530E93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3364" y="3427527"/>
            <a:ext cx="5552097" cy="663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231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347E7693-8337-473A-03AB-CA72F95E2530}"/>
              </a:ext>
            </a:extLst>
          </p:cNvPr>
          <p:cNvSpPr>
            <a:spLocks noGrp="1"/>
          </p:cNvSpPr>
          <p:nvPr>
            <p:ph type="title"/>
          </p:nvPr>
        </p:nvSpPr>
        <p:spPr/>
        <p:txBody>
          <a:bodyPr/>
          <a:lstStyle/>
          <a:p>
            <a:r>
              <a:rPr lang="en-US" altLang="zh-TW" sz="4400" b="0" strike="noStrike" spc="-1" dirty="0">
                <a:solidFill>
                  <a:srgbClr val="050505"/>
                </a:solidFill>
                <a:latin typeface="Times New Roman"/>
              </a:rPr>
              <a:t>RNN from scratch</a:t>
            </a:r>
            <a:endParaRPr lang="zh-TW" altLang="en-US" dirty="0"/>
          </a:p>
        </p:txBody>
      </p:sp>
      <p:sp>
        <p:nvSpPr>
          <p:cNvPr id="6" name="內容版面配置區 5">
            <a:extLst>
              <a:ext uri="{FF2B5EF4-FFF2-40B4-BE49-F238E27FC236}">
                <a16:creationId xmlns:a16="http://schemas.microsoft.com/office/drawing/2014/main" id="{190E78EB-7F02-C52C-D248-1980EDF9FBE1}"/>
              </a:ext>
            </a:extLst>
          </p:cNvPr>
          <p:cNvSpPr>
            <a:spLocks noGrp="1"/>
          </p:cNvSpPr>
          <p:nvPr>
            <p:ph idx="1"/>
          </p:nvPr>
        </p:nvSpPr>
        <p:spPr>
          <a:xfrm>
            <a:off x="838200" y="1825625"/>
            <a:ext cx="8020050" cy="4351338"/>
          </a:xfrm>
        </p:spPr>
        <p:txBody>
          <a:bodyPr/>
          <a:lstStyle/>
          <a:p>
            <a:r>
              <a:rPr lang="zh-TW" altLang="en-US" dirty="0"/>
              <a:t>而時間</a:t>
            </a:r>
            <a:r>
              <a:rPr lang="en-US" altLang="zh-TW" dirty="0"/>
              <a:t>t</a:t>
            </a:r>
            <a:r>
              <a:rPr lang="zh-TW" altLang="en-US" dirty="0"/>
              <a:t>時，活化函式</a:t>
            </a:r>
            <a:r>
              <a:rPr lang="en-US" altLang="zh-TW" dirty="0"/>
              <a:t>(tanh)</a:t>
            </a:r>
            <a:r>
              <a:rPr lang="zh-TW" altLang="en-US" dirty="0"/>
              <a:t>產生輸出</a:t>
            </a:r>
            <a:r>
              <a:rPr lang="en-US" altLang="zh-TW" i="1" dirty="0"/>
              <a:t>a</a:t>
            </a:r>
            <a:r>
              <a:rPr lang="en-US" altLang="zh-TW" i="1" baseline="-25000" dirty="0"/>
              <a:t>t</a:t>
            </a:r>
            <a:r>
              <a:rPr lang="zh-TW" altLang="en-US" dirty="0"/>
              <a:t>，同時也是</a:t>
            </a:r>
            <a:r>
              <a:rPr lang="en-US" altLang="zh-TW" dirty="0"/>
              <a:t>t+1</a:t>
            </a:r>
            <a:r>
              <a:rPr lang="zh-TW" altLang="en-US" dirty="0"/>
              <a:t>時的輸入</a:t>
            </a:r>
            <a:endParaRPr lang="en-US" altLang="zh-TW" dirty="0"/>
          </a:p>
          <a:p>
            <a:r>
              <a:rPr lang="zh-TW" altLang="en-US" dirty="0"/>
              <a:t>所以梯度變成需要計算「目前</a:t>
            </a:r>
            <a:r>
              <a:rPr lang="en-US" altLang="zh-TW" dirty="0"/>
              <a:t>(t)</a:t>
            </a:r>
            <a:r>
              <a:rPr lang="zh-TW" altLang="en-US" dirty="0"/>
              <a:t>的輸出的</a:t>
            </a:r>
            <a:r>
              <a:rPr lang="en-US" altLang="zh-TW" dirty="0"/>
              <a:t>loss</a:t>
            </a:r>
            <a:r>
              <a:rPr lang="zh-TW" altLang="en-US" dirty="0"/>
              <a:t>」加上「</a:t>
            </a:r>
            <a:r>
              <a:rPr lang="en-US" altLang="zh-TW" dirty="0"/>
              <a:t>t+1</a:t>
            </a:r>
            <a:r>
              <a:rPr lang="zh-TW" altLang="en-US" dirty="0"/>
              <a:t>時輸出的</a:t>
            </a:r>
            <a:r>
              <a:rPr lang="en-US" altLang="zh-TW" dirty="0"/>
              <a:t>loss</a:t>
            </a:r>
            <a:r>
              <a:rPr lang="zh-TW" altLang="en-US" dirty="0"/>
              <a:t>」</a:t>
            </a:r>
            <a:endParaRPr lang="en-US" altLang="zh-TW" dirty="0"/>
          </a:p>
          <a:p>
            <a:endParaRPr lang="en-US" altLang="zh-TW" dirty="0"/>
          </a:p>
          <a:p>
            <a:endParaRPr lang="en-US" altLang="zh-TW" dirty="0"/>
          </a:p>
          <a:p>
            <a:endParaRPr lang="en-US" altLang="zh-TW" dirty="0"/>
          </a:p>
          <a:p>
            <a:r>
              <a:rPr lang="zh-TW" altLang="en-US" dirty="0"/>
              <a:t>加在一起</a:t>
            </a:r>
            <a:endParaRPr lang="en-US" altLang="zh-TW" dirty="0"/>
          </a:p>
          <a:p>
            <a:endParaRPr lang="zh-TW" altLang="en-US" dirty="0"/>
          </a:p>
        </p:txBody>
      </p:sp>
      <p:pic>
        <p:nvPicPr>
          <p:cNvPr id="2050" name="Picture 2">
            <a:extLst>
              <a:ext uri="{FF2B5EF4-FFF2-40B4-BE49-F238E27FC236}">
                <a16:creationId xmlns:a16="http://schemas.microsoft.com/office/drawing/2014/main" id="{48B14A50-78D3-1F52-1B7E-8BC04142C7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5775" y="3563937"/>
            <a:ext cx="6184900" cy="635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8743642-C610-09B2-2FDD-5F5C1B932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4332554"/>
            <a:ext cx="7327900" cy="736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BBB3C0D-394F-DF7D-EE36-2EBD735CB9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6808" y="5649384"/>
            <a:ext cx="3530600" cy="6731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8481ABF1-52D1-45A8-61C2-DA982FAE6EE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6696" r="25260"/>
          <a:stretch/>
        </p:blipFill>
        <p:spPr bwMode="auto">
          <a:xfrm>
            <a:off x="8790517" y="1825625"/>
            <a:ext cx="2749550" cy="38237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直線圖說文字 1 7">
            <a:extLst>
              <a:ext uri="{FF2B5EF4-FFF2-40B4-BE49-F238E27FC236}">
                <a16:creationId xmlns:a16="http://schemas.microsoft.com/office/drawing/2014/main" id="{874EA307-8EF5-A9C5-3E55-FF6279105F9E}"/>
              </a:ext>
            </a:extLst>
          </p:cNvPr>
          <p:cNvSpPr/>
          <p:nvPr/>
        </p:nvSpPr>
        <p:spPr>
          <a:xfrm>
            <a:off x="6095998" y="5811570"/>
            <a:ext cx="4539193" cy="894295"/>
          </a:xfrm>
          <a:prstGeom prst="borderCallout1">
            <a:avLst>
              <a:gd name="adj1" fmla="val 34845"/>
              <a:gd name="adj2" fmla="val -2551"/>
              <a:gd name="adj3" fmla="val 17542"/>
              <a:gd name="adj4" fmla="val -2101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這裡</a:t>
            </a:r>
            <a:r>
              <a:rPr kumimoji="1" lang="en-US" altLang="zh-TW" dirty="0"/>
              <a:t>t</a:t>
            </a:r>
            <a:r>
              <a:rPr kumimoji="1" lang="zh-TW" altLang="en-US" dirty="0"/>
              <a:t>時間的計算依賴於</a:t>
            </a:r>
            <a:r>
              <a:rPr kumimoji="1" lang="en-US" altLang="zh-TW" dirty="0"/>
              <a:t>t+1</a:t>
            </a:r>
            <a:r>
              <a:rPr kumimoji="1" lang="zh-TW" altLang="en-US" dirty="0"/>
              <a:t>的計算，所以在計算</a:t>
            </a:r>
            <a:r>
              <a:rPr kumimoji="1" lang="en-US" altLang="zh-TW" dirty="0"/>
              <a:t>t+1</a:t>
            </a:r>
            <a:r>
              <a:rPr kumimoji="1" lang="zh-TW" altLang="en-US" dirty="0"/>
              <a:t>時把值存下來，之後算時間</a:t>
            </a:r>
            <a:r>
              <a:rPr kumimoji="1" lang="en-US" altLang="zh-TW" dirty="0"/>
              <a:t>t</a:t>
            </a:r>
            <a:r>
              <a:rPr kumimoji="1" lang="zh-TW" altLang="en-US" dirty="0"/>
              <a:t>時就可以直接取值不用再算一次</a:t>
            </a:r>
          </a:p>
        </p:txBody>
      </p:sp>
    </p:spTree>
    <p:extLst>
      <p:ext uri="{BB962C8B-B14F-4D97-AF65-F5344CB8AC3E}">
        <p14:creationId xmlns:p14="http://schemas.microsoft.com/office/powerpoint/2010/main" val="63098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ABFC94-9162-F198-9E51-8AA35770492E}"/>
              </a:ext>
            </a:extLst>
          </p:cNvPr>
          <p:cNvSpPr>
            <a:spLocks noGrp="1"/>
          </p:cNvSpPr>
          <p:nvPr>
            <p:ph type="title"/>
          </p:nvPr>
        </p:nvSpPr>
        <p:spPr/>
        <p:txBody>
          <a:bodyPr/>
          <a:lstStyle/>
          <a:p>
            <a:r>
              <a:rPr lang="en-US" altLang="zh-TW" sz="4400" b="0" strike="noStrike" spc="-1" dirty="0">
                <a:solidFill>
                  <a:srgbClr val="050505"/>
                </a:solidFill>
                <a:latin typeface="Times New Roman"/>
              </a:rPr>
              <a:t>RNN from scratch</a:t>
            </a:r>
            <a:endParaRPr kumimoji="1" lang="zh-TW" altLang="en-US" dirty="0"/>
          </a:p>
        </p:txBody>
      </p:sp>
      <p:sp>
        <p:nvSpPr>
          <p:cNvPr id="3" name="內容版面配置區 2">
            <a:extLst>
              <a:ext uri="{FF2B5EF4-FFF2-40B4-BE49-F238E27FC236}">
                <a16:creationId xmlns:a16="http://schemas.microsoft.com/office/drawing/2014/main" id="{9E15B2D6-7302-2373-84C6-1B17560E0856}"/>
              </a:ext>
            </a:extLst>
          </p:cNvPr>
          <p:cNvSpPr>
            <a:spLocks noGrp="1"/>
          </p:cNvSpPr>
          <p:nvPr>
            <p:ph idx="1"/>
          </p:nvPr>
        </p:nvSpPr>
        <p:spPr/>
        <p:txBody>
          <a:bodyPr/>
          <a:lstStyle/>
          <a:p>
            <a:r>
              <a:rPr kumimoji="1" lang="zh-TW" altLang="en-US" dirty="0"/>
              <a:t>下一個，計算</a:t>
            </a:r>
            <a:r>
              <a:rPr kumimoji="1" lang="en-US" altLang="zh-TW" i="1" dirty="0" err="1"/>
              <a:t>s</a:t>
            </a:r>
            <a:r>
              <a:rPr kumimoji="1" lang="en-US" altLang="zh-TW" i="1" baseline="-25000" dirty="0" err="1"/>
              <a:t>t</a:t>
            </a:r>
            <a:r>
              <a:rPr kumimoji="1" lang="zh-TW" altLang="en-US" dirty="0"/>
              <a:t>的部分</a:t>
            </a:r>
            <a:endParaRPr kumimoji="1" lang="en-US" altLang="zh-TW" dirty="0"/>
          </a:p>
          <a:p>
            <a:endParaRPr kumimoji="1" lang="en-US" altLang="zh-TW" dirty="0"/>
          </a:p>
          <a:p>
            <a:endParaRPr kumimoji="1" lang="en-US" altLang="zh-TW" dirty="0"/>
          </a:p>
          <a:p>
            <a:r>
              <a:rPr kumimoji="1" lang="zh-TW" altLang="en-US" dirty="0"/>
              <a:t>而</a:t>
            </a:r>
            <a:r>
              <a:rPr kumimoji="1" lang="en-US" altLang="zh-TW" i="1" dirty="0" err="1"/>
              <a:t>s</a:t>
            </a:r>
            <a:r>
              <a:rPr kumimoji="1" lang="en-US" altLang="zh-TW" i="1" baseline="-25000" dirty="0" err="1"/>
              <a:t>t</a:t>
            </a:r>
            <a:r>
              <a:rPr kumimoji="1" lang="zh-TW" altLang="en-US" dirty="0"/>
              <a:t>由</a:t>
            </a:r>
            <a:r>
              <a:rPr kumimoji="1" lang="en-US" altLang="zh-TW" dirty="0"/>
              <a:t>W</a:t>
            </a:r>
            <a:r>
              <a:rPr kumimoji="1" lang="zh-TW" altLang="en-US" dirty="0"/>
              <a:t>、</a:t>
            </a:r>
            <a:r>
              <a:rPr kumimoji="1" lang="en-US" altLang="zh-TW" dirty="0"/>
              <a:t>U</a:t>
            </a:r>
            <a:r>
              <a:rPr kumimoji="1" lang="zh-TW" altLang="en-US" dirty="0"/>
              <a:t>以及</a:t>
            </a:r>
            <a:r>
              <a:rPr kumimoji="1" lang="en-US" altLang="zh-TW" dirty="0"/>
              <a:t>bias:</a:t>
            </a:r>
            <a:r>
              <a:rPr kumimoji="1" lang="zh-TW" altLang="en-US" dirty="0"/>
              <a:t> </a:t>
            </a:r>
            <a:r>
              <a:rPr kumimoji="1" lang="en-US" altLang="zh-TW" dirty="0"/>
              <a:t>b</a:t>
            </a:r>
            <a:r>
              <a:rPr kumimoji="1" lang="zh-TW" altLang="en-US" dirty="0"/>
              <a:t>所計算得出</a:t>
            </a:r>
            <a:endParaRPr kumimoji="1" lang="en-US" altLang="zh-TW" dirty="0"/>
          </a:p>
          <a:p>
            <a:endParaRPr kumimoji="1" lang="en-US" altLang="zh-TW" dirty="0"/>
          </a:p>
          <a:p>
            <a:endParaRPr kumimoji="1" lang="en-US" altLang="zh-TW" dirty="0"/>
          </a:p>
          <a:p>
            <a:endParaRPr kumimoji="1" lang="zh-TW" altLang="en-US" dirty="0"/>
          </a:p>
        </p:txBody>
      </p:sp>
      <p:pic>
        <p:nvPicPr>
          <p:cNvPr id="4" name="Picture 2">
            <a:extLst>
              <a:ext uri="{FF2B5EF4-FFF2-40B4-BE49-F238E27FC236}">
                <a16:creationId xmlns:a16="http://schemas.microsoft.com/office/drawing/2014/main" id="{5F34DD41-2EA1-1D88-CE04-66ADB40BD9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784" t="67494" r="43583"/>
          <a:stretch/>
        </p:blipFill>
        <p:spPr bwMode="auto">
          <a:xfrm>
            <a:off x="5528734" y="880268"/>
            <a:ext cx="3301999" cy="146201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691C4F89-DF1C-BF67-F0A3-194A3681E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933" y="2409754"/>
            <a:ext cx="5994400" cy="711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1B6A36C-A01E-7C68-6AC8-3FB6A250C0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7533" y="3937000"/>
            <a:ext cx="6553200" cy="2374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113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184822-A114-446A-B396-C18BA2DA8203}"/>
              </a:ext>
            </a:extLst>
          </p:cNvPr>
          <p:cNvSpPr>
            <a:spLocks noGrp="1"/>
          </p:cNvSpPr>
          <p:nvPr>
            <p:ph type="title"/>
          </p:nvPr>
        </p:nvSpPr>
        <p:spPr/>
        <p:txBody>
          <a:bodyPr/>
          <a:lstStyle/>
          <a:p>
            <a:r>
              <a:rPr lang="en-US" altLang="zh-TW" dirty="0"/>
              <a:t>Long Short-Term Memory (LSTM)</a:t>
            </a:r>
            <a:endParaRPr lang="zh-TW" altLang="en-US" dirty="0"/>
          </a:p>
        </p:txBody>
      </p:sp>
      <p:sp>
        <p:nvSpPr>
          <p:cNvPr id="3" name="內容版面配置區 2">
            <a:extLst>
              <a:ext uri="{FF2B5EF4-FFF2-40B4-BE49-F238E27FC236}">
                <a16:creationId xmlns:a16="http://schemas.microsoft.com/office/drawing/2014/main" id="{EDAC0680-8102-4E73-960A-BBE58FBE8169}"/>
              </a:ext>
            </a:extLst>
          </p:cNvPr>
          <p:cNvSpPr>
            <a:spLocks noGrp="1"/>
          </p:cNvSpPr>
          <p:nvPr>
            <p:ph idx="1"/>
          </p:nvPr>
        </p:nvSpPr>
        <p:spPr/>
        <p:txBody>
          <a:bodyPr/>
          <a:lstStyle/>
          <a:p>
            <a:r>
              <a:rPr lang="zh-TW" altLang="en-US" dirty="0"/>
              <a:t>因為資料在通過</a:t>
            </a:r>
            <a:r>
              <a:rPr lang="en-US" altLang="zh-TW" dirty="0"/>
              <a:t>RNN</a:t>
            </a:r>
            <a:r>
              <a:rPr lang="zh-TW" altLang="en-US" dirty="0"/>
              <a:t>歷經一系列的轉換，每一個時步都有一些資料遺失</a:t>
            </a:r>
            <a:r>
              <a:rPr lang="en-US" altLang="zh-TW" dirty="0"/>
              <a:t>(</a:t>
            </a:r>
            <a:r>
              <a:rPr lang="zh-TW" altLang="en-US" dirty="0"/>
              <a:t>減弱</a:t>
            </a:r>
            <a:r>
              <a:rPr lang="en-US" altLang="zh-TW" dirty="0"/>
              <a:t>)</a:t>
            </a:r>
            <a:r>
              <a:rPr lang="zh-TW" altLang="en-US" dirty="0"/>
              <a:t>，經過一段時間後，</a:t>
            </a:r>
            <a:r>
              <a:rPr lang="en-US" altLang="zh-TW" dirty="0"/>
              <a:t>RNN</a:t>
            </a:r>
            <a:r>
              <a:rPr lang="zh-TW" altLang="en-US" dirty="0"/>
              <a:t>的狀態幾乎沒有前幾個輸入值的痕跡了。</a:t>
            </a:r>
            <a:endParaRPr lang="en-US" altLang="zh-TW" dirty="0"/>
          </a:p>
          <a:p>
            <a:r>
              <a:rPr lang="zh-TW" altLang="en-US" dirty="0"/>
              <a:t>梯度會隨著時間步驟進行反向傳播時不斷地衰減或爆炸，導致網路難以學習</a:t>
            </a:r>
          </a:p>
          <a:p>
            <a:r>
              <a:rPr lang="zh-TW" altLang="en-US" dirty="0"/>
              <a:t>為了處理這個問題，出現「長期記憶細胞」</a:t>
            </a:r>
            <a:endParaRPr lang="en-US" altLang="zh-TW" dirty="0"/>
          </a:p>
          <a:p>
            <a:r>
              <a:rPr lang="en-US" altLang="zh-TW" dirty="0"/>
              <a:t>LSTM</a:t>
            </a:r>
            <a:r>
              <a:rPr lang="zh-TW" altLang="en-US" dirty="0"/>
              <a:t>是</a:t>
            </a:r>
            <a:r>
              <a:rPr lang="en-US" altLang="zh-TW" dirty="0"/>
              <a:t>1997</a:t>
            </a:r>
            <a:r>
              <a:rPr lang="zh-TW" altLang="en-US" dirty="0"/>
              <a:t>年由</a:t>
            </a:r>
            <a:r>
              <a:rPr lang="en-US" altLang="zh-TW" dirty="0"/>
              <a:t>Sepp </a:t>
            </a:r>
            <a:r>
              <a:rPr lang="en-US" altLang="zh-TW" dirty="0" err="1"/>
              <a:t>Hochreiter</a:t>
            </a:r>
            <a:r>
              <a:rPr lang="zh-TW" altLang="en-US" dirty="0"/>
              <a:t>與</a:t>
            </a:r>
            <a:r>
              <a:rPr lang="en-US" altLang="zh-TW" dirty="0"/>
              <a:t>Jürgen </a:t>
            </a:r>
            <a:r>
              <a:rPr lang="en-US" altLang="zh-TW" dirty="0" err="1"/>
              <a:t>Schmidhuber</a:t>
            </a:r>
            <a:r>
              <a:rPr lang="zh-TW" altLang="en-US" dirty="0"/>
              <a:t>提出，並經過許多人多次的改善。</a:t>
            </a:r>
          </a:p>
          <a:p>
            <a:endParaRPr lang="zh-TW" altLang="en-US" dirty="0"/>
          </a:p>
        </p:txBody>
      </p:sp>
    </p:spTree>
    <p:extLst>
      <p:ext uri="{BB962C8B-B14F-4D97-AF65-F5344CB8AC3E}">
        <p14:creationId xmlns:p14="http://schemas.microsoft.com/office/powerpoint/2010/main" val="774584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DB85F4D1-6FF1-6661-3816-3D36090B8ECD}"/>
              </a:ext>
            </a:extLst>
          </p:cNvPr>
          <p:cNvPicPr>
            <a:picLocks noChangeAspect="1"/>
          </p:cNvPicPr>
          <p:nvPr/>
        </p:nvPicPr>
        <p:blipFill>
          <a:blip r:embed="rId2"/>
          <a:stretch/>
        </p:blipFill>
        <p:spPr>
          <a:xfrm>
            <a:off x="489546" y="1074679"/>
            <a:ext cx="7815036" cy="4708641"/>
          </a:xfrm>
          <a:prstGeom prst="rect">
            <a:avLst/>
          </a:prstGeom>
          <a:ln w="18000">
            <a:noFill/>
          </a:ln>
        </p:spPr>
      </p:pic>
      <p:sp>
        <p:nvSpPr>
          <p:cNvPr id="2" name="標題 1">
            <a:extLst>
              <a:ext uri="{FF2B5EF4-FFF2-40B4-BE49-F238E27FC236}">
                <a16:creationId xmlns:a16="http://schemas.microsoft.com/office/drawing/2014/main" id="{C7459C46-BEC7-F63D-343C-C174DB403321}"/>
              </a:ext>
            </a:extLst>
          </p:cNvPr>
          <p:cNvSpPr>
            <a:spLocks noGrp="1"/>
          </p:cNvSpPr>
          <p:nvPr>
            <p:ph type="title"/>
          </p:nvPr>
        </p:nvSpPr>
        <p:spPr>
          <a:xfrm>
            <a:off x="838200" y="365125"/>
            <a:ext cx="10515600" cy="1325563"/>
          </a:xfrm>
        </p:spPr>
        <p:txBody>
          <a:bodyPr/>
          <a:lstStyle/>
          <a:p>
            <a:r>
              <a:rPr lang="en-US" altLang="zh-TW" dirty="0"/>
              <a:t>LSTM</a:t>
            </a:r>
            <a:endParaRPr lang="zh-TW" altLang="en-US" dirty="0"/>
          </a:p>
        </p:txBody>
      </p:sp>
      <p:sp>
        <p:nvSpPr>
          <p:cNvPr id="5" name="文字方塊 4">
            <a:extLst>
              <a:ext uri="{FF2B5EF4-FFF2-40B4-BE49-F238E27FC236}">
                <a16:creationId xmlns:a16="http://schemas.microsoft.com/office/drawing/2014/main" id="{ED39AE05-81FD-BF28-0245-3F1C7C26FF74}"/>
              </a:ext>
            </a:extLst>
          </p:cNvPr>
          <p:cNvSpPr txBox="1"/>
          <p:nvPr/>
        </p:nvSpPr>
        <p:spPr>
          <a:xfrm>
            <a:off x="402772" y="5783320"/>
            <a:ext cx="3886356" cy="897792"/>
          </a:xfrm>
          <a:prstGeom prst="rect">
            <a:avLst/>
          </a:prstGeom>
          <a:noFill/>
          <a:ln w="18000">
            <a:solidFill>
              <a:srgbClr val="000000"/>
            </a:solidFill>
            <a:round/>
          </a:ln>
        </p:spPr>
        <p:txBody>
          <a:bodyPr lIns="90000" tIns="45000" rIns="90000" bIns="45000" anchor="t">
            <a:noAutofit/>
          </a:bodyPr>
          <a:lstStyle/>
          <a:p>
            <a:r>
              <a:rPr lang="zh-TW" sz="1800" b="0" strike="noStrike" spc="-1" dirty="0">
                <a:latin typeface="微軟正黑體" panose="020B0604030504040204" pitchFamily="34" charset="-120"/>
                <a:ea typeface="微軟正黑體" panose="020B0604030504040204" pitchFamily="34" charset="-120"/>
              </a:rPr>
              <a:t>原本的「狀態」被分成兩個向量</a:t>
            </a:r>
            <a:endParaRPr lang="en-US" sz="1800" b="0" strike="noStrike" spc="-1" dirty="0">
              <a:latin typeface="微軟正黑體" panose="020B0604030504040204" pitchFamily="34" charset="-120"/>
              <a:ea typeface="微軟正黑體" panose="020B0604030504040204" pitchFamily="34" charset="-120"/>
            </a:endParaRPr>
          </a:p>
          <a:p>
            <a:pPr marL="216000" indent="-216000">
              <a:buClr>
                <a:srgbClr val="000000"/>
              </a:buClr>
              <a:buSzPct val="45000"/>
              <a:buFont typeface="Wingdings" charset="2"/>
              <a:buChar char=""/>
            </a:pPr>
            <a:r>
              <a:rPr lang="en-US" sz="1800" b="0" strike="noStrike" spc="-1" dirty="0">
                <a:latin typeface="微軟正黑體" panose="020B0604030504040204" pitchFamily="34" charset="-120"/>
                <a:ea typeface="微軟正黑體" panose="020B0604030504040204" pitchFamily="34" charset="-120"/>
              </a:rPr>
              <a:t>h(t)-</a:t>
            </a:r>
            <a:r>
              <a:rPr lang="zh-TW" sz="1800" b="0" strike="noStrike" spc="-1" dirty="0">
                <a:latin typeface="微軟正黑體" panose="020B0604030504040204" pitchFamily="34" charset="-120"/>
                <a:ea typeface="微軟正黑體" panose="020B0604030504040204" pitchFamily="34" charset="-120"/>
              </a:rPr>
              <a:t>被當成短期狀態</a:t>
            </a:r>
            <a:endParaRPr lang="en-US" sz="1800" b="0" strike="noStrike" spc="-1" dirty="0">
              <a:latin typeface="微軟正黑體" panose="020B0604030504040204" pitchFamily="34" charset="-120"/>
              <a:ea typeface="微軟正黑體" panose="020B0604030504040204" pitchFamily="34" charset="-120"/>
            </a:endParaRPr>
          </a:p>
          <a:p>
            <a:pPr marL="216000" indent="-216000">
              <a:buClr>
                <a:srgbClr val="000000"/>
              </a:buClr>
              <a:buSzPct val="45000"/>
              <a:buFont typeface="Wingdings" charset="2"/>
              <a:buChar char=""/>
            </a:pPr>
            <a:r>
              <a:rPr lang="en-US" sz="1800" b="0" strike="noStrike" spc="-1" dirty="0">
                <a:latin typeface="微軟正黑體" panose="020B0604030504040204" pitchFamily="34" charset="-120"/>
                <a:ea typeface="微軟正黑體" panose="020B0604030504040204" pitchFamily="34" charset="-120"/>
              </a:rPr>
              <a:t>c(t)-</a:t>
            </a:r>
            <a:r>
              <a:rPr lang="zh-TW" sz="1800" b="0" strike="noStrike" spc="-1" dirty="0">
                <a:latin typeface="微軟正黑體" panose="020B0604030504040204" pitchFamily="34" charset="-120"/>
                <a:ea typeface="微軟正黑體" panose="020B0604030504040204" pitchFamily="34" charset="-120"/>
              </a:rPr>
              <a:t>被當成長期狀態</a:t>
            </a:r>
            <a:endParaRPr lang="en-US" sz="1800" b="0" strike="noStrike" spc="-1" dirty="0">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0B29373C-0570-42CC-8C2C-B98536319C55}"/>
              </a:ext>
            </a:extLst>
          </p:cNvPr>
          <p:cNvPicPr>
            <a:picLocks noChangeAspect="1"/>
          </p:cNvPicPr>
          <p:nvPr/>
        </p:nvPicPr>
        <p:blipFill>
          <a:blip r:embed="rId3"/>
          <a:stretch>
            <a:fillRect/>
          </a:stretch>
        </p:blipFill>
        <p:spPr>
          <a:xfrm>
            <a:off x="7569191" y="956725"/>
            <a:ext cx="4367381" cy="22373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文字方塊 7">
            <a:extLst>
              <a:ext uri="{FF2B5EF4-FFF2-40B4-BE49-F238E27FC236}">
                <a16:creationId xmlns:a16="http://schemas.microsoft.com/office/drawing/2014/main" id="{F15084DA-747C-458C-8159-00AC493C6091}"/>
              </a:ext>
            </a:extLst>
          </p:cNvPr>
          <p:cNvSpPr txBox="1"/>
          <p:nvPr/>
        </p:nvSpPr>
        <p:spPr>
          <a:xfrm>
            <a:off x="8216443" y="3785713"/>
            <a:ext cx="3620199" cy="2308324"/>
          </a:xfrm>
          <a:prstGeom prst="rect">
            <a:avLst/>
          </a:prstGeom>
          <a:noFill/>
        </p:spPr>
        <p:txBody>
          <a:bodyPr wrap="square">
            <a:spAutoFit/>
          </a:bodyPr>
          <a:lstStyle/>
          <a:p>
            <a:r>
              <a:rPr lang="en-US" altLang="zh-TW" sz="1600" dirty="0">
                <a:latin typeface="微軟正黑體" panose="020B0604030504040204" pitchFamily="34" charset="-120"/>
                <a:ea typeface="微軟正黑體" panose="020B0604030504040204" pitchFamily="34" charset="-120"/>
              </a:rPr>
              <a:t>LSTM </a:t>
            </a:r>
            <a:r>
              <a:rPr lang="zh-TW" altLang="en-US" sz="1600" dirty="0">
                <a:latin typeface="微軟正黑體" panose="020B0604030504040204" pitchFamily="34" charset="-120"/>
                <a:ea typeface="微軟正黑體" panose="020B0604030504040204" pitchFamily="34" charset="-120"/>
              </a:rPr>
              <a:t>的核心組件包括：</a:t>
            </a:r>
          </a:p>
          <a:p>
            <a:pPr>
              <a:buFont typeface="+mj-lt"/>
              <a:buAutoNum type="arabicPeriod"/>
            </a:pPr>
            <a:r>
              <a:rPr lang="zh-TW" altLang="en-US" sz="1600" b="1" dirty="0">
                <a:latin typeface="微軟正黑體" panose="020B0604030504040204" pitchFamily="34" charset="-120"/>
                <a:ea typeface="微軟正黑體" panose="020B0604030504040204" pitchFamily="34" charset="-120"/>
              </a:rPr>
              <a:t>記憶單元 </a:t>
            </a:r>
            <a:r>
              <a:rPr lang="en-US" altLang="zh-TW" sz="1600" b="1" dirty="0">
                <a:latin typeface="微軟正黑體" panose="020B0604030504040204" pitchFamily="34" charset="-120"/>
                <a:ea typeface="微軟正黑體" panose="020B0604030504040204" pitchFamily="34" charset="-120"/>
              </a:rPr>
              <a:t>(Memory Cell)</a:t>
            </a:r>
            <a:r>
              <a:rPr lang="zh-TW" altLang="en-US" sz="1600" dirty="0">
                <a:latin typeface="微軟正黑體" panose="020B0604030504040204" pitchFamily="34" charset="-120"/>
                <a:ea typeface="微軟正黑體" panose="020B0604030504040204" pitchFamily="34" charset="-120"/>
              </a:rPr>
              <a:t>：用於存儲長期資訊。</a:t>
            </a:r>
          </a:p>
          <a:p>
            <a:pPr>
              <a:buFont typeface="+mj-lt"/>
              <a:buAutoNum type="arabicPeriod"/>
            </a:pPr>
            <a:r>
              <a:rPr lang="zh-TW" altLang="en-US" sz="1600" b="1" dirty="0">
                <a:latin typeface="微軟正黑體" panose="020B0604030504040204" pitchFamily="34" charset="-120"/>
                <a:ea typeface="微軟正黑體" panose="020B0604030504040204" pitchFamily="34" charset="-120"/>
              </a:rPr>
              <a:t>輸入門 </a:t>
            </a:r>
            <a:r>
              <a:rPr lang="en-US" altLang="zh-TW" sz="1600" b="1" dirty="0">
                <a:latin typeface="微軟正黑體" panose="020B0604030504040204" pitchFamily="34" charset="-120"/>
                <a:ea typeface="微軟正黑體" panose="020B0604030504040204" pitchFamily="34" charset="-120"/>
              </a:rPr>
              <a:t>(Input Gate)</a:t>
            </a:r>
            <a:r>
              <a:rPr lang="zh-TW" altLang="en-US" sz="1600" dirty="0">
                <a:latin typeface="微軟正黑體" panose="020B0604030504040204" pitchFamily="34" charset="-120"/>
                <a:ea typeface="微軟正黑體" panose="020B0604030504040204" pitchFamily="34" charset="-120"/>
              </a:rPr>
              <a:t>：決定當前輸入資訊中，哪些部分需要更新記憶單元。</a:t>
            </a:r>
          </a:p>
          <a:p>
            <a:pPr>
              <a:buFont typeface="+mj-lt"/>
              <a:buAutoNum type="arabicPeriod"/>
            </a:pPr>
            <a:r>
              <a:rPr lang="zh-TW" altLang="en-US" sz="1600" b="1" dirty="0">
                <a:latin typeface="微軟正黑體" panose="020B0604030504040204" pitchFamily="34" charset="-120"/>
                <a:ea typeface="微軟正黑體" panose="020B0604030504040204" pitchFamily="34" charset="-120"/>
              </a:rPr>
              <a:t>遺忘門 </a:t>
            </a:r>
            <a:r>
              <a:rPr lang="en-US" altLang="zh-TW" sz="1600" b="1" dirty="0">
                <a:latin typeface="微軟正黑體" panose="020B0604030504040204" pitchFamily="34" charset="-120"/>
                <a:ea typeface="微軟正黑體" panose="020B0604030504040204" pitchFamily="34" charset="-120"/>
              </a:rPr>
              <a:t>(Forget Gate)</a:t>
            </a:r>
            <a:r>
              <a:rPr lang="zh-TW" altLang="en-US" sz="1600" dirty="0">
                <a:latin typeface="微軟正黑體" panose="020B0604030504040204" pitchFamily="34" charset="-120"/>
                <a:ea typeface="微軟正黑體" panose="020B0604030504040204" pitchFamily="34" charset="-120"/>
              </a:rPr>
              <a:t>：決定記憶單元中的哪些資訊應被保留或丟棄。</a:t>
            </a:r>
          </a:p>
          <a:p>
            <a:pPr>
              <a:buFont typeface="+mj-lt"/>
              <a:buAutoNum type="arabicPeriod"/>
            </a:pPr>
            <a:r>
              <a:rPr lang="zh-TW" altLang="en-US" sz="1600" b="1" dirty="0">
                <a:latin typeface="微軟正黑體" panose="020B0604030504040204" pitchFamily="34" charset="-120"/>
                <a:ea typeface="微軟正黑體" panose="020B0604030504040204" pitchFamily="34" charset="-120"/>
              </a:rPr>
              <a:t>輸出門 </a:t>
            </a:r>
            <a:r>
              <a:rPr lang="en-US" altLang="zh-TW" sz="1600" b="1" dirty="0">
                <a:latin typeface="微軟正黑體" panose="020B0604030504040204" pitchFamily="34" charset="-120"/>
                <a:ea typeface="微軟正黑體" panose="020B0604030504040204" pitchFamily="34" charset="-120"/>
              </a:rPr>
              <a:t>(Output Gate)</a:t>
            </a:r>
            <a:r>
              <a:rPr lang="zh-TW" altLang="en-US" sz="1600" dirty="0">
                <a:latin typeface="微軟正黑體" panose="020B0604030504040204" pitchFamily="34" charset="-120"/>
                <a:ea typeface="微軟正黑體" panose="020B0604030504040204" pitchFamily="34" charset="-120"/>
              </a:rPr>
              <a:t>：決定記憶單元中的哪些資訊輸出給下一個時間步。</a:t>
            </a:r>
          </a:p>
        </p:txBody>
      </p:sp>
    </p:spTree>
    <p:extLst>
      <p:ext uri="{BB962C8B-B14F-4D97-AF65-F5344CB8AC3E}">
        <p14:creationId xmlns:p14="http://schemas.microsoft.com/office/powerpoint/2010/main" val="1221466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A24395-385E-4FF0-ACDF-B647E584F4B5}"/>
              </a:ext>
            </a:extLst>
          </p:cNvPr>
          <p:cNvSpPr>
            <a:spLocks noGrp="1"/>
          </p:cNvSpPr>
          <p:nvPr>
            <p:ph type="title"/>
          </p:nvPr>
        </p:nvSpPr>
        <p:spPr/>
        <p:txBody>
          <a:bodyPr/>
          <a:lstStyle/>
          <a:p>
            <a:r>
              <a:rPr lang="zh-TW" altLang="en-US" dirty="0"/>
              <a:t>參考</a:t>
            </a:r>
          </a:p>
        </p:txBody>
      </p:sp>
      <p:pic>
        <p:nvPicPr>
          <p:cNvPr id="1026" name="Picture 2">
            <a:extLst>
              <a:ext uri="{FF2B5EF4-FFF2-40B4-BE49-F238E27FC236}">
                <a16:creationId xmlns:a16="http://schemas.microsoft.com/office/drawing/2014/main" id="{EF393445-E54C-40BA-8DBA-0BBA968BD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407" y="1533435"/>
            <a:ext cx="6096000" cy="44672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951DFDC2-6160-4202-84B2-94E81D3676C0}"/>
              </a:ext>
            </a:extLst>
          </p:cNvPr>
          <p:cNvSpPr txBox="1"/>
          <p:nvPr/>
        </p:nvSpPr>
        <p:spPr>
          <a:xfrm>
            <a:off x="7397469" y="1533435"/>
            <a:ext cx="3586979" cy="4524315"/>
          </a:xfrm>
          <a:prstGeom prst="rect">
            <a:avLst/>
          </a:prstGeom>
          <a:noFill/>
        </p:spPr>
        <p:txBody>
          <a:bodyPr wrap="square">
            <a:spAutoFit/>
          </a:bodyPr>
          <a:lstStyle/>
          <a:p>
            <a:pPr algn="l"/>
            <a:r>
              <a:rPr lang="zh-TW" altLang="en-US" b="0" i="0" dirty="0">
                <a:solidFill>
                  <a:srgbClr val="333333"/>
                </a:solidFill>
                <a:effectLst/>
                <a:latin typeface="-apple-system"/>
              </a:rPr>
              <a:t>原始神經網路中存在著很多神經單元，將</a:t>
            </a:r>
            <a:r>
              <a:rPr lang="en-US" altLang="zh-TW" b="0" i="0" dirty="0">
                <a:solidFill>
                  <a:srgbClr val="333333"/>
                </a:solidFill>
                <a:effectLst/>
                <a:latin typeface="-apple-system"/>
              </a:rPr>
              <a:t>input</a:t>
            </a:r>
            <a:r>
              <a:rPr lang="zh-TW" altLang="en-US" b="0" i="0" dirty="0">
                <a:solidFill>
                  <a:srgbClr val="333333"/>
                </a:solidFill>
                <a:effectLst/>
                <a:latin typeface="-apple-system"/>
              </a:rPr>
              <a:t>乘上不同的</a:t>
            </a:r>
            <a:r>
              <a:rPr lang="en-US" altLang="zh-TW" b="0" i="0" dirty="0">
                <a:solidFill>
                  <a:srgbClr val="333333"/>
                </a:solidFill>
                <a:effectLst/>
                <a:latin typeface="-apple-system"/>
              </a:rPr>
              <a:t>weight</a:t>
            </a:r>
            <a:r>
              <a:rPr lang="zh-TW" altLang="en-US" b="0" i="0" dirty="0">
                <a:solidFill>
                  <a:srgbClr val="333333"/>
                </a:solidFill>
                <a:effectLst/>
                <a:latin typeface="-apple-system"/>
              </a:rPr>
              <a:t>之後做為不同神經單元的輸入，而每一個神經單元都是一個</a:t>
            </a:r>
            <a:r>
              <a:rPr lang="en-US" altLang="zh-TW" b="0" i="0" dirty="0">
                <a:solidFill>
                  <a:srgbClr val="333333"/>
                </a:solidFill>
                <a:effectLst/>
                <a:latin typeface="-apple-system"/>
              </a:rPr>
              <a:t>function</a:t>
            </a:r>
            <a:r>
              <a:rPr lang="zh-TW" altLang="en-US" b="0" i="0" dirty="0">
                <a:solidFill>
                  <a:srgbClr val="333333"/>
                </a:solidFill>
                <a:effectLst/>
                <a:latin typeface="-apple-system"/>
              </a:rPr>
              <a:t>，輸入一個</a:t>
            </a:r>
            <a:r>
              <a:rPr lang="en-US" altLang="zh-TW" b="0" i="0" dirty="0">
                <a:solidFill>
                  <a:srgbClr val="333333"/>
                </a:solidFill>
                <a:effectLst/>
                <a:latin typeface="-apple-system"/>
              </a:rPr>
              <a:t>scalar</a:t>
            </a:r>
            <a:r>
              <a:rPr lang="zh-TW" altLang="en-US" b="0" i="0" dirty="0">
                <a:solidFill>
                  <a:srgbClr val="333333"/>
                </a:solidFill>
                <a:effectLst/>
                <a:latin typeface="-apple-system"/>
              </a:rPr>
              <a:t>，輸出另一個</a:t>
            </a:r>
            <a:r>
              <a:rPr lang="en-US" altLang="zh-TW" b="0" i="0" dirty="0">
                <a:solidFill>
                  <a:srgbClr val="333333"/>
                </a:solidFill>
                <a:effectLst/>
                <a:latin typeface="-apple-system"/>
              </a:rPr>
              <a:t>scalar</a:t>
            </a:r>
            <a:r>
              <a:rPr lang="zh-TW" altLang="en-US" b="0" i="0" dirty="0">
                <a:solidFill>
                  <a:srgbClr val="333333"/>
                </a:solidFill>
                <a:effectLst/>
                <a:latin typeface="-apple-system"/>
              </a:rPr>
              <a:t>。</a:t>
            </a:r>
          </a:p>
          <a:p>
            <a:pPr algn="l" latinLnBrk="0"/>
            <a:r>
              <a:rPr lang="zh-TW" altLang="en-US" b="0" i="0" u="none" strike="noStrike" dirty="0">
                <a:solidFill>
                  <a:srgbClr val="FFFFFF"/>
                </a:solidFill>
                <a:effectLst/>
                <a:latin typeface="Helvetica Neue"/>
              </a:rPr>
              <a:t> 留言</a:t>
            </a:r>
          </a:p>
          <a:p>
            <a:pPr algn="l"/>
            <a:r>
              <a:rPr lang="zh-TW" altLang="en-US" b="0" i="0" dirty="0">
                <a:solidFill>
                  <a:srgbClr val="333333"/>
                </a:solidFill>
                <a:effectLst/>
                <a:latin typeface="-apple-system"/>
              </a:rPr>
              <a:t>而</a:t>
            </a:r>
            <a:r>
              <a:rPr lang="en-US" altLang="zh-TW" b="0" i="0" dirty="0">
                <a:solidFill>
                  <a:srgbClr val="333333"/>
                </a:solidFill>
                <a:effectLst/>
                <a:latin typeface="-apple-system"/>
              </a:rPr>
              <a:t>LSTM</a:t>
            </a:r>
            <a:r>
              <a:rPr lang="zh-TW" altLang="en-US" b="0" i="0" dirty="0">
                <a:solidFill>
                  <a:srgbClr val="333333"/>
                </a:solidFill>
                <a:effectLst/>
                <a:latin typeface="-apple-system"/>
              </a:rPr>
              <a:t>在於，只要將神經單元想成是</a:t>
            </a:r>
            <a:r>
              <a:rPr lang="en-US" altLang="zh-TW" b="0" i="0" dirty="0">
                <a:solidFill>
                  <a:srgbClr val="333333"/>
                </a:solidFill>
                <a:effectLst/>
                <a:latin typeface="-apple-system"/>
              </a:rPr>
              <a:t>Memory Cell</a:t>
            </a:r>
            <a:r>
              <a:rPr lang="zh-TW" altLang="en-US" b="0" i="0" dirty="0">
                <a:solidFill>
                  <a:srgbClr val="333333"/>
                </a:solidFill>
                <a:effectLst/>
                <a:latin typeface="-apple-system"/>
              </a:rPr>
              <a:t>就可以了，並且一個輸入會影響</a:t>
            </a:r>
            <a:r>
              <a:rPr lang="en-US" altLang="zh-TW" b="0" i="0" dirty="0">
                <a:solidFill>
                  <a:srgbClr val="333333"/>
                </a:solidFill>
                <a:effectLst/>
                <a:latin typeface="-apple-system"/>
              </a:rPr>
              <a:t>Memory Cell</a:t>
            </a:r>
            <a:r>
              <a:rPr lang="zh-TW" altLang="en-US" b="0" i="0" dirty="0">
                <a:solidFill>
                  <a:srgbClr val="333333"/>
                </a:solidFill>
                <a:effectLst/>
                <a:latin typeface="-apple-system"/>
              </a:rPr>
              <a:t>中的三個</a:t>
            </a:r>
            <a:r>
              <a:rPr lang="en-US" altLang="zh-TW" b="0" i="0" dirty="0">
                <a:solidFill>
                  <a:srgbClr val="333333"/>
                </a:solidFill>
                <a:effectLst/>
                <a:latin typeface="-apple-system"/>
              </a:rPr>
              <a:t>gate</a:t>
            </a:r>
            <a:r>
              <a:rPr lang="zh-TW" altLang="en-US" b="0" i="0" dirty="0">
                <a:solidFill>
                  <a:srgbClr val="333333"/>
                </a:solidFill>
                <a:effectLst/>
                <a:latin typeface="-apple-system"/>
              </a:rPr>
              <a:t>，就是四個</a:t>
            </a:r>
            <a:r>
              <a:rPr lang="en-US" altLang="zh-TW" b="0" i="0" dirty="0">
                <a:solidFill>
                  <a:srgbClr val="333333"/>
                </a:solidFill>
                <a:effectLst/>
                <a:latin typeface="-apple-system"/>
              </a:rPr>
              <a:t>input</a:t>
            </a:r>
            <a:r>
              <a:rPr lang="zh-TW" altLang="en-US" b="0" i="0" dirty="0">
                <a:solidFill>
                  <a:srgbClr val="333333"/>
                </a:solidFill>
                <a:effectLst/>
                <a:latin typeface="-apple-system"/>
              </a:rPr>
              <a:t>，原始神經網路中很單純的就是一個</a:t>
            </a:r>
            <a:r>
              <a:rPr lang="en-US" altLang="zh-TW" b="0" i="0" dirty="0">
                <a:solidFill>
                  <a:srgbClr val="333333"/>
                </a:solidFill>
                <a:effectLst/>
                <a:latin typeface="-apple-system"/>
              </a:rPr>
              <a:t>input</a:t>
            </a:r>
            <a:r>
              <a:rPr lang="zh-TW" altLang="en-US" b="0" i="0" dirty="0">
                <a:solidFill>
                  <a:srgbClr val="333333"/>
                </a:solidFill>
                <a:effectLst/>
                <a:latin typeface="-apple-system"/>
              </a:rPr>
              <a:t>對應一個</a:t>
            </a:r>
            <a:r>
              <a:rPr lang="en-US" altLang="zh-TW" b="0" i="0" dirty="0">
                <a:solidFill>
                  <a:srgbClr val="333333"/>
                </a:solidFill>
                <a:effectLst/>
                <a:latin typeface="-apple-system"/>
              </a:rPr>
              <a:t>output</a:t>
            </a:r>
            <a:r>
              <a:rPr lang="zh-TW" altLang="en-US" b="0" i="0" dirty="0">
                <a:solidFill>
                  <a:srgbClr val="333333"/>
                </a:solidFill>
                <a:effectLst/>
                <a:latin typeface="-apple-system"/>
              </a:rPr>
              <a:t>，在</a:t>
            </a:r>
            <a:r>
              <a:rPr lang="en-US" altLang="zh-TW" b="0" i="0" dirty="0">
                <a:solidFill>
                  <a:srgbClr val="333333"/>
                </a:solidFill>
                <a:effectLst/>
                <a:latin typeface="-apple-system"/>
              </a:rPr>
              <a:t>LSTM</a:t>
            </a:r>
            <a:r>
              <a:rPr lang="zh-TW" altLang="en-US" b="0" i="0" dirty="0">
                <a:solidFill>
                  <a:srgbClr val="333333"/>
                </a:solidFill>
                <a:effectLst/>
                <a:latin typeface="-apple-system"/>
              </a:rPr>
              <a:t>是四個</a:t>
            </a:r>
            <a:r>
              <a:rPr lang="en-US" altLang="zh-TW" b="0" i="0" dirty="0">
                <a:solidFill>
                  <a:srgbClr val="333333"/>
                </a:solidFill>
                <a:effectLst/>
                <a:latin typeface="-apple-system"/>
              </a:rPr>
              <a:t>input</a:t>
            </a:r>
            <a:r>
              <a:rPr lang="zh-TW" altLang="en-US" b="0" i="0" dirty="0">
                <a:solidFill>
                  <a:srgbClr val="333333"/>
                </a:solidFill>
                <a:effectLst/>
                <a:latin typeface="-apple-system"/>
              </a:rPr>
              <a:t>對應一個</a:t>
            </a:r>
            <a:r>
              <a:rPr lang="en-US" altLang="zh-TW" b="0" i="0" dirty="0">
                <a:solidFill>
                  <a:srgbClr val="333333"/>
                </a:solidFill>
                <a:effectLst/>
                <a:latin typeface="-apple-system"/>
              </a:rPr>
              <a:t>output</a:t>
            </a:r>
            <a:r>
              <a:rPr lang="zh-TW" altLang="en-US" b="0" i="0" dirty="0">
                <a:solidFill>
                  <a:srgbClr val="333333"/>
                </a:solidFill>
                <a:effectLst/>
                <a:latin typeface="-apple-system"/>
              </a:rPr>
              <a:t>，也因此</a:t>
            </a:r>
            <a:r>
              <a:rPr lang="en-US" altLang="zh-TW" b="0" i="0" dirty="0">
                <a:solidFill>
                  <a:srgbClr val="333333"/>
                </a:solidFill>
                <a:effectLst/>
                <a:latin typeface="-apple-system"/>
              </a:rPr>
              <a:t>LSTM</a:t>
            </a:r>
            <a:r>
              <a:rPr lang="zh-TW" altLang="en-US" b="0" i="0" dirty="0">
                <a:solidFill>
                  <a:srgbClr val="333333"/>
                </a:solidFill>
                <a:effectLst/>
                <a:latin typeface="-apple-system"/>
              </a:rPr>
              <a:t>的參數量會是一般神經網路的四倍。</a:t>
            </a:r>
          </a:p>
        </p:txBody>
      </p:sp>
    </p:spTree>
    <p:extLst>
      <p:ext uri="{BB962C8B-B14F-4D97-AF65-F5344CB8AC3E}">
        <p14:creationId xmlns:p14="http://schemas.microsoft.com/office/powerpoint/2010/main" val="964129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7F47188-6909-4526-9EAC-4436F60FDE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415" y="342931"/>
            <a:ext cx="8372475" cy="62769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19BD0D68-155F-4752-9A5F-4E5E21D50DA4}"/>
              </a:ext>
            </a:extLst>
          </p:cNvPr>
          <p:cNvSpPr txBox="1"/>
          <p:nvPr/>
        </p:nvSpPr>
        <p:spPr>
          <a:xfrm>
            <a:off x="8900839" y="605446"/>
            <a:ext cx="2776690" cy="5110886"/>
          </a:xfrm>
          <a:prstGeom prst="rect">
            <a:avLst/>
          </a:prstGeom>
          <a:noFill/>
        </p:spPr>
        <p:txBody>
          <a:bodyPr wrap="square">
            <a:spAutoFit/>
          </a:bodyPr>
          <a:lstStyle/>
          <a:p>
            <a:pPr algn="l">
              <a:lnSpc>
                <a:spcPct val="150000"/>
              </a:lnSpc>
              <a:buFont typeface="+mj-lt"/>
              <a:buAutoNum type="arabicPeriod"/>
            </a:pPr>
            <a:r>
              <a:rPr lang="zh-TW" altLang="en-US" sz="2200" b="0" i="0" dirty="0">
                <a:solidFill>
                  <a:srgbClr val="333333"/>
                </a:solidFill>
                <a:effectLst/>
                <a:latin typeface="Times New Roman" panose="02020603050405020304" pitchFamily="18" charset="0"/>
                <a:cs typeface="Times New Roman" panose="02020603050405020304" pitchFamily="18" charset="0"/>
              </a:rPr>
              <a:t>時步</a:t>
            </a:r>
            <a:r>
              <a:rPr lang="en-US" altLang="zh-TW" sz="2200" b="0" i="0" dirty="0">
                <a:solidFill>
                  <a:srgbClr val="333333"/>
                </a:solidFill>
                <a:effectLst/>
                <a:latin typeface="Times New Roman" panose="02020603050405020304" pitchFamily="18" charset="0"/>
                <a:cs typeface="Times New Roman" panose="02020603050405020304" pitchFamily="18" charset="0"/>
              </a:rPr>
              <a:t>t</a:t>
            </a:r>
            <a:r>
              <a:rPr lang="zh-TW" altLang="en-US" sz="2200" b="0" i="0" dirty="0">
                <a:solidFill>
                  <a:srgbClr val="333333"/>
                </a:solidFill>
                <a:effectLst/>
                <a:latin typeface="Times New Roman" panose="02020603050405020304" pitchFamily="18" charset="0"/>
                <a:cs typeface="Times New Roman" panose="02020603050405020304" pitchFamily="18" charset="0"/>
              </a:rPr>
              <a:t>輸入了</a:t>
            </a:r>
            <a:r>
              <a:rPr lang="en-US" altLang="zh-TW" sz="2200" b="0" i="0" dirty="0" err="1">
                <a:solidFill>
                  <a:srgbClr val="333333"/>
                </a:solidFill>
                <a:effectLst/>
                <a:latin typeface="Times New Roman" panose="02020603050405020304" pitchFamily="18" charset="0"/>
                <a:cs typeface="Times New Roman" panose="02020603050405020304" pitchFamily="18" charset="0"/>
              </a:rPr>
              <a:t>x</a:t>
            </a:r>
            <a:r>
              <a:rPr lang="en-US" altLang="zh-TW" sz="2200" b="0" i="0" baseline="30000" dirty="0" err="1">
                <a:solidFill>
                  <a:srgbClr val="333333"/>
                </a:solidFill>
                <a:effectLst/>
                <a:latin typeface="Times New Roman" panose="02020603050405020304" pitchFamily="18" charset="0"/>
                <a:cs typeface="Times New Roman" panose="02020603050405020304" pitchFamily="18" charset="0"/>
              </a:rPr>
              <a:t>t</a:t>
            </a:r>
            <a:endParaRPr lang="en-US" altLang="zh-TW" sz="2200" b="0" i="0" baseline="30000" dirty="0">
              <a:solidFill>
                <a:srgbClr val="333333"/>
              </a:solidFill>
              <a:effectLst/>
              <a:latin typeface="Times New Roman" panose="02020603050405020304" pitchFamily="18" charset="0"/>
              <a:cs typeface="Times New Roman" panose="02020603050405020304" pitchFamily="18" charset="0"/>
            </a:endParaRPr>
          </a:p>
          <a:p>
            <a:pPr algn="l">
              <a:lnSpc>
                <a:spcPct val="150000"/>
              </a:lnSpc>
              <a:buFont typeface="+mj-lt"/>
              <a:buAutoNum type="arabicPeriod"/>
            </a:pPr>
            <a:r>
              <a:rPr lang="en-US" altLang="zh-TW" sz="2200" b="0" i="0" dirty="0">
                <a:solidFill>
                  <a:srgbClr val="333333"/>
                </a:solidFill>
                <a:effectLst/>
                <a:latin typeface="Times New Roman" panose="02020603050405020304" pitchFamily="18" charset="0"/>
                <a:cs typeface="Times New Roman" panose="02020603050405020304" pitchFamily="18" charset="0"/>
              </a:rPr>
              <a:t>transform</a:t>
            </a:r>
            <a:r>
              <a:rPr lang="zh-TW" altLang="en-US" sz="2200" b="0" i="0" dirty="0">
                <a:solidFill>
                  <a:srgbClr val="333333"/>
                </a:solidFill>
                <a:effectLst/>
                <a:latin typeface="Times New Roman" panose="02020603050405020304" pitchFamily="18" charset="0"/>
                <a:cs typeface="Times New Roman" panose="02020603050405020304" pitchFamily="18" charset="0"/>
              </a:rPr>
              <a:t>之後得到</a:t>
            </a:r>
            <a:r>
              <a:rPr lang="en-US" altLang="zh-TW" sz="2200" b="0" i="0" dirty="0">
                <a:solidFill>
                  <a:srgbClr val="333333"/>
                </a:solidFill>
                <a:effectLst/>
                <a:latin typeface="Times New Roman" panose="02020603050405020304" pitchFamily="18" charset="0"/>
                <a:cs typeface="Times New Roman" panose="02020603050405020304" pitchFamily="18" charset="0"/>
              </a:rPr>
              <a:t>z</a:t>
            </a:r>
            <a:r>
              <a:rPr lang="zh-TW" altLang="en-US" sz="2200" b="0" i="0" dirty="0">
                <a:solidFill>
                  <a:srgbClr val="333333"/>
                </a:solidFill>
                <a:effectLst/>
                <a:latin typeface="Times New Roman" panose="02020603050405020304" pitchFamily="18" charset="0"/>
                <a:cs typeface="Times New Roman" panose="02020603050405020304" pitchFamily="18" charset="0"/>
              </a:rPr>
              <a:t>，與</a:t>
            </a:r>
            <a:r>
              <a:rPr lang="en-US" altLang="zh-TW" sz="2200" b="0" i="0" dirty="0">
                <a:solidFill>
                  <a:srgbClr val="333333"/>
                </a:solidFill>
                <a:effectLst/>
                <a:latin typeface="Times New Roman" panose="02020603050405020304" pitchFamily="18" charset="0"/>
                <a:cs typeface="Times New Roman" panose="02020603050405020304" pitchFamily="18" charset="0"/>
              </a:rPr>
              <a:t>input gate</a:t>
            </a:r>
            <a:r>
              <a:rPr lang="zh-TW" altLang="en-US" sz="2200" b="0" i="0" dirty="0">
                <a:solidFill>
                  <a:srgbClr val="333333"/>
                </a:solidFill>
                <a:effectLst/>
                <a:latin typeface="Times New Roman" panose="02020603050405020304" pitchFamily="18" charset="0"/>
                <a:cs typeface="Times New Roman" panose="02020603050405020304" pitchFamily="18" charset="0"/>
              </a:rPr>
              <a:t>的</a:t>
            </a:r>
            <a:r>
              <a:rPr lang="en-US" altLang="zh-TW" sz="2200" b="0" i="0" dirty="0">
                <a:solidFill>
                  <a:srgbClr val="333333"/>
                </a:solidFill>
                <a:effectLst/>
                <a:latin typeface="Times New Roman" panose="02020603050405020304" pitchFamily="18" charset="0"/>
                <a:cs typeface="Times New Roman" panose="02020603050405020304" pitchFamily="18" charset="0"/>
              </a:rPr>
              <a:t>z</a:t>
            </a:r>
            <a:r>
              <a:rPr lang="en-US" altLang="zh-TW" sz="2200" baseline="30000" dirty="0">
                <a:solidFill>
                  <a:srgbClr val="333333"/>
                </a:solidFill>
                <a:latin typeface="Times New Roman" panose="02020603050405020304" pitchFamily="18" charset="0"/>
                <a:cs typeface="Times New Roman" panose="02020603050405020304" pitchFamily="18" charset="0"/>
              </a:rPr>
              <a:t>i</a:t>
            </a:r>
            <a:r>
              <a:rPr lang="zh-TW" altLang="en-US" sz="2200" b="0" i="0" dirty="0">
                <a:solidFill>
                  <a:srgbClr val="333333"/>
                </a:solidFill>
                <a:effectLst/>
                <a:latin typeface="Times New Roman" panose="02020603050405020304" pitchFamily="18" charset="0"/>
                <a:cs typeface="Times New Roman" panose="02020603050405020304" pitchFamily="18" charset="0"/>
              </a:rPr>
              <a:t>相乘</a:t>
            </a:r>
            <a:r>
              <a:rPr lang="en-US" altLang="zh-TW" sz="2200" b="0" i="0" baseline="-25000" dirty="0">
                <a:solidFill>
                  <a:srgbClr val="333333"/>
                </a:solidFill>
                <a:effectLst/>
                <a:latin typeface="Times New Roman" panose="02020603050405020304" pitchFamily="18" charset="0"/>
                <a:cs typeface="Times New Roman" panose="02020603050405020304" pitchFamily="18" charset="0"/>
              </a:rPr>
              <a:t>(</a:t>
            </a:r>
            <a:r>
              <a:rPr lang="zh-TW" altLang="en-US" sz="2200" b="0" i="0" baseline="-25000" dirty="0">
                <a:solidFill>
                  <a:srgbClr val="333333"/>
                </a:solidFill>
                <a:effectLst/>
                <a:latin typeface="Times New Roman" panose="02020603050405020304" pitchFamily="18" charset="0"/>
                <a:cs typeface="Times New Roman" panose="02020603050405020304" pitchFamily="18" charset="0"/>
              </a:rPr>
              <a:t>元素相乘</a:t>
            </a:r>
            <a:r>
              <a:rPr lang="en-US" altLang="zh-TW" sz="2200" b="0" i="0" baseline="-25000" dirty="0">
                <a:solidFill>
                  <a:srgbClr val="333333"/>
                </a:solidFill>
                <a:effectLst/>
                <a:latin typeface="Times New Roman" panose="02020603050405020304" pitchFamily="18" charset="0"/>
                <a:cs typeface="Times New Roman" panose="02020603050405020304" pitchFamily="18" charset="0"/>
              </a:rPr>
              <a:t>)</a:t>
            </a:r>
            <a:endParaRPr lang="zh-TW" altLang="en-US" sz="2200" b="0" i="0" dirty="0">
              <a:solidFill>
                <a:srgbClr val="333333"/>
              </a:solidFill>
              <a:effectLst/>
              <a:latin typeface="Times New Roman" panose="02020603050405020304" pitchFamily="18" charset="0"/>
              <a:cs typeface="Times New Roman" panose="02020603050405020304" pitchFamily="18" charset="0"/>
            </a:endParaRPr>
          </a:p>
          <a:p>
            <a:pPr algn="l">
              <a:lnSpc>
                <a:spcPct val="150000"/>
              </a:lnSpc>
              <a:buFont typeface="+mj-lt"/>
              <a:buAutoNum type="arabicPeriod"/>
            </a:pPr>
            <a:r>
              <a:rPr lang="en-US" altLang="zh-TW" sz="2200" b="0" i="0" dirty="0" err="1">
                <a:solidFill>
                  <a:srgbClr val="333333"/>
                </a:solidFill>
                <a:effectLst/>
                <a:latin typeface="Times New Roman" panose="02020603050405020304" pitchFamily="18" charset="0"/>
                <a:cs typeface="Times New Roman" panose="02020603050405020304" pitchFamily="18" charset="0"/>
              </a:rPr>
              <a:t>z</a:t>
            </a:r>
            <a:r>
              <a:rPr lang="en-US" altLang="zh-TW" sz="2200" baseline="30000" dirty="0" err="1">
                <a:solidFill>
                  <a:srgbClr val="333333"/>
                </a:solidFill>
                <a:latin typeface="Times New Roman" panose="02020603050405020304" pitchFamily="18" charset="0"/>
                <a:cs typeface="Times New Roman" panose="02020603050405020304" pitchFamily="18" charset="0"/>
              </a:rPr>
              <a:t>f</a:t>
            </a:r>
            <a:r>
              <a:rPr lang="zh-TW" altLang="en-US" sz="2200" b="0" i="0" dirty="0">
                <a:solidFill>
                  <a:srgbClr val="333333"/>
                </a:solidFill>
                <a:effectLst/>
                <a:latin typeface="Times New Roman" panose="02020603050405020304" pitchFamily="18" charset="0"/>
                <a:cs typeface="Times New Roman" panose="02020603050405020304" pitchFamily="18" charset="0"/>
              </a:rPr>
              <a:t>與上一個時步的</a:t>
            </a:r>
            <a:r>
              <a:rPr lang="en-US" altLang="zh-TW" sz="2200" b="0" i="0" dirty="0">
                <a:solidFill>
                  <a:srgbClr val="333333"/>
                </a:solidFill>
                <a:effectLst/>
                <a:latin typeface="Times New Roman" panose="02020603050405020304" pitchFamily="18" charset="0"/>
                <a:cs typeface="Times New Roman" panose="02020603050405020304" pitchFamily="18" charset="0"/>
              </a:rPr>
              <a:t>Memory Cell</a:t>
            </a:r>
            <a:r>
              <a:rPr lang="zh-TW" altLang="en-US" sz="2200" b="0" i="0" dirty="0">
                <a:solidFill>
                  <a:srgbClr val="333333"/>
                </a:solidFill>
                <a:effectLst/>
                <a:latin typeface="Times New Roman" panose="02020603050405020304" pitchFamily="18" charset="0"/>
                <a:cs typeface="Times New Roman" panose="02020603050405020304" pitchFamily="18" charset="0"/>
              </a:rPr>
              <a:t>，</a:t>
            </a:r>
            <a:r>
              <a:rPr lang="en-US" altLang="zh-TW" sz="2200" b="0" i="0" dirty="0">
                <a:solidFill>
                  <a:srgbClr val="333333"/>
                </a:solidFill>
                <a:effectLst/>
                <a:latin typeface="Times New Roman" panose="02020603050405020304" pitchFamily="18" charset="0"/>
                <a:cs typeface="Times New Roman" panose="02020603050405020304" pitchFamily="18" charset="0"/>
              </a:rPr>
              <a:t>c</a:t>
            </a:r>
            <a:r>
              <a:rPr lang="en-US" altLang="zh-TW" sz="2200" baseline="30000" dirty="0">
                <a:solidFill>
                  <a:srgbClr val="333333"/>
                </a:solidFill>
                <a:latin typeface="Times New Roman" panose="02020603050405020304" pitchFamily="18" charset="0"/>
                <a:cs typeface="Times New Roman" panose="02020603050405020304" pitchFamily="18" charset="0"/>
              </a:rPr>
              <a:t>t−1</a:t>
            </a:r>
            <a:r>
              <a:rPr lang="zh-TW" altLang="en-US" sz="2200" b="0" i="0" dirty="0">
                <a:solidFill>
                  <a:srgbClr val="333333"/>
                </a:solidFill>
                <a:effectLst/>
                <a:latin typeface="Times New Roman" panose="02020603050405020304" pitchFamily="18" charset="0"/>
                <a:cs typeface="Times New Roman" panose="02020603050405020304" pitchFamily="18" charset="0"/>
              </a:rPr>
              <a:t>相乘</a:t>
            </a:r>
          </a:p>
          <a:p>
            <a:pPr algn="l">
              <a:lnSpc>
                <a:spcPct val="150000"/>
              </a:lnSpc>
              <a:buFont typeface="+mj-lt"/>
              <a:buAutoNum type="arabicPeriod"/>
            </a:pPr>
            <a:r>
              <a:rPr lang="en-US" altLang="zh-TW" sz="2200" b="0" i="0" dirty="0">
                <a:solidFill>
                  <a:srgbClr val="333333"/>
                </a:solidFill>
                <a:effectLst/>
                <a:latin typeface="Times New Roman" panose="02020603050405020304" pitchFamily="18" charset="0"/>
                <a:cs typeface="Times New Roman" panose="02020603050405020304" pitchFamily="18" charset="0"/>
              </a:rPr>
              <a:t>output gate z</a:t>
            </a:r>
            <a:r>
              <a:rPr lang="en-US" altLang="zh-TW" sz="2200" baseline="30000" dirty="0">
                <a:solidFill>
                  <a:srgbClr val="333333"/>
                </a:solidFill>
                <a:latin typeface="Times New Roman" panose="02020603050405020304" pitchFamily="18" charset="0"/>
                <a:cs typeface="Times New Roman" panose="02020603050405020304" pitchFamily="18" charset="0"/>
              </a:rPr>
              <a:t>o</a:t>
            </a:r>
            <a:r>
              <a:rPr lang="zh-TW" altLang="en-US" sz="2200" b="0" i="0" dirty="0">
                <a:solidFill>
                  <a:srgbClr val="333333"/>
                </a:solidFill>
                <a:effectLst/>
                <a:latin typeface="Times New Roman" panose="02020603050405020304" pitchFamily="18" charset="0"/>
                <a:cs typeface="Times New Roman" panose="02020603050405020304" pitchFamily="18" charset="0"/>
              </a:rPr>
              <a:t>與</a:t>
            </a:r>
            <a:r>
              <a:rPr lang="en-US" altLang="zh-TW" sz="2200" b="0" i="0" dirty="0">
                <a:solidFill>
                  <a:srgbClr val="333333"/>
                </a:solidFill>
                <a:effectLst/>
                <a:latin typeface="Times New Roman" panose="02020603050405020304" pitchFamily="18" charset="0"/>
                <a:cs typeface="Times New Roman" panose="02020603050405020304" pitchFamily="18" charset="0"/>
              </a:rPr>
              <a:t>2</a:t>
            </a:r>
            <a:r>
              <a:rPr lang="zh-TW" altLang="en-US" sz="2200" b="0" i="0" dirty="0">
                <a:solidFill>
                  <a:srgbClr val="333333"/>
                </a:solidFill>
                <a:effectLst/>
                <a:latin typeface="Times New Roman" panose="02020603050405020304" pitchFamily="18" charset="0"/>
                <a:cs typeface="Times New Roman" panose="02020603050405020304" pitchFamily="18" charset="0"/>
              </a:rPr>
              <a:t>、</a:t>
            </a:r>
            <a:r>
              <a:rPr lang="en-US" altLang="zh-TW" sz="2200" b="0" i="0" dirty="0">
                <a:solidFill>
                  <a:srgbClr val="333333"/>
                </a:solidFill>
                <a:effectLst/>
                <a:latin typeface="Times New Roman" panose="02020603050405020304" pitchFamily="18" charset="0"/>
                <a:cs typeface="Times New Roman" panose="02020603050405020304" pitchFamily="18" charset="0"/>
              </a:rPr>
              <a:t>3</a:t>
            </a:r>
            <a:r>
              <a:rPr lang="zh-TW" altLang="en-US" sz="2200" b="0" i="0" dirty="0">
                <a:solidFill>
                  <a:srgbClr val="333333"/>
                </a:solidFill>
                <a:effectLst/>
                <a:latin typeface="Times New Roman" panose="02020603050405020304" pitchFamily="18" charset="0"/>
                <a:cs typeface="Times New Roman" panose="02020603050405020304" pitchFamily="18" charset="0"/>
              </a:rPr>
              <a:t>相加結果相乘得到最後結果</a:t>
            </a:r>
            <a:r>
              <a:rPr lang="en-US" altLang="zh-TW" sz="2200" b="0" i="0" dirty="0" err="1">
                <a:solidFill>
                  <a:srgbClr val="333333"/>
                </a:solidFill>
                <a:effectLst/>
                <a:latin typeface="Times New Roman" panose="02020603050405020304" pitchFamily="18" charset="0"/>
                <a:cs typeface="Times New Roman" panose="02020603050405020304" pitchFamily="18" charset="0"/>
              </a:rPr>
              <a:t>yt</a:t>
            </a:r>
            <a:endParaRPr lang="en-US" altLang="zh-TW" sz="22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2932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3C850BF8-4096-4D11-9A85-3977F4C03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514" y="412821"/>
            <a:ext cx="8372475" cy="62769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EE35DC36-AF14-487F-85E5-71B0915401D2}"/>
              </a:ext>
            </a:extLst>
          </p:cNvPr>
          <p:cNvSpPr txBox="1"/>
          <p:nvPr/>
        </p:nvSpPr>
        <p:spPr>
          <a:xfrm>
            <a:off x="8797067" y="1120676"/>
            <a:ext cx="2955297" cy="2308324"/>
          </a:xfrm>
          <a:prstGeom prst="rect">
            <a:avLst/>
          </a:prstGeom>
          <a:noFill/>
        </p:spPr>
        <p:txBody>
          <a:bodyPr wrap="square">
            <a:spAutoFit/>
          </a:bodyPr>
          <a:lstStyle/>
          <a:p>
            <a:pPr algn="l">
              <a:buFont typeface="+mj-lt"/>
              <a:buAutoNum type="arabicPeriod"/>
            </a:pPr>
            <a:r>
              <a:rPr lang="en-US" altLang="zh-TW" sz="2400" b="0" i="0" dirty="0">
                <a:effectLst/>
                <a:latin typeface="-apple-system"/>
              </a:rPr>
              <a:t>Input: </a:t>
            </a:r>
            <a:r>
              <a:rPr lang="en-US" altLang="zh-TW" sz="2400" b="0" i="0" dirty="0">
                <a:effectLst/>
                <a:latin typeface="MJXc-TeX-math-I"/>
              </a:rPr>
              <a:t>z</a:t>
            </a:r>
            <a:endParaRPr lang="en-US" altLang="zh-TW" sz="2400" b="0" i="0" dirty="0">
              <a:effectLst/>
              <a:latin typeface="-apple-system"/>
            </a:endParaRPr>
          </a:p>
          <a:p>
            <a:pPr algn="l">
              <a:buFont typeface="+mj-lt"/>
              <a:buAutoNum type="arabicPeriod"/>
            </a:pPr>
            <a:r>
              <a:rPr lang="zh-TW" altLang="en-US" sz="2400" b="0" i="0" dirty="0">
                <a:effectLst/>
                <a:latin typeface="-apple-system"/>
              </a:rPr>
              <a:t>操作</a:t>
            </a:r>
            <a:r>
              <a:rPr lang="en-US" altLang="zh-TW" sz="2400" b="0" i="0" dirty="0">
                <a:effectLst/>
                <a:latin typeface="-apple-system"/>
              </a:rPr>
              <a:t>Input Gate: </a:t>
            </a:r>
            <a:r>
              <a:rPr lang="en-US" altLang="zh-TW" sz="2400" b="0" i="0" dirty="0">
                <a:effectLst/>
                <a:latin typeface="MJXc-TeX-math-I"/>
              </a:rPr>
              <a:t>z</a:t>
            </a:r>
            <a:r>
              <a:rPr lang="en-US" altLang="zh-TW" sz="2400" b="0" i="0" baseline="-25000" dirty="0">
                <a:effectLst/>
                <a:latin typeface="MJXc-TeX-math-I"/>
              </a:rPr>
              <a:t>i</a:t>
            </a:r>
            <a:endParaRPr lang="en-US" altLang="zh-TW" sz="2400" b="0" i="0" baseline="-25000" dirty="0">
              <a:effectLst/>
              <a:latin typeface="-apple-system"/>
            </a:endParaRPr>
          </a:p>
          <a:p>
            <a:pPr algn="l">
              <a:buFont typeface="+mj-lt"/>
              <a:buAutoNum type="arabicPeriod"/>
            </a:pPr>
            <a:r>
              <a:rPr lang="zh-TW" altLang="en-US" sz="2400" b="0" i="0" dirty="0">
                <a:effectLst/>
                <a:latin typeface="-apple-system"/>
              </a:rPr>
              <a:t>操作</a:t>
            </a:r>
            <a:r>
              <a:rPr lang="en-US" altLang="zh-TW" sz="2400" b="0" i="0" dirty="0">
                <a:effectLst/>
                <a:latin typeface="-apple-system"/>
              </a:rPr>
              <a:t>Forget Gate: </a:t>
            </a:r>
            <a:r>
              <a:rPr lang="en-US" altLang="zh-TW" sz="2400" b="0" i="0" dirty="0" err="1">
                <a:effectLst/>
                <a:latin typeface="MJXc-TeX-math-I"/>
              </a:rPr>
              <a:t>z</a:t>
            </a:r>
            <a:r>
              <a:rPr lang="en-US" altLang="zh-TW" sz="2400" baseline="-25000" dirty="0" err="1">
                <a:latin typeface="MJXc-TeX-math-I"/>
              </a:rPr>
              <a:t>f</a:t>
            </a:r>
            <a:endParaRPr lang="en-US" altLang="zh-TW" sz="2400" baseline="-25000" dirty="0">
              <a:latin typeface="MJXc-TeX-math-I"/>
            </a:endParaRPr>
          </a:p>
          <a:p>
            <a:pPr algn="l">
              <a:buFont typeface="+mj-lt"/>
              <a:buAutoNum type="arabicPeriod"/>
            </a:pPr>
            <a:r>
              <a:rPr lang="zh-TW" altLang="en-US" sz="2400" b="0" i="0" dirty="0">
                <a:effectLst/>
                <a:latin typeface="-apple-system"/>
              </a:rPr>
              <a:t>操作</a:t>
            </a:r>
            <a:r>
              <a:rPr lang="en-US" altLang="zh-TW" sz="2400" b="0" i="0" dirty="0">
                <a:effectLst/>
                <a:latin typeface="-apple-system"/>
              </a:rPr>
              <a:t>Output Gate: </a:t>
            </a:r>
            <a:r>
              <a:rPr lang="en-US" altLang="zh-TW" sz="2400" b="0" i="0" dirty="0">
                <a:effectLst/>
                <a:latin typeface="MJXc-TeX-math-I"/>
              </a:rPr>
              <a:t>z</a:t>
            </a:r>
            <a:r>
              <a:rPr lang="en-US" altLang="zh-TW" sz="2400" b="0" i="0" baseline="-25000" dirty="0">
                <a:effectLst/>
                <a:latin typeface="MJXc-TeX-math-I"/>
              </a:rPr>
              <a:t>o</a:t>
            </a:r>
            <a:endParaRPr lang="en-US" altLang="zh-TW" sz="2400" b="0" i="0" baseline="-25000" dirty="0">
              <a:effectLst/>
              <a:latin typeface="-apple-system"/>
            </a:endParaRPr>
          </a:p>
          <a:p>
            <a:pPr algn="l">
              <a:buFont typeface="+mj-lt"/>
              <a:buAutoNum type="arabicPeriod"/>
            </a:pPr>
            <a:r>
              <a:rPr lang="en-US" altLang="zh-TW" sz="2400" b="0" i="0" dirty="0">
                <a:effectLst/>
                <a:latin typeface="-apple-system"/>
              </a:rPr>
              <a:t>Output: </a:t>
            </a:r>
            <a:r>
              <a:rPr lang="en-US" altLang="zh-TW" sz="2400" b="0" i="0" dirty="0">
                <a:effectLst/>
                <a:latin typeface="MJXc-TeX-math-I"/>
              </a:rPr>
              <a:t>a</a:t>
            </a:r>
            <a:endParaRPr lang="en-US" altLang="zh-TW" sz="2400" b="0" i="0" dirty="0">
              <a:effectLst/>
              <a:latin typeface="-apple-system"/>
            </a:endParaRPr>
          </a:p>
          <a:p>
            <a:pPr algn="l">
              <a:buFont typeface="+mj-lt"/>
              <a:buAutoNum type="arabicPeriod"/>
            </a:pPr>
            <a:r>
              <a:rPr lang="en-US" altLang="zh-TW" sz="2400" b="0" i="0" dirty="0">
                <a:effectLst/>
                <a:latin typeface="-apple-system"/>
              </a:rPr>
              <a:t>Memory Cell: </a:t>
            </a:r>
            <a:r>
              <a:rPr lang="en-US" altLang="zh-TW" sz="2400" b="0" i="0" dirty="0">
                <a:effectLst/>
                <a:latin typeface="MJXc-TeX-math-I"/>
              </a:rPr>
              <a:t>C</a:t>
            </a:r>
            <a:endParaRPr lang="en-US" altLang="zh-TW" sz="2400" b="0" i="0" dirty="0">
              <a:effectLst/>
              <a:latin typeface="-apple-system"/>
            </a:endParaRPr>
          </a:p>
        </p:txBody>
      </p:sp>
    </p:spTree>
    <p:extLst>
      <p:ext uri="{BB962C8B-B14F-4D97-AF65-F5344CB8AC3E}">
        <p14:creationId xmlns:p14="http://schemas.microsoft.com/office/powerpoint/2010/main" val="755210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3B4A234E-146A-41AA-A2CB-3A78B8F2A2F7}"/>
              </a:ext>
            </a:extLst>
          </p:cNvPr>
          <p:cNvSpPr txBox="1"/>
          <p:nvPr/>
        </p:nvSpPr>
        <p:spPr>
          <a:xfrm>
            <a:off x="5406318" y="614969"/>
            <a:ext cx="6095028" cy="5632311"/>
          </a:xfrm>
          <a:prstGeom prst="rect">
            <a:avLst/>
          </a:prstGeom>
          <a:noFill/>
          <a:ln>
            <a:solidFill>
              <a:schemeClr val="tx1"/>
            </a:solidFill>
          </a:ln>
        </p:spPr>
        <p:txBody>
          <a:bodyPr wrap="square">
            <a:spAutoFit/>
          </a:bodyPr>
          <a:lstStyle/>
          <a:p>
            <a:pPr algn="l">
              <a:buFont typeface="+mj-lt"/>
              <a:buAutoNum type="arabicPeriod"/>
            </a:pPr>
            <a:r>
              <a:rPr lang="en-US" altLang="zh-TW" i="1" dirty="0">
                <a:solidFill>
                  <a:srgbClr val="333333"/>
                </a:solidFill>
                <a:latin typeface="MJXc-TeX-math-I"/>
              </a:rPr>
              <a:t> Z</a:t>
            </a:r>
            <a:r>
              <a:rPr lang="zh-TW" altLang="en-US" b="0" i="0" dirty="0">
                <a:solidFill>
                  <a:srgbClr val="333333"/>
                </a:solidFill>
                <a:effectLst/>
                <a:latin typeface="-apple-system"/>
              </a:rPr>
              <a:t>通過</a:t>
            </a:r>
            <a:r>
              <a:rPr lang="en-US" altLang="zh-TW" b="0" i="0" dirty="0">
                <a:solidFill>
                  <a:srgbClr val="333333"/>
                </a:solidFill>
                <a:effectLst/>
                <a:latin typeface="-apple-system"/>
              </a:rPr>
              <a:t>sigmoid function</a:t>
            </a:r>
            <a:r>
              <a:rPr lang="zh-TW" altLang="en-US" b="0" i="0" dirty="0">
                <a:solidFill>
                  <a:srgbClr val="333333"/>
                </a:solidFill>
                <a:effectLst/>
                <a:latin typeface="-apple-system"/>
              </a:rPr>
              <a:t>得到</a:t>
            </a:r>
            <a:r>
              <a:rPr lang="en-US" altLang="zh-TW" i="1" dirty="0">
                <a:solidFill>
                  <a:srgbClr val="333333"/>
                </a:solidFill>
                <a:latin typeface="MJXc-TeX-math-I"/>
              </a:rPr>
              <a:t>g(z)</a:t>
            </a:r>
          </a:p>
          <a:p>
            <a:pPr algn="l">
              <a:buFont typeface="+mj-lt"/>
              <a:buAutoNum type="arabicPeriod"/>
            </a:pPr>
            <a:r>
              <a:rPr lang="en-US" altLang="zh-TW" i="1" dirty="0">
                <a:solidFill>
                  <a:srgbClr val="333333"/>
                </a:solidFill>
                <a:latin typeface="MJXc-TeX-math-I"/>
              </a:rPr>
              <a:t> Z</a:t>
            </a:r>
            <a:r>
              <a:rPr lang="en-US" altLang="zh-TW" i="1" baseline="-25000" dirty="0">
                <a:solidFill>
                  <a:srgbClr val="333333"/>
                </a:solidFill>
                <a:latin typeface="MJXc-TeX-math-I"/>
              </a:rPr>
              <a:t>i</a:t>
            </a:r>
            <a:r>
              <a:rPr lang="zh-TW" altLang="en-US" b="0" i="0" dirty="0">
                <a:solidFill>
                  <a:srgbClr val="333333"/>
                </a:solidFill>
                <a:effectLst/>
                <a:latin typeface="-apple-system"/>
              </a:rPr>
              <a:t>通過</a:t>
            </a:r>
            <a:r>
              <a:rPr lang="en-US" altLang="zh-TW" b="0" i="0" dirty="0">
                <a:solidFill>
                  <a:srgbClr val="333333"/>
                </a:solidFill>
                <a:effectLst/>
                <a:latin typeface="-apple-system"/>
              </a:rPr>
              <a:t>sigmoid function</a:t>
            </a:r>
            <a:r>
              <a:rPr lang="zh-TW" altLang="en-US" b="0" i="0" dirty="0">
                <a:solidFill>
                  <a:srgbClr val="333333"/>
                </a:solidFill>
                <a:effectLst/>
                <a:latin typeface="-apple-system"/>
              </a:rPr>
              <a:t>得到</a:t>
            </a:r>
            <a:r>
              <a:rPr lang="en-US" altLang="zh-TW" i="1" dirty="0">
                <a:solidFill>
                  <a:srgbClr val="333333"/>
                </a:solidFill>
                <a:latin typeface="MJXc-TeX-math-I"/>
              </a:rPr>
              <a:t>f</a:t>
            </a:r>
            <a:r>
              <a:rPr lang="en-US" altLang="zh-TW" b="0" i="1" dirty="0">
                <a:solidFill>
                  <a:srgbClr val="333333"/>
                </a:solidFill>
                <a:effectLst/>
                <a:latin typeface="MJXc-TeX-main-R"/>
              </a:rPr>
              <a:t>(</a:t>
            </a:r>
            <a:r>
              <a:rPr lang="en-US" altLang="zh-TW" b="0" i="1" dirty="0">
                <a:solidFill>
                  <a:srgbClr val="333333"/>
                </a:solidFill>
                <a:effectLst/>
                <a:latin typeface="MJXc-TeX-math-I"/>
              </a:rPr>
              <a:t>z</a:t>
            </a:r>
            <a:r>
              <a:rPr lang="en-US" altLang="zh-TW" b="0" i="1" baseline="-25000" dirty="0">
                <a:solidFill>
                  <a:srgbClr val="333333"/>
                </a:solidFill>
                <a:effectLst/>
                <a:latin typeface="MJXc-TeX-math-I"/>
              </a:rPr>
              <a:t>i</a:t>
            </a:r>
            <a:r>
              <a:rPr lang="en-US" altLang="zh-TW" b="0" i="1" dirty="0">
                <a:solidFill>
                  <a:srgbClr val="333333"/>
                </a:solidFill>
                <a:effectLst/>
                <a:latin typeface="MJXc-TeX-main-R"/>
              </a:rPr>
              <a:t>)</a:t>
            </a:r>
            <a:endParaRPr lang="en-US" altLang="zh-TW" b="0" i="1" dirty="0">
              <a:solidFill>
                <a:srgbClr val="333333"/>
              </a:solidFill>
              <a:effectLst/>
              <a:latin typeface="-apple-system"/>
            </a:endParaRPr>
          </a:p>
          <a:p>
            <a:pPr algn="l">
              <a:buFont typeface="+mj-lt"/>
              <a:buAutoNum type="arabicPeriod"/>
            </a:pPr>
            <a:r>
              <a:rPr lang="en-US" altLang="zh-TW" b="0" i="0" dirty="0">
                <a:solidFill>
                  <a:srgbClr val="333333"/>
                </a:solidFill>
                <a:effectLst/>
                <a:latin typeface="-apple-system"/>
              </a:rPr>
              <a:t> 1</a:t>
            </a:r>
            <a:r>
              <a:rPr lang="zh-TW" altLang="en-US" b="0" i="0" dirty="0">
                <a:solidFill>
                  <a:srgbClr val="333333"/>
                </a:solidFill>
                <a:effectLst/>
                <a:latin typeface="-apple-system"/>
              </a:rPr>
              <a:t>、</a:t>
            </a:r>
            <a:r>
              <a:rPr lang="en-US" altLang="zh-TW" b="0" i="0" dirty="0">
                <a:solidFill>
                  <a:srgbClr val="333333"/>
                </a:solidFill>
                <a:effectLst/>
                <a:latin typeface="-apple-system"/>
              </a:rPr>
              <a:t>2</a:t>
            </a:r>
            <a:r>
              <a:rPr lang="zh-TW" altLang="en-US" b="0" i="0" dirty="0">
                <a:solidFill>
                  <a:srgbClr val="333333"/>
                </a:solidFill>
                <a:effectLst/>
                <a:latin typeface="-apple-system"/>
              </a:rPr>
              <a:t>所得相乘得到</a:t>
            </a:r>
            <a:r>
              <a:rPr lang="en-US" altLang="zh-TW" i="1" dirty="0">
                <a:solidFill>
                  <a:srgbClr val="333333"/>
                </a:solidFill>
                <a:latin typeface="MJXc-TeX-math-I"/>
              </a:rPr>
              <a:t>g(z)f(z</a:t>
            </a:r>
            <a:r>
              <a:rPr lang="en-US" altLang="zh-TW" i="1" baseline="-25000" dirty="0">
                <a:solidFill>
                  <a:srgbClr val="333333"/>
                </a:solidFill>
                <a:latin typeface="MJXc-TeX-math-I"/>
              </a:rPr>
              <a:t>i</a:t>
            </a:r>
            <a:r>
              <a:rPr lang="en-US" altLang="zh-TW" i="1" dirty="0">
                <a:solidFill>
                  <a:srgbClr val="333333"/>
                </a:solidFill>
                <a:latin typeface="MJXc-TeX-math-I"/>
              </a:rPr>
              <a:t>)</a:t>
            </a:r>
            <a:endParaRPr lang="en-US" altLang="zh-TW" b="0" i="0" dirty="0">
              <a:solidFill>
                <a:srgbClr val="333333"/>
              </a:solidFill>
              <a:effectLst/>
              <a:latin typeface="-apple-system"/>
            </a:endParaRPr>
          </a:p>
          <a:p>
            <a:pPr algn="l">
              <a:buFont typeface="+mj-lt"/>
              <a:buAutoNum type="arabicPeriod"/>
            </a:pPr>
            <a:r>
              <a:rPr lang="en-US" altLang="zh-TW" b="0" i="0" dirty="0">
                <a:solidFill>
                  <a:srgbClr val="333333"/>
                </a:solidFill>
                <a:effectLst/>
                <a:latin typeface="MJXc-TeX-math-I"/>
              </a:rPr>
              <a:t> </a:t>
            </a:r>
            <a:r>
              <a:rPr lang="en-US" altLang="zh-TW" b="0" i="1" dirty="0" err="1">
                <a:solidFill>
                  <a:srgbClr val="333333"/>
                </a:solidFill>
                <a:effectLst/>
                <a:latin typeface="MJXc-TeX-math-I"/>
              </a:rPr>
              <a:t>Z</a:t>
            </a:r>
            <a:r>
              <a:rPr lang="en-US" altLang="zh-TW" b="0" i="1" baseline="-25000" dirty="0" err="1">
                <a:solidFill>
                  <a:srgbClr val="333333"/>
                </a:solidFill>
                <a:effectLst/>
                <a:latin typeface="MJXc-TeX-math-I"/>
              </a:rPr>
              <a:t>f</a:t>
            </a:r>
            <a:r>
              <a:rPr lang="zh-TW" altLang="en-US" b="0" i="0" dirty="0">
                <a:solidFill>
                  <a:srgbClr val="333333"/>
                </a:solidFill>
                <a:effectLst/>
                <a:latin typeface="-apple-system"/>
              </a:rPr>
              <a:t>通過</a:t>
            </a:r>
            <a:r>
              <a:rPr lang="en-US" altLang="zh-TW" b="0" i="0" dirty="0">
                <a:solidFill>
                  <a:srgbClr val="333333"/>
                </a:solidFill>
                <a:effectLst/>
                <a:latin typeface="-apple-system"/>
              </a:rPr>
              <a:t>sigmoid function</a:t>
            </a:r>
            <a:r>
              <a:rPr lang="zh-TW" altLang="en-US" b="0" i="0" dirty="0">
                <a:solidFill>
                  <a:srgbClr val="333333"/>
                </a:solidFill>
                <a:effectLst/>
                <a:latin typeface="-apple-system"/>
              </a:rPr>
              <a:t>得到</a:t>
            </a:r>
            <a:r>
              <a:rPr lang="en-US" altLang="zh-TW" b="0" i="1" dirty="0">
                <a:solidFill>
                  <a:srgbClr val="333333"/>
                </a:solidFill>
                <a:effectLst/>
                <a:latin typeface="MJXc-TeX-math-I"/>
              </a:rPr>
              <a:t>g</a:t>
            </a:r>
            <a:r>
              <a:rPr lang="en-US" altLang="zh-TW" b="0" i="1" dirty="0">
                <a:solidFill>
                  <a:srgbClr val="333333"/>
                </a:solidFill>
                <a:effectLst/>
                <a:latin typeface="MJXc-TeX-main-R"/>
              </a:rPr>
              <a:t>(</a:t>
            </a:r>
            <a:r>
              <a:rPr lang="en-US" altLang="zh-TW" b="0" i="1" dirty="0" err="1">
                <a:solidFill>
                  <a:srgbClr val="333333"/>
                </a:solidFill>
                <a:effectLst/>
                <a:latin typeface="MJXc-TeX-math-I"/>
              </a:rPr>
              <a:t>z</a:t>
            </a:r>
            <a:r>
              <a:rPr lang="en-US" altLang="zh-TW" b="0" i="1" baseline="-25000" dirty="0" err="1">
                <a:solidFill>
                  <a:srgbClr val="333333"/>
                </a:solidFill>
                <a:effectLst/>
                <a:latin typeface="MJXc-TeX-math-I"/>
              </a:rPr>
              <a:t>f</a:t>
            </a:r>
            <a:r>
              <a:rPr lang="en-US" altLang="zh-TW" b="0" i="1" dirty="0">
                <a:solidFill>
                  <a:srgbClr val="333333"/>
                </a:solidFill>
                <a:effectLst/>
                <a:latin typeface="MJXc-TeX-main-R"/>
              </a:rPr>
              <a:t>)</a:t>
            </a:r>
            <a:endParaRPr lang="en-US" altLang="zh-TW" b="0" i="0" dirty="0">
              <a:solidFill>
                <a:srgbClr val="333333"/>
              </a:solidFill>
              <a:effectLst/>
              <a:latin typeface="-apple-system"/>
            </a:endParaRPr>
          </a:p>
          <a:p>
            <a:pPr algn="l">
              <a:buFont typeface="+mj-lt"/>
              <a:buAutoNum type="arabicPeriod"/>
            </a:pPr>
            <a:r>
              <a:rPr lang="en-US" altLang="zh-TW" b="0" i="0" dirty="0">
                <a:solidFill>
                  <a:srgbClr val="333333"/>
                </a:solidFill>
                <a:effectLst/>
                <a:latin typeface="-apple-system"/>
              </a:rPr>
              <a:t>Memory Cell</a:t>
            </a:r>
            <a:r>
              <a:rPr lang="zh-TW" altLang="en-US" b="0" i="0" dirty="0">
                <a:solidFill>
                  <a:srgbClr val="333333"/>
                </a:solidFill>
                <a:effectLst/>
                <a:latin typeface="-apple-system"/>
              </a:rPr>
              <a:t>乘上</a:t>
            </a:r>
            <a:r>
              <a:rPr lang="en-US" altLang="zh-TW" b="0" i="0" dirty="0">
                <a:solidFill>
                  <a:srgbClr val="333333"/>
                </a:solidFill>
                <a:effectLst/>
                <a:latin typeface="-apple-system"/>
              </a:rPr>
              <a:t>Forget Gate</a:t>
            </a:r>
            <a:r>
              <a:rPr lang="zh-TW" altLang="en-US" b="0" i="0" dirty="0">
                <a:solidFill>
                  <a:srgbClr val="333333"/>
                </a:solidFill>
                <a:effectLst/>
                <a:latin typeface="-apple-system"/>
              </a:rPr>
              <a:t>的值，得到</a:t>
            </a:r>
            <a:r>
              <a:rPr lang="en-US" altLang="zh-TW" b="0" i="1" dirty="0">
                <a:solidFill>
                  <a:srgbClr val="333333"/>
                </a:solidFill>
                <a:effectLst/>
                <a:latin typeface="MJXc-TeX-math-I"/>
              </a:rPr>
              <a:t>c*f</a:t>
            </a:r>
            <a:r>
              <a:rPr lang="en-US" altLang="zh-TW" b="0" i="1" dirty="0">
                <a:solidFill>
                  <a:srgbClr val="333333"/>
                </a:solidFill>
                <a:effectLst/>
                <a:latin typeface="MJXc-TeX-main-R"/>
              </a:rPr>
              <a:t>(</a:t>
            </a:r>
            <a:r>
              <a:rPr lang="en-US" altLang="zh-TW" b="0" i="1" dirty="0" err="1">
                <a:solidFill>
                  <a:srgbClr val="333333"/>
                </a:solidFill>
                <a:effectLst/>
                <a:latin typeface="MJXc-TeX-math-I"/>
              </a:rPr>
              <a:t>z</a:t>
            </a:r>
            <a:r>
              <a:rPr lang="en-US" altLang="zh-TW" b="0" i="1" baseline="-25000" dirty="0" err="1">
                <a:solidFill>
                  <a:srgbClr val="333333"/>
                </a:solidFill>
                <a:effectLst/>
                <a:latin typeface="MJXc-TeX-math-I"/>
              </a:rPr>
              <a:t>f</a:t>
            </a:r>
            <a:r>
              <a:rPr lang="en-US" altLang="zh-TW" b="0" i="1" dirty="0">
                <a:solidFill>
                  <a:srgbClr val="333333"/>
                </a:solidFill>
                <a:effectLst/>
                <a:latin typeface="MJXc-TeX-main-R"/>
              </a:rPr>
              <a:t>)</a:t>
            </a:r>
            <a:r>
              <a:rPr lang="en-US" altLang="zh-TW" b="0" i="0" dirty="0">
                <a:solidFill>
                  <a:srgbClr val="333333"/>
                </a:solidFill>
                <a:effectLst/>
                <a:latin typeface="-apple-system"/>
              </a:rPr>
              <a:t> </a:t>
            </a:r>
          </a:p>
          <a:p>
            <a:pPr lvl="1">
              <a:buFont typeface="+mj-lt"/>
              <a:buAutoNum type="arabicPeriod"/>
            </a:pPr>
            <a:r>
              <a:rPr lang="zh-TW" altLang="en-US" b="0" i="0" dirty="0">
                <a:solidFill>
                  <a:srgbClr val="333333"/>
                </a:solidFill>
                <a:effectLst/>
                <a:latin typeface="-apple-system"/>
              </a:rPr>
              <a:t>當</a:t>
            </a:r>
            <a:r>
              <a:rPr lang="en-US" altLang="zh-TW" b="0" i="0" dirty="0">
                <a:solidFill>
                  <a:srgbClr val="333333"/>
                </a:solidFill>
                <a:effectLst/>
                <a:latin typeface="-apple-system"/>
              </a:rPr>
              <a:t>forget gate</a:t>
            </a:r>
            <a:r>
              <a:rPr lang="zh-TW" altLang="en-US" b="0" i="0" dirty="0">
                <a:solidFill>
                  <a:srgbClr val="333333"/>
                </a:solidFill>
                <a:effectLst/>
                <a:latin typeface="-apple-system"/>
              </a:rPr>
              <a:t>的輸入為</a:t>
            </a:r>
            <a:r>
              <a:rPr lang="en-US" altLang="zh-TW" b="0" i="0" dirty="0">
                <a:solidFill>
                  <a:srgbClr val="333333"/>
                </a:solidFill>
                <a:effectLst/>
                <a:latin typeface="-apple-system"/>
              </a:rPr>
              <a:t>0</a:t>
            </a:r>
            <a:r>
              <a:rPr lang="zh-TW" altLang="en-US" b="0" i="0" dirty="0">
                <a:solidFill>
                  <a:srgbClr val="333333"/>
                </a:solidFill>
                <a:effectLst/>
                <a:latin typeface="-apple-system"/>
              </a:rPr>
              <a:t>，那代表之前存在</a:t>
            </a:r>
            <a:r>
              <a:rPr lang="en-US" altLang="zh-TW" b="0" i="0" dirty="0">
                <a:solidFill>
                  <a:srgbClr val="333333"/>
                </a:solidFill>
                <a:effectLst/>
                <a:latin typeface="-apple-system"/>
              </a:rPr>
              <a:t>memory cell</a:t>
            </a:r>
            <a:r>
              <a:rPr lang="zh-TW" altLang="en-US" b="0" i="0" dirty="0">
                <a:solidFill>
                  <a:srgbClr val="333333"/>
                </a:solidFill>
                <a:effectLst/>
                <a:latin typeface="-apple-system"/>
              </a:rPr>
              <a:t>的值會變</a:t>
            </a:r>
            <a:r>
              <a:rPr lang="en-US" altLang="zh-TW" b="0" i="0" dirty="0">
                <a:solidFill>
                  <a:srgbClr val="333333"/>
                </a:solidFill>
                <a:effectLst/>
                <a:latin typeface="-apple-system"/>
              </a:rPr>
              <a:t>0</a:t>
            </a:r>
          </a:p>
          <a:p>
            <a:pPr lvl="1">
              <a:buFont typeface="+mj-lt"/>
              <a:buAutoNum type="arabicPeriod"/>
            </a:pPr>
            <a:r>
              <a:rPr lang="zh-TW" altLang="en-US" b="0" i="0" dirty="0">
                <a:solidFill>
                  <a:srgbClr val="333333"/>
                </a:solidFill>
                <a:effectLst/>
                <a:latin typeface="-apple-system"/>
              </a:rPr>
              <a:t>當</a:t>
            </a:r>
            <a:r>
              <a:rPr lang="en-US" altLang="zh-TW" b="0" i="0" dirty="0">
                <a:solidFill>
                  <a:srgbClr val="333333"/>
                </a:solidFill>
                <a:effectLst/>
                <a:latin typeface="-apple-system"/>
              </a:rPr>
              <a:t>forget gate</a:t>
            </a:r>
            <a:r>
              <a:rPr lang="zh-TW" altLang="en-US" b="0" i="0" dirty="0">
                <a:solidFill>
                  <a:srgbClr val="333333"/>
                </a:solidFill>
                <a:effectLst/>
                <a:latin typeface="-apple-system"/>
              </a:rPr>
              <a:t>的輸入為</a:t>
            </a:r>
            <a:r>
              <a:rPr lang="en-US" altLang="zh-TW" b="0" i="0" dirty="0">
                <a:solidFill>
                  <a:srgbClr val="333333"/>
                </a:solidFill>
                <a:effectLst/>
                <a:latin typeface="-apple-system"/>
              </a:rPr>
              <a:t>1</a:t>
            </a:r>
            <a:r>
              <a:rPr lang="zh-TW" altLang="en-US" b="0" i="0" dirty="0">
                <a:solidFill>
                  <a:srgbClr val="333333"/>
                </a:solidFill>
                <a:effectLst/>
                <a:latin typeface="-apple-system"/>
              </a:rPr>
              <a:t>，那代表之前存在</a:t>
            </a:r>
            <a:r>
              <a:rPr lang="en-US" altLang="zh-TW" b="0" i="0" dirty="0">
                <a:solidFill>
                  <a:srgbClr val="333333"/>
                </a:solidFill>
                <a:effectLst/>
                <a:latin typeface="-apple-system"/>
              </a:rPr>
              <a:t>memory cell</a:t>
            </a:r>
            <a:r>
              <a:rPr lang="zh-TW" altLang="en-US" b="0" i="0" dirty="0">
                <a:solidFill>
                  <a:srgbClr val="333333"/>
                </a:solidFill>
                <a:effectLst/>
                <a:latin typeface="-apple-system"/>
              </a:rPr>
              <a:t>的值會保留</a:t>
            </a:r>
          </a:p>
          <a:p>
            <a:pPr algn="l">
              <a:buFont typeface="+mj-lt"/>
              <a:buAutoNum type="arabicPeriod"/>
            </a:pPr>
            <a:r>
              <a:rPr lang="zh-TW" altLang="en-US" b="0" i="0" dirty="0">
                <a:solidFill>
                  <a:srgbClr val="333333"/>
                </a:solidFill>
                <a:effectLst/>
                <a:latin typeface="-apple-system"/>
              </a:rPr>
              <a:t> 將</a:t>
            </a:r>
            <a:r>
              <a:rPr lang="en-US" altLang="zh-TW" b="0" i="0" dirty="0">
                <a:solidFill>
                  <a:srgbClr val="333333"/>
                </a:solidFill>
                <a:effectLst/>
                <a:latin typeface="-apple-system"/>
              </a:rPr>
              <a:t>5</a:t>
            </a:r>
            <a:r>
              <a:rPr lang="zh-TW" altLang="en-US" b="0" i="0" dirty="0">
                <a:solidFill>
                  <a:srgbClr val="333333"/>
                </a:solidFill>
                <a:effectLst/>
                <a:latin typeface="-apple-system"/>
              </a:rPr>
              <a:t>、</a:t>
            </a:r>
            <a:r>
              <a:rPr lang="en-US" altLang="zh-TW" b="0" i="0" dirty="0">
                <a:solidFill>
                  <a:srgbClr val="333333"/>
                </a:solidFill>
                <a:effectLst/>
                <a:latin typeface="-apple-system"/>
              </a:rPr>
              <a:t>3</a:t>
            </a:r>
            <a:r>
              <a:rPr lang="zh-TW" altLang="en-US" b="0" i="0" dirty="0">
                <a:solidFill>
                  <a:srgbClr val="333333"/>
                </a:solidFill>
                <a:effectLst/>
                <a:latin typeface="-apple-system"/>
              </a:rPr>
              <a:t>相加得到</a:t>
            </a:r>
            <a:r>
              <a:rPr lang="en-US" altLang="zh-TW" b="0" i="0" dirty="0">
                <a:solidFill>
                  <a:srgbClr val="333333"/>
                </a:solidFill>
                <a:effectLst/>
                <a:latin typeface="MJXc-TeX-math-I"/>
              </a:rPr>
              <a:t>c</a:t>
            </a:r>
            <a:r>
              <a:rPr lang="en-US" altLang="zh-TW" b="0" i="0" dirty="0">
                <a:solidFill>
                  <a:srgbClr val="333333"/>
                </a:solidFill>
                <a:effectLst/>
                <a:latin typeface="MJXc-TeX-main-R"/>
              </a:rPr>
              <a:t>′</a:t>
            </a:r>
            <a:endParaRPr lang="en-US" altLang="zh-TW" b="0" i="0" dirty="0">
              <a:solidFill>
                <a:srgbClr val="333333"/>
              </a:solidFill>
              <a:effectLst/>
              <a:latin typeface="-apple-system"/>
            </a:endParaRPr>
          </a:p>
          <a:p>
            <a:pPr marL="742950" lvl="1" indent="-285750" algn="l">
              <a:buFont typeface="+mj-lt"/>
              <a:buAutoNum type="arabicPeriod"/>
            </a:pPr>
            <a:r>
              <a:rPr lang="en-US" altLang="zh-TW" b="0" i="1" dirty="0">
                <a:solidFill>
                  <a:srgbClr val="333333"/>
                </a:solidFill>
                <a:effectLst/>
                <a:latin typeface="MJXc-TeX-math-I"/>
              </a:rPr>
              <a:t>c</a:t>
            </a:r>
            <a:r>
              <a:rPr lang="en-US" altLang="zh-TW" b="0" i="1" dirty="0">
                <a:solidFill>
                  <a:srgbClr val="333333"/>
                </a:solidFill>
                <a:effectLst/>
                <a:latin typeface="MJXc-TeX-main-R"/>
              </a:rPr>
              <a:t>′=</a:t>
            </a:r>
            <a:r>
              <a:rPr lang="en-US" altLang="zh-TW" b="0" i="1" dirty="0">
                <a:solidFill>
                  <a:srgbClr val="333333"/>
                </a:solidFill>
                <a:effectLst/>
                <a:latin typeface="MJXc-TeX-math-I"/>
              </a:rPr>
              <a:t>g</a:t>
            </a:r>
            <a:r>
              <a:rPr lang="en-US" altLang="zh-TW" b="0" i="1" dirty="0">
                <a:solidFill>
                  <a:srgbClr val="333333"/>
                </a:solidFill>
                <a:effectLst/>
                <a:latin typeface="MJXc-TeX-main-R"/>
              </a:rPr>
              <a:t>(</a:t>
            </a:r>
            <a:r>
              <a:rPr lang="en-US" altLang="zh-TW" b="0" i="1" dirty="0">
                <a:solidFill>
                  <a:srgbClr val="333333"/>
                </a:solidFill>
                <a:effectLst/>
                <a:latin typeface="MJXc-TeX-math-I"/>
              </a:rPr>
              <a:t>z</a:t>
            </a:r>
            <a:r>
              <a:rPr lang="en-US" altLang="zh-TW" b="0" i="1" dirty="0">
                <a:solidFill>
                  <a:srgbClr val="333333"/>
                </a:solidFill>
                <a:effectLst/>
                <a:latin typeface="MJXc-TeX-main-R"/>
              </a:rPr>
              <a:t>)</a:t>
            </a:r>
            <a:r>
              <a:rPr lang="en-US" altLang="zh-TW" b="0" i="1" dirty="0">
                <a:solidFill>
                  <a:srgbClr val="333333"/>
                </a:solidFill>
                <a:effectLst/>
                <a:latin typeface="MJXc-TeX-math-I"/>
              </a:rPr>
              <a:t>f</a:t>
            </a:r>
            <a:r>
              <a:rPr lang="en-US" altLang="zh-TW" b="0" i="1" dirty="0">
                <a:solidFill>
                  <a:srgbClr val="333333"/>
                </a:solidFill>
                <a:effectLst/>
                <a:latin typeface="MJXc-TeX-main-R"/>
              </a:rPr>
              <a:t>(</a:t>
            </a:r>
            <a:r>
              <a:rPr lang="en-US" altLang="zh-TW" b="0" i="1" dirty="0">
                <a:solidFill>
                  <a:srgbClr val="333333"/>
                </a:solidFill>
                <a:effectLst/>
                <a:latin typeface="MJXc-TeX-math-I"/>
              </a:rPr>
              <a:t>z</a:t>
            </a:r>
            <a:r>
              <a:rPr lang="en-US" altLang="zh-TW" b="0" i="1" baseline="-25000" dirty="0">
                <a:solidFill>
                  <a:srgbClr val="333333"/>
                </a:solidFill>
                <a:effectLst/>
                <a:latin typeface="MJXc-TeX-math-I"/>
              </a:rPr>
              <a:t>i</a:t>
            </a:r>
            <a:r>
              <a:rPr lang="en-US" altLang="zh-TW" b="0" i="1" dirty="0">
                <a:solidFill>
                  <a:srgbClr val="333333"/>
                </a:solidFill>
                <a:effectLst/>
                <a:latin typeface="MJXc-TeX-main-R"/>
              </a:rPr>
              <a:t>)+</a:t>
            </a:r>
            <a:r>
              <a:rPr lang="en-US" altLang="zh-TW" b="0" i="1" dirty="0">
                <a:solidFill>
                  <a:srgbClr val="333333"/>
                </a:solidFill>
                <a:effectLst/>
                <a:latin typeface="MJXc-TeX-math-I"/>
              </a:rPr>
              <a:t>c*f</a:t>
            </a:r>
            <a:r>
              <a:rPr lang="en-US" altLang="zh-TW" b="0" i="1" dirty="0">
                <a:solidFill>
                  <a:srgbClr val="333333"/>
                </a:solidFill>
                <a:effectLst/>
                <a:latin typeface="MJXc-TeX-main-R"/>
              </a:rPr>
              <a:t>(</a:t>
            </a:r>
            <a:r>
              <a:rPr lang="en-US" altLang="zh-TW" b="0" i="1" dirty="0" err="1">
                <a:solidFill>
                  <a:srgbClr val="333333"/>
                </a:solidFill>
                <a:effectLst/>
                <a:latin typeface="MJXc-TeX-math-I"/>
              </a:rPr>
              <a:t>z</a:t>
            </a:r>
            <a:r>
              <a:rPr lang="en-US" altLang="zh-TW" b="0" i="1" baseline="-25000" dirty="0" err="1">
                <a:solidFill>
                  <a:srgbClr val="333333"/>
                </a:solidFill>
                <a:effectLst/>
                <a:latin typeface="MJXc-TeX-math-I"/>
              </a:rPr>
              <a:t>f</a:t>
            </a:r>
            <a:r>
              <a:rPr lang="en-US" altLang="zh-TW" b="0" i="1" dirty="0">
                <a:solidFill>
                  <a:srgbClr val="333333"/>
                </a:solidFill>
                <a:effectLst/>
                <a:latin typeface="MJXc-TeX-main-R"/>
              </a:rPr>
              <a:t>)</a:t>
            </a:r>
            <a:r>
              <a:rPr lang="en-US" altLang="zh-TW" b="0" i="1" dirty="0">
                <a:solidFill>
                  <a:srgbClr val="333333"/>
                </a:solidFill>
                <a:effectLst/>
                <a:latin typeface="-apple-system"/>
              </a:rPr>
              <a:t> </a:t>
            </a:r>
          </a:p>
          <a:p>
            <a:pPr marL="742950" lvl="1" indent="-285750" algn="l">
              <a:buFont typeface="+mj-lt"/>
              <a:buAutoNum type="arabicPeriod"/>
            </a:pPr>
            <a:r>
              <a:rPr lang="zh-TW" altLang="en-US" b="0" i="0" dirty="0">
                <a:solidFill>
                  <a:srgbClr val="333333"/>
                </a:solidFill>
                <a:effectLst/>
                <a:latin typeface="-apple-system"/>
              </a:rPr>
              <a:t>當</a:t>
            </a:r>
            <a:r>
              <a:rPr lang="en-US" altLang="zh-TW" b="0" i="0" dirty="0">
                <a:solidFill>
                  <a:srgbClr val="333333"/>
                </a:solidFill>
                <a:effectLst/>
                <a:latin typeface="-apple-system"/>
              </a:rPr>
              <a:t>input gate</a:t>
            </a:r>
            <a:r>
              <a:rPr lang="zh-TW" altLang="en-US" b="0" i="0" dirty="0">
                <a:solidFill>
                  <a:srgbClr val="333333"/>
                </a:solidFill>
                <a:effectLst/>
                <a:latin typeface="-apple-system"/>
              </a:rPr>
              <a:t>的輸入為</a:t>
            </a:r>
            <a:r>
              <a:rPr lang="en-US" altLang="zh-TW" b="0" i="0" dirty="0">
                <a:solidFill>
                  <a:srgbClr val="333333"/>
                </a:solidFill>
                <a:effectLst/>
                <a:latin typeface="-apple-system"/>
              </a:rPr>
              <a:t>0</a:t>
            </a:r>
            <a:r>
              <a:rPr lang="zh-TW" altLang="en-US" b="0" i="0" dirty="0">
                <a:solidFill>
                  <a:srgbClr val="333333"/>
                </a:solidFill>
                <a:effectLst/>
                <a:latin typeface="-apple-system"/>
              </a:rPr>
              <a:t>，那就相當於沒有更新</a:t>
            </a:r>
          </a:p>
          <a:p>
            <a:pPr marL="742950" lvl="1" indent="-285750" algn="l">
              <a:buFont typeface="+mj-lt"/>
              <a:buAutoNum type="arabicPeriod"/>
            </a:pPr>
            <a:r>
              <a:rPr lang="zh-TW" altLang="en-US" b="0" i="0" dirty="0">
                <a:solidFill>
                  <a:srgbClr val="333333"/>
                </a:solidFill>
                <a:effectLst/>
                <a:latin typeface="-apple-system"/>
              </a:rPr>
              <a:t>當</a:t>
            </a:r>
            <a:r>
              <a:rPr lang="en-US" altLang="zh-TW" b="0" i="0" dirty="0">
                <a:solidFill>
                  <a:srgbClr val="333333"/>
                </a:solidFill>
                <a:effectLst/>
                <a:latin typeface="-apple-system"/>
              </a:rPr>
              <a:t>input gate</a:t>
            </a:r>
            <a:r>
              <a:rPr lang="zh-TW" altLang="en-US" b="0" i="0" dirty="0">
                <a:solidFill>
                  <a:srgbClr val="333333"/>
                </a:solidFill>
                <a:effectLst/>
                <a:latin typeface="-apple-system"/>
              </a:rPr>
              <a:t>的輸入為</a:t>
            </a:r>
            <a:r>
              <a:rPr lang="en-US" altLang="zh-TW" b="0" i="0" dirty="0">
                <a:solidFill>
                  <a:srgbClr val="333333"/>
                </a:solidFill>
                <a:effectLst/>
                <a:latin typeface="-apple-system"/>
              </a:rPr>
              <a:t>1</a:t>
            </a:r>
            <a:r>
              <a:rPr lang="zh-TW" altLang="en-US" b="0" i="0" dirty="0">
                <a:solidFill>
                  <a:srgbClr val="333333"/>
                </a:solidFill>
                <a:effectLst/>
                <a:latin typeface="-apple-system"/>
              </a:rPr>
              <a:t>，那就相當於直接把</a:t>
            </a:r>
            <a:r>
              <a:rPr lang="en-US" altLang="zh-TW" b="0" i="1" dirty="0">
                <a:solidFill>
                  <a:srgbClr val="333333"/>
                </a:solidFill>
                <a:effectLst/>
                <a:latin typeface="MJXc-TeX-math-I"/>
              </a:rPr>
              <a:t>g</a:t>
            </a:r>
            <a:r>
              <a:rPr lang="en-US" altLang="zh-TW" b="0" i="1" dirty="0">
                <a:solidFill>
                  <a:srgbClr val="333333"/>
                </a:solidFill>
                <a:effectLst/>
                <a:latin typeface="MJXc-TeX-main-R"/>
              </a:rPr>
              <a:t>(</a:t>
            </a:r>
            <a:r>
              <a:rPr lang="en-US" altLang="zh-TW" b="0" i="1" dirty="0">
                <a:solidFill>
                  <a:srgbClr val="333333"/>
                </a:solidFill>
                <a:effectLst/>
                <a:latin typeface="MJXc-TeX-math-I"/>
              </a:rPr>
              <a:t>z</a:t>
            </a:r>
            <a:r>
              <a:rPr lang="en-US" altLang="zh-TW" b="0" i="1" dirty="0">
                <a:solidFill>
                  <a:srgbClr val="333333"/>
                </a:solidFill>
                <a:effectLst/>
                <a:latin typeface="MJXc-TeX-main-R"/>
              </a:rPr>
              <a:t>)</a:t>
            </a:r>
            <a:r>
              <a:rPr lang="zh-TW" altLang="en-US" b="0" i="0" dirty="0">
                <a:solidFill>
                  <a:srgbClr val="333333"/>
                </a:solidFill>
                <a:effectLst/>
                <a:latin typeface="-apple-system"/>
              </a:rPr>
              <a:t>當做輸入</a:t>
            </a:r>
          </a:p>
          <a:p>
            <a:pPr algn="l">
              <a:buFont typeface="+mj-lt"/>
              <a:buAutoNum type="arabicPeriod"/>
            </a:pPr>
            <a:r>
              <a:rPr lang="en-US" altLang="zh-TW" b="0" i="0" dirty="0">
                <a:solidFill>
                  <a:srgbClr val="333333"/>
                </a:solidFill>
                <a:effectLst/>
                <a:latin typeface="-apple-system"/>
              </a:rPr>
              <a:t> Memory Cell </a:t>
            </a:r>
            <a:r>
              <a:rPr lang="en-US" altLang="zh-TW" b="0" i="0" dirty="0">
                <a:solidFill>
                  <a:srgbClr val="333333"/>
                </a:solidFill>
                <a:effectLst/>
                <a:latin typeface="MJXc-TeX-math-I"/>
              </a:rPr>
              <a:t>c</a:t>
            </a:r>
            <a:r>
              <a:rPr lang="zh-TW" altLang="en-US" b="0" i="0" dirty="0">
                <a:solidFill>
                  <a:srgbClr val="333333"/>
                </a:solidFill>
                <a:effectLst/>
                <a:latin typeface="-apple-system"/>
              </a:rPr>
              <a:t>變為</a:t>
            </a:r>
            <a:r>
              <a:rPr lang="en-US" altLang="zh-TW" b="0" i="0" dirty="0">
                <a:solidFill>
                  <a:srgbClr val="333333"/>
                </a:solidFill>
                <a:effectLst/>
                <a:latin typeface="MJXc-TeX-math-I"/>
              </a:rPr>
              <a:t>c</a:t>
            </a:r>
            <a:r>
              <a:rPr lang="en-US" altLang="zh-TW" b="0" i="0" dirty="0">
                <a:solidFill>
                  <a:srgbClr val="333333"/>
                </a:solidFill>
                <a:effectLst/>
                <a:latin typeface="MJXc-TeX-main-R"/>
              </a:rPr>
              <a:t>′</a:t>
            </a:r>
            <a:endParaRPr lang="en-US" altLang="zh-TW" b="0" i="0" dirty="0">
              <a:solidFill>
                <a:srgbClr val="333333"/>
              </a:solidFill>
              <a:effectLst/>
              <a:latin typeface="-apple-system"/>
            </a:endParaRPr>
          </a:p>
          <a:p>
            <a:pPr algn="l">
              <a:buFont typeface="+mj-lt"/>
              <a:buAutoNum type="arabicPeriod"/>
            </a:pPr>
            <a:r>
              <a:rPr lang="en-US" altLang="zh-TW" b="0" i="0" dirty="0">
                <a:solidFill>
                  <a:srgbClr val="333333"/>
                </a:solidFill>
                <a:effectLst/>
                <a:latin typeface="MJXc-TeX-math-I"/>
              </a:rPr>
              <a:t> c</a:t>
            </a:r>
            <a:r>
              <a:rPr lang="en-US" altLang="zh-TW" b="0" i="0" dirty="0">
                <a:solidFill>
                  <a:srgbClr val="333333"/>
                </a:solidFill>
                <a:effectLst/>
                <a:latin typeface="MJXc-TeX-main-R"/>
              </a:rPr>
              <a:t>′</a:t>
            </a:r>
            <a:r>
              <a:rPr lang="zh-TW" altLang="en-US" b="0" i="0" dirty="0">
                <a:solidFill>
                  <a:srgbClr val="333333"/>
                </a:solidFill>
                <a:effectLst/>
                <a:latin typeface="-apple-system"/>
              </a:rPr>
              <a:t>通過</a:t>
            </a:r>
            <a:r>
              <a:rPr lang="en-US" altLang="zh-TW" b="0" i="0" dirty="0">
                <a:solidFill>
                  <a:srgbClr val="333333"/>
                </a:solidFill>
                <a:effectLst/>
                <a:latin typeface="-apple-system"/>
              </a:rPr>
              <a:t>h function</a:t>
            </a:r>
            <a:r>
              <a:rPr lang="zh-TW" altLang="en-US" b="0" i="0" dirty="0">
                <a:solidFill>
                  <a:srgbClr val="333333"/>
                </a:solidFill>
                <a:effectLst/>
                <a:latin typeface="-apple-system"/>
              </a:rPr>
              <a:t>得到</a:t>
            </a:r>
            <a:r>
              <a:rPr lang="en-US" altLang="zh-TW" b="0" i="1" dirty="0">
                <a:solidFill>
                  <a:srgbClr val="333333"/>
                </a:solidFill>
                <a:effectLst/>
                <a:latin typeface="MJXc-TeX-math-I"/>
              </a:rPr>
              <a:t>h</a:t>
            </a:r>
            <a:r>
              <a:rPr lang="en-US" altLang="zh-TW" b="0" i="1" dirty="0">
                <a:solidFill>
                  <a:srgbClr val="333333"/>
                </a:solidFill>
                <a:effectLst/>
                <a:latin typeface="MJXc-TeX-main-R"/>
              </a:rPr>
              <a:t>(</a:t>
            </a:r>
            <a:r>
              <a:rPr lang="en-US" altLang="zh-TW" b="0" i="1" dirty="0">
                <a:solidFill>
                  <a:srgbClr val="333333"/>
                </a:solidFill>
                <a:effectLst/>
                <a:latin typeface="MJXc-TeX-math-I"/>
              </a:rPr>
              <a:t>c</a:t>
            </a:r>
            <a:r>
              <a:rPr lang="en-US" altLang="zh-TW" b="0" i="1" dirty="0">
                <a:solidFill>
                  <a:srgbClr val="333333"/>
                </a:solidFill>
                <a:effectLst/>
                <a:latin typeface="MJXc-TeX-main-R"/>
              </a:rPr>
              <a:t>′)</a:t>
            </a:r>
            <a:endParaRPr lang="en-US" altLang="zh-TW" b="0" i="1" dirty="0">
              <a:solidFill>
                <a:srgbClr val="333333"/>
              </a:solidFill>
              <a:effectLst/>
              <a:latin typeface="-apple-system"/>
            </a:endParaRPr>
          </a:p>
          <a:p>
            <a:pPr algn="l">
              <a:buFont typeface="+mj-lt"/>
              <a:buAutoNum type="arabicPeriod"/>
            </a:pPr>
            <a:r>
              <a:rPr lang="en-US" altLang="zh-TW" b="0" i="0" dirty="0">
                <a:solidFill>
                  <a:srgbClr val="333333"/>
                </a:solidFill>
                <a:effectLst/>
                <a:latin typeface="MJXc-TeX-math-I"/>
              </a:rPr>
              <a:t> </a:t>
            </a:r>
            <a:r>
              <a:rPr lang="en-US" altLang="zh-TW" b="0" i="1" dirty="0">
                <a:solidFill>
                  <a:srgbClr val="333333"/>
                </a:solidFill>
                <a:effectLst/>
                <a:latin typeface="MJXc-TeX-math-I"/>
              </a:rPr>
              <a:t>z</a:t>
            </a:r>
            <a:r>
              <a:rPr lang="en-US" altLang="zh-TW" b="0" i="1" baseline="-25000" dirty="0">
                <a:solidFill>
                  <a:srgbClr val="333333"/>
                </a:solidFill>
                <a:effectLst/>
                <a:latin typeface="MJXc-TeX-math-I"/>
              </a:rPr>
              <a:t>o</a:t>
            </a:r>
            <a:r>
              <a:rPr lang="zh-TW" altLang="en-US" b="0" i="0" dirty="0">
                <a:solidFill>
                  <a:srgbClr val="333333"/>
                </a:solidFill>
                <a:effectLst/>
                <a:latin typeface="-apple-system"/>
              </a:rPr>
              <a:t>通過</a:t>
            </a:r>
            <a:r>
              <a:rPr lang="en-US" altLang="zh-TW" b="0" i="0" dirty="0">
                <a:solidFill>
                  <a:srgbClr val="333333"/>
                </a:solidFill>
                <a:effectLst/>
                <a:latin typeface="-apple-system"/>
              </a:rPr>
              <a:t>sigmoid function</a:t>
            </a:r>
            <a:r>
              <a:rPr lang="zh-TW" altLang="en-US" b="0" i="0" dirty="0">
                <a:solidFill>
                  <a:srgbClr val="333333"/>
                </a:solidFill>
                <a:effectLst/>
                <a:latin typeface="-apple-system"/>
              </a:rPr>
              <a:t>得到</a:t>
            </a:r>
            <a:r>
              <a:rPr lang="en-US" altLang="zh-TW" b="0" i="1" dirty="0">
                <a:solidFill>
                  <a:srgbClr val="333333"/>
                </a:solidFill>
                <a:effectLst/>
                <a:latin typeface="MJXc-TeX-math-I"/>
              </a:rPr>
              <a:t>f</a:t>
            </a:r>
            <a:r>
              <a:rPr lang="en-US" altLang="zh-TW" b="0" i="1" dirty="0">
                <a:solidFill>
                  <a:srgbClr val="333333"/>
                </a:solidFill>
                <a:effectLst/>
                <a:latin typeface="MJXc-TeX-main-R"/>
              </a:rPr>
              <a:t>(</a:t>
            </a:r>
            <a:r>
              <a:rPr lang="en-US" altLang="zh-TW" b="0" i="1" dirty="0">
                <a:solidFill>
                  <a:srgbClr val="333333"/>
                </a:solidFill>
                <a:effectLst/>
                <a:latin typeface="MJXc-TeX-math-I"/>
              </a:rPr>
              <a:t>z</a:t>
            </a:r>
            <a:r>
              <a:rPr lang="en-US" altLang="zh-TW" b="0" i="1" baseline="-25000" dirty="0">
                <a:solidFill>
                  <a:srgbClr val="333333"/>
                </a:solidFill>
                <a:effectLst/>
                <a:latin typeface="MJXc-TeX-math-I"/>
              </a:rPr>
              <a:t>o</a:t>
            </a:r>
            <a:r>
              <a:rPr lang="en-US" altLang="zh-TW" b="0" i="1" dirty="0">
                <a:solidFill>
                  <a:srgbClr val="333333"/>
                </a:solidFill>
                <a:effectLst/>
                <a:latin typeface="MJXc-TeX-main-R"/>
              </a:rPr>
              <a:t>)</a:t>
            </a:r>
            <a:r>
              <a:rPr lang="en-US" altLang="zh-TW" b="0" i="0" dirty="0">
                <a:solidFill>
                  <a:srgbClr val="333333"/>
                </a:solidFill>
                <a:effectLst/>
                <a:latin typeface="-apple-system"/>
              </a:rPr>
              <a:t> </a:t>
            </a:r>
          </a:p>
          <a:p>
            <a:pPr lvl="1">
              <a:buFont typeface="+mj-lt"/>
              <a:buAutoNum type="arabicPeriod"/>
            </a:pPr>
            <a:r>
              <a:rPr lang="zh-TW" altLang="en-US" b="0" i="0" dirty="0">
                <a:solidFill>
                  <a:srgbClr val="333333"/>
                </a:solidFill>
                <a:effectLst/>
                <a:latin typeface="-apple-system"/>
              </a:rPr>
              <a:t>當</a:t>
            </a:r>
            <a:r>
              <a:rPr lang="en-US" altLang="zh-TW" b="0" i="0" dirty="0">
                <a:solidFill>
                  <a:srgbClr val="333333"/>
                </a:solidFill>
                <a:effectLst/>
                <a:latin typeface="-apple-system"/>
              </a:rPr>
              <a:t>output gate</a:t>
            </a:r>
            <a:r>
              <a:rPr lang="zh-TW" altLang="en-US" b="0" i="0" dirty="0">
                <a:solidFill>
                  <a:srgbClr val="333333"/>
                </a:solidFill>
                <a:effectLst/>
                <a:latin typeface="-apple-system"/>
              </a:rPr>
              <a:t>的輸入為</a:t>
            </a:r>
            <a:r>
              <a:rPr lang="en-US" altLang="zh-TW" b="0" i="0" dirty="0">
                <a:solidFill>
                  <a:srgbClr val="333333"/>
                </a:solidFill>
                <a:effectLst/>
                <a:latin typeface="-apple-system"/>
              </a:rPr>
              <a:t>1</a:t>
            </a:r>
            <a:r>
              <a:rPr lang="zh-TW" altLang="en-US" b="0" i="0" dirty="0">
                <a:solidFill>
                  <a:srgbClr val="333333"/>
                </a:solidFill>
                <a:effectLst/>
                <a:latin typeface="-apple-system"/>
              </a:rPr>
              <a:t>，代表可以通過</a:t>
            </a:r>
            <a:endParaRPr lang="en-US" altLang="zh-TW" b="0" i="0" dirty="0">
              <a:solidFill>
                <a:srgbClr val="333333"/>
              </a:solidFill>
              <a:effectLst/>
              <a:latin typeface="-apple-system"/>
            </a:endParaRPr>
          </a:p>
          <a:p>
            <a:pPr lvl="1">
              <a:buFont typeface="+mj-lt"/>
              <a:buAutoNum type="arabicPeriod"/>
            </a:pPr>
            <a:r>
              <a:rPr lang="zh-TW" altLang="en-US" b="0" i="0" dirty="0">
                <a:solidFill>
                  <a:srgbClr val="333333"/>
                </a:solidFill>
                <a:effectLst/>
                <a:latin typeface="-apple-system"/>
              </a:rPr>
              <a:t>當</a:t>
            </a:r>
            <a:r>
              <a:rPr lang="en-US" altLang="zh-TW" b="0" i="0" dirty="0">
                <a:solidFill>
                  <a:srgbClr val="333333"/>
                </a:solidFill>
                <a:effectLst/>
                <a:latin typeface="-apple-system"/>
              </a:rPr>
              <a:t>output gate</a:t>
            </a:r>
            <a:r>
              <a:rPr lang="zh-TW" altLang="en-US" b="0" i="0" dirty="0">
                <a:solidFill>
                  <a:srgbClr val="333333"/>
                </a:solidFill>
                <a:effectLst/>
                <a:latin typeface="-apple-system"/>
              </a:rPr>
              <a:t>的輸入為</a:t>
            </a:r>
            <a:r>
              <a:rPr lang="en-US" altLang="zh-TW" b="0" i="0" dirty="0">
                <a:solidFill>
                  <a:srgbClr val="333333"/>
                </a:solidFill>
                <a:effectLst/>
                <a:latin typeface="-apple-system"/>
              </a:rPr>
              <a:t>0</a:t>
            </a:r>
            <a:r>
              <a:rPr lang="zh-TW" altLang="en-US" b="0" i="0" dirty="0">
                <a:solidFill>
                  <a:srgbClr val="333333"/>
                </a:solidFill>
                <a:effectLst/>
                <a:latin typeface="-apple-system"/>
              </a:rPr>
              <a:t>，則</a:t>
            </a:r>
            <a:r>
              <a:rPr lang="en-US" altLang="zh-TW" b="0" i="1" dirty="0">
                <a:solidFill>
                  <a:srgbClr val="333333"/>
                </a:solidFill>
                <a:effectLst/>
                <a:latin typeface="MJXc-TeX-math-I"/>
              </a:rPr>
              <a:t>f</a:t>
            </a:r>
            <a:r>
              <a:rPr lang="en-US" altLang="zh-TW" b="0" i="1" dirty="0">
                <a:solidFill>
                  <a:srgbClr val="333333"/>
                </a:solidFill>
                <a:effectLst/>
                <a:latin typeface="MJXc-TeX-main-R"/>
              </a:rPr>
              <a:t>(</a:t>
            </a:r>
            <a:r>
              <a:rPr lang="en-US" altLang="zh-TW" b="0" i="1" dirty="0">
                <a:solidFill>
                  <a:srgbClr val="333333"/>
                </a:solidFill>
                <a:effectLst/>
                <a:latin typeface="MJXc-TeX-math-I"/>
              </a:rPr>
              <a:t>z</a:t>
            </a:r>
            <a:r>
              <a:rPr lang="en-US" altLang="zh-TW" b="0" i="1" baseline="-25000" dirty="0">
                <a:solidFill>
                  <a:srgbClr val="333333"/>
                </a:solidFill>
                <a:effectLst/>
                <a:latin typeface="MJXc-TeX-math-I"/>
              </a:rPr>
              <a:t>o</a:t>
            </a:r>
            <a:r>
              <a:rPr lang="en-US" altLang="zh-TW" b="0" i="1" dirty="0">
                <a:solidFill>
                  <a:srgbClr val="333333"/>
                </a:solidFill>
                <a:effectLst/>
                <a:latin typeface="MJXc-TeX-main-R"/>
              </a:rPr>
              <a:t>)</a:t>
            </a:r>
            <a:r>
              <a:rPr lang="zh-TW" altLang="en-US" b="0" i="0" dirty="0">
                <a:solidFill>
                  <a:srgbClr val="333333"/>
                </a:solidFill>
                <a:effectLst/>
                <a:latin typeface="-apple-system"/>
              </a:rPr>
              <a:t>為</a:t>
            </a:r>
            <a:r>
              <a:rPr lang="en-US" altLang="zh-TW" b="0" i="0" dirty="0">
                <a:solidFill>
                  <a:srgbClr val="333333"/>
                </a:solidFill>
                <a:effectLst/>
                <a:latin typeface="-apple-system"/>
              </a:rPr>
              <a:t>0</a:t>
            </a:r>
            <a:r>
              <a:rPr lang="zh-TW" altLang="en-US" b="0" i="0" dirty="0">
                <a:solidFill>
                  <a:srgbClr val="333333"/>
                </a:solidFill>
                <a:effectLst/>
                <a:latin typeface="-apple-system"/>
              </a:rPr>
              <a:t>，代表無法通過</a:t>
            </a:r>
          </a:p>
          <a:p>
            <a:pPr algn="l">
              <a:buFont typeface="+mj-lt"/>
              <a:buAutoNum type="arabicPeriod"/>
            </a:pPr>
            <a:r>
              <a:rPr lang="en-US" altLang="zh-TW" b="0" i="0" dirty="0">
                <a:solidFill>
                  <a:srgbClr val="333333"/>
                </a:solidFill>
                <a:effectLst/>
                <a:latin typeface="-apple-system"/>
              </a:rPr>
              <a:t> 9</a:t>
            </a:r>
            <a:r>
              <a:rPr lang="zh-TW" altLang="en-US" b="0" i="0" dirty="0">
                <a:solidFill>
                  <a:srgbClr val="333333"/>
                </a:solidFill>
                <a:effectLst/>
                <a:latin typeface="-apple-system"/>
              </a:rPr>
              <a:t>、</a:t>
            </a:r>
            <a:r>
              <a:rPr lang="en-US" altLang="zh-TW" b="0" i="0" dirty="0">
                <a:solidFill>
                  <a:srgbClr val="333333"/>
                </a:solidFill>
                <a:effectLst/>
                <a:latin typeface="-apple-system"/>
              </a:rPr>
              <a:t>10</a:t>
            </a:r>
            <a:r>
              <a:rPr lang="zh-TW" altLang="en-US" b="0" i="0" dirty="0">
                <a:solidFill>
                  <a:srgbClr val="333333"/>
                </a:solidFill>
                <a:effectLst/>
                <a:latin typeface="-apple-system"/>
              </a:rPr>
              <a:t>相乘得到</a:t>
            </a:r>
            <a:r>
              <a:rPr lang="en-US" altLang="zh-TW" b="0" i="1" dirty="0">
                <a:solidFill>
                  <a:srgbClr val="333333"/>
                </a:solidFill>
                <a:effectLst/>
                <a:latin typeface="MJXc-TeX-math-I"/>
              </a:rPr>
              <a:t>a</a:t>
            </a:r>
            <a:r>
              <a:rPr lang="en-US" altLang="zh-TW" b="0" i="1" dirty="0">
                <a:solidFill>
                  <a:srgbClr val="333333"/>
                </a:solidFill>
                <a:effectLst/>
                <a:latin typeface="MJXc-TeX-main-R"/>
              </a:rPr>
              <a:t>=</a:t>
            </a:r>
            <a:r>
              <a:rPr lang="en-US" altLang="zh-TW" b="0" i="1" dirty="0">
                <a:solidFill>
                  <a:srgbClr val="333333"/>
                </a:solidFill>
                <a:effectLst/>
                <a:latin typeface="MJXc-TeX-math-I"/>
              </a:rPr>
              <a:t>h</a:t>
            </a:r>
            <a:r>
              <a:rPr lang="en-US" altLang="zh-TW" b="0" i="1" dirty="0">
                <a:solidFill>
                  <a:srgbClr val="333333"/>
                </a:solidFill>
                <a:effectLst/>
                <a:latin typeface="MJXc-TeX-main-R"/>
              </a:rPr>
              <a:t>(</a:t>
            </a:r>
            <a:r>
              <a:rPr lang="en-US" altLang="zh-TW" b="0" i="1" dirty="0">
                <a:solidFill>
                  <a:srgbClr val="333333"/>
                </a:solidFill>
                <a:effectLst/>
                <a:latin typeface="MJXc-TeX-math-I"/>
              </a:rPr>
              <a:t>c</a:t>
            </a:r>
            <a:r>
              <a:rPr lang="en-US" altLang="zh-TW" b="0" i="1" dirty="0">
                <a:solidFill>
                  <a:srgbClr val="333333"/>
                </a:solidFill>
                <a:effectLst/>
                <a:latin typeface="MJXc-TeX-main-R"/>
              </a:rPr>
              <a:t>′)</a:t>
            </a:r>
            <a:r>
              <a:rPr lang="en-US" altLang="zh-TW" b="0" i="1" dirty="0">
                <a:solidFill>
                  <a:srgbClr val="333333"/>
                </a:solidFill>
                <a:effectLst/>
                <a:latin typeface="MJXc-TeX-math-I"/>
              </a:rPr>
              <a:t>f</a:t>
            </a:r>
            <a:r>
              <a:rPr lang="en-US" altLang="zh-TW" b="0" i="1" dirty="0">
                <a:solidFill>
                  <a:srgbClr val="333333"/>
                </a:solidFill>
                <a:effectLst/>
                <a:latin typeface="MJXc-TeX-main-R"/>
              </a:rPr>
              <a:t>(</a:t>
            </a:r>
            <a:r>
              <a:rPr lang="en-US" altLang="zh-TW" b="0" i="1" dirty="0">
                <a:solidFill>
                  <a:srgbClr val="333333"/>
                </a:solidFill>
                <a:effectLst/>
                <a:latin typeface="MJXc-TeX-math-I"/>
              </a:rPr>
              <a:t>z</a:t>
            </a:r>
            <a:r>
              <a:rPr lang="en-US" altLang="zh-TW" b="0" i="1" baseline="-25000" dirty="0">
                <a:solidFill>
                  <a:srgbClr val="333333"/>
                </a:solidFill>
                <a:effectLst/>
                <a:latin typeface="MJXc-TeX-math-I"/>
              </a:rPr>
              <a:t>o</a:t>
            </a:r>
            <a:r>
              <a:rPr lang="en-US" altLang="zh-TW" b="0" i="1" dirty="0">
                <a:solidFill>
                  <a:srgbClr val="333333"/>
                </a:solidFill>
                <a:effectLst/>
                <a:latin typeface="MJXc-TeX-main-R"/>
              </a:rPr>
              <a:t>)</a:t>
            </a:r>
            <a:endParaRPr lang="en-US" altLang="zh-TW" b="0" i="1" dirty="0">
              <a:solidFill>
                <a:srgbClr val="333333"/>
              </a:solidFill>
              <a:effectLst/>
              <a:latin typeface="-apple-system"/>
            </a:endParaRPr>
          </a:p>
        </p:txBody>
      </p:sp>
      <p:pic>
        <p:nvPicPr>
          <p:cNvPr id="6" name="圖片 5">
            <a:extLst>
              <a:ext uri="{FF2B5EF4-FFF2-40B4-BE49-F238E27FC236}">
                <a16:creationId xmlns:a16="http://schemas.microsoft.com/office/drawing/2014/main" id="{477FEC0D-3C5A-4E80-8937-7536DC352E06}"/>
              </a:ext>
            </a:extLst>
          </p:cNvPr>
          <p:cNvPicPr>
            <a:picLocks noChangeAspect="1"/>
          </p:cNvPicPr>
          <p:nvPr/>
        </p:nvPicPr>
        <p:blipFill>
          <a:blip r:embed="rId2"/>
          <a:stretch>
            <a:fillRect/>
          </a:stretch>
        </p:blipFill>
        <p:spPr>
          <a:xfrm>
            <a:off x="492049" y="614969"/>
            <a:ext cx="4626550" cy="5628062"/>
          </a:xfrm>
          <a:prstGeom prst="rect">
            <a:avLst/>
          </a:prstGeom>
          <a:ln>
            <a:solidFill>
              <a:schemeClr val="tx1"/>
            </a:solidFill>
          </a:ln>
        </p:spPr>
      </p:pic>
    </p:spTree>
    <p:extLst>
      <p:ext uri="{BB962C8B-B14F-4D97-AF65-F5344CB8AC3E}">
        <p14:creationId xmlns:p14="http://schemas.microsoft.com/office/powerpoint/2010/main" val="941505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A2D5C34F-343A-4386-9B5F-7C9EDA947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942" y="653418"/>
            <a:ext cx="7404359" cy="55511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A63C0915-9E3C-46E0-8094-B360440F1CC6}"/>
              </a:ext>
            </a:extLst>
          </p:cNvPr>
          <p:cNvSpPr txBox="1"/>
          <p:nvPr/>
        </p:nvSpPr>
        <p:spPr>
          <a:xfrm>
            <a:off x="7945670" y="1110173"/>
            <a:ext cx="3790100" cy="3170099"/>
          </a:xfrm>
          <a:prstGeom prst="rect">
            <a:avLst/>
          </a:prstGeom>
          <a:noFill/>
          <a:ln>
            <a:solidFill>
              <a:schemeClr val="tx1"/>
            </a:solidFill>
          </a:ln>
        </p:spPr>
        <p:txBody>
          <a:bodyPr wrap="square">
            <a:spAutoFit/>
          </a:bodyPr>
          <a:lstStyle/>
          <a:p>
            <a:pPr algn="l">
              <a:buFont typeface="Arial" panose="020B0604020202020204" pitchFamily="34" charset="0"/>
              <a:buChar char="•"/>
            </a:pPr>
            <a:r>
              <a:rPr lang="en-US" altLang="zh-TW" sz="2000" b="0" i="0" dirty="0">
                <a:solidFill>
                  <a:srgbClr val="333333"/>
                </a:solidFill>
                <a:effectLst/>
                <a:latin typeface="-apple-system"/>
              </a:rPr>
              <a:t>input</a:t>
            </a:r>
            <a:r>
              <a:rPr lang="zh-TW" altLang="en-US" sz="2000" b="0" i="0" dirty="0">
                <a:solidFill>
                  <a:srgbClr val="333333"/>
                </a:solidFill>
                <a:effectLst/>
                <a:latin typeface="-apple-system"/>
              </a:rPr>
              <a:t>為三維的</a:t>
            </a:r>
            <a:r>
              <a:rPr lang="en-US" altLang="zh-TW" sz="2000" b="0" i="0" dirty="0">
                <a:solidFill>
                  <a:srgbClr val="333333"/>
                </a:solidFill>
                <a:effectLst/>
                <a:latin typeface="-apple-system"/>
              </a:rPr>
              <a:t>vector</a:t>
            </a:r>
          </a:p>
          <a:p>
            <a:pPr algn="l">
              <a:buFont typeface="Arial" panose="020B0604020202020204" pitchFamily="34" charset="0"/>
              <a:buChar char="•"/>
            </a:pPr>
            <a:r>
              <a:rPr lang="en-US" altLang="zh-TW" sz="2000" b="0" i="0" dirty="0">
                <a:solidFill>
                  <a:srgbClr val="333333"/>
                </a:solidFill>
                <a:effectLst/>
                <a:latin typeface="-apple-system"/>
              </a:rPr>
              <a:t>output</a:t>
            </a:r>
            <a:r>
              <a:rPr lang="zh-TW" altLang="en-US" sz="2000" b="0" i="0" dirty="0">
                <a:solidFill>
                  <a:srgbClr val="333333"/>
                </a:solidFill>
                <a:effectLst/>
                <a:latin typeface="-apple-system"/>
              </a:rPr>
              <a:t>為一維的</a:t>
            </a:r>
            <a:r>
              <a:rPr lang="en-US" altLang="zh-TW" sz="2000" b="0" i="0" dirty="0">
                <a:solidFill>
                  <a:srgbClr val="333333"/>
                </a:solidFill>
                <a:effectLst/>
                <a:latin typeface="-apple-system"/>
              </a:rPr>
              <a:t>vector</a:t>
            </a:r>
          </a:p>
          <a:p>
            <a:pPr algn="l">
              <a:buFont typeface="Arial" panose="020B0604020202020204" pitchFamily="34" charset="0"/>
              <a:buChar char="•"/>
            </a:pPr>
            <a:r>
              <a:rPr lang="zh-TW" altLang="en-US" sz="2000" b="0" i="0" dirty="0">
                <a:solidFill>
                  <a:srgbClr val="333333"/>
                </a:solidFill>
                <a:effectLst/>
                <a:latin typeface="-apple-system"/>
              </a:rPr>
              <a:t>神經網路中只有一個</a:t>
            </a:r>
            <a:r>
              <a:rPr lang="en-US" altLang="zh-TW" sz="2000" b="0" i="0" dirty="0">
                <a:solidFill>
                  <a:srgbClr val="333333"/>
                </a:solidFill>
                <a:effectLst/>
                <a:latin typeface="-apple-system"/>
              </a:rPr>
              <a:t>LSTM</a:t>
            </a:r>
            <a:r>
              <a:rPr lang="zh-TW" altLang="en-US" sz="2000" b="0" i="0" dirty="0">
                <a:solidFill>
                  <a:srgbClr val="333333"/>
                </a:solidFill>
                <a:effectLst/>
                <a:latin typeface="-apple-system"/>
              </a:rPr>
              <a:t>的</a:t>
            </a:r>
            <a:r>
              <a:rPr lang="en-US" altLang="zh-TW" sz="2000" b="0" i="0" dirty="0">
                <a:solidFill>
                  <a:srgbClr val="333333"/>
                </a:solidFill>
                <a:effectLst/>
                <a:latin typeface="-apple-system"/>
              </a:rPr>
              <a:t>cell</a:t>
            </a:r>
          </a:p>
          <a:p>
            <a:pPr algn="l">
              <a:buFont typeface="Arial" panose="020B0604020202020204" pitchFamily="34" charset="0"/>
              <a:buChar char="•"/>
            </a:pPr>
            <a:r>
              <a:rPr lang="en-US" altLang="zh-TW" sz="2000" b="0" i="0" dirty="0">
                <a:solidFill>
                  <a:srgbClr val="333333"/>
                </a:solidFill>
                <a:effectLst/>
                <a:latin typeface="MJXc-TeX-math-I"/>
              </a:rPr>
              <a:t>x</a:t>
            </a:r>
            <a:r>
              <a:rPr lang="en-US" altLang="zh-TW" sz="2000" b="0" i="0" baseline="-25000" dirty="0">
                <a:solidFill>
                  <a:srgbClr val="333333"/>
                </a:solidFill>
                <a:effectLst/>
                <a:latin typeface="MJXc-TeX-main-R"/>
              </a:rPr>
              <a:t>2</a:t>
            </a:r>
            <a:r>
              <a:rPr lang="zh-TW" altLang="en-US" sz="2000" b="0" i="0" dirty="0">
                <a:solidFill>
                  <a:srgbClr val="333333"/>
                </a:solidFill>
                <a:effectLst/>
                <a:latin typeface="-apple-system"/>
              </a:rPr>
              <a:t>為</a:t>
            </a:r>
            <a:r>
              <a:rPr lang="en-US" altLang="zh-TW" sz="2000" b="0" i="0" dirty="0">
                <a:solidFill>
                  <a:srgbClr val="333333"/>
                </a:solidFill>
                <a:effectLst/>
                <a:latin typeface="-apple-system"/>
              </a:rPr>
              <a:t>1</a:t>
            </a:r>
            <a:r>
              <a:rPr lang="zh-TW" altLang="en-US" sz="2000" b="0" i="0" dirty="0">
                <a:solidFill>
                  <a:srgbClr val="333333"/>
                </a:solidFill>
                <a:effectLst/>
                <a:latin typeface="-apple-system"/>
              </a:rPr>
              <a:t>的時候，</a:t>
            </a:r>
            <a:r>
              <a:rPr lang="en-US" altLang="zh-TW" sz="2000" b="0" i="0" dirty="0">
                <a:solidFill>
                  <a:srgbClr val="333333"/>
                </a:solidFill>
                <a:effectLst/>
                <a:latin typeface="MJXc-TeX-math-I"/>
              </a:rPr>
              <a:t>x</a:t>
            </a:r>
            <a:r>
              <a:rPr lang="en-US" altLang="zh-TW" sz="2000" b="0" i="0" baseline="-25000" dirty="0">
                <a:solidFill>
                  <a:srgbClr val="333333"/>
                </a:solidFill>
                <a:effectLst/>
                <a:latin typeface="MJXc-TeX-main-R"/>
              </a:rPr>
              <a:t>1</a:t>
            </a:r>
            <a:r>
              <a:rPr lang="zh-TW" altLang="en-US" sz="2000" b="0" i="0" dirty="0">
                <a:solidFill>
                  <a:srgbClr val="333333"/>
                </a:solidFill>
                <a:effectLst/>
                <a:latin typeface="-apple-system"/>
              </a:rPr>
              <a:t>的值就會被寫入</a:t>
            </a:r>
            <a:r>
              <a:rPr lang="en-US" altLang="zh-TW" sz="2000" b="0" i="0" dirty="0">
                <a:solidFill>
                  <a:srgbClr val="333333"/>
                </a:solidFill>
                <a:effectLst/>
                <a:latin typeface="-apple-system"/>
              </a:rPr>
              <a:t>memory</a:t>
            </a:r>
          </a:p>
          <a:p>
            <a:pPr algn="l">
              <a:buFont typeface="Arial" panose="020B0604020202020204" pitchFamily="34" charset="0"/>
              <a:buChar char="•"/>
            </a:pPr>
            <a:r>
              <a:rPr lang="en-US" altLang="zh-TW" sz="2000" b="0" i="0" dirty="0">
                <a:solidFill>
                  <a:srgbClr val="333333"/>
                </a:solidFill>
                <a:effectLst/>
                <a:latin typeface="MJXc-TeX-math-I"/>
              </a:rPr>
              <a:t>x</a:t>
            </a:r>
            <a:r>
              <a:rPr lang="en-US" altLang="zh-TW" sz="2000" b="0" i="0" baseline="-25000" dirty="0">
                <a:solidFill>
                  <a:srgbClr val="333333"/>
                </a:solidFill>
                <a:effectLst/>
                <a:latin typeface="MJXc-TeX-main-R"/>
              </a:rPr>
              <a:t>2</a:t>
            </a:r>
            <a:r>
              <a:rPr lang="zh-TW" altLang="en-US" sz="2000" b="0" i="0" dirty="0">
                <a:solidFill>
                  <a:srgbClr val="333333"/>
                </a:solidFill>
                <a:effectLst/>
                <a:latin typeface="-apple-system"/>
              </a:rPr>
              <a:t>為</a:t>
            </a:r>
            <a:r>
              <a:rPr lang="en-US" altLang="zh-TW" sz="2000" b="0" i="0" dirty="0">
                <a:solidFill>
                  <a:srgbClr val="333333"/>
                </a:solidFill>
                <a:effectLst/>
                <a:latin typeface="-apple-system"/>
              </a:rPr>
              <a:t>-1</a:t>
            </a:r>
            <a:r>
              <a:rPr lang="zh-TW" altLang="en-US" sz="2000" b="0" i="0" dirty="0">
                <a:solidFill>
                  <a:srgbClr val="333333"/>
                </a:solidFill>
                <a:effectLst/>
                <a:latin typeface="-apple-system"/>
              </a:rPr>
              <a:t>的時候，</a:t>
            </a:r>
            <a:r>
              <a:rPr lang="en-US" altLang="zh-TW" sz="2000" b="0" i="0" dirty="0">
                <a:solidFill>
                  <a:srgbClr val="333333"/>
                </a:solidFill>
                <a:effectLst/>
                <a:latin typeface="MJXc-TeX-math-I"/>
              </a:rPr>
              <a:t>x</a:t>
            </a:r>
            <a:r>
              <a:rPr lang="en-US" altLang="zh-TW" sz="2000" b="0" i="0" baseline="-25000" dirty="0">
                <a:solidFill>
                  <a:srgbClr val="333333"/>
                </a:solidFill>
                <a:effectLst/>
                <a:latin typeface="MJXc-TeX-main-R"/>
              </a:rPr>
              <a:t>1</a:t>
            </a:r>
            <a:r>
              <a:rPr lang="zh-TW" altLang="en-US" sz="2000" b="0" i="0" dirty="0">
                <a:solidFill>
                  <a:srgbClr val="333333"/>
                </a:solidFill>
                <a:effectLst/>
                <a:latin typeface="-apple-system"/>
              </a:rPr>
              <a:t>的值就會被重置</a:t>
            </a:r>
          </a:p>
          <a:p>
            <a:pPr algn="l">
              <a:buFont typeface="Arial" panose="020B0604020202020204" pitchFamily="34" charset="0"/>
              <a:buChar char="•"/>
            </a:pPr>
            <a:r>
              <a:rPr lang="en-US" altLang="zh-TW" sz="2000" b="0" i="0" dirty="0">
                <a:solidFill>
                  <a:srgbClr val="333333"/>
                </a:solidFill>
                <a:effectLst/>
                <a:latin typeface="MJXc-TeX-math-I"/>
              </a:rPr>
              <a:t>x</a:t>
            </a:r>
            <a:r>
              <a:rPr lang="en-US" altLang="zh-TW" sz="2000" b="0" i="0" baseline="-25000" dirty="0">
                <a:solidFill>
                  <a:srgbClr val="333333"/>
                </a:solidFill>
                <a:effectLst/>
                <a:latin typeface="MJXc-TeX-main-R"/>
              </a:rPr>
              <a:t>3</a:t>
            </a:r>
            <a:r>
              <a:rPr lang="zh-TW" altLang="en-US" sz="2000" b="0" i="0" dirty="0">
                <a:solidFill>
                  <a:srgbClr val="333333"/>
                </a:solidFill>
                <a:effectLst/>
                <a:latin typeface="-apple-system"/>
              </a:rPr>
              <a:t>為</a:t>
            </a:r>
            <a:r>
              <a:rPr lang="en-US" altLang="zh-TW" sz="2000" b="0" i="0" dirty="0">
                <a:solidFill>
                  <a:srgbClr val="333333"/>
                </a:solidFill>
                <a:effectLst/>
                <a:latin typeface="-apple-system"/>
              </a:rPr>
              <a:t>1</a:t>
            </a:r>
            <a:r>
              <a:rPr lang="zh-TW" altLang="en-US" sz="2000" b="0" i="0" dirty="0">
                <a:solidFill>
                  <a:srgbClr val="333333"/>
                </a:solidFill>
                <a:effectLst/>
                <a:latin typeface="-apple-system"/>
              </a:rPr>
              <a:t>的時候，</a:t>
            </a:r>
            <a:r>
              <a:rPr lang="en-US" altLang="zh-TW" sz="2000" b="0" i="0" dirty="0">
                <a:solidFill>
                  <a:srgbClr val="333333"/>
                </a:solidFill>
                <a:effectLst/>
                <a:latin typeface="-apple-system"/>
              </a:rPr>
              <a:t>output gate</a:t>
            </a:r>
            <a:r>
              <a:rPr lang="zh-TW" altLang="en-US" sz="2000" b="0" i="0" dirty="0">
                <a:solidFill>
                  <a:srgbClr val="333333"/>
                </a:solidFill>
                <a:effectLst/>
                <a:latin typeface="-apple-system"/>
              </a:rPr>
              <a:t>才會開啟，才看的到</a:t>
            </a:r>
            <a:r>
              <a:rPr lang="en-US" altLang="zh-TW" sz="2000" b="0" i="0" dirty="0">
                <a:solidFill>
                  <a:srgbClr val="333333"/>
                </a:solidFill>
                <a:effectLst/>
                <a:latin typeface="-apple-system"/>
              </a:rPr>
              <a:t>output</a:t>
            </a:r>
          </a:p>
          <a:p>
            <a:pPr algn="l">
              <a:buFont typeface="Arial" panose="020B0604020202020204" pitchFamily="34" charset="0"/>
              <a:buChar char="•"/>
            </a:pPr>
            <a:r>
              <a:rPr lang="zh-TW" altLang="en-US" sz="2000" b="0" i="0" dirty="0">
                <a:solidFill>
                  <a:srgbClr val="333333"/>
                </a:solidFill>
                <a:effectLst/>
                <a:latin typeface="-apple-system"/>
              </a:rPr>
              <a:t>初始</a:t>
            </a:r>
            <a:r>
              <a:rPr lang="en-US" altLang="zh-TW" sz="2000" b="0" i="0" dirty="0">
                <a:solidFill>
                  <a:srgbClr val="333333"/>
                </a:solidFill>
                <a:effectLst/>
                <a:latin typeface="-apple-system"/>
              </a:rPr>
              <a:t>memory</a:t>
            </a:r>
            <a:r>
              <a:rPr lang="zh-TW" altLang="en-US" sz="2000" b="0" i="0" dirty="0">
                <a:solidFill>
                  <a:srgbClr val="333333"/>
                </a:solidFill>
                <a:effectLst/>
                <a:latin typeface="-apple-system"/>
              </a:rPr>
              <a:t>為</a:t>
            </a:r>
            <a:r>
              <a:rPr lang="en-US" altLang="zh-TW" sz="2000" b="0" i="0" dirty="0">
                <a:solidFill>
                  <a:srgbClr val="333333"/>
                </a:solidFill>
                <a:effectLst/>
                <a:latin typeface="-apple-system"/>
              </a:rPr>
              <a:t>0</a:t>
            </a:r>
          </a:p>
        </p:txBody>
      </p:sp>
    </p:spTree>
    <p:extLst>
      <p:ext uri="{BB962C8B-B14F-4D97-AF65-F5344CB8AC3E}">
        <p14:creationId xmlns:p14="http://schemas.microsoft.com/office/powerpoint/2010/main" val="2530130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A8C34F-DAAA-9519-5318-AB81AF5DA956}"/>
              </a:ext>
            </a:extLst>
          </p:cNvPr>
          <p:cNvSpPr>
            <a:spLocks noGrp="1"/>
          </p:cNvSpPr>
          <p:nvPr>
            <p:ph type="title"/>
          </p:nvPr>
        </p:nvSpPr>
        <p:spPr/>
        <p:txBody>
          <a:bodyPr/>
          <a:lstStyle/>
          <a:p>
            <a:r>
              <a:rPr kumimoji="1" lang="en-US" altLang="zh-TW" dirty="0"/>
              <a:t>GRU</a:t>
            </a:r>
            <a:endParaRPr kumimoji="1" lang="zh-TW" altLang="en-US" dirty="0"/>
          </a:p>
        </p:txBody>
      </p:sp>
      <p:sp>
        <p:nvSpPr>
          <p:cNvPr id="3" name="內容版面配置區 2">
            <a:extLst>
              <a:ext uri="{FF2B5EF4-FFF2-40B4-BE49-F238E27FC236}">
                <a16:creationId xmlns:a16="http://schemas.microsoft.com/office/drawing/2014/main" id="{3D0354A7-2740-D727-EF4D-67A875C3C62B}"/>
              </a:ext>
            </a:extLst>
          </p:cNvPr>
          <p:cNvSpPr>
            <a:spLocks noGrp="1"/>
          </p:cNvSpPr>
          <p:nvPr>
            <p:ph idx="1"/>
          </p:nvPr>
        </p:nvSpPr>
        <p:spPr/>
        <p:txBody>
          <a:bodyPr/>
          <a:lstStyle/>
          <a:p>
            <a:r>
              <a:rPr lang="zh-TW" altLang="en-US" dirty="0"/>
              <a:t>簡化版的</a:t>
            </a:r>
            <a:r>
              <a:rPr lang="en" altLang="zh-TW" dirty="0"/>
              <a:t>LSTM</a:t>
            </a:r>
          </a:p>
          <a:p>
            <a:r>
              <a:rPr lang="zh-TW" altLang="en-US" dirty="0"/>
              <a:t>把兩個狀態向量合併成一個</a:t>
            </a:r>
            <a:r>
              <a:rPr lang="en" altLang="zh-TW" dirty="0"/>
              <a:t>h(t)</a:t>
            </a:r>
          </a:p>
          <a:p>
            <a:r>
              <a:rPr lang="zh-TW" altLang="en-US" dirty="0"/>
              <a:t>用一個</a:t>
            </a:r>
            <a:r>
              <a:rPr lang="en" altLang="zh-TW" dirty="0"/>
              <a:t>z(t)</a:t>
            </a:r>
            <a:r>
              <a:rPr lang="zh-TW" altLang="en-US" dirty="0"/>
              <a:t>控制遺忘閥跟輸入閥</a:t>
            </a:r>
          </a:p>
          <a:p>
            <a:r>
              <a:rPr lang="zh-TW" altLang="en-US" dirty="0"/>
              <a:t>沒有輸出閥</a:t>
            </a:r>
          </a:p>
          <a:p>
            <a:endParaRPr lang="zh-TW" altLang="en-US" dirty="0"/>
          </a:p>
          <a:p>
            <a:endParaRPr lang="zh-TW" altLang="en-US" dirty="0"/>
          </a:p>
        </p:txBody>
      </p:sp>
      <p:pic>
        <p:nvPicPr>
          <p:cNvPr id="4" name="圖片 3">
            <a:extLst>
              <a:ext uri="{FF2B5EF4-FFF2-40B4-BE49-F238E27FC236}">
                <a16:creationId xmlns:a16="http://schemas.microsoft.com/office/drawing/2014/main" id="{CD43E486-4E4E-1EE0-D2D9-496F71117B65}"/>
              </a:ext>
            </a:extLst>
          </p:cNvPr>
          <p:cNvPicPr>
            <a:picLocks noChangeAspect="1"/>
          </p:cNvPicPr>
          <p:nvPr/>
        </p:nvPicPr>
        <p:blipFill>
          <a:blip r:embed="rId2"/>
          <a:stretch>
            <a:fillRect/>
          </a:stretch>
        </p:blipFill>
        <p:spPr>
          <a:xfrm>
            <a:off x="1205313" y="4589100"/>
            <a:ext cx="4613597" cy="14043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圖片 4">
            <a:extLst>
              <a:ext uri="{FF2B5EF4-FFF2-40B4-BE49-F238E27FC236}">
                <a16:creationId xmlns:a16="http://schemas.microsoft.com/office/drawing/2014/main" id="{3BBFEABE-F477-E59F-33E9-F68C9B5E1CAF}"/>
              </a:ext>
            </a:extLst>
          </p:cNvPr>
          <p:cNvPicPr>
            <a:picLocks noChangeAspect="1"/>
          </p:cNvPicPr>
          <p:nvPr/>
        </p:nvPicPr>
        <p:blipFill>
          <a:blip r:embed="rId3"/>
          <a:stretch>
            <a:fillRect/>
          </a:stretch>
        </p:blipFill>
        <p:spPr>
          <a:xfrm>
            <a:off x="6373092" y="1361598"/>
            <a:ext cx="5285475" cy="36621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8546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7B714F-4776-49DF-8146-7EF5A3E374E5}"/>
              </a:ext>
            </a:extLst>
          </p:cNvPr>
          <p:cNvSpPr>
            <a:spLocks noGrp="1"/>
          </p:cNvSpPr>
          <p:nvPr>
            <p:ph type="title"/>
          </p:nvPr>
        </p:nvSpPr>
        <p:spPr/>
        <p:txBody>
          <a:bodyPr/>
          <a:lstStyle/>
          <a:p>
            <a:r>
              <a:rPr lang="en-US" altLang="zh-TW" dirty="0"/>
              <a:t>LSTM</a:t>
            </a:r>
            <a:endParaRPr lang="zh-TW" altLang="en-US" dirty="0"/>
          </a:p>
        </p:txBody>
      </p:sp>
      <p:sp>
        <p:nvSpPr>
          <p:cNvPr id="3" name="內容版面配置區 2">
            <a:extLst>
              <a:ext uri="{FF2B5EF4-FFF2-40B4-BE49-F238E27FC236}">
                <a16:creationId xmlns:a16="http://schemas.microsoft.com/office/drawing/2014/main" id="{BFCD365F-F193-44B6-AA8A-D535CDB0ABED}"/>
              </a:ext>
            </a:extLst>
          </p:cNvPr>
          <p:cNvSpPr>
            <a:spLocks noGrp="1"/>
          </p:cNvSpPr>
          <p:nvPr>
            <p:ph idx="1"/>
          </p:nvPr>
        </p:nvSpPr>
        <p:spPr/>
        <p:txBody>
          <a:bodyPr/>
          <a:lstStyle/>
          <a:p>
            <a:r>
              <a:rPr lang="en-US" altLang="zh-TW" dirty="0"/>
              <a:t>LSTM </a:t>
            </a:r>
            <a:r>
              <a:rPr lang="zh-TW" altLang="en-US" dirty="0"/>
              <a:t>的優缺點</a:t>
            </a:r>
            <a:endParaRPr lang="en-US" altLang="zh-TW" dirty="0"/>
          </a:p>
          <a:p>
            <a:r>
              <a:rPr lang="zh-TW" altLang="en-US" dirty="0"/>
              <a:t>優點：</a:t>
            </a:r>
            <a:endParaRPr lang="en-US" altLang="zh-TW" dirty="0"/>
          </a:p>
          <a:p>
            <a:pPr lvl="1"/>
            <a:r>
              <a:rPr lang="zh-TW" altLang="en-US" dirty="0"/>
              <a:t>解決梯度消失問題：相較於傳統 </a:t>
            </a:r>
            <a:r>
              <a:rPr lang="en-US" altLang="zh-TW" dirty="0"/>
              <a:t>RNN</a:t>
            </a:r>
            <a:r>
              <a:rPr lang="zh-TW" altLang="en-US" dirty="0"/>
              <a:t>，</a:t>
            </a:r>
            <a:r>
              <a:rPr lang="en-US" altLang="zh-TW" dirty="0"/>
              <a:t>LSTM </a:t>
            </a:r>
            <a:r>
              <a:rPr lang="zh-TW" altLang="en-US" dirty="0"/>
              <a:t>能有效學習長期依賴。</a:t>
            </a:r>
            <a:endParaRPr lang="en-US" altLang="zh-TW" dirty="0"/>
          </a:p>
          <a:p>
            <a:pPr lvl="1"/>
            <a:r>
              <a:rPr lang="zh-TW" altLang="en-US" dirty="0"/>
              <a:t>靈活的資訊保留：通過</a:t>
            </a:r>
            <a:r>
              <a:rPr lang="en-US" altLang="zh-TW" dirty="0"/>
              <a:t>Gate</a:t>
            </a:r>
            <a:r>
              <a:rPr lang="zh-TW" altLang="en-US" dirty="0"/>
              <a:t>機制，有選擇地保留或更新資訊。</a:t>
            </a:r>
            <a:endParaRPr lang="en-US" altLang="zh-TW" dirty="0"/>
          </a:p>
          <a:p>
            <a:pPr lvl="1"/>
            <a:r>
              <a:rPr lang="zh-TW" altLang="en-US" dirty="0"/>
              <a:t>廣泛應用：適用於自然語言處理、語音識別、時間序列預測等多種任務。</a:t>
            </a:r>
            <a:endParaRPr lang="en-US" altLang="zh-TW" dirty="0"/>
          </a:p>
          <a:p>
            <a:r>
              <a:rPr lang="zh-TW" altLang="en-US" dirty="0"/>
              <a:t>缺點：</a:t>
            </a:r>
            <a:endParaRPr lang="en-US" altLang="zh-TW" dirty="0"/>
          </a:p>
          <a:p>
            <a:pPr lvl="1"/>
            <a:r>
              <a:rPr lang="zh-TW" altLang="en-US" dirty="0"/>
              <a:t>計算複雜度高：</a:t>
            </a:r>
            <a:r>
              <a:rPr lang="en-US" altLang="zh-TW" dirty="0"/>
              <a:t>LSTM </a:t>
            </a:r>
            <a:r>
              <a:rPr lang="zh-TW" altLang="en-US" dirty="0"/>
              <a:t>引入了多個</a:t>
            </a:r>
            <a:r>
              <a:rPr lang="en-US" altLang="zh-TW" dirty="0"/>
              <a:t>Gate</a:t>
            </a:r>
            <a:r>
              <a:rPr lang="zh-TW" altLang="en-US" dirty="0"/>
              <a:t>機制，參數較多，計算代價大。</a:t>
            </a:r>
            <a:endParaRPr lang="en-US" altLang="zh-TW" dirty="0"/>
          </a:p>
          <a:p>
            <a:pPr lvl="1"/>
            <a:r>
              <a:rPr lang="zh-TW" altLang="en-US" dirty="0"/>
              <a:t>訓練時間長：由於複雜的結構，訓練時間相對較長。</a:t>
            </a:r>
            <a:endParaRPr lang="en-US" altLang="zh-TW" dirty="0"/>
          </a:p>
          <a:p>
            <a:pPr lvl="1"/>
            <a:r>
              <a:rPr lang="zh-TW" altLang="en-US" dirty="0"/>
              <a:t>難以處理</a:t>
            </a:r>
            <a:r>
              <a:rPr lang="zh-TW" altLang="en-US" u="sng" dirty="0"/>
              <a:t>非常長</a:t>
            </a:r>
            <a:r>
              <a:rPr lang="zh-TW" altLang="en-US" dirty="0"/>
              <a:t>的序列：雖然 </a:t>
            </a:r>
            <a:r>
              <a:rPr lang="en-US" altLang="zh-TW" dirty="0"/>
              <a:t>LSTM </a:t>
            </a:r>
            <a:r>
              <a:rPr lang="zh-TW" altLang="en-US" dirty="0"/>
              <a:t>解決了梯度消失問題，但當序列極長時，仍可能面臨性能下降。</a:t>
            </a:r>
          </a:p>
        </p:txBody>
      </p:sp>
    </p:spTree>
    <p:extLst>
      <p:ext uri="{BB962C8B-B14F-4D97-AF65-F5344CB8AC3E}">
        <p14:creationId xmlns:p14="http://schemas.microsoft.com/office/powerpoint/2010/main" val="49738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BF7272BB-F960-4581-8B2C-733A2659D062}"/>
              </a:ext>
            </a:extLst>
          </p:cNvPr>
          <p:cNvSpPr>
            <a:spLocks noGrp="1"/>
          </p:cNvSpPr>
          <p:nvPr>
            <p:ph type="title"/>
          </p:nvPr>
        </p:nvSpPr>
        <p:spPr/>
        <p:txBody>
          <a:bodyPr/>
          <a:lstStyle/>
          <a:p>
            <a:r>
              <a:rPr lang="zh-TW" altLang="en-US" dirty="0"/>
              <a:t>自然語言處理</a:t>
            </a:r>
          </a:p>
        </p:txBody>
      </p:sp>
      <p:sp>
        <p:nvSpPr>
          <p:cNvPr id="5" name="文字版面配置區 4">
            <a:extLst>
              <a:ext uri="{FF2B5EF4-FFF2-40B4-BE49-F238E27FC236}">
                <a16:creationId xmlns:a16="http://schemas.microsoft.com/office/drawing/2014/main" id="{6EC54387-1529-40ED-802E-C36D9DF90D41}"/>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3067841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88B222-9E27-C8F5-4323-74641D481D19}"/>
              </a:ext>
            </a:extLst>
          </p:cNvPr>
          <p:cNvSpPr>
            <a:spLocks noGrp="1"/>
          </p:cNvSpPr>
          <p:nvPr>
            <p:ph type="title"/>
          </p:nvPr>
        </p:nvSpPr>
        <p:spPr/>
        <p:txBody>
          <a:bodyPr/>
          <a:lstStyle/>
          <a:p>
            <a:r>
              <a:rPr kumimoji="1" lang="zh-TW" altLang="en-US" dirty="0"/>
              <a:t>自然語言處理</a:t>
            </a:r>
          </a:p>
        </p:txBody>
      </p:sp>
      <p:sp>
        <p:nvSpPr>
          <p:cNvPr id="3" name="內容版面配置區 2">
            <a:extLst>
              <a:ext uri="{FF2B5EF4-FFF2-40B4-BE49-F238E27FC236}">
                <a16:creationId xmlns:a16="http://schemas.microsoft.com/office/drawing/2014/main" id="{45D1C5A9-C3C8-5ADB-0FEC-F763AEB7DA08}"/>
              </a:ext>
            </a:extLst>
          </p:cNvPr>
          <p:cNvSpPr>
            <a:spLocks noGrp="1"/>
          </p:cNvSpPr>
          <p:nvPr>
            <p:ph idx="1"/>
          </p:nvPr>
        </p:nvSpPr>
        <p:spPr>
          <a:xfrm>
            <a:off x="838200" y="1825625"/>
            <a:ext cx="10515600" cy="4761442"/>
          </a:xfrm>
        </p:spPr>
        <p:txBody>
          <a:bodyPr>
            <a:normAutofit fontScale="92500"/>
          </a:bodyPr>
          <a:lstStyle/>
          <a:p>
            <a:pPr>
              <a:lnSpc>
                <a:spcPct val="110000"/>
              </a:lnSpc>
            </a:pPr>
            <a:r>
              <a:rPr kumimoji="1" lang="zh-TW" altLang="en-US" dirty="0"/>
              <a:t>自然語言處理（</a:t>
            </a:r>
            <a:r>
              <a:rPr kumimoji="1" lang="en" altLang="zh-TW" dirty="0"/>
              <a:t>NLP</a:t>
            </a:r>
            <a:r>
              <a:rPr kumimoji="1" lang="zh-TW" altLang="en" dirty="0"/>
              <a:t>）</a:t>
            </a:r>
            <a:r>
              <a:rPr kumimoji="1" lang="zh-TW" altLang="en-US" dirty="0"/>
              <a:t>是機器學習的一個子領域，它使電腦能夠解釋、操作和理解人類語言。其中可能包括：文字分類、詞元分類或是文字生成等等。</a:t>
            </a:r>
          </a:p>
          <a:p>
            <a:pPr>
              <a:lnSpc>
                <a:spcPct val="110000"/>
              </a:lnSpc>
            </a:pPr>
            <a:r>
              <a:rPr kumimoji="1" lang="zh-TW" altLang="en-US" dirty="0"/>
              <a:t>文字分類</a:t>
            </a:r>
            <a:r>
              <a:rPr kumimoji="1" lang="en-US" altLang="zh-TW" dirty="0"/>
              <a:t>(Text</a:t>
            </a:r>
            <a:r>
              <a:rPr kumimoji="1" lang="zh-TW" altLang="en-US" dirty="0"/>
              <a:t> </a:t>
            </a:r>
            <a:r>
              <a:rPr kumimoji="1" lang="en-US" altLang="zh-TW" dirty="0" err="1"/>
              <a:t>Classifcation</a:t>
            </a:r>
            <a:r>
              <a:rPr kumimoji="1" lang="en-US" altLang="zh-TW" dirty="0"/>
              <a:t>)</a:t>
            </a:r>
            <a:r>
              <a:rPr kumimoji="1" lang="zh-TW" altLang="en-US" dirty="0"/>
              <a:t>：為整個輸入文字分配一個單一標籤。像情感分析</a:t>
            </a:r>
            <a:r>
              <a:rPr kumimoji="1" lang="en-US" altLang="zh-TW" dirty="0"/>
              <a:t>(Sentiment Analysis)</a:t>
            </a:r>
            <a:r>
              <a:rPr kumimoji="1" lang="zh-TW" altLang="en-US" dirty="0"/>
              <a:t>可以確定產品評論是正面還是負面。</a:t>
            </a:r>
            <a:endParaRPr kumimoji="1" lang="en-US" altLang="zh-TW" dirty="0"/>
          </a:p>
          <a:p>
            <a:pPr lvl="2">
              <a:lnSpc>
                <a:spcPct val="110000"/>
              </a:lnSpc>
            </a:pPr>
            <a:r>
              <a:rPr kumimoji="1" lang="zh-TW" altLang="en-US" dirty="0"/>
              <a:t>「這真的是一部好看的電影。」 </a:t>
            </a:r>
            <a:r>
              <a:rPr kumimoji="1" lang="en-US" altLang="zh-TW" dirty="0"/>
              <a:t>-&gt;</a:t>
            </a:r>
            <a:r>
              <a:rPr kumimoji="1" lang="zh-TW" altLang="en-US" dirty="0"/>
              <a:t> 正面情緒</a:t>
            </a:r>
            <a:endParaRPr kumimoji="1" lang="en-US" altLang="zh-TW" dirty="0"/>
          </a:p>
          <a:p>
            <a:pPr lvl="3">
              <a:lnSpc>
                <a:spcPct val="110000"/>
              </a:lnSpc>
            </a:pPr>
            <a:r>
              <a:rPr kumimoji="1" lang="zh-TW" altLang="en-US" dirty="0"/>
              <a:t>「真的」、「好看」</a:t>
            </a:r>
            <a:endParaRPr kumimoji="1" lang="en-US" altLang="zh-TW" dirty="0"/>
          </a:p>
          <a:p>
            <a:pPr lvl="2">
              <a:lnSpc>
                <a:spcPct val="110000"/>
              </a:lnSpc>
            </a:pPr>
            <a:r>
              <a:rPr kumimoji="1" lang="zh-TW" altLang="en-US" dirty="0"/>
              <a:t>「爛透的電影，不要浪費你的時間。」 </a:t>
            </a:r>
            <a:r>
              <a:rPr kumimoji="1" lang="en-US" altLang="zh-TW" dirty="0"/>
              <a:t>-&gt;</a:t>
            </a:r>
            <a:r>
              <a:rPr kumimoji="1" lang="zh-TW" altLang="en-US" dirty="0"/>
              <a:t> 負面情緒</a:t>
            </a:r>
            <a:endParaRPr kumimoji="1" lang="en-US" altLang="zh-TW" dirty="0"/>
          </a:p>
          <a:p>
            <a:pPr lvl="3">
              <a:lnSpc>
                <a:spcPct val="110000"/>
              </a:lnSpc>
            </a:pPr>
            <a:r>
              <a:rPr kumimoji="1" lang="zh-TW" altLang="en-US" dirty="0"/>
              <a:t>「爛」、「不要」、「浪費」</a:t>
            </a:r>
            <a:endParaRPr kumimoji="1" lang="en-US" altLang="zh-TW" dirty="0"/>
          </a:p>
          <a:p>
            <a:pPr lvl="2">
              <a:lnSpc>
                <a:spcPct val="110000"/>
              </a:lnSpc>
            </a:pPr>
            <a:r>
              <a:rPr kumimoji="1" lang="zh-TW" altLang="en-US" dirty="0"/>
              <a:t>「電影不錯看」</a:t>
            </a:r>
            <a:r>
              <a:rPr kumimoji="1" lang="en-US" altLang="zh-TW" dirty="0"/>
              <a:t>-&gt;</a:t>
            </a:r>
            <a:r>
              <a:rPr kumimoji="1" lang="zh-TW" altLang="en-US" dirty="0"/>
              <a:t>答案會是？</a:t>
            </a:r>
            <a:endParaRPr kumimoji="1" lang="en-US" altLang="zh-TW" dirty="0"/>
          </a:p>
          <a:p>
            <a:pPr lvl="3">
              <a:lnSpc>
                <a:spcPct val="110000"/>
              </a:lnSpc>
            </a:pPr>
            <a:r>
              <a:rPr kumimoji="1" lang="zh-TW" altLang="en-US" dirty="0"/>
              <a:t>「不錯」？「不錯看」？</a:t>
            </a:r>
            <a:endParaRPr kumimoji="1" lang="en-US" altLang="zh-TW" dirty="0"/>
          </a:p>
        </p:txBody>
      </p:sp>
      <p:pic>
        <p:nvPicPr>
          <p:cNvPr id="5" name="圖形 4" descr="豎起大拇指標誌 以實心填滿">
            <a:extLst>
              <a:ext uri="{FF2B5EF4-FFF2-40B4-BE49-F238E27FC236}">
                <a16:creationId xmlns:a16="http://schemas.microsoft.com/office/drawing/2014/main" id="{9C2E30FB-82DF-3A86-1718-19CEA74D96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5000" y="3967480"/>
            <a:ext cx="777240" cy="777240"/>
          </a:xfrm>
          <a:prstGeom prst="rect">
            <a:avLst/>
          </a:prstGeom>
        </p:spPr>
      </p:pic>
      <p:pic>
        <p:nvPicPr>
          <p:cNvPr id="6" name="圖形 5" descr="豎起大拇指標誌 以實心填滿">
            <a:extLst>
              <a:ext uri="{FF2B5EF4-FFF2-40B4-BE49-F238E27FC236}">
                <a16:creationId xmlns:a16="http://schemas.microsoft.com/office/drawing/2014/main" id="{65B7A64E-258B-31E6-9CCD-A36DB8B75E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204802">
            <a:off x="7696201" y="4729480"/>
            <a:ext cx="777240" cy="777240"/>
          </a:xfrm>
          <a:prstGeom prst="rect">
            <a:avLst/>
          </a:prstGeom>
        </p:spPr>
      </p:pic>
    </p:spTree>
    <p:extLst>
      <p:ext uri="{BB962C8B-B14F-4D97-AF65-F5344CB8AC3E}">
        <p14:creationId xmlns:p14="http://schemas.microsoft.com/office/powerpoint/2010/main" val="34358770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49E819-C50A-B1E0-A4BA-442FFFEE51F0}"/>
              </a:ext>
            </a:extLst>
          </p:cNvPr>
          <p:cNvSpPr>
            <a:spLocks noGrp="1"/>
          </p:cNvSpPr>
          <p:nvPr>
            <p:ph type="title"/>
          </p:nvPr>
        </p:nvSpPr>
        <p:spPr/>
        <p:txBody>
          <a:bodyPr/>
          <a:lstStyle/>
          <a:p>
            <a:r>
              <a:rPr kumimoji="1" lang="zh-TW" altLang="en-US" dirty="0"/>
              <a:t>自然語言處理</a:t>
            </a:r>
          </a:p>
        </p:txBody>
      </p:sp>
      <p:sp>
        <p:nvSpPr>
          <p:cNvPr id="3" name="內容版面配置區 2">
            <a:extLst>
              <a:ext uri="{FF2B5EF4-FFF2-40B4-BE49-F238E27FC236}">
                <a16:creationId xmlns:a16="http://schemas.microsoft.com/office/drawing/2014/main" id="{B8595DAB-D43E-FAEF-AF4C-C7A157FB1F91}"/>
              </a:ext>
            </a:extLst>
          </p:cNvPr>
          <p:cNvSpPr>
            <a:spLocks noGrp="1"/>
          </p:cNvSpPr>
          <p:nvPr>
            <p:ph idx="1"/>
          </p:nvPr>
        </p:nvSpPr>
        <p:spPr>
          <a:xfrm>
            <a:off x="838200" y="1825624"/>
            <a:ext cx="10515600" cy="4758055"/>
          </a:xfrm>
        </p:spPr>
        <p:txBody>
          <a:bodyPr>
            <a:normAutofit/>
          </a:bodyPr>
          <a:lstStyle/>
          <a:p>
            <a:r>
              <a:rPr kumimoji="1" lang="zh-TW" altLang="en-US" dirty="0"/>
              <a:t>詞元分類</a:t>
            </a:r>
            <a:r>
              <a:rPr kumimoji="1" lang="en-US" altLang="zh-TW" dirty="0"/>
              <a:t>(Token classification)</a:t>
            </a:r>
            <a:r>
              <a:rPr kumimoji="1" lang="zh-TW" altLang="en-US" dirty="0"/>
              <a:t>：為輸入文本中的每個詞元</a:t>
            </a:r>
            <a:r>
              <a:rPr kumimoji="1" lang="en-US" altLang="zh-TW" dirty="0"/>
              <a:t>(token)</a:t>
            </a:r>
            <a:r>
              <a:rPr kumimoji="1" lang="zh-TW" altLang="en-US" dirty="0"/>
              <a:t>分配一個標籤。</a:t>
            </a:r>
            <a:endParaRPr kumimoji="1" lang="en-US" altLang="zh-TW" dirty="0"/>
          </a:p>
          <a:p>
            <a:pPr lvl="1"/>
            <a:r>
              <a:rPr kumimoji="1" lang="zh-TW" altLang="en-US" dirty="0"/>
              <a:t>詞元是文本的基本單元。詞</a:t>
            </a:r>
            <a:r>
              <a:rPr kumimoji="1" lang="en-US" altLang="zh-TW" dirty="0"/>
              <a:t>(word)</a:t>
            </a:r>
            <a:r>
              <a:rPr kumimoji="1" lang="zh-TW" altLang="en-US" dirty="0"/>
              <a:t>可以作為詞元。</a:t>
            </a:r>
            <a:endParaRPr kumimoji="1" lang="en-US" altLang="zh-TW" dirty="0"/>
          </a:p>
          <a:p>
            <a:r>
              <a:rPr kumimoji="1" lang="zh-TW" altLang="en-US" dirty="0"/>
              <a:t>常見的詞元分類任務是命名實體識別</a:t>
            </a:r>
            <a:r>
              <a:rPr kumimoji="1" lang="en-US" altLang="zh-TW" dirty="0"/>
              <a:t>(named entity recognition,</a:t>
            </a:r>
            <a:r>
              <a:rPr kumimoji="1" lang="zh-TW" altLang="en-US" dirty="0"/>
              <a:t> </a:t>
            </a:r>
            <a:r>
              <a:rPr kumimoji="1" lang="en-US" altLang="zh-TW" dirty="0"/>
              <a:t>NER)</a:t>
            </a:r>
            <a:r>
              <a:rPr kumimoji="1" lang="zh-TW" altLang="en-US" dirty="0"/>
              <a:t>，它將每個詞元分配到預定義的類別列表中，例如地點、公司或人物。</a:t>
            </a:r>
            <a:endParaRPr kumimoji="1" lang="en-US" altLang="zh-TW" dirty="0"/>
          </a:p>
          <a:p>
            <a:pPr marL="914400" lvl="2" indent="0">
              <a:buNone/>
            </a:pPr>
            <a:endParaRPr kumimoji="1" lang="en-US" altLang="zh-TW" dirty="0"/>
          </a:p>
          <a:p>
            <a:pPr marL="914400" lvl="2" indent="0">
              <a:buNone/>
            </a:pPr>
            <a:endParaRPr kumimoji="1" lang="en-US" altLang="zh-TW" dirty="0"/>
          </a:p>
          <a:p>
            <a:r>
              <a:rPr kumimoji="1" lang="zh-TW" altLang="en-US" dirty="0"/>
              <a:t>詞性</a:t>
            </a:r>
            <a:r>
              <a:rPr kumimoji="1" lang="en-US" altLang="zh-TW" dirty="0"/>
              <a:t>(Part-of-speech,</a:t>
            </a:r>
            <a:r>
              <a:rPr kumimoji="1" lang="zh-TW" altLang="en-US" dirty="0"/>
              <a:t> </a:t>
            </a:r>
            <a:r>
              <a:rPr kumimoji="1" lang="en-US" altLang="zh-TW" dirty="0"/>
              <a:t>POS)</a:t>
            </a:r>
            <a:r>
              <a:rPr kumimoji="1" lang="zh-TW" altLang="en-US" dirty="0"/>
              <a:t>標註</a:t>
            </a:r>
            <a:r>
              <a:rPr kumimoji="1" lang="en-US" altLang="zh-TW" dirty="0"/>
              <a:t>(tagging)</a:t>
            </a:r>
            <a:r>
              <a:rPr kumimoji="1" lang="zh-TW" altLang="en-US" dirty="0"/>
              <a:t>將每個單詞分配到特定的詞性，如名詞、動詞或形容詞。</a:t>
            </a:r>
          </a:p>
          <a:p>
            <a:endParaRPr kumimoji="1" lang="zh-TW" altLang="en-US" dirty="0"/>
          </a:p>
        </p:txBody>
      </p:sp>
      <p:pic>
        <p:nvPicPr>
          <p:cNvPr id="1026" name="Picture 2" descr="An example of how named entity extraction NER works. The entities WeWork, Adam Neumann, Manhattan, and $37.5 million, have been highlighted">
            <a:extLst>
              <a:ext uri="{FF2B5EF4-FFF2-40B4-BE49-F238E27FC236}">
                <a16:creationId xmlns:a16="http://schemas.microsoft.com/office/drawing/2014/main" id="{1D9C7736-9274-5B6C-58ED-D5CC224AFA8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85440" y="3985329"/>
            <a:ext cx="8134772" cy="9056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520316F-B3E3-DD6D-87E2-D486E94EFE1C}"/>
              </a:ext>
            </a:extLst>
          </p:cNvPr>
          <p:cNvPicPr>
            <a:picLocks noChangeAspect="1" noChangeArrowheads="1"/>
          </p:cNvPicPr>
          <p:nvPr/>
        </p:nvPicPr>
        <p:blipFill rotWithShape="1">
          <a:blip r:embed="rId3">
            <a:clrChange>
              <a:clrFrom>
                <a:srgbClr val="F7EDFF"/>
              </a:clrFrom>
              <a:clrTo>
                <a:srgbClr val="F7EDFF">
                  <a:alpha val="0"/>
                </a:srgbClr>
              </a:clrTo>
            </a:clrChange>
            <a:extLst>
              <a:ext uri="{28A0092B-C50C-407E-A947-70E740481C1C}">
                <a14:useLocalDpi xmlns:a14="http://schemas.microsoft.com/office/drawing/2010/main" val="0"/>
              </a:ext>
            </a:extLst>
          </a:blip>
          <a:srcRect l="28542" t="31976" r="28542" b="50000"/>
          <a:stretch/>
        </p:blipFill>
        <p:spPr bwMode="auto">
          <a:xfrm>
            <a:off x="5718386" y="5483878"/>
            <a:ext cx="4741334" cy="1120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269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562AF8-4BCF-9725-F22F-8F2E19A52A5F}"/>
              </a:ext>
            </a:extLst>
          </p:cNvPr>
          <p:cNvSpPr>
            <a:spLocks noGrp="1"/>
          </p:cNvSpPr>
          <p:nvPr>
            <p:ph type="title"/>
          </p:nvPr>
        </p:nvSpPr>
        <p:spPr/>
        <p:txBody>
          <a:bodyPr/>
          <a:lstStyle/>
          <a:p>
            <a:r>
              <a:rPr kumimoji="1" lang="zh-TW" altLang="en-US" dirty="0"/>
              <a:t>自然語言處理</a:t>
            </a:r>
          </a:p>
        </p:txBody>
      </p:sp>
      <p:sp>
        <p:nvSpPr>
          <p:cNvPr id="3" name="內容版面配置區 2">
            <a:extLst>
              <a:ext uri="{FF2B5EF4-FFF2-40B4-BE49-F238E27FC236}">
                <a16:creationId xmlns:a16="http://schemas.microsoft.com/office/drawing/2014/main" id="{7F924CDC-156C-19F7-E624-AE42B47992C4}"/>
              </a:ext>
            </a:extLst>
          </p:cNvPr>
          <p:cNvSpPr>
            <a:spLocks noGrp="1"/>
          </p:cNvSpPr>
          <p:nvPr>
            <p:ph idx="1"/>
          </p:nvPr>
        </p:nvSpPr>
        <p:spPr/>
        <p:txBody>
          <a:bodyPr>
            <a:normAutofit/>
          </a:bodyPr>
          <a:lstStyle/>
          <a:p>
            <a:r>
              <a:rPr kumimoji="1" lang="zh-TW" altLang="en-US" dirty="0"/>
              <a:t>文字生成</a:t>
            </a:r>
            <a:r>
              <a:rPr kumimoji="1" lang="en-US" altLang="zh-TW" dirty="0"/>
              <a:t>(Text</a:t>
            </a:r>
            <a:r>
              <a:rPr kumimoji="1" lang="zh-TW" altLang="en-US" dirty="0"/>
              <a:t> </a:t>
            </a:r>
            <a:r>
              <a:rPr kumimoji="1" lang="en-US" altLang="zh-TW" dirty="0"/>
              <a:t>generation)</a:t>
            </a:r>
            <a:r>
              <a:rPr kumimoji="1" lang="zh-TW" altLang="en-US" dirty="0"/>
              <a:t>：使用輸入文字生成任意長度的新的文本，也就是文字接龍。</a:t>
            </a:r>
            <a:endParaRPr kumimoji="1" lang="en-US" altLang="zh-TW" dirty="0"/>
          </a:p>
          <a:p>
            <a:r>
              <a:rPr kumimoji="1" lang="zh-TW" altLang="en-US" dirty="0"/>
              <a:t>文字生成任務包括機器翻譯、問答</a:t>
            </a:r>
            <a:r>
              <a:rPr kumimoji="1" lang="en-US" altLang="zh-TW" dirty="0"/>
              <a:t>(QA)</a:t>
            </a:r>
            <a:r>
              <a:rPr kumimoji="1" lang="zh-TW" altLang="en-US" dirty="0"/>
              <a:t>和文本摘要（創建原始文本的簡短版本，同時保留其要點）。</a:t>
            </a:r>
            <a:endParaRPr kumimoji="1" lang="en-US" altLang="zh-TW" dirty="0"/>
          </a:p>
          <a:p>
            <a:pPr lvl="1"/>
            <a:endParaRPr kumimoji="1" lang="zh-TW" altLang="en-US" dirty="0"/>
          </a:p>
        </p:txBody>
      </p:sp>
      <p:pic>
        <p:nvPicPr>
          <p:cNvPr id="2050" name="Picture 2">
            <a:extLst>
              <a:ext uri="{FF2B5EF4-FFF2-40B4-BE49-F238E27FC236}">
                <a16:creationId xmlns:a16="http://schemas.microsoft.com/office/drawing/2014/main" id="{5C803C65-2867-23B0-5586-733407230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760168"/>
            <a:ext cx="6969760" cy="203103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C2C2C5F-23C7-56D0-D7D0-4AAB18F445A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434915">
            <a:off x="7430954" y="3540914"/>
            <a:ext cx="4610918" cy="2671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745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909E35-DBA2-1E8B-FC02-07AC5BFDED9D}"/>
              </a:ext>
            </a:extLst>
          </p:cNvPr>
          <p:cNvSpPr>
            <a:spLocks noGrp="1"/>
          </p:cNvSpPr>
          <p:nvPr>
            <p:ph type="title"/>
          </p:nvPr>
        </p:nvSpPr>
        <p:spPr/>
        <p:txBody>
          <a:bodyPr/>
          <a:lstStyle/>
          <a:p>
            <a:r>
              <a:rPr kumimoji="1" lang="zh-TW" altLang="en-US" dirty="0"/>
              <a:t>自然語言處理</a:t>
            </a:r>
          </a:p>
        </p:txBody>
      </p:sp>
      <p:sp>
        <p:nvSpPr>
          <p:cNvPr id="3" name="內容版面配置區 2">
            <a:extLst>
              <a:ext uri="{FF2B5EF4-FFF2-40B4-BE49-F238E27FC236}">
                <a16:creationId xmlns:a16="http://schemas.microsoft.com/office/drawing/2014/main" id="{56726873-BA9E-4B6C-C0E9-928ABA8512D2}"/>
              </a:ext>
            </a:extLst>
          </p:cNvPr>
          <p:cNvSpPr>
            <a:spLocks noGrp="1"/>
          </p:cNvSpPr>
          <p:nvPr>
            <p:ph idx="1"/>
          </p:nvPr>
        </p:nvSpPr>
        <p:spPr/>
        <p:txBody>
          <a:bodyPr/>
          <a:lstStyle/>
          <a:p>
            <a:r>
              <a:rPr kumimoji="1" lang="zh-TW" altLang="en-US" dirty="0"/>
              <a:t>解決</a:t>
            </a:r>
            <a:r>
              <a:rPr kumimoji="1" lang="en" altLang="zh-TW" dirty="0"/>
              <a:t>NLP</a:t>
            </a:r>
            <a:r>
              <a:rPr kumimoji="1" lang="zh-TW" altLang="en-US" dirty="0"/>
              <a:t>問題有一點點麻煩</a:t>
            </a:r>
            <a:endParaRPr kumimoji="1" lang="en-US" altLang="zh-TW" dirty="0"/>
          </a:p>
          <a:p>
            <a:r>
              <a:rPr kumimoji="1" lang="zh-TW" altLang="en-US" dirty="0"/>
              <a:t>首先我們先回憶一下，之前是怎麼使用圖片來訓練模型的？</a:t>
            </a:r>
          </a:p>
          <a:p>
            <a:pPr lvl="1"/>
            <a:r>
              <a:rPr kumimoji="1" lang="zh-TW" altLang="en-US" dirty="0"/>
              <a:t>圖片由像素組成，也就只有像素</a:t>
            </a:r>
            <a:endParaRPr kumimoji="1" lang="en-US" altLang="zh-TW" dirty="0"/>
          </a:p>
          <a:p>
            <a:pPr lvl="1"/>
            <a:r>
              <a:rPr kumimoji="1" lang="zh-TW" altLang="en-US" dirty="0"/>
              <a:t>像素根據它們彼此接近的位置，可以形成更大的隱含層次結構</a:t>
            </a:r>
            <a:endParaRPr kumimoji="1" lang="en-US" altLang="zh-TW" dirty="0"/>
          </a:p>
          <a:p>
            <a:pPr lvl="1"/>
            <a:r>
              <a:rPr kumimoji="1" lang="zh-TW" altLang="en-US" dirty="0"/>
              <a:t>只有一種像素類型，就是純量，也就是像素值的大小來定義</a:t>
            </a:r>
          </a:p>
          <a:p>
            <a:r>
              <a:rPr kumimoji="1" lang="zh-TW" altLang="en-US" dirty="0"/>
              <a:t>由於其同質結構，我們可以將（幾乎）原始圖像輸入卷積神經網絡（</a:t>
            </a:r>
            <a:r>
              <a:rPr kumimoji="1" lang="en" altLang="zh-TW" dirty="0"/>
              <a:t>CNN</a:t>
            </a:r>
            <a:r>
              <a:rPr kumimoji="1" lang="zh-TW" altLang="en" dirty="0"/>
              <a:t>），</a:t>
            </a:r>
            <a:r>
              <a:rPr kumimoji="1" lang="zh-TW" altLang="en-US" dirty="0"/>
              <a:t>並讓它在相對較少的數據預處理後發揮作用。</a:t>
            </a:r>
          </a:p>
          <a:p>
            <a:endParaRPr kumimoji="1" lang="zh-TW" altLang="en-US" dirty="0"/>
          </a:p>
        </p:txBody>
      </p:sp>
      <p:pic>
        <p:nvPicPr>
          <p:cNvPr id="3074" name="Picture 2" descr="Concept of a neural network">
            <a:extLst>
              <a:ext uri="{FF2B5EF4-FFF2-40B4-BE49-F238E27FC236}">
                <a16:creationId xmlns:a16="http://schemas.microsoft.com/office/drawing/2014/main" id="{4AD843AC-FB45-796B-2307-C99B59CB4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7281" y="4805646"/>
            <a:ext cx="5902960" cy="20523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Classification Example">
            <a:extLst>
              <a:ext uri="{FF2B5EF4-FFF2-40B4-BE49-F238E27FC236}">
                <a16:creationId xmlns:a16="http://schemas.microsoft.com/office/drawing/2014/main" id="{54AA3D39-3824-0837-05FD-B8194469F4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645" r="58759" b="7835"/>
          <a:stretch/>
        </p:blipFill>
        <p:spPr bwMode="auto">
          <a:xfrm>
            <a:off x="2153920" y="4805646"/>
            <a:ext cx="1693361" cy="1858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515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F31566-FB58-480A-5DEC-63A55DBF9583}"/>
              </a:ext>
            </a:extLst>
          </p:cNvPr>
          <p:cNvSpPr>
            <a:spLocks noGrp="1"/>
          </p:cNvSpPr>
          <p:nvPr>
            <p:ph type="title"/>
          </p:nvPr>
        </p:nvSpPr>
        <p:spPr/>
        <p:txBody>
          <a:bodyPr/>
          <a:lstStyle/>
          <a:p>
            <a:r>
              <a:rPr kumimoji="1" lang="zh-TW" altLang="en-US" dirty="0"/>
              <a:t>自然語言處理</a:t>
            </a:r>
          </a:p>
        </p:txBody>
      </p:sp>
      <p:sp>
        <p:nvSpPr>
          <p:cNvPr id="3" name="內容版面配置區 2">
            <a:extLst>
              <a:ext uri="{FF2B5EF4-FFF2-40B4-BE49-F238E27FC236}">
                <a16:creationId xmlns:a16="http://schemas.microsoft.com/office/drawing/2014/main" id="{E4C196EB-9FF5-D6B3-F220-6AC4632F0C96}"/>
              </a:ext>
            </a:extLst>
          </p:cNvPr>
          <p:cNvSpPr>
            <a:spLocks noGrp="1"/>
          </p:cNvSpPr>
          <p:nvPr>
            <p:ph idx="1"/>
          </p:nvPr>
        </p:nvSpPr>
        <p:spPr>
          <a:xfrm>
            <a:off x="838200" y="1825624"/>
            <a:ext cx="10515600" cy="4803775"/>
          </a:xfrm>
        </p:spPr>
        <p:txBody>
          <a:bodyPr>
            <a:normAutofit fontScale="92500" lnSpcReduction="20000"/>
          </a:bodyPr>
          <a:lstStyle/>
          <a:p>
            <a:pPr>
              <a:lnSpc>
                <a:spcPct val="110000"/>
              </a:lnSpc>
            </a:pPr>
            <a:r>
              <a:rPr kumimoji="1" lang="zh-TW" altLang="en-US" dirty="0"/>
              <a:t>但文字</a:t>
            </a:r>
            <a:r>
              <a:rPr kumimoji="1" lang="en-US" altLang="zh-TW" dirty="0"/>
              <a:t>(text)</a:t>
            </a:r>
            <a:r>
              <a:rPr kumimoji="1" lang="zh-TW" altLang="en-US" dirty="0"/>
              <a:t>資料呢？</a:t>
            </a:r>
          </a:p>
          <a:p>
            <a:pPr lvl="1">
              <a:lnSpc>
                <a:spcPct val="110000"/>
              </a:lnSpc>
            </a:pPr>
            <a:r>
              <a:rPr kumimoji="1" lang="zh-TW" altLang="en-US" dirty="0"/>
              <a:t>存在具有不同語義意義的不同類型字符，例如字母、數字和標點符號。</a:t>
            </a:r>
            <a:endParaRPr kumimoji="1" lang="en-US" altLang="zh-TW" dirty="0"/>
          </a:p>
          <a:p>
            <a:pPr lvl="1">
              <a:lnSpc>
                <a:spcPct val="110000"/>
              </a:lnSpc>
            </a:pPr>
            <a:r>
              <a:rPr kumimoji="1" lang="zh-TW" altLang="en-US" dirty="0"/>
              <a:t>而且！可能會遇到以前未知的符號。</a:t>
            </a:r>
          </a:p>
          <a:p>
            <a:pPr>
              <a:lnSpc>
                <a:spcPct val="110000"/>
              </a:lnSpc>
            </a:pPr>
            <a:r>
              <a:rPr kumimoji="1" lang="zh-TW" altLang="en-US" dirty="0"/>
              <a:t>自然語言具有字符</a:t>
            </a:r>
            <a:r>
              <a:rPr kumimoji="1" lang="en-US" altLang="zh-TW" dirty="0"/>
              <a:t>(characters)</a:t>
            </a:r>
            <a:r>
              <a:rPr kumimoji="1" lang="zh-TW" altLang="en-US" dirty="0"/>
              <a:t>、單詞</a:t>
            </a:r>
            <a:r>
              <a:rPr kumimoji="1" lang="en-US" altLang="zh-TW" dirty="0"/>
              <a:t>(words)</a:t>
            </a:r>
            <a:r>
              <a:rPr kumimoji="1" lang="zh-TW" altLang="en-US" dirty="0"/>
              <a:t>、句子</a:t>
            </a:r>
            <a:r>
              <a:rPr kumimoji="1" lang="en-US" altLang="zh-TW" dirty="0"/>
              <a:t>(sentences)</a:t>
            </a:r>
            <a:r>
              <a:rPr kumimoji="1" lang="zh-TW" altLang="en-US" dirty="0"/>
              <a:t>、段落</a:t>
            </a:r>
            <a:r>
              <a:rPr kumimoji="1" lang="en-US" altLang="zh-TW" dirty="0"/>
              <a:t>(paragraphs)</a:t>
            </a:r>
            <a:r>
              <a:rPr kumimoji="1" lang="zh-TW" altLang="en-US" dirty="0"/>
              <a:t>的顯式層次結構。</a:t>
            </a:r>
            <a:endParaRPr kumimoji="1" lang="en-US" altLang="zh-TW" dirty="0"/>
          </a:p>
          <a:p>
            <a:pPr lvl="1">
              <a:lnSpc>
                <a:spcPct val="110000"/>
              </a:lnSpc>
            </a:pPr>
            <a:r>
              <a:rPr kumimoji="1" lang="zh-TW" altLang="en-US" dirty="0"/>
              <a:t>而且還有引號、標題和標題的層次結構。</a:t>
            </a:r>
          </a:p>
          <a:p>
            <a:pPr>
              <a:lnSpc>
                <a:spcPct val="110000"/>
              </a:lnSpc>
            </a:pPr>
            <a:r>
              <a:rPr kumimoji="1" lang="zh-TW" altLang="en-US" dirty="0"/>
              <a:t>文本的部分內容可能與序列中的較遠的部分會有關係，而不是與其直接上下文相關。</a:t>
            </a:r>
            <a:endParaRPr kumimoji="1" lang="en-US" altLang="zh-TW" dirty="0"/>
          </a:p>
          <a:p>
            <a:pPr lvl="1">
              <a:lnSpc>
                <a:spcPct val="110000"/>
              </a:lnSpc>
            </a:pPr>
            <a:r>
              <a:rPr kumimoji="1" lang="zh-TW" altLang="en-US" dirty="0">
                <a:highlight>
                  <a:srgbClr val="00FFFF"/>
                </a:highlight>
              </a:rPr>
              <a:t>小林</a:t>
            </a:r>
            <a:r>
              <a:rPr kumimoji="1" lang="zh-TW" altLang="en-US" dirty="0"/>
              <a:t>昨晚喝太多酒，難怪</a:t>
            </a:r>
            <a:r>
              <a:rPr kumimoji="1" lang="zh-TW" altLang="en-US" dirty="0">
                <a:highlight>
                  <a:srgbClr val="00FFFF"/>
                </a:highlight>
              </a:rPr>
              <a:t>他</a:t>
            </a:r>
            <a:r>
              <a:rPr kumimoji="1" lang="zh-TW" altLang="en-US" dirty="0"/>
              <a:t>今天起不來</a:t>
            </a:r>
            <a:endParaRPr kumimoji="1" lang="en-US" altLang="zh-TW" dirty="0"/>
          </a:p>
          <a:p>
            <a:pPr>
              <a:lnSpc>
                <a:spcPct val="110000"/>
              </a:lnSpc>
            </a:pPr>
            <a:r>
              <a:rPr kumimoji="1" lang="zh-TW" altLang="en-US" dirty="0"/>
              <a:t>自然文本的複雜性，使得在實際的神經網路模型發揮作用之前，需要進行幾個預處理步驟。</a:t>
            </a:r>
          </a:p>
        </p:txBody>
      </p:sp>
    </p:spTree>
    <p:extLst>
      <p:ext uri="{BB962C8B-B14F-4D97-AF65-F5344CB8AC3E}">
        <p14:creationId xmlns:p14="http://schemas.microsoft.com/office/powerpoint/2010/main" val="454010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15339F-1A35-9129-DB90-EC47493AA40C}"/>
              </a:ext>
            </a:extLst>
          </p:cNvPr>
          <p:cNvSpPr>
            <a:spLocks noGrp="1"/>
          </p:cNvSpPr>
          <p:nvPr>
            <p:ph type="title"/>
          </p:nvPr>
        </p:nvSpPr>
        <p:spPr/>
        <p:txBody>
          <a:bodyPr/>
          <a:lstStyle/>
          <a:p>
            <a:r>
              <a:rPr kumimoji="1" lang="zh-TW" altLang="en-US" dirty="0"/>
              <a:t>自然語言處理</a:t>
            </a:r>
          </a:p>
        </p:txBody>
      </p:sp>
      <p:sp>
        <p:nvSpPr>
          <p:cNvPr id="3" name="內容版面配置區 2">
            <a:extLst>
              <a:ext uri="{FF2B5EF4-FFF2-40B4-BE49-F238E27FC236}">
                <a16:creationId xmlns:a16="http://schemas.microsoft.com/office/drawing/2014/main" id="{F8FE9FA6-2F2D-1803-85FF-769C04416F61}"/>
              </a:ext>
            </a:extLst>
          </p:cNvPr>
          <p:cNvSpPr>
            <a:spLocks noGrp="1"/>
          </p:cNvSpPr>
          <p:nvPr>
            <p:ph idx="1"/>
          </p:nvPr>
        </p:nvSpPr>
        <p:spPr>
          <a:xfrm>
            <a:off x="838200" y="1825624"/>
            <a:ext cx="10515600" cy="4778375"/>
          </a:xfrm>
        </p:spPr>
        <p:txBody>
          <a:bodyPr>
            <a:normAutofit lnSpcReduction="10000"/>
          </a:bodyPr>
          <a:lstStyle/>
          <a:p>
            <a:pPr>
              <a:lnSpc>
                <a:spcPct val="100000"/>
              </a:lnSpc>
            </a:pPr>
            <a:r>
              <a:rPr kumimoji="1" lang="zh-TW" altLang="en-US" dirty="0"/>
              <a:t>需要進行的預處理</a:t>
            </a:r>
            <a:endParaRPr kumimoji="1" lang="en-US" altLang="zh-TW" dirty="0"/>
          </a:p>
          <a:p>
            <a:pPr lvl="1">
              <a:lnSpc>
                <a:spcPct val="100000"/>
              </a:lnSpc>
            </a:pPr>
            <a:r>
              <a:rPr kumimoji="1" lang="zh-TW" altLang="en-US" dirty="0"/>
              <a:t>第一步是標準化：其中包括刪除額外的空格和將所有字母轉換為小寫，甚至連時態</a:t>
            </a:r>
            <a:r>
              <a:rPr kumimoji="1" lang="en-US" altLang="zh-TW" dirty="0"/>
              <a:t>(</a:t>
            </a:r>
            <a:r>
              <a:rPr kumimoji="1" lang="zh-TW" altLang="en-US" dirty="0"/>
              <a:t>例如過去式、現在進行式</a:t>
            </a:r>
            <a:r>
              <a:rPr kumimoji="1" lang="en-US" altLang="zh-TW" dirty="0"/>
              <a:t>)</a:t>
            </a:r>
            <a:r>
              <a:rPr kumimoji="1" lang="zh-TW" altLang="en-US" dirty="0"/>
              <a:t>等等，都需要進行轉換操作。</a:t>
            </a:r>
            <a:endParaRPr kumimoji="1" lang="en-US" altLang="zh-TW" dirty="0"/>
          </a:p>
          <a:p>
            <a:pPr lvl="1">
              <a:lnSpc>
                <a:spcPct val="100000"/>
              </a:lnSpc>
            </a:pPr>
            <a:r>
              <a:rPr kumimoji="1" lang="zh-TW" altLang="en-US" dirty="0"/>
              <a:t>第二步叫</a:t>
            </a:r>
            <a:r>
              <a:rPr kumimoji="1" lang="en-US" altLang="zh-TW" dirty="0"/>
              <a:t>Tokenization(</a:t>
            </a:r>
            <a:r>
              <a:rPr kumimoji="1" lang="zh-TW" altLang="en-US" dirty="0"/>
              <a:t>分詞</a:t>
            </a:r>
            <a:r>
              <a:rPr kumimoji="1" lang="en-US" altLang="zh-TW" dirty="0"/>
              <a:t>)</a:t>
            </a:r>
          </a:p>
          <a:p>
            <a:pPr lvl="2">
              <a:lnSpc>
                <a:spcPct val="100000"/>
              </a:lnSpc>
            </a:pPr>
            <a:r>
              <a:rPr kumimoji="1" lang="zh-TW" altLang="en-US" dirty="0"/>
              <a:t>一種直觀的方法是將語料庫</a:t>
            </a:r>
            <a:r>
              <a:rPr kumimoji="1" lang="en-US" altLang="zh-TW" dirty="0"/>
              <a:t>j</a:t>
            </a:r>
            <a:r>
              <a:rPr kumimoji="1" lang="zh-TW" altLang="en-US" dirty="0"/>
              <a:t>直接拆分為單詞</a:t>
            </a:r>
            <a:r>
              <a:rPr kumimoji="1" lang="en-US" altLang="zh-TW" dirty="0"/>
              <a:t>(word)</a:t>
            </a:r>
            <a:r>
              <a:rPr kumimoji="1" lang="zh-TW" altLang="en-US" dirty="0"/>
              <a:t>，它們將代表我們模型的基本輸入單元，以此來處理自然語言處理任務。</a:t>
            </a:r>
            <a:endParaRPr kumimoji="1" lang="en-US" altLang="zh-TW" dirty="0"/>
          </a:p>
          <a:p>
            <a:pPr lvl="2">
              <a:lnSpc>
                <a:spcPct val="100000"/>
              </a:lnSpc>
            </a:pPr>
            <a:r>
              <a:rPr kumimoji="1" lang="zh-TW" altLang="en-US" dirty="0"/>
              <a:t>然而，將單詞作為輸入並不是固定的，我們也可以使用其他元素，例如單個字符</a:t>
            </a:r>
            <a:r>
              <a:rPr kumimoji="1" lang="en-US" altLang="zh-TW" dirty="0"/>
              <a:t>(char)</a:t>
            </a:r>
            <a:r>
              <a:rPr kumimoji="1" lang="zh-TW" altLang="en-US" dirty="0"/>
              <a:t>、片語</a:t>
            </a:r>
            <a:r>
              <a:rPr kumimoji="1" lang="en-US" altLang="zh-TW" dirty="0"/>
              <a:t>(phrase)</a:t>
            </a:r>
            <a:r>
              <a:rPr kumimoji="1" lang="zh-TW" altLang="en-US" dirty="0"/>
              <a:t>或甚至整個句子。</a:t>
            </a:r>
            <a:endParaRPr kumimoji="1" lang="en-US" altLang="zh-TW" dirty="0"/>
          </a:p>
          <a:p>
            <a:pPr lvl="2">
              <a:lnSpc>
                <a:spcPct val="100000"/>
              </a:lnSpc>
            </a:pPr>
            <a:r>
              <a:rPr kumimoji="1" lang="zh-TW" altLang="en-US" dirty="0"/>
              <a:t>這些單元的通用術語是</a:t>
            </a:r>
            <a:r>
              <a:rPr kumimoji="1" lang="en-US" altLang="zh-TW" dirty="0"/>
              <a:t>tokens</a:t>
            </a:r>
            <a:r>
              <a:rPr kumimoji="1" lang="zh-TW" altLang="en-US" dirty="0"/>
              <a:t>。</a:t>
            </a:r>
            <a:r>
              <a:rPr kumimoji="1" lang="en-US" altLang="zh-TW" dirty="0"/>
              <a:t>Tokens</a:t>
            </a:r>
            <a:r>
              <a:rPr kumimoji="1" lang="zh-TW" altLang="en-US" dirty="0"/>
              <a:t>相對於文字就像用像素代表圖像的方式一樣。</a:t>
            </a:r>
            <a:endParaRPr kumimoji="1" lang="en-US" altLang="zh-TW" dirty="0"/>
          </a:p>
          <a:p>
            <a:pPr lvl="2">
              <a:lnSpc>
                <a:spcPct val="100000"/>
              </a:lnSpc>
            </a:pPr>
            <a:r>
              <a:rPr kumimoji="1" lang="zh-TW" altLang="en-US" dirty="0"/>
              <a:t>將語料庫拆分為</a:t>
            </a:r>
            <a:r>
              <a:rPr kumimoji="1" lang="en-US" altLang="zh-TW" dirty="0"/>
              <a:t>token</a:t>
            </a:r>
            <a:r>
              <a:rPr kumimoji="1" lang="zh-TW" altLang="en-US" dirty="0"/>
              <a:t>的過程稱為</a:t>
            </a:r>
            <a:r>
              <a:rPr kumimoji="1" lang="en-US" altLang="zh-TW" dirty="0"/>
              <a:t>tokenization</a:t>
            </a:r>
            <a:r>
              <a:rPr kumimoji="1" lang="zh-TW" altLang="en-US" dirty="0"/>
              <a:t>。執行此詞元化的東西（例如演算法）稱為</a:t>
            </a:r>
            <a:r>
              <a:rPr kumimoji="1" lang="en-US" altLang="zh-TW" dirty="0"/>
              <a:t>tokenizer</a:t>
            </a:r>
            <a:r>
              <a:rPr kumimoji="1" lang="zh-TW" altLang="en-US" dirty="0"/>
              <a:t>。</a:t>
            </a:r>
            <a:endParaRPr kumimoji="1" lang="en-US" altLang="zh-TW" dirty="0"/>
          </a:p>
          <a:p>
            <a:pPr lvl="2">
              <a:lnSpc>
                <a:spcPct val="100000"/>
              </a:lnSpc>
            </a:pPr>
            <a:r>
              <a:rPr kumimoji="1" lang="zh-TW" altLang="en-US" dirty="0"/>
              <a:t>想想看，中文怎麼處理？</a:t>
            </a:r>
            <a:endParaRPr kumimoji="1" lang="en-US" altLang="zh-TW" dirty="0"/>
          </a:p>
        </p:txBody>
      </p:sp>
      <p:pic>
        <p:nvPicPr>
          <p:cNvPr id="4098" name="Picture 2">
            <a:extLst>
              <a:ext uri="{FF2B5EF4-FFF2-40B4-BE49-F238E27FC236}">
                <a16:creationId xmlns:a16="http://schemas.microsoft.com/office/drawing/2014/main" id="{E237F2E7-5AEC-D5F8-F2FF-F5AAA6BD5A0F}"/>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86880" y="11906"/>
            <a:ext cx="4866640" cy="2409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6631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40AD2-3EA0-D510-AB7F-87ED84E74FF1}"/>
              </a:ext>
            </a:extLst>
          </p:cNvPr>
          <p:cNvSpPr>
            <a:spLocks noGrp="1"/>
          </p:cNvSpPr>
          <p:nvPr>
            <p:ph type="title"/>
          </p:nvPr>
        </p:nvSpPr>
        <p:spPr/>
        <p:txBody>
          <a:bodyPr/>
          <a:lstStyle/>
          <a:p>
            <a:r>
              <a:rPr kumimoji="1" lang="zh-TW" altLang="en-US" dirty="0"/>
              <a:t>自然語言處理 </a:t>
            </a:r>
            <a:r>
              <a:rPr kumimoji="1" lang="en-US" altLang="zh-TW" dirty="0"/>
              <a:t>-</a:t>
            </a:r>
            <a:r>
              <a:rPr kumimoji="1" lang="zh-TW" altLang="en-US" dirty="0"/>
              <a:t> </a:t>
            </a:r>
            <a:r>
              <a:rPr kumimoji="1" lang="en-US" altLang="zh-TW" dirty="0"/>
              <a:t>Tokenizers:</a:t>
            </a:r>
            <a:r>
              <a:rPr kumimoji="1" lang="zh-TW" altLang="en-US" dirty="0"/>
              <a:t> </a:t>
            </a:r>
            <a:r>
              <a:rPr kumimoji="1" lang="en-US" altLang="zh-TW" dirty="0"/>
              <a:t>Word-based</a:t>
            </a:r>
            <a:endParaRPr kumimoji="1" lang="zh-TW" altLang="en-US" dirty="0"/>
          </a:p>
        </p:txBody>
      </p:sp>
      <p:sp>
        <p:nvSpPr>
          <p:cNvPr id="3" name="內容版面配置區 2">
            <a:extLst>
              <a:ext uri="{FF2B5EF4-FFF2-40B4-BE49-F238E27FC236}">
                <a16:creationId xmlns:a16="http://schemas.microsoft.com/office/drawing/2014/main" id="{7F3EE17F-F91D-5921-7FC3-B20C23382D85}"/>
              </a:ext>
            </a:extLst>
          </p:cNvPr>
          <p:cNvSpPr>
            <a:spLocks noGrp="1"/>
          </p:cNvSpPr>
          <p:nvPr>
            <p:ph idx="1"/>
          </p:nvPr>
        </p:nvSpPr>
        <p:spPr>
          <a:xfrm>
            <a:off x="838200" y="1825625"/>
            <a:ext cx="10515600" cy="4667250"/>
          </a:xfrm>
        </p:spPr>
        <p:txBody>
          <a:bodyPr>
            <a:normAutofit fontScale="92500" lnSpcReduction="10000"/>
          </a:bodyPr>
          <a:lstStyle/>
          <a:p>
            <a:pPr>
              <a:lnSpc>
                <a:spcPct val="110000"/>
              </a:lnSpc>
            </a:pPr>
            <a:r>
              <a:rPr kumimoji="1" lang="zh-TW" altLang="en-US" dirty="0"/>
              <a:t>每個</a:t>
            </a:r>
            <a:r>
              <a:rPr kumimoji="1" lang="en-US" altLang="zh-TW" dirty="0"/>
              <a:t>word</a:t>
            </a:r>
            <a:r>
              <a:rPr kumimoji="1" lang="zh-TW" altLang="en-US" dirty="0"/>
              <a:t>都用來表示唯一的</a:t>
            </a:r>
            <a:r>
              <a:rPr kumimoji="1" lang="en-US" altLang="zh-TW" dirty="0"/>
              <a:t>token</a:t>
            </a:r>
            <a:r>
              <a:rPr kumimoji="1" lang="zh-TW" altLang="en-US" dirty="0"/>
              <a:t>。這是一種最直觀的詞元化類型</a:t>
            </a:r>
            <a:endParaRPr kumimoji="1" lang="en-US" altLang="zh-TW" dirty="0"/>
          </a:p>
          <a:p>
            <a:pPr lvl="1">
              <a:lnSpc>
                <a:spcPct val="110000"/>
              </a:lnSpc>
            </a:pPr>
            <a:r>
              <a:rPr kumimoji="1" lang="zh-TW" altLang="en-US" dirty="0"/>
              <a:t>但它有一些缺點。</a:t>
            </a:r>
            <a:endParaRPr kumimoji="1" lang="en-US" altLang="zh-TW" dirty="0"/>
          </a:p>
          <a:p>
            <a:pPr lvl="1">
              <a:lnSpc>
                <a:spcPct val="110000"/>
              </a:lnSpc>
            </a:pPr>
            <a:r>
              <a:rPr kumimoji="1" lang="zh-TW" altLang="en-US" dirty="0"/>
              <a:t>例如，</a:t>
            </a:r>
            <a:r>
              <a:rPr kumimoji="1" lang="en" altLang="zh-TW" dirty="0"/>
              <a:t>don‘t</a:t>
            </a:r>
            <a:r>
              <a:rPr kumimoji="1" lang="zh-TW" altLang="en-US" dirty="0"/>
              <a:t>和</a:t>
            </a:r>
            <a:r>
              <a:rPr kumimoji="1" lang="en" altLang="zh-TW" dirty="0"/>
              <a:t>do not</a:t>
            </a:r>
            <a:r>
              <a:rPr kumimoji="1" lang="zh-TW" altLang="en-US" dirty="0"/>
              <a:t>將由不同的</a:t>
            </a:r>
            <a:r>
              <a:rPr kumimoji="1" lang="en-US" altLang="zh-TW" dirty="0"/>
              <a:t>token</a:t>
            </a:r>
            <a:r>
              <a:rPr kumimoji="1" lang="zh-TW" altLang="en-US" dirty="0"/>
              <a:t>表示，但它們的意思是一樣的。另一個例子是單詞</a:t>
            </a:r>
            <a:r>
              <a:rPr kumimoji="1" lang="en" altLang="zh-TW" dirty="0"/>
              <a:t>car</a:t>
            </a:r>
            <a:r>
              <a:rPr kumimoji="1" lang="zh-TW" altLang="en-US" dirty="0"/>
              <a:t>和</a:t>
            </a:r>
            <a:r>
              <a:rPr kumimoji="1" lang="en" altLang="zh-TW" dirty="0"/>
              <a:t>cars</a:t>
            </a:r>
            <a:r>
              <a:rPr kumimoji="1" lang="zh-TW" altLang="en-US" dirty="0"/>
              <a:t>或</a:t>
            </a:r>
            <a:r>
              <a:rPr kumimoji="1" lang="en" altLang="zh-TW" dirty="0"/>
              <a:t>ready</a:t>
            </a:r>
            <a:r>
              <a:rPr kumimoji="1" lang="zh-TW" altLang="en-US" dirty="0"/>
              <a:t>和</a:t>
            </a:r>
            <a:r>
              <a:rPr kumimoji="1" lang="en" altLang="zh-TW" dirty="0"/>
              <a:t>readily</a:t>
            </a:r>
            <a:r>
              <a:rPr kumimoji="1" lang="zh-TW" altLang="en" dirty="0"/>
              <a:t>，</a:t>
            </a:r>
            <a:r>
              <a:rPr kumimoji="1" lang="zh-TW" altLang="en-US" dirty="0"/>
              <a:t>它們將由不同的</a:t>
            </a:r>
            <a:r>
              <a:rPr kumimoji="1" lang="en-US" altLang="zh-TW" dirty="0"/>
              <a:t>token</a:t>
            </a:r>
            <a:r>
              <a:rPr kumimoji="1" lang="zh-TW" altLang="en-US" dirty="0"/>
              <a:t>表示，可是可能只需要各一個字就好。</a:t>
            </a:r>
            <a:endParaRPr kumimoji="1" lang="en-US" altLang="zh-TW" dirty="0"/>
          </a:p>
          <a:p>
            <a:pPr>
              <a:lnSpc>
                <a:spcPct val="110000"/>
              </a:lnSpc>
            </a:pPr>
            <a:r>
              <a:rPr kumimoji="1" lang="zh-TW" altLang="en-US" dirty="0"/>
              <a:t>由於自然語言非常多樣，因此有很多類似的邊緣案例。</a:t>
            </a:r>
            <a:endParaRPr kumimoji="1" lang="en-US" altLang="zh-TW" dirty="0"/>
          </a:p>
          <a:p>
            <a:pPr>
              <a:lnSpc>
                <a:spcPct val="110000"/>
              </a:lnSpc>
            </a:pPr>
            <a:r>
              <a:rPr kumimoji="1" lang="zh-TW" altLang="en-US" dirty="0"/>
              <a:t>問題不僅是語義相似的單詞將具有無關的詞元，而且由此產生的唯一詞元數量也很大。</a:t>
            </a:r>
            <a:endParaRPr kumimoji="1" lang="en-US" altLang="zh-TW" dirty="0"/>
          </a:p>
          <a:p>
            <a:pPr lvl="1">
              <a:lnSpc>
                <a:spcPct val="110000"/>
              </a:lnSpc>
            </a:pPr>
            <a:r>
              <a:rPr kumimoji="1" lang="zh-TW" altLang="en-US" dirty="0"/>
              <a:t>這將使模型的計算效率低下。它還將產生許多出現次數很少的</a:t>
            </a:r>
            <a:r>
              <a:rPr kumimoji="1" lang="en-US" altLang="zh-TW" dirty="0"/>
              <a:t>token</a:t>
            </a:r>
            <a:r>
              <a:rPr kumimoji="1" lang="zh-TW" altLang="en-US" dirty="0"/>
              <a:t>，這將給模型的學習帶來挑戰。</a:t>
            </a:r>
            <a:endParaRPr kumimoji="1" lang="en-US" altLang="zh-TW" dirty="0"/>
          </a:p>
          <a:p>
            <a:pPr>
              <a:lnSpc>
                <a:spcPct val="110000"/>
              </a:lnSpc>
            </a:pPr>
            <a:r>
              <a:rPr kumimoji="1" lang="zh-TW" altLang="en-US" dirty="0"/>
              <a:t>最後，我們可能會在新的文本語料庫中遇到未知的單詞。</a:t>
            </a:r>
          </a:p>
        </p:txBody>
      </p:sp>
    </p:spTree>
    <p:extLst>
      <p:ext uri="{BB962C8B-B14F-4D97-AF65-F5344CB8AC3E}">
        <p14:creationId xmlns:p14="http://schemas.microsoft.com/office/powerpoint/2010/main" val="423943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73C41C-FEE8-5CFA-2500-88205BE43590}"/>
              </a:ext>
            </a:extLst>
          </p:cNvPr>
          <p:cNvSpPr>
            <a:spLocks noGrp="1"/>
          </p:cNvSpPr>
          <p:nvPr>
            <p:ph type="title"/>
          </p:nvPr>
        </p:nvSpPr>
        <p:spPr/>
        <p:txBody>
          <a:bodyPr/>
          <a:lstStyle/>
          <a:p>
            <a:r>
              <a:rPr kumimoji="1" lang="zh-TW" altLang="en-US" dirty="0"/>
              <a:t>自然語言處理 </a:t>
            </a:r>
            <a:r>
              <a:rPr kumimoji="1" lang="en-US" altLang="zh-TW" dirty="0"/>
              <a:t>-</a:t>
            </a:r>
            <a:r>
              <a:rPr kumimoji="1" lang="zh-TW" altLang="en-US" dirty="0"/>
              <a:t> </a:t>
            </a:r>
            <a:r>
              <a:rPr kumimoji="1" lang="en-US" altLang="zh-TW" dirty="0"/>
              <a:t>Tokenizers:</a:t>
            </a:r>
            <a:r>
              <a:rPr kumimoji="1" lang="zh-TW" altLang="en-US" dirty="0"/>
              <a:t> </a:t>
            </a:r>
            <a:r>
              <a:rPr kumimoji="1" lang="en-US" altLang="zh-TW" dirty="0"/>
              <a:t>Character-based</a:t>
            </a:r>
            <a:endParaRPr kumimoji="1" lang="zh-TW" altLang="en-US" dirty="0"/>
          </a:p>
        </p:txBody>
      </p:sp>
      <p:sp>
        <p:nvSpPr>
          <p:cNvPr id="3" name="內容版面配置區 2">
            <a:extLst>
              <a:ext uri="{FF2B5EF4-FFF2-40B4-BE49-F238E27FC236}">
                <a16:creationId xmlns:a16="http://schemas.microsoft.com/office/drawing/2014/main" id="{DC0A4D77-BCDF-84B8-F271-15EE1D9FEB50}"/>
              </a:ext>
            </a:extLst>
          </p:cNvPr>
          <p:cNvSpPr>
            <a:spLocks noGrp="1"/>
          </p:cNvSpPr>
          <p:nvPr>
            <p:ph idx="1"/>
          </p:nvPr>
        </p:nvSpPr>
        <p:spPr/>
        <p:txBody>
          <a:bodyPr/>
          <a:lstStyle/>
          <a:p>
            <a:r>
              <a:rPr kumimoji="1" lang="en-US" altLang="zh-TW" dirty="0"/>
              <a:t>Character(</a:t>
            </a:r>
            <a:r>
              <a:rPr kumimoji="1" lang="zh-TW" altLang="en-US" dirty="0"/>
              <a:t>字符</a:t>
            </a:r>
            <a:r>
              <a:rPr kumimoji="1" lang="en-US" altLang="zh-TW" dirty="0"/>
              <a:t>)-based </a:t>
            </a:r>
            <a:r>
              <a:rPr kumimoji="1" lang="zh-TW" altLang="en-US" dirty="0"/>
              <a:t>：文本中的每個</a:t>
            </a:r>
            <a:r>
              <a:rPr kumimoji="1" lang="en-US" altLang="zh-TW" dirty="0"/>
              <a:t>character</a:t>
            </a:r>
            <a:r>
              <a:rPr kumimoji="1" lang="zh-TW" altLang="en-US" dirty="0"/>
              <a:t>（字母、數字、標點符號等）都是唯一的</a:t>
            </a:r>
            <a:r>
              <a:rPr kumimoji="1" lang="en-US" altLang="zh-TW" dirty="0"/>
              <a:t>token</a:t>
            </a:r>
            <a:r>
              <a:rPr kumimoji="1" lang="zh-TW" altLang="en-US" dirty="0"/>
              <a:t>。</a:t>
            </a:r>
            <a:endParaRPr kumimoji="1" lang="en-US" altLang="zh-TW" dirty="0"/>
          </a:p>
          <a:p>
            <a:r>
              <a:rPr kumimoji="1" lang="zh-TW" altLang="en-US" dirty="0"/>
              <a:t>通過這種方式，我們可以減少</a:t>
            </a:r>
            <a:r>
              <a:rPr kumimoji="1" lang="en-US" altLang="zh-TW" dirty="0"/>
              <a:t>token</a:t>
            </a:r>
            <a:r>
              <a:rPr kumimoji="1" lang="zh-TW" altLang="en-US" dirty="0"/>
              <a:t>數量，因為字符總數是有限的。由於事先知道所有字符，因此不會遇到未知符號。</a:t>
            </a:r>
            <a:endParaRPr kumimoji="1" lang="en-US" altLang="zh-TW" dirty="0"/>
          </a:p>
          <a:p>
            <a:r>
              <a:rPr kumimoji="1" lang="zh-TW" altLang="en-US" dirty="0"/>
              <a:t>然而，與基於單詞的模型相比，這種詞元化方式較不直觀，因為由字符組成的上下文不如基於單詞的上下文有意義。</a:t>
            </a:r>
            <a:endParaRPr kumimoji="1" lang="en-US" altLang="zh-TW" dirty="0"/>
          </a:p>
          <a:p>
            <a:r>
              <a:rPr kumimoji="1" lang="zh-TW" altLang="en-US" dirty="0"/>
              <a:t>雖然唯一詞元的數量相對較小，但語料庫中的總詞元數量將非常大（等於文本資料裡面所有字符的總個數，就像</a:t>
            </a:r>
            <a:r>
              <a:rPr kumimoji="1" lang="en-US" altLang="zh-TW" dirty="0"/>
              <a:t>1G</a:t>
            </a:r>
            <a:r>
              <a:rPr kumimoji="1" lang="zh-TW" altLang="en-US" dirty="0"/>
              <a:t>的資料就有</a:t>
            </a:r>
            <a:r>
              <a:rPr kumimoji="1" lang="en-US" altLang="zh-TW" dirty="0"/>
              <a:t>1G</a:t>
            </a:r>
            <a:r>
              <a:rPr kumimoji="1" lang="zh-TW" altLang="en-US" dirty="0"/>
              <a:t>個</a:t>
            </a:r>
            <a:r>
              <a:rPr kumimoji="1" lang="en-US" altLang="zh-TW" dirty="0"/>
              <a:t>tokens</a:t>
            </a:r>
            <a:r>
              <a:rPr kumimoji="1" lang="zh-TW" altLang="en-US" dirty="0"/>
              <a:t>）。</a:t>
            </a:r>
          </a:p>
        </p:txBody>
      </p:sp>
    </p:spTree>
    <p:extLst>
      <p:ext uri="{BB962C8B-B14F-4D97-AF65-F5344CB8AC3E}">
        <p14:creationId xmlns:p14="http://schemas.microsoft.com/office/powerpoint/2010/main" val="1255059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528A35-BC28-B80F-0737-7B310F9D2C8A}"/>
              </a:ext>
            </a:extLst>
          </p:cNvPr>
          <p:cNvSpPr>
            <a:spLocks noGrp="1"/>
          </p:cNvSpPr>
          <p:nvPr>
            <p:ph type="title"/>
          </p:nvPr>
        </p:nvSpPr>
        <p:spPr/>
        <p:txBody>
          <a:bodyPr/>
          <a:lstStyle/>
          <a:p>
            <a:r>
              <a:rPr kumimoji="1" lang="zh-TW" altLang="en-US" dirty="0"/>
              <a:t>自然語言處理 </a:t>
            </a:r>
            <a:r>
              <a:rPr kumimoji="1" lang="en-US" altLang="zh-TW" dirty="0"/>
              <a:t>-</a:t>
            </a:r>
            <a:r>
              <a:rPr kumimoji="1" lang="zh-TW" altLang="en-US" dirty="0"/>
              <a:t> </a:t>
            </a:r>
            <a:r>
              <a:rPr kumimoji="1" lang="en-US" altLang="zh-TW" dirty="0"/>
              <a:t>Tokenizers:</a:t>
            </a:r>
            <a:r>
              <a:rPr kumimoji="1" lang="zh-TW" altLang="en-US" dirty="0"/>
              <a:t> </a:t>
            </a:r>
            <a:r>
              <a:rPr kumimoji="1" lang="en-US" altLang="zh-TW" dirty="0"/>
              <a:t>Character-based</a:t>
            </a:r>
            <a:endParaRPr kumimoji="1" lang="zh-TW" altLang="en-US" dirty="0"/>
          </a:p>
        </p:txBody>
      </p:sp>
      <p:sp>
        <p:nvSpPr>
          <p:cNvPr id="3" name="內容版面配置區 2">
            <a:extLst>
              <a:ext uri="{FF2B5EF4-FFF2-40B4-BE49-F238E27FC236}">
                <a16:creationId xmlns:a16="http://schemas.microsoft.com/office/drawing/2014/main" id="{49A72CE8-E8E5-7418-9856-342D331CDF88}"/>
              </a:ext>
            </a:extLst>
          </p:cNvPr>
          <p:cNvSpPr>
            <a:spLocks noGrp="1"/>
          </p:cNvSpPr>
          <p:nvPr>
            <p:ph idx="1"/>
          </p:nvPr>
        </p:nvSpPr>
        <p:spPr>
          <a:xfrm>
            <a:off x="838200" y="1825624"/>
            <a:ext cx="10515600" cy="4879975"/>
          </a:xfrm>
        </p:spPr>
        <p:txBody>
          <a:bodyPr>
            <a:normAutofit fontScale="85000" lnSpcReduction="10000"/>
          </a:bodyPr>
          <a:lstStyle/>
          <a:p>
            <a:pPr>
              <a:lnSpc>
                <a:spcPct val="110000"/>
              </a:lnSpc>
            </a:pPr>
            <a:r>
              <a:rPr kumimoji="1" lang="zh-TW" altLang="en-US" dirty="0"/>
              <a:t>子詞</a:t>
            </a:r>
            <a:r>
              <a:rPr kumimoji="1" lang="en-US" altLang="zh-TW" dirty="0"/>
              <a:t>(</a:t>
            </a:r>
            <a:r>
              <a:rPr kumimoji="1" lang="en-US" altLang="zh-TW" dirty="0" err="1"/>
              <a:t>Subword</a:t>
            </a:r>
            <a:r>
              <a:rPr kumimoji="1" lang="en-US" altLang="zh-TW" dirty="0"/>
              <a:t>)</a:t>
            </a:r>
            <a:r>
              <a:rPr kumimoji="1" lang="zh-TW" altLang="en-US" dirty="0"/>
              <a:t> </a:t>
            </a:r>
            <a:r>
              <a:rPr kumimoji="1" lang="en-US" altLang="zh-TW" dirty="0"/>
              <a:t>tokenization</a:t>
            </a:r>
            <a:r>
              <a:rPr kumimoji="1" lang="zh-TW" altLang="en-US" dirty="0"/>
              <a:t>：這是一個兩步驟的過程，首先將語料庫拆分為單詞。</a:t>
            </a:r>
            <a:endParaRPr kumimoji="1" lang="en-US" altLang="zh-TW" dirty="0"/>
          </a:p>
          <a:p>
            <a:pPr lvl="1">
              <a:lnSpc>
                <a:spcPct val="110000"/>
              </a:lnSpc>
            </a:pPr>
            <a:r>
              <a:rPr kumimoji="1" lang="zh-TW" altLang="en-US" dirty="0"/>
              <a:t>拆分文本最明顯的方法是在空白處。此外，我們還可以根據空白和標點符號進行拆分。</a:t>
            </a:r>
            <a:endParaRPr kumimoji="1" lang="en-US" altLang="zh-TW" dirty="0"/>
          </a:p>
          <a:p>
            <a:pPr>
              <a:lnSpc>
                <a:spcPct val="110000"/>
              </a:lnSpc>
            </a:pPr>
            <a:r>
              <a:rPr kumimoji="1" lang="zh-TW" altLang="en-US" dirty="0"/>
              <a:t>在自然語言處理術語中，此步驟稱為</a:t>
            </a:r>
            <a:r>
              <a:rPr kumimoji="1" lang="en" altLang="zh-TW" dirty="0"/>
              <a:t>pre-tokenization</a:t>
            </a:r>
            <a:r>
              <a:rPr kumimoji="1" lang="zh-TW" altLang="en-US" dirty="0"/>
              <a:t>。然後，它保留常用的單詞並將罕見的單詞分解為有意義，更常見的子詞。</a:t>
            </a:r>
            <a:endParaRPr kumimoji="1" lang="en-US" altLang="zh-TW" dirty="0"/>
          </a:p>
          <a:p>
            <a:pPr>
              <a:lnSpc>
                <a:spcPct val="110000"/>
              </a:lnSpc>
            </a:pPr>
            <a:r>
              <a:rPr kumimoji="1" lang="zh-TW" altLang="en-US" dirty="0"/>
              <a:t>例如，我們可以將單詞</a:t>
            </a:r>
            <a:r>
              <a:rPr kumimoji="1" lang="en" altLang="zh-TW" dirty="0"/>
              <a:t>tokenization</a:t>
            </a:r>
            <a:r>
              <a:rPr kumimoji="1" lang="zh-TW" altLang="en-US" dirty="0"/>
              <a:t>分解為</a:t>
            </a:r>
            <a:r>
              <a:rPr kumimoji="1" lang="en-US" altLang="zh-TW" dirty="0"/>
              <a:t>'</a:t>
            </a:r>
            <a:r>
              <a:rPr kumimoji="1" lang="en" altLang="zh-TW" dirty="0"/>
              <a:t>token</a:t>
            </a:r>
            <a:r>
              <a:rPr kumimoji="1" lang="en-US" altLang="zh-TW" dirty="0"/>
              <a:t> '</a:t>
            </a:r>
            <a:r>
              <a:rPr kumimoji="1" lang="zh-TW" altLang="en-US" dirty="0"/>
              <a:t> </a:t>
            </a:r>
            <a:r>
              <a:rPr kumimoji="1" lang="en-US" altLang="zh-TW" dirty="0"/>
              <a:t>+</a:t>
            </a:r>
            <a:r>
              <a:rPr kumimoji="1" lang="zh-TW" altLang="en-US" dirty="0"/>
              <a:t> </a:t>
            </a:r>
            <a:r>
              <a:rPr kumimoji="1" lang="en-US" altLang="zh-TW" dirty="0"/>
              <a:t>' </a:t>
            </a:r>
            <a:r>
              <a:rPr kumimoji="1" lang="en" altLang="zh-TW" dirty="0" err="1"/>
              <a:t>ization</a:t>
            </a:r>
            <a:r>
              <a:rPr kumimoji="1" lang="en-US" altLang="zh-TW" dirty="0"/>
              <a:t> ' </a:t>
            </a:r>
            <a:r>
              <a:rPr kumimoji="1" lang="zh-TW" altLang="en" dirty="0"/>
              <a:t>，</a:t>
            </a:r>
            <a:r>
              <a:rPr kumimoji="1" lang="zh-TW" altLang="en-US" dirty="0"/>
              <a:t>每個單詞都有自己的詞元。</a:t>
            </a:r>
            <a:endParaRPr kumimoji="1" lang="en-US" altLang="zh-TW" dirty="0"/>
          </a:p>
          <a:p>
            <a:pPr lvl="1">
              <a:lnSpc>
                <a:spcPct val="110000"/>
              </a:lnSpc>
            </a:pPr>
            <a:r>
              <a:rPr kumimoji="1" lang="zh-TW" altLang="en-US" dirty="0"/>
              <a:t>然後，當我們遇到單詞</a:t>
            </a:r>
            <a:r>
              <a:rPr kumimoji="1" lang="en" altLang="zh-TW" dirty="0"/>
              <a:t>carbonization</a:t>
            </a:r>
            <a:r>
              <a:rPr kumimoji="1" lang="zh-TW" altLang="en-US" dirty="0"/>
              <a:t>時，我們可以將其分解為</a:t>
            </a:r>
            <a:r>
              <a:rPr kumimoji="1" lang="en" altLang="zh-TW" dirty="0"/>
              <a:t>carbon</a:t>
            </a:r>
            <a:r>
              <a:rPr kumimoji="1" lang="zh-TW" altLang="en-US" dirty="0"/>
              <a:t>和</a:t>
            </a:r>
            <a:r>
              <a:rPr kumimoji="1" lang="en" altLang="zh-TW" dirty="0" err="1"/>
              <a:t>ization</a:t>
            </a:r>
            <a:r>
              <a:rPr kumimoji="1" lang="zh-TW" altLang="en" dirty="0"/>
              <a:t>。</a:t>
            </a:r>
            <a:endParaRPr kumimoji="1" lang="en-US" altLang="zh-TW" dirty="0"/>
          </a:p>
          <a:p>
            <a:pPr>
              <a:lnSpc>
                <a:spcPct val="110000"/>
              </a:lnSpc>
            </a:pPr>
            <a:r>
              <a:rPr kumimoji="1" lang="zh-TW" altLang="en-US" dirty="0"/>
              <a:t>通過這種方式，我們將具有兩次出現的</a:t>
            </a:r>
            <a:r>
              <a:rPr kumimoji="1" lang="en" altLang="zh-TW" dirty="0" err="1"/>
              <a:t>ization</a:t>
            </a:r>
            <a:r>
              <a:rPr kumimoji="1" lang="zh-TW" altLang="en" dirty="0"/>
              <a:t>，</a:t>
            </a:r>
            <a:r>
              <a:rPr kumimoji="1" lang="zh-TW" altLang="en-US" dirty="0"/>
              <a:t>而不是單詞</a:t>
            </a:r>
            <a:r>
              <a:rPr kumimoji="1" lang="en" altLang="zh-TW" dirty="0"/>
              <a:t>tokenization</a:t>
            </a:r>
            <a:r>
              <a:rPr kumimoji="1" lang="zh-TW" altLang="en-US" dirty="0"/>
              <a:t>和</a:t>
            </a:r>
            <a:r>
              <a:rPr kumimoji="1" lang="en" altLang="zh-TW" dirty="0"/>
              <a:t>carbonization</a:t>
            </a:r>
            <a:r>
              <a:rPr kumimoji="1" lang="zh-TW" altLang="en-US" dirty="0"/>
              <a:t>的單次出現。</a:t>
            </a:r>
            <a:endParaRPr kumimoji="1" lang="en-US" altLang="zh-TW" dirty="0"/>
          </a:p>
          <a:p>
            <a:pPr lvl="1">
              <a:lnSpc>
                <a:spcPct val="110000"/>
              </a:lnSpc>
            </a:pPr>
            <a:r>
              <a:rPr kumimoji="1" lang="zh-TW" altLang="en-US" dirty="0"/>
              <a:t>子詞詞元化還可以將未知單詞分解為已知的詞元。</a:t>
            </a:r>
          </a:p>
        </p:txBody>
      </p:sp>
    </p:spTree>
    <p:extLst>
      <p:ext uri="{BB962C8B-B14F-4D97-AF65-F5344CB8AC3E}">
        <p14:creationId xmlns:p14="http://schemas.microsoft.com/office/powerpoint/2010/main" val="183097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23306B-72E0-40F2-FCEC-475D4732A4D9}"/>
              </a:ext>
            </a:extLst>
          </p:cNvPr>
          <p:cNvSpPr>
            <a:spLocks noGrp="1"/>
          </p:cNvSpPr>
          <p:nvPr>
            <p:ph type="title"/>
          </p:nvPr>
        </p:nvSpPr>
        <p:spPr/>
        <p:txBody>
          <a:bodyPr/>
          <a:lstStyle/>
          <a:p>
            <a:r>
              <a:rPr kumimoji="1" lang="zh-TW" altLang="en-US" dirty="0"/>
              <a:t>自然語言的編碼</a:t>
            </a:r>
          </a:p>
        </p:txBody>
      </p:sp>
      <p:sp>
        <p:nvSpPr>
          <p:cNvPr id="3" name="內容版面配置區 2">
            <a:extLst>
              <a:ext uri="{FF2B5EF4-FFF2-40B4-BE49-F238E27FC236}">
                <a16:creationId xmlns:a16="http://schemas.microsoft.com/office/drawing/2014/main" id="{3D453167-8B0D-7684-257C-1545D5997C83}"/>
              </a:ext>
            </a:extLst>
          </p:cNvPr>
          <p:cNvSpPr>
            <a:spLocks noGrp="1"/>
          </p:cNvSpPr>
          <p:nvPr>
            <p:ph idx="1"/>
          </p:nvPr>
        </p:nvSpPr>
        <p:spPr/>
        <p:txBody>
          <a:bodyPr>
            <a:normAutofit/>
          </a:bodyPr>
          <a:lstStyle/>
          <a:p>
            <a:pPr>
              <a:lnSpc>
                <a:spcPct val="100000"/>
              </a:lnSpc>
              <a:buFont typeface="Wingdings" pitchFamily="2" charset="2"/>
              <a:buChar char="l"/>
            </a:pPr>
            <a:r>
              <a:rPr kumimoji="1" lang="zh-TW" altLang="en-US" dirty="0"/>
              <a:t>思考：文字表示成數字</a:t>
            </a:r>
            <a:endParaRPr kumimoji="1" lang="en-US" altLang="zh-TW" dirty="0"/>
          </a:p>
          <a:p>
            <a:pPr lvl="1">
              <a:lnSpc>
                <a:spcPct val="100000"/>
              </a:lnSpc>
              <a:buFont typeface="Wingdings" pitchFamily="2" charset="2"/>
              <a:buChar char="l"/>
            </a:pPr>
            <a:r>
              <a:rPr kumimoji="1" lang="zh-TW" altLang="en-US" i="1" dirty="0"/>
              <a:t>「週末要加班」</a:t>
            </a:r>
            <a:r>
              <a:rPr kumimoji="1" lang="zh-TW" altLang="en-US" dirty="0"/>
              <a:t>這句話怎麼計算？</a:t>
            </a:r>
            <a:endParaRPr kumimoji="1" lang="en-US" altLang="zh-TW" dirty="0"/>
          </a:p>
          <a:p>
            <a:pPr lvl="1">
              <a:lnSpc>
                <a:spcPct val="100000"/>
              </a:lnSpc>
              <a:buFont typeface="Wingdings" pitchFamily="2" charset="2"/>
              <a:buChar char="l"/>
            </a:pPr>
            <a:r>
              <a:rPr kumimoji="1" lang="zh-TW" altLang="en-US" dirty="0"/>
              <a:t>需要將文字量化，轉成數字進行數學計算</a:t>
            </a:r>
            <a:endParaRPr kumimoji="1" lang="en-US" altLang="zh-TW" dirty="0"/>
          </a:p>
          <a:p>
            <a:pPr lvl="1">
              <a:lnSpc>
                <a:spcPct val="100000"/>
              </a:lnSpc>
              <a:buFont typeface="Wingdings" pitchFamily="2" charset="2"/>
              <a:buChar char="l"/>
            </a:pPr>
            <a:r>
              <a:rPr kumimoji="1" lang="zh-TW" altLang="en-US" dirty="0"/>
              <a:t>為什麼要用數字表示呢？</a:t>
            </a:r>
            <a:endParaRPr kumimoji="1" lang="en-US" altLang="zh-TW" dirty="0"/>
          </a:p>
          <a:p>
            <a:pPr lvl="1">
              <a:lnSpc>
                <a:spcPct val="100000"/>
              </a:lnSpc>
              <a:buFont typeface="Wingdings" pitchFamily="2" charset="2"/>
              <a:buChar char="l"/>
            </a:pPr>
            <a:r>
              <a:rPr kumimoji="1" lang="zh-TW" altLang="en-US" dirty="0"/>
              <a:t>因為電腦只能理解數字，不論在後續的演算法處理，亦或是近期火紅的深度學習，都必須使用數字來表示文字，讓電腦進行計算，畢竟電腦還是看不懂文字的！</a:t>
            </a:r>
            <a:endParaRPr kumimoji="1" lang="en-US" altLang="zh-TW" dirty="0"/>
          </a:p>
        </p:txBody>
      </p:sp>
    </p:spTree>
    <p:extLst>
      <p:ext uri="{BB962C8B-B14F-4D97-AF65-F5344CB8AC3E}">
        <p14:creationId xmlns:p14="http://schemas.microsoft.com/office/powerpoint/2010/main" val="2789324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12AD85-F667-8681-F1E6-167E24669194}"/>
              </a:ext>
            </a:extLst>
          </p:cNvPr>
          <p:cNvSpPr>
            <a:spLocks noGrp="1"/>
          </p:cNvSpPr>
          <p:nvPr>
            <p:ph type="title"/>
          </p:nvPr>
        </p:nvSpPr>
        <p:spPr/>
        <p:txBody>
          <a:bodyPr/>
          <a:lstStyle/>
          <a:p>
            <a:r>
              <a:rPr lang="zh-TW" altLang="en" dirty="0"/>
              <a:t>獨</a:t>
            </a:r>
            <a:r>
              <a:rPr lang="zh-TW" altLang="en-US" dirty="0"/>
              <a:t>熱編碼</a:t>
            </a:r>
            <a:r>
              <a:rPr lang="en" altLang="zh-TW" dirty="0"/>
              <a:t>One-hot encoding</a:t>
            </a:r>
            <a:endParaRPr kumimoji="1" lang="zh-TW" altLang="en-US" dirty="0"/>
          </a:p>
        </p:txBody>
      </p:sp>
      <p:sp>
        <p:nvSpPr>
          <p:cNvPr id="3" name="內容版面配置區 2">
            <a:extLst>
              <a:ext uri="{FF2B5EF4-FFF2-40B4-BE49-F238E27FC236}">
                <a16:creationId xmlns:a16="http://schemas.microsoft.com/office/drawing/2014/main" id="{25C87C08-4BD5-9586-0FB7-EA1833E66288}"/>
              </a:ext>
            </a:extLst>
          </p:cNvPr>
          <p:cNvSpPr>
            <a:spLocks noGrp="1"/>
          </p:cNvSpPr>
          <p:nvPr>
            <p:ph idx="1"/>
          </p:nvPr>
        </p:nvSpPr>
        <p:spPr/>
        <p:txBody>
          <a:bodyPr/>
          <a:lstStyle/>
          <a:p>
            <a:r>
              <a:rPr kumimoji="1" lang="zh-TW" altLang="en-US" dirty="0"/>
              <a:t>為了將類別 </a:t>
            </a:r>
            <a:r>
              <a:rPr kumimoji="1" lang="en-US" altLang="zh-TW" dirty="0"/>
              <a:t>(</a:t>
            </a:r>
            <a:r>
              <a:rPr kumimoji="1" lang="en" altLang="zh-TW" dirty="0"/>
              <a:t>categorical)</a:t>
            </a:r>
            <a:r>
              <a:rPr kumimoji="1" lang="zh-TW" altLang="en-US" dirty="0"/>
              <a:t>或是文字</a:t>
            </a:r>
            <a:r>
              <a:rPr kumimoji="1" lang="en-US" altLang="zh-TW" dirty="0"/>
              <a:t>(</a:t>
            </a:r>
            <a:r>
              <a:rPr kumimoji="1" lang="en" altLang="zh-TW" dirty="0"/>
              <a:t>text)</a:t>
            </a:r>
            <a:r>
              <a:rPr kumimoji="1" lang="zh-TW" altLang="en-US" dirty="0"/>
              <a:t>的資料轉換成數字，而讓程式能夠更好的去理解及運算。</a:t>
            </a:r>
            <a:endParaRPr kumimoji="1" lang="en-US" altLang="zh-TW" dirty="0"/>
          </a:p>
          <a:p>
            <a:r>
              <a:rPr kumimoji="1" lang="en" altLang="zh-TW" dirty="0"/>
              <a:t>One hot encoding : </a:t>
            </a:r>
            <a:r>
              <a:rPr kumimoji="1" lang="zh-TW" altLang="en-US" dirty="0"/>
              <a:t>為「每個類別」新增一個欄位，用 </a:t>
            </a:r>
            <a:r>
              <a:rPr kumimoji="1" lang="en-US" altLang="zh-TW" dirty="0"/>
              <a:t>0/1 </a:t>
            </a:r>
            <a:r>
              <a:rPr kumimoji="1" lang="zh-TW" altLang="en-US" dirty="0"/>
              <a:t>表示是否</a:t>
            </a:r>
            <a:endParaRPr kumimoji="1" lang="en-US" altLang="zh-TW" dirty="0"/>
          </a:p>
          <a:p>
            <a:endParaRPr kumimoji="1" lang="zh-TW" altLang="en-US" dirty="0"/>
          </a:p>
        </p:txBody>
      </p:sp>
      <p:graphicFrame>
        <p:nvGraphicFramePr>
          <p:cNvPr id="4" name="表格 3">
            <a:extLst>
              <a:ext uri="{FF2B5EF4-FFF2-40B4-BE49-F238E27FC236}">
                <a16:creationId xmlns:a16="http://schemas.microsoft.com/office/drawing/2014/main" id="{C70AF1CE-88D2-26CF-F836-E987EFEEBBFB}"/>
              </a:ext>
            </a:extLst>
          </p:cNvPr>
          <p:cNvGraphicFramePr>
            <a:graphicFrameLocks noGrp="1"/>
          </p:cNvGraphicFramePr>
          <p:nvPr/>
        </p:nvGraphicFramePr>
        <p:xfrm>
          <a:off x="1087120" y="3856037"/>
          <a:ext cx="3230880" cy="1854200"/>
        </p:xfrm>
        <a:graphic>
          <a:graphicData uri="http://schemas.openxmlformats.org/drawingml/2006/table">
            <a:tbl>
              <a:tblPr firstRow="1" bandRow="1">
                <a:tableStyleId>{5C22544A-7EE6-4342-B048-85BDC9FD1C3A}</a:tableStyleId>
              </a:tblPr>
              <a:tblGrid>
                <a:gridCol w="1503680">
                  <a:extLst>
                    <a:ext uri="{9D8B030D-6E8A-4147-A177-3AD203B41FA5}">
                      <a16:colId xmlns:a16="http://schemas.microsoft.com/office/drawing/2014/main" val="2455682645"/>
                    </a:ext>
                  </a:extLst>
                </a:gridCol>
                <a:gridCol w="1727200">
                  <a:extLst>
                    <a:ext uri="{9D8B030D-6E8A-4147-A177-3AD203B41FA5}">
                      <a16:colId xmlns:a16="http://schemas.microsoft.com/office/drawing/2014/main" val="2574083639"/>
                    </a:ext>
                  </a:extLst>
                </a:gridCol>
              </a:tblGrid>
              <a:tr h="370840">
                <a:tc>
                  <a:txBody>
                    <a:bodyPr/>
                    <a:lstStyle/>
                    <a:p>
                      <a:r>
                        <a:rPr lang="zh-TW" altLang="en-US" dirty="0"/>
                        <a:t>地點</a:t>
                      </a:r>
                    </a:p>
                  </a:txBody>
                  <a:tcPr/>
                </a:tc>
                <a:tc>
                  <a:txBody>
                    <a:bodyPr/>
                    <a:lstStyle/>
                    <a:p>
                      <a:r>
                        <a:rPr lang="zh-TW" altLang="en-US" dirty="0"/>
                        <a:t>房價</a:t>
                      </a:r>
                    </a:p>
                  </a:txBody>
                  <a:tcPr/>
                </a:tc>
                <a:extLst>
                  <a:ext uri="{0D108BD9-81ED-4DB2-BD59-A6C34878D82A}">
                    <a16:rowId xmlns:a16="http://schemas.microsoft.com/office/drawing/2014/main" val="1871682328"/>
                  </a:ext>
                </a:extLst>
              </a:tr>
              <a:tr h="370840">
                <a:tc>
                  <a:txBody>
                    <a:bodyPr/>
                    <a:lstStyle/>
                    <a:p>
                      <a:r>
                        <a:rPr lang="zh-TW" altLang="en-US" dirty="0"/>
                        <a:t>大安區</a:t>
                      </a:r>
                    </a:p>
                  </a:txBody>
                  <a:tcPr/>
                </a:tc>
                <a:tc>
                  <a:txBody>
                    <a:bodyPr/>
                    <a:lstStyle/>
                    <a:p>
                      <a:r>
                        <a:rPr lang="en-US" altLang="zh-TW" dirty="0"/>
                        <a:t>90</a:t>
                      </a:r>
                      <a:endParaRPr lang="zh-TW" altLang="en-US" dirty="0"/>
                    </a:p>
                  </a:txBody>
                  <a:tcPr/>
                </a:tc>
                <a:extLst>
                  <a:ext uri="{0D108BD9-81ED-4DB2-BD59-A6C34878D82A}">
                    <a16:rowId xmlns:a16="http://schemas.microsoft.com/office/drawing/2014/main" val="4116834622"/>
                  </a:ext>
                </a:extLst>
              </a:tr>
              <a:tr h="370840">
                <a:tc>
                  <a:txBody>
                    <a:bodyPr/>
                    <a:lstStyle/>
                    <a:p>
                      <a:r>
                        <a:rPr lang="zh-TW" altLang="en-US" dirty="0"/>
                        <a:t>信義區</a:t>
                      </a:r>
                    </a:p>
                  </a:txBody>
                  <a:tcPr/>
                </a:tc>
                <a:tc>
                  <a:txBody>
                    <a:bodyPr/>
                    <a:lstStyle/>
                    <a:p>
                      <a:r>
                        <a:rPr lang="en-US" altLang="zh-TW" dirty="0"/>
                        <a:t>100</a:t>
                      </a:r>
                      <a:endParaRPr lang="zh-TW" altLang="en-US" dirty="0"/>
                    </a:p>
                  </a:txBody>
                  <a:tcPr/>
                </a:tc>
                <a:extLst>
                  <a:ext uri="{0D108BD9-81ED-4DB2-BD59-A6C34878D82A}">
                    <a16:rowId xmlns:a16="http://schemas.microsoft.com/office/drawing/2014/main" val="1296068168"/>
                  </a:ext>
                </a:extLst>
              </a:tr>
              <a:tr h="370840">
                <a:tc>
                  <a:txBody>
                    <a:bodyPr/>
                    <a:lstStyle/>
                    <a:p>
                      <a:r>
                        <a:rPr lang="zh-TW" altLang="en-US" dirty="0"/>
                        <a:t>南港區</a:t>
                      </a:r>
                    </a:p>
                  </a:txBody>
                  <a:tcPr/>
                </a:tc>
                <a:tc>
                  <a:txBody>
                    <a:bodyPr/>
                    <a:lstStyle/>
                    <a:p>
                      <a:r>
                        <a:rPr lang="en-US" altLang="zh-TW" dirty="0"/>
                        <a:t>80</a:t>
                      </a:r>
                      <a:endParaRPr lang="zh-TW" altLang="en-US" dirty="0"/>
                    </a:p>
                  </a:txBody>
                  <a:tcPr/>
                </a:tc>
                <a:extLst>
                  <a:ext uri="{0D108BD9-81ED-4DB2-BD59-A6C34878D82A}">
                    <a16:rowId xmlns:a16="http://schemas.microsoft.com/office/drawing/2014/main" val="1912958920"/>
                  </a:ext>
                </a:extLst>
              </a:tr>
              <a:tr h="370840">
                <a:tc>
                  <a:txBody>
                    <a:bodyPr/>
                    <a:lstStyle/>
                    <a:p>
                      <a:r>
                        <a:rPr lang="zh-TW" altLang="en-US" dirty="0"/>
                        <a:t>中正區</a:t>
                      </a:r>
                    </a:p>
                  </a:txBody>
                  <a:tcPr/>
                </a:tc>
                <a:tc>
                  <a:txBody>
                    <a:bodyPr/>
                    <a:lstStyle/>
                    <a:p>
                      <a:r>
                        <a:rPr lang="en-US" altLang="zh-TW" dirty="0"/>
                        <a:t>80</a:t>
                      </a:r>
                      <a:endParaRPr lang="zh-TW" altLang="en-US" dirty="0"/>
                    </a:p>
                  </a:txBody>
                  <a:tcPr/>
                </a:tc>
                <a:extLst>
                  <a:ext uri="{0D108BD9-81ED-4DB2-BD59-A6C34878D82A}">
                    <a16:rowId xmlns:a16="http://schemas.microsoft.com/office/drawing/2014/main" val="1379217331"/>
                  </a:ext>
                </a:extLst>
              </a:tr>
            </a:tbl>
          </a:graphicData>
        </a:graphic>
      </p:graphicFrame>
      <p:graphicFrame>
        <p:nvGraphicFramePr>
          <p:cNvPr id="5" name="表格 4">
            <a:extLst>
              <a:ext uri="{FF2B5EF4-FFF2-40B4-BE49-F238E27FC236}">
                <a16:creationId xmlns:a16="http://schemas.microsoft.com/office/drawing/2014/main" id="{E0664AB0-3DDF-47FC-DF54-7806E28E04FA}"/>
              </a:ext>
            </a:extLst>
          </p:cNvPr>
          <p:cNvGraphicFramePr>
            <a:graphicFrameLocks noGrp="1"/>
          </p:cNvGraphicFramePr>
          <p:nvPr/>
        </p:nvGraphicFramePr>
        <p:xfrm>
          <a:off x="5496560" y="3844131"/>
          <a:ext cx="5608321" cy="1854200"/>
        </p:xfrm>
        <a:graphic>
          <a:graphicData uri="http://schemas.openxmlformats.org/drawingml/2006/table">
            <a:tbl>
              <a:tblPr firstRow="1" bandRow="1">
                <a:tableStyleId>{5C22544A-7EE6-4342-B048-85BDC9FD1C3A}</a:tableStyleId>
              </a:tblPr>
              <a:tblGrid>
                <a:gridCol w="1002453">
                  <a:extLst>
                    <a:ext uri="{9D8B030D-6E8A-4147-A177-3AD203B41FA5}">
                      <a16:colId xmlns:a16="http://schemas.microsoft.com/office/drawing/2014/main" val="2455682645"/>
                    </a:ext>
                  </a:extLst>
                </a:gridCol>
                <a:gridCol w="1151467">
                  <a:extLst>
                    <a:ext uri="{9D8B030D-6E8A-4147-A177-3AD203B41FA5}">
                      <a16:colId xmlns:a16="http://schemas.microsoft.com/office/drawing/2014/main" val="336853325"/>
                    </a:ext>
                  </a:extLst>
                </a:gridCol>
                <a:gridCol w="1151467">
                  <a:extLst>
                    <a:ext uri="{9D8B030D-6E8A-4147-A177-3AD203B41FA5}">
                      <a16:colId xmlns:a16="http://schemas.microsoft.com/office/drawing/2014/main" val="1902058532"/>
                    </a:ext>
                  </a:extLst>
                </a:gridCol>
                <a:gridCol w="1151467">
                  <a:extLst>
                    <a:ext uri="{9D8B030D-6E8A-4147-A177-3AD203B41FA5}">
                      <a16:colId xmlns:a16="http://schemas.microsoft.com/office/drawing/2014/main" val="2295497215"/>
                    </a:ext>
                  </a:extLst>
                </a:gridCol>
                <a:gridCol w="1151467">
                  <a:extLst>
                    <a:ext uri="{9D8B030D-6E8A-4147-A177-3AD203B41FA5}">
                      <a16:colId xmlns:a16="http://schemas.microsoft.com/office/drawing/2014/main" val="3514998637"/>
                    </a:ext>
                  </a:extLst>
                </a:gridCol>
              </a:tblGrid>
              <a:tr h="370840">
                <a:tc>
                  <a:txBody>
                    <a:bodyPr/>
                    <a:lstStyle/>
                    <a:p>
                      <a:r>
                        <a:rPr lang="zh-TW" altLang="en-US" dirty="0"/>
                        <a:t>大安區</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信義區</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南港區</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中正區</a:t>
                      </a:r>
                    </a:p>
                  </a:txBody>
                  <a:tcPr/>
                </a:tc>
                <a:tc>
                  <a:txBody>
                    <a:bodyPr/>
                    <a:lstStyle/>
                    <a:p>
                      <a:r>
                        <a:rPr lang="zh-TW" altLang="en-US" dirty="0"/>
                        <a:t>房價</a:t>
                      </a:r>
                    </a:p>
                  </a:txBody>
                  <a:tcPr/>
                </a:tc>
                <a:extLst>
                  <a:ext uri="{0D108BD9-81ED-4DB2-BD59-A6C34878D82A}">
                    <a16:rowId xmlns:a16="http://schemas.microsoft.com/office/drawing/2014/main" val="1871682328"/>
                  </a:ext>
                </a:extLst>
              </a:tr>
              <a:tr h="370840">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90</a:t>
                      </a:r>
                      <a:endParaRPr lang="zh-TW" altLang="en-US" dirty="0"/>
                    </a:p>
                  </a:txBody>
                  <a:tcPr/>
                </a:tc>
                <a:extLst>
                  <a:ext uri="{0D108BD9-81ED-4DB2-BD59-A6C34878D82A}">
                    <a16:rowId xmlns:a16="http://schemas.microsoft.com/office/drawing/2014/main" val="4116834622"/>
                  </a:ext>
                </a:extLst>
              </a:tr>
              <a:tr h="370840">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100</a:t>
                      </a:r>
                      <a:endParaRPr lang="zh-TW" altLang="en-US" dirty="0"/>
                    </a:p>
                  </a:txBody>
                  <a:tcPr/>
                </a:tc>
                <a:extLst>
                  <a:ext uri="{0D108BD9-81ED-4DB2-BD59-A6C34878D82A}">
                    <a16:rowId xmlns:a16="http://schemas.microsoft.com/office/drawing/2014/main" val="1296068168"/>
                  </a:ext>
                </a:extLst>
              </a:tr>
              <a:tr h="370840">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80</a:t>
                      </a:r>
                      <a:endParaRPr lang="zh-TW" altLang="en-US" dirty="0"/>
                    </a:p>
                  </a:txBody>
                  <a:tcPr/>
                </a:tc>
                <a:extLst>
                  <a:ext uri="{0D108BD9-81ED-4DB2-BD59-A6C34878D82A}">
                    <a16:rowId xmlns:a16="http://schemas.microsoft.com/office/drawing/2014/main" val="1912958920"/>
                  </a:ext>
                </a:extLst>
              </a:tr>
              <a:tr h="370840">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80</a:t>
                      </a:r>
                      <a:endParaRPr lang="zh-TW" altLang="en-US" dirty="0"/>
                    </a:p>
                  </a:txBody>
                  <a:tcPr/>
                </a:tc>
                <a:extLst>
                  <a:ext uri="{0D108BD9-81ED-4DB2-BD59-A6C34878D82A}">
                    <a16:rowId xmlns:a16="http://schemas.microsoft.com/office/drawing/2014/main" val="1379217331"/>
                  </a:ext>
                </a:extLst>
              </a:tr>
            </a:tbl>
          </a:graphicData>
        </a:graphic>
      </p:graphicFrame>
      <p:sp>
        <p:nvSpPr>
          <p:cNvPr id="6" name="向右箭號 5">
            <a:extLst>
              <a:ext uri="{FF2B5EF4-FFF2-40B4-BE49-F238E27FC236}">
                <a16:creationId xmlns:a16="http://schemas.microsoft.com/office/drawing/2014/main" id="{78076586-A680-7689-5798-A00AEFCD8C5F}"/>
              </a:ext>
            </a:extLst>
          </p:cNvPr>
          <p:cNvSpPr/>
          <p:nvPr/>
        </p:nvSpPr>
        <p:spPr>
          <a:xfrm>
            <a:off x="4566920" y="4592320"/>
            <a:ext cx="746760" cy="4978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964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4FFEC8-E20B-3A46-53B1-000FE6D8F477}"/>
              </a:ext>
            </a:extLst>
          </p:cNvPr>
          <p:cNvSpPr>
            <a:spLocks noGrp="1"/>
          </p:cNvSpPr>
          <p:nvPr>
            <p:ph type="title"/>
          </p:nvPr>
        </p:nvSpPr>
        <p:spPr>
          <a:xfrm>
            <a:off x="838200" y="365125"/>
            <a:ext cx="10515600" cy="1325563"/>
          </a:xfrm>
        </p:spPr>
        <p:txBody>
          <a:bodyPr/>
          <a:lstStyle/>
          <a:p>
            <a:r>
              <a:rPr lang="zh-TW" altLang="en" dirty="0"/>
              <a:t>獨</a:t>
            </a:r>
            <a:r>
              <a:rPr lang="zh-TW" altLang="en-US" dirty="0"/>
              <a:t>熱編碼</a:t>
            </a:r>
            <a:r>
              <a:rPr lang="en" altLang="zh-TW" dirty="0"/>
              <a:t>One-hot encoding</a:t>
            </a:r>
            <a:endParaRPr lang="zh-TW" altLang="en-US" dirty="0"/>
          </a:p>
        </p:txBody>
      </p:sp>
      <p:sp>
        <p:nvSpPr>
          <p:cNvPr id="3" name="內容版面配置區 2">
            <a:extLst>
              <a:ext uri="{FF2B5EF4-FFF2-40B4-BE49-F238E27FC236}">
                <a16:creationId xmlns:a16="http://schemas.microsoft.com/office/drawing/2014/main" id="{4CD4F039-917F-F868-2025-9CC8D1499932}"/>
              </a:ext>
            </a:extLst>
          </p:cNvPr>
          <p:cNvSpPr>
            <a:spLocks noGrp="1"/>
          </p:cNvSpPr>
          <p:nvPr>
            <p:ph idx="1"/>
          </p:nvPr>
        </p:nvSpPr>
        <p:spPr>
          <a:xfrm>
            <a:off x="838200" y="1825624"/>
            <a:ext cx="10515600" cy="4585335"/>
          </a:xfrm>
        </p:spPr>
        <p:txBody>
          <a:bodyPr>
            <a:normAutofit fontScale="92500" lnSpcReduction="10000"/>
          </a:bodyPr>
          <a:lstStyle/>
          <a:p>
            <a:r>
              <a:rPr lang="zh-TW" altLang="en-US" dirty="0"/>
              <a:t>例如文字處理：「我愛吃香蕉，蘋果好吃」</a:t>
            </a:r>
            <a:endParaRPr lang="en-US" altLang="zh-TW" dirty="0"/>
          </a:p>
          <a:p>
            <a:r>
              <a:rPr lang="zh-TW" altLang="en-US" dirty="0"/>
              <a:t>可以被拆成</a:t>
            </a:r>
            <a:r>
              <a:rPr lang="en-US" altLang="zh-TW" b="0" i="0" dirty="0">
                <a:solidFill>
                  <a:srgbClr val="292929"/>
                </a:solidFill>
                <a:effectLst/>
                <a:latin typeface="source-code-pro"/>
              </a:rPr>
              <a:t>[“</a:t>
            </a:r>
            <a:r>
              <a:rPr lang="zh-TW" altLang="en-US" b="0" i="0" dirty="0">
                <a:solidFill>
                  <a:srgbClr val="292929"/>
                </a:solidFill>
                <a:effectLst/>
                <a:latin typeface="source-code-pro"/>
              </a:rPr>
              <a:t>我</a:t>
            </a:r>
            <a:r>
              <a:rPr lang="en-US" altLang="zh-TW" b="0" i="0" dirty="0">
                <a:solidFill>
                  <a:srgbClr val="292929"/>
                </a:solidFill>
                <a:effectLst/>
                <a:latin typeface="source-code-pro"/>
              </a:rPr>
              <a:t>”, “</a:t>
            </a:r>
            <a:r>
              <a:rPr lang="zh-TW" altLang="en-US" b="0" i="0" dirty="0">
                <a:solidFill>
                  <a:srgbClr val="292929"/>
                </a:solidFill>
                <a:effectLst/>
                <a:latin typeface="source-code-pro"/>
              </a:rPr>
              <a:t>愛</a:t>
            </a:r>
            <a:r>
              <a:rPr lang="en-US" altLang="zh-TW" b="0" i="0" dirty="0">
                <a:solidFill>
                  <a:srgbClr val="292929"/>
                </a:solidFill>
                <a:effectLst/>
                <a:latin typeface="source-code-pro"/>
              </a:rPr>
              <a:t>”, “</a:t>
            </a:r>
            <a:r>
              <a:rPr lang="zh-TW" altLang="en-US" b="0" i="0" dirty="0">
                <a:solidFill>
                  <a:srgbClr val="292929"/>
                </a:solidFill>
                <a:effectLst/>
                <a:latin typeface="source-code-pro"/>
              </a:rPr>
              <a:t>吃</a:t>
            </a:r>
            <a:r>
              <a:rPr lang="en-US" altLang="zh-TW" b="0" i="0" dirty="0">
                <a:solidFill>
                  <a:srgbClr val="292929"/>
                </a:solidFill>
                <a:effectLst/>
                <a:latin typeface="source-code-pro"/>
              </a:rPr>
              <a:t>”, “</a:t>
            </a:r>
            <a:r>
              <a:rPr lang="zh-TW" altLang="en-US" b="0" i="0" dirty="0">
                <a:solidFill>
                  <a:srgbClr val="292929"/>
                </a:solidFill>
                <a:effectLst/>
                <a:latin typeface="source-code-pro"/>
              </a:rPr>
              <a:t>香蕉</a:t>
            </a:r>
            <a:r>
              <a:rPr lang="en-US" altLang="zh-TW" b="0" i="0" dirty="0">
                <a:solidFill>
                  <a:srgbClr val="292929"/>
                </a:solidFill>
                <a:effectLst/>
                <a:latin typeface="source-code-pro"/>
              </a:rPr>
              <a:t>”, “</a:t>
            </a:r>
            <a:r>
              <a:rPr lang="zh-TW" altLang="en-US" b="0" i="0" dirty="0">
                <a:solidFill>
                  <a:srgbClr val="292929"/>
                </a:solidFill>
                <a:effectLst/>
                <a:latin typeface="source-code-pro"/>
              </a:rPr>
              <a:t>蘋果</a:t>
            </a:r>
            <a:r>
              <a:rPr lang="en-US" altLang="zh-TW" b="0" i="0" dirty="0">
                <a:solidFill>
                  <a:srgbClr val="292929"/>
                </a:solidFill>
                <a:effectLst/>
                <a:latin typeface="source-code-pro"/>
              </a:rPr>
              <a:t>”, “</a:t>
            </a:r>
            <a:r>
              <a:rPr lang="zh-TW" altLang="en-US" b="0" i="0" dirty="0">
                <a:solidFill>
                  <a:srgbClr val="292929"/>
                </a:solidFill>
                <a:effectLst/>
                <a:latin typeface="source-code-pro"/>
              </a:rPr>
              <a:t>好</a:t>
            </a:r>
            <a:r>
              <a:rPr lang="en-US" altLang="zh-TW" b="0" i="0" dirty="0">
                <a:solidFill>
                  <a:srgbClr val="292929"/>
                </a:solidFill>
                <a:effectLst/>
                <a:latin typeface="source-code-pro"/>
              </a:rPr>
              <a:t>”]</a:t>
            </a:r>
            <a:r>
              <a:rPr lang="zh-TW" altLang="en-US" b="0" i="0" dirty="0">
                <a:solidFill>
                  <a:srgbClr val="292929"/>
                </a:solidFill>
                <a:effectLst/>
                <a:latin typeface="source-code-pro"/>
              </a:rPr>
              <a:t>，</a:t>
            </a:r>
            <a:r>
              <a:rPr lang="zh-TW" altLang="en-US" dirty="0"/>
              <a:t>共有</a:t>
            </a:r>
            <a:r>
              <a:rPr lang="en-US" altLang="zh-TW" dirty="0"/>
              <a:t>6</a:t>
            </a:r>
            <a:r>
              <a:rPr lang="zh-TW" altLang="en-US" dirty="0"/>
              <a:t>個詞</a:t>
            </a:r>
            <a:endParaRPr lang="en-US" altLang="zh-TW" dirty="0"/>
          </a:p>
          <a:p>
            <a:r>
              <a:rPr lang="en-US" altLang="zh-TW" dirty="0"/>
              <a:t>one-hot</a:t>
            </a:r>
            <a:r>
              <a:rPr lang="zh-TW" altLang="en-US" dirty="0"/>
              <a:t>編碼的結果</a:t>
            </a:r>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zh-TW" altLang="en-US" dirty="0"/>
              <a:t>「吃蘋果」這句話拆成「吃、蘋果」 就可以編碼成</a:t>
            </a:r>
            <a:endParaRPr lang="en-US" altLang="zh-TW" dirty="0"/>
          </a:p>
          <a:p>
            <a:pPr lvl="1"/>
            <a:r>
              <a:rPr lang="en-US" altLang="zh-TW" dirty="0"/>
              <a:t>[[0, 0, 1, 0, 0, 0],</a:t>
            </a:r>
            <a:r>
              <a:rPr lang="zh-TW" altLang="en-US" dirty="0"/>
              <a:t> </a:t>
            </a:r>
            <a:r>
              <a:rPr lang="en-US" altLang="zh-TW" dirty="0"/>
              <a:t>[0, 0, 0, 0, 1, 0]]</a:t>
            </a:r>
            <a:endParaRPr lang="zh-TW" altLang="en-US" dirty="0"/>
          </a:p>
        </p:txBody>
      </p:sp>
      <p:graphicFrame>
        <p:nvGraphicFramePr>
          <p:cNvPr id="4" name="表格 3">
            <a:extLst>
              <a:ext uri="{FF2B5EF4-FFF2-40B4-BE49-F238E27FC236}">
                <a16:creationId xmlns:a16="http://schemas.microsoft.com/office/drawing/2014/main" id="{7184572D-E967-D1D6-E3AD-DC95FBBEB19E}"/>
              </a:ext>
            </a:extLst>
          </p:cNvPr>
          <p:cNvGraphicFramePr>
            <a:graphicFrameLocks noGrp="1"/>
          </p:cNvGraphicFramePr>
          <p:nvPr/>
        </p:nvGraphicFramePr>
        <p:xfrm>
          <a:off x="4124960" y="2716106"/>
          <a:ext cx="6499493" cy="2560320"/>
        </p:xfrm>
        <a:graphic>
          <a:graphicData uri="http://schemas.openxmlformats.org/drawingml/2006/table">
            <a:tbl>
              <a:tblPr firstRow="1" bandRow="1">
                <a:tableStyleId>{5C22544A-7EE6-4342-B048-85BDC9FD1C3A}</a:tableStyleId>
              </a:tblPr>
              <a:tblGrid>
                <a:gridCol w="928499">
                  <a:extLst>
                    <a:ext uri="{9D8B030D-6E8A-4147-A177-3AD203B41FA5}">
                      <a16:colId xmlns:a16="http://schemas.microsoft.com/office/drawing/2014/main" val="770832279"/>
                    </a:ext>
                  </a:extLst>
                </a:gridCol>
                <a:gridCol w="928499">
                  <a:extLst>
                    <a:ext uri="{9D8B030D-6E8A-4147-A177-3AD203B41FA5}">
                      <a16:colId xmlns:a16="http://schemas.microsoft.com/office/drawing/2014/main" val="1661406247"/>
                    </a:ext>
                  </a:extLst>
                </a:gridCol>
                <a:gridCol w="928499">
                  <a:extLst>
                    <a:ext uri="{9D8B030D-6E8A-4147-A177-3AD203B41FA5}">
                      <a16:colId xmlns:a16="http://schemas.microsoft.com/office/drawing/2014/main" val="2429210950"/>
                    </a:ext>
                  </a:extLst>
                </a:gridCol>
                <a:gridCol w="928499">
                  <a:extLst>
                    <a:ext uri="{9D8B030D-6E8A-4147-A177-3AD203B41FA5}">
                      <a16:colId xmlns:a16="http://schemas.microsoft.com/office/drawing/2014/main" val="1189392734"/>
                    </a:ext>
                  </a:extLst>
                </a:gridCol>
                <a:gridCol w="928499">
                  <a:extLst>
                    <a:ext uri="{9D8B030D-6E8A-4147-A177-3AD203B41FA5}">
                      <a16:colId xmlns:a16="http://schemas.microsoft.com/office/drawing/2014/main" val="2554040194"/>
                    </a:ext>
                  </a:extLst>
                </a:gridCol>
                <a:gridCol w="928499">
                  <a:extLst>
                    <a:ext uri="{9D8B030D-6E8A-4147-A177-3AD203B41FA5}">
                      <a16:colId xmlns:a16="http://schemas.microsoft.com/office/drawing/2014/main" val="1323629394"/>
                    </a:ext>
                  </a:extLst>
                </a:gridCol>
                <a:gridCol w="928499">
                  <a:extLst>
                    <a:ext uri="{9D8B030D-6E8A-4147-A177-3AD203B41FA5}">
                      <a16:colId xmlns:a16="http://schemas.microsoft.com/office/drawing/2014/main" val="553135899"/>
                    </a:ext>
                  </a:extLst>
                </a:gridCol>
              </a:tblGrid>
              <a:tr h="327055">
                <a:tc>
                  <a:txBody>
                    <a:bodyPr/>
                    <a:lstStyle/>
                    <a:p>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a:t>
                      </a:r>
                    </a:p>
                  </a:txBody>
                  <a:tcPr/>
                </a:tc>
                <a:tc>
                  <a:txBody>
                    <a:bodyPr/>
                    <a:lstStyle/>
                    <a:p>
                      <a:r>
                        <a:rPr lang="zh-TW" altLang="en-US" dirty="0"/>
                        <a:t>愛</a:t>
                      </a:r>
                    </a:p>
                  </a:txBody>
                  <a:tcPr/>
                </a:tc>
                <a:tc>
                  <a:txBody>
                    <a:bodyPr/>
                    <a:lstStyle/>
                    <a:p>
                      <a:r>
                        <a:rPr lang="zh-TW" altLang="en-US" dirty="0"/>
                        <a:t>吃</a:t>
                      </a:r>
                    </a:p>
                  </a:txBody>
                  <a:tcPr/>
                </a:tc>
                <a:tc>
                  <a:txBody>
                    <a:bodyPr/>
                    <a:lstStyle/>
                    <a:p>
                      <a:r>
                        <a:rPr lang="zh-TW" altLang="en-US" dirty="0"/>
                        <a:t>香蕉</a:t>
                      </a:r>
                    </a:p>
                  </a:txBody>
                  <a:tcPr/>
                </a:tc>
                <a:tc>
                  <a:txBody>
                    <a:bodyPr/>
                    <a:lstStyle/>
                    <a:p>
                      <a:r>
                        <a:rPr lang="zh-TW" altLang="en-US" dirty="0"/>
                        <a:t>蘋果</a:t>
                      </a:r>
                    </a:p>
                  </a:txBody>
                  <a:tcPr/>
                </a:tc>
                <a:tc>
                  <a:txBody>
                    <a:bodyPr/>
                    <a:lstStyle/>
                    <a:p>
                      <a:r>
                        <a:rPr lang="zh-TW" altLang="en-US" dirty="0"/>
                        <a:t>好</a:t>
                      </a:r>
                    </a:p>
                  </a:txBody>
                  <a:tcPr/>
                </a:tc>
                <a:extLst>
                  <a:ext uri="{0D108BD9-81ED-4DB2-BD59-A6C34878D82A}">
                    <a16:rowId xmlns:a16="http://schemas.microsoft.com/office/drawing/2014/main" val="1905924942"/>
                  </a:ext>
                </a:extLst>
              </a:tr>
              <a:tr h="327055">
                <a:tc>
                  <a:txBody>
                    <a:bodyPr/>
                    <a:lstStyle/>
                    <a:p>
                      <a:r>
                        <a:rPr lang="zh-TW" altLang="en-US" dirty="0"/>
                        <a:t>我</a:t>
                      </a:r>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1526713074"/>
                  </a:ext>
                </a:extLst>
              </a:tr>
              <a:tr h="327055">
                <a:tc>
                  <a:txBody>
                    <a:bodyPr/>
                    <a:lstStyle/>
                    <a:p>
                      <a:r>
                        <a:rPr lang="zh-TW" altLang="en-US" dirty="0"/>
                        <a:t>愛</a:t>
                      </a:r>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2275769453"/>
                  </a:ext>
                </a:extLst>
              </a:tr>
              <a:tr h="327055">
                <a:tc>
                  <a:txBody>
                    <a:bodyPr/>
                    <a:lstStyle/>
                    <a:p>
                      <a:r>
                        <a:rPr lang="zh-TW" altLang="en-US" dirty="0"/>
                        <a:t>吃</a:t>
                      </a:r>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764165147"/>
                  </a:ext>
                </a:extLst>
              </a:tr>
              <a:tr h="327055">
                <a:tc>
                  <a:txBody>
                    <a:bodyPr/>
                    <a:lstStyle/>
                    <a:p>
                      <a:r>
                        <a:rPr lang="zh-TW" altLang="en-US" dirty="0"/>
                        <a:t>香蕉</a:t>
                      </a:r>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2715753419"/>
                  </a:ext>
                </a:extLst>
              </a:tr>
              <a:tr h="327055">
                <a:tc>
                  <a:txBody>
                    <a:bodyPr/>
                    <a:lstStyle/>
                    <a:p>
                      <a:r>
                        <a:rPr lang="zh-TW" altLang="en-US" dirty="0"/>
                        <a:t>蘋果</a:t>
                      </a:r>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val="1643185638"/>
                  </a:ext>
                </a:extLst>
              </a:tr>
              <a:tr h="327055">
                <a:tc>
                  <a:txBody>
                    <a:bodyPr/>
                    <a:lstStyle/>
                    <a:p>
                      <a:r>
                        <a:rPr lang="zh-TW" altLang="en-US" dirty="0"/>
                        <a:t>好</a:t>
                      </a:r>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val="286425272"/>
                  </a:ext>
                </a:extLst>
              </a:tr>
            </a:tbl>
          </a:graphicData>
        </a:graphic>
      </p:graphicFrame>
    </p:spTree>
    <p:extLst>
      <p:ext uri="{BB962C8B-B14F-4D97-AF65-F5344CB8AC3E}">
        <p14:creationId xmlns:p14="http://schemas.microsoft.com/office/powerpoint/2010/main" val="1934834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F362B8-0F96-C2A8-8531-4BE4CEAD97B4}"/>
              </a:ext>
            </a:extLst>
          </p:cNvPr>
          <p:cNvSpPr>
            <a:spLocks noGrp="1"/>
          </p:cNvSpPr>
          <p:nvPr>
            <p:ph type="title"/>
          </p:nvPr>
        </p:nvSpPr>
        <p:spPr/>
        <p:txBody>
          <a:bodyPr/>
          <a:lstStyle/>
          <a:p>
            <a:r>
              <a:rPr kumimoji="1" lang="zh-TW" altLang="en-US" dirty="0"/>
              <a:t>程式測試</a:t>
            </a:r>
          </a:p>
        </p:txBody>
      </p:sp>
      <p:pic>
        <p:nvPicPr>
          <p:cNvPr id="5" name="圖片 4">
            <a:extLst>
              <a:ext uri="{FF2B5EF4-FFF2-40B4-BE49-F238E27FC236}">
                <a16:creationId xmlns:a16="http://schemas.microsoft.com/office/drawing/2014/main" id="{FF5DBE28-D7FC-E0FA-D432-334EB578FB16}"/>
              </a:ext>
            </a:extLst>
          </p:cNvPr>
          <p:cNvPicPr>
            <a:picLocks noChangeAspect="1"/>
          </p:cNvPicPr>
          <p:nvPr/>
        </p:nvPicPr>
        <p:blipFill>
          <a:blip r:embed="rId2"/>
          <a:stretch>
            <a:fillRect/>
          </a:stretch>
        </p:blipFill>
        <p:spPr>
          <a:xfrm>
            <a:off x="838200" y="1690688"/>
            <a:ext cx="7772400" cy="4014751"/>
          </a:xfrm>
          <a:prstGeom prst="rect">
            <a:avLst/>
          </a:prstGeom>
          <a:ln>
            <a:solidFill>
              <a:schemeClr val="tx1"/>
            </a:solidFill>
          </a:ln>
        </p:spPr>
      </p:pic>
      <p:pic>
        <p:nvPicPr>
          <p:cNvPr id="6" name="圖片 5">
            <a:extLst>
              <a:ext uri="{FF2B5EF4-FFF2-40B4-BE49-F238E27FC236}">
                <a16:creationId xmlns:a16="http://schemas.microsoft.com/office/drawing/2014/main" id="{EDCCA903-4E56-2A02-83A8-D222E8D8FE4C}"/>
              </a:ext>
            </a:extLst>
          </p:cNvPr>
          <p:cNvPicPr>
            <a:picLocks noChangeAspect="1"/>
          </p:cNvPicPr>
          <p:nvPr/>
        </p:nvPicPr>
        <p:blipFill>
          <a:blip r:embed="rId3"/>
          <a:stretch>
            <a:fillRect/>
          </a:stretch>
        </p:blipFill>
        <p:spPr>
          <a:xfrm>
            <a:off x="3581400" y="5944732"/>
            <a:ext cx="7772400" cy="644121"/>
          </a:xfrm>
          <a:prstGeom prst="rect">
            <a:avLst/>
          </a:prstGeom>
          <a:ln>
            <a:solidFill>
              <a:schemeClr val="tx1"/>
            </a:solidFill>
          </a:ln>
        </p:spPr>
      </p:pic>
    </p:spTree>
    <p:extLst>
      <p:ext uri="{BB962C8B-B14F-4D97-AF65-F5344CB8AC3E}">
        <p14:creationId xmlns:p14="http://schemas.microsoft.com/office/powerpoint/2010/main" val="929098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00957-0FDB-4959-9237-EE3CCA2146D0}"/>
              </a:ext>
            </a:extLst>
          </p:cNvPr>
          <p:cNvSpPr>
            <a:spLocks noGrp="1"/>
          </p:cNvSpPr>
          <p:nvPr>
            <p:ph type="title"/>
          </p:nvPr>
        </p:nvSpPr>
        <p:spPr/>
        <p:txBody>
          <a:bodyPr/>
          <a:lstStyle/>
          <a:p>
            <a:r>
              <a:rPr lang="zh-TW" altLang="en-US" dirty="0"/>
              <a:t>詞袋模型</a:t>
            </a:r>
            <a:r>
              <a:rPr lang="en-US" altLang="zh-TW" dirty="0"/>
              <a:t>Bag-of-words</a:t>
            </a:r>
            <a:r>
              <a:rPr lang="zh-TW" altLang="en-US" dirty="0"/>
              <a:t>簡介</a:t>
            </a:r>
          </a:p>
        </p:txBody>
      </p:sp>
      <p:sp>
        <p:nvSpPr>
          <p:cNvPr id="3" name="內容版面配置區 2">
            <a:extLst>
              <a:ext uri="{FF2B5EF4-FFF2-40B4-BE49-F238E27FC236}">
                <a16:creationId xmlns:a16="http://schemas.microsoft.com/office/drawing/2014/main" id="{D95F9B0C-D10D-4098-8672-F4F2DBBCA8DA}"/>
              </a:ext>
            </a:extLst>
          </p:cNvPr>
          <p:cNvSpPr>
            <a:spLocks noGrp="1"/>
          </p:cNvSpPr>
          <p:nvPr>
            <p:ph idx="1"/>
          </p:nvPr>
        </p:nvSpPr>
        <p:spPr/>
        <p:txBody>
          <a:bodyPr/>
          <a:lstStyle/>
          <a:p>
            <a:pPr>
              <a:buFont typeface="Wingdings" pitchFamily="2" charset="2"/>
              <a:buChar char="l"/>
            </a:pPr>
            <a:r>
              <a:rPr kumimoji="1" lang="zh-TW" altLang="en-US" dirty="0"/>
              <a:t>假設以下有三個句子 </a:t>
            </a:r>
            <a:r>
              <a:rPr kumimoji="1" lang="en-US" altLang="zh-TW" dirty="0"/>
              <a:t>(</a:t>
            </a:r>
            <a:r>
              <a:rPr kumimoji="1" lang="zh-TW" altLang="en-US" dirty="0"/>
              <a:t>已經做好斷詞處理</a:t>
            </a:r>
            <a:r>
              <a:rPr kumimoji="1" lang="en-US" altLang="zh-TW" dirty="0"/>
              <a:t>)</a:t>
            </a:r>
          </a:p>
          <a:p>
            <a:r>
              <a:rPr kumimoji="1" lang="en-US" altLang="zh-TW" dirty="0"/>
              <a:t>1. </a:t>
            </a:r>
            <a:r>
              <a:rPr kumimoji="1" lang="zh-TW" altLang="en-US" dirty="0"/>
              <a:t>我 愛 吃 香蕉</a:t>
            </a:r>
          </a:p>
          <a:p>
            <a:r>
              <a:rPr kumimoji="1" lang="en-US" altLang="zh-TW" dirty="0"/>
              <a:t>2. </a:t>
            </a:r>
            <a:r>
              <a:rPr kumimoji="1" lang="zh-TW" altLang="en-US" dirty="0"/>
              <a:t>我 愛 吃 蘋果</a:t>
            </a:r>
          </a:p>
          <a:p>
            <a:r>
              <a:rPr kumimoji="1" lang="en-US" altLang="zh-TW" dirty="0"/>
              <a:t>3. </a:t>
            </a:r>
            <a:r>
              <a:rPr kumimoji="1" lang="zh-TW" altLang="en-US" dirty="0"/>
              <a:t>香蕉 好 吃</a:t>
            </a:r>
          </a:p>
          <a:p>
            <a:pPr>
              <a:buFont typeface="Wingdings" pitchFamily="2" charset="2"/>
              <a:buChar char="l"/>
            </a:pPr>
            <a:r>
              <a:rPr kumimoji="1" lang="zh-TW" altLang="en-US" dirty="0"/>
              <a:t>抓出上面兩個句子中不重複的詞，就是所謂的 </a:t>
            </a:r>
            <a:r>
              <a:rPr kumimoji="1" lang="en" altLang="zh-TW" dirty="0"/>
              <a:t>bag-of-word (</a:t>
            </a:r>
            <a:r>
              <a:rPr kumimoji="1" lang="zh-TW" altLang="en-US" dirty="0"/>
              <a:t>詞袋</a:t>
            </a:r>
            <a:r>
              <a:rPr kumimoji="1" lang="en-US" altLang="zh-TW" dirty="0"/>
              <a:t>, </a:t>
            </a:r>
            <a:r>
              <a:rPr kumimoji="1" lang="en" altLang="zh-TW" dirty="0"/>
              <a:t>BOW)</a:t>
            </a:r>
            <a:r>
              <a:rPr kumimoji="1" lang="zh-TW" altLang="en" dirty="0"/>
              <a:t>，</a:t>
            </a:r>
            <a:r>
              <a:rPr kumimoji="1" lang="zh-TW" altLang="en-US" dirty="0"/>
              <a:t>就像把詞都丟到袋子裡一樣</a:t>
            </a:r>
          </a:p>
        </p:txBody>
      </p:sp>
    </p:spTree>
    <p:extLst>
      <p:ext uri="{BB962C8B-B14F-4D97-AF65-F5344CB8AC3E}">
        <p14:creationId xmlns:p14="http://schemas.microsoft.com/office/powerpoint/2010/main" val="2002371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505B3B-BFA6-418A-A965-687311D704BF}"/>
              </a:ext>
            </a:extLst>
          </p:cNvPr>
          <p:cNvSpPr>
            <a:spLocks noGrp="1"/>
          </p:cNvSpPr>
          <p:nvPr>
            <p:ph type="title"/>
          </p:nvPr>
        </p:nvSpPr>
        <p:spPr>
          <a:xfrm>
            <a:off x="838200" y="365125"/>
            <a:ext cx="10515600" cy="1325563"/>
          </a:xfrm>
        </p:spPr>
        <p:txBody>
          <a:bodyPr/>
          <a:lstStyle/>
          <a:p>
            <a:r>
              <a:rPr lang="zh-TW" altLang="en-US" dirty="0"/>
              <a:t>詞袋模型</a:t>
            </a:r>
            <a:r>
              <a:rPr lang="en-US" altLang="zh-TW" dirty="0"/>
              <a:t>Bag-of-words</a:t>
            </a:r>
            <a:r>
              <a:rPr lang="zh-TW" altLang="en-US" dirty="0"/>
              <a:t>簡介</a:t>
            </a:r>
          </a:p>
        </p:txBody>
      </p:sp>
      <p:sp>
        <p:nvSpPr>
          <p:cNvPr id="3" name="內容版面配置區 2">
            <a:extLst>
              <a:ext uri="{FF2B5EF4-FFF2-40B4-BE49-F238E27FC236}">
                <a16:creationId xmlns:a16="http://schemas.microsoft.com/office/drawing/2014/main" id="{9B9FE45D-8723-4ECF-9257-F7949C85AF7F}"/>
              </a:ext>
            </a:extLst>
          </p:cNvPr>
          <p:cNvSpPr>
            <a:spLocks noGrp="1"/>
          </p:cNvSpPr>
          <p:nvPr>
            <p:ph idx="1"/>
          </p:nvPr>
        </p:nvSpPr>
        <p:spPr>
          <a:xfrm>
            <a:off x="838200" y="1825625"/>
            <a:ext cx="10515600" cy="4667250"/>
          </a:xfrm>
        </p:spPr>
        <p:txBody>
          <a:bodyPr>
            <a:normAutofit lnSpcReduction="10000"/>
          </a:bodyPr>
          <a:lstStyle/>
          <a:p>
            <a:r>
              <a:rPr lang="zh-TW" altLang="en-US" dirty="0"/>
              <a:t>使用數字特徵向量來表示文字資料。</a:t>
            </a:r>
            <a:endParaRPr lang="en-US" altLang="zh-TW" dirty="0"/>
          </a:p>
          <a:p>
            <a:r>
              <a:rPr lang="zh-TW" altLang="en-US" dirty="0"/>
              <a:t>詞袋的說明如下：</a:t>
            </a:r>
          </a:p>
          <a:p>
            <a:pPr lvl="1"/>
            <a:r>
              <a:rPr lang="zh-TW" altLang="en-US" dirty="0"/>
              <a:t>從所有文件檔案中創建一個唯一的</a:t>
            </a:r>
            <a:r>
              <a:rPr lang="en-US" altLang="zh-TW" dirty="0"/>
              <a:t>token</a:t>
            </a:r>
            <a:r>
              <a:rPr lang="zh-TW" altLang="en-US" dirty="0"/>
              <a:t>（例如，單詞</a:t>
            </a:r>
            <a:r>
              <a:rPr lang="en-US" altLang="zh-TW" dirty="0"/>
              <a:t>(word)</a:t>
            </a:r>
            <a:r>
              <a:rPr lang="zh-TW" altLang="en-US" dirty="0"/>
              <a:t>）的詞彙表</a:t>
            </a:r>
            <a:r>
              <a:rPr lang="en-US" altLang="zh-TW" dirty="0"/>
              <a:t>(vocabulary)</a:t>
            </a:r>
            <a:r>
              <a:rPr lang="zh-TW" altLang="en-US" dirty="0"/>
              <a:t>。</a:t>
            </a:r>
            <a:endParaRPr lang="en-US" altLang="zh-TW" dirty="0"/>
          </a:p>
          <a:p>
            <a:pPr lvl="1"/>
            <a:r>
              <a:rPr lang="zh-TW" altLang="en-US" dirty="0"/>
              <a:t>從每個文檔中構建一個特徵向量</a:t>
            </a:r>
            <a:r>
              <a:rPr lang="en-US" altLang="zh-TW" dirty="0"/>
              <a:t>(feature vector)</a:t>
            </a:r>
            <a:r>
              <a:rPr lang="zh-TW" altLang="en-US" dirty="0"/>
              <a:t>，它包含每個單詞在該文檔中出現的</a:t>
            </a:r>
            <a:r>
              <a:rPr lang="zh-TW" altLang="en-US" sz="2800" b="1" dirty="0"/>
              <a:t>次數</a:t>
            </a:r>
            <a:r>
              <a:rPr lang="zh-TW" altLang="en-US" dirty="0"/>
              <a:t>。</a:t>
            </a:r>
            <a:endParaRPr lang="en-US" altLang="zh-TW" dirty="0"/>
          </a:p>
          <a:p>
            <a:pPr lvl="1"/>
            <a:r>
              <a:rPr lang="zh-TW" altLang="en-US" dirty="0"/>
              <a:t>標示特徵向量： 使用詞彙表的單詞做為特徵，建構一個特徵向量，維度與詞彙表的大小相同。</a:t>
            </a:r>
          </a:p>
          <a:p>
            <a:pPr lvl="1"/>
            <a:r>
              <a:rPr lang="zh-TW" altLang="en-US" dirty="0"/>
              <a:t>特徵表示應用</a:t>
            </a:r>
            <a:r>
              <a:rPr lang="en-US" altLang="zh-TW" dirty="0"/>
              <a:t>: </a:t>
            </a:r>
            <a:r>
              <a:rPr lang="zh-TW" altLang="en-US" dirty="0"/>
              <a:t>將特徵向量應用於具體的</a:t>
            </a:r>
            <a:r>
              <a:rPr lang="en-US" altLang="zh-TW" dirty="0"/>
              <a:t>NLP</a:t>
            </a:r>
            <a:r>
              <a:rPr lang="zh-TW" altLang="en-US" dirty="0"/>
              <a:t>任務</a:t>
            </a:r>
            <a:r>
              <a:rPr lang="en-US" altLang="zh-TW" dirty="0"/>
              <a:t>,</a:t>
            </a:r>
            <a:r>
              <a:rPr lang="zh-TW" altLang="en-US" dirty="0"/>
              <a:t>如文本分類、情感分析、信息檢索等。這些特徵向量可以作為機器學習算法的輸入。</a:t>
            </a:r>
            <a:endParaRPr lang="en-US" altLang="zh-TW" dirty="0"/>
          </a:p>
          <a:p>
            <a:r>
              <a:rPr lang="zh-TW" altLang="en-US" dirty="0"/>
              <a:t>由於每個文檔中的唯一單詞只佔袋裝詞詞彙表中所有單詞的一小部分，所以特徵向量大多數都是零，被稱之為「稀疏</a:t>
            </a:r>
            <a:r>
              <a:rPr lang="en-US" altLang="zh-TW" dirty="0"/>
              <a:t>(sparse)</a:t>
            </a:r>
            <a:r>
              <a:rPr lang="zh-TW" altLang="en-US" dirty="0"/>
              <a:t>」</a:t>
            </a:r>
          </a:p>
        </p:txBody>
      </p:sp>
    </p:spTree>
    <p:extLst>
      <p:ext uri="{BB962C8B-B14F-4D97-AF65-F5344CB8AC3E}">
        <p14:creationId xmlns:p14="http://schemas.microsoft.com/office/powerpoint/2010/main" val="1411805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19946E-B1AB-7DEB-B009-52E503F4105B}"/>
              </a:ext>
            </a:extLst>
          </p:cNvPr>
          <p:cNvSpPr>
            <a:spLocks noGrp="1"/>
          </p:cNvSpPr>
          <p:nvPr>
            <p:ph type="title"/>
          </p:nvPr>
        </p:nvSpPr>
        <p:spPr>
          <a:xfrm>
            <a:off x="838200" y="365125"/>
            <a:ext cx="10515600" cy="1325563"/>
          </a:xfrm>
        </p:spPr>
        <p:txBody>
          <a:bodyPr>
            <a:normAutofit/>
          </a:bodyPr>
          <a:lstStyle/>
          <a:p>
            <a:r>
              <a:rPr lang="zh-TW" altLang="en-US" dirty="0"/>
              <a:t>詞袋模型</a:t>
            </a:r>
            <a:r>
              <a:rPr lang="en-US" altLang="zh-TW" dirty="0"/>
              <a:t>Bag-of-words</a:t>
            </a:r>
            <a:r>
              <a:rPr lang="zh-TW" altLang="en-US" dirty="0"/>
              <a:t>簡介</a:t>
            </a:r>
          </a:p>
        </p:txBody>
      </p:sp>
      <p:sp>
        <p:nvSpPr>
          <p:cNvPr id="3" name="內容版面配置區 2">
            <a:extLst>
              <a:ext uri="{FF2B5EF4-FFF2-40B4-BE49-F238E27FC236}">
                <a16:creationId xmlns:a16="http://schemas.microsoft.com/office/drawing/2014/main" id="{4FEC7754-17E7-971C-1D58-395F340A3472}"/>
              </a:ext>
            </a:extLst>
          </p:cNvPr>
          <p:cNvSpPr>
            <a:spLocks noGrp="1"/>
          </p:cNvSpPr>
          <p:nvPr>
            <p:ph idx="1"/>
          </p:nvPr>
        </p:nvSpPr>
        <p:spPr>
          <a:xfrm>
            <a:off x="838200" y="1825625"/>
            <a:ext cx="10515600" cy="4351338"/>
          </a:xfrm>
        </p:spPr>
        <p:txBody>
          <a:bodyPr>
            <a:normAutofit/>
          </a:bodyPr>
          <a:lstStyle/>
          <a:p>
            <a:r>
              <a:rPr lang="zh-TW" altLang="en-US" dirty="0"/>
              <a:t>將詞在文件中出現的次數</a:t>
            </a:r>
            <a:r>
              <a:rPr lang="en-US" altLang="zh-TW" dirty="0"/>
              <a:t>(</a:t>
            </a:r>
            <a:r>
              <a:rPr lang="zh-TW" altLang="en-US" dirty="0"/>
              <a:t>頻率</a:t>
            </a:r>
            <a:r>
              <a:rPr lang="en-US" altLang="zh-TW" dirty="0"/>
              <a:t>)</a:t>
            </a:r>
            <a:r>
              <a:rPr lang="zh-TW" altLang="en-US" dirty="0"/>
              <a:t>，當作一個特徵</a:t>
            </a:r>
          </a:p>
          <a:p>
            <a:r>
              <a:rPr lang="zh-TW" altLang="en-US" dirty="0"/>
              <a:t>統計一下每個詞在所有句子中出現的次數，也就是計算詞頻</a:t>
            </a:r>
            <a:r>
              <a:rPr lang="en-US" altLang="zh-TW" dirty="0"/>
              <a:t>(</a:t>
            </a:r>
            <a:r>
              <a:rPr lang="en" altLang="zh-TW" dirty="0"/>
              <a:t>word </a:t>
            </a:r>
            <a:r>
              <a:rPr lang="en" altLang="zh-TW" dirty="0" err="1"/>
              <a:t>frequecy</a:t>
            </a:r>
            <a:r>
              <a:rPr lang="en" altLang="zh-TW" dirty="0"/>
              <a:t>, </a:t>
            </a:r>
            <a:r>
              <a:rPr lang="en" altLang="zh-TW" dirty="0" err="1"/>
              <a:t>wf</a:t>
            </a:r>
            <a:r>
              <a:rPr lang="en" altLang="zh-TW" dirty="0"/>
              <a:t>)</a:t>
            </a:r>
            <a:r>
              <a:rPr lang="zh-TW" altLang="en" dirty="0"/>
              <a:t>，</a:t>
            </a:r>
            <a:r>
              <a:rPr lang="zh-TW" altLang="en-US" dirty="0"/>
              <a:t>然後把詞依照詞頻大小去排序，並給予一個索引</a:t>
            </a:r>
            <a:r>
              <a:rPr lang="en-US" altLang="zh-TW" dirty="0"/>
              <a:t>(</a:t>
            </a:r>
            <a:r>
              <a:rPr lang="en" altLang="zh-TW" dirty="0"/>
              <a:t>index)</a:t>
            </a:r>
          </a:p>
          <a:p>
            <a:r>
              <a:rPr lang="zh-TW" altLang="en-US" dirty="0"/>
              <a:t>計算詞頻</a:t>
            </a:r>
          </a:p>
          <a:p>
            <a:pPr lvl="1"/>
            <a:r>
              <a:rPr lang="en-US" altLang="zh-TW" dirty="0"/>
              <a:t>{"</a:t>
            </a:r>
            <a:r>
              <a:rPr lang="zh-TW" altLang="en-US" dirty="0"/>
              <a:t>我</a:t>
            </a:r>
            <a:r>
              <a:rPr lang="en-US" altLang="zh-TW" dirty="0"/>
              <a:t>": 2, "</a:t>
            </a:r>
            <a:r>
              <a:rPr lang="zh-TW" altLang="en-US" dirty="0"/>
              <a:t>愛</a:t>
            </a:r>
            <a:r>
              <a:rPr lang="en-US" altLang="zh-TW" dirty="0"/>
              <a:t>": 2, "</a:t>
            </a:r>
            <a:r>
              <a:rPr lang="zh-TW" altLang="en-US" dirty="0"/>
              <a:t>吃</a:t>
            </a:r>
            <a:r>
              <a:rPr lang="en-US" altLang="zh-TW" dirty="0"/>
              <a:t>": 3, "</a:t>
            </a:r>
            <a:r>
              <a:rPr lang="zh-TW" altLang="en-US" dirty="0"/>
              <a:t>香蕉</a:t>
            </a:r>
            <a:r>
              <a:rPr lang="en-US" altLang="zh-TW" dirty="0"/>
              <a:t>": 2, "</a:t>
            </a:r>
            <a:r>
              <a:rPr lang="zh-TW" altLang="en-US" dirty="0"/>
              <a:t>蘋果</a:t>
            </a:r>
            <a:r>
              <a:rPr lang="en-US" altLang="zh-TW" dirty="0"/>
              <a:t>": 1, "</a:t>
            </a:r>
            <a:r>
              <a:rPr lang="zh-TW" altLang="en-US" dirty="0"/>
              <a:t>好</a:t>
            </a:r>
            <a:r>
              <a:rPr lang="en-US" altLang="zh-TW" dirty="0"/>
              <a:t>": 1}</a:t>
            </a:r>
          </a:p>
          <a:p>
            <a:r>
              <a:rPr lang="zh-TW" altLang="en-US" dirty="0"/>
              <a:t>詞依照詞頻大小去排序，並設定一個索引</a:t>
            </a:r>
            <a:r>
              <a:rPr lang="en-US" altLang="zh-TW" dirty="0"/>
              <a:t>(</a:t>
            </a:r>
            <a:r>
              <a:rPr lang="en" altLang="zh-TW" dirty="0"/>
              <a:t>index)</a:t>
            </a:r>
            <a:r>
              <a:rPr lang="zh-TW" altLang="en" dirty="0"/>
              <a:t>，</a:t>
            </a:r>
            <a:r>
              <a:rPr lang="zh-TW" altLang="en-US" dirty="0"/>
              <a:t>也就是編一個流水號</a:t>
            </a:r>
          </a:p>
          <a:p>
            <a:pPr lvl="1"/>
            <a:r>
              <a:rPr lang="en-US" altLang="zh-TW" dirty="0"/>
              <a:t>{"</a:t>
            </a:r>
            <a:r>
              <a:rPr lang="zh-TW" altLang="en-US" dirty="0"/>
              <a:t>吃</a:t>
            </a:r>
            <a:r>
              <a:rPr lang="en-US" altLang="zh-TW" dirty="0"/>
              <a:t>": 0, "</a:t>
            </a:r>
            <a:r>
              <a:rPr lang="zh-TW" altLang="en-US" dirty="0"/>
              <a:t>我</a:t>
            </a:r>
            <a:r>
              <a:rPr lang="en-US" altLang="zh-TW" dirty="0"/>
              <a:t>": 1, "</a:t>
            </a:r>
            <a:r>
              <a:rPr lang="zh-TW" altLang="en-US" dirty="0"/>
              <a:t>愛</a:t>
            </a:r>
            <a:r>
              <a:rPr lang="en-US" altLang="zh-TW" dirty="0"/>
              <a:t>": 2, "</a:t>
            </a:r>
            <a:r>
              <a:rPr lang="zh-TW" altLang="en-US" dirty="0"/>
              <a:t>香蕉</a:t>
            </a:r>
            <a:r>
              <a:rPr lang="en-US" altLang="zh-TW" dirty="0"/>
              <a:t>": 3, "</a:t>
            </a:r>
            <a:r>
              <a:rPr lang="zh-TW" altLang="en-US" dirty="0"/>
              <a:t>蘋果</a:t>
            </a:r>
            <a:r>
              <a:rPr lang="en-US" altLang="zh-TW" dirty="0"/>
              <a:t>": 4, "</a:t>
            </a:r>
            <a:r>
              <a:rPr lang="zh-TW" altLang="en-US" dirty="0"/>
              <a:t>好</a:t>
            </a:r>
            <a:r>
              <a:rPr lang="en-US" altLang="zh-TW" dirty="0"/>
              <a:t>": 5}</a:t>
            </a:r>
          </a:p>
        </p:txBody>
      </p:sp>
    </p:spTree>
    <p:extLst>
      <p:ext uri="{BB962C8B-B14F-4D97-AF65-F5344CB8AC3E}">
        <p14:creationId xmlns:p14="http://schemas.microsoft.com/office/powerpoint/2010/main" val="10430477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B54736-80CA-6A2B-04FB-B65F5664BBA1}"/>
              </a:ext>
            </a:extLst>
          </p:cNvPr>
          <p:cNvSpPr>
            <a:spLocks noGrp="1"/>
          </p:cNvSpPr>
          <p:nvPr>
            <p:ph type="title"/>
          </p:nvPr>
        </p:nvSpPr>
        <p:spPr/>
        <p:txBody>
          <a:bodyPr>
            <a:normAutofit/>
          </a:bodyPr>
          <a:lstStyle/>
          <a:p>
            <a:r>
              <a:rPr lang="zh-TW" altLang="en-US" dirty="0"/>
              <a:t>詞袋模型</a:t>
            </a:r>
            <a:r>
              <a:rPr lang="en-US" altLang="zh-TW" dirty="0"/>
              <a:t>Bag-of-words</a:t>
            </a:r>
            <a:r>
              <a:rPr lang="zh-TW" altLang="en-US" dirty="0"/>
              <a:t>簡介</a:t>
            </a:r>
            <a:endParaRPr kumimoji="1" lang="zh-TW" altLang="en-US" dirty="0"/>
          </a:p>
        </p:txBody>
      </p:sp>
      <p:sp>
        <p:nvSpPr>
          <p:cNvPr id="3" name="內容版面配置區 2">
            <a:extLst>
              <a:ext uri="{FF2B5EF4-FFF2-40B4-BE49-F238E27FC236}">
                <a16:creationId xmlns:a16="http://schemas.microsoft.com/office/drawing/2014/main" id="{92EDF393-C2B9-A618-ABE2-3310D1B4264A}"/>
              </a:ext>
            </a:extLst>
          </p:cNvPr>
          <p:cNvSpPr>
            <a:spLocks noGrp="1"/>
          </p:cNvSpPr>
          <p:nvPr>
            <p:ph idx="1"/>
          </p:nvPr>
        </p:nvSpPr>
        <p:spPr/>
        <p:txBody>
          <a:bodyPr/>
          <a:lstStyle/>
          <a:p>
            <a:r>
              <a:rPr kumimoji="1" lang="zh-TW" altLang="en-US" dirty="0"/>
              <a:t>其中這個索引</a:t>
            </a:r>
            <a:r>
              <a:rPr kumimoji="1" lang="en-US" altLang="zh-TW" dirty="0"/>
              <a:t>(</a:t>
            </a:r>
            <a:r>
              <a:rPr kumimoji="1" lang="en" altLang="zh-TW" dirty="0"/>
              <a:t>index)</a:t>
            </a:r>
            <a:r>
              <a:rPr kumimoji="1" lang="zh-TW" altLang="en" dirty="0"/>
              <a:t>，</a:t>
            </a:r>
            <a:r>
              <a:rPr kumimoji="1" lang="zh-TW" altLang="en-US" dirty="0"/>
              <a:t>就表示向量陣列中的第</a:t>
            </a:r>
            <a:r>
              <a:rPr kumimoji="1" lang="en" altLang="zh-TW" dirty="0"/>
              <a:t>index</a:t>
            </a:r>
            <a:r>
              <a:rPr kumimoji="1" lang="zh-TW" altLang="en-US" dirty="0"/>
              <a:t>位置，並在這個</a:t>
            </a:r>
            <a:r>
              <a:rPr kumimoji="1" lang="en" altLang="zh-TW" dirty="0"/>
              <a:t>index</a:t>
            </a:r>
            <a:r>
              <a:rPr kumimoji="1" lang="zh-TW" altLang="en-US" dirty="0"/>
              <a:t>填上</a:t>
            </a:r>
            <a:r>
              <a:rPr kumimoji="1" lang="en-US" altLang="zh-TW" dirty="0"/>
              <a:t>1</a:t>
            </a:r>
            <a:r>
              <a:rPr kumimoji="1" lang="zh-TW" altLang="en-US" dirty="0"/>
              <a:t>，表示這個詞在句子中有出現</a:t>
            </a:r>
          </a:p>
          <a:p>
            <a:r>
              <a:rPr kumimoji="1" lang="zh-TW" altLang="en-US" dirty="0"/>
              <a:t>以”蘋果”這個詞為例，索引為</a:t>
            </a:r>
            <a:r>
              <a:rPr kumimoji="1" lang="en-US" altLang="zh-TW" dirty="0"/>
              <a:t>4</a:t>
            </a:r>
            <a:r>
              <a:rPr kumimoji="1" lang="zh-TW" altLang="en-US" dirty="0"/>
              <a:t>，因此在陣列中</a:t>
            </a:r>
            <a:r>
              <a:rPr kumimoji="1" lang="en-US" altLang="zh-TW" dirty="0"/>
              <a:t>(</a:t>
            </a:r>
            <a:r>
              <a:rPr kumimoji="1" lang="zh-TW" altLang="en-US" dirty="0"/>
              <a:t>向量長度與詞袋長度相同</a:t>
            </a:r>
            <a:r>
              <a:rPr kumimoji="1" lang="en-US" altLang="zh-TW" dirty="0"/>
              <a:t>) </a:t>
            </a:r>
            <a:r>
              <a:rPr kumimoji="1" lang="en" altLang="zh-TW" dirty="0"/>
              <a:t>index</a:t>
            </a:r>
            <a:r>
              <a:rPr kumimoji="1" lang="zh-TW" altLang="en-US" dirty="0"/>
              <a:t>為</a:t>
            </a:r>
            <a:r>
              <a:rPr kumimoji="1" lang="en-US" altLang="zh-TW" dirty="0"/>
              <a:t>4</a:t>
            </a:r>
            <a:r>
              <a:rPr kumimoji="1" lang="zh-TW" altLang="en-US" dirty="0"/>
              <a:t>的地方填上</a:t>
            </a:r>
            <a:r>
              <a:rPr kumimoji="1" lang="en-US" altLang="zh-TW" dirty="0"/>
              <a:t>1</a:t>
            </a:r>
            <a:r>
              <a:rPr kumimoji="1" lang="zh-TW" altLang="en-US" dirty="0"/>
              <a:t>來表示這個詞</a:t>
            </a:r>
            <a:r>
              <a:rPr kumimoji="1" lang="en-US" altLang="zh-TW" dirty="0"/>
              <a:t>(</a:t>
            </a:r>
            <a:r>
              <a:rPr kumimoji="1" lang="zh-TW" altLang="en-US" dirty="0"/>
              <a:t>出現過一次</a:t>
            </a:r>
            <a:r>
              <a:rPr kumimoji="1" lang="en-US" altLang="zh-TW" dirty="0"/>
              <a:t>)</a:t>
            </a:r>
            <a:endParaRPr kumimoji="1" lang="zh-TW" altLang="en-US" dirty="0"/>
          </a:p>
          <a:p>
            <a:pPr lvl="1"/>
            <a:r>
              <a:rPr kumimoji="1" lang="en-US" altLang="zh-TW" dirty="0"/>
              <a:t># </a:t>
            </a:r>
            <a:r>
              <a:rPr kumimoji="1" lang="zh-TW" altLang="en-US" dirty="0"/>
              <a:t>蘋果</a:t>
            </a:r>
          </a:p>
          <a:p>
            <a:pPr lvl="1"/>
            <a:r>
              <a:rPr kumimoji="1" lang="en-US" altLang="zh-TW" dirty="0"/>
              <a:t>[0, 0, 0, 0, 1, 0]</a:t>
            </a:r>
            <a:endParaRPr kumimoji="1" lang="zh-TW" altLang="en-US" dirty="0"/>
          </a:p>
          <a:p>
            <a:endParaRPr kumimoji="1" lang="zh-TW" altLang="en-US" dirty="0"/>
          </a:p>
        </p:txBody>
      </p:sp>
    </p:spTree>
    <p:extLst>
      <p:ext uri="{BB962C8B-B14F-4D97-AF65-F5344CB8AC3E}">
        <p14:creationId xmlns:p14="http://schemas.microsoft.com/office/powerpoint/2010/main" val="6440037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4509C7-DA65-9A68-AE16-937B6DA5AFE5}"/>
              </a:ext>
            </a:extLst>
          </p:cNvPr>
          <p:cNvSpPr>
            <a:spLocks noGrp="1"/>
          </p:cNvSpPr>
          <p:nvPr>
            <p:ph type="title"/>
          </p:nvPr>
        </p:nvSpPr>
        <p:spPr>
          <a:xfrm>
            <a:off x="838200" y="365125"/>
            <a:ext cx="10515600" cy="1325563"/>
          </a:xfrm>
        </p:spPr>
        <p:txBody>
          <a:bodyPr>
            <a:normAutofit/>
          </a:bodyPr>
          <a:lstStyle/>
          <a:p>
            <a:r>
              <a:rPr lang="zh-TW" altLang="en-US" dirty="0"/>
              <a:t>詞袋模型</a:t>
            </a:r>
            <a:r>
              <a:rPr lang="en-US" altLang="zh-TW" dirty="0"/>
              <a:t>Bag-of-words</a:t>
            </a:r>
            <a:r>
              <a:rPr lang="zh-TW" altLang="en-US" dirty="0"/>
              <a:t>簡介</a:t>
            </a:r>
            <a:br>
              <a:rPr lang="en-US" altLang="zh-TW" dirty="0"/>
            </a:br>
            <a:r>
              <a:rPr lang="en-US" altLang="zh-TW" dirty="0"/>
              <a:t>(</a:t>
            </a:r>
            <a:r>
              <a:rPr lang="en" altLang="zh-TW" dirty="0"/>
              <a:t>Bag-of-Words</a:t>
            </a:r>
            <a:r>
              <a:rPr lang="en-US" altLang="zh-TW" dirty="0"/>
              <a:t>)</a:t>
            </a:r>
            <a:endParaRPr lang="zh-TW" altLang="en-US" dirty="0"/>
          </a:p>
        </p:txBody>
      </p:sp>
      <p:sp>
        <p:nvSpPr>
          <p:cNvPr id="3" name="內容版面配置區 2">
            <a:extLst>
              <a:ext uri="{FF2B5EF4-FFF2-40B4-BE49-F238E27FC236}">
                <a16:creationId xmlns:a16="http://schemas.microsoft.com/office/drawing/2014/main" id="{F97EBEB4-87A4-F112-8EB5-BA5B2D52D8AF}"/>
              </a:ext>
            </a:extLst>
          </p:cNvPr>
          <p:cNvSpPr>
            <a:spLocks noGrp="1"/>
          </p:cNvSpPr>
          <p:nvPr>
            <p:ph idx="1"/>
          </p:nvPr>
        </p:nvSpPr>
        <p:spPr>
          <a:xfrm>
            <a:off x="838200" y="1825625"/>
            <a:ext cx="10515600" cy="4351338"/>
          </a:xfrm>
        </p:spPr>
        <p:txBody>
          <a:bodyPr>
            <a:normAutofit lnSpcReduction="10000"/>
          </a:bodyPr>
          <a:lstStyle/>
          <a:p>
            <a:r>
              <a:rPr lang="zh-TW" altLang="en-US" dirty="0"/>
              <a:t>“蘋果好吃，我愛吃” 這句來說，句子會被編碼成</a:t>
            </a:r>
          </a:p>
          <a:p>
            <a:pPr lvl="1"/>
            <a:r>
              <a:rPr lang="en-US" altLang="zh-TW" dirty="0"/>
              <a:t># </a:t>
            </a:r>
            <a:r>
              <a:rPr lang="zh-TW" altLang="en-US" dirty="0"/>
              <a:t>蘋果 好 吃 我 愛 吃</a:t>
            </a:r>
            <a:br>
              <a:rPr lang="zh-TW" altLang="en-US" dirty="0"/>
            </a:br>
            <a:r>
              <a:rPr lang="en-US" altLang="zh-TW" dirty="0"/>
              <a:t>[2, 1, 1, 0, 1, 1]</a:t>
            </a:r>
          </a:p>
          <a:p>
            <a:pPr lvl="1"/>
            <a:r>
              <a:rPr lang="zh-TW" altLang="en-US" dirty="0"/>
              <a:t>解析一下句子編碼怎麼運作的</a:t>
            </a:r>
            <a:br>
              <a:rPr lang="zh-TW" altLang="en-US" dirty="0"/>
            </a:br>
            <a:r>
              <a:rPr lang="zh-TW" altLang="en-US" dirty="0"/>
              <a:t>輪次   詞 句子向量</a:t>
            </a:r>
            <a:br>
              <a:rPr lang="zh-TW" altLang="en-US" dirty="0"/>
            </a:br>
            <a:r>
              <a:rPr lang="en-US" altLang="zh-TW" dirty="0"/>
              <a:t>0           [0, 0, 0 ,0, 0, 0] -&gt; </a:t>
            </a:r>
            <a:r>
              <a:rPr lang="zh-TW" altLang="en-US" dirty="0"/>
              <a:t>準備好跟詞袋長度一樣的向量</a:t>
            </a:r>
            <a:r>
              <a:rPr lang="en" altLang="zh-TW" dirty="0"/>
              <a:t>list</a:t>
            </a:r>
            <a:r>
              <a:rPr lang="zh-TW" altLang="en" dirty="0"/>
              <a:t>，</a:t>
            </a:r>
            <a:r>
              <a:rPr lang="zh-TW" altLang="en-US" dirty="0"/>
              <a:t>並都填上０</a:t>
            </a:r>
            <a:br>
              <a:rPr lang="zh-TW" altLang="en-US" dirty="0"/>
            </a:br>
            <a:r>
              <a:rPr lang="en-US" altLang="zh-TW" dirty="0"/>
              <a:t>1 </a:t>
            </a:r>
            <a:r>
              <a:rPr lang="zh-TW" altLang="en-US" dirty="0"/>
              <a:t>蘋果 </a:t>
            </a:r>
            <a:r>
              <a:rPr lang="en-US" altLang="zh-TW" dirty="0"/>
              <a:t>[0, 0, 0, 0, 1, 0] -&gt; “</a:t>
            </a:r>
            <a:r>
              <a:rPr lang="zh-TW" altLang="en-US" dirty="0"/>
              <a:t>蘋果</a:t>
            </a:r>
            <a:r>
              <a:rPr lang="en-US" altLang="zh-TW" dirty="0"/>
              <a:t>”</a:t>
            </a:r>
            <a:r>
              <a:rPr lang="zh-TW" altLang="en-US" dirty="0"/>
              <a:t>的</a:t>
            </a:r>
            <a:r>
              <a:rPr lang="en" altLang="zh-TW" dirty="0"/>
              <a:t>index=4</a:t>
            </a:r>
            <a:br>
              <a:rPr lang="en" altLang="zh-TW" dirty="0"/>
            </a:br>
            <a:r>
              <a:rPr lang="en" altLang="zh-TW" dirty="0"/>
              <a:t>2 </a:t>
            </a:r>
            <a:r>
              <a:rPr lang="zh-TW" altLang="en-US" dirty="0"/>
              <a:t>好     </a:t>
            </a:r>
            <a:r>
              <a:rPr lang="en-US" altLang="zh-TW" dirty="0"/>
              <a:t>[0, 0, 0, 0, 1, 1]</a:t>
            </a:r>
            <a:br>
              <a:rPr lang="en-US" altLang="zh-TW" dirty="0"/>
            </a:br>
            <a:r>
              <a:rPr lang="en-US" altLang="zh-TW" dirty="0"/>
              <a:t>3 </a:t>
            </a:r>
            <a:r>
              <a:rPr lang="zh-TW" altLang="en-US" dirty="0"/>
              <a:t>吃     </a:t>
            </a:r>
            <a:r>
              <a:rPr lang="en-US" altLang="zh-TW" dirty="0"/>
              <a:t>[1, 0, 0, 0, 1, 1]</a:t>
            </a:r>
            <a:br>
              <a:rPr lang="en-US" altLang="zh-TW" dirty="0"/>
            </a:br>
            <a:r>
              <a:rPr lang="en-US" altLang="zh-TW" dirty="0"/>
              <a:t>4 </a:t>
            </a:r>
            <a:r>
              <a:rPr lang="zh-TW" altLang="en-US" dirty="0"/>
              <a:t>我     </a:t>
            </a:r>
            <a:r>
              <a:rPr lang="en-US" altLang="zh-TW" dirty="0"/>
              <a:t>[1, 1, 0, 0, 1, 1]</a:t>
            </a:r>
            <a:br>
              <a:rPr lang="en-US" altLang="zh-TW" dirty="0"/>
            </a:br>
            <a:r>
              <a:rPr lang="en-US" altLang="zh-TW" dirty="0"/>
              <a:t>5 </a:t>
            </a:r>
            <a:r>
              <a:rPr lang="zh-TW" altLang="en-US" dirty="0"/>
              <a:t>愛     </a:t>
            </a:r>
            <a:r>
              <a:rPr lang="en-US" altLang="zh-TW" dirty="0"/>
              <a:t>[1, 1, 1, 0, 1, 1]</a:t>
            </a:r>
            <a:br>
              <a:rPr lang="en-US" altLang="zh-TW" dirty="0"/>
            </a:br>
            <a:r>
              <a:rPr lang="en-US" altLang="zh-TW" dirty="0"/>
              <a:t>6 </a:t>
            </a:r>
            <a:r>
              <a:rPr lang="zh-TW" altLang="en-US" dirty="0"/>
              <a:t>吃     </a:t>
            </a:r>
            <a:r>
              <a:rPr lang="en-US" altLang="zh-TW" dirty="0"/>
              <a:t>[2, 1, 1, 0, 1, 1]</a:t>
            </a:r>
          </a:p>
          <a:p>
            <a:pPr lvl="1"/>
            <a:endParaRPr lang="zh-TW" altLang="en-US" dirty="0"/>
          </a:p>
        </p:txBody>
      </p:sp>
    </p:spTree>
    <p:extLst>
      <p:ext uri="{BB962C8B-B14F-4D97-AF65-F5344CB8AC3E}">
        <p14:creationId xmlns:p14="http://schemas.microsoft.com/office/powerpoint/2010/main" val="23618923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E0375D-E46B-4421-B047-FC01DD3C38BB}"/>
              </a:ext>
            </a:extLst>
          </p:cNvPr>
          <p:cNvSpPr>
            <a:spLocks noGrp="1"/>
          </p:cNvSpPr>
          <p:nvPr>
            <p:ph type="title"/>
          </p:nvPr>
        </p:nvSpPr>
        <p:spPr/>
        <p:txBody>
          <a:bodyPr/>
          <a:lstStyle/>
          <a:p>
            <a:r>
              <a:rPr lang="zh-TW" altLang="en-US" dirty="0"/>
              <a:t>詞袋模型程式 </a:t>
            </a:r>
            <a:r>
              <a:rPr lang="en-US" altLang="zh-TW" dirty="0"/>
              <a:t>(</a:t>
            </a:r>
            <a:r>
              <a:rPr lang="en-US" altLang="zh-TW" dirty="0" err="1"/>
              <a:t>CountVectorizer</a:t>
            </a:r>
            <a:r>
              <a:rPr lang="en-US" altLang="zh-TW" dirty="0"/>
              <a:t>)</a:t>
            </a:r>
            <a:endParaRPr lang="zh-TW" altLang="en-US" dirty="0"/>
          </a:p>
        </p:txBody>
      </p:sp>
      <p:pic>
        <p:nvPicPr>
          <p:cNvPr id="7" name="圖片 6">
            <a:extLst>
              <a:ext uri="{FF2B5EF4-FFF2-40B4-BE49-F238E27FC236}">
                <a16:creationId xmlns:a16="http://schemas.microsoft.com/office/drawing/2014/main" id="{CAF8F6A6-6544-4910-83B5-9211C92A9A74}"/>
              </a:ext>
            </a:extLst>
          </p:cNvPr>
          <p:cNvPicPr>
            <a:picLocks noChangeAspect="1"/>
          </p:cNvPicPr>
          <p:nvPr/>
        </p:nvPicPr>
        <p:blipFill>
          <a:blip r:embed="rId2"/>
          <a:stretch>
            <a:fillRect/>
          </a:stretch>
        </p:blipFill>
        <p:spPr>
          <a:xfrm>
            <a:off x="617911" y="4728856"/>
            <a:ext cx="11252470" cy="976338"/>
          </a:xfrm>
          <a:prstGeom prst="rect">
            <a:avLst/>
          </a:prstGeom>
          <a:ln>
            <a:solidFill>
              <a:schemeClr val="tx1"/>
            </a:solidFill>
          </a:ln>
        </p:spPr>
      </p:pic>
      <p:sp>
        <p:nvSpPr>
          <p:cNvPr id="9" name="文字方塊 8">
            <a:extLst>
              <a:ext uri="{FF2B5EF4-FFF2-40B4-BE49-F238E27FC236}">
                <a16:creationId xmlns:a16="http://schemas.microsoft.com/office/drawing/2014/main" id="{A8FD3974-8636-49B5-B1A0-AB3DE659CD63}"/>
              </a:ext>
            </a:extLst>
          </p:cNvPr>
          <p:cNvSpPr txBox="1"/>
          <p:nvPr/>
        </p:nvSpPr>
        <p:spPr>
          <a:xfrm>
            <a:off x="787722" y="1838778"/>
            <a:ext cx="10732553" cy="2554545"/>
          </a:xfrm>
          <a:prstGeom prst="rect">
            <a:avLst/>
          </a:prstGeom>
          <a:noFill/>
          <a:ln>
            <a:solidFill>
              <a:schemeClr val="tx1"/>
            </a:solidFill>
          </a:ln>
        </p:spPr>
        <p:txBody>
          <a:bodyPr wrap="square">
            <a:spAutoFit/>
          </a:bodyPr>
          <a:lstStyle/>
          <a:p>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numpy</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as</a:t>
            </a:r>
            <a:r>
              <a:rPr lang="en-US" altLang="zh-TW" sz="1600" b="0" dirty="0">
                <a:solidFill>
                  <a:srgbClr val="000000"/>
                </a:solidFill>
                <a:effectLst/>
                <a:latin typeface="Fira Code" panose="020B0809050000020004" pitchFamily="49" charset="0"/>
              </a:rPr>
              <a:t> np</a:t>
            </a: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sklearn.feature_extraction.text</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CountVectorizer</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count = </a:t>
            </a:r>
            <a:r>
              <a:rPr lang="en-US" altLang="zh-TW" sz="1600" b="0" dirty="0" err="1">
                <a:solidFill>
                  <a:srgbClr val="000000"/>
                </a:solidFill>
                <a:effectLst/>
                <a:latin typeface="Fira Code" panose="020B0809050000020004" pitchFamily="49" charset="0"/>
              </a:rPr>
              <a:t>CountVectorizer</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docs = </a:t>
            </a:r>
            <a:r>
              <a:rPr lang="en-US" altLang="zh-TW" sz="1600" b="0" dirty="0" err="1">
                <a:solidFill>
                  <a:srgbClr val="000000"/>
                </a:solidFill>
                <a:effectLst/>
                <a:latin typeface="Fira Code" panose="020B0809050000020004" pitchFamily="49" charset="0"/>
              </a:rPr>
              <a:t>np.array</a:t>
            </a:r>
            <a:r>
              <a:rPr lang="en-US" altLang="zh-TW" sz="1600" b="0" dirty="0">
                <a:solidFill>
                  <a:srgbClr val="000000"/>
                </a:solidFill>
                <a:effectLst/>
                <a:latin typeface="Fira Code" panose="020B0809050000020004" pitchFamily="49" charset="0"/>
              </a:rPr>
              <a:t>([</a:t>
            </a:r>
            <a:r>
              <a:rPr lang="en-US" altLang="zh-TW" sz="1600" b="0" dirty="0">
                <a:solidFill>
                  <a:srgbClr val="A31515"/>
                </a:solidFill>
                <a:effectLst/>
                <a:latin typeface="Fira Code" panose="020B0809050000020004" pitchFamily="49" charset="0"/>
              </a:rPr>
              <a:t>'The sun is shining'</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'The weather is sweet'</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'The sun is shining, the weather is sweet, and one and one is two'</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bag = </a:t>
            </a:r>
            <a:r>
              <a:rPr lang="en-US" altLang="zh-TW" sz="1600" b="0" dirty="0" err="1">
                <a:solidFill>
                  <a:srgbClr val="000000"/>
                </a:solidFill>
                <a:effectLst/>
                <a:latin typeface="Fira Code" panose="020B0809050000020004" pitchFamily="49" charset="0"/>
              </a:rPr>
              <a:t>count.fit_transform</a:t>
            </a:r>
            <a:r>
              <a:rPr lang="en-US" altLang="zh-TW" sz="1600" b="0" dirty="0">
                <a:solidFill>
                  <a:srgbClr val="000000"/>
                </a:solidFill>
                <a:effectLst/>
                <a:latin typeface="Fira Code" panose="020B0809050000020004" pitchFamily="49" charset="0"/>
              </a:rPr>
              <a:t>(docs)</a:t>
            </a:r>
          </a:p>
          <a:p>
            <a:br>
              <a:rPr lang="en-US" altLang="zh-TW" sz="1600" b="0" dirty="0">
                <a:solidFill>
                  <a:srgbClr val="000000"/>
                </a:solidFill>
                <a:effectLst/>
                <a:latin typeface="Fira Code" panose="020B0809050000020004" pitchFamily="49" charset="0"/>
              </a:rPr>
            </a:br>
            <a:r>
              <a:rPr lang="en-US" altLang="zh-TW" sz="1600" b="0" dirty="0">
                <a:solidFill>
                  <a:srgbClr val="000000"/>
                </a:solidFill>
                <a:effectLst/>
                <a:latin typeface="Fira Code" panose="020B0809050000020004" pitchFamily="49" charset="0"/>
              </a:rPr>
              <a:t>print(</a:t>
            </a:r>
            <a:r>
              <a:rPr lang="en-US" altLang="zh-TW" sz="1600" b="0" dirty="0" err="1">
                <a:solidFill>
                  <a:srgbClr val="000000"/>
                </a:solidFill>
                <a:effectLst/>
                <a:latin typeface="Fira Code" panose="020B0809050000020004" pitchFamily="49" charset="0"/>
              </a:rPr>
              <a:t>count.vocabulary</a:t>
            </a:r>
            <a:r>
              <a:rPr lang="en-US" altLang="zh-TW" sz="1600" b="0" dirty="0">
                <a:solidFill>
                  <a:srgbClr val="000000"/>
                </a:solidFill>
                <a:effectLst/>
                <a:latin typeface="Fira Code" panose="020B0809050000020004" pitchFamily="49" charset="0"/>
              </a:rPr>
              <a:t>_)</a:t>
            </a:r>
          </a:p>
          <a:p>
            <a:r>
              <a:rPr lang="en-US" altLang="zh-TW" sz="1600" b="0" dirty="0">
                <a:solidFill>
                  <a:srgbClr val="000000"/>
                </a:solidFill>
                <a:effectLst/>
                <a:latin typeface="Fira Code" panose="020B0809050000020004" pitchFamily="49" charset="0"/>
              </a:rPr>
              <a:t>print(</a:t>
            </a:r>
            <a:r>
              <a:rPr lang="en-US" altLang="zh-TW" sz="1600" b="0" dirty="0" err="1">
                <a:solidFill>
                  <a:srgbClr val="000000"/>
                </a:solidFill>
                <a:effectLst/>
                <a:latin typeface="Fira Code" panose="020B0809050000020004" pitchFamily="49" charset="0"/>
              </a:rPr>
              <a:t>bag.toarray</a:t>
            </a:r>
            <a:r>
              <a:rPr lang="en-US" altLang="zh-TW" sz="1600" b="0" dirty="0">
                <a:solidFill>
                  <a:srgbClr val="000000"/>
                </a:solidFill>
                <a:effectLst/>
                <a:latin typeface="Fira Code" panose="020B0809050000020004" pitchFamily="49" charset="0"/>
              </a:rPr>
              <a:t>())</a:t>
            </a:r>
          </a:p>
        </p:txBody>
      </p:sp>
      <p:graphicFrame>
        <p:nvGraphicFramePr>
          <p:cNvPr id="10" name="表格 4">
            <a:extLst>
              <a:ext uri="{FF2B5EF4-FFF2-40B4-BE49-F238E27FC236}">
                <a16:creationId xmlns:a16="http://schemas.microsoft.com/office/drawing/2014/main" id="{B4FB7C07-063A-4B13-94FA-FDA354448A63}"/>
              </a:ext>
            </a:extLst>
          </p:cNvPr>
          <p:cNvGraphicFramePr>
            <a:graphicFrameLocks/>
          </p:cNvGraphicFramePr>
          <p:nvPr/>
        </p:nvGraphicFramePr>
        <p:xfrm>
          <a:off x="787722" y="5751195"/>
          <a:ext cx="10515595" cy="741680"/>
        </p:xfrm>
        <a:graphic>
          <a:graphicData uri="http://schemas.openxmlformats.org/drawingml/2006/table">
            <a:tbl>
              <a:tblPr firstRow="1" bandRow="1">
                <a:tableStyleId>{5C22544A-7EE6-4342-B048-85BDC9FD1C3A}</a:tableStyleId>
              </a:tblPr>
              <a:tblGrid>
                <a:gridCol w="706855">
                  <a:extLst>
                    <a:ext uri="{9D8B030D-6E8A-4147-A177-3AD203B41FA5}">
                      <a16:colId xmlns:a16="http://schemas.microsoft.com/office/drawing/2014/main" val="1776859065"/>
                    </a:ext>
                  </a:extLst>
                </a:gridCol>
                <a:gridCol w="1089860">
                  <a:extLst>
                    <a:ext uri="{9D8B030D-6E8A-4147-A177-3AD203B41FA5}">
                      <a16:colId xmlns:a16="http://schemas.microsoft.com/office/drawing/2014/main" val="2544084235"/>
                    </a:ext>
                  </a:extLst>
                </a:gridCol>
                <a:gridCol w="1089860">
                  <a:extLst>
                    <a:ext uri="{9D8B030D-6E8A-4147-A177-3AD203B41FA5}">
                      <a16:colId xmlns:a16="http://schemas.microsoft.com/office/drawing/2014/main" val="2561530774"/>
                    </a:ext>
                  </a:extLst>
                </a:gridCol>
                <a:gridCol w="1089860">
                  <a:extLst>
                    <a:ext uri="{9D8B030D-6E8A-4147-A177-3AD203B41FA5}">
                      <a16:colId xmlns:a16="http://schemas.microsoft.com/office/drawing/2014/main" val="257910833"/>
                    </a:ext>
                  </a:extLst>
                </a:gridCol>
                <a:gridCol w="1089860">
                  <a:extLst>
                    <a:ext uri="{9D8B030D-6E8A-4147-A177-3AD203B41FA5}">
                      <a16:colId xmlns:a16="http://schemas.microsoft.com/office/drawing/2014/main" val="4197278675"/>
                    </a:ext>
                  </a:extLst>
                </a:gridCol>
                <a:gridCol w="1089860">
                  <a:extLst>
                    <a:ext uri="{9D8B030D-6E8A-4147-A177-3AD203B41FA5}">
                      <a16:colId xmlns:a16="http://schemas.microsoft.com/office/drawing/2014/main" val="412146784"/>
                    </a:ext>
                  </a:extLst>
                </a:gridCol>
                <a:gridCol w="1089860">
                  <a:extLst>
                    <a:ext uri="{9D8B030D-6E8A-4147-A177-3AD203B41FA5}">
                      <a16:colId xmlns:a16="http://schemas.microsoft.com/office/drawing/2014/main" val="1347848306"/>
                    </a:ext>
                  </a:extLst>
                </a:gridCol>
                <a:gridCol w="1089860">
                  <a:extLst>
                    <a:ext uri="{9D8B030D-6E8A-4147-A177-3AD203B41FA5}">
                      <a16:colId xmlns:a16="http://schemas.microsoft.com/office/drawing/2014/main" val="3704882136"/>
                    </a:ext>
                  </a:extLst>
                </a:gridCol>
                <a:gridCol w="1089860">
                  <a:extLst>
                    <a:ext uri="{9D8B030D-6E8A-4147-A177-3AD203B41FA5}">
                      <a16:colId xmlns:a16="http://schemas.microsoft.com/office/drawing/2014/main" val="3875884215"/>
                    </a:ext>
                  </a:extLst>
                </a:gridCol>
                <a:gridCol w="1089860">
                  <a:extLst>
                    <a:ext uri="{9D8B030D-6E8A-4147-A177-3AD203B41FA5}">
                      <a16:colId xmlns:a16="http://schemas.microsoft.com/office/drawing/2014/main" val="2186332656"/>
                    </a:ext>
                  </a:extLst>
                </a:gridCol>
              </a:tblGrid>
              <a:tr h="370840">
                <a:tc>
                  <a:txBody>
                    <a:bodyPr/>
                    <a:lstStyle/>
                    <a:p>
                      <a:r>
                        <a:rPr lang="zh-TW" altLang="en-US" dirty="0"/>
                        <a:t>索引</a:t>
                      </a:r>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extLst>
                  <a:ext uri="{0D108BD9-81ED-4DB2-BD59-A6C34878D82A}">
                    <a16:rowId xmlns:a16="http://schemas.microsoft.com/office/drawing/2014/main" val="2165515860"/>
                  </a:ext>
                </a:extLst>
              </a:tr>
              <a:tr h="370840">
                <a:tc>
                  <a:txBody>
                    <a:bodyPr/>
                    <a:lstStyle/>
                    <a:p>
                      <a:r>
                        <a:rPr lang="zh-TW" altLang="en-US" dirty="0"/>
                        <a:t>字詞</a:t>
                      </a:r>
                    </a:p>
                  </a:txBody>
                  <a:tcPr/>
                </a:tc>
                <a:tc>
                  <a:txBody>
                    <a:bodyPr/>
                    <a:lstStyle/>
                    <a:p>
                      <a:pPr algn="ctr"/>
                      <a:r>
                        <a:rPr lang="en-US" altLang="zh-TW" dirty="0"/>
                        <a:t>and</a:t>
                      </a:r>
                      <a:endParaRPr lang="zh-TW" altLang="en-US" dirty="0"/>
                    </a:p>
                  </a:txBody>
                  <a:tcPr/>
                </a:tc>
                <a:tc>
                  <a:txBody>
                    <a:bodyPr/>
                    <a:lstStyle/>
                    <a:p>
                      <a:pPr algn="ctr"/>
                      <a:r>
                        <a:rPr lang="en-US" altLang="zh-TW" dirty="0"/>
                        <a:t>is</a:t>
                      </a:r>
                      <a:endParaRPr lang="zh-TW" altLang="en-US" dirty="0"/>
                    </a:p>
                  </a:txBody>
                  <a:tcPr/>
                </a:tc>
                <a:tc>
                  <a:txBody>
                    <a:bodyPr/>
                    <a:lstStyle/>
                    <a:p>
                      <a:pPr algn="ctr"/>
                      <a:r>
                        <a:rPr lang="en-US" altLang="zh-TW" dirty="0"/>
                        <a:t>one</a:t>
                      </a:r>
                      <a:endParaRPr lang="zh-TW" altLang="en-US" dirty="0"/>
                    </a:p>
                  </a:txBody>
                  <a:tcPr/>
                </a:tc>
                <a:tc>
                  <a:txBody>
                    <a:bodyPr/>
                    <a:lstStyle/>
                    <a:p>
                      <a:pPr algn="ctr"/>
                      <a:r>
                        <a:rPr lang="en-US" altLang="zh-TW" dirty="0"/>
                        <a:t>shining</a:t>
                      </a:r>
                      <a:endParaRPr lang="zh-TW" altLang="en-US" dirty="0"/>
                    </a:p>
                  </a:txBody>
                  <a:tcPr/>
                </a:tc>
                <a:tc>
                  <a:txBody>
                    <a:bodyPr/>
                    <a:lstStyle/>
                    <a:p>
                      <a:pPr algn="ctr"/>
                      <a:r>
                        <a:rPr lang="en-US" altLang="zh-TW" dirty="0"/>
                        <a:t>sun</a:t>
                      </a:r>
                      <a:endParaRPr lang="zh-TW" altLang="en-US" dirty="0"/>
                    </a:p>
                  </a:txBody>
                  <a:tcPr/>
                </a:tc>
                <a:tc>
                  <a:txBody>
                    <a:bodyPr/>
                    <a:lstStyle/>
                    <a:p>
                      <a:pPr algn="ctr"/>
                      <a:r>
                        <a:rPr lang="en-US" altLang="zh-TW" dirty="0"/>
                        <a:t>sweet</a:t>
                      </a:r>
                      <a:endParaRPr lang="zh-TW" altLang="en-US" dirty="0"/>
                    </a:p>
                  </a:txBody>
                  <a:tcPr/>
                </a:tc>
                <a:tc>
                  <a:txBody>
                    <a:bodyPr/>
                    <a:lstStyle/>
                    <a:p>
                      <a:pPr algn="ctr"/>
                      <a:r>
                        <a:rPr lang="en-US" altLang="zh-TW" dirty="0"/>
                        <a:t>the</a:t>
                      </a:r>
                      <a:endParaRPr lang="zh-TW" altLang="en-US" dirty="0"/>
                    </a:p>
                  </a:txBody>
                  <a:tcPr/>
                </a:tc>
                <a:tc>
                  <a:txBody>
                    <a:bodyPr/>
                    <a:lstStyle/>
                    <a:p>
                      <a:pPr algn="ctr"/>
                      <a:r>
                        <a:rPr lang="en-US" altLang="zh-TW" dirty="0"/>
                        <a:t>two</a:t>
                      </a:r>
                      <a:endParaRPr lang="zh-TW" altLang="en-US" dirty="0"/>
                    </a:p>
                  </a:txBody>
                  <a:tcPr/>
                </a:tc>
                <a:tc>
                  <a:txBody>
                    <a:bodyPr/>
                    <a:lstStyle/>
                    <a:p>
                      <a:pPr algn="ctr"/>
                      <a:r>
                        <a:rPr lang="en-US" altLang="zh-TW" dirty="0"/>
                        <a:t>weather</a:t>
                      </a:r>
                      <a:endParaRPr lang="zh-TW" altLang="en-US" dirty="0"/>
                    </a:p>
                  </a:txBody>
                  <a:tcPr/>
                </a:tc>
                <a:extLst>
                  <a:ext uri="{0D108BD9-81ED-4DB2-BD59-A6C34878D82A}">
                    <a16:rowId xmlns:a16="http://schemas.microsoft.com/office/drawing/2014/main" val="2541748387"/>
                  </a:ext>
                </a:extLst>
              </a:tr>
            </a:tbl>
          </a:graphicData>
        </a:graphic>
      </p:graphicFrame>
    </p:spTree>
    <p:extLst>
      <p:ext uri="{BB962C8B-B14F-4D97-AF65-F5344CB8AC3E}">
        <p14:creationId xmlns:p14="http://schemas.microsoft.com/office/powerpoint/2010/main" val="14474826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0A4033-CE59-4968-AF06-73109C74E695}"/>
              </a:ext>
            </a:extLst>
          </p:cNvPr>
          <p:cNvSpPr>
            <a:spLocks noGrp="1"/>
          </p:cNvSpPr>
          <p:nvPr>
            <p:ph type="title"/>
          </p:nvPr>
        </p:nvSpPr>
        <p:spPr>
          <a:xfrm>
            <a:off x="838200" y="365125"/>
            <a:ext cx="10515600" cy="1325563"/>
          </a:xfrm>
        </p:spPr>
        <p:txBody>
          <a:bodyPr/>
          <a:lstStyle/>
          <a:p>
            <a:r>
              <a:rPr lang="zh-TW" altLang="en-US" dirty="0"/>
              <a:t>詞袋模型</a:t>
            </a:r>
            <a:r>
              <a:rPr lang="en-US" altLang="zh-TW" dirty="0"/>
              <a:t>Bag-of-words</a:t>
            </a:r>
            <a:endParaRPr lang="zh-TW" altLang="en-US" dirty="0"/>
          </a:p>
        </p:txBody>
      </p:sp>
      <p:sp>
        <p:nvSpPr>
          <p:cNvPr id="3" name="內容版面配置區 2">
            <a:extLst>
              <a:ext uri="{FF2B5EF4-FFF2-40B4-BE49-F238E27FC236}">
                <a16:creationId xmlns:a16="http://schemas.microsoft.com/office/drawing/2014/main" id="{25E2E428-5660-4852-8062-E7CFC2A8AA1D}"/>
              </a:ext>
            </a:extLst>
          </p:cNvPr>
          <p:cNvSpPr>
            <a:spLocks noGrp="1"/>
          </p:cNvSpPr>
          <p:nvPr>
            <p:ph idx="1"/>
          </p:nvPr>
        </p:nvSpPr>
        <p:spPr>
          <a:xfrm>
            <a:off x="838200" y="1825625"/>
            <a:ext cx="10515600" cy="4351338"/>
          </a:xfrm>
        </p:spPr>
        <p:txBody>
          <a:bodyPr/>
          <a:lstStyle/>
          <a:p>
            <a:r>
              <a:rPr lang="en-US" altLang="zh-TW" dirty="0"/>
              <a:t>The sun is shining, the weather is sweet, and one and one is two</a:t>
            </a:r>
          </a:p>
          <a:p>
            <a:pPr lvl="1"/>
            <a:r>
              <a:rPr lang="en-US" altLang="zh-TW" dirty="0"/>
              <a:t>the</a:t>
            </a:r>
            <a:r>
              <a:rPr lang="zh-TW" altLang="en-US" dirty="0"/>
              <a:t>出現</a:t>
            </a:r>
            <a:r>
              <a:rPr lang="en-US" altLang="zh-TW" dirty="0"/>
              <a:t>2</a:t>
            </a:r>
            <a:r>
              <a:rPr lang="zh-TW" altLang="en-US" dirty="0"/>
              <a:t>次，</a:t>
            </a:r>
            <a:r>
              <a:rPr lang="en-US" altLang="zh-TW" dirty="0"/>
              <a:t>sun</a:t>
            </a:r>
            <a:r>
              <a:rPr lang="zh-TW" altLang="en-US" dirty="0"/>
              <a:t>出現</a:t>
            </a:r>
            <a:r>
              <a:rPr lang="en-US" altLang="zh-TW" dirty="0"/>
              <a:t>1</a:t>
            </a:r>
            <a:r>
              <a:rPr lang="zh-TW" altLang="en-US" dirty="0"/>
              <a:t>次，</a:t>
            </a:r>
            <a:r>
              <a:rPr lang="en-US" altLang="zh-TW" dirty="0"/>
              <a:t>is</a:t>
            </a:r>
            <a:r>
              <a:rPr lang="zh-TW" altLang="en-US" dirty="0"/>
              <a:t>出現</a:t>
            </a:r>
            <a:r>
              <a:rPr lang="en-US" altLang="zh-TW" dirty="0"/>
              <a:t>3</a:t>
            </a:r>
            <a:r>
              <a:rPr lang="zh-TW" altLang="en-US" dirty="0"/>
              <a:t>次，</a:t>
            </a:r>
            <a:r>
              <a:rPr lang="en-US" altLang="zh-TW" dirty="0"/>
              <a:t>shining</a:t>
            </a:r>
            <a:r>
              <a:rPr lang="zh-TW" altLang="en-US" dirty="0"/>
              <a:t>出現</a:t>
            </a:r>
            <a:r>
              <a:rPr lang="en-US" altLang="zh-TW" dirty="0"/>
              <a:t>1</a:t>
            </a:r>
            <a:r>
              <a:rPr lang="zh-TW" altLang="en-US" dirty="0"/>
              <a:t>次，</a:t>
            </a:r>
            <a:r>
              <a:rPr lang="en-US" altLang="zh-TW" dirty="0"/>
              <a:t>weather:1</a:t>
            </a:r>
          </a:p>
          <a:p>
            <a:pPr lvl="1"/>
            <a:r>
              <a:rPr lang="en-US" altLang="zh-TW" dirty="0"/>
              <a:t>sweet:1, and: 2, one:2, two:1</a:t>
            </a:r>
          </a:p>
          <a:p>
            <a:pPr lvl="1"/>
            <a:endParaRPr lang="en-US" altLang="zh-TW" dirty="0"/>
          </a:p>
        </p:txBody>
      </p:sp>
      <p:graphicFrame>
        <p:nvGraphicFramePr>
          <p:cNvPr id="7" name="表格 4">
            <a:extLst>
              <a:ext uri="{FF2B5EF4-FFF2-40B4-BE49-F238E27FC236}">
                <a16:creationId xmlns:a16="http://schemas.microsoft.com/office/drawing/2014/main" id="{D0B14898-2FA6-4A44-A998-AA445EE66759}"/>
              </a:ext>
            </a:extLst>
          </p:cNvPr>
          <p:cNvGraphicFramePr>
            <a:graphicFrameLocks/>
          </p:cNvGraphicFramePr>
          <p:nvPr/>
        </p:nvGraphicFramePr>
        <p:xfrm>
          <a:off x="681917" y="3445034"/>
          <a:ext cx="10515595" cy="1112520"/>
        </p:xfrm>
        <a:graphic>
          <a:graphicData uri="http://schemas.openxmlformats.org/drawingml/2006/table">
            <a:tbl>
              <a:tblPr firstRow="1" bandRow="1">
                <a:tableStyleId>{5C22544A-7EE6-4342-B048-85BDC9FD1C3A}</a:tableStyleId>
              </a:tblPr>
              <a:tblGrid>
                <a:gridCol w="706855">
                  <a:extLst>
                    <a:ext uri="{9D8B030D-6E8A-4147-A177-3AD203B41FA5}">
                      <a16:colId xmlns:a16="http://schemas.microsoft.com/office/drawing/2014/main" val="1776859065"/>
                    </a:ext>
                  </a:extLst>
                </a:gridCol>
                <a:gridCol w="1089860">
                  <a:extLst>
                    <a:ext uri="{9D8B030D-6E8A-4147-A177-3AD203B41FA5}">
                      <a16:colId xmlns:a16="http://schemas.microsoft.com/office/drawing/2014/main" val="2544084235"/>
                    </a:ext>
                  </a:extLst>
                </a:gridCol>
                <a:gridCol w="1089860">
                  <a:extLst>
                    <a:ext uri="{9D8B030D-6E8A-4147-A177-3AD203B41FA5}">
                      <a16:colId xmlns:a16="http://schemas.microsoft.com/office/drawing/2014/main" val="2561530774"/>
                    </a:ext>
                  </a:extLst>
                </a:gridCol>
                <a:gridCol w="1089860">
                  <a:extLst>
                    <a:ext uri="{9D8B030D-6E8A-4147-A177-3AD203B41FA5}">
                      <a16:colId xmlns:a16="http://schemas.microsoft.com/office/drawing/2014/main" val="257910833"/>
                    </a:ext>
                  </a:extLst>
                </a:gridCol>
                <a:gridCol w="1089860">
                  <a:extLst>
                    <a:ext uri="{9D8B030D-6E8A-4147-A177-3AD203B41FA5}">
                      <a16:colId xmlns:a16="http://schemas.microsoft.com/office/drawing/2014/main" val="4197278675"/>
                    </a:ext>
                  </a:extLst>
                </a:gridCol>
                <a:gridCol w="1089860">
                  <a:extLst>
                    <a:ext uri="{9D8B030D-6E8A-4147-A177-3AD203B41FA5}">
                      <a16:colId xmlns:a16="http://schemas.microsoft.com/office/drawing/2014/main" val="412146784"/>
                    </a:ext>
                  </a:extLst>
                </a:gridCol>
                <a:gridCol w="1089860">
                  <a:extLst>
                    <a:ext uri="{9D8B030D-6E8A-4147-A177-3AD203B41FA5}">
                      <a16:colId xmlns:a16="http://schemas.microsoft.com/office/drawing/2014/main" val="1347848306"/>
                    </a:ext>
                  </a:extLst>
                </a:gridCol>
                <a:gridCol w="1089860">
                  <a:extLst>
                    <a:ext uri="{9D8B030D-6E8A-4147-A177-3AD203B41FA5}">
                      <a16:colId xmlns:a16="http://schemas.microsoft.com/office/drawing/2014/main" val="3704882136"/>
                    </a:ext>
                  </a:extLst>
                </a:gridCol>
                <a:gridCol w="1089860">
                  <a:extLst>
                    <a:ext uri="{9D8B030D-6E8A-4147-A177-3AD203B41FA5}">
                      <a16:colId xmlns:a16="http://schemas.microsoft.com/office/drawing/2014/main" val="3875884215"/>
                    </a:ext>
                  </a:extLst>
                </a:gridCol>
                <a:gridCol w="1089860">
                  <a:extLst>
                    <a:ext uri="{9D8B030D-6E8A-4147-A177-3AD203B41FA5}">
                      <a16:colId xmlns:a16="http://schemas.microsoft.com/office/drawing/2014/main" val="2186332656"/>
                    </a:ext>
                  </a:extLst>
                </a:gridCol>
              </a:tblGrid>
              <a:tr h="370840">
                <a:tc>
                  <a:txBody>
                    <a:bodyPr/>
                    <a:lstStyle/>
                    <a:p>
                      <a:r>
                        <a:rPr lang="zh-TW" altLang="en-US" dirty="0"/>
                        <a:t>索引</a:t>
                      </a:r>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4</a:t>
                      </a:r>
                      <a:endParaRPr lang="zh-TW" altLang="en-US" dirty="0"/>
                    </a:p>
                  </a:txBody>
                  <a:tcPr/>
                </a:tc>
                <a:tc>
                  <a:txBody>
                    <a:bodyPr/>
                    <a:lstStyle/>
                    <a:p>
                      <a:pPr algn="ctr"/>
                      <a:r>
                        <a:rPr lang="en-US" altLang="zh-TW" dirty="0"/>
                        <a:t>5</a:t>
                      </a:r>
                      <a:endParaRPr lang="zh-TW" altLang="en-US" dirty="0"/>
                    </a:p>
                  </a:txBody>
                  <a:tcPr/>
                </a:tc>
                <a:tc>
                  <a:txBody>
                    <a:bodyPr/>
                    <a:lstStyle/>
                    <a:p>
                      <a:pPr algn="ctr"/>
                      <a:r>
                        <a:rPr lang="en-US" altLang="zh-TW" dirty="0"/>
                        <a:t>6</a:t>
                      </a:r>
                      <a:endParaRPr lang="zh-TW" altLang="en-US" dirty="0"/>
                    </a:p>
                  </a:txBody>
                  <a:tcPr/>
                </a:tc>
                <a:tc>
                  <a:txBody>
                    <a:bodyPr/>
                    <a:lstStyle/>
                    <a:p>
                      <a:pPr algn="ctr"/>
                      <a:r>
                        <a:rPr lang="en-US" altLang="zh-TW" dirty="0"/>
                        <a:t>7</a:t>
                      </a:r>
                      <a:endParaRPr lang="zh-TW" altLang="en-US" dirty="0"/>
                    </a:p>
                  </a:txBody>
                  <a:tcPr/>
                </a:tc>
                <a:tc>
                  <a:txBody>
                    <a:bodyPr/>
                    <a:lstStyle/>
                    <a:p>
                      <a:pPr algn="ctr"/>
                      <a:r>
                        <a:rPr lang="en-US" altLang="zh-TW" dirty="0"/>
                        <a:t>8</a:t>
                      </a:r>
                      <a:endParaRPr lang="zh-TW" altLang="en-US" dirty="0"/>
                    </a:p>
                  </a:txBody>
                  <a:tcPr/>
                </a:tc>
                <a:extLst>
                  <a:ext uri="{0D108BD9-81ED-4DB2-BD59-A6C34878D82A}">
                    <a16:rowId xmlns:a16="http://schemas.microsoft.com/office/drawing/2014/main" val="2165515860"/>
                  </a:ext>
                </a:extLst>
              </a:tr>
              <a:tr h="370840">
                <a:tc>
                  <a:txBody>
                    <a:bodyPr/>
                    <a:lstStyle/>
                    <a:p>
                      <a:r>
                        <a:rPr lang="zh-TW" altLang="en-US" dirty="0"/>
                        <a:t>字詞</a:t>
                      </a:r>
                    </a:p>
                  </a:txBody>
                  <a:tcPr/>
                </a:tc>
                <a:tc>
                  <a:txBody>
                    <a:bodyPr/>
                    <a:lstStyle/>
                    <a:p>
                      <a:pPr algn="ctr"/>
                      <a:r>
                        <a:rPr lang="en-US" altLang="zh-TW" dirty="0"/>
                        <a:t>and</a:t>
                      </a:r>
                      <a:endParaRPr lang="zh-TW" altLang="en-US" dirty="0"/>
                    </a:p>
                  </a:txBody>
                  <a:tcPr/>
                </a:tc>
                <a:tc>
                  <a:txBody>
                    <a:bodyPr/>
                    <a:lstStyle/>
                    <a:p>
                      <a:pPr algn="ctr"/>
                      <a:r>
                        <a:rPr lang="en-US" altLang="zh-TW" dirty="0"/>
                        <a:t>is</a:t>
                      </a:r>
                      <a:endParaRPr lang="zh-TW" altLang="en-US" dirty="0"/>
                    </a:p>
                  </a:txBody>
                  <a:tcPr/>
                </a:tc>
                <a:tc>
                  <a:txBody>
                    <a:bodyPr/>
                    <a:lstStyle/>
                    <a:p>
                      <a:pPr algn="ctr"/>
                      <a:r>
                        <a:rPr lang="en-US" altLang="zh-TW" dirty="0"/>
                        <a:t>one</a:t>
                      </a:r>
                      <a:endParaRPr lang="zh-TW" altLang="en-US" dirty="0"/>
                    </a:p>
                  </a:txBody>
                  <a:tcPr/>
                </a:tc>
                <a:tc>
                  <a:txBody>
                    <a:bodyPr/>
                    <a:lstStyle/>
                    <a:p>
                      <a:pPr algn="ctr"/>
                      <a:r>
                        <a:rPr lang="en-US" altLang="zh-TW" dirty="0"/>
                        <a:t>shining</a:t>
                      </a:r>
                      <a:endParaRPr lang="zh-TW" altLang="en-US" dirty="0"/>
                    </a:p>
                  </a:txBody>
                  <a:tcPr/>
                </a:tc>
                <a:tc>
                  <a:txBody>
                    <a:bodyPr/>
                    <a:lstStyle/>
                    <a:p>
                      <a:pPr algn="ctr"/>
                      <a:r>
                        <a:rPr lang="en-US" altLang="zh-TW" dirty="0"/>
                        <a:t>sun</a:t>
                      </a:r>
                      <a:endParaRPr lang="zh-TW" altLang="en-US" dirty="0"/>
                    </a:p>
                  </a:txBody>
                  <a:tcPr/>
                </a:tc>
                <a:tc>
                  <a:txBody>
                    <a:bodyPr/>
                    <a:lstStyle/>
                    <a:p>
                      <a:pPr algn="ctr"/>
                      <a:r>
                        <a:rPr lang="en-US" altLang="zh-TW" dirty="0"/>
                        <a:t>sweet</a:t>
                      </a:r>
                      <a:endParaRPr lang="zh-TW" altLang="en-US" dirty="0"/>
                    </a:p>
                  </a:txBody>
                  <a:tcPr/>
                </a:tc>
                <a:tc>
                  <a:txBody>
                    <a:bodyPr/>
                    <a:lstStyle/>
                    <a:p>
                      <a:pPr algn="ctr"/>
                      <a:r>
                        <a:rPr lang="en-US" altLang="zh-TW" dirty="0"/>
                        <a:t>the</a:t>
                      </a:r>
                      <a:endParaRPr lang="zh-TW" altLang="en-US" dirty="0"/>
                    </a:p>
                  </a:txBody>
                  <a:tcPr/>
                </a:tc>
                <a:tc>
                  <a:txBody>
                    <a:bodyPr/>
                    <a:lstStyle/>
                    <a:p>
                      <a:pPr algn="ctr"/>
                      <a:r>
                        <a:rPr lang="en-US" altLang="zh-TW" dirty="0"/>
                        <a:t>two</a:t>
                      </a:r>
                      <a:endParaRPr lang="zh-TW" altLang="en-US" dirty="0"/>
                    </a:p>
                  </a:txBody>
                  <a:tcPr/>
                </a:tc>
                <a:tc>
                  <a:txBody>
                    <a:bodyPr/>
                    <a:lstStyle/>
                    <a:p>
                      <a:pPr algn="ctr"/>
                      <a:r>
                        <a:rPr lang="en-US" altLang="zh-TW" dirty="0"/>
                        <a:t>weather</a:t>
                      </a:r>
                      <a:endParaRPr lang="zh-TW" altLang="en-US" dirty="0"/>
                    </a:p>
                  </a:txBody>
                  <a:tcPr/>
                </a:tc>
                <a:extLst>
                  <a:ext uri="{0D108BD9-81ED-4DB2-BD59-A6C34878D82A}">
                    <a16:rowId xmlns:a16="http://schemas.microsoft.com/office/drawing/2014/main" val="2541748387"/>
                  </a:ext>
                </a:extLst>
              </a:tr>
              <a:tr h="370840">
                <a:tc>
                  <a:txBody>
                    <a:bodyPr/>
                    <a:lstStyle/>
                    <a:p>
                      <a:r>
                        <a:rPr lang="en-US" altLang="zh-TW" dirty="0"/>
                        <a:t>Bow</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3</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val="2022980218"/>
                  </a:ext>
                </a:extLst>
              </a:tr>
            </a:tbl>
          </a:graphicData>
        </a:graphic>
      </p:graphicFrame>
    </p:spTree>
    <p:extLst>
      <p:ext uri="{BB962C8B-B14F-4D97-AF65-F5344CB8AC3E}">
        <p14:creationId xmlns:p14="http://schemas.microsoft.com/office/powerpoint/2010/main" val="19690297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428A45-5803-4222-9390-E5B4B23D6C65}"/>
              </a:ext>
            </a:extLst>
          </p:cNvPr>
          <p:cNvSpPr>
            <a:spLocks noGrp="1"/>
          </p:cNvSpPr>
          <p:nvPr>
            <p:ph type="title"/>
          </p:nvPr>
        </p:nvSpPr>
        <p:spPr/>
        <p:txBody>
          <a:bodyPr/>
          <a:lstStyle/>
          <a:p>
            <a:r>
              <a:rPr lang="zh-TW" altLang="en-US" dirty="0"/>
              <a:t>詞袋模型程式 </a:t>
            </a:r>
            <a:r>
              <a:rPr lang="en-US" altLang="zh-TW" dirty="0"/>
              <a:t>(</a:t>
            </a:r>
            <a:r>
              <a:rPr lang="en-US" altLang="zh-TW" dirty="0" err="1"/>
              <a:t>CountVectorizer</a:t>
            </a:r>
            <a:r>
              <a:rPr lang="en-US" altLang="zh-TW" dirty="0"/>
              <a:t>)</a:t>
            </a:r>
            <a:endParaRPr lang="zh-TW" altLang="en-US" dirty="0"/>
          </a:p>
        </p:txBody>
      </p:sp>
      <p:sp>
        <p:nvSpPr>
          <p:cNvPr id="3" name="內容版面配置區 2">
            <a:extLst>
              <a:ext uri="{FF2B5EF4-FFF2-40B4-BE49-F238E27FC236}">
                <a16:creationId xmlns:a16="http://schemas.microsoft.com/office/drawing/2014/main" id="{F6645204-7451-4D41-9D35-C138C7D7D255}"/>
              </a:ext>
            </a:extLst>
          </p:cNvPr>
          <p:cNvSpPr>
            <a:spLocks noGrp="1"/>
          </p:cNvSpPr>
          <p:nvPr>
            <p:ph idx="1"/>
          </p:nvPr>
        </p:nvSpPr>
        <p:spPr/>
        <p:txBody>
          <a:bodyPr>
            <a:normAutofit/>
          </a:bodyPr>
          <a:lstStyle/>
          <a:p>
            <a:r>
              <a:rPr lang="zh-TW" altLang="en-US" sz="3200" dirty="0"/>
              <a:t>範例</a:t>
            </a:r>
            <a:r>
              <a:rPr lang="en-US" altLang="zh-TW" sz="3200" dirty="0"/>
              <a:t>2</a:t>
            </a:r>
          </a:p>
          <a:p>
            <a:pPr lvl="1"/>
            <a:r>
              <a:rPr lang="zh-TW" altLang="en-US" sz="2800" dirty="0"/>
              <a:t>假設這邊創建了 </a:t>
            </a:r>
            <a:r>
              <a:rPr lang="en-US" altLang="zh-TW" sz="2800" dirty="0"/>
              <a:t>4 </a:t>
            </a:r>
            <a:r>
              <a:rPr lang="zh-TW" altLang="en-US" sz="2800" dirty="0"/>
              <a:t>個句子，而且只使用小寫單詞。</a:t>
            </a:r>
            <a:endParaRPr lang="en-US" altLang="zh-TW" sz="2800" dirty="0"/>
          </a:p>
          <a:p>
            <a:pPr lvl="1"/>
            <a:r>
              <a:rPr lang="en-US" altLang="zh-TW" sz="2800" dirty="0"/>
              <a:t>He is playing in the field.</a:t>
            </a:r>
          </a:p>
          <a:p>
            <a:pPr lvl="1"/>
            <a:r>
              <a:rPr lang="en-US" altLang="zh-TW" sz="2800" dirty="0"/>
              <a:t>He is running towards the football.</a:t>
            </a:r>
          </a:p>
          <a:p>
            <a:pPr lvl="1"/>
            <a:r>
              <a:rPr lang="en-US" altLang="zh-TW" sz="2800" dirty="0"/>
              <a:t>The football game ended.</a:t>
            </a:r>
          </a:p>
          <a:p>
            <a:pPr lvl="1"/>
            <a:r>
              <a:rPr lang="en-US" altLang="zh-TW" sz="2800" dirty="0"/>
              <a:t>It started raining while everyone was playing in the field.</a:t>
            </a:r>
          </a:p>
          <a:p>
            <a:endParaRPr lang="zh-TW" altLang="en-US" sz="3200" dirty="0"/>
          </a:p>
        </p:txBody>
      </p:sp>
    </p:spTree>
    <p:extLst>
      <p:ext uri="{BB962C8B-B14F-4D97-AF65-F5344CB8AC3E}">
        <p14:creationId xmlns:p14="http://schemas.microsoft.com/office/powerpoint/2010/main" val="1663569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435CE5-7381-40F5-AD78-9E64F3B9F976}"/>
              </a:ext>
            </a:extLst>
          </p:cNvPr>
          <p:cNvSpPr>
            <a:spLocks noGrp="1"/>
          </p:cNvSpPr>
          <p:nvPr>
            <p:ph type="title"/>
          </p:nvPr>
        </p:nvSpPr>
        <p:spPr/>
        <p:txBody>
          <a:bodyPr/>
          <a:lstStyle/>
          <a:p>
            <a:r>
              <a:rPr lang="zh-TW" altLang="en-US" dirty="0"/>
              <a:t>計數手法 </a:t>
            </a:r>
            <a:r>
              <a:rPr lang="en-US" altLang="zh-TW" dirty="0"/>
              <a:t>- Count Vectorizer (</a:t>
            </a:r>
            <a:r>
              <a:rPr lang="zh-TW" altLang="en-US" dirty="0"/>
              <a:t>範例</a:t>
            </a:r>
            <a:r>
              <a:rPr lang="en-US" altLang="zh-TW" dirty="0"/>
              <a:t>)</a:t>
            </a:r>
            <a:endParaRPr lang="zh-TW" altLang="en-US" dirty="0"/>
          </a:p>
        </p:txBody>
      </p:sp>
      <p:sp>
        <p:nvSpPr>
          <p:cNvPr id="3" name="內容版面配置區 2">
            <a:extLst>
              <a:ext uri="{FF2B5EF4-FFF2-40B4-BE49-F238E27FC236}">
                <a16:creationId xmlns:a16="http://schemas.microsoft.com/office/drawing/2014/main" id="{C7273A97-D928-4AF5-8645-05A456A86E42}"/>
              </a:ext>
            </a:extLst>
          </p:cNvPr>
          <p:cNvSpPr>
            <a:spLocks noGrp="1"/>
          </p:cNvSpPr>
          <p:nvPr>
            <p:ph idx="1"/>
          </p:nvPr>
        </p:nvSpPr>
        <p:spPr>
          <a:xfrm>
            <a:off x="838200" y="1825625"/>
            <a:ext cx="10515600" cy="4883858"/>
          </a:xfrm>
        </p:spPr>
        <p:txBody>
          <a:bodyPr>
            <a:normAutofit/>
          </a:bodyPr>
          <a:lstStyle/>
          <a:p>
            <a:r>
              <a:rPr lang="zh-TW" altLang="en-US" dirty="0"/>
              <a:t>步驟 </a:t>
            </a:r>
            <a:r>
              <a:rPr lang="en-US" altLang="zh-TW" dirty="0"/>
              <a:t>1</a:t>
            </a:r>
            <a:r>
              <a:rPr lang="zh-TW" altLang="en-US" dirty="0"/>
              <a:t>：識別完整文本數據中的唯一單詞。</a:t>
            </a:r>
            <a:endParaRPr lang="en-US" altLang="zh-TW" dirty="0"/>
          </a:p>
          <a:p>
            <a:pPr lvl="1"/>
            <a:r>
              <a:rPr lang="en-US" altLang="zh-TW" dirty="0"/>
              <a:t>['ended', 'everyone', 'field', 'football', 'game', 'he', 'in', 'is', 'it', 'playing', 'raining', 'running', 'started', 'the', 'towards', 'was', 'while']</a:t>
            </a:r>
          </a:p>
          <a:p>
            <a:r>
              <a:rPr lang="zh-TW" altLang="en-US" dirty="0"/>
              <a:t>步驟 </a:t>
            </a:r>
            <a:r>
              <a:rPr lang="en-US" altLang="zh-TW" dirty="0"/>
              <a:t>2</a:t>
            </a:r>
            <a:r>
              <a:rPr lang="zh-TW" altLang="en-US" dirty="0"/>
              <a:t>：對於每個句子，我們將創建一個與上面長度</a:t>
            </a:r>
            <a:r>
              <a:rPr lang="en-US" altLang="zh-TW" dirty="0"/>
              <a:t>(17)</a:t>
            </a:r>
            <a:r>
              <a:rPr lang="zh-TW" altLang="en-US" dirty="0"/>
              <a:t>相同的零數組</a:t>
            </a:r>
          </a:p>
          <a:p>
            <a:endParaRPr lang="zh-TW" altLang="en-US" dirty="0"/>
          </a:p>
        </p:txBody>
      </p:sp>
    </p:spTree>
    <p:extLst>
      <p:ext uri="{BB962C8B-B14F-4D97-AF65-F5344CB8AC3E}">
        <p14:creationId xmlns:p14="http://schemas.microsoft.com/office/powerpoint/2010/main" val="1112762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A04245-E3C4-4AC1-9571-96CC646F5943}"/>
              </a:ext>
            </a:extLst>
          </p:cNvPr>
          <p:cNvSpPr>
            <a:spLocks noGrp="1"/>
          </p:cNvSpPr>
          <p:nvPr>
            <p:ph type="title"/>
          </p:nvPr>
        </p:nvSpPr>
        <p:spPr/>
        <p:txBody>
          <a:bodyPr/>
          <a:lstStyle/>
          <a:p>
            <a:r>
              <a:rPr lang="zh-TW" altLang="en-US" dirty="0"/>
              <a:t>計數手法 </a:t>
            </a:r>
            <a:r>
              <a:rPr lang="en-US" altLang="zh-TW" dirty="0"/>
              <a:t>- Count Vectorizer (</a:t>
            </a:r>
            <a:r>
              <a:rPr lang="zh-TW" altLang="en-US" dirty="0"/>
              <a:t>範例</a:t>
            </a:r>
            <a:r>
              <a:rPr lang="en-US" altLang="zh-TW" dirty="0"/>
              <a:t>)</a:t>
            </a:r>
            <a:endParaRPr lang="zh-TW" altLang="en-US" dirty="0"/>
          </a:p>
        </p:txBody>
      </p:sp>
      <p:sp>
        <p:nvSpPr>
          <p:cNvPr id="3" name="內容版面配置區 2">
            <a:extLst>
              <a:ext uri="{FF2B5EF4-FFF2-40B4-BE49-F238E27FC236}">
                <a16:creationId xmlns:a16="http://schemas.microsoft.com/office/drawing/2014/main" id="{FE62F503-9D4F-46BF-B7EE-D0D6CFC26167}"/>
              </a:ext>
            </a:extLst>
          </p:cNvPr>
          <p:cNvSpPr>
            <a:spLocks noGrp="1"/>
          </p:cNvSpPr>
          <p:nvPr>
            <p:ph idx="1"/>
          </p:nvPr>
        </p:nvSpPr>
        <p:spPr>
          <a:xfrm>
            <a:off x="838200" y="1825625"/>
            <a:ext cx="10515600" cy="4481988"/>
          </a:xfrm>
        </p:spPr>
        <p:txBody>
          <a:bodyPr>
            <a:normAutofit/>
          </a:bodyPr>
          <a:lstStyle/>
          <a:p>
            <a:r>
              <a:rPr lang="zh-TW" altLang="en-US" dirty="0"/>
              <a:t>步驟 </a:t>
            </a:r>
            <a:r>
              <a:rPr lang="en-US" altLang="zh-TW" dirty="0"/>
              <a:t>3</a:t>
            </a:r>
            <a:r>
              <a:rPr lang="zh-TW" altLang="en-US" dirty="0"/>
              <a:t>：一次讀取每個句子，我們將讀取第一個單詞，找出它在句子中的</a:t>
            </a:r>
            <a:r>
              <a:rPr lang="zh-TW" altLang="en-US" b="1" dirty="0"/>
              <a:t>總出現次數</a:t>
            </a:r>
            <a:r>
              <a:rPr lang="zh-TW" altLang="en-US" dirty="0"/>
              <a:t>。</a:t>
            </a:r>
            <a:endParaRPr lang="en-US" altLang="zh-TW" dirty="0"/>
          </a:p>
          <a:p>
            <a:r>
              <a:rPr lang="zh-TW" altLang="en-US" dirty="0"/>
              <a:t>一旦我們得到了它在該句子中出現的次數，我們將識別該單詞在上面步驟</a:t>
            </a:r>
            <a:r>
              <a:rPr lang="en-US" altLang="zh-TW" dirty="0"/>
              <a:t>1</a:t>
            </a:r>
            <a:r>
              <a:rPr lang="zh-TW" altLang="en-US" dirty="0"/>
              <a:t>列表中的位置，並將次數記錄在該位置中。</a:t>
            </a:r>
            <a:endParaRPr lang="en-US" altLang="zh-TW" dirty="0"/>
          </a:p>
          <a:p>
            <a:r>
              <a:rPr lang="zh-TW" altLang="en-US" dirty="0"/>
              <a:t>對所有單詞和所有句子重複此操作</a:t>
            </a:r>
            <a:endParaRPr lang="en-US" altLang="zh-TW" dirty="0"/>
          </a:p>
          <a:p>
            <a:r>
              <a:rPr lang="en-US" altLang="zh-TW" dirty="0"/>
              <a:t>He is playing in the field</a:t>
            </a:r>
          </a:p>
          <a:p>
            <a:endParaRPr lang="en-US" altLang="zh-TW" dirty="0"/>
          </a:p>
          <a:p>
            <a:endParaRPr lang="en-US" altLang="zh-TW" dirty="0"/>
          </a:p>
          <a:p>
            <a:endParaRPr lang="en-US" altLang="zh-TW" dirty="0"/>
          </a:p>
        </p:txBody>
      </p:sp>
      <p:grpSp>
        <p:nvGrpSpPr>
          <p:cNvPr id="24" name="群組 23">
            <a:extLst>
              <a:ext uri="{FF2B5EF4-FFF2-40B4-BE49-F238E27FC236}">
                <a16:creationId xmlns:a16="http://schemas.microsoft.com/office/drawing/2014/main" id="{94A7A589-0A86-420A-9399-F0E53234E94E}"/>
              </a:ext>
            </a:extLst>
          </p:cNvPr>
          <p:cNvGrpSpPr/>
          <p:nvPr/>
        </p:nvGrpSpPr>
        <p:grpSpPr>
          <a:xfrm>
            <a:off x="1055381" y="4494286"/>
            <a:ext cx="8904747" cy="1393767"/>
            <a:chOff x="1090327" y="2199550"/>
            <a:chExt cx="8904747" cy="1393767"/>
          </a:xfrm>
        </p:grpSpPr>
        <p:pic>
          <p:nvPicPr>
            <p:cNvPr id="5" name="圖片 4">
              <a:extLst>
                <a:ext uri="{FF2B5EF4-FFF2-40B4-BE49-F238E27FC236}">
                  <a16:creationId xmlns:a16="http://schemas.microsoft.com/office/drawing/2014/main" id="{47DA2A48-120C-436A-9D23-628C3C372136}"/>
                </a:ext>
              </a:extLst>
            </p:cNvPr>
            <p:cNvPicPr>
              <a:picLocks noChangeAspect="1"/>
            </p:cNvPicPr>
            <p:nvPr/>
          </p:nvPicPr>
          <p:blipFill>
            <a:blip r:embed="rId2"/>
            <a:stretch>
              <a:fillRect/>
            </a:stretch>
          </p:blipFill>
          <p:spPr>
            <a:xfrm>
              <a:off x="1090327" y="2880284"/>
              <a:ext cx="8904747" cy="713033"/>
            </a:xfrm>
            <a:prstGeom prst="rect">
              <a:avLst/>
            </a:prstGeom>
          </p:spPr>
        </p:pic>
        <p:cxnSp>
          <p:nvCxnSpPr>
            <p:cNvPr id="7" name="直線單箭頭接點 6">
              <a:extLst>
                <a:ext uri="{FF2B5EF4-FFF2-40B4-BE49-F238E27FC236}">
                  <a16:creationId xmlns:a16="http://schemas.microsoft.com/office/drawing/2014/main" id="{A0B5ED52-D16B-4423-8538-11892BE71373}"/>
                </a:ext>
              </a:extLst>
            </p:cNvPr>
            <p:cNvCxnSpPr/>
            <p:nvPr/>
          </p:nvCxnSpPr>
          <p:spPr>
            <a:xfrm>
              <a:off x="1386161" y="2219022"/>
              <a:ext cx="2958695" cy="768795"/>
            </a:xfrm>
            <a:prstGeom prst="straightConnector1">
              <a:avLst/>
            </a:prstGeom>
            <a:ln w="9525">
              <a:tailEnd type="triangle"/>
            </a:ln>
          </p:spPr>
          <p:style>
            <a:lnRef idx="1">
              <a:schemeClr val="accent2"/>
            </a:lnRef>
            <a:fillRef idx="0">
              <a:schemeClr val="accent2"/>
            </a:fillRef>
            <a:effectRef idx="0">
              <a:schemeClr val="accent2"/>
            </a:effectRef>
            <a:fontRef idx="minor">
              <a:schemeClr val="tx1"/>
            </a:fontRef>
          </p:style>
        </p:cxnSp>
        <p:cxnSp>
          <p:nvCxnSpPr>
            <p:cNvPr id="8" name="直線單箭頭接點 7">
              <a:extLst>
                <a:ext uri="{FF2B5EF4-FFF2-40B4-BE49-F238E27FC236}">
                  <a16:creationId xmlns:a16="http://schemas.microsoft.com/office/drawing/2014/main" id="{44A61341-9709-4F76-9264-09E0723AE99E}"/>
                </a:ext>
              </a:extLst>
            </p:cNvPr>
            <p:cNvCxnSpPr>
              <a:cxnSpLocks/>
            </p:cNvCxnSpPr>
            <p:nvPr/>
          </p:nvCxnSpPr>
          <p:spPr>
            <a:xfrm>
              <a:off x="1764734" y="2199550"/>
              <a:ext cx="3254529" cy="788267"/>
            </a:xfrm>
            <a:prstGeom prst="straightConnector1">
              <a:avLst/>
            </a:prstGeom>
            <a:ln w="9525">
              <a:tailEnd type="triangle"/>
            </a:ln>
          </p:spPr>
          <p:style>
            <a:lnRef idx="1">
              <a:schemeClr val="accent2"/>
            </a:lnRef>
            <a:fillRef idx="0">
              <a:schemeClr val="accent2"/>
            </a:fillRef>
            <a:effectRef idx="0">
              <a:schemeClr val="accent2"/>
            </a:effectRef>
            <a:fontRef idx="minor">
              <a:schemeClr val="tx1"/>
            </a:fontRef>
          </p:style>
        </p:cxnSp>
        <p:cxnSp>
          <p:nvCxnSpPr>
            <p:cNvPr id="11" name="直線單箭頭接點 10">
              <a:extLst>
                <a:ext uri="{FF2B5EF4-FFF2-40B4-BE49-F238E27FC236}">
                  <a16:creationId xmlns:a16="http://schemas.microsoft.com/office/drawing/2014/main" id="{AA01585B-CB92-4ED3-8C0F-AAF17686A49D}"/>
                </a:ext>
              </a:extLst>
            </p:cNvPr>
            <p:cNvCxnSpPr>
              <a:cxnSpLocks/>
            </p:cNvCxnSpPr>
            <p:nvPr/>
          </p:nvCxnSpPr>
          <p:spPr>
            <a:xfrm>
              <a:off x="2562650" y="2219022"/>
              <a:ext cx="3209136" cy="788267"/>
            </a:xfrm>
            <a:prstGeom prst="straightConnector1">
              <a:avLst/>
            </a:prstGeom>
            <a:ln w="9525">
              <a:tailEnd type="triangle"/>
            </a:ln>
          </p:spPr>
          <p:style>
            <a:lnRef idx="1">
              <a:schemeClr val="accent2"/>
            </a:lnRef>
            <a:fillRef idx="0">
              <a:schemeClr val="accent2"/>
            </a:fillRef>
            <a:effectRef idx="0">
              <a:schemeClr val="accent2"/>
            </a:effectRef>
            <a:fontRef idx="minor">
              <a:schemeClr val="tx1"/>
            </a:fontRef>
          </p:style>
        </p:cxnSp>
        <p:cxnSp>
          <p:nvCxnSpPr>
            <p:cNvPr id="15" name="直線單箭頭接點 14">
              <a:extLst>
                <a:ext uri="{FF2B5EF4-FFF2-40B4-BE49-F238E27FC236}">
                  <a16:creationId xmlns:a16="http://schemas.microsoft.com/office/drawing/2014/main" id="{A060A413-C107-409D-BDF6-617C53514252}"/>
                </a:ext>
              </a:extLst>
            </p:cNvPr>
            <p:cNvCxnSpPr>
              <a:cxnSpLocks/>
            </p:cNvCxnSpPr>
            <p:nvPr/>
          </p:nvCxnSpPr>
          <p:spPr>
            <a:xfrm>
              <a:off x="3238257" y="2199550"/>
              <a:ext cx="1485172" cy="858157"/>
            </a:xfrm>
            <a:prstGeom prst="straightConnector1">
              <a:avLst/>
            </a:prstGeom>
            <a:ln w="9525">
              <a:tailEnd type="triangle"/>
            </a:ln>
          </p:spPr>
          <p:style>
            <a:lnRef idx="1">
              <a:schemeClr val="accent2"/>
            </a:lnRef>
            <a:fillRef idx="0">
              <a:schemeClr val="accent2"/>
            </a:fillRef>
            <a:effectRef idx="0">
              <a:schemeClr val="accent2"/>
            </a:effectRef>
            <a:fontRef idx="minor">
              <a:schemeClr val="tx1"/>
            </a:fontRef>
          </p:style>
        </p:cxnSp>
        <p:cxnSp>
          <p:nvCxnSpPr>
            <p:cNvPr id="18" name="直線單箭頭接點 17">
              <a:extLst>
                <a:ext uri="{FF2B5EF4-FFF2-40B4-BE49-F238E27FC236}">
                  <a16:creationId xmlns:a16="http://schemas.microsoft.com/office/drawing/2014/main" id="{36847150-B865-4438-ABA4-85C02FC7AB5E}"/>
                </a:ext>
              </a:extLst>
            </p:cNvPr>
            <p:cNvCxnSpPr>
              <a:cxnSpLocks/>
            </p:cNvCxnSpPr>
            <p:nvPr/>
          </p:nvCxnSpPr>
          <p:spPr>
            <a:xfrm>
              <a:off x="3673987" y="2199550"/>
              <a:ext cx="4421656" cy="858157"/>
            </a:xfrm>
            <a:prstGeom prst="straightConnector1">
              <a:avLst/>
            </a:prstGeom>
            <a:ln w="9525">
              <a:tailEnd type="triangle"/>
            </a:ln>
          </p:spPr>
          <p:style>
            <a:lnRef idx="1">
              <a:schemeClr val="accent2"/>
            </a:lnRef>
            <a:fillRef idx="0">
              <a:schemeClr val="accent2"/>
            </a:fillRef>
            <a:effectRef idx="0">
              <a:schemeClr val="accent2"/>
            </a:effectRef>
            <a:fontRef idx="minor">
              <a:schemeClr val="tx1"/>
            </a:fontRef>
          </p:style>
        </p:cxnSp>
        <p:cxnSp>
          <p:nvCxnSpPr>
            <p:cNvPr id="21" name="直線單箭頭接點 20">
              <a:extLst>
                <a:ext uri="{FF2B5EF4-FFF2-40B4-BE49-F238E27FC236}">
                  <a16:creationId xmlns:a16="http://schemas.microsoft.com/office/drawing/2014/main" id="{A3FE2885-DF61-4691-B164-4A1C2B943B42}"/>
                </a:ext>
              </a:extLst>
            </p:cNvPr>
            <p:cNvCxnSpPr>
              <a:cxnSpLocks/>
            </p:cNvCxnSpPr>
            <p:nvPr/>
          </p:nvCxnSpPr>
          <p:spPr>
            <a:xfrm flipH="1">
              <a:off x="2942423" y="2199550"/>
              <a:ext cx="1297898" cy="788267"/>
            </a:xfrm>
            <a:prstGeom prst="straightConnector1">
              <a:avLst/>
            </a:prstGeom>
            <a:ln w="9525">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4586995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17849906-1378-D596-E1F5-94DE15827AA8}"/>
              </a:ext>
            </a:extLst>
          </p:cNvPr>
          <p:cNvSpPr>
            <a:spLocks noGrp="1"/>
          </p:cNvSpPr>
          <p:nvPr>
            <p:ph type="title"/>
          </p:nvPr>
        </p:nvSpPr>
        <p:spPr>
          <a:xfrm>
            <a:off x="838200" y="365125"/>
            <a:ext cx="10515600" cy="1325563"/>
          </a:xfrm>
        </p:spPr>
        <p:txBody>
          <a:bodyPr>
            <a:normAutofit/>
          </a:bodyPr>
          <a:lstStyle/>
          <a:p>
            <a:r>
              <a:rPr lang="zh-TW" altLang="en-US" dirty="0"/>
              <a:t>比較</a:t>
            </a:r>
            <a:r>
              <a:rPr lang="en" altLang="zh-TW" dirty="0"/>
              <a:t>One-Hot Encoding</a:t>
            </a:r>
            <a:r>
              <a:rPr lang="en-US" altLang="zh-TW" dirty="0"/>
              <a:t> </a:t>
            </a:r>
            <a:r>
              <a:rPr lang="zh-TW" altLang="en-US" dirty="0"/>
              <a:t>與 </a:t>
            </a:r>
            <a:r>
              <a:rPr lang="en" altLang="zh-TW" dirty="0"/>
              <a:t>Bag-of-Word</a:t>
            </a:r>
            <a:endParaRPr lang="zh-TW" altLang="en-US" dirty="0"/>
          </a:p>
        </p:txBody>
      </p:sp>
      <p:sp>
        <p:nvSpPr>
          <p:cNvPr id="5" name="內容版面配置區 4">
            <a:extLst>
              <a:ext uri="{FF2B5EF4-FFF2-40B4-BE49-F238E27FC236}">
                <a16:creationId xmlns:a16="http://schemas.microsoft.com/office/drawing/2014/main" id="{8EA1E460-0E9A-F55A-8AA5-D2068A38CDB1}"/>
              </a:ext>
            </a:extLst>
          </p:cNvPr>
          <p:cNvSpPr>
            <a:spLocks noGrp="1"/>
          </p:cNvSpPr>
          <p:nvPr>
            <p:ph sz="half" idx="1"/>
          </p:nvPr>
        </p:nvSpPr>
        <p:spPr>
          <a:xfrm>
            <a:off x="838200" y="1825625"/>
            <a:ext cx="4380287" cy="4351338"/>
          </a:xfrm>
          <a:ln>
            <a:solidFill>
              <a:schemeClr val="tx1"/>
            </a:solidFill>
          </a:ln>
        </p:spPr>
        <p:txBody>
          <a:bodyPr>
            <a:normAutofit fontScale="70000" lnSpcReduction="20000"/>
          </a:bodyPr>
          <a:lstStyle/>
          <a:p>
            <a:pPr>
              <a:lnSpc>
                <a:spcPct val="120000"/>
              </a:lnSpc>
            </a:pPr>
            <a:r>
              <a:rPr lang="en" altLang="zh-TW" dirty="0"/>
              <a:t>One-Hot Encoding (</a:t>
            </a:r>
            <a:r>
              <a:rPr lang="zh-TW" altLang="en-US" dirty="0"/>
              <a:t>獨熱編碼</a:t>
            </a:r>
            <a:r>
              <a:rPr lang="en-US" altLang="zh-TW" dirty="0"/>
              <a:t>)</a:t>
            </a:r>
          </a:p>
          <a:p>
            <a:pPr>
              <a:lnSpc>
                <a:spcPct val="120000"/>
              </a:lnSpc>
            </a:pPr>
            <a:r>
              <a:rPr lang="zh-TW" altLang="en-US" dirty="0"/>
              <a:t>特點：</a:t>
            </a:r>
          </a:p>
          <a:p>
            <a:pPr lvl="1">
              <a:lnSpc>
                <a:spcPct val="120000"/>
              </a:lnSpc>
            </a:pPr>
            <a:r>
              <a:rPr lang="zh-TW" altLang="en-US" dirty="0"/>
              <a:t>詞向量的長度是詞袋的長度</a:t>
            </a:r>
            <a:r>
              <a:rPr lang="en-US" altLang="zh-TW" dirty="0"/>
              <a:t>(</a:t>
            </a:r>
            <a:r>
              <a:rPr lang="zh-TW" altLang="en-US" dirty="0"/>
              <a:t>不重複詞的數量</a:t>
            </a:r>
            <a:r>
              <a:rPr lang="en-US" altLang="zh-TW" dirty="0"/>
              <a:t>)</a:t>
            </a:r>
          </a:p>
          <a:p>
            <a:pPr lvl="1">
              <a:lnSpc>
                <a:spcPct val="120000"/>
              </a:lnSpc>
            </a:pPr>
            <a:r>
              <a:rPr lang="zh-TW" altLang="en-US" dirty="0"/>
              <a:t>向量中出現的字為１，其餘都是０</a:t>
            </a:r>
          </a:p>
          <a:p>
            <a:pPr lvl="1">
              <a:lnSpc>
                <a:spcPct val="120000"/>
              </a:lnSpc>
            </a:pPr>
            <a:r>
              <a:rPr lang="zh-TW" altLang="en-US" dirty="0"/>
              <a:t>編碼後的文檔會是 稀疏矩陣 </a:t>
            </a:r>
            <a:r>
              <a:rPr lang="en-US" altLang="zh-TW" dirty="0"/>
              <a:t>(</a:t>
            </a:r>
            <a:r>
              <a:rPr lang="en" altLang="zh-TW" dirty="0"/>
              <a:t>sparse matrix) (</a:t>
            </a:r>
            <a:r>
              <a:rPr lang="zh-TW" altLang="en-US" dirty="0"/>
              <a:t>即矩陣中會有很多</a:t>
            </a:r>
            <a:r>
              <a:rPr lang="en-US" altLang="zh-TW" dirty="0"/>
              <a:t>0</a:t>
            </a:r>
            <a:r>
              <a:rPr lang="zh-TW" altLang="en-US" dirty="0"/>
              <a:t>，可能會浪費很多記憶體跟計算資源</a:t>
            </a:r>
            <a:r>
              <a:rPr lang="en-US" altLang="zh-TW" dirty="0"/>
              <a:t>)</a:t>
            </a:r>
          </a:p>
          <a:p>
            <a:pPr>
              <a:lnSpc>
                <a:spcPct val="120000"/>
              </a:lnSpc>
            </a:pPr>
            <a:r>
              <a:rPr lang="zh-TW" altLang="en-US" dirty="0"/>
              <a:t>缺點：</a:t>
            </a:r>
          </a:p>
          <a:p>
            <a:pPr lvl="1">
              <a:lnSpc>
                <a:spcPct val="120000"/>
              </a:lnSpc>
            </a:pPr>
            <a:r>
              <a:rPr lang="zh-TW" altLang="en-US" dirty="0"/>
              <a:t>編碼只能反應這個詞有在文檔中出現過</a:t>
            </a:r>
            <a:r>
              <a:rPr lang="en-US" altLang="zh-TW" dirty="0"/>
              <a:t>(</a:t>
            </a:r>
            <a:r>
              <a:rPr lang="zh-TW" altLang="en-US" dirty="0"/>
              <a:t>也就是沒出現的詞需要重新訓練</a:t>
            </a:r>
            <a:r>
              <a:rPr lang="en-US" altLang="zh-TW" dirty="0"/>
              <a:t>)</a:t>
            </a:r>
            <a:endParaRPr lang="zh-TW" altLang="en-US" dirty="0"/>
          </a:p>
          <a:p>
            <a:pPr lvl="1">
              <a:lnSpc>
                <a:spcPct val="120000"/>
              </a:lnSpc>
            </a:pPr>
            <a:r>
              <a:rPr lang="zh-TW" altLang="en-US" dirty="0"/>
              <a:t>編碼不能反映詞的重要程度</a:t>
            </a:r>
          </a:p>
        </p:txBody>
      </p:sp>
      <p:sp>
        <p:nvSpPr>
          <p:cNvPr id="6" name="內容版面配置區 5">
            <a:extLst>
              <a:ext uri="{FF2B5EF4-FFF2-40B4-BE49-F238E27FC236}">
                <a16:creationId xmlns:a16="http://schemas.microsoft.com/office/drawing/2014/main" id="{92F19A1A-2005-F35F-18FB-000648786904}"/>
              </a:ext>
            </a:extLst>
          </p:cNvPr>
          <p:cNvSpPr>
            <a:spLocks noGrp="1"/>
          </p:cNvSpPr>
          <p:nvPr>
            <p:ph sz="half" idx="2"/>
          </p:nvPr>
        </p:nvSpPr>
        <p:spPr>
          <a:xfrm>
            <a:off x="5381564" y="1825624"/>
            <a:ext cx="5972236" cy="4351339"/>
          </a:xfrm>
          <a:ln>
            <a:solidFill>
              <a:schemeClr val="tx1"/>
            </a:solidFill>
          </a:ln>
        </p:spPr>
        <p:txBody>
          <a:bodyPr>
            <a:normAutofit fontScale="70000" lnSpcReduction="20000"/>
          </a:bodyPr>
          <a:lstStyle/>
          <a:p>
            <a:pPr>
              <a:lnSpc>
                <a:spcPct val="120000"/>
              </a:lnSpc>
            </a:pPr>
            <a:r>
              <a:rPr lang="zh-TW" altLang="en-US" dirty="0"/>
              <a:t>詞袋模型 </a:t>
            </a:r>
            <a:r>
              <a:rPr lang="en-US" altLang="zh-TW" dirty="0"/>
              <a:t>(</a:t>
            </a:r>
            <a:r>
              <a:rPr lang="en" altLang="zh-TW" dirty="0"/>
              <a:t>Bag-of-Word) </a:t>
            </a:r>
            <a:r>
              <a:rPr lang="zh-TW" altLang="en-US" dirty="0"/>
              <a:t>編碼</a:t>
            </a:r>
          </a:p>
          <a:p>
            <a:pPr>
              <a:lnSpc>
                <a:spcPct val="120000"/>
              </a:lnSpc>
            </a:pPr>
            <a:r>
              <a:rPr lang="zh-TW" altLang="en-US" dirty="0"/>
              <a:t>特點：</a:t>
            </a:r>
          </a:p>
          <a:p>
            <a:pPr lvl="1">
              <a:lnSpc>
                <a:spcPct val="120000"/>
              </a:lnSpc>
            </a:pPr>
            <a:r>
              <a:rPr lang="zh-TW" altLang="en-US" dirty="0"/>
              <a:t>詞向量的長度是詞袋的長度</a:t>
            </a:r>
            <a:r>
              <a:rPr lang="en-US" altLang="zh-TW" dirty="0"/>
              <a:t>(</a:t>
            </a:r>
            <a:r>
              <a:rPr lang="zh-TW" altLang="en-US" dirty="0"/>
              <a:t>不重複詞的數量</a:t>
            </a:r>
            <a:r>
              <a:rPr lang="en-US" altLang="zh-TW" dirty="0"/>
              <a:t>)</a:t>
            </a:r>
          </a:p>
          <a:p>
            <a:pPr lvl="1">
              <a:lnSpc>
                <a:spcPct val="120000"/>
              </a:lnSpc>
            </a:pPr>
            <a:r>
              <a:rPr lang="zh-TW" altLang="en-US" dirty="0"/>
              <a:t>目標是針對文檔進行編碼</a:t>
            </a:r>
          </a:p>
          <a:p>
            <a:pPr lvl="1">
              <a:lnSpc>
                <a:spcPct val="120000"/>
              </a:lnSpc>
            </a:pPr>
            <a:r>
              <a:rPr lang="zh-TW" altLang="en-US" dirty="0"/>
              <a:t>相較於 </a:t>
            </a:r>
            <a:r>
              <a:rPr lang="en" altLang="zh-TW" dirty="0"/>
              <a:t>one-hot encoding</a:t>
            </a:r>
            <a:r>
              <a:rPr lang="zh-TW" altLang="en" dirty="0"/>
              <a:t>，</a:t>
            </a:r>
            <a:r>
              <a:rPr lang="zh-TW" altLang="en-US" dirty="0"/>
              <a:t>有考慮到詞的出現程度</a:t>
            </a:r>
          </a:p>
          <a:p>
            <a:pPr>
              <a:lnSpc>
                <a:spcPct val="120000"/>
              </a:lnSpc>
            </a:pPr>
            <a:r>
              <a:rPr lang="zh-TW" altLang="en-US" dirty="0"/>
              <a:t>缺點：</a:t>
            </a:r>
          </a:p>
          <a:p>
            <a:pPr lvl="1">
              <a:lnSpc>
                <a:spcPct val="120000"/>
              </a:lnSpc>
            </a:pPr>
            <a:r>
              <a:rPr lang="zh-TW" altLang="en-US" dirty="0"/>
              <a:t>忽略了詞的位置訊息。如”我吃蘋果”跟”蘋果吃我”，兩句的編碼會一樣，但是意思卻截然不同！</a:t>
            </a:r>
          </a:p>
          <a:p>
            <a:pPr lvl="1">
              <a:lnSpc>
                <a:spcPct val="120000"/>
              </a:lnSpc>
            </a:pPr>
            <a:r>
              <a:rPr lang="zh-TW" altLang="en-US" dirty="0"/>
              <a:t>只統計了出現程度，但不知道詞的重要程度。通常一個長篇的文檔中可能會出現很多”我”、”你”之類的常用詞，這樣就無法區分較少出現的”關鍵詞”在文檔中的重要程度</a:t>
            </a:r>
            <a:endParaRPr lang="en-US" altLang="zh-TW" dirty="0"/>
          </a:p>
          <a:p>
            <a:pPr lvl="1">
              <a:lnSpc>
                <a:spcPct val="120000"/>
              </a:lnSpc>
            </a:pPr>
            <a:r>
              <a:rPr lang="zh-TW" altLang="en-US" dirty="0"/>
              <a:t>不在詞彙集的單字無法處理</a:t>
            </a:r>
          </a:p>
        </p:txBody>
      </p:sp>
    </p:spTree>
    <p:extLst>
      <p:ext uri="{BB962C8B-B14F-4D97-AF65-F5344CB8AC3E}">
        <p14:creationId xmlns:p14="http://schemas.microsoft.com/office/powerpoint/2010/main" val="13845751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7E374A80-D1BF-7F0B-F25C-FC1ED80A2ADD}"/>
              </a:ext>
            </a:extLst>
          </p:cNvPr>
          <p:cNvSpPr>
            <a:spLocks noGrp="1"/>
          </p:cNvSpPr>
          <p:nvPr>
            <p:ph type="title"/>
          </p:nvPr>
        </p:nvSpPr>
        <p:spPr/>
        <p:txBody>
          <a:bodyPr/>
          <a:lstStyle/>
          <a:p>
            <a:r>
              <a:rPr lang="en-US" altLang="zh-TW" dirty="0"/>
              <a:t>n-gram</a:t>
            </a:r>
            <a:r>
              <a:rPr lang="zh-TW" altLang="en-US" dirty="0"/>
              <a:t> 袋</a:t>
            </a:r>
          </a:p>
        </p:txBody>
      </p:sp>
      <p:sp>
        <p:nvSpPr>
          <p:cNvPr id="6" name="內容版面配置區 5">
            <a:extLst>
              <a:ext uri="{FF2B5EF4-FFF2-40B4-BE49-F238E27FC236}">
                <a16:creationId xmlns:a16="http://schemas.microsoft.com/office/drawing/2014/main" id="{E68CA7C9-E369-6A3E-FF5A-4AAD315E5A55}"/>
              </a:ext>
            </a:extLst>
          </p:cNvPr>
          <p:cNvSpPr>
            <a:spLocks noGrp="1"/>
          </p:cNvSpPr>
          <p:nvPr>
            <p:ph idx="1"/>
          </p:nvPr>
        </p:nvSpPr>
        <p:spPr/>
        <p:txBody>
          <a:bodyPr/>
          <a:lstStyle/>
          <a:p>
            <a:r>
              <a:rPr lang="zh-TW" altLang="en-US" dirty="0"/>
              <a:t>前兩個表示方法都是將「單字」視為獨立的單位</a:t>
            </a:r>
            <a:endParaRPr lang="en-US" altLang="zh-TW" dirty="0"/>
          </a:p>
          <a:p>
            <a:r>
              <a:rPr lang="en-US" altLang="zh-TW" dirty="0"/>
              <a:t>Bag-of-n-gram</a:t>
            </a:r>
            <a:r>
              <a:rPr lang="zh-TW" altLang="en-US" dirty="0"/>
              <a:t> </a:t>
            </a:r>
            <a:r>
              <a:rPr lang="en-US" altLang="zh-TW" dirty="0"/>
              <a:t>(</a:t>
            </a:r>
            <a:r>
              <a:rPr lang="en-US" altLang="zh-TW" dirty="0" err="1"/>
              <a:t>BoN</a:t>
            </a:r>
            <a:r>
              <a:rPr lang="en-US" altLang="zh-TW" dirty="0"/>
              <a:t>)</a:t>
            </a:r>
            <a:r>
              <a:rPr lang="zh-TW" altLang="en-US" dirty="0"/>
              <a:t>試圖解決這個問題</a:t>
            </a:r>
            <a:endParaRPr lang="en-US" altLang="zh-TW" dirty="0"/>
          </a:p>
          <a:p>
            <a:pPr lvl="1"/>
            <a:r>
              <a:rPr lang="zh-TW" altLang="en-US" dirty="0"/>
              <a:t>將原文拆成 </a:t>
            </a:r>
            <a:r>
              <a:rPr lang="en-US" altLang="zh-TW" dirty="0"/>
              <a:t>n</a:t>
            </a:r>
            <a:r>
              <a:rPr lang="zh-TW" altLang="en-US" dirty="0"/>
              <a:t> 個連續單字的段落</a:t>
            </a:r>
            <a:endParaRPr lang="en-US" altLang="zh-TW" dirty="0"/>
          </a:p>
          <a:p>
            <a:pPr lvl="1"/>
            <a:r>
              <a:rPr lang="zh-TW" altLang="en-US" dirty="0"/>
              <a:t>讓每一個單位還帶有「上下文」的關係</a:t>
            </a:r>
          </a:p>
        </p:txBody>
      </p:sp>
      <p:sp>
        <p:nvSpPr>
          <p:cNvPr id="7" name="文字方塊 6">
            <a:extLst>
              <a:ext uri="{FF2B5EF4-FFF2-40B4-BE49-F238E27FC236}">
                <a16:creationId xmlns:a16="http://schemas.microsoft.com/office/drawing/2014/main" id="{E34F0D5B-0DF8-3318-0618-C1D3C5371A07}"/>
              </a:ext>
            </a:extLst>
          </p:cNvPr>
          <p:cNvSpPr txBox="1"/>
          <p:nvPr/>
        </p:nvSpPr>
        <p:spPr>
          <a:xfrm>
            <a:off x="729723" y="3754180"/>
            <a:ext cx="10732553" cy="2554545"/>
          </a:xfrm>
          <a:prstGeom prst="rect">
            <a:avLst/>
          </a:prstGeom>
          <a:noFill/>
          <a:ln>
            <a:solidFill>
              <a:schemeClr val="tx1"/>
            </a:solidFill>
          </a:ln>
        </p:spPr>
        <p:txBody>
          <a:bodyPr wrap="square">
            <a:spAutoFit/>
          </a:bodyPr>
          <a:lstStyle/>
          <a:p>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numpy</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as</a:t>
            </a:r>
            <a:r>
              <a:rPr lang="en-US" altLang="zh-TW" sz="1600" b="0" dirty="0">
                <a:solidFill>
                  <a:srgbClr val="000000"/>
                </a:solidFill>
                <a:effectLst/>
                <a:latin typeface="Fira Code" panose="020B0809050000020004" pitchFamily="49" charset="0"/>
              </a:rPr>
              <a:t> np</a:t>
            </a: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sklearn.feature_extraction.text</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CountVectorizer</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count = </a:t>
            </a:r>
            <a:r>
              <a:rPr lang="en-US" altLang="zh-TW" sz="1600" b="0" dirty="0" err="1">
                <a:solidFill>
                  <a:srgbClr val="000000"/>
                </a:solidFill>
                <a:effectLst/>
                <a:latin typeface="Fira Code" panose="020B0809050000020004" pitchFamily="49" charset="0"/>
              </a:rPr>
              <a:t>CountVectorizer</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ngram_range</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a:t>
            </a:r>
            <a:r>
              <a:rPr lang="en" altLang="zh-TW" sz="1600" b="0" dirty="0">
                <a:solidFill>
                  <a:srgbClr val="098658"/>
                </a:solidFill>
                <a:effectLst/>
                <a:latin typeface="Fira Code" panose="020B0809050000020004" pitchFamily="49" charset="0"/>
              </a:rPr>
              <a:t>1</a:t>
            </a:r>
            <a:r>
              <a:rPr lang="en" altLang="zh-TW" sz="1600" b="0" dirty="0">
                <a:solidFill>
                  <a:srgbClr val="3B3B3B"/>
                </a:solidFill>
                <a:effectLst/>
                <a:latin typeface="Fira Code" panose="020B0809050000020004" pitchFamily="49" charset="0"/>
              </a:rPr>
              <a:t>,</a:t>
            </a:r>
            <a:r>
              <a:rPr lang="en" altLang="zh-TW" sz="1600" b="0" dirty="0">
                <a:solidFill>
                  <a:srgbClr val="098658"/>
                </a:solidFill>
                <a:effectLst/>
                <a:latin typeface="Fira Code" panose="020B0809050000020004" pitchFamily="49" charset="0"/>
              </a:rPr>
              <a:t>3</a:t>
            </a:r>
            <a:r>
              <a:rPr lang="en" altLang="zh-TW" sz="1600" b="0" dirty="0">
                <a:solidFill>
                  <a:srgbClr val="3B3B3B"/>
                </a:solidFill>
                <a:effectLst/>
                <a:latin typeface="Fira Code" panose="020B0809050000020004" pitchFamily="49" charset="0"/>
              </a:rPr>
              <a:t>))</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docs = </a:t>
            </a:r>
            <a:r>
              <a:rPr lang="en-US" altLang="zh-TW" sz="1600" b="0" dirty="0" err="1">
                <a:solidFill>
                  <a:srgbClr val="000000"/>
                </a:solidFill>
                <a:effectLst/>
                <a:latin typeface="Fira Code" panose="020B0809050000020004" pitchFamily="49" charset="0"/>
              </a:rPr>
              <a:t>np.array</a:t>
            </a:r>
            <a:r>
              <a:rPr lang="en-US" altLang="zh-TW" sz="1600" b="0" dirty="0">
                <a:solidFill>
                  <a:srgbClr val="000000"/>
                </a:solidFill>
                <a:effectLst/>
                <a:latin typeface="Fira Code" panose="020B0809050000020004" pitchFamily="49" charset="0"/>
              </a:rPr>
              <a:t>([</a:t>
            </a:r>
            <a:r>
              <a:rPr lang="en-US" altLang="zh-TW" sz="1600" b="0" dirty="0">
                <a:solidFill>
                  <a:srgbClr val="A31515"/>
                </a:solidFill>
                <a:effectLst/>
                <a:latin typeface="Fira Code" panose="020B0809050000020004" pitchFamily="49" charset="0"/>
              </a:rPr>
              <a:t>'The sun is shining'</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'The weather is sweet'</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'The sun is shining, the weather is sweet, and one and one is two'</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bag = </a:t>
            </a:r>
            <a:r>
              <a:rPr lang="en-US" altLang="zh-TW" sz="1600" b="0" dirty="0" err="1">
                <a:solidFill>
                  <a:srgbClr val="000000"/>
                </a:solidFill>
                <a:effectLst/>
                <a:latin typeface="Fira Code" panose="020B0809050000020004" pitchFamily="49" charset="0"/>
              </a:rPr>
              <a:t>count.fit_transform</a:t>
            </a:r>
            <a:r>
              <a:rPr lang="en-US" altLang="zh-TW" sz="1600" b="0" dirty="0">
                <a:solidFill>
                  <a:srgbClr val="000000"/>
                </a:solidFill>
                <a:effectLst/>
                <a:latin typeface="Fira Code" panose="020B0809050000020004" pitchFamily="49" charset="0"/>
              </a:rPr>
              <a:t>(docs)</a:t>
            </a:r>
          </a:p>
          <a:p>
            <a:br>
              <a:rPr lang="en-US" altLang="zh-TW" sz="1600" b="0" dirty="0">
                <a:solidFill>
                  <a:srgbClr val="000000"/>
                </a:solidFill>
                <a:effectLst/>
                <a:latin typeface="Fira Code" panose="020B0809050000020004" pitchFamily="49" charset="0"/>
              </a:rPr>
            </a:br>
            <a:r>
              <a:rPr lang="en-US" altLang="zh-TW" sz="1600" b="0" dirty="0">
                <a:solidFill>
                  <a:srgbClr val="000000"/>
                </a:solidFill>
                <a:effectLst/>
                <a:latin typeface="Fira Code" panose="020B0809050000020004" pitchFamily="49" charset="0"/>
              </a:rPr>
              <a:t>print(</a:t>
            </a:r>
            <a:r>
              <a:rPr lang="en-US" altLang="zh-TW" sz="1600" b="0" dirty="0" err="1">
                <a:solidFill>
                  <a:srgbClr val="000000"/>
                </a:solidFill>
                <a:effectLst/>
                <a:latin typeface="Fira Code" panose="020B0809050000020004" pitchFamily="49" charset="0"/>
              </a:rPr>
              <a:t>count.vocabulary</a:t>
            </a:r>
            <a:r>
              <a:rPr lang="en-US" altLang="zh-TW" sz="1600" b="0" dirty="0">
                <a:solidFill>
                  <a:srgbClr val="000000"/>
                </a:solidFill>
                <a:effectLst/>
                <a:latin typeface="Fira Code" panose="020B0809050000020004" pitchFamily="49" charset="0"/>
              </a:rPr>
              <a:t>_)</a:t>
            </a:r>
          </a:p>
          <a:p>
            <a:r>
              <a:rPr lang="en-US" altLang="zh-TW" sz="1600" b="0" dirty="0">
                <a:solidFill>
                  <a:srgbClr val="000000"/>
                </a:solidFill>
                <a:effectLst/>
                <a:latin typeface="Fira Code" panose="020B0809050000020004" pitchFamily="49" charset="0"/>
              </a:rPr>
              <a:t>print(</a:t>
            </a:r>
            <a:r>
              <a:rPr lang="en-US" altLang="zh-TW" sz="1600" b="0" dirty="0" err="1">
                <a:solidFill>
                  <a:srgbClr val="000000"/>
                </a:solidFill>
                <a:effectLst/>
                <a:latin typeface="Fira Code" panose="020B0809050000020004" pitchFamily="49" charset="0"/>
              </a:rPr>
              <a:t>bag.toarray</a:t>
            </a:r>
            <a:r>
              <a:rPr lang="en-US" altLang="zh-TW" sz="1600" b="0" dirty="0">
                <a:solidFill>
                  <a:srgbClr val="000000"/>
                </a:solidFill>
                <a:effectLst/>
                <a:latin typeface="Fira Code" panose="020B0809050000020004" pitchFamily="49" charset="0"/>
              </a:rPr>
              <a:t>())</a:t>
            </a:r>
          </a:p>
        </p:txBody>
      </p:sp>
      <p:sp>
        <p:nvSpPr>
          <p:cNvPr id="8" name="向下箭號 7">
            <a:extLst>
              <a:ext uri="{FF2B5EF4-FFF2-40B4-BE49-F238E27FC236}">
                <a16:creationId xmlns:a16="http://schemas.microsoft.com/office/drawing/2014/main" id="{FDD44FB0-07C7-186F-C4D7-EEEF1837A049}"/>
              </a:ext>
            </a:extLst>
          </p:cNvPr>
          <p:cNvSpPr/>
          <p:nvPr/>
        </p:nvSpPr>
        <p:spPr>
          <a:xfrm rot="6431196">
            <a:off x="6152206" y="4359780"/>
            <a:ext cx="422157" cy="42898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7207854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6BAC29-78E4-F5A9-78B3-7BD74BDE8A18}"/>
              </a:ext>
            </a:extLst>
          </p:cNvPr>
          <p:cNvSpPr>
            <a:spLocks noGrp="1"/>
          </p:cNvSpPr>
          <p:nvPr>
            <p:ph type="title"/>
          </p:nvPr>
        </p:nvSpPr>
        <p:spPr/>
        <p:txBody>
          <a:bodyPr/>
          <a:lstStyle/>
          <a:p>
            <a:r>
              <a:rPr lang="en-US" altLang="zh-TW" dirty="0"/>
              <a:t>n-gram</a:t>
            </a:r>
            <a:r>
              <a:rPr lang="zh-TW" altLang="en-US" dirty="0"/>
              <a:t> 袋</a:t>
            </a:r>
            <a:endParaRPr kumimoji="1" lang="zh-TW" altLang="en-US" dirty="0"/>
          </a:p>
        </p:txBody>
      </p:sp>
      <p:sp>
        <p:nvSpPr>
          <p:cNvPr id="4" name="文字版面配置區 3">
            <a:extLst>
              <a:ext uri="{FF2B5EF4-FFF2-40B4-BE49-F238E27FC236}">
                <a16:creationId xmlns:a16="http://schemas.microsoft.com/office/drawing/2014/main" id="{28CE8958-A1E2-C6DF-40FD-C7BEB2BCDBDE}"/>
              </a:ext>
            </a:extLst>
          </p:cNvPr>
          <p:cNvSpPr>
            <a:spLocks noGrp="1"/>
          </p:cNvSpPr>
          <p:nvPr>
            <p:ph type="body" idx="1"/>
          </p:nvPr>
        </p:nvSpPr>
        <p:spPr/>
        <p:txBody>
          <a:bodyPr/>
          <a:lstStyle/>
          <a:p>
            <a:r>
              <a:rPr lang="zh-TW" altLang="en-US" dirty="0"/>
              <a:t>優點</a:t>
            </a:r>
          </a:p>
        </p:txBody>
      </p:sp>
      <p:sp>
        <p:nvSpPr>
          <p:cNvPr id="3" name="內容版面配置區 2">
            <a:extLst>
              <a:ext uri="{FF2B5EF4-FFF2-40B4-BE49-F238E27FC236}">
                <a16:creationId xmlns:a16="http://schemas.microsoft.com/office/drawing/2014/main" id="{9F356FEF-13D5-7026-06F1-0C5CD318D750}"/>
              </a:ext>
            </a:extLst>
          </p:cNvPr>
          <p:cNvSpPr>
            <a:spLocks noGrp="1"/>
          </p:cNvSpPr>
          <p:nvPr>
            <p:ph sz="half" idx="2"/>
          </p:nvPr>
        </p:nvSpPr>
        <p:spPr/>
        <p:txBody>
          <a:bodyPr/>
          <a:lstStyle/>
          <a:p>
            <a:r>
              <a:rPr kumimoji="1" lang="zh-TW" altLang="en-US" dirty="0"/>
              <a:t>有利用到上下文跟單字的順序</a:t>
            </a:r>
            <a:endParaRPr kumimoji="1" lang="en-US" altLang="zh-TW" dirty="0"/>
          </a:p>
          <a:p>
            <a:r>
              <a:rPr kumimoji="1" lang="zh-TW" altLang="en-US" dirty="0"/>
              <a:t>能夠描述一些「語義」相似性，相較於有完全不相同的</a:t>
            </a:r>
            <a:r>
              <a:rPr kumimoji="1" lang="en-US" altLang="zh-TW" dirty="0"/>
              <a:t>n-gram</a:t>
            </a:r>
            <a:r>
              <a:rPr kumimoji="1" lang="zh-TW" altLang="en-US" dirty="0"/>
              <a:t>的文件，有相同</a:t>
            </a:r>
            <a:r>
              <a:rPr kumimoji="1" lang="en-US" altLang="zh-TW" dirty="0"/>
              <a:t>n-gram</a:t>
            </a:r>
            <a:r>
              <a:rPr kumimoji="1" lang="zh-TW" altLang="en-US" dirty="0"/>
              <a:t>的文字的向量會比較接近</a:t>
            </a:r>
          </a:p>
        </p:txBody>
      </p:sp>
      <p:sp>
        <p:nvSpPr>
          <p:cNvPr id="5" name="文字版面配置區 4">
            <a:extLst>
              <a:ext uri="{FF2B5EF4-FFF2-40B4-BE49-F238E27FC236}">
                <a16:creationId xmlns:a16="http://schemas.microsoft.com/office/drawing/2014/main" id="{3AB9121F-7ED1-5C2E-784D-7C3EE65C78FC}"/>
              </a:ext>
            </a:extLst>
          </p:cNvPr>
          <p:cNvSpPr>
            <a:spLocks noGrp="1"/>
          </p:cNvSpPr>
          <p:nvPr>
            <p:ph type="body" sz="quarter" idx="3"/>
          </p:nvPr>
        </p:nvSpPr>
        <p:spPr/>
        <p:txBody>
          <a:bodyPr/>
          <a:lstStyle/>
          <a:p>
            <a:r>
              <a:rPr lang="zh-TW" altLang="en-US" dirty="0"/>
              <a:t>缺點</a:t>
            </a:r>
          </a:p>
        </p:txBody>
      </p:sp>
      <p:sp>
        <p:nvSpPr>
          <p:cNvPr id="6" name="內容版面配置區 5">
            <a:extLst>
              <a:ext uri="{FF2B5EF4-FFF2-40B4-BE49-F238E27FC236}">
                <a16:creationId xmlns:a16="http://schemas.microsoft.com/office/drawing/2014/main" id="{13390471-D7FB-227A-C8F7-00CCAA0568B8}"/>
              </a:ext>
            </a:extLst>
          </p:cNvPr>
          <p:cNvSpPr>
            <a:spLocks noGrp="1"/>
          </p:cNvSpPr>
          <p:nvPr>
            <p:ph sz="quarter" idx="4"/>
          </p:nvPr>
        </p:nvSpPr>
        <p:spPr/>
        <p:txBody>
          <a:bodyPr/>
          <a:lstStyle/>
          <a:p>
            <a:r>
              <a:rPr lang="zh-TW" altLang="en-US" dirty="0"/>
              <a:t>其實</a:t>
            </a:r>
            <a:r>
              <a:rPr lang="en-US" altLang="zh-TW" dirty="0" err="1"/>
              <a:t>BoW</a:t>
            </a:r>
            <a:r>
              <a:rPr lang="zh-TW" altLang="en-US" dirty="0"/>
              <a:t>就是</a:t>
            </a:r>
            <a:r>
              <a:rPr lang="en-US" altLang="zh-TW" dirty="0" err="1"/>
              <a:t>BoN</a:t>
            </a:r>
            <a:r>
              <a:rPr lang="zh-TW" altLang="en-US" dirty="0"/>
              <a:t>的一個特例，就是</a:t>
            </a:r>
            <a:r>
              <a:rPr lang="en-US" altLang="zh-TW" dirty="0"/>
              <a:t>1-gram</a:t>
            </a:r>
          </a:p>
          <a:p>
            <a:r>
              <a:rPr lang="zh-TW" altLang="en-US" dirty="0"/>
              <a:t>隨著</a:t>
            </a:r>
            <a:r>
              <a:rPr lang="en-US" altLang="zh-TW" dirty="0"/>
              <a:t>n</a:t>
            </a:r>
            <a:r>
              <a:rPr lang="zh-TW" altLang="en-US" dirty="0"/>
              <a:t>的增加，維度會快速增加</a:t>
            </a:r>
            <a:endParaRPr lang="en-US" altLang="zh-TW" dirty="0"/>
          </a:p>
          <a:p>
            <a:r>
              <a:rPr lang="zh-TW" altLang="en-US" dirty="0"/>
              <a:t>一樣沒辦法解決沒看過的字</a:t>
            </a:r>
          </a:p>
        </p:txBody>
      </p:sp>
    </p:spTree>
    <p:extLst>
      <p:ext uri="{BB962C8B-B14F-4D97-AF65-F5344CB8AC3E}">
        <p14:creationId xmlns:p14="http://schemas.microsoft.com/office/powerpoint/2010/main" val="5779535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531FEE-377A-6C04-A44E-6F943D54FC80}"/>
              </a:ext>
            </a:extLst>
          </p:cNvPr>
          <p:cNvSpPr>
            <a:spLocks noGrp="1"/>
          </p:cNvSpPr>
          <p:nvPr>
            <p:ph type="title"/>
          </p:nvPr>
        </p:nvSpPr>
        <p:spPr>
          <a:xfrm>
            <a:off x="838200" y="365125"/>
            <a:ext cx="10515600" cy="1325563"/>
          </a:xfrm>
        </p:spPr>
        <p:txBody>
          <a:bodyPr>
            <a:normAutofit/>
          </a:bodyPr>
          <a:lstStyle/>
          <a:p>
            <a:r>
              <a:rPr lang="en" altLang="zh-TW" dirty="0"/>
              <a:t>Frequency based embedding</a:t>
            </a:r>
            <a:br>
              <a:rPr lang="en" altLang="zh-TW" dirty="0"/>
            </a:br>
            <a:r>
              <a:rPr lang="en" altLang="zh-TW" dirty="0"/>
              <a:t>TF-IDF</a:t>
            </a:r>
            <a:endParaRPr lang="zh-TW" altLang="en-US" dirty="0"/>
          </a:p>
        </p:txBody>
      </p:sp>
      <p:sp>
        <p:nvSpPr>
          <p:cNvPr id="3" name="內容版面配置區 2">
            <a:extLst>
              <a:ext uri="{FF2B5EF4-FFF2-40B4-BE49-F238E27FC236}">
                <a16:creationId xmlns:a16="http://schemas.microsoft.com/office/drawing/2014/main" id="{1EC689AB-C2C3-627A-EB15-8499F1FDCDB6}"/>
              </a:ext>
            </a:extLst>
          </p:cNvPr>
          <p:cNvSpPr>
            <a:spLocks noGrp="1"/>
          </p:cNvSpPr>
          <p:nvPr>
            <p:ph idx="1"/>
          </p:nvPr>
        </p:nvSpPr>
        <p:spPr>
          <a:xfrm>
            <a:off x="838200" y="1825624"/>
            <a:ext cx="10515600" cy="4621769"/>
          </a:xfrm>
        </p:spPr>
        <p:txBody>
          <a:bodyPr>
            <a:normAutofit fontScale="70000" lnSpcReduction="20000"/>
          </a:bodyPr>
          <a:lstStyle/>
          <a:p>
            <a:pPr>
              <a:lnSpc>
                <a:spcPct val="120000"/>
              </a:lnSpc>
            </a:pPr>
            <a:r>
              <a:rPr lang="zh-TW" altLang="en-US" dirty="0"/>
              <a:t>對於一個</a:t>
            </a:r>
            <a:r>
              <a:rPr lang="en" altLang="zh-TW" dirty="0"/>
              <a:t>word</a:t>
            </a:r>
            <a:r>
              <a:rPr lang="zh-TW" altLang="en" dirty="0"/>
              <a:t>，</a:t>
            </a:r>
            <a:r>
              <a:rPr lang="zh-TW" altLang="en-US" dirty="0"/>
              <a:t>如果在特定文檔裡出現的頻率高，而在整個語料庫裡出現的頻率低</a:t>
            </a:r>
            <a:endParaRPr lang="en-US" altLang="zh-TW" dirty="0"/>
          </a:p>
          <a:p>
            <a:pPr lvl="1">
              <a:lnSpc>
                <a:spcPct val="120000"/>
              </a:lnSpc>
            </a:pPr>
            <a:r>
              <a:rPr lang="zh-TW" altLang="en-US" dirty="0"/>
              <a:t>那麼這個</a:t>
            </a:r>
            <a:r>
              <a:rPr lang="en" altLang="zh-TW" dirty="0"/>
              <a:t>word</a:t>
            </a:r>
            <a:r>
              <a:rPr lang="zh-TW" altLang="en-US" dirty="0"/>
              <a:t>對於該文檔的重要性就比較高。</a:t>
            </a:r>
            <a:endParaRPr lang="en-US" altLang="zh-TW" dirty="0"/>
          </a:p>
          <a:p>
            <a:pPr>
              <a:lnSpc>
                <a:spcPct val="120000"/>
              </a:lnSpc>
            </a:pPr>
            <a:r>
              <a:rPr lang="zh-TW" altLang="en-US" dirty="0"/>
              <a:t>引入逆文檔頻率</a:t>
            </a:r>
            <a:r>
              <a:rPr lang="en" altLang="zh-TW" dirty="0"/>
              <a:t>IDF</a:t>
            </a:r>
            <a:r>
              <a:rPr lang="zh-TW" altLang="en" dirty="0"/>
              <a:t>（</a:t>
            </a:r>
            <a:r>
              <a:rPr lang="en" altLang="zh-TW" dirty="0"/>
              <a:t>Inverse Document Frequency</a:t>
            </a:r>
            <a:r>
              <a:rPr lang="zh-TW" altLang="en" dirty="0"/>
              <a:t>）</a:t>
            </a:r>
            <a:r>
              <a:rPr lang="zh-TW" altLang="en-US" dirty="0"/>
              <a:t>的概念：</a:t>
            </a:r>
            <a:r>
              <a:rPr lang="en" altLang="zh-TW" dirty="0"/>
              <a:t>IDF=log(N/n)</a:t>
            </a:r>
            <a:r>
              <a:rPr lang="zh-TW" altLang="en" dirty="0"/>
              <a:t>。</a:t>
            </a:r>
            <a:endParaRPr lang="en-US" altLang="zh-TW" dirty="0"/>
          </a:p>
          <a:p>
            <a:pPr lvl="1">
              <a:lnSpc>
                <a:spcPct val="120000"/>
              </a:lnSpc>
            </a:pPr>
            <a:r>
              <a:rPr lang="zh-TW" altLang="en-US" dirty="0"/>
              <a:t>其中，</a:t>
            </a:r>
            <a:r>
              <a:rPr lang="en" altLang="zh-TW" dirty="0"/>
              <a:t>N</a:t>
            </a:r>
            <a:r>
              <a:rPr lang="zh-TW" altLang="en-US" dirty="0"/>
              <a:t>代表語料庫中文檔的總數，</a:t>
            </a:r>
            <a:r>
              <a:rPr lang="en" altLang="zh-TW" dirty="0"/>
              <a:t>n</a:t>
            </a:r>
            <a:r>
              <a:rPr lang="zh-TW" altLang="en-US" dirty="0"/>
              <a:t>代表某個</a:t>
            </a:r>
            <a:r>
              <a:rPr lang="en" altLang="zh-TW" dirty="0"/>
              <a:t>word</a:t>
            </a:r>
            <a:r>
              <a:rPr lang="zh-TW" altLang="en-US" dirty="0"/>
              <a:t>在幾個文檔中出現過；當一個</a:t>
            </a:r>
            <a:r>
              <a:rPr lang="en" altLang="zh-TW" dirty="0"/>
              <a:t>word</a:t>
            </a:r>
            <a:r>
              <a:rPr lang="zh-TW" altLang="en-US" dirty="0"/>
              <a:t>出現地越頻繁，那麼</a:t>
            </a:r>
            <a:r>
              <a:rPr lang="en" altLang="zh-TW" dirty="0"/>
              <a:t>IDF</a:t>
            </a:r>
            <a:r>
              <a:rPr lang="zh-TW" altLang="en-US" dirty="0"/>
              <a:t>就越小。</a:t>
            </a:r>
            <a:endParaRPr lang="en-US" altLang="zh-TW" dirty="0"/>
          </a:p>
          <a:p>
            <a:pPr>
              <a:lnSpc>
                <a:spcPct val="120000"/>
              </a:lnSpc>
            </a:pPr>
            <a:r>
              <a:rPr lang="zh-TW" altLang="en-US" dirty="0"/>
              <a:t>顯然，</a:t>
            </a:r>
            <a:r>
              <a:rPr lang="en" altLang="zh-TW" dirty="0"/>
              <a:t>IDF</a:t>
            </a:r>
            <a:r>
              <a:rPr lang="zh-TW" altLang="en-US" dirty="0"/>
              <a:t>用於懲罰那些常用詞彙，而</a:t>
            </a:r>
            <a:r>
              <a:rPr lang="en" altLang="zh-TW" dirty="0"/>
              <a:t>TF</a:t>
            </a:r>
            <a:r>
              <a:rPr lang="zh-TW" altLang="en-US" dirty="0"/>
              <a:t>用於獎勵那些在特定文檔中出現頻繁的詞彙。</a:t>
            </a:r>
            <a:endParaRPr lang="en-US" altLang="zh-TW" dirty="0"/>
          </a:p>
          <a:p>
            <a:pPr>
              <a:lnSpc>
                <a:spcPct val="120000"/>
              </a:lnSpc>
            </a:pPr>
            <a:r>
              <a:rPr lang="zh-TW" altLang="en-US" dirty="0"/>
              <a:t>二者的乘積</a:t>
            </a:r>
            <a:r>
              <a:rPr lang="en" altLang="zh-TW" dirty="0"/>
              <a:t>TF X IDF</a:t>
            </a:r>
            <a:r>
              <a:rPr lang="zh-TW" altLang="en-US" dirty="0"/>
              <a:t>用來表示詞彙的權重</a:t>
            </a:r>
            <a:endParaRPr lang="en-US" altLang="zh-TW" dirty="0"/>
          </a:p>
          <a:p>
            <a:pPr lvl="1">
              <a:lnSpc>
                <a:spcPct val="120000"/>
              </a:lnSpc>
            </a:pPr>
            <a:r>
              <a:rPr lang="en" altLang="zh-TW" dirty="0" err="1"/>
              <a:t>tf</a:t>
            </a:r>
            <a:r>
              <a:rPr lang="en" altLang="zh-TW" dirty="0"/>
              <a:t> (term frequency )</a:t>
            </a:r>
            <a:r>
              <a:rPr lang="zh-TW" altLang="en" dirty="0"/>
              <a:t>：</a:t>
            </a:r>
            <a:r>
              <a:rPr lang="zh-TW" altLang="en-US" dirty="0"/>
              <a:t>詞頻，計算該詞語在文章所出現的次數</a:t>
            </a:r>
            <a:r>
              <a:rPr lang="en-US" altLang="zh-TW" dirty="0"/>
              <a:t>/</a:t>
            </a:r>
            <a:r>
              <a:rPr lang="zh-TW" altLang="en-US" dirty="0"/>
              <a:t>文件的</a:t>
            </a:r>
            <a:r>
              <a:rPr lang="zh-TW" altLang="en-US"/>
              <a:t>總詞彙數</a:t>
            </a:r>
            <a:endParaRPr lang="en-US" altLang="zh-TW" dirty="0"/>
          </a:p>
          <a:p>
            <a:pPr lvl="1">
              <a:lnSpc>
                <a:spcPct val="120000"/>
              </a:lnSpc>
            </a:pPr>
            <a:r>
              <a:rPr lang="en" altLang="zh-TW" dirty="0" err="1"/>
              <a:t>idf</a:t>
            </a:r>
            <a:r>
              <a:rPr lang="en" altLang="zh-TW" dirty="0"/>
              <a:t> ( inverse document frequency )</a:t>
            </a:r>
            <a:r>
              <a:rPr lang="zh-TW" altLang="en" dirty="0"/>
              <a:t>：</a:t>
            </a:r>
            <a:r>
              <a:rPr lang="zh-TW" altLang="en-US" dirty="0"/>
              <a:t>逆文檔頻率，衡量該字詞的重要性</a:t>
            </a:r>
            <a:endParaRPr lang="en-US" altLang="zh-TW" dirty="0"/>
          </a:p>
          <a:p>
            <a:pPr>
              <a:lnSpc>
                <a:spcPct val="120000"/>
              </a:lnSpc>
            </a:pPr>
            <a:r>
              <a:rPr lang="zh-TW" altLang="en-US" dirty="0"/>
              <a:t>字詞的重要性隨著它在檔案中出現的次數成正比增加，但同時會隨著它在語料庫中出現的頻率成反比下降。也就是說，當 </a:t>
            </a:r>
            <a:r>
              <a:rPr lang="en" altLang="zh-TW" dirty="0" err="1"/>
              <a:t>tf</a:t>
            </a:r>
            <a:r>
              <a:rPr lang="en" altLang="zh-TW" dirty="0"/>
              <a:t> </a:t>
            </a:r>
            <a:r>
              <a:rPr lang="zh-TW" altLang="en-US" dirty="0"/>
              <a:t>值很高，而 </a:t>
            </a:r>
            <a:r>
              <a:rPr lang="en" altLang="zh-TW" dirty="0" err="1"/>
              <a:t>df</a:t>
            </a:r>
            <a:r>
              <a:rPr lang="en" altLang="zh-TW" dirty="0"/>
              <a:t> </a:t>
            </a:r>
            <a:r>
              <a:rPr lang="zh-TW" altLang="en-US" dirty="0"/>
              <a:t>值很低，這時得到的權重值就能夠把常見的關鍵字濾掉。</a:t>
            </a:r>
          </a:p>
        </p:txBody>
      </p:sp>
    </p:spTree>
    <p:extLst>
      <p:ext uri="{BB962C8B-B14F-4D97-AF65-F5344CB8AC3E}">
        <p14:creationId xmlns:p14="http://schemas.microsoft.com/office/powerpoint/2010/main" val="28945289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FAF08C-7208-43E9-8365-186D8E6F5994}"/>
              </a:ext>
            </a:extLst>
          </p:cNvPr>
          <p:cNvSpPr>
            <a:spLocks noGrp="1"/>
          </p:cNvSpPr>
          <p:nvPr>
            <p:ph type="title"/>
          </p:nvPr>
        </p:nvSpPr>
        <p:spPr>
          <a:xfrm>
            <a:off x="838200" y="365125"/>
            <a:ext cx="10515600" cy="1325563"/>
          </a:xfrm>
        </p:spPr>
        <p:txBody>
          <a:bodyPr/>
          <a:lstStyle/>
          <a:p>
            <a:r>
              <a:rPr lang="en-US" altLang="zh-TW" dirty="0"/>
              <a:t>TF-IDF</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7D4F447-1689-45EB-8BC7-24D70683E145}"/>
                  </a:ext>
                </a:extLst>
              </p:cNvPr>
              <p:cNvSpPr>
                <a:spLocks noGrp="1"/>
              </p:cNvSpPr>
              <p:nvPr>
                <p:ph idx="1"/>
              </p:nvPr>
            </p:nvSpPr>
            <p:spPr>
              <a:xfrm>
                <a:off x="838200" y="1825625"/>
                <a:ext cx="10515600" cy="4351338"/>
              </a:xfrm>
            </p:spPr>
            <p:txBody>
              <a:bodyPr>
                <a:normAutofit/>
              </a:bodyPr>
              <a:lstStyle/>
              <a:p>
                <a:r>
                  <a:rPr lang="zh-TW" altLang="en-US" dirty="0"/>
                  <a:t>單純使用頻率的話，通常不包含有用或區別性的信息。</a:t>
                </a:r>
                <a:endParaRPr lang="en-US" altLang="zh-TW" dirty="0"/>
              </a:p>
              <a:p>
                <a:r>
                  <a:rPr lang="zh-TW" altLang="en-US" dirty="0"/>
                  <a:t>用詞頻</a:t>
                </a:r>
                <a:r>
                  <a:rPr lang="en-US" altLang="zh-TW" dirty="0"/>
                  <a:t>-</a:t>
                </a:r>
                <a:r>
                  <a:rPr lang="zh-TW" altLang="en-US" dirty="0"/>
                  <a:t>逆向文件頻率（</a:t>
                </a:r>
                <a:r>
                  <a:rPr lang="en-US" altLang="zh-TW" dirty="0"/>
                  <a:t>TF-IDF</a:t>
                </a:r>
                <a:r>
                  <a:rPr lang="zh-TW" altLang="en-US" dirty="0"/>
                  <a:t>）來評估單詞相關性的內容。</a:t>
                </a:r>
                <a:endParaRPr lang="en-US" altLang="zh-TW" dirty="0"/>
              </a:p>
              <a:p>
                <a:pPr lvl="1"/>
                <a:r>
                  <a:rPr lang="zh-TW" altLang="en-US" dirty="0"/>
                  <a:t>可以用來降低特徵向量中經常出現的單詞的權重。</a:t>
                </a:r>
                <a:endParaRPr lang="en-US" altLang="zh-TW" dirty="0"/>
              </a:p>
              <a:p>
                <a:r>
                  <a:rPr lang="en-US" altLang="zh-TW" dirty="0"/>
                  <a:t>TF-IDF</a:t>
                </a:r>
                <a:r>
                  <a:rPr lang="zh-TW" altLang="en-US" dirty="0"/>
                  <a:t>可以定義為詞頻和逆向文件頻率的乘積：</a:t>
                </a:r>
              </a:p>
              <a:p>
                <a14:m>
                  <m:oMath xmlns:m="http://schemas.openxmlformats.org/officeDocument/2006/math">
                    <m:r>
                      <a:rPr lang="en-US" altLang="zh-TW" smtClean="0">
                        <a:latin typeface="Cambria Math" panose="02040503050406030204" pitchFamily="18" charset="0"/>
                      </a:rPr>
                      <m:t>𝑡𝑓</m:t>
                    </m:r>
                    <m:r>
                      <a:rPr lang="en-US" altLang="zh-TW" smtClean="0">
                        <a:latin typeface="Cambria Math" panose="02040503050406030204" pitchFamily="18" charset="0"/>
                      </a:rPr>
                      <m:t>−</m:t>
                    </m:r>
                    <m:r>
                      <a:rPr lang="en-US" altLang="zh-TW" smtClean="0">
                        <a:latin typeface="Cambria Math" panose="02040503050406030204" pitchFamily="18" charset="0"/>
                      </a:rPr>
                      <m:t>𝑖𝑑𝑓</m:t>
                    </m:r>
                    <m:d>
                      <m:dPr>
                        <m:ctrlPr>
                          <a:rPr lang="en-US" altLang="zh-TW" i="1" smtClean="0">
                            <a:latin typeface="Cambria Math" panose="02040503050406030204" pitchFamily="18" charset="0"/>
                          </a:rPr>
                        </m:ctrlPr>
                      </m:dPr>
                      <m:e>
                        <m:r>
                          <a:rPr lang="en-US" altLang="zh-TW" smtClean="0">
                            <a:latin typeface="Cambria Math" panose="02040503050406030204" pitchFamily="18" charset="0"/>
                          </a:rPr>
                          <m:t>𝑡</m:t>
                        </m:r>
                        <m:r>
                          <a:rPr lang="en-US" altLang="zh-TW" smtClean="0">
                            <a:latin typeface="Cambria Math" panose="02040503050406030204" pitchFamily="18" charset="0"/>
                          </a:rPr>
                          <m:t>,</m:t>
                        </m:r>
                        <m:r>
                          <a:rPr lang="en-US" altLang="zh-TW" smtClean="0">
                            <a:latin typeface="Cambria Math" panose="02040503050406030204" pitchFamily="18" charset="0"/>
                          </a:rPr>
                          <m:t>𝑑</m:t>
                        </m:r>
                      </m:e>
                    </m:d>
                    <m:r>
                      <a:rPr lang="en-US" altLang="zh-TW" smtClean="0">
                        <a:latin typeface="Cambria Math" panose="02040503050406030204" pitchFamily="18" charset="0"/>
                      </a:rPr>
                      <m:t>=</m:t>
                    </m:r>
                    <m:r>
                      <a:rPr lang="en-US" altLang="zh-TW" smtClean="0">
                        <a:latin typeface="Cambria Math" panose="02040503050406030204" pitchFamily="18" charset="0"/>
                      </a:rPr>
                      <m:t>𝑡𝑓</m:t>
                    </m:r>
                    <m:d>
                      <m:dPr>
                        <m:ctrlPr>
                          <a:rPr lang="en-US" altLang="zh-TW" i="1" smtClean="0">
                            <a:latin typeface="Cambria Math" panose="02040503050406030204" pitchFamily="18" charset="0"/>
                          </a:rPr>
                        </m:ctrlPr>
                      </m:dPr>
                      <m:e>
                        <m:r>
                          <a:rPr lang="en-US" altLang="zh-TW" smtClean="0">
                            <a:latin typeface="Cambria Math" panose="02040503050406030204" pitchFamily="18" charset="0"/>
                          </a:rPr>
                          <m:t>𝑡</m:t>
                        </m:r>
                        <m:r>
                          <a:rPr lang="en-US" altLang="zh-TW" smtClean="0">
                            <a:latin typeface="Cambria Math" panose="02040503050406030204" pitchFamily="18" charset="0"/>
                          </a:rPr>
                          <m:t>,</m:t>
                        </m:r>
                        <m:r>
                          <a:rPr lang="en-US" altLang="zh-TW" smtClean="0">
                            <a:latin typeface="Cambria Math" panose="02040503050406030204" pitchFamily="18" charset="0"/>
                          </a:rPr>
                          <m:t>𝑑</m:t>
                        </m:r>
                      </m:e>
                    </m:d>
                    <m:r>
                      <a:rPr lang="en-US" altLang="zh-TW" smtClean="0">
                        <a:latin typeface="Cambria Math" panose="02040503050406030204" pitchFamily="18" charset="0"/>
                      </a:rPr>
                      <m:t>×</m:t>
                    </m:r>
                    <m:r>
                      <a:rPr lang="en-US" altLang="zh-TW" smtClean="0">
                        <a:latin typeface="Cambria Math" panose="02040503050406030204" pitchFamily="18" charset="0"/>
                      </a:rPr>
                      <m:t>𝑖𝑑𝑓</m:t>
                    </m:r>
                    <m:d>
                      <m:dPr>
                        <m:ctrlPr>
                          <a:rPr lang="en-US" altLang="zh-TW" i="1" smtClean="0">
                            <a:latin typeface="Cambria Math" panose="02040503050406030204" pitchFamily="18" charset="0"/>
                          </a:rPr>
                        </m:ctrlPr>
                      </m:dPr>
                      <m:e>
                        <m:r>
                          <a:rPr lang="en-US" altLang="zh-TW" smtClean="0">
                            <a:latin typeface="Cambria Math" panose="02040503050406030204" pitchFamily="18" charset="0"/>
                          </a:rPr>
                          <m:t>𝑡</m:t>
                        </m:r>
                        <m:r>
                          <a:rPr lang="en-US" altLang="zh-TW" smtClean="0">
                            <a:latin typeface="Cambria Math" panose="02040503050406030204" pitchFamily="18" charset="0"/>
                          </a:rPr>
                          <m:t>,</m:t>
                        </m:r>
                        <m:r>
                          <a:rPr lang="en-US" altLang="zh-TW" smtClean="0">
                            <a:latin typeface="Cambria Math" panose="02040503050406030204" pitchFamily="18" charset="0"/>
                          </a:rPr>
                          <m:t>𝑑</m:t>
                        </m:r>
                      </m:e>
                    </m:d>
                  </m:oMath>
                </a14:m>
                <a:endParaRPr lang="en-US" altLang="zh-TW" dirty="0"/>
              </a:p>
              <a:p>
                <a:pPr lvl="1"/>
                <a14:m>
                  <m:oMath xmlns:m="http://schemas.openxmlformats.org/officeDocument/2006/math">
                    <m:r>
                      <a:rPr lang="en-US" altLang="zh-TW" smtClean="0">
                        <a:latin typeface="Cambria Math" panose="02040503050406030204" pitchFamily="18" charset="0"/>
                      </a:rPr>
                      <m:t>𝑡𝑓</m:t>
                    </m:r>
                    <m:r>
                      <a:rPr lang="en-US" altLang="zh-TW" smtClean="0">
                        <a:latin typeface="Cambria Math" panose="02040503050406030204" pitchFamily="18" charset="0"/>
                      </a:rPr>
                      <m:t>(</m:t>
                    </m:r>
                    <m:r>
                      <a:rPr lang="en-US" altLang="zh-TW" smtClean="0">
                        <a:latin typeface="Cambria Math" panose="02040503050406030204" pitchFamily="18" charset="0"/>
                      </a:rPr>
                      <m:t>𝑡</m:t>
                    </m:r>
                    <m:r>
                      <a:rPr lang="en-US" altLang="zh-TW" smtClean="0">
                        <a:latin typeface="Cambria Math" panose="02040503050406030204" pitchFamily="18" charset="0"/>
                      </a:rPr>
                      <m:t>,</m:t>
                    </m:r>
                    <m:r>
                      <a:rPr lang="en-US" altLang="zh-TW" smtClean="0">
                        <a:latin typeface="Cambria Math" panose="02040503050406030204" pitchFamily="18" charset="0"/>
                      </a:rPr>
                      <m:t>𝑑</m:t>
                    </m:r>
                    <m:r>
                      <a:rPr lang="en-US" altLang="zh-TW" smtClean="0">
                        <a:latin typeface="Cambria Math" panose="02040503050406030204" pitchFamily="18" charset="0"/>
                      </a:rPr>
                      <m:t>)</m:t>
                    </m:r>
                  </m:oMath>
                </a14:m>
                <a:r>
                  <a:rPr lang="zh-TW" altLang="en-US" dirty="0"/>
                  <a:t>是在前面介紹的詞頻</a:t>
                </a:r>
                <a:endParaRPr lang="en-US" altLang="zh-TW" dirty="0"/>
              </a:p>
              <a:p>
                <a:pPr lvl="1"/>
                <a14:m>
                  <m:oMath xmlns:m="http://schemas.openxmlformats.org/officeDocument/2006/math">
                    <m:r>
                      <a:rPr lang="en-US" altLang="zh-TW">
                        <a:latin typeface="Cambria Math" panose="02040503050406030204" pitchFamily="18" charset="0"/>
                      </a:rPr>
                      <m:t>𝑖𝑑𝑓</m:t>
                    </m:r>
                    <m:r>
                      <a:rPr lang="en-US" altLang="zh-TW">
                        <a:latin typeface="Cambria Math" panose="02040503050406030204" pitchFamily="18" charset="0"/>
                      </a:rPr>
                      <m:t>(</m:t>
                    </m:r>
                    <m:r>
                      <a:rPr lang="en-US" altLang="zh-TW">
                        <a:latin typeface="Cambria Math" panose="02040503050406030204" pitchFamily="18" charset="0"/>
                      </a:rPr>
                      <m:t>𝑡</m:t>
                    </m:r>
                    <m:r>
                      <a:rPr lang="en-US" altLang="zh-TW">
                        <a:latin typeface="Cambria Math" panose="02040503050406030204" pitchFamily="18" charset="0"/>
                      </a:rPr>
                      <m:t>,</m:t>
                    </m:r>
                    <m:r>
                      <a:rPr lang="en-US" altLang="zh-TW">
                        <a:latin typeface="Cambria Math" panose="02040503050406030204" pitchFamily="18" charset="0"/>
                      </a:rPr>
                      <m:t>𝑑</m:t>
                    </m:r>
                    <m:r>
                      <a:rPr lang="en-US" altLang="zh-TW">
                        <a:latin typeface="Cambria Math" panose="02040503050406030204" pitchFamily="18" charset="0"/>
                      </a:rPr>
                      <m:t>)</m:t>
                    </m:r>
                  </m:oMath>
                </a14:m>
                <a:r>
                  <a:rPr lang="zh-TW" altLang="en-US" dirty="0"/>
                  <a:t>是逆向文件頻率，可以按照以下公式計算：</a:t>
                </a:r>
                <a:endParaRPr lang="en-US" altLang="zh-TW" dirty="0"/>
              </a:p>
              <a:p>
                <a:pPr lvl="1"/>
                <a14:m>
                  <m:oMath xmlns:m="http://schemas.openxmlformats.org/officeDocument/2006/math">
                    <m:r>
                      <a:rPr lang="en-US" altLang="zh-TW" smtClean="0">
                        <a:latin typeface="Cambria Math" panose="02040503050406030204" pitchFamily="18" charset="0"/>
                      </a:rPr>
                      <m:t>𝑖𝑑𝑓</m:t>
                    </m:r>
                    <m:d>
                      <m:dPr>
                        <m:ctrlPr>
                          <a:rPr lang="en-US" altLang="zh-TW" i="1" smtClean="0">
                            <a:latin typeface="Cambria Math" panose="02040503050406030204" pitchFamily="18" charset="0"/>
                          </a:rPr>
                        </m:ctrlPr>
                      </m:dPr>
                      <m:e>
                        <m:r>
                          <a:rPr lang="en-US" altLang="zh-TW" smtClean="0">
                            <a:latin typeface="Cambria Math" panose="02040503050406030204" pitchFamily="18" charset="0"/>
                          </a:rPr>
                          <m:t>𝑡</m:t>
                        </m:r>
                        <m:r>
                          <a:rPr lang="en-US" altLang="zh-TW" smtClean="0">
                            <a:latin typeface="Cambria Math" panose="02040503050406030204" pitchFamily="18" charset="0"/>
                          </a:rPr>
                          <m:t>,</m:t>
                        </m:r>
                        <m:r>
                          <a:rPr lang="en-US" altLang="zh-TW" smtClean="0">
                            <a:latin typeface="Cambria Math" panose="02040503050406030204" pitchFamily="18" charset="0"/>
                          </a:rPr>
                          <m:t>𝑑</m:t>
                        </m:r>
                      </m:e>
                    </m:d>
                    <m:r>
                      <a:rPr lang="en-US" altLang="zh-TW" smtClean="0">
                        <a:latin typeface="Cambria Math" panose="02040503050406030204" pitchFamily="18" charset="0"/>
                      </a:rPr>
                      <m:t>=</m:t>
                    </m:r>
                    <m:r>
                      <a:rPr lang="en-US" altLang="zh-TW" smtClean="0">
                        <a:latin typeface="Cambria Math" panose="02040503050406030204" pitchFamily="18" charset="0"/>
                      </a:rPr>
                      <m:t>𝑙𝑜𝑔</m:t>
                    </m:r>
                    <m:f>
                      <m:fPr>
                        <m:ctrlPr>
                          <a:rPr lang="en-US" altLang="zh-TW" i="1" smtClean="0">
                            <a:latin typeface="Cambria Math" panose="02040503050406030204" pitchFamily="18" charset="0"/>
                          </a:rPr>
                        </m:ctrlPr>
                      </m:fPr>
                      <m:num>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𝑛</m:t>
                            </m:r>
                          </m:e>
                          <m:sub>
                            <m:r>
                              <a:rPr lang="en-US" altLang="zh-TW" smtClean="0">
                                <a:latin typeface="Cambria Math" panose="02040503050406030204" pitchFamily="18" charset="0"/>
                              </a:rPr>
                              <m:t>𝑑</m:t>
                            </m:r>
                          </m:sub>
                        </m:sSub>
                      </m:num>
                      <m:den>
                        <m:r>
                          <a:rPr lang="en-US" altLang="zh-TW" smtClean="0">
                            <a:latin typeface="Cambria Math" panose="02040503050406030204" pitchFamily="18" charset="0"/>
                          </a:rPr>
                          <m:t>1+</m:t>
                        </m:r>
                        <m:r>
                          <a:rPr lang="en-US" altLang="zh-TW" smtClean="0">
                            <a:latin typeface="Cambria Math" panose="02040503050406030204" pitchFamily="18" charset="0"/>
                          </a:rPr>
                          <m:t>𝑑𝑓</m:t>
                        </m:r>
                        <m:r>
                          <a:rPr lang="en-US" altLang="zh-TW" smtClean="0">
                            <a:latin typeface="Cambria Math" panose="02040503050406030204" pitchFamily="18" charset="0"/>
                          </a:rPr>
                          <m:t>(</m:t>
                        </m:r>
                        <m:r>
                          <a:rPr lang="en-US" altLang="zh-TW" smtClean="0">
                            <a:latin typeface="Cambria Math" panose="02040503050406030204" pitchFamily="18" charset="0"/>
                          </a:rPr>
                          <m:t>𝑑</m:t>
                        </m:r>
                        <m:r>
                          <a:rPr lang="en-US" altLang="zh-TW" smtClean="0">
                            <a:latin typeface="Cambria Math" panose="02040503050406030204" pitchFamily="18" charset="0"/>
                          </a:rPr>
                          <m:t>,</m:t>
                        </m:r>
                        <m:r>
                          <a:rPr lang="en-US" altLang="zh-TW" smtClean="0">
                            <a:latin typeface="Cambria Math" panose="02040503050406030204" pitchFamily="18" charset="0"/>
                          </a:rPr>
                          <m:t>𝑡</m:t>
                        </m:r>
                        <m:r>
                          <a:rPr lang="en-US" altLang="zh-TW" smtClean="0">
                            <a:latin typeface="Cambria Math" panose="02040503050406030204" pitchFamily="18" charset="0"/>
                          </a:rPr>
                          <m:t>)</m:t>
                        </m:r>
                      </m:den>
                    </m:f>
                  </m:oMath>
                </a14:m>
                <a:endParaRPr lang="en-US" altLang="zh-TW" dirty="0"/>
              </a:p>
              <a:p>
                <a:pPr lvl="2"/>
                <a:r>
                  <a:rPr lang="zh-TW" altLang="en-US" dirty="0"/>
                  <a:t>這裡，</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𝑛</m:t>
                        </m:r>
                      </m:e>
                      <m:sub>
                        <m:r>
                          <a:rPr lang="en-US" altLang="zh-TW" smtClean="0">
                            <a:latin typeface="Cambria Math" panose="02040503050406030204" pitchFamily="18" charset="0"/>
                          </a:rPr>
                          <m:t>𝑑</m:t>
                        </m:r>
                      </m:sub>
                    </m:sSub>
                  </m:oMath>
                </a14:m>
                <a:r>
                  <a:rPr lang="zh-TW" altLang="en-US" dirty="0"/>
                  <a:t>是文件的總數，</a:t>
                </a:r>
                <a:r>
                  <a:rPr lang="en-US" altLang="zh-TW" dirty="0"/>
                  <a:t> </a:t>
                </a:r>
                <a14:m>
                  <m:oMath xmlns:m="http://schemas.openxmlformats.org/officeDocument/2006/math">
                    <m:r>
                      <a:rPr lang="en-US" altLang="zh-TW">
                        <a:latin typeface="Cambria Math" panose="02040503050406030204" pitchFamily="18" charset="0"/>
                      </a:rPr>
                      <m:t>𝑑𝑓</m:t>
                    </m:r>
                    <m:r>
                      <a:rPr lang="en-US" altLang="zh-TW">
                        <a:latin typeface="Cambria Math" panose="02040503050406030204" pitchFamily="18" charset="0"/>
                      </a:rPr>
                      <m:t>(</m:t>
                    </m:r>
                    <m:r>
                      <a:rPr lang="en-US" altLang="zh-TW">
                        <a:latin typeface="Cambria Math" panose="02040503050406030204" pitchFamily="18" charset="0"/>
                      </a:rPr>
                      <m:t>𝑑</m:t>
                    </m:r>
                    <m:r>
                      <a:rPr lang="en-US" altLang="zh-TW">
                        <a:latin typeface="Cambria Math" panose="02040503050406030204" pitchFamily="18" charset="0"/>
                      </a:rPr>
                      <m:t>,</m:t>
                    </m:r>
                    <m:r>
                      <a:rPr lang="en-US" altLang="zh-TW">
                        <a:latin typeface="Cambria Math" panose="02040503050406030204" pitchFamily="18" charset="0"/>
                      </a:rPr>
                      <m:t>𝑡</m:t>
                    </m:r>
                    <m:r>
                      <a:rPr lang="en-US" altLang="zh-TW">
                        <a:latin typeface="Cambria Math" panose="02040503050406030204" pitchFamily="18" charset="0"/>
                      </a:rPr>
                      <m:t>)</m:t>
                    </m:r>
                  </m:oMath>
                </a14:m>
                <a:r>
                  <a:rPr lang="zh-TW" altLang="en-US" dirty="0"/>
                  <a:t>是包含單詞</a:t>
                </a:r>
                <a:r>
                  <a:rPr lang="en-US" altLang="zh-TW" dirty="0"/>
                  <a:t>t</a:t>
                </a:r>
                <a:r>
                  <a:rPr lang="zh-TW" altLang="en-US" dirty="0"/>
                  <a:t>的文件</a:t>
                </a:r>
                <a:r>
                  <a:rPr lang="en-US" altLang="zh-TW" dirty="0"/>
                  <a:t>d</a:t>
                </a:r>
                <a:r>
                  <a:rPr lang="zh-TW" altLang="en-US" dirty="0"/>
                  <a:t>的數量。</a:t>
                </a:r>
              </a:p>
            </p:txBody>
          </p:sp>
        </mc:Choice>
        <mc:Fallback xmlns="">
          <p:sp>
            <p:nvSpPr>
              <p:cNvPr id="3" name="內容版面配置區 2">
                <a:extLst>
                  <a:ext uri="{FF2B5EF4-FFF2-40B4-BE49-F238E27FC236}">
                    <a16:creationId xmlns:a16="http://schemas.microsoft.com/office/drawing/2014/main" id="{17D4F447-1689-45EB-8BC7-24D70683E145}"/>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25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5392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DB5BF7-F63D-A09D-C369-92D1A8BE704E}"/>
              </a:ext>
            </a:extLst>
          </p:cNvPr>
          <p:cNvSpPr>
            <a:spLocks noGrp="1"/>
          </p:cNvSpPr>
          <p:nvPr>
            <p:ph type="title"/>
          </p:nvPr>
        </p:nvSpPr>
        <p:spPr/>
        <p:txBody>
          <a:bodyPr/>
          <a:lstStyle/>
          <a:p>
            <a:r>
              <a:rPr kumimoji="1" lang="en-US" altLang="zh-TW" dirty="0"/>
              <a:t>Scikit learn</a:t>
            </a:r>
            <a:r>
              <a:rPr kumimoji="1" lang="zh-TW" altLang="en-US" dirty="0"/>
              <a:t>的</a:t>
            </a:r>
            <a:r>
              <a:rPr kumimoji="1" lang="en-US" altLang="zh-TW" dirty="0"/>
              <a:t>TF-IDF</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270264D-DD2A-7FD7-089A-E057CBF5C331}"/>
                  </a:ext>
                </a:extLst>
              </p:cNvPr>
              <p:cNvSpPr>
                <a:spLocks noGrp="1"/>
              </p:cNvSpPr>
              <p:nvPr>
                <p:ph idx="1"/>
              </p:nvPr>
            </p:nvSpPr>
            <p:spPr/>
            <p:txBody>
              <a:bodyPr/>
              <a:lstStyle/>
              <a:p>
                <a:r>
                  <a:rPr kumimoji="1" lang="en-US" altLang="zh-TW" dirty="0"/>
                  <a:t>Scikit learn</a:t>
                </a:r>
                <a:r>
                  <a:rPr kumimoji="1" lang="zh-TW" altLang="en-US" dirty="0"/>
                  <a:t>計算使用的</a:t>
                </a:r>
                <a:r>
                  <a:rPr kumimoji="1" lang="en-US" altLang="zh-TW" dirty="0"/>
                  <a:t>TF</a:t>
                </a:r>
                <a:r>
                  <a:rPr kumimoji="1" lang="zh-TW" altLang="en-US" dirty="0"/>
                  <a:t>，是直接使用</a:t>
                </a:r>
                <a:r>
                  <a:rPr lang="en" altLang="zh-TW" b="0" i="0" dirty="0" err="1">
                    <a:solidFill>
                      <a:srgbClr val="C7254E"/>
                    </a:solidFill>
                    <a:effectLst/>
                    <a:latin typeface="Menlo" panose="020B0609030804020204" pitchFamily="49" charset="0"/>
                  </a:rPr>
                  <a:t>CountVectorizer</a:t>
                </a:r>
                <a:endParaRPr kumimoji="1" lang="en-US" altLang="zh-TW" dirty="0"/>
              </a:p>
              <a:p>
                <a:r>
                  <a:rPr kumimoji="1" lang="en-US" altLang="zh-TW" dirty="0"/>
                  <a:t>Scikit learn</a:t>
                </a:r>
                <a:r>
                  <a:rPr kumimoji="1" lang="zh-TW" altLang="en-US" dirty="0"/>
                  <a:t>計算使用的</a:t>
                </a:r>
                <a:r>
                  <a:rPr kumimoji="1" lang="en-US" altLang="zh-TW" dirty="0"/>
                  <a:t>IDF</a:t>
                </a:r>
                <a:r>
                  <a:rPr kumimoji="1" lang="zh-TW" altLang="en-US" dirty="0"/>
                  <a:t>是</a:t>
                </a:r>
                <a:r>
                  <a:rPr kumimoji="1" lang="en-US" altLang="zh-TW" dirty="0"/>
                  <a:t>smooth</a:t>
                </a:r>
                <a:r>
                  <a:rPr kumimoji="1" lang="zh-TW" altLang="en-US" dirty="0"/>
                  <a:t>的版本，分子分母都加</a:t>
                </a:r>
                <a:r>
                  <a:rPr kumimoji="1" lang="en-US" altLang="zh-TW" dirty="0"/>
                  <a:t>1</a:t>
                </a:r>
              </a:p>
              <a:p>
                <a:pPr algn="ctr"/>
                <a14:m>
                  <m:oMath xmlns:m="http://schemas.openxmlformats.org/officeDocument/2006/math">
                    <m:r>
                      <a:rPr lang="en-US" altLang="zh-TW"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sSub>
                          <m:sSubPr>
                            <m:ctrlPr>
                              <a:rPr lang="en-US" altLang="zh-TW" i="1" smtClean="0">
                                <a:latin typeface="Cambria Math" panose="02040503050406030204" pitchFamily="18" charset="0"/>
                              </a:rPr>
                            </m:ctrlPr>
                          </m:sSubPr>
                          <m:e>
                            <m:r>
                              <a:rPr lang="en-US" altLang="zh-TW" smtClean="0">
                                <a:latin typeface="Cambria Math" panose="02040503050406030204" pitchFamily="18" charset="0"/>
                              </a:rPr>
                              <m:t>𝑛</m:t>
                            </m:r>
                          </m:e>
                          <m:sub>
                            <m:r>
                              <a:rPr lang="en-US" altLang="zh-TW" smtClean="0">
                                <a:latin typeface="Cambria Math" panose="02040503050406030204" pitchFamily="18" charset="0"/>
                              </a:rPr>
                              <m:t>𝑑</m:t>
                            </m:r>
                          </m:sub>
                        </m:sSub>
                      </m:num>
                      <m:den>
                        <m:r>
                          <a:rPr lang="en-US" altLang="zh-TW" smtClean="0">
                            <a:latin typeface="Cambria Math" panose="02040503050406030204" pitchFamily="18" charset="0"/>
                          </a:rPr>
                          <m:t>1+</m:t>
                        </m:r>
                        <m:r>
                          <a:rPr lang="en-US" altLang="zh-TW" smtClean="0">
                            <a:latin typeface="Cambria Math" panose="02040503050406030204" pitchFamily="18" charset="0"/>
                          </a:rPr>
                          <m:t>𝑑𝑓</m:t>
                        </m:r>
                        <m:r>
                          <a:rPr lang="en-US" altLang="zh-TW" smtClean="0">
                            <a:latin typeface="Cambria Math" panose="02040503050406030204" pitchFamily="18" charset="0"/>
                          </a:rPr>
                          <m:t>(</m:t>
                        </m:r>
                        <m:r>
                          <a:rPr lang="en-US" altLang="zh-TW" smtClean="0">
                            <a:latin typeface="Cambria Math" panose="02040503050406030204" pitchFamily="18" charset="0"/>
                          </a:rPr>
                          <m:t>𝑑</m:t>
                        </m:r>
                        <m:r>
                          <a:rPr lang="en-US" altLang="zh-TW" smtClean="0">
                            <a:latin typeface="Cambria Math" panose="02040503050406030204" pitchFamily="18" charset="0"/>
                          </a:rPr>
                          <m:t>,</m:t>
                        </m:r>
                        <m:r>
                          <a:rPr lang="en-US" altLang="zh-TW" smtClean="0">
                            <a:latin typeface="Cambria Math" panose="02040503050406030204" pitchFamily="18" charset="0"/>
                          </a:rPr>
                          <m:t>𝑡</m:t>
                        </m:r>
                        <m:r>
                          <a:rPr lang="en-US" altLang="zh-TW" smtClean="0">
                            <a:latin typeface="Cambria Math" panose="02040503050406030204" pitchFamily="18" charset="0"/>
                          </a:rPr>
                          <m:t>)</m:t>
                        </m:r>
                      </m:den>
                    </m:f>
                  </m:oMath>
                </a14:m>
                <a:endParaRPr kumimoji="1" lang="en-US" altLang="zh-TW" dirty="0"/>
              </a:p>
              <a:p>
                <a:r>
                  <a:rPr kumimoji="1" lang="zh-TW" altLang="en-US" dirty="0"/>
                  <a:t>原本的</a:t>
                </a:r>
                <a:r>
                  <a:rPr kumimoji="1" lang="en-US" altLang="zh-TW" dirty="0"/>
                  <a:t>+1</a:t>
                </a:r>
                <a:r>
                  <a:rPr kumimoji="1" lang="zh-TW" altLang="en-US" dirty="0"/>
                  <a:t>是為了避免萬一分母為</a:t>
                </a:r>
                <a:r>
                  <a:rPr kumimoji="1" lang="en-US" altLang="zh-TW" dirty="0"/>
                  <a:t>0</a:t>
                </a:r>
                <a:r>
                  <a:rPr kumimoji="1" lang="zh-TW" altLang="en-US" dirty="0"/>
                  <a:t>的情況</a:t>
                </a:r>
                <a:endParaRPr kumimoji="1" lang="en-US" altLang="zh-TW" dirty="0"/>
              </a:p>
              <a:p>
                <a:r>
                  <a:rPr kumimoji="1" lang="zh-TW" altLang="en-US" dirty="0"/>
                  <a:t>然後最後再做</a:t>
                </a:r>
                <a:r>
                  <a:rPr kumimoji="1" lang="en-US" altLang="zh-TW" dirty="0"/>
                  <a:t>normalize</a:t>
                </a:r>
              </a:p>
              <a:p>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5270264D-DD2A-7FD7-089A-E057CBF5C331}"/>
                  </a:ext>
                </a:extLst>
              </p:cNvPr>
              <p:cNvSpPr>
                <a:spLocks noGrp="1" noRot="1" noChangeAspect="1" noMove="1" noResize="1" noEditPoints="1" noAdjustHandles="1" noChangeArrowheads="1" noChangeShapeType="1" noTextEdit="1"/>
              </p:cNvSpPr>
              <p:nvPr>
                <p:ph idx="1"/>
              </p:nvPr>
            </p:nvSpPr>
            <p:spPr>
              <a:blipFill>
                <a:blip r:embed="rId2"/>
                <a:stretch>
                  <a:fillRect l="-1086" t="-261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92808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20F2CC-DDFD-49AF-99EF-3B1C19632C99}"/>
              </a:ext>
            </a:extLst>
          </p:cNvPr>
          <p:cNvSpPr>
            <a:spLocks noGrp="1"/>
          </p:cNvSpPr>
          <p:nvPr>
            <p:ph type="title"/>
          </p:nvPr>
        </p:nvSpPr>
        <p:spPr/>
        <p:txBody>
          <a:bodyPr/>
          <a:lstStyle/>
          <a:p>
            <a:r>
              <a:rPr lang="en-US" altLang="zh-TW" dirty="0"/>
              <a:t>TF-IDF</a:t>
            </a:r>
            <a:r>
              <a:rPr lang="zh-TW" altLang="en-US" dirty="0"/>
              <a:t> </a:t>
            </a:r>
            <a:r>
              <a:rPr lang="en-US" altLang="zh-TW" dirty="0"/>
              <a:t>transformer</a:t>
            </a:r>
            <a:endParaRPr lang="zh-TW" altLang="en-US" dirty="0"/>
          </a:p>
        </p:txBody>
      </p:sp>
      <p:sp>
        <p:nvSpPr>
          <p:cNvPr id="5" name="文字方塊 4">
            <a:extLst>
              <a:ext uri="{FF2B5EF4-FFF2-40B4-BE49-F238E27FC236}">
                <a16:creationId xmlns:a16="http://schemas.microsoft.com/office/drawing/2014/main" id="{3C4D9B0D-BE08-4620-911D-CE3ABC096A49}"/>
              </a:ext>
            </a:extLst>
          </p:cNvPr>
          <p:cNvSpPr txBox="1"/>
          <p:nvPr/>
        </p:nvSpPr>
        <p:spPr>
          <a:xfrm>
            <a:off x="838200" y="1413063"/>
            <a:ext cx="10762593" cy="4031873"/>
          </a:xfrm>
          <a:prstGeom prst="rect">
            <a:avLst/>
          </a:prstGeom>
          <a:noFill/>
          <a:ln>
            <a:solidFill>
              <a:schemeClr val="tx1"/>
            </a:solidFill>
          </a:ln>
        </p:spPr>
        <p:txBody>
          <a:bodyPr wrap="square">
            <a:spAutoFit/>
          </a:bodyPr>
          <a:lstStyle/>
          <a:p>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numpy</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as</a:t>
            </a:r>
            <a:r>
              <a:rPr lang="en-US" altLang="zh-TW" sz="1600" b="0" dirty="0">
                <a:solidFill>
                  <a:srgbClr val="000000"/>
                </a:solidFill>
                <a:effectLst/>
                <a:latin typeface="Fira Code" panose="020B0809050000020004" pitchFamily="49" charset="0"/>
              </a:rPr>
              <a:t> np</a:t>
            </a: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sklearn.feature_extraction.text</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CountVectorizer</a:t>
            </a:r>
            <a:endParaRPr lang="en-US" altLang="zh-TW" sz="1600" b="0" dirty="0">
              <a:solidFill>
                <a:srgbClr val="000000"/>
              </a:solidFill>
              <a:effectLst/>
              <a:latin typeface="Fira Code" panose="020B0809050000020004" pitchFamily="49" charset="0"/>
            </a:endParaRPr>
          </a:p>
          <a:p>
            <a:r>
              <a:rPr lang="en-US" altLang="zh-TW" sz="1600" b="0" dirty="0">
                <a:solidFill>
                  <a:srgbClr val="000000"/>
                </a:solidFill>
                <a:effectLst/>
                <a:latin typeface="Fira Code" panose="020B0809050000020004" pitchFamily="49" charset="0"/>
              </a:rPr>
              <a:t>count = </a:t>
            </a:r>
            <a:r>
              <a:rPr lang="en-US" altLang="zh-TW" sz="1600" b="0" dirty="0" err="1">
                <a:solidFill>
                  <a:srgbClr val="000000"/>
                </a:solidFill>
                <a:effectLst/>
                <a:latin typeface="Fira Code" panose="020B0809050000020004" pitchFamily="49" charset="0"/>
              </a:rPr>
              <a:t>CountVectorizer</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docs = </a:t>
            </a:r>
            <a:r>
              <a:rPr lang="en-US" altLang="zh-TW" sz="1600" b="0" dirty="0" err="1">
                <a:solidFill>
                  <a:srgbClr val="000000"/>
                </a:solidFill>
                <a:effectLst/>
                <a:latin typeface="Fira Code" panose="020B0809050000020004" pitchFamily="49" charset="0"/>
              </a:rPr>
              <a:t>np.array</a:t>
            </a:r>
            <a:r>
              <a:rPr lang="en-US" altLang="zh-TW" sz="1600" b="0" dirty="0">
                <a:solidFill>
                  <a:srgbClr val="000000"/>
                </a:solidFill>
                <a:effectLst/>
                <a:latin typeface="Fira Code" panose="020B0809050000020004" pitchFamily="49" charset="0"/>
              </a:rPr>
              <a:t>([</a:t>
            </a:r>
            <a:r>
              <a:rPr lang="en-US" altLang="zh-TW" sz="1600" b="0" dirty="0">
                <a:solidFill>
                  <a:srgbClr val="A31515"/>
                </a:solidFill>
                <a:effectLst/>
                <a:latin typeface="Fira Code" panose="020B0809050000020004" pitchFamily="49" charset="0"/>
              </a:rPr>
              <a:t>'The sun is shining'</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'The weather is sweet'</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                 </a:t>
            </a:r>
            <a:r>
              <a:rPr lang="en-US" altLang="zh-TW" sz="1600" b="0" dirty="0">
                <a:solidFill>
                  <a:srgbClr val="A31515"/>
                </a:solidFill>
                <a:effectLst/>
                <a:latin typeface="Fira Code" panose="020B0809050000020004" pitchFamily="49" charset="0"/>
              </a:rPr>
              <a:t>'The sun is shining, the weather is sweet, and one and one is two'</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bag = </a:t>
            </a:r>
            <a:r>
              <a:rPr lang="en-US" altLang="zh-TW" sz="1600" b="0" dirty="0" err="1">
                <a:solidFill>
                  <a:srgbClr val="000000"/>
                </a:solidFill>
                <a:effectLst/>
                <a:latin typeface="Fira Code" panose="020B0809050000020004" pitchFamily="49" charset="0"/>
              </a:rPr>
              <a:t>count.fit_transform</a:t>
            </a:r>
            <a:r>
              <a:rPr lang="en-US" altLang="zh-TW" sz="1600" b="0" dirty="0">
                <a:solidFill>
                  <a:srgbClr val="000000"/>
                </a:solidFill>
                <a:effectLst/>
                <a:latin typeface="Fira Code" panose="020B0809050000020004" pitchFamily="49" charset="0"/>
              </a:rPr>
              <a:t>(docs)</a:t>
            </a:r>
          </a:p>
          <a:p>
            <a:br>
              <a:rPr lang="en-US" altLang="zh-TW" sz="1600" b="0" dirty="0">
                <a:solidFill>
                  <a:srgbClr val="000000"/>
                </a:solidFill>
                <a:effectLst/>
                <a:latin typeface="Fira Code" panose="020B0809050000020004" pitchFamily="49" charset="0"/>
              </a:rPr>
            </a:br>
            <a:r>
              <a:rPr lang="en-US" altLang="zh-TW" sz="1600" b="0" dirty="0">
                <a:solidFill>
                  <a:srgbClr val="000000"/>
                </a:solidFill>
                <a:effectLst/>
                <a:latin typeface="Fira Code" panose="020B0809050000020004" pitchFamily="49" charset="0"/>
              </a:rPr>
              <a:t>print(</a:t>
            </a:r>
            <a:r>
              <a:rPr lang="en-US" altLang="zh-TW" sz="1600" b="0" dirty="0" err="1">
                <a:solidFill>
                  <a:srgbClr val="000000"/>
                </a:solidFill>
                <a:effectLst/>
                <a:latin typeface="Fira Code" panose="020B0809050000020004" pitchFamily="49" charset="0"/>
              </a:rPr>
              <a:t>count.vocabulary</a:t>
            </a:r>
            <a:r>
              <a:rPr lang="en-US" altLang="zh-TW" sz="1600" b="0" dirty="0">
                <a:solidFill>
                  <a:srgbClr val="000000"/>
                </a:solidFill>
                <a:effectLst/>
                <a:latin typeface="Fira Code" panose="020B0809050000020004" pitchFamily="49" charset="0"/>
              </a:rPr>
              <a:t>_)</a:t>
            </a:r>
          </a:p>
          <a:p>
            <a:r>
              <a:rPr lang="en-US" altLang="zh-TW" sz="1600" b="0" dirty="0">
                <a:solidFill>
                  <a:srgbClr val="000000"/>
                </a:solidFill>
                <a:effectLst/>
                <a:latin typeface="Fira Code" panose="020B0809050000020004" pitchFamily="49" charset="0"/>
              </a:rPr>
              <a:t>print(</a:t>
            </a:r>
            <a:r>
              <a:rPr lang="en-US" altLang="zh-TW" sz="1600" b="0" dirty="0" err="1">
                <a:solidFill>
                  <a:srgbClr val="000000"/>
                </a:solidFill>
                <a:effectLst/>
                <a:latin typeface="Fira Code" panose="020B0809050000020004" pitchFamily="49" charset="0"/>
              </a:rPr>
              <a:t>bag.toarray</a:t>
            </a:r>
            <a:r>
              <a:rPr lang="en-US" altLang="zh-TW" sz="1600" b="0" dirty="0">
                <a:solidFill>
                  <a:srgbClr val="000000"/>
                </a:solidFill>
                <a:effectLst/>
                <a:latin typeface="Fira Code" panose="020B0809050000020004" pitchFamily="49" charset="0"/>
              </a:rPr>
              <a:t>())</a:t>
            </a:r>
          </a:p>
          <a:p>
            <a:endParaRPr lang="en-US" altLang="zh-TW" sz="1600" b="0" dirty="0">
              <a:solidFill>
                <a:srgbClr val="0000FF"/>
              </a:solidFill>
              <a:effectLst/>
              <a:latin typeface="Fira Code" panose="020B0809050000020004" pitchFamily="49" charset="0"/>
            </a:endParaRPr>
          </a:p>
          <a:p>
            <a:endParaRPr lang="en-US" altLang="zh-TW" sz="1600" dirty="0">
              <a:solidFill>
                <a:srgbClr val="0000FF"/>
              </a:solidFill>
              <a:latin typeface="Fira Code" panose="020B0809050000020004" pitchFamily="49" charset="0"/>
            </a:endParaRPr>
          </a:p>
          <a:p>
            <a:r>
              <a:rPr lang="en-US" altLang="zh-TW" sz="1600" b="0" dirty="0">
                <a:solidFill>
                  <a:srgbClr val="0000FF"/>
                </a:solidFill>
                <a:effectLst/>
                <a:latin typeface="Fira Code" panose="020B0809050000020004" pitchFamily="49" charset="0"/>
              </a:rPr>
              <a:t>from</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sklearn.feature_extraction.text</a:t>
            </a:r>
            <a:r>
              <a:rPr lang="en-US" altLang="zh-TW" sz="1600" b="0" dirty="0">
                <a:solidFill>
                  <a:srgbClr val="000000"/>
                </a:solidFill>
                <a:effectLst/>
                <a:latin typeface="Fira Code" panose="020B0809050000020004" pitchFamily="49" charset="0"/>
              </a:rPr>
              <a:t> </a:t>
            </a:r>
            <a:r>
              <a:rPr lang="en-US" altLang="zh-TW" sz="1600" b="0" dirty="0">
                <a:solidFill>
                  <a:srgbClr val="0000FF"/>
                </a:solidFill>
                <a:effectLst/>
                <a:latin typeface="Fira Code" panose="020B0809050000020004" pitchFamily="49" charset="0"/>
              </a:rPr>
              <a:t>import</a:t>
            </a:r>
            <a:r>
              <a:rPr lang="en-US" altLang="zh-TW" sz="1600" b="0" dirty="0">
                <a:solidFill>
                  <a:srgbClr val="000000"/>
                </a:solidFill>
                <a:effectLst/>
                <a:latin typeface="Fira Code" panose="020B0809050000020004" pitchFamily="49" charset="0"/>
              </a:rPr>
              <a:t> </a:t>
            </a:r>
            <a:r>
              <a:rPr lang="en-US" altLang="zh-TW" sz="1600" b="0" dirty="0" err="1">
                <a:solidFill>
                  <a:srgbClr val="000000"/>
                </a:solidFill>
                <a:effectLst/>
                <a:latin typeface="Fira Code" panose="020B0809050000020004" pitchFamily="49" charset="0"/>
              </a:rPr>
              <a:t>TfidfTransformer</a:t>
            </a:r>
            <a:endParaRPr lang="en-US" altLang="zh-TW" sz="1600" b="0" dirty="0">
              <a:solidFill>
                <a:srgbClr val="000000"/>
              </a:solidFill>
              <a:effectLst/>
              <a:latin typeface="Fira Code" panose="020B0809050000020004" pitchFamily="49" charset="0"/>
            </a:endParaRPr>
          </a:p>
          <a:p>
            <a:r>
              <a:rPr lang="en-US" altLang="zh-TW" sz="1600" b="0" dirty="0" err="1">
                <a:solidFill>
                  <a:srgbClr val="000000"/>
                </a:solidFill>
                <a:effectLst/>
                <a:latin typeface="Fira Code" panose="020B0809050000020004" pitchFamily="49" charset="0"/>
              </a:rPr>
              <a:t>tfidf</a:t>
            </a:r>
            <a:r>
              <a:rPr lang="en-US" altLang="zh-TW" sz="1600" b="0" dirty="0">
                <a:solidFill>
                  <a:srgbClr val="000000"/>
                </a:solidFill>
                <a:effectLst/>
                <a:latin typeface="Fira Code" panose="020B0809050000020004" pitchFamily="49" charset="0"/>
              </a:rPr>
              <a:t> = </a:t>
            </a:r>
            <a:r>
              <a:rPr lang="en-US" altLang="zh-TW" sz="1600" b="0" dirty="0" err="1">
                <a:solidFill>
                  <a:srgbClr val="000000"/>
                </a:solidFill>
                <a:effectLst/>
                <a:latin typeface="Fira Code" panose="020B0809050000020004" pitchFamily="49" charset="0"/>
              </a:rPr>
              <a:t>TfidfTransformer</a:t>
            </a:r>
            <a:r>
              <a:rPr lang="en-US" altLang="zh-TW" sz="1600" b="0" dirty="0">
                <a:solidFill>
                  <a:srgbClr val="000000"/>
                </a:solidFill>
                <a:effectLst/>
                <a:latin typeface="Fira Code" panose="020B0809050000020004" pitchFamily="49" charset="0"/>
              </a:rPr>
              <a:t>()</a:t>
            </a:r>
          </a:p>
          <a:p>
            <a:r>
              <a:rPr lang="en-US" altLang="zh-TW" sz="1600" b="0" dirty="0" err="1">
                <a:solidFill>
                  <a:srgbClr val="000000"/>
                </a:solidFill>
                <a:effectLst/>
                <a:latin typeface="Fira Code" panose="020B0809050000020004" pitchFamily="49" charset="0"/>
              </a:rPr>
              <a:t>np.set_printoptions</a:t>
            </a:r>
            <a:r>
              <a:rPr lang="en-US" altLang="zh-TW" sz="1600" b="0" dirty="0">
                <a:solidFill>
                  <a:srgbClr val="000000"/>
                </a:solidFill>
                <a:effectLst/>
                <a:latin typeface="Fira Code" panose="020B0809050000020004" pitchFamily="49" charset="0"/>
              </a:rPr>
              <a:t>(precision=</a:t>
            </a:r>
            <a:r>
              <a:rPr lang="en-US" altLang="zh-TW" sz="1600" b="0" dirty="0">
                <a:solidFill>
                  <a:srgbClr val="098658"/>
                </a:solidFill>
                <a:effectLst/>
                <a:latin typeface="Fira Code" panose="020B0809050000020004" pitchFamily="49" charset="0"/>
              </a:rPr>
              <a:t>2</a:t>
            </a:r>
            <a:r>
              <a:rPr lang="en-US" altLang="zh-TW" sz="1600" b="0" dirty="0">
                <a:solidFill>
                  <a:srgbClr val="000000"/>
                </a:solidFill>
                <a:effectLst/>
                <a:latin typeface="Fira Code" panose="020B0809050000020004" pitchFamily="49" charset="0"/>
              </a:rPr>
              <a:t>)</a:t>
            </a:r>
          </a:p>
          <a:p>
            <a:r>
              <a:rPr lang="en-US" altLang="zh-TW" sz="1600" b="0" dirty="0">
                <a:solidFill>
                  <a:srgbClr val="000000"/>
                </a:solidFill>
                <a:effectLst/>
                <a:latin typeface="Fira Code" panose="020B0809050000020004" pitchFamily="49" charset="0"/>
              </a:rPr>
              <a:t>print(</a:t>
            </a:r>
            <a:r>
              <a:rPr lang="en-US" altLang="zh-TW" sz="1600" b="0" dirty="0" err="1">
                <a:solidFill>
                  <a:srgbClr val="000000"/>
                </a:solidFill>
                <a:effectLst/>
                <a:latin typeface="Fira Code" panose="020B0809050000020004" pitchFamily="49" charset="0"/>
              </a:rPr>
              <a:t>tfidf.fit_transform</a:t>
            </a:r>
            <a:r>
              <a:rPr lang="en-US" altLang="zh-TW" sz="1600" b="0" dirty="0">
                <a:solidFill>
                  <a:srgbClr val="000000"/>
                </a:solidFill>
                <a:effectLst/>
                <a:latin typeface="Fira Code" panose="020B0809050000020004" pitchFamily="49" charset="0"/>
              </a:rPr>
              <a:t>(</a:t>
            </a:r>
            <a:r>
              <a:rPr lang="en-US" altLang="zh-TW" sz="1600" b="0" dirty="0" err="1">
                <a:solidFill>
                  <a:srgbClr val="000000"/>
                </a:solidFill>
                <a:effectLst/>
                <a:latin typeface="Fira Code" panose="020B0809050000020004" pitchFamily="49" charset="0"/>
              </a:rPr>
              <a:t>count.fit_transform</a:t>
            </a:r>
            <a:r>
              <a:rPr lang="en-US" altLang="zh-TW" sz="1600" b="0" dirty="0">
                <a:solidFill>
                  <a:srgbClr val="000000"/>
                </a:solidFill>
                <a:effectLst/>
                <a:latin typeface="Fira Code" panose="020B0809050000020004" pitchFamily="49" charset="0"/>
              </a:rPr>
              <a:t>(docs)).</a:t>
            </a:r>
            <a:r>
              <a:rPr lang="en-US" altLang="zh-TW" sz="1600" b="0" dirty="0" err="1">
                <a:solidFill>
                  <a:srgbClr val="000000"/>
                </a:solidFill>
                <a:effectLst/>
                <a:latin typeface="Fira Code" panose="020B0809050000020004" pitchFamily="49" charset="0"/>
              </a:rPr>
              <a:t>toarray</a:t>
            </a:r>
            <a:r>
              <a:rPr lang="en-US" altLang="zh-TW" sz="1600" b="0" dirty="0">
                <a:solidFill>
                  <a:srgbClr val="000000"/>
                </a:solidFill>
                <a:effectLst/>
                <a:latin typeface="Fira Code" panose="020B0809050000020004" pitchFamily="49" charset="0"/>
              </a:rPr>
              <a:t>())</a:t>
            </a:r>
          </a:p>
        </p:txBody>
      </p:sp>
      <p:pic>
        <p:nvPicPr>
          <p:cNvPr id="7" name="圖片 6">
            <a:extLst>
              <a:ext uri="{FF2B5EF4-FFF2-40B4-BE49-F238E27FC236}">
                <a16:creationId xmlns:a16="http://schemas.microsoft.com/office/drawing/2014/main" id="{45EB15DC-A34B-449F-A062-29A32E9A6F38}"/>
              </a:ext>
            </a:extLst>
          </p:cNvPr>
          <p:cNvPicPr>
            <a:picLocks noChangeAspect="1"/>
          </p:cNvPicPr>
          <p:nvPr/>
        </p:nvPicPr>
        <p:blipFill>
          <a:blip r:embed="rId2"/>
          <a:stretch>
            <a:fillRect/>
          </a:stretch>
        </p:blipFill>
        <p:spPr>
          <a:xfrm>
            <a:off x="7333481" y="5673889"/>
            <a:ext cx="4267312" cy="555186"/>
          </a:xfrm>
          <a:prstGeom prst="rect">
            <a:avLst/>
          </a:prstGeom>
        </p:spPr>
      </p:pic>
    </p:spTree>
    <p:extLst>
      <p:ext uri="{BB962C8B-B14F-4D97-AF65-F5344CB8AC3E}">
        <p14:creationId xmlns:p14="http://schemas.microsoft.com/office/powerpoint/2010/main" val="6179907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C03CF2-2F37-DA0F-DA00-D42E366927E9}"/>
              </a:ext>
            </a:extLst>
          </p:cNvPr>
          <p:cNvSpPr>
            <a:spLocks noGrp="1"/>
          </p:cNvSpPr>
          <p:nvPr>
            <p:ph type="title"/>
          </p:nvPr>
        </p:nvSpPr>
        <p:spPr/>
        <p:txBody>
          <a:bodyPr/>
          <a:lstStyle/>
          <a:p>
            <a:r>
              <a:rPr lang="en-US" altLang="zh-TW" dirty="0"/>
              <a:t>TF-IDF</a:t>
            </a:r>
            <a:r>
              <a:rPr lang="zh-TW" altLang="en-US" dirty="0"/>
              <a:t> </a:t>
            </a:r>
            <a:r>
              <a:rPr lang="en-US" altLang="zh-TW" dirty="0"/>
              <a:t>Vectorizer</a:t>
            </a:r>
            <a:endParaRPr kumimoji="1" lang="zh-TW" altLang="en-US" dirty="0"/>
          </a:p>
        </p:txBody>
      </p:sp>
      <p:sp>
        <p:nvSpPr>
          <p:cNvPr id="4" name="文字方塊 3">
            <a:extLst>
              <a:ext uri="{FF2B5EF4-FFF2-40B4-BE49-F238E27FC236}">
                <a16:creationId xmlns:a16="http://schemas.microsoft.com/office/drawing/2014/main" id="{AB2203FF-846F-24BE-0158-D6E3D915DC0C}"/>
              </a:ext>
            </a:extLst>
          </p:cNvPr>
          <p:cNvSpPr txBox="1"/>
          <p:nvPr/>
        </p:nvSpPr>
        <p:spPr>
          <a:xfrm>
            <a:off x="838200" y="1413063"/>
            <a:ext cx="10762593" cy="4524315"/>
          </a:xfrm>
          <a:prstGeom prst="rect">
            <a:avLst/>
          </a:prstGeom>
          <a:noFill/>
          <a:ln>
            <a:solidFill>
              <a:schemeClr val="tx1"/>
            </a:solidFill>
          </a:ln>
        </p:spPr>
        <p:txBody>
          <a:bodyPr wrap="square">
            <a:spAutoFit/>
          </a:bodyPr>
          <a:lstStyle/>
          <a:p>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numpy</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as</a:t>
            </a:r>
            <a:r>
              <a:rPr lang="en" altLang="zh-TW" sz="1600" b="0" dirty="0">
                <a:solidFill>
                  <a:srgbClr val="3B3B3B"/>
                </a:solidFill>
                <a:effectLst/>
                <a:latin typeface="Fira Code" panose="020B0809050000020004" pitchFamily="49" charset="0"/>
              </a:rPr>
              <a:t> </a:t>
            </a:r>
            <a:r>
              <a:rPr lang="en" altLang="zh-TW" sz="1600" b="0" dirty="0">
                <a:solidFill>
                  <a:srgbClr val="267F99"/>
                </a:solidFill>
                <a:effectLst/>
                <a:latin typeface="Fira Code" panose="020B0809050000020004" pitchFamily="49" charset="0"/>
              </a:rPr>
              <a:t>np</a:t>
            </a:r>
            <a:endParaRPr lang="en" altLang="zh-TW" sz="1600" b="0" dirty="0">
              <a:solidFill>
                <a:srgbClr val="3B3B3B"/>
              </a:solidFill>
              <a:effectLst/>
              <a:latin typeface="Fira Code" panose="020B0809050000020004" pitchFamily="49" charset="0"/>
            </a:endParaRPr>
          </a:p>
          <a:p>
            <a:r>
              <a:rPr lang="en" altLang="zh-TW" sz="1600" b="0" dirty="0">
                <a:solidFill>
                  <a:srgbClr val="AF00DB"/>
                </a:solidFill>
                <a:effectLst/>
                <a:latin typeface="Fira Code" panose="020B0809050000020004" pitchFamily="49" charset="0"/>
              </a:rPr>
              <a:t>from</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sklearn</a:t>
            </a:r>
            <a:r>
              <a:rPr lang="en" altLang="zh-TW" sz="1600" b="0" dirty="0" err="1">
                <a:solidFill>
                  <a:srgbClr val="3B3B3B"/>
                </a:solidFill>
                <a:effectLst/>
                <a:latin typeface="Fira Code" panose="020B0809050000020004" pitchFamily="49" charset="0"/>
              </a:rPr>
              <a:t>.</a:t>
            </a:r>
            <a:r>
              <a:rPr lang="en" altLang="zh-TW" sz="1600" b="0" dirty="0" err="1">
                <a:solidFill>
                  <a:srgbClr val="267F99"/>
                </a:solidFill>
                <a:effectLst/>
                <a:latin typeface="Fira Code" panose="020B0809050000020004" pitchFamily="49" charset="0"/>
              </a:rPr>
              <a:t>feature_extraction</a:t>
            </a:r>
            <a:r>
              <a:rPr lang="en" altLang="zh-TW" sz="1600" b="0" dirty="0" err="1">
                <a:solidFill>
                  <a:srgbClr val="3B3B3B"/>
                </a:solidFill>
                <a:effectLst/>
                <a:latin typeface="Fira Code" panose="020B0809050000020004" pitchFamily="49" charset="0"/>
              </a:rPr>
              <a:t>.</a:t>
            </a:r>
            <a:r>
              <a:rPr lang="en" altLang="zh-TW" sz="1600" b="0" dirty="0" err="1">
                <a:solidFill>
                  <a:srgbClr val="267F99"/>
                </a:solidFill>
                <a:effectLst/>
                <a:latin typeface="Fira Code" panose="020B0809050000020004" pitchFamily="49" charset="0"/>
              </a:rPr>
              <a:t>text</a:t>
            </a:r>
            <a:r>
              <a:rPr lang="en" altLang="zh-TW" sz="1600" b="0" dirty="0">
                <a:solidFill>
                  <a:srgbClr val="3B3B3B"/>
                </a:solidFill>
                <a:effectLst/>
                <a:latin typeface="Fira Code" panose="020B0809050000020004" pitchFamily="49" charset="0"/>
              </a:rPr>
              <a:t> </a:t>
            </a:r>
            <a:r>
              <a:rPr lang="en" altLang="zh-TW" sz="1600" b="0" dirty="0">
                <a:solidFill>
                  <a:srgbClr val="AF00DB"/>
                </a:solidFill>
                <a:effectLst/>
                <a:latin typeface="Fira Code" panose="020B0809050000020004" pitchFamily="49" charset="0"/>
              </a:rPr>
              <a:t>import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TfidfVectorizer</a:t>
            </a:r>
            <a:endParaRPr lang="en" altLang="zh-TW" sz="1600" b="0" dirty="0">
              <a:solidFill>
                <a:srgbClr val="3B3B3B"/>
              </a:solidFill>
              <a:effectLst/>
              <a:latin typeface="Fira Code" panose="020B0809050000020004" pitchFamily="49" charset="0"/>
            </a:endParaRPr>
          </a:p>
          <a:p>
            <a:r>
              <a:rPr lang="en" altLang="zh-TW" sz="1600" b="0" dirty="0" err="1">
                <a:solidFill>
                  <a:srgbClr val="001080"/>
                </a:solidFill>
                <a:effectLst/>
                <a:latin typeface="Fira Code" panose="020B0809050000020004" pitchFamily="49" charset="0"/>
              </a:rPr>
              <a:t>tfidf</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TfidfVectorizer</a:t>
            </a:r>
            <a:r>
              <a:rPr lang="en" altLang="zh-TW" sz="1600" b="0" dirty="0">
                <a:solidFill>
                  <a:srgbClr val="3B3B3B"/>
                </a:solidFill>
                <a:effectLst/>
                <a:latin typeface="Fira Code" panose="020B0809050000020004" pitchFamily="49" charset="0"/>
              </a:rPr>
              <a:t>()</a:t>
            </a:r>
          </a:p>
          <a:p>
            <a:endParaRPr lang="en" altLang="zh-TW" sz="1600" b="0" dirty="0">
              <a:solidFill>
                <a:srgbClr val="3B3B3B"/>
              </a:solidFill>
              <a:effectLst/>
              <a:latin typeface="Fira Code" panose="020B0809050000020004" pitchFamily="49" charset="0"/>
            </a:endParaRPr>
          </a:p>
          <a:p>
            <a:r>
              <a:rPr lang="en" altLang="zh-TW" sz="1600" b="0" dirty="0">
                <a:solidFill>
                  <a:srgbClr val="001080"/>
                </a:solidFill>
                <a:effectLst/>
                <a:latin typeface="Fira Code" panose="020B0809050000020004" pitchFamily="49" charset="0"/>
              </a:rPr>
              <a:t>docs</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267F99"/>
                </a:solidFill>
                <a:effectLst/>
                <a:latin typeface="Fira Code" panose="020B0809050000020004" pitchFamily="49" charset="0"/>
              </a:rPr>
              <a:t>np</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array</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'The sun is shining'</a:t>
            </a:r>
            <a:r>
              <a:rPr lang="en" altLang="zh-TW" sz="1600" b="0" dirty="0">
                <a:solidFill>
                  <a:srgbClr val="3B3B3B"/>
                </a:solidFill>
                <a:effectLst/>
                <a:latin typeface="Fira Code" panose="020B0809050000020004" pitchFamily="49" charset="0"/>
              </a:rPr>
              <a:t>, </a:t>
            </a:r>
          </a:p>
          <a:p>
            <a:r>
              <a:rPr lang="en" altLang="zh-TW" sz="1600" b="0" dirty="0">
                <a:solidFill>
                  <a:srgbClr val="A31515"/>
                </a:solidFill>
                <a:effectLst/>
                <a:latin typeface="Fira Code" panose="020B0809050000020004" pitchFamily="49" charset="0"/>
              </a:rPr>
              <a:t>'The weather is sweet'</a:t>
            </a:r>
            <a:r>
              <a:rPr lang="en" altLang="zh-TW" sz="1600" b="0" dirty="0">
                <a:solidFill>
                  <a:srgbClr val="3B3B3B"/>
                </a:solidFill>
                <a:effectLst/>
                <a:latin typeface="Fira Code" panose="020B0809050000020004" pitchFamily="49" charset="0"/>
              </a:rPr>
              <a:t>,</a:t>
            </a:r>
          </a:p>
          <a:p>
            <a:r>
              <a:rPr lang="en" altLang="zh-TW" sz="1600" b="0" dirty="0">
                <a:solidFill>
                  <a:srgbClr val="A31515"/>
                </a:solidFill>
                <a:effectLst/>
                <a:latin typeface="Fira Code" panose="020B0809050000020004" pitchFamily="49" charset="0"/>
              </a:rPr>
              <a:t>'The sun is shining, the weather is sweet, and one and one is two’</a:t>
            </a:r>
            <a:r>
              <a:rPr lang="en" altLang="zh-TW" sz="1600" b="0" dirty="0">
                <a:solidFill>
                  <a:srgbClr val="3B3B3B"/>
                </a:solidFill>
                <a:effectLst/>
                <a:latin typeface="Fira Code" panose="020B0809050000020004" pitchFamily="49" charset="0"/>
              </a:rPr>
              <a:t>])</a:t>
            </a:r>
          </a:p>
          <a:p>
            <a:endParaRPr lang="en" altLang="zh-TW" sz="1600" b="0" dirty="0">
              <a:solidFill>
                <a:srgbClr val="3B3B3B"/>
              </a:solidFill>
              <a:effectLst/>
              <a:latin typeface="Fira Code" panose="020B0809050000020004" pitchFamily="49" charset="0"/>
            </a:endParaRPr>
          </a:p>
          <a:p>
            <a:r>
              <a:rPr lang="en" altLang="zh-TW" sz="1600" b="0" dirty="0" err="1">
                <a:solidFill>
                  <a:srgbClr val="001080"/>
                </a:solidFill>
                <a:effectLst/>
                <a:latin typeface="Fira Code" panose="020B0809050000020004" pitchFamily="49" charset="0"/>
              </a:rPr>
              <a:t>tfidf_result</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tfidf</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fit_transform</a:t>
            </a:r>
            <a:r>
              <a:rPr lang="en" altLang="zh-TW" sz="1600" b="0" dirty="0">
                <a:solidFill>
                  <a:srgbClr val="3B3B3B"/>
                </a:solidFill>
                <a:effectLst/>
                <a:latin typeface="Fira Code" panose="020B0809050000020004" pitchFamily="49" charset="0"/>
              </a:rPr>
              <a:t>(</a:t>
            </a:r>
            <a:r>
              <a:rPr lang="en" altLang="zh-TW" sz="1600" b="0" dirty="0">
                <a:solidFill>
                  <a:srgbClr val="001080"/>
                </a:solidFill>
                <a:effectLst/>
                <a:latin typeface="Fira Code" panose="020B0809050000020004" pitchFamily="49" charset="0"/>
              </a:rPr>
              <a:t>docs</a:t>
            </a:r>
            <a:r>
              <a:rPr lang="en" altLang="zh-TW" sz="1600" b="0" dirty="0">
                <a:solidFill>
                  <a:srgbClr val="3B3B3B"/>
                </a:solidFill>
                <a:effectLst/>
                <a:latin typeface="Fira Code" panose="020B0809050000020004" pitchFamily="49" charset="0"/>
              </a:rPr>
              <a:t>)</a:t>
            </a: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tfidf_result</a:t>
            </a:r>
            <a:r>
              <a:rPr lang="en" altLang="zh-TW" sz="1600" b="0" dirty="0" err="1">
                <a:solidFill>
                  <a:srgbClr val="3B3B3B"/>
                </a:solidFill>
                <a:effectLst/>
                <a:latin typeface="Fira Code" panose="020B0809050000020004" pitchFamily="49" charset="0"/>
              </a:rPr>
              <a:t>.toarray</a:t>
            </a:r>
            <a:r>
              <a:rPr lang="en" altLang="zh-TW" sz="1600" b="0" dirty="0">
                <a:solidFill>
                  <a:srgbClr val="3B3B3B"/>
                </a:solidFill>
                <a:effectLst/>
                <a:latin typeface="Fira Code" panose="020B0809050000020004" pitchFamily="49" charset="0"/>
              </a:rPr>
              <a:t>())</a:t>
            </a: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tfidf</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get_feature_names_out</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詞彙裡的所有單字</a:t>
            </a:r>
            <a:endParaRPr lang="zh-TW" altLang="en-US" sz="1600" b="0" dirty="0">
              <a:solidFill>
                <a:srgbClr val="3B3B3B"/>
              </a:solidFill>
              <a:effectLst/>
              <a:latin typeface="Fira Code" panose="020B0809050000020004" pitchFamily="49" charset="0"/>
            </a:endParaRP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tfidf</a:t>
            </a:r>
            <a:r>
              <a:rPr lang="en" altLang="zh-TW" sz="1600" b="0" dirty="0" err="1">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idf</a:t>
            </a:r>
            <a:r>
              <a:rPr lang="en" altLang="zh-TW" sz="1600" b="0" dirty="0">
                <a:solidFill>
                  <a:srgbClr val="001080"/>
                </a:solidFill>
                <a:effectLst/>
                <a:latin typeface="Fira Code" panose="020B0809050000020004" pitchFamily="49" charset="0"/>
              </a:rPr>
              <a:t>_</a:t>
            </a:r>
            <a:r>
              <a:rPr lang="en" altLang="zh-TW" sz="1600" b="0" dirty="0">
                <a:solidFill>
                  <a:srgbClr val="3B3B3B"/>
                </a:solidFill>
                <a:effectLst/>
                <a:latin typeface="Fira Code" panose="020B0809050000020004" pitchFamily="49" charset="0"/>
              </a:rPr>
              <a:t>) </a:t>
            </a:r>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詞彙裡的所有單字的</a:t>
            </a:r>
            <a:r>
              <a:rPr lang="en" altLang="zh-TW" sz="1600" b="0" dirty="0" err="1">
                <a:solidFill>
                  <a:srgbClr val="008000"/>
                </a:solidFill>
                <a:effectLst/>
                <a:latin typeface="Fira Code" panose="020B0809050000020004" pitchFamily="49" charset="0"/>
              </a:rPr>
              <a:t>idf</a:t>
            </a:r>
            <a:endParaRPr lang="en" altLang="zh-TW" sz="1600" b="0" dirty="0">
              <a:solidFill>
                <a:srgbClr val="3B3B3B"/>
              </a:solidFill>
              <a:effectLst/>
              <a:latin typeface="Fira Code" panose="020B0809050000020004" pitchFamily="49" charset="0"/>
            </a:endParaRPr>
          </a:p>
          <a:p>
            <a:r>
              <a:rPr lang="en" altLang="zh-TW" sz="1600" b="0" dirty="0">
                <a:solidFill>
                  <a:srgbClr val="008000"/>
                </a:solidFill>
                <a:effectLst/>
                <a:latin typeface="Fira Code" panose="020B0809050000020004" pitchFamily="49" charset="0"/>
              </a:rPr>
              <a:t>#</a:t>
            </a:r>
            <a:r>
              <a:rPr lang="zh-TW" altLang="en-US" sz="1600" b="0" dirty="0">
                <a:solidFill>
                  <a:srgbClr val="008000"/>
                </a:solidFill>
                <a:effectLst/>
                <a:latin typeface="Fira Code" panose="020B0809050000020004" pitchFamily="49" charset="0"/>
              </a:rPr>
              <a:t>使用這個詞彙集取得新原文的表示</a:t>
            </a:r>
            <a:endParaRPr lang="zh-TW" altLang="en-US" sz="1600" b="0" dirty="0">
              <a:solidFill>
                <a:srgbClr val="3B3B3B"/>
              </a:solidFill>
              <a:effectLst/>
              <a:latin typeface="Fira Code" panose="020B0809050000020004" pitchFamily="49" charset="0"/>
            </a:endParaRPr>
          </a:p>
          <a:p>
            <a:r>
              <a:rPr lang="en" altLang="zh-TW" sz="1600" b="0" dirty="0">
                <a:solidFill>
                  <a:srgbClr val="001080"/>
                </a:solidFill>
                <a:effectLst/>
                <a:latin typeface="Fira Code" panose="020B0809050000020004" pitchFamily="49" charset="0"/>
              </a:rPr>
              <a:t>temp</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tfidf</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transform</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'The sun is nothing'</a:t>
            </a:r>
            <a:r>
              <a:rPr lang="en" altLang="zh-TW" sz="1600" b="0" dirty="0">
                <a:solidFill>
                  <a:srgbClr val="3B3B3B"/>
                </a:solidFill>
                <a:effectLst/>
                <a:latin typeface="Fira Code" panose="020B0809050000020004" pitchFamily="49" charset="0"/>
              </a:rPr>
              <a:t>])</a:t>
            </a: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temp</a:t>
            </a:r>
            <a:r>
              <a:rPr lang="en" altLang="zh-TW" sz="1600" b="0" dirty="0" err="1">
                <a:solidFill>
                  <a:srgbClr val="3B3B3B"/>
                </a:solidFill>
                <a:effectLst/>
                <a:latin typeface="Fira Code" panose="020B0809050000020004" pitchFamily="49" charset="0"/>
              </a:rPr>
              <a:t>.toarray</a:t>
            </a:r>
            <a:r>
              <a:rPr lang="en" altLang="zh-TW" sz="1600" b="0" dirty="0">
                <a:solidFill>
                  <a:srgbClr val="3B3B3B"/>
                </a:solidFill>
                <a:effectLst/>
                <a:latin typeface="Fira Code" panose="020B0809050000020004" pitchFamily="49" charset="0"/>
              </a:rPr>
              <a:t>())</a:t>
            </a:r>
          </a:p>
          <a:p>
            <a:br>
              <a:rPr lang="en" altLang="zh-TW" sz="1600" b="0" dirty="0">
                <a:solidFill>
                  <a:srgbClr val="3B3B3B"/>
                </a:solidFill>
                <a:effectLst/>
                <a:latin typeface="Fira Code" panose="020B0809050000020004" pitchFamily="49" charset="0"/>
              </a:rPr>
            </a:br>
            <a:r>
              <a:rPr lang="en" altLang="zh-TW" sz="1600" b="0" dirty="0">
                <a:solidFill>
                  <a:srgbClr val="001080"/>
                </a:solidFill>
                <a:effectLst/>
                <a:latin typeface="Fira Code" panose="020B0809050000020004" pitchFamily="49" charset="0"/>
              </a:rPr>
              <a:t>temp</a:t>
            </a:r>
            <a:r>
              <a:rPr lang="en" altLang="zh-TW" sz="1600" b="0" dirty="0">
                <a:solidFill>
                  <a:srgbClr val="3B3B3B"/>
                </a:solidFill>
                <a:effectLst/>
                <a:latin typeface="Fira Code" panose="020B0809050000020004" pitchFamily="49" charset="0"/>
              </a:rPr>
              <a:t> </a:t>
            </a:r>
            <a:r>
              <a:rPr lang="en" altLang="zh-TW" sz="1600" b="0" dirty="0">
                <a:solidFill>
                  <a:srgbClr val="000000"/>
                </a:solidFill>
                <a:effectLst/>
                <a:latin typeface="Fira Code" panose="020B0809050000020004" pitchFamily="49" charset="0"/>
              </a:rPr>
              <a:t>=</a:t>
            </a:r>
            <a:r>
              <a:rPr lang="en" altLang="zh-TW" sz="1600" b="0" dirty="0">
                <a:solidFill>
                  <a:srgbClr val="3B3B3B"/>
                </a:solidFill>
                <a:effectLst/>
                <a:latin typeface="Fira Code" panose="020B0809050000020004" pitchFamily="49" charset="0"/>
              </a:rPr>
              <a:t> </a:t>
            </a:r>
            <a:r>
              <a:rPr lang="en" altLang="zh-TW" sz="1600" b="0" dirty="0" err="1">
                <a:solidFill>
                  <a:srgbClr val="001080"/>
                </a:solidFill>
                <a:effectLst/>
                <a:latin typeface="Fira Code" panose="020B0809050000020004" pitchFamily="49" charset="0"/>
              </a:rPr>
              <a:t>tfidf</a:t>
            </a:r>
            <a:r>
              <a:rPr lang="en" altLang="zh-TW" sz="1600" b="0" dirty="0" err="1">
                <a:solidFill>
                  <a:srgbClr val="3B3B3B"/>
                </a:solidFill>
                <a:effectLst/>
                <a:latin typeface="Fira Code" panose="020B0809050000020004" pitchFamily="49" charset="0"/>
              </a:rPr>
              <a:t>.</a:t>
            </a:r>
            <a:r>
              <a:rPr lang="en" altLang="zh-TW" sz="1600" b="0" dirty="0" err="1">
                <a:solidFill>
                  <a:srgbClr val="795E26"/>
                </a:solidFill>
                <a:effectLst/>
                <a:latin typeface="Fira Code" panose="020B0809050000020004" pitchFamily="49" charset="0"/>
              </a:rPr>
              <a:t>transform</a:t>
            </a:r>
            <a:r>
              <a:rPr lang="en" altLang="zh-TW" sz="1600" b="0" dirty="0">
                <a:solidFill>
                  <a:srgbClr val="3B3B3B"/>
                </a:solidFill>
                <a:effectLst/>
                <a:latin typeface="Fira Code" panose="020B0809050000020004" pitchFamily="49" charset="0"/>
              </a:rPr>
              <a:t>([</a:t>
            </a:r>
            <a:r>
              <a:rPr lang="en" altLang="zh-TW" sz="1600" b="0" dirty="0">
                <a:solidFill>
                  <a:srgbClr val="A31515"/>
                </a:solidFill>
                <a:effectLst/>
                <a:latin typeface="Fira Code" panose="020B0809050000020004" pitchFamily="49" charset="0"/>
              </a:rPr>
              <a:t>'The sun is big'</a:t>
            </a:r>
            <a:r>
              <a:rPr lang="en" altLang="zh-TW" sz="1600" b="0" dirty="0">
                <a:solidFill>
                  <a:srgbClr val="3B3B3B"/>
                </a:solidFill>
                <a:effectLst/>
                <a:latin typeface="Fira Code" panose="020B0809050000020004" pitchFamily="49" charset="0"/>
              </a:rPr>
              <a:t>])</a:t>
            </a:r>
          </a:p>
          <a:p>
            <a:r>
              <a:rPr lang="en" altLang="zh-TW" sz="1600" b="0" dirty="0">
                <a:solidFill>
                  <a:srgbClr val="795E26"/>
                </a:solidFill>
                <a:effectLst/>
                <a:latin typeface="Fira Code" panose="020B0809050000020004" pitchFamily="49" charset="0"/>
              </a:rPr>
              <a:t>print</a:t>
            </a:r>
            <a:r>
              <a:rPr lang="en" altLang="zh-TW" sz="1600" b="0" dirty="0">
                <a:solidFill>
                  <a:srgbClr val="3B3B3B"/>
                </a:solidFill>
                <a:effectLst/>
                <a:latin typeface="Fira Code" panose="020B0809050000020004" pitchFamily="49" charset="0"/>
              </a:rPr>
              <a:t>(</a:t>
            </a:r>
            <a:r>
              <a:rPr lang="en" altLang="zh-TW" sz="1600" b="0" dirty="0" err="1">
                <a:solidFill>
                  <a:srgbClr val="001080"/>
                </a:solidFill>
                <a:effectLst/>
                <a:latin typeface="Fira Code" panose="020B0809050000020004" pitchFamily="49" charset="0"/>
              </a:rPr>
              <a:t>temp</a:t>
            </a:r>
            <a:r>
              <a:rPr lang="en" altLang="zh-TW" sz="1600" b="0" dirty="0" err="1">
                <a:solidFill>
                  <a:srgbClr val="3B3B3B"/>
                </a:solidFill>
                <a:effectLst/>
                <a:latin typeface="Fira Code" panose="020B0809050000020004" pitchFamily="49" charset="0"/>
              </a:rPr>
              <a:t>.toarray</a:t>
            </a:r>
            <a:r>
              <a:rPr lang="en" altLang="zh-TW" sz="1600"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5842965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F54B38-AC3C-7032-AE71-355B36FD22CB}"/>
              </a:ext>
            </a:extLst>
          </p:cNvPr>
          <p:cNvSpPr>
            <a:spLocks noGrp="1"/>
          </p:cNvSpPr>
          <p:nvPr>
            <p:ph type="title"/>
          </p:nvPr>
        </p:nvSpPr>
        <p:spPr/>
        <p:txBody>
          <a:bodyPr/>
          <a:lstStyle/>
          <a:p>
            <a:r>
              <a:rPr lang="en-US" altLang="zh-TW" dirty="0"/>
              <a:t>TF-IDF</a:t>
            </a:r>
            <a:endParaRPr kumimoji="1" lang="zh-TW" altLang="en-US" dirty="0"/>
          </a:p>
        </p:txBody>
      </p:sp>
      <p:sp>
        <p:nvSpPr>
          <p:cNvPr id="3" name="內容版面配置區 2">
            <a:extLst>
              <a:ext uri="{FF2B5EF4-FFF2-40B4-BE49-F238E27FC236}">
                <a16:creationId xmlns:a16="http://schemas.microsoft.com/office/drawing/2014/main" id="{3412C23C-A521-7A9B-57C2-576D9656D7E4}"/>
              </a:ext>
            </a:extLst>
          </p:cNvPr>
          <p:cNvSpPr>
            <a:spLocks noGrp="1"/>
          </p:cNvSpPr>
          <p:nvPr>
            <p:ph idx="1"/>
          </p:nvPr>
        </p:nvSpPr>
        <p:spPr/>
        <p:txBody>
          <a:bodyPr>
            <a:normAutofit fontScale="85000" lnSpcReduction="10000"/>
          </a:bodyPr>
          <a:lstStyle/>
          <a:p>
            <a:r>
              <a:rPr kumimoji="1" lang="zh-TW" altLang="en-US" dirty="0"/>
              <a:t>範例</a:t>
            </a:r>
            <a:r>
              <a:rPr kumimoji="1" lang="en-US" altLang="zh-TW" dirty="0"/>
              <a:t>2</a:t>
            </a:r>
          </a:p>
          <a:p>
            <a:pPr lvl="1"/>
            <a:r>
              <a:rPr lang="zh-TW" altLang="en-US" sz="2800" dirty="0"/>
              <a:t>假設這邊創建了 </a:t>
            </a:r>
            <a:r>
              <a:rPr lang="en-US" altLang="zh-TW" sz="2800" dirty="0"/>
              <a:t>4 </a:t>
            </a:r>
            <a:r>
              <a:rPr lang="zh-TW" altLang="en-US" sz="2800" dirty="0"/>
              <a:t>個句子，而且只使用小寫單詞。</a:t>
            </a:r>
            <a:endParaRPr lang="en-US" altLang="zh-TW" sz="2800" dirty="0"/>
          </a:p>
          <a:p>
            <a:pPr lvl="1"/>
            <a:r>
              <a:rPr lang="en-US" altLang="zh-TW" sz="2800" dirty="0"/>
              <a:t>He is playing in the field.</a:t>
            </a:r>
          </a:p>
          <a:p>
            <a:pPr lvl="1"/>
            <a:r>
              <a:rPr lang="en-US" altLang="zh-TW" sz="2800" dirty="0"/>
              <a:t>He is running towards the football.</a:t>
            </a:r>
          </a:p>
          <a:p>
            <a:pPr lvl="1"/>
            <a:r>
              <a:rPr lang="en-US" altLang="zh-TW" sz="2800" dirty="0"/>
              <a:t>The football game ended.</a:t>
            </a:r>
          </a:p>
          <a:p>
            <a:pPr lvl="1"/>
            <a:r>
              <a:rPr lang="en-US" altLang="zh-TW" sz="2800" dirty="0"/>
              <a:t>It started raining while everyone was playing in the field.</a:t>
            </a:r>
          </a:p>
          <a:p>
            <a:r>
              <a:rPr kumimoji="1" lang="zh-TW" altLang="en-US" dirty="0"/>
              <a:t>步驟 </a:t>
            </a:r>
            <a:r>
              <a:rPr kumimoji="1" lang="en-US" altLang="zh-TW" dirty="0"/>
              <a:t>1</a:t>
            </a:r>
            <a:r>
              <a:rPr kumimoji="1" lang="zh-TW" altLang="en-US" dirty="0"/>
              <a:t>：識別完整文本數據中的唯一單詞。</a:t>
            </a:r>
          </a:p>
          <a:p>
            <a:pPr lvl="1"/>
            <a:r>
              <a:rPr kumimoji="1" lang="en-US" altLang="zh-TW" dirty="0"/>
              <a:t>['</a:t>
            </a:r>
            <a:r>
              <a:rPr kumimoji="1" lang="en" altLang="zh-TW" dirty="0"/>
              <a:t>ended', 'everyone', 'field', 'football', 'game', 'he', 'in', 'is', 'it', 'playing', 'raining', 'running', 'started', 'the', 'towards', 'was', 'while']</a:t>
            </a:r>
          </a:p>
          <a:p>
            <a:r>
              <a:rPr kumimoji="1" lang="zh-TW" altLang="en-US" dirty="0"/>
              <a:t>步驟 </a:t>
            </a:r>
            <a:r>
              <a:rPr kumimoji="1" lang="en-US" altLang="zh-TW" dirty="0"/>
              <a:t>2</a:t>
            </a:r>
            <a:r>
              <a:rPr kumimoji="1" lang="zh-TW" altLang="en-US" dirty="0"/>
              <a:t>：對於每個句子，我們將創建一個與上面長度</a:t>
            </a:r>
            <a:r>
              <a:rPr kumimoji="1" lang="en-US" altLang="zh-TW" dirty="0"/>
              <a:t>(17)</a:t>
            </a:r>
            <a:r>
              <a:rPr kumimoji="1" lang="zh-TW" altLang="en-US" dirty="0"/>
              <a:t>相同的零數組</a:t>
            </a:r>
          </a:p>
          <a:p>
            <a:r>
              <a:rPr kumimoji="1" lang="zh-TW" altLang="en-US" dirty="0"/>
              <a:t>步驟 </a:t>
            </a:r>
            <a:r>
              <a:rPr kumimoji="1" lang="en-US" altLang="zh-TW" dirty="0"/>
              <a:t>3</a:t>
            </a:r>
            <a:r>
              <a:rPr kumimoji="1" lang="zh-TW" altLang="en-US" dirty="0"/>
              <a:t>：對於每個句子中的每個單詞，我們將計算</a:t>
            </a:r>
            <a:r>
              <a:rPr kumimoji="1" lang="en" altLang="zh-TW" dirty="0"/>
              <a:t>TF-IDF</a:t>
            </a:r>
            <a:r>
              <a:rPr kumimoji="1" lang="zh-TW" altLang="en-US" dirty="0"/>
              <a:t>值並更新該句子向量中的對應值</a:t>
            </a:r>
          </a:p>
          <a:p>
            <a:endParaRPr kumimoji="1" lang="zh-TW" altLang="en-US" dirty="0"/>
          </a:p>
          <a:p>
            <a:endParaRPr kumimoji="1" lang="zh-TW" altLang="en-US" dirty="0"/>
          </a:p>
        </p:txBody>
      </p:sp>
    </p:spTree>
    <p:extLst>
      <p:ext uri="{BB962C8B-B14F-4D97-AF65-F5344CB8AC3E}">
        <p14:creationId xmlns:p14="http://schemas.microsoft.com/office/powerpoint/2010/main" val="27375069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14D610-BA98-487F-8F44-54B09D57F8B3}"/>
              </a:ext>
            </a:extLst>
          </p:cNvPr>
          <p:cNvSpPr>
            <a:spLocks noGrp="1"/>
          </p:cNvSpPr>
          <p:nvPr>
            <p:ph type="title"/>
          </p:nvPr>
        </p:nvSpPr>
        <p:spPr/>
        <p:txBody>
          <a:bodyPr/>
          <a:lstStyle/>
          <a:p>
            <a:r>
              <a:rPr lang="en-US" altLang="zh-TW" dirty="0"/>
              <a:t>TF-IDF</a:t>
            </a:r>
            <a:endParaRPr lang="zh-TW" altLang="en-US" dirty="0"/>
          </a:p>
        </p:txBody>
      </p:sp>
      <p:sp>
        <p:nvSpPr>
          <p:cNvPr id="3" name="內容版面配置區 2">
            <a:extLst>
              <a:ext uri="{FF2B5EF4-FFF2-40B4-BE49-F238E27FC236}">
                <a16:creationId xmlns:a16="http://schemas.microsoft.com/office/drawing/2014/main" id="{728D4528-1494-4C15-B95A-65378633CCBA}"/>
              </a:ext>
            </a:extLst>
          </p:cNvPr>
          <p:cNvSpPr>
            <a:spLocks noGrp="1"/>
          </p:cNvSpPr>
          <p:nvPr>
            <p:ph idx="1"/>
          </p:nvPr>
        </p:nvSpPr>
        <p:spPr/>
        <p:txBody>
          <a:bodyPr>
            <a:normAutofit/>
          </a:bodyPr>
          <a:lstStyle/>
          <a:p>
            <a:r>
              <a:rPr lang="zh-TW" altLang="en-US" dirty="0"/>
              <a:t>以「</a:t>
            </a:r>
            <a:r>
              <a:rPr lang="en-US" altLang="zh-TW" b="1" i="1" dirty="0">
                <a:solidFill>
                  <a:srgbClr val="292929"/>
                </a:solidFill>
                <a:effectLst/>
                <a:latin typeface="source-serif-pro"/>
              </a:rPr>
              <a:t>He is playing in the field</a:t>
            </a:r>
            <a:r>
              <a:rPr lang="zh-TW" altLang="en-US" dirty="0"/>
              <a:t>」為例</a:t>
            </a:r>
            <a:endParaRPr lang="en-US" altLang="zh-TW" dirty="0"/>
          </a:p>
          <a:p>
            <a:r>
              <a:rPr lang="en-US" altLang="zh-TW" dirty="0"/>
              <a:t>he</a:t>
            </a:r>
            <a:r>
              <a:rPr lang="zh-TW" altLang="en-US" dirty="0"/>
              <a:t>的相關數值</a:t>
            </a:r>
            <a:endParaRPr lang="en-US" altLang="zh-TW" dirty="0"/>
          </a:p>
          <a:p>
            <a:pPr lvl="1"/>
            <a:r>
              <a:rPr lang="zh-TW" altLang="en-US" dirty="0"/>
              <a:t>總文本數 </a:t>
            </a:r>
            <a:r>
              <a:rPr lang="en-US" altLang="zh-TW" dirty="0"/>
              <a:t>(N): 4</a:t>
            </a:r>
          </a:p>
          <a:p>
            <a:pPr lvl="1"/>
            <a:r>
              <a:rPr lang="zh-TW" altLang="en-US" dirty="0"/>
              <a:t>該單詞出現在多少個文本中</a:t>
            </a:r>
            <a:r>
              <a:rPr lang="en-US" altLang="zh-TW" dirty="0"/>
              <a:t>(n): 2</a:t>
            </a:r>
          </a:p>
          <a:p>
            <a:pPr lvl="1"/>
            <a:r>
              <a:rPr lang="zh-TW" altLang="en-US" dirty="0"/>
              <a:t>該單詞在句中出現的次數</a:t>
            </a:r>
            <a:r>
              <a:rPr lang="en-US" altLang="zh-TW" dirty="0"/>
              <a:t>: 1 =&gt;</a:t>
            </a:r>
            <a:r>
              <a:rPr lang="zh-TW" altLang="en-US" u="sng" dirty="0"/>
              <a:t>詞頻</a:t>
            </a:r>
            <a:r>
              <a:rPr lang="en-US" altLang="zh-TW" u="sng" dirty="0"/>
              <a:t>(TF) = 1</a:t>
            </a:r>
          </a:p>
          <a:p>
            <a:pPr lvl="1"/>
            <a:r>
              <a:rPr lang="zh-TW" altLang="en-US" dirty="0"/>
              <a:t>該句子中單詞的數量</a:t>
            </a:r>
            <a:r>
              <a:rPr lang="en-US" altLang="zh-TW" dirty="0"/>
              <a:t>: 6</a:t>
            </a:r>
          </a:p>
          <a:p>
            <a:pPr lvl="1"/>
            <a:r>
              <a:rPr lang="zh-TW" altLang="en-US" u="sng" dirty="0"/>
              <a:t>逆文檔頻率</a:t>
            </a:r>
            <a:r>
              <a:rPr lang="en-US" altLang="zh-TW" u="sng" dirty="0"/>
              <a:t>(IDF) = log(N/n) = log(4/2) = log(2)</a:t>
            </a:r>
          </a:p>
          <a:p>
            <a:pPr lvl="1"/>
            <a:r>
              <a:rPr lang="en-US" altLang="zh-TW" dirty="0"/>
              <a:t>TF-IDF </a:t>
            </a:r>
            <a:r>
              <a:rPr lang="zh-TW" altLang="en-US" dirty="0"/>
              <a:t>值 </a:t>
            </a:r>
            <a:r>
              <a:rPr lang="en-US" altLang="zh-TW" dirty="0"/>
              <a:t>= 1 * log(2) = 0.69314718</a:t>
            </a:r>
          </a:p>
          <a:p>
            <a:pPr lvl="1"/>
            <a:r>
              <a:rPr lang="zh-TW" altLang="en-US" dirty="0"/>
              <a:t>也有套件的值輸出是</a:t>
            </a:r>
            <a:r>
              <a:rPr lang="en-US" altLang="zh-TW" dirty="0"/>
              <a:t>1 + log(2) = 1.69314718</a:t>
            </a:r>
          </a:p>
        </p:txBody>
      </p:sp>
    </p:spTree>
    <p:extLst>
      <p:ext uri="{BB962C8B-B14F-4D97-AF65-F5344CB8AC3E}">
        <p14:creationId xmlns:p14="http://schemas.microsoft.com/office/powerpoint/2010/main" val="23549898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51483238-0FB2-494A-7E95-A097F22B73EA}"/>
              </a:ext>
            </a:extLst>
          </p:cNvPr>
          <p:cNvSpPr>
            <a:spLocks noGrp="1"/>
          </p:cNvSpPr>
          <p:nvPr>
            <p:ph type="title"/>
          </p:nvPr>
        </p:nvSpPr>
        <p:spPr/>
        <p:txBody>
          <a:bodyPr/>
          <a:lstStyle/>
          <a:p>
            <a:br>
              <a:rPr lang="en-US" altLang="zh-TW" dirty="0"/>
            </a:br>
            <a:r>
              <a:rPr lang="en-US" altLang="zh-TW" dirty="0"/>
              <a:t>Word2Vec</a:t>
            </a:r>
            <a:endParaRPr lang="zh-TW" altLang="en-US" dirty="0"/>
          </a:p>
        </p:txBody>
      </p:sp>
      <p:sp>
        <p:nvSpPr>
          <p:cNvPr id="5" name="文字版面配置區 4">
            <a:extLst>
              <a:ext uri="{FF2B5EF4-FFF2-40B4-BE49-F238E27FC236}">
                <a16:creationId xmlns:a16="http://schemas.microsoft.com/office/drawing/2014/main" id="{6ADB1BA6-13E1-EF22-27A5-9758CC6A9E2A}"/>
              </a:ext>
            </a:extLst>
          </p:cNvPr>
          <p:cNvSpPr>
            <a:spLocks noGrp="1"/>
          </p:cNvSpPr>
          <p:nvPr>
            <p:ph type="body" idx="1"/>
          </p:nvPr>
        </p:nvSpPr>
        <p:spPr/>
        <p:txBody>
          <a:bodyPr/>
          <a:lstStyle/>
          <a:p>
            <a:r>
              <a:rPr lang="zh-TW" altLang="en-US" dirty="0"/>
              <a:t>用神經網路處理自然語言</a:t>
            </a:r>
          </a:p>
        </p:txBody>
      </p:sp>
    </p:spTree>
    <p:extLst>
      <p:ext uri="{BB962C8B-B14F-4D97-AF65-F5344CB8AC3E}">
        <p14:creationId xmlns:p14="http://schemas.microsoft.com/office/powerpoint/2010/main" val="37727066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7FADB5-2CF8-44FE-A3AE-D2A5C1C5BC29}"/>
              </a:ext>
            </a:extLst>
          </p:cNvPr>
          <p:cNvSpPr>
            <a:spLocks noGrp="1"/>
          </p:cNvSpPr>
          <p:nvPr>
            <p:ph type="title"/>
          </p:nvPr>
        </p:nvSpPr>
        <p:spPr>
          <a:xfrm>
            <a:off x="838200" y="365125"/>
            <a:ext cx="10515600" cy="1325563"/>
          </a:xfrm>
        </p:spPr>
        <p:txBody>
          <a:bodyPr>
            <a:normAutofit/>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8E059653-715E-B5D4-269A-26F29982190B}"/>
              </a:ext>
            </a:extLst>
          </p:cNvPr>
          <p:cNvSpPr>
            <a:spLocks noGrp="1"/>
          </p:cNvSpPr>
          <p:nvPr>
            <p:ph idx="1"/>
          </p:nvPr>
        </p:nvSpPr>
        <p:spPr>
          <a:xfrm>
            <a:off x="838200" y="1825625"/>
            <a:ext cx="10515600" cy="4351338"/>
          </a:xfrm>
        </p:spPr>
        <p:txBody>
          <a:bodyPr>
            <a:normAutofit fontScale="92500" lnSpcReduction="20000"/>
          </a:bodyPr>
          <a:lstStyle/>
          <a:p>
            <a:pPr>
              <a:lnSpc>
                <a:spcPct val="110000"/>
              </a:lnSpc>
            </a:pPr>
            <a:r>
              <a:rPr lang="zh-TW" altLang="en-US" dirty="0"/>
              <a:t>因為沒辦法直接把文字輸入模型進行辨識，必須要將先轉成向量的方式，模型才有辦法做數學的運算。</a:t>
            </a:r>
            <a:endParaRPr lang="en-US" altLang="zh-TW" dirty="0"/>
          </a:p>
          <a:p>
            <a:pPr lvl="1">
              <a:lnSpc>
                <a:spcPct val="110000"/>
              </a:lnSpc>
            </a:pPr>
            <a:r>
              <a:rPr lang="zh-TW" altLang="en-US" dirty="0"/>
              <a:t>最常見的方式，就是建立出一個詞彙表後，然後用 </a:t>
            </a:r>
            <a:r>
              <a:rPr lang="en-US" altLang="zh-TW" dirty="0"/>
              <a:t>one-hot </a:t>
            </a:r>
            <a:r>
              <a:rPr lang="zh-TW" altLang="en-US" dirty="0"/>
              <a:t>編碼。</a:t>
            </a:r>
            <a:endParaRPr lang="en-US" altLang="zh-TW" dirty="0"/>
          </a:p>
          <a:p>
            <a:pPr>
              <a:lnSpc>
                <a:spcPct val="110000"/>
              </a:lnSpc>
            </a:pPr>
            <a:r>
              <a:rPr lang="zh-TW" altLang="en-US" dirty="0"/>
              <a:t>假設可以從訓練文檔中抽取出 </a:t>
            </a:r>
            <a:r>
              <a:rPr lang="en-US" altLang="zh-TW" dirty="0"/>
              <a:t>10,000 </a:t>
            </a:r>
            <a:r>
              <a:rPr lang="zh-TW" altLang="en-US" dirty="0"/>
              <a:t>個不重複的單詞，組成詞彙表，</a:t>
            </a:r>
            <a:r>
              <a:rPr lang="en" altLang="zh-TW" dirty="0"/>
              <a:t> </a:t>
            </a:r>
            <a:r>
              <a:rPr lang="zh-TW" altLang="en-US" dirty="0"/>
              <a:t>並使用</a:t>
            </a:r>
            <a:r>
              <a:rPr lang="en" altLang="zh-TW" dirty="0"/>
              <a:t>one-hot </a:t>
            </a:r>
            <a:r>
              <a:rPr lang="zh-TW" altLang="en-US" dirty="0"/>
              <a:t>編碼</a:t>
            </a:r>
            <a:endParaRPr lang="en-US" altLang="zh-TW" dirty="0"/>
          </a:p>
          <a:p>
            <a:pPr>
              <a:lnSpc>
                <a:spcPct val="110000"/>
              </a:lnSpc>
            </a:pPr>
            <a:r>
              <a:rPr lang="zh-TW" altLang="en-US" dirty="0"/>
              <a:t>那每一個詞彙就會是一個用 </a:t>
            </a:r>
            <a:r>
              <a:rPr lang="en-US" altLang="zh-TW" dirty="0"/>
              <a:t>0 </a:t>
            </a:r>
            <a:r>
              <a:rPr lang="zh-TW" altLang="en-US" dirty="0"/>
              <a:t>和 </a:t>
            </a:r>
            <a:r>
              <a:rPr lang="en-US" altLang="zh-TW" dirty="0"/>
              <a:t>1 </a:t>
            </a:r>
            <a:r>
              <a:rPr lang="zh-TW" altLang="en-US" dirty="0"/>
              <a:t>兩個數字表示的 </a:t>
            </a:r>
            <a:r>
              <a:rPr lang="en-US" altLang="zh-TW" dirty="0"/>
              <a:t>10,000 </a:t>
            </a:r>
            <a:r>
              <a:rPr lang="zh-TW" altLang="en-US" dirty="0"/>
              <a:t>維的向量</a:t>
            </a:r>
            <a:endParaRPr lang="en-US" altLang="zh-TW" dirty="0"/>
          </a:p>
          <a:p>
            <a:pPr lvl="1">
              <a:lnSpc>
                <a:spcPct val="110000"/>
              </a:lnSpc>
            </a:pPr>
            <a:r>
              <a:rPr lang="zh-TW" altLang="en-US" dirty="0"/>
              <a:t>比如說 “</a:t>
            </a:r>
            <a:r>
              <a:rPr lang="en" altLang="zh-TW" dirty="0"/>
              <a:t>ants” </a:t>
            </a:r>
            <a:r>
              <a:rPr lang="zh-TW" altLang="en-US" dirty="0"/>
              <a:t>這個字在詞彙表中出現的位置是在第 </a:t>
            </a:r>
            <a:r>
              <a:rPr lang="en-US" altLang="zh-TW" dirty="0"/>
              <a:t>3 </a:t>
            </a:r>
            <a:r>
              <a:rPr lang="zh-TW" altLang="en-US" dirty="0"/>
              <a:t>個位置，將 “</a:t>
            </a:r>
            <a:r>
              <a:rPr lang="en" altLang="zh-TW" dirty="0"/>
              <a:t>ants” </a:t>
            </a:r>
            <a:r>
              <a:rPr lang="zh-TW" altLang="en-US" dirty="0"/>
              <a:t>用 </a:t>
            </a:r>
            <a:r>
              <a:rPr lang="en" altLang="zh-TW" dirty="0"/>
              <a:t>one-hot </a:t>
            </a:r>
            <a:r>
              <a:rPr lang="zh-TW" altLang="en-US" dirty="0"/>
              <a:t>向量編碼表示後，他就會是一個第三個維度為 </a:t>
            </a:r>
            <a:r>
              <a:rPr lang="en-US" altLang="zh-TW" dirty="0"/>
              <a:t>1</a:t>
            </a:r>
            <a:r>
              <a:rPr lang="zh-TW" altLang="en-US" dirty="0"/>
              <a:t>，其他維度為 </a:t>
            </a:r>
            <a:r>
              <a:rPr lang="en-US" altLang="zh-TW" dirty="0"/>
              <a:t>0 </a:t>
            </a:r>
            <a:r>
              <a:rPr lang="zh-TW" altLang="en-US" dirty="0"/>
              <a:t>的一個 </a:t>
            </a:r>
            <a:r>
              <a:rPr lang="en-US" altLang="zh-TW" dirty="0"/>
              <a:t>1 </a:t>
            </a:r>
            <a:r>
              <a:rPr lang="en" altLang="zh-TW" dirty="0"/>
              <a:t>x 10,000 </a:t>
            </a:r>
            <a:r>
              <a:rPr lang="zh-TW" altLang="en-US" dirty="0"/>
              <a:t>的向量。</a:t>
            </a:r>
            <a:endParaRPr lang="en-US" altLang="zh-TW" dirty="0"/>
          </a:p>
          <a:p>
            <a:pPr>
              <a:lnSpc>
                <a:spcPct val="110000"/>
              </a:lnSpc>
            </a:pPr>
            <a:r>
              <a:rPr lang="zh-TW" altLang="en-US" dirty="0"/>
              <a:t>而神經網路的輸出層也會是一個 </a:t>
            </a:r>
            <a:r>
              <a:rPr lang="en-US" altLang="zh-TW" dirty="0"/>
              <a:t>1 </a:t>
            </a:r>
            <a:r>
              <a:rPr lang="en" altLang="zh-TW" dirty="0"/>
              <a:t>x 10,000 </a:t>
            </a:r>
            <a:r>
              <a:rPr lang="zh-TW" altLang="en-US" dirty="0"/>
              <a:t>的向量，包含詞彙表中的每一個字詞，以及這個字詞出現的機率。</a:t>
            </a:r>
          </a:p>
        </p:txBody>
      </p:sp>
    </p:spTree>
    <p:extLst>
      <p:ext uri="{BB962C8B-B14F-4D97-AF65-F5344CB8AC3E}">
        <p14:creationId xmlns:p14="http://schemas.microsoft.com/office/powerpoint/2010/main" val="4001326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1A5D61-C392-7DF5-4C27-3C0696D38C4A}"/>
              </a:ext>
            </a:extLst>
          </p:cNvPr>
          <p:cNvSpPr>
            <a:spLocks noGrp="1"/>
          </p:cNvSpPr>
          <p:nvPr>
            <p:ph type="title"/>
          </p:nvPr>
        </p:nvSpPr>
        <p:spPr>
          <a:xfrm>
            <a:off x="838200" y="365125"/>
            <a:ext cx="10515600" cy="1325563"/>
          </a:xfrm>
        </p:spPr>
        <p:txBody>
          <a:bodyPr/>
          <a:lstStyle/>
          <a:p>
            <a:r>
              <a:rPr lang="en-US" altLang="zh-TW" dirty="0"/>
              <a:t>Word2Vec</a:t>
            </a:r>
            <a:endParaRPr lang="zh-TW" altLang="en-US" dirty="0"/>
          </a:p>
        </p:txBody>
      </p:sp>
      <p:sp>
        <p:nvSpPr>
          <p:cNvPr id="3" name="內容版面配置區 2">
            <a:extLst>
              <a:ext uri="{FF2B5EF4-FFF2-40B4-BE49-F238E27FC236}">
                <a16:creationId xmlns:a16="http://schemas.microsoft.com/office/drawing/2014/main" id="{DA2ED64C-DA8A-A955-78AE-01C19BA59A3A}"/>
              </a:ext>
            </a:extLst>
          </p:cNvPr>
          <p:cNvSpPr>
            <a:spLocks noGrp="1"/>
          </p:cNvSpPr>
          <p:nvPr>
            <p:ph idx="1"/>
          </p:nvPr>
        </p:nvSpPr>
        <p:spPr>
          <a:xfrm>
            <a:off x="838200" y="1825625"/>
            <a:ext cx="10515600" cy="4351338"/>
          </a:xfrm>
        </p:spPr>
        <p:txBody>
          <a:bodyPr>
            <a:normAutofit/>
          </a:bodyPr>
          <a:lstStyle/>
          <a:p>
            <a:r>
              <a:rPr lang="zh-TW" altLang="en-US" dirty="0"/>
              <a:t>詞嵌入</a:t>
            </a:r>
            <a:endParaRPr lang="en-US" altLang="zh-TW" dirty="0"/>
          </a:p>
          <a:p>
            <a:pPr lvl="1"/>
            <a:r>
              <a:rPr lang="en-US" altLang="zh-TW" dirty="0"/>
              <a:t>Word</a:t>
            </a:r>
            <a:r>
              <a:rPr lang="zh-TW" altLang="en-US" dirty="0"/>
              <a:t>嵌入是文檔詞彙表最常用的表示形式之一。它能夠捕獲文字中單詞的上下文、語義和句法相似性、與其他單詞的關係等。</a:t>
            </a:r>
          </a:p>
          <a:p>
            <a:pPr lvl="1"/>
            <a:r>
              <a:rPr lang="zh-TW" altLang="en-US" dirty="0"/>
              <a:t>「嵌入」是什麼？ 是一個特定單詞的向量表示形式。如何產生？更重要的是，捕捉上下文的意思是什麼。</a:t>
            </a:r>
            <a:endParaRPr lang="en-US" altLang="zh-TW" dirty="0"/>
          </a:p>
          <a:p>
            <a:r>
              <a:rPr lang="zh-TW" altLang="en-US" dirty="0"/>
              <a:t>詞向量</a:t>
            </a:r>
            <a:endParaRPr lang="en-US" altLang="zh-TW" dirty="0"/>
          </a:p>
          <a:p>
            <a:pPr lvl="1"/>
            <a:r>
              <a:rPr lang="zh-TW" altLang="en-US" dirty="0"/>
              <a:t>根據輸入的「詞的集合」計算出詞與詞之間的距離。</a:t>
            </a:r>
          </a:p>
          <a:p>
            <a:pPr lvl="1"/>
            <a:r>
              <a:rPr lang="zh-TW" altLang="en-US" dirty="0"/>
              <a:t>它將「字詞」轉換成「向量」形式，可以把對文本內容的處理簡化為向量空間中的向量運算，計算出向量空間上的相似度，來表示文本語義上的相似度。</a:t>
            </a:r>
            <a:endParaRPr lang="en-US" altLang="zh-TW" dirty="0"/>
          </a:p>
          <a:p>
            <a:pPr lvl="1"/>
            <a:r>
              <a:rPr lang="zh-TW" altLang="en-US" dirty="0"/>
              <a:t>例如：</a:t>
            </a:r>
            <a:r>
              <a:rPr lang="en" altLang="zh-TW" dirty="0"/>
              <a:t>banking = [0.286, 0.792, -0.177, 0.109, -0.542, 0.349, 0.271]</a:t>
            </a:r>
            <a:endParaRPr lang="en-US" altLang="zh-TW" dirty="0"/>
          </a:p>
        </p:txBody>
      </p:sp>
    </p:spTree>
    <p:extLst>
      <p:ext uri="{BB962C8B-B14F-4D97-AF65-F5344CB8AC3E}">
        <p14:creationId xmlns:p14="http://schemas.microsoft.com/office/powerpoint/2010/main" val="30543911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5C4F71-8F83-71EF-6636-9BF82CDFE64E}"/>
              </a:ext>
            </a:extLst>
          </p:cNvPr>
          <p:cNvSpPr>
            <a:spLocks noGrp="1"/>
          </p:cNvSpPr>
          <p:nvPr>
            <p:ph type="title"/>
          </p:nvPr>
        </p:nvSpPr>
        <p:spPr>
          <a:xfrm>
            <a:off x="838200" y="365125"/>
            <a:ext cx="10515600" cy="1325563"/>
          </a:xfrm>
        </p:spPr>
        <p:txBody>
          <a:bodyPr/>
          <a:lstStyle/>
          <a:p>
            <a:r>
              <a:rPr lang="en-US" altLang="zh-TW" dirty="0"/>
              <a:t>Word2Vec-</a:t>
            </a:r>
            <a:r>
              <a:rPr lang="zh-TW" altLang="en-US" dirty="0">
                <a:hlinkClick r:id="rId2"/>
              </a:rPr>
              <a:t>https://projector.tensorflow.org/</a:t>
            </a:r>
            <a:endParaRPr lang="zh-TW" altLang="en-US" dirty="0"/>
          </a:p>
        </p:txBody>
      </p:sp>
      <p:pic>
        <p:nvPicPr>
          <p:cNvPr id="4" name="圖片 3">
            <a:extLst>
              <a:ext uri="{FF2B5EF4-FFF2-40B4-BE49-F238E27FC236}">
                <a16:creationId xmlns:a16="http://schemas.microsoft.com/office/drawing/2014/main" id="{2D35264D-321B-9F38-C5F7-63584293725E}"/>
              </a:ext>
            </a:extLst>
          </p:cNvPr>
          <p:cNvPicPr>
            <a:picLocks noChangeAspect="1"/>
          </p:cNvPicPr>
          <p:nvPr/>
        </p:nvPicPr>
        <p:blipFill>
          <a:blip r:embed="rId3"/>
          <a:stretch>
            <a:fillRect/>
          </a:stretch>
        </p:blipFill>
        <p:spPr>
          <a:xfrm>
            <a:off x="2144565" y="1733806"/>
            <a:ext cx="8159368" cy="4759069"/>
          </a:xfrm>
          <a:prstGeom prst="rect">
            <a:avLst/>
          </a:prstGeom>
        </p:spPr>
      </p:pic>
    </p:spTree>
    <p:extLst>
      <p:ext uri="{BB962C8B-B14F-4D97-AF65-F5344CB8AC3E}">
        <p14:creationId xmlns:p14="http://schemas.microsoft.com/office/powerpoint/2010/main" val="12735314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0BB73A-9805-37C2-A415-5D939125FDE8}"/>
              </a:ext>
            </a:extLst>
          </p:cNvPr>
          <p:cNvSpPr>
            <a:spLocks noGrp="1"/>
          </p:cNvSpPr>
          <p:nvPr>
            <p:ph type="title"/>
          </p:nvPr>
        </p:nvSpPr>
        <p:spPr>
          <a:xfrm>
            <a:off x="838200" y="365125"/>
            <a:ext cx="10515600" cy="1325563"/>
          </a:xfrm>
        </p:spPr>
        <p:txBody>
          <a:bodyPr/>
          <a:lstStyle/>
          <a:p>
            <a:r>
              <a:rPr lang="en-US" altLang="zh-TW" dirty="0"/>
              <a:t>Word2Vec</a:t>
            </a:r>
            <a:endParaRPr lang="zh-TW" altLang="en-US" dirty="0"/>
          </a:p>
        </p:txBody>
      </p:sp>
      <p:sp>
        <p:nvSpPr>
          <p:cNvPr id="3" name="內容版面配置區 2">
            <a:extLst>
              <a:ext uri="{FF2B5EF4-FFF2-40B4-BE49-F238E27FC236}">
                <a16:creationId xmlns:a16="http://schemas.microsoft.com/office/drawing/2014/main" id="{4B116F7E-1458-9D4E-9A62-BF8DC80BD938}"/>
              </a:ext>
            </a:extLst>
          </p:cNvPr>
          <p:cNvSpPr>
            <a:spLocks noGrp="1"/>
          </p:cNvSpPr>
          <p:nvPr>
            <p:ph idx="1"/>
          </p:nvPr>
        </p:nvSpPr>
        <p:spPr>
          <a:xfrm>
            <a:off x="838200" y="1825625"/>
            <a:ext cx="10515600" cy="4351338"/>
          </a:xfrm>
        </p:spPr>
        <p:txBody>
          <a:bodyPr/>
          <a:lstStyle/>
          <a:p>
            <a:r>
              <a:rPr lang="en" altLang="zh-TW" dirty="0"/>
              <a:t>word2vec </a:t>
            </a:r>
            <a:r>
              <a:rPr lang="zh-TW" altLang="en-US" dirty="0"/>
              <a:t>計算的是餘弦值 </a:t>
            </a:r>
            <a:r>
              <a:rPr lang="en-US" altLang="zh-TW" dirty="0"/>
              <a:t>(</a:t>
            </a:r>
            <a:r>
              <a:rPr lang="en" altLang="zh-TW" dirty="0"/>
              <a:t>cosine)</a:t>
            </a:r>
            <a:r>
              <a:rPr lang="zh-TW" altLang="en" dirty="0"/>
              <a:t>，</a:t>
            </a:r>
            <a:r>
              <a:rPr lang="zh-TW" altLang="en-US" dirty="0"/>
              <a:t>距離範圍為 </a:t>
            </a:r>
            <a:r>
              <a:rPr lang="en-US" altLang="zh-TW" dirty="0"/>
              <a:t>0–1 </a:t>
            </a:r>
            <a:r>
              <a:rPr lang="zh-TW" altLang="en-US" dirty="0"/>
              <a:t>之間，值越大代表兩個詞關聯度越高。</a:t>
            </a:r>
          </a:p>
          <a:p>
            <a:r>
              <a:rPr lang="zh-TW" altLang="en-US" dirty="0"/>
              <a:t>詞向量：用 </a:t>
            </a:r>
            <a:r>
              <a:rPr lang="en" altLang="zh-TW" dirty="0"/>
              <a:t>Distributed Representation </a:t>
            </a:r>
            <a:r>
              <a:rPr lang="zh-TW" altLang="en-US" dirty="0"/>
              <a:t>表示詞，通常也被稱為「</a:t>
            </a:r>
            <a:r>
              <a:rPr lang="en" altLang="zh-TW" dirty="0"/>
              <a:t>Word Representation</a:t>
            </a:r>
            <a:r>
              <a:rPr lang="zh-TW" altLang="en" dirty="0"/>
              <a:t>」</a:t>
            </a:r>
            <a:r>
              <a:rPr lang="zh-TW" altLang="en-US" dirty="0"/>
              <a:t>或「</a:t>
            </a:r>
            <a:r>
              <a:rPr lang="en" altLang="zh-TW" dirty="0"/>
              <a:t>Word Embedding</a:t>
            </a:r>
            <a:r>
              <a:rPr lang="zh-TW" altLang="en" dirty="0"/>
              <a:t>」。</a:t>
            </a:r>
          </a:p>
          <a:p>
            <a:r>
              <a:rPr lang="zh-TW" altLang="en-US" dirty="0"/>
              <a:t>簡言之：詞向量表示法讓相關或者</a:t>
            </a:r>
            <a:br>
              <a:rPr lang="en-US" altLang="zh-TW" dirty="0"/>
            </a:br>
            <a:r>
              <a:rPr lang="zh-TW" altLang="en-US" dirty="0"/>
              <a:t>相似的詞，在距離上更接近。</a:t>
            </a:r>
            <a:endParaRPr lang="en-US" altLang="zh-TW" dirty="0"/>
          </a:p>
          <a:p>
            <a:r>
              <a:rPr lang="zh-TW" altLang="en-US" dirty="0"/>
              <a:t>存在「降維</a:t>
            </a:r>
            <a:r>
              <a:rPr lang="en-US" altLang="zh-TW" dirty="0"/>
              <a:t>(</a:t>
            </a:r>
            <a:r>
              <a:rPr lang="en" altLang="zh-TW" dirty="0"/>
              <a:t>Reduce Dimension)</a:t>
            </a:r>
            <a:r>
              <a:rPr lang="zh-TW" altLang="en" dirty="0"/>
              <a:t>」</a:t>
            </a:r>
            <a:r>
              <a:rPr lang="zh-TW" altLang="en-US" dirty="0"/>
              <a:t>及</a:t>
            </a:r>
            <a:br>
              <a:rPr lang="en-US" altLang="zh-TW" dirty="0"/>
            </a:br>
            <a:r>
              <a:rPr lang="zh-TW" altLang="en" dirty="0"/>
              <a:t>「</a:t>
            </a:r>
            <a:r>
              <a:rPr lang="zh-TW" altLang="en-US" dirty="0"/>
              <a:t>詞彙與詞彙間有語意的存在」的優點</a:t>
            </a:r>
          </a:p>
        </p:txBody>
      </p:sp>
      <p:pic>
        <p:nvPicPr>
          <p:cNvPr id="2050" name="Picture 2">
            <a:extLst>
              <a:ext uri="{FF2B5EF4-FFF2-40B4-BE49-F238E27FC236}">
                <a16:creationId xmlns:a16="http://schemas.microsoft.com/office/drawing/2014/main" id="{9D437450-7291-C7E2-5FBD-9C2EA1DD06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7929" y="3574574"/>
            <a:ext cx="3818965" cy="2215000"/>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30B1CE1D-9E3C-FFD6-7F67-C8D6D396B922}"/>
              </a:ext>
            </a:extLst>
          </p:cNvPr>
          <p:cNvSpPr txBox="1"/>
          <p:nvPr/>
        </p:nvSpPr>
        <p:spPr>
          <a:xfrm>
            <a:off x="838200" y="5701168"/>
            <a:ext cx="9672021" cy="923330"/>
          </a:xfrm>
          <a:prstGeom prst="rect">
            <a:avLst/>
          </a:prstGeom>
          <a:noFill/>
        </p:spPr>
        <p:txBody>
          <a:bodyPr wrap="square">
            <a:spAutoFit/>
          </a:bodyPr>
          <a:lstStyle/>
          <a:p>
            <a:r>
              <a:rPr lang="zh-TW" altLang="en-US" dirty="0"/>
              <a:t>https://medium.com/pyladies-taiwan/%E8%87%AA%E7%84%B6%E8%AA%9E%E8%A8%80%E8%99%95%E7%90%86%E5%85%A5%E9%96%80-word2vec%E5%B0%8F%E5%AF%A6%E4%BD%9C-f8832d9677c8</a:t>
            </a:r>
          </a:p>
        </p:txBody>
      </p:sp>
      <p:pic>
        <p:nvPicPr>
          <p:cNvPr id="2052" name="Picture 4">
            <a:extLst>
              <a:ext uri="{FF2B5EF4-FFF2-40B4-BE49-F238E27FC236}">
                <a16:creationId xmlns:a16="http://schemas.microsoft.com/office/drawing/2014/main" id="{F7927F0D-15D5-42C8-9EB3-1A5957252E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570" y="241004"/>
            <a:ext cx="7424324" cy="1343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17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additive="base">
                                        <p:cTn id="7" dur="500" fill="hold"/>
                                        <p:tgtEl>
                                          <p:spTgt spid="2052"/>
                                        </p:tgtEl>
                                        <p:attrNameLst>
                                          <p:attrName>ppt_x</p:attrName>
                                        </p:attrNameLst>
                                      </p:cBhvr>
                                      <p:tavLst>
                                        <p:tav tm="0">
                                          <p:val>
                                            <p:strVal val="#ppt_x"/>
                                          </p:val>
                                        </p:tav>
                                        <p:tav tm="100000">
                                          <p:val>
                                            <p:strVal val="#ppt_x"/>
                                          </p:val>
                                        </p:tav>
                                      </p:tavLst>
                                    </p:anim>
                                    <p:anim calcmode="lin" valueType="num">
                                      <p:cBhvr additive="base">
                                        <p:cTn id="8"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A9FFAF-CF3D-9FAB-D832-B9B873398A84}"/>
              </a:ext>
            </a:extLst>
          </p:cNvPr>
          <p:cNvSpPr>
            <a:spLocks noGrp="1"/>
          </p:cNvSpPr>
          <p:nvPr>
            <p:ph type="title"/>
          </p:nvPr>
        </p:nvSpPr>
        <p:spPr>
          <a:xfrm>
            <a:off x="838200" y="365125"/>
            <a:ext cx="10515600" cy="1325563"/>
          </a:xfrm>
        </p:spPr>
        <p:txBody>
          <a:bodyPr/>
          <a:lstStyle/>
          <a:p>
            <a:r>
              <a:rPr lang="zh-TW" altLang="en-US" dirty="0"/>
              <a:t>用神經網路處理自然語言</a:t>
            </a:r>
            <a:br>
              <a:rPr lang="zh-TW" altLang="en-US" dirty="0"/>
            </a:br>
            <a:r>
              <a:rPr lang="en-US" altLang="zh-TW" dirty="0"/>
              <a:t>(</a:t>
            </a:r>
            <a:r>
              <a:rPr lang="en" altLang="zh-TW" dirty="0"/>
              <a:t>Word Vector</a:t>
            </a:r>
            <a:r>
              <a:rPr lang="en-US" altLang="zh-TW" dirty="0"/>
              <a:t>,</a:t>
            </a:r>
            <a:r>
              <a:rPr lang="zh-TW" altLang="en-US" dirty="0"/>
              <a:t> </a:t>
            </a:r>
            <a:r>
              <a:rPr lang="en-US" altLang="zh-TW" dirty="0"/>
              <a:t>word2vec</a:t>
            </a:r>
            <a:r>
              <a:rPr lang="en" altLang="zh-TW" dirty="0"/>
              <a:t>)</a:t>
            </a:r>
            <a:endParaRPr lang="zh-TW" altLang="en-US" dirty="0"/>
          </a:p>
        </p:txBody>
      </p:sp>
      <p:sp>
        <p:nvSpPr>
          <p:cNvPr id="3" name="內容版面配置區 2">
            <a:extLst>
              <a:ext uri="{FF2B5EF4-FFF2-40B4-BE49-F238E27FC236}">
                <a16:creationId xmlns:a16="http://schemas.microsoft.com/office/drawing/2014/main" id="{ACCF5BB3-7E67-964B-C172-E19C6992025C}"/>
              </a:ext>
            </a:extLst>
          </p:cNvPr>
          <p:cNvSpPr>
            <a:spLocks noGrp="1"/>
          </p:cNvSpPr>
          <p:nvPr>
            <p:ph idx="1"/>
          </p:nvPr>
        </p:nvSpPr>
        <p:spPr>
          <a:xfrm>
            <a:off x="838200" y="1825625"/>
            <a:ext cx="10515600" cy="4351338"/>
          </a:xfrm>
        </p:spPr>
        <p:txBody>
          <a:bodyPr/>
          <a:lstStyle/>
          <a:p>
            <a:r>
              <a:rPr lang="zh-TW" altLang="en-US" dirty="0"/>
              <a:t>一個現在最常用的編碼方式</a:t>
            </a:r>
            <a:endParaRPr lang="en-US" altLang="zh-TW" dirty="0"/>
          </a:p>
          <a:p>
            <a:r>
              <a:rPr lang="zh-TW" altLang="en-US" dirty="0"/>
              <a:t>使用一個向量來表示每一個詞</a:t>
            </a:r>
            <a:r>
              <a:rPr lang="en-US" altLang="zh-TW" dirty="0"/>
              <a:t>(</a:t>
            </a:r>
            <a:r>
              <a:rPr lang="en" altLang="zh-TW" dirty="0"/>
              <a:t>vector representation)</a:t>
            </a:r>
            <a:r>
              <a:rPr lang="zh-TW" altLang="en" dirty="0"/>
              <a:t>，</a:t>
            </a:r>
            <a:r>
              <a:rPr lang="zh-TW" altLang="en-US" dirty="0"/>
              <a:t>如此一來，就能把一段由許多詞組成的文句，轉換成一個個詞向量來表示，並把這樣數值化的資料，送到模型裡做後續的應用。</a:t>
            </a:r>
          </a:p>
          <a:p>
            <a:r>
              <a:rPr lang="zh-TW" altLang="en-US" dirty="0"/>
              <a:t>一組好的詞向量，會使意思相似的詞在向量空間上比較靠近彼此，甚至詞義上的關聯可以用詞向量在空間中的關係來表示</a:t>
            </a:r>
          </a:p>
        </p:txBody>
      </p:sp>
      <p:pic>
        <p:nvPicPr>
          <p:cNvPr id="4" name="Picture 2">
            <a:extLst>
              <a:ext uri="{FF2B5EF4-FFF2-40B4-BE49-F238E27FC236}">
                <a16:creationId xmlns:a16="http://schemas.microsoft.com/office/drawing/2014/main" id="{C5C27DC3-31A4-0047-3057-791DD219A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9684" y="4439920"/>
            <a:ext cx="6907245" cy="2418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3122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474D7C-ACE2-881E-2074-2AE792A620B1}"/>
              </a:ext>
            </a:extLst>
          </p:cNvPr>
          <p:cNvSpPr>
            <a:spLocks noGrp="1"/>
          </p:cNvSpPr>
          <p:nvPr>
            <p:ph type="title"/>
          </p:nvPr>
        </p:nvSpPr>
        <p:spPr>
          <a:xfrm>
            <a:off x="838200" y="365125"/>
            <a:ext cx="10515600" cy="1325563"/>
          </a:xfrm>
        </p:spPr>
        <p:txBody>
          <a:bodyPr>
            <a:normAutofit/>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96B62C32-78D9-580A-4600-5F272DE31E29}"/>
              </a:ext>
            </a:extLst>
          </p:cNvPr>
          <p:cNvSpPr>
            <a:spLocks noGrp="1"/>
          </p:cNvSpPr>
          <p:nvPr>
            <p:ph idx="1"/>
          </p:nvPr>
        </p:nvSpPr>
        <p:spPr>
          <a:xfrm>
            <a:off x="838200" y="1825625"/>
            <a:ext cx="10515600" cy="4351338"/>
          </a:xfrm>
        </p:spPr>
        <p:txBody>
          <a:bodyPr/>
          <a:lstStyle/>
          <a:p>
            <a:r>
              <a:rPr lang="en-US" altLang="zh-TW" dirty="0"/>
              <a:t>Word2Vec</a:t>
            </a:r>
            <a:r>
              <a:rPr lang="zh-TW" altLang="en-US" dirty="0"/>
              <a:t>：由</a:t>
            </a:r>
            <a:r>
              <a:rPr lang="en" altLang="zh-TW" dirty="0"/>
              <a:t>Google</a:t>
            </a:r>
            <a:r>
              <a:rPr lang="zh-TW" altLang="en-US" dirty="0"/>
              <a:t>的</a:t>
            </a:r>
            <a:r>
              <a:rPr lang="en" altLang="zh-TW" dirty="0"/>
              <a:t>Tomas </a:t>
            </a:r>
            <a:r>
              <a:rPr lang="en" altLang="zh-TW" dirty="0" err="1"/>
              <a:t>Mikolov</a:t>
            </a:r>
            <a:r>
              <a:rPr lang="zh-TW" altLang="en-US" dirty="0"/>
              <a:t>研究團隊所創造。</a:t>
            </a:r>
            <a:endParaRPr lang="en-US" altLang="zh-TW" dirty="0"/>
          </a:p>
          <a:p>
            <a:pPr lvl="1"/>
            <a:r>
              <a:rPr lang="en" altLang="zh-TW" dirty="0">
                <a:hlinkClick r:id="rId2"/>
              </a:rPr>
              <a:t>https://code.google.com/archive/p/word2vec/</a:t>
            </a:r>
            <a:endParaRPr lang="en" altLang="zh-TW" dirty="0"/>
          </a:p>
          <a:p>
            <a:r>
              <a:rPr lang="en" altLang="zh-TW" dirty="0"/>
              <a:t>Word2Vec </a:t>
            </a:r>
            <a:r>
              <a:rPr lang="zh-TW" altLang="en-US" dirty="0"/>
              <a:t>模型中，主要有 </a:t>
            </a:r>
            <a:br>
              <a:rPr lang="en-US" altLang="zh-TW" dirty="0"/>
            </a:br>
            <a:r>
              <a:rPr lang="en" altLang="zh-TW" dirty="0"/>
              <a:t>CBOW </a:t>
            </a:r>
            <a:r>
              <a:rPr lang="zh-TW" altLang="en-US" dirty="0"/>
              <a:t>與 </a:t>
            </a:r>
            <a:r>
              <a:rPr lang="en" altLang="zh-TW" dirty="0"/>
              <a:t>Skip-gram </a:t>
            </a:r>
            <a:r>
              <a:rPr lang="zh-TW" altLang="en-US" dirty="0"/>
              <a:t>兩種模型。</a:t>
            </a:r>
            <a:endParaRPr lang="en-US" altLang="zh-TW" dirty="0"/>
          </a:p>
          <a:p>
            <a:r>
              <a:rPr lang="en" altLang="zh-TW" dirty="0"/>
              <a:t>Skip-gram </a:t>
            </a:r>
            <a:r>
              <a:rPr lang="zh-TW" altLang="en-US" dirty="0"/>
              <a:t>是給定輸入字詞後，</a:t>
            </a:r>
            <a:br>
              <a:rPr lang="en-US" altLang="zh-TW" dirty="0"/>
            </a:br>
            <a:r>
              <a:rPr lang="zh-TW" altLang="en-US" dirty="0"/>
              <a:t>來預測上下文</a:t>
            </a:r>
            <a:endParaRPr lang="en-US" altLang="zh-TW" dirty="0"/>
          </a:p>
          <a:p>
            <a:r>
              <a:rPr lang="en" altLang="zh-TW" dirty="0"/>
              <a:t>CBOW </a:t>
            </a:r>
            <a:r>
              <a:rPr lang="en-US" altLang="zh-TW" dirty="0"/>
              <a:t>(Continuous Bag-of-</a:t>
            </a:r>
            <a:br>
              <a:rPr lang="en-US" altLang="zh-TW" dirty="0"/>
            </a:br>
            <a:r>
              <a:rPr lang="en-US" altLang="zh-TW" dirty="0"/>
              <a:t>Words)</a:t>
            </a:r>
            <a:r>
              <a:rPr lang="zh-TW" altLang="en-US" dirty="0"/>
              <a:t> 則是給定上下文，</a:t>
            </a:r>
            <a:br>
              <a:rPr lang="en-US" altLang="zh-TW" dirty="0"/>
            </a:br>
            <a:r>
              <a:rPr lang="zh-TW" altLang="en-US" dirty="0"/>
              <a:t>來預測輸入的字詞</a:t>
            </a:r>
            <a:endParaRPr lang="en-US" altLang="zh-TW" dirty="0"/>
          </a:p>
        </p:txBody>
      </p:sp>
      <p:pic>
        <p:nvPicPr>
          <p:cNvPr id="4" name="Picture 2">
            <a:extLst>
              <a:ext uri="{FF2B5EF4-FFF2-40B4-BE49-F238E27FC236}">
                <a16:creationId xmlns:a16="http://schemas.microsoft.com/office/drawing/2014/main" id="{2B1196E0-6E08-7715-F123-7E408963D9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0350"/>
          <a:stretch/>
        </p:blipFill>
        <p:spPr bwMode="auto">
          <a:xfrm>
            <a:off x="6364155" y="3256317"/>
            <a:ext cx="5688893" cy="305558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0908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14DC5B-1D10-997F-7179-C77A8ACDF3A9}"/>
              </a:ext>
            </a:extLst>
          </p:cNvPr>
          <p:cNvSpPr>
            <a:spLocks noGrp="1"/>
          </p:cNvSpPr>
          <p:nvPr>
            <p:ph type="title"/>
          </p:nvPr>
        </p:nvSpPr>
        <p:spPr>
          <a:xfrm>
            <a:off x="838200" y="365125"/>
            <a:ext cx="10515600" cy="1325563"/>
          </a:xfrm>
        </p:spPr>
        <p:txBody>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A7194428-CBE7-23FA-EC53-1DB72E051167}"/>
              </a:ext>
            </a:extLst>
          </p:cNvPr>
          <p:cNvSpPr>
            <a:spLocks noGrp="1"/>
          </p:cNvSpPr>
          <p:nvPr>
            <p:ph idx="1"/>
          </p:nvPr>
        </p:nvSpPr>
        <p:spPr>
          <a:xfrm>
            <a:off x="838200" y="1825625"/>
            <a:ext cx="3422780" cy="4351338"/>
          </a:xfrm>
        </p:spPr>
        <p:txBody>
          <a:bodyPr/>
          <a:lstStyle/>
          <a:p>
            <a:r>
              <a:rPr lang="en-US" altLang="zh-TW" dirty="0"/>
              <a:t>Skip-gram</a:t>
            </a:r>
            <a:r>
              <a:rPr lang="zh-TW" altLang="en-US" dirty="0"/>
              <a:t>例子</a:t>
            </a:r>
            <a:endParaRPr lang="en-US" altLang="zh-TW" dirty="0"/>
          </a:p>
          <a:p>
            <a:pPr lvl="1"/>
            <a:r>
              <a:rPr lang="en-US" altLang="zh-TW" dirty="0"/>
              <a:t>Window size = 2</a:t>
            </a:r>
          </a:p>
          <a:p>
            <a:r>
              <a:rPr lang="en-US" altLang="zh-TW" dirty="0"/>
              <a:t>Skip-gram from the scratch:</a:t>
            </a:r>
          </a:p>
          <a:p>
            <a:pPr lvl="1"/>
            <a:r>
              <a:rPr kumimoji="1" lang="en-US" altLang="zh-TW" dirty="0">
                <a:hlinkClick r:id="rId2"/>
              </a:rPr>
              <a:t>https://colab.research.google.com/drive/1jfHbXHgoorLpjUsjejtpdo6Kg3BWbXAx?usp=sharing</a:t>
            </a:r>
            <a:r>
              <a:rPr kumimoji="1" lang="en-US" altLang="zh-TW" dirty="0"/>
              <a:t> </a:t>
            </a:r>
          </a:p>
        </p:txBody>
      </p:sp>
      <p:pic>
        <p:nvPicPr>
          <p:cNvPr id="1026" name="Picture 2" descr="Training Data">
            <a:extLst>
              <a:ext uri="{FF2B5EF4-FFF2-40B4-BE49-F238E27FC236}">
                <a16:creationId xmlns:a16="http://schemas.microsoft.com/office/drawing/2014/main" id="{983AB27A-A71F-A71E-86C0-D45F4EFB8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7000" y="1825625"/>
            <a:ext cx="7398591" cy="441744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057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ifference between skip-gram and cbow - word2vec">
            <a:extLst>
              <a:ext uri="{FF2B5EF4-FFF2-40B4-BE49-F238E27FC236}">
                <a16:creationId xmlns:a16="http://schemas.microsoft.com/office/drawing/2014/main" id="{4172DD9B-B919-43B8-901E-8CBA89E46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1846" y="2093654"/>
            <a:ext cx="6567773" cy="345064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EA6AFAFF-66EF-4AD2-9118-10A3D37D8D00}"/>
              </a:ext>
            </a:extLst>
          </p:cNvPr>
          <p:cNvSpPr>
            <a:spLocks noGrp="1"/>
          </p:cNvSpPr>
          <p:nvPr>
            <p:ph type="title"/>
          </p:nvPr>
        </p:nvSpPr>
        <p:spPr/>
        <p:txBody>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D7AA2A8E-E237-4D1A-A0CA-E1CD0ED1F290}"/>
              </a:ext>
            </a:extLst>
          </p:cNvPr>
          <p:cNvSpPr>
            <a:spLocks noGrp="1"/>
          </p:cNvSpPr>
          <p:nvPr>
            <p:ph idx="1"/>
          </p:nvPr>
        </p:nvSpPr>
        <p:spPr>
          <a:xfrm>
            <a:off x="838199" y="1825625"/>
            <a:ext cx="4492691" cy="4861314"/>
          </a:xfrm>
        </p:spPr>
        <p:txBody>
          <a:bodyPr>
            <a:normAutofit lnSpcReduction="10000"/>
          </a:bodyPr>
          <a:lstStyle/>
          <a:p>
            <a:pPr>
              <a:lnSpc>
                <a:spcPct val="120000"/>
              </a:lnSpc>
            </a:pPr>
            <a:r>
              <a:rPr lang="en-US" altLang="zh-TW" sz="1400" dirty="0"/>
              <a:t>CBOW: </a:t>
            </a:r>
            <a:r>
              <a:rPr lang="zh-TW" altLang="en-US" sz="1400" dirty="0"/>
              <a:t>假設</a:t>
            </a:r>
            <a:r>
              <a:rPr lang="en-US" altLang="zh-TW" sz="1400" b="1" i="1" dirty="0">
                <a:solidFill>
                  <a:srgbClr val="242424"/>
                </a:solidFill>
                <a:effectLst/>
                <a:latin typeface="source-serif-pro"/>
              </a:rPr>
              <a:t>Sentence </a:t>
            </a:r>
            <a:r>
              <a:rPr lang="en-US" altLang="zh-TW" sz="1400" b="0" i="1" dirty="0">
                <a:solidFill>
                  <a:srgbClr val="242424"/>
                </a:solidFill>
                <a:effectLst/>
                <a:latin typeface="source-serif-pro"/>
              </a:rPr>
              <a:t>: “ the cat sat on the mat ”</a:t>
            </a:r>
            <a:endParaRPr lang="en-US" altLang="zh-TW" sz="1400" dirty="0"/>
          </a:p>
          <a:p>
            <a:pPr>
              <a:lnSpc>
                <a:spcPct val="120000"/>
              </a:lnSpc>
            </a:pPr>
            <a:r>
              <a:rPr lang="zh-TW" altLang="en-US" sz="1400" dirty="0"/>
              <a:t>只有五個單字：</a:t>
            </a:r>
            <a:r>
              <a:rPr lang="en-US" altLang="zh-TW" sz="1400" dirty="0"/>
              <a:t>[“the”</a:t>
            </a:r>
            <a:r>
              <a:rPr lang="zh-TW" altLang="en-US" sz="1400" dirty="0"/>
              <a:t>、“</a:t>
            </a:r>
            <a:r>
              <a:rPr lang="en-US" altLang="zh-TW" sz="1400" dirty="0"/>
              <a:t>cat”</a:t>
            </a:r>
            <a:r>
              <a:rPr lang="zh-TW" altLang="en-US" sz="1400" dirty="0"/>
              <a:t>、“</a:t>
            </a:r>
            <a:r>
              <a:rPr lang="en-US" altLang="zh-TW" sz="1400" dirty="0"/>
              <a:t>sat”</a:t>
            </a:r>
            <a:r>
              <a:rPr lang="zh-TW" altLang="en-US" sz="1400" dirty="0"/>
              <a:t>、“</a:t>
            </a:r>
            <a:r>
              <a:rPr lang="en-US" altLang="zh-TW" sz="1400" dirty="0"/>
              <a:t>on”</a:t>
            </a:r>
            <a:r>
              <a:rPr lang="zh-TW" altLang="en-US" sz="1400" dirty="0"/>
              <a:t>、“</a:t>
            </a:r>
            <a:r>
              <a:rPr lang="en-US" altLang="zh-TW" sz="1400" dirty="0"/>
              <a:t>mat”]</a:t>
            </a:r>
            <a:r>
              <a:rPr lang="zh-TW" altLang="en-US" sz="1400" dirty="0"/>
              <a:t>。</a:t>
            </a:r>
            <a:endParaRPr lang="en-US" altLang="zh-TW" sz="1400" dirty="0"/>
          </a:p>
          <a:p>
            <a:pPr>
              <a:lnSpc>
                <a:spcPct val="120000"/>
              </a:lnSpc>
            </a:pPr>
            <a:r>
              <a:rPr lang="zh-TW" altLang="en-US" sz="1400" dirty="0"/>
              <a:t>“</a:t>
            </a:r>
            <a:r>
              <a:rPr lang="en-US" altLang="zh-TW" sz="1400" dirty="0"/>
              <a:t>sat”</a:t>
            </a:r>
            <a:r>
              <a:rPr lang="zh-TW" altLang="en-US" sz="1400" dirty="0"/>
              <a:t>上下文單字的</a:t>
            </a:r>
            <a:r>
              <a:rPr lang="en-US" altLang="zh-TW" sz="1400" dirty="0"/>
              <a:t>one-hot</a:t>
            </a:r>
            <a:r>
              <a:rPr lang="zh-TW" altLang="en-US" sz="1400" dirty="0"/>
              <a:t>編碼如下：</a:t>
            </a:r>
          </a:p>
          <a:p>
            <a:pPr lvl="1">
              <a:lnSpc>
                <a:spcPct val="120000"/>
              </a:lnSpc>
            </a:pPr>
            <a:r>
              <a:rPr lang="zh-TW" altLang="en-US" sz="1200" dirty="0"/>
              <a:t>「</a:t>
            </a:r>
            <a:r>
              <a:rPr lang="en-US" altLang="zh-TW" sz="1200" dirty="0"/>
              <a:t>the</a:t>
            </a:r>
            <a:r>
              <a:rPr lang="zh-TW" altLang="en-US" sz="1200" dirty="0"/>
              <a:t>」：</a:t>
            </a:r>
            <a:r>
              <a:rPr lang="en-US" altLang="zh-TW" sz="1200" dirty="0"/>
              <a:t>[1,0,0,0,0]</a:t>
            </a:r>
          </a:p>
          <a:p>
            <a:pPr lvl="1">
              <a:lnSpc>
                <a:spcPct val="120000"/>
              </a:lnSpc>
            </a:pPr>
            <a:r>
              <a:rPr lang="zh-TW" altLang="en-US" sz="1200" dirty="0"/>
              <a:t>「</a:t>
            </a:r>
            <a:r>
              <a:rPr lang="en-US" altLang="zh-TW" sz="1200" dirty="0"/>
              <a:t>cat</a:t>
            </a:r>
            <a:r>
              <a:rPr lang="zh-TW" altLang="en-US" sz="1200" dirty="0"/>
              <a:t>」</a:t>
            </a:r>
            <a:r>
              <a:rPr lang="en-US" altLang="zh-TW" sz="1200" dirty="0"/>
              <a:t>: [0, 1, 0, 0, 0]</a:t>
            </a:r>
          </a:p>
          <a:p>
            <a:pPr lvl="1">
              <a:lnSpc>
                <a:spcPct val="120000"/>
              </a:lnSpc>
            </a:pPr>
            <a:r>
              <a:rPr lang="zh-TW" altLang="en-US" sz="1200" dirty="0"/>
              <a:t>「</a:t>
            </a:r>
            <a:r>
              <a:rPr lang="en-US" altLang="zh-TW" sz="1200" dirty="0"/>
              <a:t>on</a:t>
            </a:r>
            <a:r>
              <a:rPr lang="zh-TW" altLang="en-US" sz="1200" dirty="0"/>
              <a:t>」</a:t>
            </a:r>
            <a:r>
              <a:rPr lang="en-US" altLang="zh-TW" sz="1200" dirty="0"/>
              <a:t>: [0, 0, 0, 1, 0]</a:t>
            </a:r>
          </a:p>
          <a:p>
            <a:pPr>
              <a:lnSpc>
                <a:spcPct val="120000"/>
              </a:lnSpc>
            </a:pPr>
            <a:r>
              <a:rPr lang="zh-TW" altLang="en-US" sz="1400" dirty="0"/>
              <a:t>然後對這些 </a:t>
            </a:r>
            <a:r>
              <a:rPr lang="en-US" altLang="zh-TW" sz="1400" dirty="0"/>
              <a:t>one-hot </a:t>
            </a:r>
            <a:r>
              <a:rPr lang="zh-TW" altLang="en-US" sz="1400" dirty="0"/>
              <a:t>編碼向量進行平均或求和，以建立上下文單字的單一向量表示。</a:t>
            </a:r>
          </a:p>
          <a:p>
            <a:pPr lvl="1">
              <a:lnSpc>
                <a:spcPct val="120000"/>
              </a:lnSpc>
            </a:pPr>
            <a:r>
              <a:rPr lang="zh-TW" altLang="en-US" sz="1200" dirty="0"/>
              <a:t>聚合上下文向量 </a:t>
            </a:r>
            <a:r>
              <a:rPr lang="en-US" altLang="zh-TW" sz="1200" dirty="0"/>
              <a:t>= [1, 1, 0, 1, 0]</a:t>
            </a:r>
          </a:p>
          <a:p>
            <a:pPr>
              <a:lnSpc>
                <a:spcPct val="120000"/>
              </a:lnSpc>
            </a:pPr>
            <a:r>
              <a:rPr lang="zh-TW" altLang="en-US" sz="1400" dirty="0"/>
              <a:t>經網路架構</a:t>
            </a:r>
          </a:p>
          <a:p>
            <a:pPr lvl="1">
              <a:lnSpc>
                <a:spcPct val="120000"/>
              </a:lnSpc>
            </a:pPr>
            <a:r>
              <a:rPr lang="en-US" altLang="zh-TW" sz="1200" dirty="0"/>
              <a:t>CBOW </a:t>
            </a:r>
            <a:r>
              <a:rPr lang="zh-TW" altLang="en-US" sz="1200" dirty="0"/>
              <a:t>使用具有單一隱藏層的淺層神經網路。</a:t>
            </a:r>
          </a:p>
          <a:p>
            <a:pPr lvl="1">
              <a:lnSpc>
                <a:spcPct val="120000"/>
              </a:lnSpc>
            </a:pPr>
            <a:r>
              <a:rPr lang="zh-TW" altLang="en-US" sz="1200" dirty="0"/>
              <a:t>輸入層由聚合的上下文向量組成，表示上下文單字。</a:t>
            </a:r>
          </a:p>
          <a:p>
            <a:pPr lvl="1">
              <a:lnSpc>
                <a:spcPct val="120000"/>
              </a:lnSpc>
            </a:pPr>
            <a:r>
              <a:rPr lang="zh-TW" altLang="en-US" sz="1200" dirty="0"/>
              <a:t>隱藏層包含一組神經元（隱藏單元），輸出層針對詞彙表中的每個單字都有一個神經元。</a:t>
            </a:r>
          </a:p>
          <a:p>
            <a:pPr lvl="1">
              <a:lnSpc>
                <a:spcPct val="120000"/>
              </a:lnSpc>
            </a:pPr>
            <a:r>
              <a:rPr lang="zh-TW" altLang="en-US" sz="1200" dirty="0"/>
              <a:t>此模型透過在訓練期間調整輸入層和隱藏層之間的權重來學習預測目標字。</a:t>
            </a:r>
          </a:p>
        </p:txBody>
      </p:sp>
      <p:sp>
        <p:nvSpPr>
          <p:cNvPr id="6" name="文字方塊 5">
            <a:extLst>
              <a:ext uri="{FF2B5EF4-FFF2-40B4-BE49-F238E27FC236}">
                <a16:creationId xmlns:a16="http://schemas.microsoft.com/office/drawing/2014/main" id="{A39E7146-E729-4EC0-8BAB-B082C3323DDD}"/>
              </a:ext>
            </a:extLst>
          </p:cNvPr>
          <p:cNvSpPr txBox="1"/>
          <p:nvPr/>
        </p:nvSpPr>
        <p:spPr>
          <a:xfrm>
            <a:off x="5268685" y="5812328"/>
            <a:ext cx="7085045" cy="338554"/>
          </a:xfrm>
          <a:prstGeom prst="rect">
            <a:avLst/>
          </a:prstGeom>
          <a:noFill/>
        </p:spPr>
        <p:txBody>
          <a:bodyPr wrap="square">
            <a:spAutoFit/>
          </a:bodyPr>
          <a:lstStyle/>
          <a:p>
            <a:r>
              <a:rPr lang="zh-TW" altLang="en-US" sz="1600" dirty="0"/>
              <a:t>https://kavita-ganesan.com/comparison-between-cbow-skipgram-subword/</a:t>
            </a:r>
          </a:p>
        </p:txBody>
      </p:sp>
    </p:spTree>
    <p:extLst>
      <p:ext uri="{BB962C8B-B14F-4D97-AF65-F5344CB8AC3E}">
        <p14:creationId xmlns:p14="http://schemas.microsoft.com/office/powerpoint/2010/main" val="1301607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C585B1-CA75-A9C7-45B4-59F207A7763A}"/>
              </a:ext>
            </a:extLst>
          </p:cNvPr>
          <p:cNvSpPr>
            <a:spLocks noGrp="1"/>
          </p:cNvSpPr>
          <p:nvPr>
            <p:ph type="title"/>
          </p:nvPr>
        </p:nvSpPr>
        <p:spPr/>
        <p:txBody>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kumimoji="1" lang="zh-TW" altLang="en-US" dirty="0"/>
          </a:p>
        </p:txBody>
      </p:sp>
      <p:sp>
        <p:nvSpPr>
          <p:cNvPr id="3" name="內容版面配置區 2">
            <a:extLst>
              <a:ext uri="{FF2B5EF4-FFF2-40B4-BE49-F238E27FC236}">
                <a16:creationId xmlns:a16="http://schemas.microsoft.com/office/drawing/2014/main" id="{0BB439D5-00E3-04E2-0DC8-BD0A37DD52B5}"/>
              </a:ext>
            </a:extLst>
          </p:cNvPr>
          <p:cNvSpPr>
            <a:spLocks noGrp="1"/>
          </p:cNvSpPr>
          <p:nvPr>
            <p:ph idx="1"/>
          </p:nvPr>
        </p:nvSpPr>
        <p:spPr/>
        <p:txBody>
          <a:bodyPr/>
          <a:lstStyle/>
          <a:p>
            <a:endParaRPr kumimoji="1" lang="zh-TW" altLang="en-US"/>
          </a:p>
        </p:txBody>
      </p:sp>
      <p:pic>
        <p:nvPicPr>
          <p:cNvPr id="2050" name="Picture 2">
            <a:extLst>
              <a:ext uri="{FF2B5EF4-FFF2-40B4-BE49-F238E27FC236}">
                <a16:creationId xmlns:a16="http://schemas.microsoft.com/office/drawing/2014/main" id="{4ED47E59-2AB4-BB11-E26A-7EDBAA885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968" y="1825625"/>
            <a:ext cx="7378064" cy="479080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007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094CBF-B5D5-1DC9-5FDC-F002185A53B0}"/>
              </a:ext>
            </a:extLst>
          </p:cNvPr>
          <p:cNvSpPr>
            <a:spLocks noGrp="1"/>
          </p:cNvSpPr>
          <p:nvPr>
            <p:ph type="title"/>
          </p:nvPr>
        </p:nvSpPr>
        <p:spPr/>
        <p:txBody>
          <a:bodyPr>
            <a:normAutofit fontScale="90000"/>
          </a:bodyPr>
          <a:lstStyle/>
          <a:p>
            <a:r>
              <a:rPr lang="zh-TW" altLang="en-US" dirty="0"/>
              <a:t>用神經網路處理自然語言</a:t>
            </a:r>
            <a:br>
              <a:rPr lang="en-US" altLang="zh-TW" dirty="0"/>
            </a:br>
            <a:r>
              <a:rPr lang="en-US" altLang="zh-TW" sz="4800" dirty="0"/>
              <a:t>(</a:t>
            </a:r>
            <a:r>
              <a:rPr lang="en" altLang="zh-TW" sz="4800" dirty="0"/>
              <a:t>Predicted Based Embedding</a:t>
            </a:r>
            <a:r>
              <a:rPr lang="en-US" altLang="zh-TW" sz="4800" dirty="0"/>
              <a:t>)</a:t>
            </a:r>
            <a:endParaRPr kumimoji="1" lang="zh-TW" altLang="en-US" dirty="0"/>
          </a:p>
        </p:txBody>
      </p:sp>
      <p:sp>
        <p:nvSpPr>
          <p:cNvPr id="3" name="內容版面配置區 2">
            <a:extLst>
              <a:ext uri="{FF2B5EF4-FFF2-40B4-BE49-F238E27FC236}">
                <a16:creationId xmlns:a16="http://schemas.microsoft.com/office/drawing/2014/main" id="{59EE310B-36C4-0E06-0BE2-AE4BF1C9C745}"/>
              </a:ext>
            </a:extLst>
          </p:cNvPr>
          <p:cNvSpPr>
            <a:spLocks noGrp="1"/>
          </p:cNvSpPr>
          <p:nvPr>
            <p:ph idx="1"/>
          </p:nvPr>
        </p:nvSpPr>
        <p:spPr/>
        <p:txBody>
          <a:bodyPr>
            <a:normAutofit/>
          </a:bodyPr>
          <a:lstStyle/>
          <a:p>
            <a:r>
              <a:rPr kumimoji="1" lang="zh-TW" altLang="en-US" dirty="0"/>
              <a:t>假設：</a:t>
            </a:r>
            <a:r>
              <a:rPr kumimoji="1" lang="en-US" altLang="zh-TW" dirty="0"/>
              <a:t>[0 0 0 1 0] </a:t>
            </a:r>
            <a:r>
              <a:rPr kumimoji="1" lang="zh-TW" altLang="en-US" dirty="0"/>
              <a:t>這個 </a:t>
            </a:r>
            <a:r>
              <a:rPr kumimoji="1" lang="en-US" altLang="zh-TW" dirty="0"/>
              <a:t>1 </a:t>
            </a:r>
            <a:r>
              <a:rPr kumimoji="1" lang="en" altLang="zh-TW" dirty="0"/>
              <a:t>x 5 </a:t>
            </a:r>
            <a:r>
              <a:rPr kumimoji="1" lang="zh-TW" altLang="en-US" dirty="0"/>
              <a:t>的向量可以當作是 </a:t>
            </a:r>
            <a:r>
              <a:rPr kumimoji="1" lang="en" altLang="zh-TW" dirty="0"/>
              <a:t>one-hot </a:t>
            </a:r>
            <a:r>
              <a:rPr kumimoji="1" lang="zh-TW" altLang="en-US" dirty="0"/>
              <a:t>編碼過後的字詞，而中間那個 </a:t>
            </a:r>
            <a:r>
              <a:rPr kumimoji="1" lang="en-US" altLang="zh-TW" dirty="0"/>
              <a:t>5 </a:t>
            </a:r>
            <a:r>
              <a:rPr kumimoji="1" lang="en" altLang="zh-TW" dirty="0"/>
              <a:t>x 3 </a:t>
            </a:r>
            <a:r>
              <a:rPr kumimoji="1" lang="zh-TW" altLang="en-US" dirty="0"/>
              <a:t>的矩陣，就是神經網路訓練出來的結果，他是一個 </a:t>
            </a:r>
            <a:r>
              <a:rPr kumimoji="1" lang="en-US" altLang="zh-TW" dirty="0"/>
              <a:t>5 </a:t>
            </a:r>
            <a:r>
              <a:rPr kumimoji="1" lang="en" altLang="zh-TW" dirty="0"/>
              <a:t>x 3 </a:t>
            </a:r>
            <a:r>
              <a:rPr kumimoji="1" lang="zh-TW" altLang="en-US" dirty="0"/>
              <a:t>的矩陣，也就是使用了 </a:t>
            </a:r>
            <a:r>
              <a:rPr kumimoji="1" lang="en-US" altLang="zh-TW" dirty="0"/>
              <a:t>3 </a:t>
            </a:r>
            <a:r>
              <a:rPr kumimoji="1" lang="zh-TW" altLang="en-US" dirty="0"/>
              <a:t>個 </a:t>
            </a:r>
            <a:r>
              <a:rPr kumimoji="1" lang="en" altLang="zh-TW" dirty="0"/>
              <a:t>features</a:t>
            </a:r>
            <a:r>
              <a:rPr kumimoji="1" lang="zh-TW" altLang="en" dirty="0"/>
              <a:t>。</a:t>
            </a:r>
          </a:p>
          <a:p>
            <a:r>
              <a:rPr kumimoji="1" lang="zh-TW" altLang="en-US" dirty="0"/>
              <a:t>因為 </a:t>
            </a:r>
            <a:r>
              <a:rPr kumimoji="1" lang="en" altLang="zh-TW" dirty="0"/>
              <a:t>one-hot </a:t>
            </a:r>
            <a:r>
              <a:rPr kumimoji="1" lang="zh-TW" altLang="en-US" dirty="0"/>
              <a:t>編碼只有一個維度會是 </a:t>
            </a:r>
            <a:r>
              <a:rPr kumimoji="1" lang="en-US" altLang="zh-TW" dirty="0"/>
              <a:t>1</a:t>
            </a:r>
            <a:r>
              <a:rPr kumimoji="1" lang="zh-TW" altLang="en-US" dirty="0"/>
              <a:t>，其他皆為 </a:t>
            </a:r>
            <a:r>
              <a:rPr kumimoji="1" lang="en-US" altLang="zh-TW" dirty="0"/>
              <a:t>0</a:t>
            </a:r>
            <a:r>
              <a:rPr kumimoji="1" lang="zh-TW" altLang="en-US" dirty="0"/>
              <a:t>，所以輸出層基本上就是去查是 </a:t>
            </a:r>
            <a:r>
              <a:rPr kumimoji="1" lang="en-US" altLang="zh-TW" dirty="0"/>
              <a:t>1 </a:t>
            </a:r>
            <a:r>
              <a:rPr kumimoji="1" lang="zh-TW" altLang="en-US" dirty="0"/>
              <a:t>的那個維度，相對應於隱藏層中那個 </a:t>
            </a:r>
            <a:r>
              <a:rPr kumimoji="1" lang="en" altLang="zh-TW" dirty="0"/>
              <a:t>row</a:t>
            </a:r>
            <a:r>
              <a:rPr kumimoji="1" lang="zh-TW" altLang="en" dirty="0"/>
              <a:t>，</a:t>
            </a:r>
            <a:r>
              <a:rPr kumimoji="1" lang="zh-TW" altLang="en-US" dirty="0"/>
              <a:t>而最後向量相乘的結果 </a:t>
            </a:r>
            <a:r>
              <a:rPr kumimoji="1" lang="en-US" altLang="zh-TW" dirty="0"/>
              <a:t>[10 12 19]</a:t>
            </a:r>
            <a:r>
              <a:rPr kumimoji="1" lang="zh-TW" altLang="en-US" dirty="0"/>
              <a:t>，是一個 </a:t>
            </a:r>
            <a:r>
              <a:rPr kumimoji="1" lang="en-US" altLang="zh-TW" dirty="0"/>
              <a:t>1 </a:t>
            </a:r>
            <a:r>
              <a:rPr kumimoji="1" lang="en" altLang="zh-TW" dirty="0"/>
              <a:t>x 3 </a:t>
            </a:r>
            <a:r>
              <a:rPr kumimoji="1" lang="zh-TW" altLang="en-US" dirty="0"/>
              <a:t>的向量，就把它稱為是輸入字詞的詞向量 </a:t>
            </a:r>
            <a:r>
              <a:rPr kumimoji="1" lang="en-US" altLang="zh-TW" dirty="0"/>
              <a:t>(</a:t>
            </a:r>
            <a:r>
              <a:rPr kumimoji="1" lang="en" altLang="zh-TW" dirty="0"/>
              <a:t>word vector)</a:t>
            </a:r>
            <a:endParaRPr kumimoji="1" lang="zh-TW" altLang="en-US" dirty="0"/>
          </a:p>
        </p:txBody>
      </p:sp>
      <p:pic>
        <p:nvPicPr>
          <p:cNvPr id="3074" name="Picture 2">
            <a:extLst>
              <a:ext uri="{FF2B5EF4-FFF2-40B4-BE49-F238E27FC236}">
                <a16:creationId xmlns:a16="http://schemas.microsoft.com/office/drawing/2014/main" id="{53428CEC-9148-C93A-F8C4-14791C8AF9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2832" y="4800188"/>
            <a:ext cx="6252926" cy="169268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4477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6C9321-ECCE-31C2-CB41-39819513056A}"/>
              </a:ext>
            </a:extLst>
          </p:cNvPr>
          <p:cNvSpPr>
            <a:spLocks noGrp="1"/>
          </p:cNvSpPr>
          <p:nvPr>
            <p:ph type="title"/>
          </p:nvPr>
        </p:nvSpPr>
        <p:spPr>
          <a:xfrm>
            <a:off x="838200" y="365125"/>
            <a:ext cx="10515600" cy="1325563"/>
          </a:xfrm>
        </p:spPr>
        <p:txBody>
          <a:bodyPr>
            <a:normAutofit/>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10E39CE2-D3F5-31CB-C72A-502F4F4A35C8}"/>
              </a:ext>
            </a:extLst>
          </p:cNvPr>
          <p:cNvSpPr>
            <a:spLocks noGrp="1"/>
          </p:cNvSpPr>
          <p:nvPr>
            <p:ph idx="1"/>
          </p:nvPr>
        </p:nvSpPr>
        <p:spPr>
          <a:xfrm>
            <a:off x="838200" y="1825625"/>
            <a:ext cx="10515600" cy="4351338"/>
          </a:xfrm>
        </p:spPr>
        <p:txBody>
          <a:bodyPr>
            <a:normAutofit/>
          </a:bodyPr>
          <a:lstStyle/>
          <a:p>
            <a:r>
              <a:rPr kumimoji="1" lang="zh-TW" altLang="en-US" dirty="0"/>
              <a:t>套回 </a:t>
            </a:r>
            <a:r>
              <a:rPr kumimoji="1" lang="en-US" altLang="zh-TW" dirty="0"/>
              <a:t>10,000 </a:t>
            </a:r>
            <a:r>
              <a:rPr kumimoji="1" lang="en" altLang="zh-TW" dirty="0"/>
              <a:t>x 300 </a:t>
            </a:r>
            <a:r>
              <a:rPr kumimoji="1" lang="zh-TW" altLang="en-US" dirty="0"/>
              <a:t>的矩陣的例子的話，這邊我們會得到一個 </a:t>
            </a:r>
            <a:r>
              <a:rPr kumimoji="1" lang="en-US" altLang="zh-TW" dirty="0"/>
              <a:t>1 </a:t>
            </a:r>
            <a:r>
              <a:rPr kumimoji="1" lang="en" altLang="zh-TW" dirty="0"/>
              <a:t>x 300 </a:t>
            </a:r>
            <a:r>
              <a:rPr kumimoji="1" lang="zh-TW" altLang="en-US" dirty="0"/>
              <a:t>的向量，用來代表我們輸入的那個字。</a:t>
            </a:r>
            <a:endParaRPr kumimoji="1" lang="en-US" altLang="zh-TW" dirty="0"/>
          </a:p>
          <a:p>
            <a:r>
              <a:rPr kumimoji="1" lang="zh-TW" altLang="en-US" dirty="0"/>
              <a:t>在輸出層中，將詞向量與某個我們感興趣的字詞的輸出權重相乘，即可得到一個值，然後再經由 </a:t>
            </a:r>
            <a:r>
              <a:rPr kumimoji="1" lang="en" altLang="zh-TW" dirty="0" err="1"/>
              <a:t>Softmax</a:t>
            </a:r>
            <a:r>
              <a:rPr kumimoji="1" lang="en" altLang="zh-TW" dirty="0"/>
              <a:t> Regression </a:t>
            </a:r>
            <a:r>
              <a:rPr kumimoji="1" lang="zh-TW" altLang="en-US" dirty="0"/>
              <a:t>函數，將這個值轉換成一個介於 </a:t>
            </a:r>
            <a:r>
              <a:rPr kumimoji="1" lang="en-US" altLang="zh-TW" dirty="0"/>
              <a:t>0–1 </a:t>
            </a:r>
            <a:r>
              <a:rPr kumimoji="1" lang="zh-TW" altLang="en-US" dirty="0"/>
              <a:t>的數字，代表出現的機率。</a:t>
            </a:r>
            <a:endParaRPr lang="en-US" altLang="zh-TW" dirty="0"/>
          </a:p>
          <a:p>
            <a:r>
              <a:rPr lang="zh-TW" altLang="en-US" dirty="0"/>
              <a:t>在論文中</a:t>
            </a:r>
            <a:r>
              <a:rPr lang="en-US" altLang="zh-TW" dirty="0"/>
              <a:t>(</a:t>
            </a:r>
            <a:r>
              <a:rPr lang="en-US" altLang="zh-TW" dirty="0">
                <a:hlinkClick r:id="rId2"/>
              </a:rPr>
              <a:t>https://arxiv.org/pdf/1301.3781.pdf</a:t>
            </a:r>
            <a:r>
              <a:rPr lang="en-US" altLang="zh-TW" dirty="0"/>
              <a:t>)</a:t>
            </a:r>
            <a:r>
              <a:rPr lang="zh-TW" altLang="en-US" dirty="0"/>
              <a:t>，</a:t>
            </a:r>
            <a:r>
              <a:rPr lang="en" altLang="zh-TW" dirty="0"/>
              <a:t>Google </a:t>
            </a:r>
            <a:r>
              <a:rPr lang="zh-TW" altLang="en-US" dirty="0"/>
              <a:t>使用了 </a:t>
            </a:r>
            <a:r>
              <a:rPr lang="en-US" altLang="zh-TW" dirty="0"/>
              <a:t>300 </a:t>
            </a:r>
            <a:r>
              <a:rPr lang="zh-TW" altLang="en-US" dirty="0"/>
              <a:t>個 </a:t>
            </a:r>
            <a:r>
              <a:rPr lang="en" altLang="zh-TW" dirty="0"/>
              <a:t>features</a:t>
            </a:r>
            <a:r>
              <a:rPr lang="zh-TW" altLang="en" dirty="0"/>
              <a:t>，</a:t>
            </a:r>
            <a:r>
              <a:rPr lang="zh-TW" altLang="en-US" dirty="0"/>
              <a:t>讓這個神經網路變成了一個 </a:t>
            </a:r>
            <a:r>
              <a:rPr lang="en-US" altLang="zh-TW" dirty="0"/>
              <a:t>10,000 </a:t>
            </a:r>
            <a:r>
              <a:rPr lang="en" altLang="zh-TW" dirty="0"/>
              <a:t>rows x 300 columns</a:t>
            </a:r>
            <a:r>
              <a:rPr lang="zh-TW" altLang="en-US" dirty="0"/>
              <a:t>的矩陣。</a:t>
            </a:r>
            <a:endParaRPr lang="en-US" altLang="zh-TW" dirty="0"/>
          </a:p>
          <a:p>
            <a:r>
              <a:rPr lang="zh-TW" altLang="en-US" dirty="0"/>
              <a:t>而這個模型的目標，就是計算出隱藏層中這個 </a:t>
            </a:r>
            <a:r>
              <a:rPr lang="en-US" altLang="zh-TW" dirty="0"/>
              <a:t>10,000 </a:t>
            </a:r>
            <a:r>
              <a:rPr lang="en" altLang="zh-TW" dirty="0"/>
              <a:t>x 300 </a:t>
            </a:r>
            <a:r>
              <a:rPr lang="zh-TW" altLang="en-US" dirty="0"/>
              <a:t>的矩陣中的的值。</a:t>
            </a:r>
          </a:p>
          <a:p>
            <a:endParaRPr lang="zh-TW" altLang="en-US" dirty="0"/>
          </a:p>
        </p:txBody>
      </p:sp>
    </p:spTree>
    <p:extLst>
      <p:ext uri="{BB962C8B-B14F-4D97-AF65-F5344CB8AC3E}">
        <p14:creationId xmlns:p14="http://schemas.microsoft.com/office/powerpoint/2010/main" val="36477030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0B1C4E-5886-4E5F-A853-0B928A8346E4}"/>
              </a:ext>
            </a:extLst>
          </p:cNvPr>
          <p:cNvSpPr>
            <a:spLocks noGrp="1"/>
          </p:cNvSpPr>
          <p:nvPr>
            <p:ph type="title"/>
          </p:nvPr>
        </p:nvSpPr>
        <p:spPr/>
        <p:txBody>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133539E6-2B69-437F-9631-F6E61778DD02}"/>
              </a:ext>
            </a:extLst>
          </p:cNvPr>
          <p:cNvSpPr>
            <a:spLocks noGrp="1"/>
          </p:cNvSpPr>
          <p:nvPr>
            <p:ph idx="1"/>
          </p:nvPr>
        </p:nvSpPr>
        <p:spPr/>
        <p:txBody>
          <a:bodyPr/>
          <a:lstStyle/>
          <a:p>
            <a:r>
              <a:rPr lang="en-US" altLang="zh-TW" dirty="0" err="1"/>
              <a:t>GloVe</a:t>
            </a:r>
            <a:r>
              <a:rPr lang="en-US" altLang="zh-TW" dirty="0"/>
              <a:t>(Global Vectors for Word Representation </a:t>
            </a:r>
            <a:r>
              <a:rPr lang="zh-TW" altLang="en-US" dirty="0"/>
              <a:t>全局向量的詞嵌入</a:t>
            </a:r>
            <a:r>
              <a:rPr lang="en-US" altLang="zh-TW" dirty="0"/>
              <a:t>)</a:t>
            </a:r>
          </a:p>
          <a:p>
            <a:r>
              <a:rPr lang="en-US" altLang="zh-TW" dirty="0" err="1"/>
              <a:t>GloVe</a:t>
            </a:r>
            <a:r>
              <a:rPr lang="en-US" altLang="zh-TW" dirty="0"/>
              <a:t> </a:t>
            </a:r>
            <a:r>
              <a:rPr lang="zh-TW" altLang="en-US" dirty="0"/>
              <a:t>訓練法注重全文資訊，以訓練文件中兩個文字共同出現的矩陣，作為訓練的目標，更著重於詞向量的本意來訓練。</a:t>
            </a:r>
          </a:p>
          <a:p>
            <a:r>
              <a:rPr lang="zh-TW" altLang="en-US" dirty="0"/>
              <a:t>用機率的方式來解釋 </a:t>
            </a:r>
            <a:r>
              <a:rPr lang="en-US" altLang="zh-TW" dirty="0" err="1"/>
              <a:t>GloVe</a:t>
            </a:r>
            <a:r>
              <a:rPr lang="en-US" altLang="zh-TW" dirty="0"/>
              <a:t> </a:t>
            </a:r>
            <a:r>
              <a:rPr lang="zh-TW" altLang="en-US" dirty="0"/>
              <a:t>模型的話，可以想成 </a:t>
            </a:r>
            <a:r>
              <a:rPr lang="en-US" altLang="zh-TW" dirty="0" err="1"/>
              <a:t>GloVe</a:t>
            </a:r>
            <a:r>
              <a:rPr lang="en-US" altLang="zh-TW" dirty="0"/>
              <a:t> </a:t>
            </a:r>
            <a:r>
              <a:rPr lang="zh-TW" altLang="en-US" dirty="0"/>
              <a:t>模型最終輸出的是某些單字發生的前提下，不同單字出現的條件機率比值</a:t>
            </a:r>
            <a:endParaRPr lang="en-US" altLang="zh-TW" dirty="0"/>
          </a:p>
          <a:p>
            <a:endParaRPr lang="zh-TW" altLang="en-US" dirty="0"/>
          </a:p>
        </p:txBody>
      </p:sp>
      <p:graphicFrame>
        <p:nvGraphicFramePr>
          <p:cNvPr id="4" name="表格 4">
            <a:extLst>
              <a:ext uri="{FF2B5EF4-FFF2-40B4-BE49-F238E27FC236}">
                <a16:creationId xmlns:a16="http://schemas.microsoft.com/office/drawing/2014/main" id="{E361A370-5D15-46B1-BA5B-B5C09E64449F}"/>
              </a:ext>
            </a:extLst>
          </p:cNvPr>
          <p:cNvGraphicFramePr>
            <a:graphicFrameLocks noGrp="1"/>
          </p:cNvGraphicFramePr>
          <p:nvPr>
            <p:extLst>
              <p:ext uri="{D42A27DB-BD31-4B8C-83A1-F6EECF244321}">
                <p14:modId xmlns:p14="http://schemas.microsoft.com/office/powerpoint/2010/main" val="3914323974"/>
              </p:ext>
            </p:extLst>
          </p:nvPr>
        </p:nvGraphicFramePr>
        <p:xfrm>
          <a:off x="1179521" y="4978413"/>
          <a:ext cx="6262915" cy="1483360"/>
        </p:xfrm>
        <a:graphic>
          <a:graphicData uri="http://schemas.openxmlformats.org/drawingml/2006/table">
            <a:tbl>
              <a:tblPr firstRow="1" bandRow="1">
                <a:tableStyleId>{5C22544A-7EE6-4342-B048-85BDC9FD1C3A}</a:tableStyleId>
              </a:tblPr>
              <a:tblGrid>
                <a:gridCol w="2094676">
                  <a:extLst>
                    <a:ext uri="{9D8B030D-6E8A-4147-A177-3AD203B41FA5}">
                      <a16:colId xmlns:a16="http://schemas.microsoft.com/office/drawing/2014/main" val="1870324537"/>
                    </a:ext>
                  </a:extLst>
                </a:gridCol>
                <a:gridCol w="955963">
                  <a:extLst>
                    <a:ext uri="{9D8B030D-6E8A-4147-A177-3AD203B41FA5}">
                      <a16:colId xmlns:a16="http://schemas.microsoft.com/office/drawing/2014/main" val="3920243566"/>
                    </a:ext>
                  </a:extLst>
                </a:gridCol>
                <a:gridCol w="1021278">
                  <a:extLst>
                    <a:ext uri="{9D8B030D-6E8A-4147-A177-3AD203B41FA5}">
                      <a16:colId xmlns:a16="http://schemas.microsoft.com/office/drawing/2014/main" val="1424628545"/>
                    </a:ext>
                  </a:extLst>
                </a:gridCol>
                <a:gridCol w="1039091">
                  <a:extLst>
                    <a:ext uri="{9D8B030D-6E8A-4147-A177-3AD203B41FA5}">
                      <a16:colId xmlns:a16="http://schemas.microsoft.com/office/drawing/2014/main" val="3730518678"/>
                    </a:ext>
                  </a:extLst>
                </a:gridCol>
                <a:gridCol w="1151907">
                  <a:extLst>
                    <a:ext uri="{9D8B030D-6E8A-4147-A177-3AD203B41FA5}">
                      <a16:colId xmlns:a16="http://schemas.microsoft.com/office/drawing/2014/main" val="476359160"/>
                    </a:ext>
                  </a:extLst>
                </a:gridCol>
              </a:tblGrid>
              <a:tr h="370840">
                <a:tc>
                  <a:txBody>
                    <a:bodyPr/>
                    <a:lstStyle/>
                    <a:p>
                      <a:r>
                        <a:rPr lang="zh-TW" altLang="en-US" dirty="0"/>
                        <a:t>機率、比例</a:t>
                      </a:r>
                    </a:p>
                  </a:txBody>
                  <a:tcPr/>
                </a:tc>
                <a:tc>
                  <a:txBody>
                    <a:bodyPr/>
                    <a:lstStyle/>
                    <a:p>
                      <a:r>
                        <a:rPr lang="en-US" altLang="zh-TW" dirty="0"/>
                        <a:t>k=solid</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k=gas</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k=water</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k=fashion</a:t>
                      </a:r>
                      <a:endParaRPr lang="zh-TW" altLang="en-US" dirty="0"/>
                    </a:p>
                  </a:txBody>
                  <a:tcPr/>
                </a:tc>
                <a:extLst>
                  <a:ext uri="{0D108BD9-81ED-4DB2-BD59-A6C34878D82A}">
                    <a16:rowId xmlns:a16="http://schemas.microsoft.com/office/drawing/2014/main" val="1236841973"/>
                  </a:ext>
                </a:extLst>
              </a:tr>
              <a:tr h="370840">
                <a:tc>
                  <a:txBody>
                    <a:bodyPr/>
                    <a:lstStyle/>
                    <a:p>
                      <a:r>
                        <a:rPr lang="en-US" altLang="zh-TW" dirty="0"/>
                        <a:t>P(</a:t>
                      </a:r>
                      <a:r>
                        <a:rPr lang="en-US" altLang="zh-TW" dirty="0" err="1"/>
                        <a:t>k|ice</a:t>
                      </a:r>
                      <a:r>
                        <a:rPr lang="en-US" altLang="zh-TW" dirty="0"/>
                        <a:t>)</a:t>
                      </a:r>
                      <a:endParaRPr lang="zh-TW" altLang="en-US" dirty="0"/>
                    </a:p>
                  </a:txBody>
                  <a:tcPr/>
                </a:tc>
                <a:tc>
                  <a:txBody>
                    <a:bodyPr/>
                    <a:lstStyle/>
                    <a:p>
                      <a:r>
                        <a:rPr lang="en-US" altLang="zh-TW" dirty="0"/>
                        <a:t>1.9x10</a:t>
                      </a:r>
                      <a:r>
                        <a:rPr lang="en-US" altLang="zh-TW" baseline="30000" dirty="0"/>
                        <a:t>-4</a:t>
                      </a:r>
                      <a:endParaRPr lang="zh-TW" altLang="en-US" baseline="30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6.6x10</a:t>
                      </a:r>
                      <a:r>
                        <a:rPr lang="en-US" altLang="zh-TW" baseline="30000" dirty="0"/>
                        <a:t>-5</a:t>
                      </a:r>
                      <a:endParaRPr lang="zh-TW" altLang="en-US" baseline="30000" dirty="0"/>
                    </a:p>
                  </a:txBody>
                  <a:tcPr/>
                </a:tc>
                <a:tc>
                  <a:txBody>
                    <a:bodyPr/>
                    <a:lstStyle/>
                    <a:p>
                      <a:r>
                        <a:rPr lang="en-US" altLang="zh-TW" dirty="0"/>
                        <a:t>3.0x10</a:t>
                      </a:r>
                      <a:r>
                        <a:rPr lang="en-US" altLang="zh-TW" baseline="30000" dirty="0"/>
                        <a:t>-3</a:t>
                      </a:r>
                      <a:endParaRPr lang="zh-TW" altLang="en-US" dirty="0"/>
                    </a:p>
                  </a:txBody>
                  <a:tcPr/>
                </a:tc>
                <a:tc>
                  <a:txBody>
                    <a:bodyPr/>
                    <a:lstStyle/>
                    <a:p>
                      <a:r>
                        <a:rPr lang="en-US" altLang="zh-TW" dirty="0"/>
                        <a:t>1.7x10</a:t>
                      </a:r>
                      <a:r>
                        <a:rPr lang="en-US" altLang="zh-TW" baseline="30000" dirty="0"/>
                        <a:t>-5</a:t>
                      </a:r>
                      <a:endParaRPr lang="zh-TW" altLang="en-US" dirty="0"/>
                    </a:p>
                  </a:txBody>
                  <a:tcPr/>
                </a:tc>
                <a:extLst>
                  <a:ext uri="{0D108BD9-81ED-4DB2-BD59-A6C34878D82A}">
                    <a16:rowId xmlns:a16="http://schemas.microsoft.com/office/drawing/2014/main" val="1835303128"/>
                  </a:ext>
                </a:extLst>
              </a:tr>
              <a:tr h="370840">
                <a:tc>
                  <a:txBody>
                    <a:bodyPr/>
                    <a:lstStyle/>
                    <a:p>
                      <a:r>
                        <a:rPr lang="en-US" altLang="zh-TW" dirty="0"/>
                        <a:t>P(</a:t>
                      </a:r>
                      <a:r>
                        <a:rPr lang="en-US" altLang="zh-TW" dirty="0" err="1"/>
                        <a:t>k|stream</a:t>
                      </a:r>
                      <a:r>
                        <a:rPr lang="en-US" altLang="zh-TW" dirty="0"/>
                        <a:t>)</a:t>
                      </a:r>
                      <a:endParaRPr lang="zh-TW" altLang="en-US" dirty="0"/>
                    </a:p>
                  </a:txBody>
                  <a:tcPr/>
                </a:tc>
                <a:tc>
                  <a:txBody>
                    <a:bodyPr/>
                    <a:lstStyle/>
                    <a:p>
                      <a:r>
                        <a:rPr lang="en-US" altLang="zh-TW" dirty="0"/>
                        <a:t>2.2x10</a:t>
                      </a:r>
                      <a:r>
                        <a:rPr lang="en-US" altLang="zh-TW" baseline="30000" dirty="0"/>
                        <a:t>-5</a:t>
                      </a:r>
                      <a:endParaRPr lang="zh-TW" altLang="en-US" dirty="0"/>
                    </a:p>
                  </a:txBody>
                  <a:tcPr/>
                </a:tc>
                <a:tc>
                  <a:txBody>
                    <a:bodyPr/>
                    <a:lstStyle/>
                    <a:p>
                      <a:r>
                        <a:rPr lang="en-US" altLang="zh-TW" dirty="0"/>
                        <a:t>7.8x10</a:t>
                      </a:r>
                      <a:r>
                        <a:rPr lang="en-US" altLang="zh-TW" baseline="30000" dirty="0"/>
                        <a:t>-4</a:t>
                      </a:r>
                      <a:endParaRPr lang="zh-TW" altLang="en-US" dirty="0"/>
                    </a:p>
                  </a:txBody>
                  <a:tcPr/>
                </a:tc>
                <a:tc>
                  <a:txBody>
                    <a:bodyPr/>
                    <a:lstStyle/>
                    <a:p>
                      <a:r>
                        <a:rPr lang="en-US" altLang="zh-TW" dirty="0"/>
                        <a:t>2.2x10</a:t>
                      </a:r>
                      <a:r>
                        <a:rPr lang="en-US" altLang="zh-TW" baseline="30000" dirty="0"/>
                        <a:t>-3</a:t>
                      </a:r>
                      <a:endParaRPr lang="zh-TW" altLang="en-US" dirty="0"/>
                    </a:p>
                  </a:txBody>
                  <a:tcPr/>
                </a:tc>
                <a:tc>
                  <a:txBody>
                    <a:bodyPr/>
                    <a:lstStyle/>
                    <a:p>
                      <a:r>
                        <a:rPr lang="en-US" altLang="zh-TW" dirty="0"/>
                        <a:t>1.8x10</a:t>
                      </a:r>
                      <a:r>
                        <a:rPr lang="en-US" altLang="zh-TW" baseline="30000" dirty="0"/>
                        <a:t>-5</a:t>
                      </a:r>
                      <a:endParaRPr lang="zh-TW" altLang="en-US" dirty="0"/>
                    </a:p>
                  </a:txBody>
                  <a:tcPr/>
                </a:tc>
                <a:extLst>
                  <a:ext uri="{0D108BD9-81ED-4DB2-BD59-A6C34878D82A}">
                    <a16:rowId xmlns:a16="http://schemas.microsoft.com/office/drawing/2014/main" val="900859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a:t>
                      </a:r>
                      <a:r>
                        <a:rPr lang="en-US" altLang="zh-TW" dirty="0" err="1"/>
                        <a:t>k|ice</a:t>
                      </a:r>
                      <a:r>
                        <a:rPr lang="en-US" altLang="zh-TW" dirty="0"/>
                        <a:t>)/P(</a:t>
                      </a:r>
                      <a:r>
                        <a:rPr lang="en-US" altLang="zh-TW" dirty="0" err="1"/>
                        <a:t>k|stream</a:t>
                      </a:r>
                      <a:r>
                        <a:rPr lang="en-US" altLang="zh-TW" dirty="0"/>
                        <a:t>)</a:t>
                      </a:r>
                      <a:endParaRPr lang="zh-TW" altLang="en-US" dirty="0"/>
                    </a:p>
                  </a:txBody>
                  <a:tcPr>
                    <a:solidFill>
                      <a:schemeClr val="accent2">
                        <a:lumMod val="40000"/>
                        <a:lumOff val="60000"/>
                      </a:schemeClr>
                    </a:solidFill>
                  </a:tcPr>
                </a:tc>
                <a:tc>
                  <a:txBody>
                    <a:bodyPr/>
                    <a:lstStyle/>
                    <a:p>
                      <a:r>
                        <a:rPr lang="en-US" altLang="zh-TW" dirty="0"/>
                        <a:t>8.9</a:t>
                      </a:r>
                      <a:endParaRPr lang="zh-TW" altLang="en-US" dirty="0"/>
                    </a:p>
                  </a:txBody>
                  <a:tcPr>
                    <a:solidFill>
                      <a:schemeClr val="accent2">
                        <a:lumMod val="40000"/>
                        <a:lumOff val="60000"/>
                      </a:schemeClr>
                    </a:solidFill>
                  </a:tcPr>
                </a:tc>
                <a:tc>
                  <a:txBody>
                    <a:bodyPr/>
                    <a:lstStyle/>
                    <a:p>
                      <a:r>
                        <a:rPr lang="en-US" altLang="zh-TW" dirty="0"/>
                        <a:t>8.5x10</a:t>
                      </a:r>
                      <a:r>
                        <a:rPr lang="en-US" altLang="zh-TW" baseline="30000" dirty="0"/>
                        <a:t>-2</a:t>
                      </a:r>
                      <a:endParaRPr lang="zh-TW" altLang="en-US" dirty="0"/>
                    </a:p>
                  </a:txBody>
                  <a:tcPr>
                    <a:solidFill>
                      <a:schemeClr val="accent2">
                        <a:lumMod val="40000"/>
                        <a:lumOff val="60000"/>
                      </a:schemeClr>
                    </a:solidFill>
                  </a:tcPr>
                </a:tc>
                <a:tc>
                  <a:txBody>
                    <a:bodyPr/>
                    <a:lstStyle/>
                    <a:p>
                      <a:r>
                        <a:rPr lang="en-US" altLang="zh-TW" dirty="0"/>
                        <a:t>1.36</a:t>
                      </a:r>
                      <a:endParaRPr lang="zh-TW" altLang="en-US" dirty="0"/>
                    </a:p>
                  </a:txBody>
                  <a:tcPr>
                    <a:solidFill>
                      <a:schemeClr val="accent2">
                        <a:lumMod val="40000"/>
                        <a:lumOff val="60000"/>
                      </a:schemeClr>
                    </a:solidFill>
                  </a:tcPr>
                </a:tc>
                <a:tc>
                  <a:txBody>
                    <a:bodyPr/>
                    <a:lstStyle/>
                    <a:p>
                      <a:r>
                        <a:rPr lang="en-US" altLang="zh-TW" dirty="0"/>
                        <a:t>0.96</a:t>
                      </a:r>
                      <a:endParaRPr lang="zh-TW" altLang="en-US" dirty="0"/>
                    </a:p>
                  </a:txBody>
                  <a:tcPr>
                    <a:solidFill>
                      <a:schemeClr val="accent2">
                        <a:lumMod val="40000"/>
                        <a:lumOff val="60000"/>
                      </a:schemeClr>
                    </a:solidFill>
                  </a:tcPr>
                </a:tc>
                <a:extLst>
                  <a:ext uri="{0D108BD9-81ED-4DB2-BD59-A6C34878D82A}">
                    <a16:rowId xmlns:a16="http://schemas.microsoft.com/office/drawing/2014/main" val="2765965519"/>
                  </a:ext>
                </a:extLst>
              </a:tr>
            </a:tbl>
          </a:graphicData>
        </a:graphic>
      </p:graphicFrame>
      <p:sp>
        <p:nvSpPr>
          <p:cNvPr id="5" name="圖說文字: 向左箭號 4">
            <a:extLst>
              <a:ext uri="{FF2B5EF4-FFF2-40B4-BE49-F238E27FC236}">
                <a16:creationId xmlns:a16="http://schemas.microsoft.com/office/drawing/2014/main" id="{DE269994-8E6B-45E6-82C2-5CB22087E079}"/>
              </a:ext>
            </a:extLst>
          </p:cNvPr>
          <p:cNvSpPr/>
          <p:nvPr/>
        </p:nvSpPr>
        <p:spPr>
          <a:xfrm>
            <a:off x="7525563" y="4422710"/>
            <a:ext cx="4169558" cy="2312761"/>
          </a:xfrm>
          <a:prstGeom prst="leftArrowCallout">
            <a:avLst>
              <a:gd name="adj1" fmla="val 10589"/>
              <a:gd name="adj2" fmla="val 12191"/>
              <a:gd name="adj3" fmla="val 14592"/>
              <a:gd name="adj4" fmla="val 90049"/>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TW" altLang="en-US" sz="1400" b="0" i="0" dirty="0">
                <a:solidFill>
                  <a:srgbClr val="242424"/>
                </a:solidFill>
                <a:effectLst/>
                <a:latin typeface="source-serif-pro"/>
              </a:rPr>
              <a:t>最後一行，它表示的是兩個機率的比值（</a:t>
            </a:r>
            <a:r>
              <a:rPr lang="en-US" altLang="zh-TW" sz="1400" b="0" i="0" dirty="0">
                <a:solidFill>
                  <a:srgbClr val="242424"/>
                </a:solidFill>
                <a:effectLst/>
                <a:latin typeface="source-serif-pro"/>
              </a:rPr>
              <a:t>ratio</a:t>
            </a:r>
            <a:r>
              <a:rPr lang="zh-TW" altLang="en-US" sz="1400" b="0" i="0" dirty="0">
                <a:solidFill>
                  <a:srgbClr val="242424"/>
                </a:solidFill>
                <a:effectLst/>
                <a:latin typeface="source-serif-pro"/>
              </a:rPr>
              <a:t>），可以觀察出兩個單字相對於單字 </a:t>
            </a:r>
            <a:r>
              <a:rPr lang="en-US" altLang="zh-TW" sz="1400" b="0" i="0" dirty="0">
                <a:solidFill>
                  <a:srgbClr val="242424"/>
                </a:solidFill>
                <a:effectLst/>
                <a:latin typeface="source-serif-pro"/>
              </a:rPr>
              <a:t>k </a:t>
            </a:r>
            <a:r>
              <a:rPr lang="zh-TW" altLang="en-US" sz="1400" b="0" i="0" dirty="0">
                <a:solidFill>
                  <a:srgbClr val="242424"/>
                </a:solidFill>
                <a:effectLst/>
                <a:latin typeface="source-serif-pro"/>
              </a:rPr>
              <a:t>哪個更相關（</a:t>
            </a:r>
            <a:r>
              <a:rPr lang="en-US" altLang="zh-TW" sz="1400" b="0" i="0" dirty="0">
                <a:solidFill>
                  <a:srgbClr val="242424"/>
                </a:solidFill>
                <a:effectLst/>
                <a:latin typeface="source-serif-pro"/>
              </a:rPr>
              <a:t>relevant</a:t>
            </a:r>
            <a:r>
              <a:rPr lang="zh-TW" altLang="en-US" sz="1400" b="0" i="0" dirty="0">
                <a:solidFill>
                  <a:srgbClr val="242424"/>
                </a:solidFill>
                <a:effectLst/>
                <a:latin typeface="source-serif-pro"/>
              </a:rPr>
              <a:t>）。</a:t>
            </a:r>
          </a:p>
          <a:p>
            <a:pPr algn="l"/>
            <a:r>
              <a:rPr lang="zh-TW" altLang="en-US" sz="1400" b="0" i="0" dirty="0">
                <a:solidFill>
                  <a:srgbClr val="242424"/>
                </a:solidFill>
                <a:effectLst/>
                <a:latin typeface="source-serif-pro"/>
              </a:rPr>
              <a:t>比如，</a:t>
            </a:r>
            <a:r>
              <a:rPr lang="en-US" altLang="zh-TW" sz="1400" b="0" i="0" dirty="0">
                <a:solidFill>
                  <a:srgbClr val="242424"/>
                </a:solidFill>
                <a:effectLst/>
                <a:latin typeface="source-serif-pro"/>
              </a:rPr>
              <a:t>ice </a:t>
            </a:r>
            <a:r>
              <a:rPr lang="zh-TW" altLang="en-US" sz="1400" b="0" i="0" dirty="0">
                <a:solidFill>
                  <a:srgbClr val="242424"/>
                </a:solidFill>
                <a:effectLst/>
                <a:latin typeface="source-serif-pro"/>
              </a:rPr>
              <a:t>和 </a:t>
            </a:r>
            <a:r>
              <a:rPr lang="en-US" altLang="zh-TW" sz="1400" b="0" i="0" dirty="0">
                <a:solidFill>
                  <a:srgbClr val="242424"/>
                </a:solidFill>
                <a:effectLst/>
                <a:latin typeface="source-serif-pro"/>
              </a:rPr>
              <a:t>solid </a:t>
            </a:r>
            <a:r>
              <a:rPr lang="zh-TW" altLang="en-US" sz="1400" b="0" i="0" dirty="0">
                <a:solidFill>
                  <a:srgbClr val="242424"/>
                </a:solidFill>
                <a:effectLst/>
                <a:latin typeface="source-serif-pro"/>
              </a:rPr>
              <a:t>更相關，而 </a:t>
            </a:r>
            <a:r>
              <a:rPr lang="en-US" altLang="zh-TW" sz="1400" b="0" i="0" dirty="0">
                <a:solidFill>
                  <a:srgbClr val="242424"/>
                </a:solidFill>
                <a:effectLst/>
                <a:latin typeface="source-serif-pro"/>
              </a:rPr>
              <a:t>stream </a:t>
            </a:r>
            <a:r>
              <a:rPr lang="zh-TW" altLang="en-US" sz="1400" b="0" i="0" dirty="0">
                <a:solidFill>
                  <a:srgbClr val="242424"/>
                </a:solidFill>
                <a:effectLst/>
                <a:latin typeface="source-serif-pro"/>
              </a:rPr>
              <a:t>和 </a:t>
            </a:r>
            <a:r>
              <a:rPr lang="en-US" altLang="zh-TW" sz="1400" b="0" i="0" dirty="0">
                <a:solidFill>
                  <a:srgbClr val="242424"/>
                </a:solidFill>
                <a:effectLst/>
                <a:latin typeface="source-serif-pro"/>
              </a:rPr>
              <a:t>solid </a:t>
            </a:r>
            <a:r>
              <a:rPr lang="zh-TW" altLang="en-US" sz="1400" b="0" i="0" dirty="0">
                <a:solidFill>
                  <a:srgbClr val="242424"/>
                </a:solidFill>
                <a:effectLst/>
                <a:latin typeface="source-serif-pro"/>
              </a:rPr>
              <a:t>明顯不相關，於是我們會發現</a:t>
            </a:r>
            <a:r>
              <a:rPr lang="en-US" altLang="zh-TW" sz="1400" b="0" i="0" dirty="0">
                <a:solidFill>
                  <a:srgbClr val="242424"/>
                </a:solidFill>
                <a:effectLst/>
                <a:latin typeface="source-serif-pro"/>
              </a:rPr>
              <a:t>P(</a:t>
            </a:r>
            <a:r>
              <a:rPr lang="en-US" altLang="zh-TW" sz="1400" b="0" i="0" dirty="0" err="1">
                <a:solidFill>
                  <a:srgbClr val="242424"/>
                </a:solidFill>
                <a:effectLst/>
                <a:latin typeface="source-serif-pro"/>
              </a:rPr>
              <a:t>solid|ice</a:t>
            </a:r>
            <a:r>
              <a:rPr lang="en-US" altLang="zh-TW" sz="1400" b="0" i="0" dirty="0">
                <a:solidFill>
                  <a:srgbClr val="242424"/>
                </a:solidFill>
                <a:effectLst/>
                <a:latin typeface="source-serif-pro"/>
              </a:rPr>
              <a:t>)/P(</a:t>
            </a:r>
            <a:r>
              <a:rPr lang="en-US" altLang="zh-TW" sz="1400" b="0" i="0" dirty="0" err="1">
                <a:solidFill>
                  <a:srgbClr val="242424"/>
                </a:solidFill>
                <a:effectLst/>
                <a:latin typeface="source-serif-pro"/>
              </a:rPr>
              <a:t>solid|steam</a:t>
            </a:r>
            <a:r>
              <a:rPr lang="en-US" altLang="zh-TW" sz="1400" b="0" i="0" dirty="0">
                <a:solidFill>
                  <a:srgbClr val="242424"/>
                </a:solidFill>
                <a:effectLst/>
                <a:latin typeface="source-serif-pro"/>
              </a:rPr>
              <a:t>)</a:t>
            </a:r>
            <a:r>
              <a:rPr lang="zh-TW" altLang="en-US" sz="1400" b="0" i="0" dirty="0">
                <a:solidFill>
                  <a:srgbClr val="242424"/>
                </a:solidFill>
                <a:effectLst/>
                <a:latin typeface="source-serif-pro"/>
              </a:rPr>
              <a:t>比 </a:t>
            </a:r>
            <a:r>
              <a:rPr lang="en-US" altLang="zh-TW" sz="1400" b="0" i="0" dirty="0">
                <a:solidFill>
                  <a:srgbClr val="242424"/>
                </a:solidFill>
                <a:effectLst/>
                <a:latin typeface="source-serif-pro"/>
              </a:rPr>
              <a:t>1 </a:t>
            </a:r>
            <a:r>
              <a:rPr lang="zh-TW" altLang="en-US" sz="1400" b="0" i="0" dirty="0">
                <a:solidFill>
                  <a:srgbClr val="242424"/>
                </a:solidFill>
                <a:effectLst/>
                <a:latin typeface="source-serif-pro"/>
              </a:rPr>
              <a:t>大更多。</a:t>
            </a:r>
            <a:endParaRPr lang="en-US" altLang="zh-TW" sz="1400" b="0" i="0" dirty="0">
              <a:solidFill>
                <a:srgbClr val="242424"/>
              </a:solidFill>
              <a:effectLst/>
              <a:latin typeface="source-serif-pro"/>
            </a:endParaRPr>
          </a:p>
          <a:p>
            <a:pPr algn="l"/>
            <a:r>
              <a:rPr lang="zh-TW" altLang="en-US" sz="1400" b="0" i="0" dirty="0">
                <a:solidFill>
                  <a:srgbClr val="242424"/>
                </a:solidFill>
                <a:effectLst/>
                <a:latin typeface="source-serif-pro"/>
              </a:rPr>
              <a:t>同樣地，</a:t>
            </a:r>
            <a:r>
              <a:rPr lang="en-US" altLang="zh-TW" sz="1400" b="0" i="0" dirty="0">
                <a:solidFill>
                  <a:srgbClr val="242424"/>
                </a:solidFill>
                <a:effectLst/>
                <a:latin typeface="source-serif-pro"/>
              </a:rPr>
              <a:t>gas </a:t>
            </a:r>
            <a:r>
              <a:rPr lang="zh-TW" altLang="en-US" sz="1400" b="0" i="0" dirty="0">
                <a:solidFill>
                  <a:srgbClr val="242424"/>
                </a:solidFill>
                <a:effectLst/>
                <a:latin typeface="source-serif-pro"/>
              </a:rPr>
              <a:t>和 </a:t>
            </a:r>
            <a:r>
              <a:rPr lang="en-US" altLang="zh-TW" sz="1400" b="0" i="0" dirty="0">
                <a:solidFill>
                  <a:srgbClr val="242424"/>
                </a:solidFill>
                <a:effectLst/>
                <a:latin typeface="source-serif-pro"/>
              </a:rPr>
              <a:t>steam </a:t>
            </a:r>
            <a:r>
              <a:rPr lang="zh-TW" altLang="en-US" sz="1400" b="0" i="0" dirty="0">
                <a:solidFill>
                  <a:srgbClr val="242424"/>
                </a:solidFill>
                <a:effectLst/>
                <a:latin typeface="source-serif-pro"/>
              </a:rPr>
              <a:t>更相關，而和 </a:t>
            </a:r>
            <a:r>
              <a:rPr lang="en-US" altLang="zh-TW" sz="1400" b="0" i="0" dirty="0">
                <a:solidFill>
                  <a:srgbClr val="242424"/>
                </a:solidFill>
                <a:effectLst/>
                <a:latin typeface="source-serif-pro"/>
              </a:rPr>
              <a:t>ice </a:t>
            </a:r>
            <a:r>
              <a:rPr lang="zh-TW" altLang="en-US" sz="1400" b="0" i="0" dirty="0">
                <a:solidFill>
                  <a:srgbClr val="242424"/>
                </a:solidFill>
                <a:effectLst/>
                <a:latin typeface="source-serif-pro"/>
              </a:rPr>
              <a:t>不相關，那麼 </a:t>
            </a:r>
            <a:r>
              <a:rPr lang="en-US" altLang="zh-TW" sz="1400" b="0" i="0" dirty="0">
                <a:solidFill>
                  <a:srgbClr val="242424"/>
                </a:solidFill>
                <a:effectLst/>
                <a:latin typeface="source-serif-pro"/>
              </a:rPr>
              <a:t>P(</a:t>
            </a:r>
            <a:r>
              <a:rPr lang="en-US" altLang="zh-TW" sz="1400" b="0" i="0" dirty="0" err="1">
                <a:solidFill>
                  <a:srgbClr val="242424"/>
                </a:solidFill>
                <a:effectLst/>
                <a:latin typeface="source-serif-pro"/>
              </a:rPr>
              <a:t>gas|ice</a:t>
            </a:r>
            <a:r>
              <a:rPr lang="en-US" altLang="zh-TW" sz="1400" b="0" i="0" dirty="0">
                <a:solidFill>
                  <a:srgbClr val="242424"/>
                </a:solidFill>
                <a:effectLst/>
                <a:latin typeface="source-serif-pro"/>
              </a:rPr>
              <a:t>)/P(</a:t>
            </a:r>
            <a:r>
              <a:rPr lang="en-US" altLang="zh-TW" sz="1400" b="0" i="0" dirty="0" err="1">
                <a:solidFill>
                  <a:srgbClr val="242424"/>
                </a:solidFill>
                <a:effectLst/>
                <a:latin typeface="source-serif-pro"/>
              </a:rPr>
              <a:t>gas|steam</a:t>
            </a:r>
            <a:r>
              <a:rPr lang="en-US" altLang="zh-TW" sz="1400" b="0" i="0" dirty="0">
                <a:solidFill>
                  <a:srgbClr val="242424"/>
                </a:solidFill>
                <a:effectLst/>
                <a:latin typeface="source-serif-pro"/>
              </a:rPr>
              <a:t>) </a:t>
            </a:r>
            <a:r>
              <a:rPr lang="zh-TW" altLang="en-US" sz="1400" b="0" i="0" dirty="0">
                <a:solidFill>
                  <a:srgbClr val="242424"/>
                </a:solidFill>
                <a:effectLst/>
                <a:latin typeface="source-serif-pro"/>
              </a:rPr>
              <a:t>就遠小於 </a:t>
            </a:r>
            <a:r>
              <a:rPr lang="en-US" altLang="zh-TW" sz="1400" b="0" i="0" dirty="0">
                <a:solidFill>
                  <a:srgbClr val="242424"/>
                </a:solidFill>
                <a:effectLst/>
                <a:latin typeface="source-serif-pro"/>
              </a:rPr>
              <a:t>1</a:t>
            </a:r>
            <a:r>
              <a:rPr lang="zh-TW" altLang="en-US" sz="1400" b="0" i="0" dirty="0">
                <a:solidFill>
                  <a:srgbClr val="242424"/>
                </a:solidFill>
                <a:effectLst/>
                <a:latin typeface="source-serif-pro"/>
              </a:rPr>
              <a:t>。當都有關（比如</a:t>
            </a:r>
            <a:r>
              <a:rPr lang="en-US" altLang="zh-TW" sz="1400" b="0" i="0" dirty="0">
                <a:solidFill>
                  <a:srgbClr val="242424"/>
                </a:solidFill>
                <a:effectLst/>
                <a:latin typeface="source-serif-pro"/>
              </a:rPr>
              <a:t>water</a:t>
            </a:r>
            <a:r>
              <a:rPr lang="zh-TW" altLang="en-US" sz="1400" b="0" i="0" dirty="0">
                <a:solidFill>
                  <a:srgbClr val="242424"/>
                </a:solidFill>
                <a:effectLst/>
                <a:latin typeface="source-serif-pro"/>
              </a:rPr>
              <a:t>）或者都沒有關</a:t>
            </a:r>
            <a:r>
              <a:rPr lang="en-US" altLang="zh-TW" sz="1400" b="0" i="0" dirty="0">
                <a:solidFill>
                  <a:srgbClr val="242424"/>
                </a:solidFill>
                <a:effectLst/>
                <a:latin typeface="source-serif-pro"/>
              </a:rPr>
              <a:t>(fashion)</a:t>
            </a:r>
            <a:r>
              <a:rPr lang="zh-TW" altLang="en-US" sz="1400" b="0" i="0" dirty="0">
                <a:solidFill>
                  <a:srgbClr val="242424"/>
                </a:solidFill>
                <a:effectLst/>
                <a:latin typeface="source-serif-pro"/>
              </a:rPr>
              <a:t>的時候，兩者的比例接近於 </a:t>
            </a:r>
            <a:r>
              <a:rPr lang="en-US" altLang="zh-TW" sz="1400" b="0" i="0" dirty="0">
                <a:solidFill>
                  <a:srgbClr val="242424"/>
                </a:solidFill>
                <a:effectLst/>
                <a:latin typeface="source-serif-pro"/>
              </a:rPr>
              <a:t>1</a:t>
            </a:r>
            <a:r>
              <a:rPr lang="zh-TW" altLang="en-US" sz="1400" b="0" i="0" dirty="0">
                <a:solidFill>
                  <a:srgbClr val="242424"/>
                </a:solidFill>
                <a:effectLst/>
                <a:latin typeface="source-serif-pro"/>
              </a:rPr>
              <a:t>。</a:t>
            </a:r>
          </a:p>
        </p:txBody>
      </p:sp>
    </p:spTree>
    <p:extLst>
      <p:ext uri="{BB962C8B-B14F-4D97-AF65-F5344CB8AC3E}">
        <p14:creationId xmlns:p14="http://schemas.microsoft.com/office/powerpoint/2010/main" val="995048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83AFF6-83FF-4C70-890E-0C29156B347B}"/>
              </a:ext>
            </a:extLst>
          </p:cNvPr>
          <p:cNvSpPr>
            <a:spLocks noGrp="1"/>
          </p:cNvSpPr>
          <p:nvPr>
            <p:ph type="title"/>
          </p:nvPr>
        </p:nvSpPr>
        <p:spPr/>
        <p:txBody>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r>
              <a:rPr lang="en-US" altLang="zh-TW" dirty="0" err="1"/>
              <a:t>gloVe</a:t>
            </a:r>
            <a:endParaRPr lang="zh-TW" altLang="en-US" dirty="0"/>
          </a:p>
        </p:txBody>
      </p:sp>
      <p:sp>
        <p:nvSpPr>
          <p:cNvPr id="3" name="內容版面配置區 2">
            <a:extLst>
              <a:ext uri="{FF2B5EF4-FFF2-40B4-BE49-F238E27FC236}">
                <a16:creationId xmlns:a16="http://schemas.microsoft.com/office/drawing/2014/main" id="{B62C5B2F-8D6B-4382-BC65-F854812C1003}"/>
              </a:ext>
            </a:extLst>
          </p:cNvPr>
          <p:cNvSpPr>
            <a:spLocks noGrp="1"/>
          </p:cNvSpPr>
          <p:nvPr>
            <p:ph idx="1"/>
          </p:nvPr>
        </p:nvSpPr>
        <p:spPr/>
        <p:txBody>
          <a:bodyPr/>
          <a:lstStyle/>
          <a:p>
            <a:r>
              <a:rPr lang="en-US" altLang="zh-TW" dirty="0"/>
              <a:t>Word2Vec</a:t>
            </a:r>
            <a:r>
              <a:rPr lang="zh-TW" altLang="en-US" dirty="0"/>
              <a:t>與</a:t>
            </a:r>
            <a:r>
              <a:rPr lang="en-US" altLang="zh-TW" dirty="0" err="1"/>
              <a:t>GloVe</a:t>
            </a:r>
            <a:r>
              <a:rPr lang="zh-TW" altLang="en-US" dirty="0"/>
              <a:t>都是常見的詞向量模型，相較於</a:t>
            </a:r>
            <a:r>
              <a:rPr lang="en-US" altLang="zh-TW" dirty="0"/>
              <a:t>Word2Vec</a:t>
            </a:r>
            <a:r>
              <a:rPr lang="zh-TW" altLang="en-US" dirty="0"/>
              <a:t>，</a:t>
            </a:r>
            <a:r>
              <a:rPr lang="en-US" altLang="zh-TW" dirty="0" err="1"/>
              <a:t>GloVe</a:t>
            </a:r>
            <a:r>
              <a:rPr lang="zh-TW" altLang="en-US" dirty="0"/>
              <a:t>更適合以語意情境為主的任務，如情緒分析或文章分類，而</a:t>
            </a:r>
            <a:r>
              <a:rPr lang="en-US" altLang="zh-TW" dirty="0"/>
              <a:t>Word2Vec</a:t>
            </a:r>
            <a:r>
              <a:rPr lang="zh-TW" altLang="en-US" dirty="0"/>
              <a:t>較適合推斷後續文字為主的任務，如問答生成。</a:t>
            </a:r>
            <a:endParaRPr lang="en-US" altLang="zh-TW" dirty="0"/>
          </a:p>
          <a:p>
            <a:r>
              <a:rPr lang="zh-TW" altLang="en-US" dirty="0"/>
              <a:t>官網：</a:t>
            </a:r>
            <a:r>
              <a:rPr lang="en-US" altLang="zh-TW" dirty="0">
                <a:hlinkClick r:id="rId2"/>
              </a:rPr>
              <a:t>GitHub - </a:t>
            </a:r>
            <a:r>
              <a:rPr lang="en-US" altLang="zh-TW" dirty="0" err="1">
                <a:hlinkClick r:id="rId2"/>
              </a:rPr>
              <a:t>stanfordnlp</a:t>
            </a:r>
            <a:r>
              <a:rPr lang="en-US" altLang="zh-TW" dirty="0">
                <a:hlinkClick r:id="rId2"/>
              </a:rPr>
              <a:t>/</a:t>
            </a:r>
            <a:r>
              <a:rPr lang="en-US" altLang="zh-TW" dirty="0" err="1">
                <a:hlinkClick r:id="rId2"/>
              </a:rPr>
              <a:t>GloVe</a:t>
            </a:r>
            <a:r>
              <a:rPr lang="en-US" altLang="zh-TW" dirty="0">
                <a:hlinkClick r:id="rId2"/>
              </a:rPr>
              <a:t>: Software in C and data files for the popular </a:t>
            </a:r>
            <a:r>
              <a:rPr lang="en-US" altLang="zh-TW" dirty="0" err="1">
                <a:hlinkClick r:id="rId2"/>
              </a:rPr>
              <a:t>GloVe</a:t>
            </a:r>
            <a:r>
              <a:rPr lang="en-US" altLang="zh-TW" dirty="0">
                <a:hlinkClick r:id="rId2"/>
              </a:rPr>
              <a:t> model for distributed word representations, a.k.a. word vectors or embeddings</a:t>
            </a:r>
            <a:endParaRPr lang="en-US" altLang="zh-TW" dirty="0"/>
          </a:p>
          <a:p>
            <a:pPr lvl="1"/>
            <a:r>
              <a:rPr lang="en-US" altLang="zh-TW" dirty="0"/>
              <a:t>http://github.com/stanfordnlp/GloVe</a:t>
            </a:r>
            <a:endParaRPr lang="zh-TW" altLang="en-US" dirty="0"/>
          </a:p>
        </p:txBody>
      </p:sp>
    </p:spTree>
    <p:extLst>
      <p:ext uri="{BB962C8B-B14F-4D97-AF65-F5344CB8AC3E}">
        <p14:creationId xmlns:p14="http://schemas.microsoft.com/office/powerpoint/2010/main" val="4673955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F9759D-5BAB-F546-E1E6-FA4D8AA36BCA}"/>
              </a:ext>
            </a:extLst>
          </p:cNvPr>
          <p:cNvSpPr>
            <a:spLocks noGrp="1"/>
          </p:cNvSpPr>
          <p:nvPr>
            <p:ph type="title"/>
          </p:nvPr>
        </p:nvSpPr>
        <p:spPr/>
        <p:txBody>
          <a:bodyPr/>
          <a:lstStyle/>
          <a:p>
            <a:r>
              <a:rPr kumimoji="1" lang="en-US" altLang="zh-TW" dirty="0" err="1"/>
              <a:t>ELMo</a:t>
            </a:r>
            <a:br>
              <a:rPr kumimoji="1" lang="en-US" altLang="zh-TW" dirty="0"/>
            </a:br>
            <a:r>
              <a:rPr kumimoji="1" lang="en-US" altLang="zh-TW" sz="2800" dirty="0"/>
              <a:t>(</a:t>
            </a:r>
            <a:r>
              <a:rPr kumimoji="1" lang="en" altLang="zh-TW" sz="2800" dirty="0"/>
              <a:t>Embeddings from Language Models</a:t>
            </a:r>
            <a:r>
              <a:rPr kumimoji="1" lang="en-US" altLang="zh-TW" sz="2800" dirty="0"/>
              <a:t>)</a:t>
            </a:r>
            <a:endParaRPr kumimoji="1" lang="zh-TW" altLang="en-US" dirty="0"/>
          </a:p>
        </p:txBody>
      </p:sp>
      <p:sp>
        <p:nvSpPr>
          <p:cNvPr id="3" name="內容版面配置區 2">
            <a:extLst>
              <a:ext uri="{FF2B5EF4-FFF2-40B4-BE49-F238E27FC236}">
                <a16:creationId xmlns:a16="http://schemas.microsoft.com/office/drawing/2014/main" id="{99286C57-1187-19D5-EACA-C07C37BB005C}"/>
              </a:ext>
            </a:extLst>
          </p:cNvPr>
          <p:cNvSpPr>
            <a:spLocks noGrp="1"/>
          </p:cNvSpPr>
          <p:nvPr>
            <p:ph idx="1"/>
          </p:nvPr>
        </p:nvSpPr>
        <p:spPr/>
        <p:txBody>
          <a:bodyPr/>
          <a:lstStyle/>
          <a:p>
            <a:r>
              <a:rPr kumimoji="1" lang="en" altLang="zh-TW" dirty="0" err="1"/>
              <a:t>ELMo</a:t>
            </a:r>
            <a:r>
              <a:rPr kumimoji="1" lang="zh-TW" altLang="en-US" dirty="0"/>
              <a:t>是一種在詞向量（</a:t>
            </a:r>
            <a:r>
              <a:rPr kumimoji="1" lang="en" altLang="zh-TW" dirty="0"/>
              <a:t>vector</a:t>
            </a:r>
            <a:r>
              <a:rPr kumimoji="1" lang="zh-TW" altLang="en" dirty="0"/>
              <a:t>）</a:t>
            </a:r>
            <a:r>
              <a:rPr kumimoji="1" lang="zh-TW" altLang="en-US" dirty="0"/>
              <a:t>或詞嵌入（</a:t>
            </a:r>
            <a:r>
              <a:rPr kumimoji="1" lang="en" altLang="zh-TW" dirty="0"/>
              <a:t>embedding</a:t>
            </a:r>
            <a:r>
              <a:rPr kumimoji="1" lang="zh-TW" altLang="en" dirty="0"/>
              <a:t>）</a:t>
            </a:r>
            <a:r>
              <a:rPr kumimoji="1" lang="zh-TW" altLang="en-US" dirty="0"/>
              <a:t>中表示詞彙的深度學習模型</a:t>
            </a:r>
            <a:endParaRPr kumimoji="1" lang="en" altLang="zh-TW" dirty="0"/>
          </a:p>
          <a:p>
            <a:pPr lvl="1"/>
            <a:r>
              <a:rPr kumimoji="1" lang="en" altLang="zh-TW" dirty="0" err="1"/>
              <a:t>ELMo</a:t>
            </a:r>
            <a:r>
              <a:rPr kumimoji="1" lang="zh-TW" altLang="en-US" dirty="0"/>
              <a:t>能夠學習到詞彙用法的複雜性，比如語法、語義。</a:t>
            </a:r>
            <a:endParaRPr kumimoji="1" lang="en-US" altLang="zh-TW" dirty="0"/>
          </a:p>
          <a:p>
            <a:pPr lvl="1"/>
            <a:r>
              <a:rPr kumimoji="1" lang="en" altLang="zh-TW" dirty="0" err="1"/>
              <a:t>ELMo</a:t>
            </a:r>
            <a:r>
              <a:rPr kumimoji="1" lang="zh-TW" altLang="en-US" dirty="0"/>
              <a:t>能夠學習不同上下文情況下的詞彙多義性。</a:t>
            </a:r>
          </a:p>
        </p:txBody>
      </p:sp>
      <p:pic>
        <p:nvPicPr>
          <p:cNvPr id="7170" name="Picture 2" descr="Elmo - Wikipedia">
            <a:extLst>
              <a:ext uri="{FF2B5EF4-FFF2-40B4-BE49-F238E27FC236}">
                <a16:creationId xmlns:a16="http://schemas.microsoft.com/office/drawing/2014/main" id="{C34E6B23-0E5A-ACDF-E9A7-F3392A319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7218" y="134172"/>
            <a:ext cx="1566582" cy="2436906"/>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40E1DFC1-8AA1-4AB3-C03B-F114794B0F5D}"/>
              </a:ext>
            </a:extLst>
          </p:cNvPr>
          <p:cNvSpPr txBox="1"/>
          <p:nvPr/>
        </p:nvSpPr>
        <p:spPr>
          <a:xfrm>
            <a:off x="838200" y="6488668"/>
            <a:ext cx="6099586" cy="369332"/>
          </a:xfrm>
          <a:prstGeom prst="rect">
            <a:avLst/>
          </a:prstGeom>
          <a:noFill/>
        </p:spPr>
        <p:txBody>
          <a:bodyPr wrap="square">
            <a:spAutoFit/>
          </a:bodyPr>
          <a:lstStyle/>
          <a:p>
            <a:r>
              <a:rPr kumimoji="1" lang="en" altLang="zh-TW" dirty="0">
                <a:hlinkClick r:id="rId3"/>
              </a:rPr>
              <a:t>https://arxiv.org/pdf/1802.05365.pdf</a:t>
            </a:r>
            <a:endParaRPr lang="zh-TW" altLang="en-US" dirty="0"/>
          </a:p>
        </p:txBody>
      </p:sp>
      <p:pic>
        <p:nvPicPr>
          <p:cNvPr id="7172" name="Picture 4">
            <a:extLst>
              <a:ext uri="{FF2B5EF4-FFF2-40B4-BE49-F238E27FC236}">
                <a16:creationId xmlns:a16="http://schemas.microsoft.com/office/drawing/2014/main" id="{93C138CB-3288-3301-C639-12BF8E98D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0985" y="3599045"/>
            <a:ext cx="5046233" cy="3124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3686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5F1165-2478-6C95-FD26-F1EA889A8B50}"/>
              </a:ext>
            </a:extLst>
          </p:cNvPr>
          <p:cNvSpPr>
            <a:spLocks noGrp="1"/>
          </p:cNvSpPr>
          <p:nvPr>
            <p:ph type="title"/>
          </p:nvPr>
        </p:nvSpPr>
        <p:spPr/>
        <p:txBody>
          <a:bodyPr/>
          <a:lstStyle/>
          <a:p>
            <a:r>
              <a:rPr kumimoji="1" lang="en-US" altLang="zh-TW" dirty="0" err="1"/>
              <a:t>ELMo</a:t>
            </a:r>
            <a:br>
              <a:rPr kumimoji="1" lang="en-US" altLang="zh-TW" dirty="0"/>
            </a:br>
            <a:r>
              <a:rPr kumimoji="1" lang="en-US" altLang="zh-TW" sz="4400" dirty="0"/>
              <a:t>(</a:t>
            </a:r>
            <a:r>
              <a:rPr kumimoji="1" lang="en" altLang="zh-TW" sz="4400" dirty="0"/>
              <a:t>Embeddings from Language Models</a:t>
            </a:r>
            <a:r>
              <a:rPr kumimoji="1" lang="en-US" altLang="zh-TW" sz="4400" dirty="0"/>
              <a:t>)</a:t>
            </a:r>
            <a:endParaRPr kumimoji="1" lang="zh-TW" altLang="en-US" dirty="0"/>
          </a:p>
        </p:txBody>
      </p:sp>
      <p:sp>
        <p:nvSpPr>
          <p:cNvPr id="3" name="內容版面配置區 2">
            <a:extLst>
              <a:ext uri="{FF2B5EF4-FFF2-40B4-BE49-F238E27FC236}">
                <a16:creationId xmlns:a16="http://schemas.microsoft.com/office/drawing/2014/main" id="{763E1B33-B7F0-1724-F3E3-1A5E456D0BFF}"/>
              </a:ext>
            </a:extLst>
          </p:cNvPr>
          <p:cNvSpPr>
            <a:spLocks noGrp="1"/>
          </p:cNvSpPr>
          <p:nvPr>
            <p:ph idx="1"/>
          </p:nvPr>
        </p:nvSpPr>
        <p:spPr>
          <a:xfrm>
            <a:off x="838200" y="1825625"/>
            <a:ext cx="10515600" cy="4667250"/>
          </a:xfrm>
        </p:spPr>
        <p:txBody>
          <a:bodyPr>
            <a:normAutofit/>
          </a:bodyPr>
          <a:lstStyle/>
          <a:p>
            <a:r>
              <a:rPr kumimoji="1" lang="en-US" altLang="zh-TW" dirty="0"/>
              <a:t>E</a:t>
            </a:r>
            <a:r>
              <a:rPr kumimoji="1" lang="en" altLang="zh-TW" dirty="0" err="1"/>
              <a:t>LMo</a:t>
            </a:r>
            <a:r>
              <a:rPr kumimoji="1" lang="zh-TW" altLang="en-US" dirty="0"/>
              <a:t>的主要思想是將上下文考慮納入在單詞表示的計算過程中，這表示單詞的表示是根據其上下文來動態生成的。</a:t>
            </a:r>
            <a:endParaRPr kumimoji="1" lang="en-US" altLang="zh-TW" dirty="0"/>
          </a:p>
          <a:p>
            <a:pPr lvl="1"/>
            <a:r>
              <a:rPr kumimoji="1" lang="zh-TW" altLang="en-US" dirty="0"/>
              <a:t>每個單詞的表示會隨著其在句子中的不同位置而變化。</a:t>
            </a:r>
            <a:endParaRPr kumimoji="1" lang="en-US" altLang="zh-TW" dirty="0"/>
          </a:p>
          <a:p>
            <a:pPr lvl="1"/>
            <a:r>
              <a:rPr kumimoji="1" lang="zh-TW" altLang="en-US" dirty="0"/>
              <a:t>與傳統的靜態詞向量不同，靜態詞向量將每個單詞映射到一個固定的向量表示。</a:t>
            </a:r>
          </a:p>
          <a:p>
            <a:r>
              <a:rPr kumimoji="1" lang="en" altLang="zh-TW" dirty="0" err="1"/>
              <a:t>ELMo</a:t>
            </a:r>
            <a:r>
              <a:rPr kumimoji="1" lang="zh-TW" altLang="en-US" dirty="0"/>
              <a:t>的生成過程是通過將單詞序列作為輸入，通過深度雙向語言模型進行訓練。</a:t>
            </a:r>
            <a:endParaRPr kumimoji="1" lang="en-US" altLang="zh-TW" dirty="0"/>
          </a:p>
          <a:p>
            <a:r>
              <a:rPr kumimoji="1" lang="zh-TW" altLang="en-US" dirty="0"/>
              <a:t>該模型由多層的雙向長短期記憶網絡（</a:t>
            </a:r>
            <a:r>
              <a:rPr kumimoji="1" lang="en" altLang="zh-TW" dirty="0"/>
              <a:t>Bi-LSTM</a:t>
            </a:r>
            <a:r>
              <a:rPr kumimoji="1" lang="zh-TW" altLang="en" dirty="0"/>
              <a:t>）</a:t>
            </a:r>
            <a:r>
              <a:rPr kumimoji="1" lang="zh-TW" altLang="en-US" dirty="0"/>
              <a:t>組成，每層都會產生一個隱藏表示，然後將這些隱藏表示進行</a:t>
            </a:r>
            <a:r>
              <a:rPr kumimoji="1" lang="zh-TW" altLang="en-US" dirty="0">
                <a:solidFill>
                  <a:srgbClr val="FF0000"/>
                </a:solidFill>
              </a:rPr>
              <a:t>線性加權總和</a:t>
            </a:r>
            <a:r>
              <a:rPr kumimoji="1" lang="zh-TW" altLang="en-US" dirty="0"/>
              <a:t>，產生最後的上下文表示。</a:t>
            </a:r>
            <a:endParaRPr kumimoji="1" lang="en-US" altLang="zh-TW" dirty="0"/>
          </a:p>
        </p:txBody>
      </p:sp>
    </p:spTree>
    <p:extLst>
      <p:ext uri="{BB962C8B-B14F-4D97-AF65-F5344CB8AC3E}">
        <p14:creationId xmlns:p14="http://schemas.microsoft.com/office/powerpoint/2010/main" val="8451515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8683FA-949B-F5FF-3201-436A5E268305}"/>
              </a:ext>
            </a:extLst>
          </p:cNvPr>
          <p:cNvSpPr>
            <a:spLocks noGrp="1"/>
          </p:cNvSpPr>
          <p:nvPr>
            <p:ph type="title"/>
          </p:nvPr>
        </p:nvSpPr>
        <p:spPr/>
        <p:txBody>
          <a:bodyPr/>
          <a:lstStyle/>
          <a:p>
            <a:r>
              <a:rPr kumimoji="1" lang="en-US" altLang="zh-TW" dirty="0" err="1"/>
              <a:t>ELMo</a:t>
            </a:r>
            <a:br>
              <a:rPr kumimoji="1" lang="en-US" altLang="zh-TW" dirty="0"/>
            </a:br>
            <a:r>
              <a:rPr kumimoji="1" lang="en-US" altLang="zh-TW" sz="4400" dirty="0"/>
              <a:t>(</a:t>
            </a:r>
            <a:r>
              <a:rPr kumimoji="1" lang="en" altLang="zh-TW" sz="4400" dirty="0"/>
              <a:t>Embeddings from Language Models</a:t>
            </a:r>
            <a:r>
              <a:rPr kumimoji="1" lang="en-US" altLang="zh-TW" sz="4400" dirty="0"/>
              <a:t>)</a:t>
            </a:r>
            <a:endParaRPr kumimoji="1" lang="zh-TW" altLang="en-US" dirty="0"/>
          </a:p>
        </p:txBody>
      </p:sp>
      <p:sp>
        <p:nvSpPr>
          <p:cNvPr id="3" name="內容版面配置區 2">
            <a:extLst>
              <a:ext uri="{FF2B5EF4-FFF2-40B4-BE49-F238E27FC236}">
                <a16:creationId xmlns:a16="http://schemas.microsoft.com/office/drawing/2014/main" id="{597CB6F3-71A9-8E84-1C60-634428374A2A}"/>
              </a:ext>
            </a:extLst>
          </p:cNvPr>
          <p:cNvSpPr>
            <a:spLocks noGrp="1"/>
          </p:cNvSpPr>
          <p:nvPr>
            <p:ph idx="1"/>
          </p:nvPr>
        </p:nvSpPr>
        <p:spPr/>
        <p:txBody>
          <a:bodyPr/>
          <a:lstStyle/>
          <a:p>
            <a:r>
              <a:rPr kumimoji="1" lang="en" altLang="zh-TW" dirty="0" err="1"/>
              <a:t>ELMo</a:t>
            </a:r>
            <a:r>
              <a:rPr kumimoji="1" lang="zh-TW" altLang="en-US" dirty="0"/>
              <a:t>就是原始詞向量和兩個中間詞向量的加權和</a:t>
            </a:r>
            <a:endParaRPr kumimoji="1" lang="en-US" altLang="zh-TW" dirty="0"/>
          </a:p>
          <a:p>
            <a:r>
              <a:rPr kumimoji="1" lang="zh-TW" altLang="en-US" dirty="0"/>
              <a:t>具體而言，</a:t>
            </a:r>
            <a:r>
              <a:rPr kumimoji="1" lang="en" altLang="zh-TW" dirty="0" err="1"/>
              <a:t>ELMo</a:t>
            </a:r>
            <a:r>
              <a:rPr kumimoji="1" lang="zh-TW" altLang="en-US" dirty="0"/>
              <a:t>模型會根據給定的句子，利用多個深度雙向</a:t>
            </a:r>
            <a:r>
              <a:rPr kumimoji="1" lang="en" altLang="zh-TW" dirty="0"/>
              <a:t>LSTM</a:t>
            </a:r>
            <a:r>
              <a:rPr kumimoji="1" lang="zh-TW" altLang="en-US" dirty="0"/>
              <a:t>模型來計算每個單詞的表示，這些表示會考慮單詞出現的上下文，因此因為雙向語言模型的輸入度量是字符而不是詞彙，該模型能捕捉詞的內部結構信息</a:t>
            </a:r>
          </a:p>
          <a:p>
            <a:r>
              <a:rPr kumimoji="1" lang="zh-TW" altLang="en-US" dirty="0"/>
              <a:t>比如</a:t>
            </a:r>
            <a:r>
              <a:rPr kumimoji="1" lang="en" altLang="zh-TW" dirty="0"/>
              <a:t>beauty</a:t>
            </a:r>
            <a:r>
              <a:rPr kumimoji="1" lang="zh-TW" altLang="en-US" dirty="0"/>
              <a:t>和</a:t>
            </a:r>
            <a:r>
              <a:rPr kumimoji="1" lang="en" altLang="zh-TW" dirty="0"/>
              <a:t>beautiful</a:t>
            </a:r>
            <a:r>
              <a:rPr kumimoji="1" lang="zh-TW" altLang="en" dirty="0"/>
              <a:t>，</a:t>
            </a:r>
            <a:r>
              <a:rPr kumimoji="1" lang="zh-TW" altLang="en-US" dirty="0"/>
              <a:t>即使不了解這兩個詞的上下文，雙向語言模型也能夠識別出它們的一定程度上的相關性</a:t>
            </a:r>
          </a:p>
          <a:p>
            <a:endParaRPr kumimoji="1" lang="zh-TW" altLang="en-US" dirty="0"/>
          </a:p>
        </p:txBody>
      </p:sp>
    </p:spTree>
    <p:extLst>
      <p:ext uri="{BB962C8B-B14F-4D97-AF65-F5344CB8AC3E}">
        <p14:creationId xmlns:p14="http://schemas.microsoft.com/office/powerpoint/2010/main" val="8297735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974896-86B0-7DCD-4E55-E4E65214B753}"/>
              </a:ext>
            </a:extLst>
          </p:cNvPr>
          <p:cNvSpPr>
            <a:spLocks noGrp="1"/>
          </p:cNvSpPr>
          <p:nvPr>
            <p:ph type="title"/>
          </p:nvPr>
        </p:nvSpPr>
        <p:spPr/>
        <p:txBody>
          <a:bodyPr/>
          <a:lstStyle/>
          <a:p>
            <a:r>
              <a:rPr kumimoji="1" lang="en-US" altLang="zh-TW" dirty="0" err="1"/>
              <a:t>ELMo</a:t>
            </a:r>
            <a:br>
              <a:rPr kumimoji="1" lang="en-US" altLang="zh-TW" dirty="0"/>
            </a:br>
            <a:r>
              <a:rPr kumimoji="1" lang="en-US" altLang="zh-TW" sz="4400" dirty="0"/>
              <a:t>(</a:t>
            </a:r>
            <a:r>
              <a:rPr kumimoji="1" lang="en" altLang="zh-TW" sz="4400" dirty="0"/>
              <a:t>Embeddings from Language Models</a:t>
            </a:r>
            <a:r>
              <a:rPr kumimoji="1" lang="en-US" altLang="zh-TW" sz="4400" dirty="0"/>
              <a:t>)</a:t>
            </a:r>
            <a:endParaRPr kumimoji="1" lang="zh-TW" altLang="en-US" dirty="0"/>
          </a:p>
        </p:txBody>
      </p:sp>
      <p:sp>
        <p:nvSpPr>
          <p:cNvPr id="3" name="內容版面配置區 2">
            <a:extLst>
              <a:ext uri="{FF2B5EF4-FFF2-40B4-BE49-F238E27FC236}">
                <a16:creationId xmlns:a16="http://schemas.microsoft.com/office/drawing/2014/main" id="{7F13BD9B-9A01-8773-07A4-EA544AD6FD67}"/>
              </a:ext>
            </a:extLst>
          </p:cNvPr>
          <p:cNvSpPr>
            <a:spLocks noGrp="1"/>
          </p:cNvSpPr>
          <p:nvPr>
            <p:ph idx="1"/>
          </p:nvPr>
        </p:nvSpPr>
        <p:spPr/>
        <p:txBody>
          <a:bodyPr>
            <a:normAutofit lnSpcReduction="10000"/>
          </a:bodyPr>
          <a:lstStyle/>
          <a:p>
            <a:r>
              <a:rPr kumimoji="1" lang="zh-TW" altLang="en-US" dirty="0"/>
              <a:t>例如</a:t>
            </a:r>
            <a:endParaRPr kumimoji="1" lang="en-US" altLang="zh-TW" dirty="0"/>
          </a:p>
          <a:p>
            <a:pPr lvl="1"/>
            <a:r>
              <a:rPr lang="en" altLang="zh-TW" b="0" i="0" dirty="0">
                <a:solidFill>
                  <a:srgbClr val="FF0000"/>
                </a:solidFill>
                <a:effectLst/>
                <a:latin typeface="source-serif-pro"/>
              </a:rPr>
              <a:t>I read the book yesterday.</a:t>
            </a:r>
          </a:p>
          <a:p>
            <a:pPr lvl="1"/>
            <a:r>
              <a:rPr lang="en" altLang="zh-TW" b="0" i="0" dirty="0">
                <a:solidFill>
                  <a:srgbClr val="FF0000"/>
                </a:solidFill>
                <a:effectLst/>
                <a:latin typeface="source-serif-pro"/>
              </a:rPr>
              <a:t>Can you read the letter now?</a:t>
            </a:r>
          </a:p>
          <a:p>
            <a:r>
              <a:rPr kumimoji="1" lang="zh-TW" altLang="en-US" dirty="0"/>
              <a:t>第一個句子中的動詞“</a:t>
            </a:r>
            <a:r>
              <a:rPr kumimoji="1" lang="en" altLang="zh-TW" dirty="0"/>
              <a:t>read”</a:t>
            </a:r>
            <a:r>
              <a:rPr kumimoji="1" lang="zh-TW" altLang="en-US" dirty="0"/>
              <a:t>是過去式，而第二個句子中的“</a:t>
            </a:r>
            <a:r>
              <a:rPr kumimoji="1" lang="en" altLang="zh-TW" dirty="0"/>
              <a:t>read”</a:t>
            </a:r>
            <a:r>
              <a:rPr kumimoji="1" lang="zh-TW" altLang="en-US" dirty="0"/>
              <a:t>卻是現在式，這是一種一詞多義現象</a:t>
            </a:r>
          </a:p>
          <a:p>
            <a:r>
              <a:rPr kumimoji="1" lang="zh-TW" altLang="en-US" dirty="0"/>
              <a:t>傳統的詞嵌入會對兩個句子中的詞“</a:t>
            </a:r>
            <a:r>
              <a:rPr kumimoji="1" lang="en" altLang="zh-TW" dirty="0"/>
              <a:t>read”</a:t>
            </a:r>
            <a:r>
              <a:rPr kumimoji="1" lang="zh-TW" altLang="en-US" dirty="0"/>
              <a:t>生成同樣的向量，所以這些架構無法區別多義詞，它們無法識別詞的上下文</a:t>
            </a:r>
          </a:p>
          <a:p>
            <a:r>
              <a:rPr kumimoji="1" lang="zh-TW" altLang="en-US" dirty="0"/>
              <a:t>與之相反，</a:t>
            </a:r>
            <a:r>
              <a:rPr kumimoji="1" lang="en" altLang="zh-TW" dirty="0" err="1"/>
              <a:t>ELMo</a:t>
            </a:r>
            <a:r>
              <a:rPr kumimoji="1" lang="zh-TW" altLang="en-US" dirty="0"/>
              <a:t>的詞向量能夠很好地解決這種問題。</a:t>
            </a:r>
            <a:endParaRPr kumimoji="1" lang="en-US" altLang="zh-TW" dirty="0"/>
          </a:p>
          <a:p>
            <a:r>
              <a:rPr kumimoji="1" lang="en" altLang="zh-TW" dirty="0" err="1"/>
              <a:t>ELMo</a:t>
            </a:r>
            <a:r>
              <a:rPr kumimoji="1" lang="zh-TW" altLang="en-US" dirty="0"/>
              <a:t>模型將整個句子輸入方程式中來計算詞嵌入</a:t>
            </a:r>
          </a:p>
          <a:p>
            <a:pPr lvl="1"/>
            <a:r>
              <a:rPr kumimoji="1" lang="zh-TW" altLang="en-US" dirty="0"/>
              <a:t>因此，上例中兩個句子的“</a:t>
            </a:r>
            <a:r>
              <a:rPr kumimoji="1" lang="en" altLang="zh-TW" dirty="0"/>
              <a:t>read”</a:t>
            </a:r>
            <a:r>
              <a:rPr kumimoji="1" lang="zh-TW" altLang="en-US" dirty="0"/>
              <a:t>會有不同的</a:t>
            </a:r>
            <a:r>
              <a:rPr kumimoji="1" lang="en" altLang="zh-TW" dirty="0" err="1"/>
              <a:t>ELMo</a:t>
            </a:r>
            <a:r>
              <a:rPr kumimoji="1" lang="zh-TW" altLang="en-US" dirty="0"/>
              <a:t>向量</a:t>
            </a:r>
          </a:p>
        </p:txBody>
      </p:sp>
    </p:spTree>
    <p:extLst>
      <p:ext uri="{BB962C8B-B14F-4D97-AF65-F5344CB8AC3E}">
        <p14:creationId xmlns:p14="http://schemas.microsoft.com/office/powerpoint/2010/main" val="20733312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1AD6F3-31C7-C142-20D2-5549CAD2B7A1}"/>
              </a:ext>
            </a:extLst>
          </p:cNvPr>
          <p:cNvSpPr>
            <a:spLocks noGrp="1"/>
          </p:cNvSpPr>
          <p:nvPr>
            <p:ph type="title"/>
          </p:nvPr>
        </p:nvSpPr>
        <p:spPr>
          <a:xfrm>
            <a:off x="838200" y="365125"/>
            <a:ext cx="10515600" cy="1325563"/>
          </a:xfrm>
        </p:spPr>
        <p:txBody>
          <a:bodyPr>
            <a:normAutofit/>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122F5765-21B8-D151-DF67-21E5D66601C0}"/>
              </a:ext>
            </a:extLst>
          </p:cNvPr>
          <p:cNvSpPr>
            <a:spLocks noGrp="1"/>
          </p:cNvSpPr>
          <p:nvPr>
            <p:ph idx="1"/>
          </p:nvPr>
        </p:nvSpPr>
        <p:spPr>
          <a:xfrm>
            <a:off x="838200" y="1825625"/>
            <a:ext cx="10515600" cy="4351338"/>
          </a:xfrm>
        </p:spPr>
        <p:txBody>
          <a:bodyPr>
            <a:normAutofit/>
          </a:bodyPr>
          <a:lstStyle/>
          <a:p>
            <a:r>
              <a:rPr lang="zh-TW" altLang="en-US" dirty="0"/>
              <a:t>會出現問題是，如果用前述的例子來訓練一個 </a:t>
            </a:r>
            <a:r>
              <a:rPr lang="en-US" altLang="zh-TW" dirty="0"/>
              <a:t>10,000 </a:t>
            </a:r>
            <a:r>
              <a:rPr lang="en" altLang="zh-TW" dirty="0"/>
              <a:t>x 300 </a:t>
            </a:r>
            <a:r>
              <a:rPr lang="zh-TW" altLang="en-US" dirty="0"/>
              <a:t>的神經網路的話，我們必須要計算這個矩陣中，共三百萬個權重的值！因此提出了三個方式來提高模型的訓練效率：</a:t>
            </a:r>
          </a:p>
          <a:p>
            <a:pPr lvl="1"/>
            <a:r>
              <a:rPr lang="zh-TW" altLang="en-US" dirty="0"/>
              <a:t>在模型中，將常見的單詞組合 </a:t>
            </a:r>
            <a:r>
              <a:rPr lang="en-US" altLang="zh-TW" dirty="0"/>
              <a:t>(</a:t>
            </a:r>
            <a:r>
              <a:rPr lang="en" altLang="zh-TW" dirty="0"/>
              <a:t>word pairs)</a:t>
            </a:r>
            <a:r>
              <a:rPr lang="zh-TW" altLang="en" dirty="0"/>
              <a:t>，</a:t>
            </a:r>
            <a:r>
              <a:rPr lang="zh-TW" altLang="en-US" dirty="0"/>
              <a:t>或是詞組 </a:t>
            </a:r>
            <a:r>
              <a:rPr lang="en-US" altLang="zh-TW" dirty="0"/>
              <a:t>(</a:t>
            </a:r>
            <a:r>
              <a:rPr lang="en" altLang="zh-TW" dirty="0"/>
              <a:t>phrase) </a:t>
            </a:r>
            <a:r>
              <a:rPr lang="zh-TW" altLang="en-US" dirty="0"/>
              <a:t>當作是單個字來處理</a:t>
            </a:r>
          </a:p>
          <a:p>
            <a:pPr lvl="1"/>
            <a:r>
              <a:rPr lang="zh-TW" altLang="en-US" dirty="0"/>
              <a:t>對高頻率出現的字詞進行抽樣，來減少訓練樣本的數目</a:t>
            </a:r>
          </a:p>
          <a:p>
            <a:pPr lvl="1"/>
            <a:r>
              <a:rPr lang="zh-TW" altLang="en-US" dirty="0"/>
              <a:t>訓練一個神經網路必須輸入訓練的樣本，然後不斷地更新神經元的權重，進而提高對目標的預測，每經過一個訓練樣本的訓練，各個神經元的權重就要進行一次調整。假設我們詞彙表中有 </a:t>
            </a:r>
            <a:r>
              <a:rPr lang="en-US" altLang="zh-TW" dirty="0"/>
              <a:t>10,000 </a:t>
            </a:r>
            <a:r>
              <a:rPr lang="zh-TW" altLang="en-US" dirty="0"/>
              <a:t>個字詞，形成一個龐大的神經網路，那每有一個訓練樣本，就要重新調整一次，這將耗費龐大的運算資源，也會讓實際模型訓練起來非常的慢。</a:t>
            </a:r>
          </a:p>
        </p:txBody>
      </p:sp>
    </p:spTree>
    <p:extLst>
      <p:ext uri="{BB962C8B-B14F-4D97-AF65-F5344CB8AC3E}">
        <p14:creationId xmlns:p14="http://schemas.microsoft.com/office/powerpoint/2010/main" val="35092664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D66749-3DE9-FED7-BB00-250EA988BEC0}"/>
              </a:ext>
            </a:extLst>
          </p:cNvPr>
          <p:cNvSpPr>
            <a:spLocks noGrp="1"/>
          </p:cNvSpPr>
          <p:nvPr>
            <p:ph type="title"/>
          </p:nvPr>
        </p:nvSpPr>
        <p:spPr>
          <a:xfrm>
            <a:off x="838200" y="365125"/>
            <a:ext cx="10515600" cy="1325563"/>
          </a:xfrm>
        </p:spPr>
        <p:txBody>
          <a:bodyPr>
            <a:normAutofit/>
          </a:bodyPr>
          <a:lstStyle/>
          <a:p>
            <a:r>
              <a:rPr lang="zh-TW" altLang="en-US" dirty="0"/>
              <a:t>用神經網路處理自然語言</a:t>
            </a:r>
            <a:br>
              <a:rPr lang="en-US" altLang="zh-TW" dirty="0"/>
            </a:br>
            <a:r>
              <a:rPr lang="en-US" altLang="zh-TW" dirty="0"/>
              <a:t>(</a:t>
            </a:r>
            <a:r>
              <a:rPr lang="en" altLang="zh-TW" dirty="0"/>
              <a:t>Predicted Based Embedding</a:t>
            </a:r>
            <a:r>
              <a:rPr lang="en-US" altLang="zh-TW" dirty="0"/>
              <a:t>)</a:t>
            </a:r>
            <a:endParaRPr lang="zh-TW" altLang="en-US" dirty="0"/>
          </a:p>
        </p:txBody>
      </p:sp>
      <p:sp>
        <p:nvSpPr>
          <p:cNvPr id="3" name="內容版面配置區 2">
            <a:extLst>
              <a:ext uri="{FF2B5EF4-FFF2-40B4-BE49-F238E27FC236}">
                <a16:creationId xmlns:a16="http://schemas.microsoft.com/office/drawing/2014/main" id="{4D8828BA-A467-A0D2-D939-627E534B7ECE}"/>
              </a:ext>
            </a:extLst>
          </p:cNvPr>
          <p:cNvSpPr>
            <a:spLocks noGrp="1"/>
          </p:cNvSpPr>
          <p:nvPr>
            <p:ph idx="1"/>
          </p:nvPr>
        </p:nvSpPr>
        <p:spPr>
          <a:xfrm>
            <a:off x="838200" y="1825625"/>
            <a:ext cx="10515600" cy="4351338"/>
          </a:xfrm>
        </p:spPr>
        <p:txBody>
          <a:bodyPr>
            <a:normAutofit fontScale="70000" lnSpcReduction="20000"/>
          </a:bodyPr>
          <a:lstStyle/>
          <a:p>
            <a:pPr>
              <a:lnSpc>
                <a:spcPct val="120000"/>
              </a:lnSpc>
            </a:pPr>
            <a:r>
              <a:rPr lang="zh-TW" altLang="en-US" dirty="0"/>
              <a:t>對於優化目標，使用 “</a:t>
            </a:r>
            <a:r>
              <a:rPr lang="en" altLang="zh-TW" dirty="0"/>
              <a:t>Negative Sampling” </a:t>
            </a:r>
            <a:r>
              <a:rPr lang="zh-TW" altLang="en-US" dirty="0"/>
              <a:t>的方式，讓每個訓練模型，可以只更新一小部分的權重，降低運算的負擔</a:t>
            </a:r>
            <a:endParaRPr lang="en" altLang="zh-TW" dirty="0"/>
          </a:p>
          <a:p>
            <a:pPr>
              <a:lnSpc>
                <a:spcPct val="120000"/>
              </a:lnSpc>
            </a:pPr>
            <a:r>
              <a:rPr lang="en" altLang="zh-TW" dirty="0"/>
              <a:t>Negative sampling </a:t>
            </a:r>
            <a:r>
              <a:rPr lang="zh-TW" altLang="en-US" dirty="0"/>
              <a:t>即用來解決這個問題，對於每個訓練樣本，只更新一部分的權重，而非整個神經網路的權重都被更新。舉例來說，當我們用訓練樣本 </a:t>
            </a:r>
            <a:r>
              <a:rPr lang="en-US" altLang="zh-TW" dirty="0"/>
              <a:t>(</a:t>
            </a:r>
            <a:r>
              <a:rPr lang="en" altLang="zh-TW" dirty="0"/>
              <a:t>input word: “fox”, output word: “quick”) </a:t>
            </a:r>
            <a:r>
              <a:rPr lang="zh-TW" altLang="en-US" dirty="0"/>
              <a:t>來訓練我們的神經網路時，”</a:t>
            </a:r>
            <a:r>
              <a:rPr lang="en" altLang="zh-TW" dirty="0"/>
              <a:t>fox” </a:t>
            </a:r>
            <a:r>
              <a:rPr lang="zh-TW" altLang="en-US" dirty="0"/>
              <a:t>和 “</a:t>
            </a:r>
            <a:r>
              <a:rPr lang="en" altLang="zh-TW" dirty="0"/>
              <a:t>quick” </a:t>
            </a:r>
            <a:r>
              <a:rPr lang="zh-TW" altLang="en-US" dirty="0"/>
              <a:t>都是用 </a:t>
            </a:r>
            <a:r>
              <a:rPr lang="en" altLang="zh-TW" dirty="0"/>
              <a:t>one-hot </a:t>
            </a:r>
            <a:r>
              <a:rPr lang="zh-TW" altLang="en-US" dirty="0"/>
              <a:t>編碼來表示。如果我們詞彙表的大小是 </a:t>
            </a:r>
            <a:r>
              <a:rPr lang="en-US" altLang="zh-TW" dirty="0"/>
              <a:t>10,000 </a:t>
            </a:r>
            <a:r>
              <a:rPr lang="zh-TW" altLang="en-US" dirty="0"/>
              <a:t>的話，則在輸出層，我們期望對應 “</a:t>
            </a:r>
            <a:r>
              <a:rPr lang="en" altLang="zh-TW" dirty="0"/>
              <a:t>quick” </a:t>
            </a:r>
            <a:r>
              <a:rPr lang="zh-TW" altLang="en-US" dirty="0"/>
              <a:t>這個字詞的神經元節點輸出是 </a:t>
            </a:r>
            <a:r>
              <a:rPr lang="en-US" altLang="zh-TW" dirty="0"/>
              <a:t>1</a:t>
            </a:r>
            <a:r>
              <a:rPr lang="zh-TW" altLang="en-US" dirty="0"/>
              <a:t>，其他 </a:t>
            </a:r>
            <a:r>
              <a:rPr lang="en-US" altLang="zh-TW" dirty="0"/>
              <a:t>9.999 </a:t>
            </a:r>
            <a:r>
              <a:rPr lang="zh-TW" altLang="en-US" dirty="0"/>
              <a:t>個神經元輸出都是 </a:t>
            </a:r>
            <a:r>
              <a:rPr lang="en-US" altLang="zh-TW" dirty="0"/>
              <a:t>0</a:t>
            </a:r>
            <a:r>
              <a:rPr lang="zh-TW" altLang="en-US" dirty="0"/>
              <a:t>，這 </a:t>
            </a:r>
            <a:r>
              <a:rPr lang="en-US" altLang="zh-TW" dirty="0"/>
              <a:t>9,999 </a:t>
            </a:r>
            <a:r>
              <a:rPr lang="zh-TW" altLang="en-US" dirty="0"/>
              <a:t>個期望輸出為 </a:t>
            </a:r>
            <a:r>
              <a:rPr lang="en-US" altLang="zh-TW" dirty="0"/>
              <a:t>0 </a:t>
            </a:r>
            <a:r>
              <a:rPr lang="zh-TW" altLang="en-US" dirty="0"/>
              <a:t>的神經元節點所對應的字詞我們就稱為 “</a:t>
            </a:r>
            <a:r>
              <a:rPr lang="en" altLang="zh-TW" dirty="0"/>
              <a:t>negative word”</a:t>
            </a:r>
            <a:r>
              <a:rPr lang="zh-TW" altLang="en" dirty="0"/>
              <a:t>。</a:t>
            </a:r>
          </a:p>
          <a:p>
            <a:pPr>
              <a:lnSpc>
                <a:spcPct val="120000"/>
              </a:lnSpc>
            </a:pPr>
            <a:r>
              <a:rPr lang="zh-TW" altLang="en-US" dirty="0"/>
              <a:t>當使用 </a:t>
            </a:r>
            <a:r>
              <a:rPr lang="en" altLang="zh-TW" dirty="0"/>
              <a:t>negative sampling </a:t>
            </a:r>
            <a:r>
              <a:rPr lang="zh-TW" altLang="en-US" dirty="0"/>
              <a:t>時，我們隨機選擇一小部分的 “</a:t>
            </a:r>
            <a:r>
              <a:rPr lang="en" altLang="zh-TW" dirty="0"/>
              <a:t>negative” words (</a:t>
            </a:r>
            <a:r>
              <a:rPr lang="zh-TW" altLang="en-US" dirty="0"/>
              <a:t>比如說選 </a:t>
            </a:r>
            <a:r>
              <a:rPr lang="en-US" altLang="zh-TW" dirty="0"/>
              <a:t>5 </a:t>
            </a:r>
            <a:r>
              <a:rPr lang="zh-TW" altLang="en-US" dirty="0"/>
              <a:t>個 </a:t>
            </a:r>
            <a:r>
              <a:rPr lang="en" altLang="zh-TW" dirty="0"/>
              <a:t>negative words) </a:t>
            </a:r>
            <a:r>
              <a:rPr lang="zh-TW" altLang="en-US" dirty="0"/>
              <a:t>來更新相對應的權重。我們也會針對 “</a:t>
            </a:r>
            <a:r>
              <a:rPr lang="en" altLang="zh-TW" dirty="0"/>
              <a:t>positive” word </a:t>
            </a:r>
            <a:r>
              <a:rPr lang="zh-TW" altLang="en-US" dirty="0"/>
              <a:t>做更新，在目前的例子，</a:t>
            </a:r>
            <a:r>
              <a:rPr lang="en" altLang="zh-TW" dirty="0"/>
              <a:t>positive word </a:t>
            </a:r>
            <a:r>
              <a:rPr lang="zh-TW" altLang="en-US" dirty="0"/>
              <a:t>是 “</a:t>
            </a:r>
            <a:r>
              <a:rPr lang="en" altLang="zh-TW" dirty="0"/>
              <a:t>quick”</a:t>
            </a:r>
            <a:r>
              <a:rPr lang="zh-TW" altLang="en" dirty="0"/>
              <a:t>。</a:t>
            </a:r>
            <a:r>
              <a:rPr lang="zh-TW" altLang="en-US" dirty="0"/>
              <a:t>論文中是說如果是小規模數據集的話，可選 </a:t>
            </a:r>
            <a:r>
              <a:rPr lang="en-US" altLang="zh-TW" dirty="0"/>
              <a:t>5–20 </a:t>
            </a:r>
            <a:r>
              <a:rPr lang="zh-TW" altLang="en-US" dirty="0"/>
              <a:t>個字作為 </a:t>
            </a:r>
            <a:r>
              <a:rPr lang="en" altLang="zh-TW" dirty="0"/>
              <a:t>negative sample</a:t>
            </a:r>
            <a:r>
              <a:rPr lang="zh-TW" altLang="en" dirty="0"/>
              <a:t>；</a:t>
            </a:r>
            <a:r>
              <a:rPr lang="zh-TW" altLang="en-US" dirty="0"/>
              <a:t>但對於比較大的數據集的話，可選擇 </a:t>
            </a:r>
            <a:r>
              <a:rPr lang="en-US" altLang="zh-TW" dirty="0"/>
              <a:t>2–5 </a:t>
            </a:r>
            <a:r>
              <a:rPr lang="zh-TW" altLang="en-US" dirty="0"/>
              <a:t>個字詞作為 </a:t>
            </a:r>
            <a:r>
              <a:rPr lang="en" altLang="zh-TW" dirty="0"/>
              <a:t>negative words</a:t>
            </a:r>
            <a:r>
              <a:rPr lang="zh-TW" altLang="en" dirty="0"/>
              <a:t>。</a:t>
            </a:r>
          </a:p>
        </p:txBody>
      </p:sp>
    </p:spTree>
    <p:extLst>
      <p:ext uri="{BB962C8B-B14F-4D97-AF65-F5344CB8AC3E}">
        <p14:creationId xmlns:p14="http://schemas.microsoft.com/office/powerpoint/2010/main" val="37677288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379F5D-EEA4-D34B-794F-BAE7F5FEBD2F}"/>
              </a:ext>
            </a:extLst>
          </p:cNvPr>
          <p:cNvSpPr>
            <a:spLocks noGrp="1"/>
          </p:cNvSpPr>
          <p:nvPr>
            <p:ph type="title"/>
          </p:nvPr>
        </p:nvSpPr>
        <p:spPr/>
        <p:txBody>
          <a:bodyPr>
            <a:normAutofit fontScale="90000"/>
          </a:bodyPr>
          <a:lstStyle/>
          <a:p>
            <a:r>
              <a:rPr lang="zh-TW" altLang="en-US" dirty="0"/>
              <a:t>用神經網路處理自然語言</a:t>
            </a:r>
            <a:br>
              <a:rPr lang="en-US" altLang="zh-TW" dirty="0"/>
            </a:br>
            <a:r>
              <a:rPr lang="en-US" altLang="zh-TW" sz="5400" dirty="0"/>
              <a:t>(</a:t>
            </a:r>
            <a:r>
              <a:rPr lang="en" altLang="zh-TW" sz="5400" dirty="0"/>
              <a:t>Predicted Based Embedding</a:t>
            </a:r>
            <a:r>
              <a:rPr lang="en-US" altLang="zh-TW" sz="5400"/>
              <a:t>)</a:t>
            </a:r>
            <a:endParaRPr kumimoji="1" lang="zh-TW" altLang="en-US"/>
          </a:p>
        </p:txBody>
      </p:sp>
      <p:sp>
        <p:nvSpPr>
          <p:cNvPr id="3" name="內容版面配置區 2">
            <a:extLst>
              <a:ext uri="{FF2B5EF4-FFF2-40B4-BE49-F238E27FC236}">
                <a16:creationId xmlns:a16="http://schemas.microsoft.com/office/drawing/2014/main" id="{B39CC3FD-C568-2DFA-086B-624D9B68DCD6}"/>
              </a:ext>
            </a:extLst>
          </p:cNvPr>
          <p:cNvSpPr>
            <a:spLocks noGrp="1"/>
          </p:cNvSpPr>
          <p:nvPr>
            <p:ph idx="1"/>
          </p:nvPr>
        </p:nvSpPr>
        <p:spPr/>
        <p:txBody>
          <a:bodyPr>
            <a:normAutofit fontScale="85000" lnSpcReduction="20000"/>
          </a:bodyPr>
          <a:lstStyle/>
          <a:p>
            <a:pPr>
              <a:lnSpc>
                <a:spcPct val="110000"/>
              </a:lnSpc>
            </a:pPr>
            <a:r>
              <a:rPr kumimoji="1" lang="zh-TW" altLang="en-US" dirty="0"/>
              <a:t>我們的輸出層是一個 </a:t>
            </a:r>
            <a:r>
              <a:rPr kumimoji="1" lang="en-US" altLang="zh-TW" dirty="0"/>
              <a:t>300 </a:t>
            </a:r>
            <a:r>
              <a:rPr kumimoji="1" lang="en" altLang="zh-TW" dirty="0"/>
              <a:t>x 10,000 </a:t>
            </a:r>
            <a:r>
              <a:rPr kumimoji="1" lang="zh-TW" altLang="en-US" dirty="0"/>
              <a:t>的權重矩陣。如果我們只更新 “</a:t>
            </a:r>
            <a:r>
              <a:rPr kumimoji="1" lang="en" altLang="zh-TW" dirty="0"/>
              <a:t>quick” </a:t>
            </a:r>
            <a:r>
              <a:rPr kumimoji="1" lang="zh-TW" altLang="en-US" dirty="0"/>
              <a:t>這個 </a:t>
            </a:r>
            <a:r>
              <a:rPr kumimoji="1" lang="en" altLang="zh-TW" dirty="0"/>
              <a:t>positive word</a:t>
            </a:r>
            <a:r>
              <a:rPr kumimoji="1" lang="zh-TW" altLang="en" dirty="0"/>
              <a:t>，</a:t>
            </a:r>
            <a:r>
              <a:rPr kumimoji="1" lang="zh-TW" altLang="en-US" dirty="0"/>
              <a:t>以及其他 </a:t>
            </a:r>
            <a:r>
              <a:rPr kumimoji="1" lang="en-US" altLang="zh-TW" dirty="0"/>
              <a:t>5 </a:t>
            </a:r>
            <a:r>
              <a:rPr kumimoji="1" lang="zh-TW" altLang="en-US" dirty="0"/>
              <a:t>個 </a:t>
            </a:r>
            <a:r>
              <a:rPr kumimoji="1" lang="en" altLang="zh-TW" dirty="0"/>
              <a:t>negative words </a:t>
            </a:r>
            <a:r>
              <a:rPr kumimoji="1" lang="zh-TW" altLang="en-US" dirty="0"/>
              <a:t>的權重的話，總共只需要更新 </a:t>
            </a:r>
            <a:r>
              <a:rPr kumimoji="1" lang="en-US" altLang="zh-TW" dirty="0"/>
              <a:t>6 </a:t>
            </a:r>
            <a:r>
              <a:rPr kumimoji="1" lang="zh-TW" altLang="en-US" dirty="0"/>
              <a:t>個神經元，也就是 </a:t>
            </a:r>
            <a:r>
              <a:rPr kumimoji="1" lang="en-US" altLang="zh-TW" dirty="0"/>
              <a:t>6 </a:t>
            </a:r>
            <a:r>
              <a:rPr kumimoji="1" lang="en" altLang="zh-TW" dirty="0"/>
              <a:t>x 300 = 1,800 </a:t>
            </a:r>
            <a:r>
              <a:rPr kumimoji="1" lang="zh-TW" altLang="en-US" dirty="0"/>
              <a:t>個權重，只有原本的 </a:t>
            </a:r>
            <a:r>
              <a:rPr kumimoji="1" lang="en-US" altLang="zh-TW" dirty="0"/>
              <a:t>0.06%</a:t>
            </a:r>
            <a:r>
              <a:rPr kumimoji="1" lang="zh-TW" altLang="en-US" dirty="0"/>
              <a:t>，大幅提高計算的效率！</a:t>
            </a:r>
          </a:p>
          <a:p>
            <a:pPr>
              <a:lnSpc>
                <a:spcPct val="110000"/>
              </a:lnSpc>
            </a:pPr>
            <a:r>
              <a:rPr kumimoji="1" lang="en" altLang="zh-TW" dirty="0"/>
              <a:t>Negative sampling </a:t>
            </a:r>
            <a:r>
              <a:rPr kumimoji="1" lang="zh-TW" altLang="en-US" dirty="0"/>
              <a:t>的好處是，透過隨機取樣的方式，降低錯誤信號對整體模型造成的影響。如果我們再次以 ”</a:t>
            </a:r>
            <a:r>
              <a:rPr kumimoji="1" lang="en" altLang="zh-TW" dirty="0"/>
              <a:t>The quick brown fox jumps over the lazy dog.” </a:t>
            </a:r>
            <a:r>
              <a:rPr kumimoji="1" lang="zh-TW" altLang="en-US" dirty="0"/>
              <a:t>作為文本範例，若輸入字詞是 </a:t>
            </a:r>
            <a:r>
              <a:rPr kumimoji="1" lang="en" altLang="zh-TW" dirty="0"/>
              <a:t>brown</a:t>
            </a:r>
            <a:r>
              <a:rPr kumimoji="1" lang="zh-TW" altLang="en" dirty="0"/>
              <a:t>，</a:t>
            </a:r>
            <a:r>
              <a:rPr kumimoji="1" lang="en" altLang="zh-TW" dirty="0"/>
              <a:t>window size </a:t>
            </a:r>
            <a:r>
              <a:rPr kumimoji="1" lang="zh-TW" altLang="en-US" dirty="0"/>
              <a:t>設為 </a:t>
            </a:r>
            <a:r>
              <a:rPr kumimoji="1" lang="en-US" altLang="zh-TW" dirty="0"/>
              <a:t>2 </a:t>
            </a:r>
            <a:r>
              <a:rPr kumimoji="1" lang="zh-TW" altLang="en-US" dirty="0"/>
              <a:t>時，</a:t>
            </a:r>
            <a:r>
              <a:rPr kumimoji="1" lang="en-US" altLang="zh-TW" dirty="0"/>
              <a:t>(</a:t>
            </a:r>
            <a:r>
              <a:rPr kumimoji="1" lang="en" altLang="zh-TW" dirty="0"/>
              <a:t>brown, dog) </a:t>
            </a:r>
            <a:r>
              <a:rPr kumimoji="1" lang="zh-TW" altLang="en-US" dirty="0"/>
              <a:t>會被視為 </a:t>
            </a:r>
            <a:r>
              <a:rPr kumimoji="1" lang="en" altLang="zh-TW" dirty="0"/>
              <a:t>negative sample</a:t>
            </a:r>
            <a:r>
              <a:rPr kumimoji="1" lang="zh-TW" altLang="en" dirty="0"/>
              <a:t>，</a:t>
            </a:r>
            <a:r>
              <a:rPr kumimoji="1" lang="zh-TW" altLang="en-US" dirty="0"/>
              <a:t>那 </a:t>
            </a:r>
            <a:r>
              <a:rPr kumimoji="1" lang="en" altLang="zh-TW" dirty="0"/>
              <a:t>model </a:t>
            </a:r>
            <a:r>
              <a:rPr kumimoji="1" lang="zh-TW" altLang="en-US" dirty="0"/>
              <a:t>學到的就會是「</a:t>
            </a:r>
            <a:r>
              <a:rPr kumimoji="1" lang="en" altLang="zh-TW" dirty="0"/>
              <a:t>brown </a:t>
            </a:r>
            <a:r>
              <a:rPr kumimoji="1" lang="zh-TW" altLang="en-US" dirty="0"/>
              <a:t>這個字的周遭不該出現 </a:t>
            </a:r>
            <a:r>
              <a:rPr kumimoji="1" lang="en" altLang="zh-TW" dirty="0"/>
              <a:t>dog</a:t>
            </a:r>
            <a:r>
              <a:rPr kumimoji="1" lang="zh-TW" altLang="en" dirty="0"/>
              <a:t>」</a:t>
            </a:r>
            <a:r>
              <a:rPr kumimoji="1" lang="zh-TW" altLang="en-US" dirty="0"/>
              <a:t>這樣的信號。然而，這個信號明顯不是正確的，也會把 </a:t>
            </a:r>
            <a:r>
              <a:rPr kumimoji="1" lang="en" altLang="zh-TW" dirty="0"/>
              <a:t>model </a:t>
            </a:r>
            <a:r>
              <a:rPr kumimoji="1" lang="zh-TW" altLang="en-US" dirty="0"/>
              <a:t>帶往錯誤的方向，大部分被我們當作 </a:t>
            </a:r>
            <a:r>
              <a:rPr kumimoji="1" lang="en" altLang="zh-TW" dirty="0"/>
              <a:t>negative </a:t>
            </a:r>
            <a:r>
              <a:rPr kumimoji="1" lang="zh-TW" altLang="en-US" dirty="0"/>
              <a:t>的字，其實只是不在 “</a:t>
            </a:r>
            <a:r>
              <a:rPr kumimoji="1" lang="en" altLang="zh-TW" dirty="0"/>
              <a:t>unobserved”</a:t>
            </a:r>
            <a:r>
              <a:rPr kumimoji="1" lang="zh-TW" altLang="en" dirty="0"/>
              <a:t>。</a:t>
            </a:r>
            <a:r>
              <a:rPr kumimoji="1" lang="zh-TW" altLang="en-US" dirty="0"/>
              <a:t>透過 </a:t>
            </a:r>
            <a:r>
              <a:rPr kumimoji="1" lang="en" altLang="zh-TW" dirty="0"/>
              <a:t>negative sampling </a:t>
            </a:r>
            <a:r>
              <a:rPr kumimoji="1" lang="zh-TW" altLang="en-US" dirty="0"/>
              <a:t>隨機取樣的方式，希望把他們的權重降低一點，希望可以降低錯誤信號的影響。</a:t>
            </a:r>
          </a:p>
        </p:txBody>
      </p:sp>
    </p:spTree>
    <p:extLst>
      <p:ext uri="{BB962C8B-B14F-4D97-AF65-F5344CB8AC3E}">
        <p14:creationId xmlns:p14="http://schemas.microsoft.com/office/powerpoint/2010/main" val="36777753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6DC89E8-7942-7062-99C4-DD2ED48B7D32}"/>
              </a:ext>
            </a:extLst>
          </p:cNvPr>
          <p:cNvSpPr>
            <a:spLocks noGrp="1"/>
          </p:cNvSpPr>
          <p:nvPr>
            <p:ph type="title"/>
          </p:nvPr>
        </p:nvSpPr>
        <p:spPr/>
        <p:txBody>
          <a:bodyPr/>
          <a:lstStyle/>
          <a:p>
            <a:r>
              <a:rPr lang="zh-TW" altLang="en-US"/>
              <a:t>中文斷詞</a:t>
            </a:r>
          </a:p>
        </p:txBody>
      </p:sp>
      <p:sp>
        <p:nvSpPr>
          <p:cNvPr id="5" name="文字版面配置區 4">
            <a:extLst>
              <a:ext uri="{FF2B5EF4-FFF2-40B4-BE49-F238E27FC236}">
                <a16:creationId xmlns:a16="http://schemas.microsoft.com/office/drawing/2014/main" id="{42D77E9F-EF7F-29C0-0798-C5427C62AA3D}"/>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17638035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03FB46CF-E5A5-B134-EFB1-40AEF482ECEB}"/>
              </a:ext>
            </a:extLst>
          </p:cNvPr>
          <p:cNvSpPr>
            <a:spLocks noGrp="1"/>
          </p:cNvSpPr>
          <p:nvPr>
            <p:ph type="title"/>
          </p:nvPr>
        </p:nvSpPr>
        <p:spPr/>
        <p:txBody>
          <a:bodyPr/>
          <a:lstStyle/>
          <a:p>
            <a:r>
              <a:rPr lang="zh-TW" altLang="en-US" dirty="0"/>
              <a:t>中文斷詞</a:t>
            </a:r>
          </a:p>
        </p:txBody>
      </p:sp>
      <p:sp>
        <p:nvSpPr>
          <p:cNvPr id="5" name="內容版面配置區 4">
            <a:extLst>
              <a:ext uri="{FF2B5EF4-FFF2-40B4-BE49-F238E27FC236}">
                <a16:creationId xmlns:a16="http://schemas.microsoft.com/office/drawing/2014/main" id="{2CE6D38C-82D8-CB10-D9AD-4B921DAE9770}"/>
              </a:ext>
            </a:extLst>
          </p:cNvPr>
          <p:cNvSpPr>
            <a:spLocks noGrp="1"/>
          </p:cNvSpPr>
          <p:nvPr>
            <p:ph idx="1"/>
          </p:nvPr>
        </p:nvSpPr>
        <p:spPr/>
        <p:txBody>
          <a:bodyPr>
            <a:normAutofit fontScale="70000" lnSpcReduction="20000"/>
          </a:bodyPr>
          <a:lstStyle/>
          <a:p>
            <a:pPr>
              <a:lnSpc>
                <a:spcPct val="120000"/>
              </a:lnSpc>
            </a:pPr>
            <a:r>
              <a:rPr lang="zh-TW" altLang="en-US" dirty="0"/>
              <a:t>中文斷詞在中文自然語言處理上是非常重要的前置處理工作，如果中文斷詞能夠正確地將最小有意義的詞辨識出來，後續才有辦法進行更高層次的自然語言分析，因此中文斷詞的正確性影響了許多自然語言處理應用的成敗，像是，問答系統、自動摘要、文件檢索、機器翻譯等應用都需要先處理中文斷詞。</a:t>
            </a:r>
          </a:p>
          <a:p>
            <a:pPr>
              <a:lnSpc>
                <a:spcPct val="120000"/>
              </a:lnSpc>
            </a:pPr>
            <a:r>
              <a:rPr lang="zh-TW" altLang="en-US" dirty="0"/>
              <a:t>中文斷詞是什麼呢？簡單來說，就是讓電腦可以把中文詞彙以「意義」為單位切割出來，比如以「塵世中一個迷途小書僮」這個例子來說，沒有特別處理的話，電腦會將每個字分開處理，但這對我們來說是沒有意義的，因此在處理語意相關問題時，就會造成效果不佳。如果能夠斷成「塵世 </a:t>
            </a:r>
            <a:r>
              <a:rPr lang="en-US" altLang="zh-TW" dirty="0"/>
              <a:t>/ </a:t>
            </a:r>
            <a:r>
              <a:rPr lang="zh-TW" altLang="en-US" dirty="0"/>
              <a:t>中 </a:t>
            </a:r>
            <a:r>
              <a:rPr lang="en-US" altLang="zh-TW" dirty="0"/>
              <a:t>/ </a:t>
            </a:r>
            <a:r>
              <a:rPr lang="zh-TW" altLang="en-US" dirty="0"/>
              <a:t>一個 </a:t>
            </a:r>
            <a:r>
              <a:rPr lang="en-US" altLang="zh-TW" dirty="0"/>
              <a:t>/ </a:t>
            </a:r>
            <a:r>
              <a:rPr lang="zh-TW" altLang="en-US" dirty="0"/>
              <a:t>迷途 </a:t>
            </a:r>
            <a:r>
              <a:rPr lang="en-US" altLang="zh-TW" dirty="0"/>
              <a:t>/ </a:t>
            </a:r>
            <a:r>
              <a:rPr lang="zh-TW" altLang="en-US" dirty="0"/>
              <a:t>小 </a:t>
            </a:r>
            <a:r>
              <a:rPr lang="en-US" altLang="zh-TW" dirty="0"/>
              <a:t>/ </a:t>
            </a:r>
            <a:r>
              <a:rPr lang="zh-TW" altLang="en-US" dirty="0"/>
              <a:t>書僮」，這樣對我們來說就有意義多了，對於語意理解也會比較有幫助。</a:t>
            </a:r>
          </a:p>
          <a:p>
            <a:pPr>
              <a:lnSpc>
                <a:spcPct val="120000"/>
              </a:lnSpc>
            </a:pPr>
            <a:r>
              <a:rPr lang="zh-TW" altLang="en-US" dirty="0"/>
              <a:t>例如：「下雨天留客天留我不留」，如何斷詞成為一個重要的問題，在英文中可以直接以句子中的空白來斷詞，即可斷出有意義的詞出來，但中文沒有詞與詞之間的空白來斷詞，且中文中會有歧異詞的問題，這也是中文斷詞與英文斷詞不同的地方。</a:t>
            </a:r>
          </a:p>
        </p:txBody>
      </p:sp>
    </p:spTree>
    <p:extLst>
      <p:ext uri="{BB962C8B-B14F-4D97-AF65-F5344CB8AC3E}">
        <p14:creationId xmlns:p14="http://schemas.microsoft.com/office/powerpoint/2010/main" val="21831282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054772-501F-DD6B-E656-B1A1A665AB7D}"/>
              </a:ext>
            </a:extLst>
          </p:cNvPr>
          <p:cNvSpPr>
            <a:spLocks noGrp="1"/>
          </p:cNvSpPr>
          <p:nvPr>
            <p:ph type="title"/>
          </p:nvPr>
        </p:nvSpPr>
        <p:spPr/>
        <p:txBody>
          <a:bodyPr/>
          <a:lstStyle/>
          <a:p>
            <a:r>
              <a:rPr lang="zh-TW" altLang="en-US" dirty="0"/>
              <a:t>中文斷詞</a:t>
            </a:r>
            <a:endParaRPr kumimoji="1" lang="zh-TW" altLang="en-US" dirty="0"/>
          </a:p>
        </p:txBody>
      </p:sp>
      <p:sp>
        <p:nvSpPr>
          <p:cNvPr id="3" name="內容版面配置區 2">
            <a:extLst>
              <a:ext uri="{FF2B5EF4-FFF2-40B4-BE49-F238E27FC236}">
                <a16:creationId xmlns:a16="http://schemas.microsoft.com/office/drawing/2014/main" id="{855D0F33-AC39-2553-2578-59C86C6471F0}"/>
              </a:ext>
            </a:extLst>
          </p:cNvPr>
          <p:cNvSpPr>
            <a:spLocks noGrp="1"/>
          </p:cNvSpPr>
          <p:nvPr>
            <p:ph idx="1"/>
          </p:nvPr>
        </p:nvSpPr>
        <p:spPr/>
        <p:txBody>
          <a:bodyPr>
            <a:normAutofit/>
          </a:bodyPr>
          <a:lstStyle/>
          <a:p>
            <a:pPr>
              <a:lnSpc>
                <a:spcPct val="120000"/>
              </a:lnSpc>
            </a:pPr>
            <a:r>
              <a:rPr kumimoji="1" lang="zh-TW" altLang="en-US" sz="2000" dirty="0"/>
              <a:t>英文斷詞</a:t>
            </a:r>
            <a:r>
              <a:rPr kumimoji="1" lang="zh-TW" altLang="en" sz="2000" dirty="0"/>
              <a:t>（</a:t>
            </a:r>
            <a:r>
              <a:rPr kumimoji="1" lang="en" altLang="zh-TW" sz="2000" dirty="0"/>
              <a:t>English Tokenization</a:t>
            </a:r>
            <a:r>
              <a:rPr kumimoji="1" lang="zh-TW" altLang="en" sz="2000" dirty="0"/>
              <a:t>）</a:t>
            </a:r>
            <a:r>
              <a:rPr kumimoji="1" lang="zh-TW" altLang="en-US" sz="2000" dirty="0"/>
              <a:t>的特點</a:t>
            </a:r>
          </a:p>
          <a:p>
            <a:pPr lvl="1">
              <a:lnSpc>
                <a:spcPct val="120000"/>
              </a:lnSpc>
            </a:pPr>
            <a:r>
              <a:rPr kumimoji="1" lang="zh-TW" altLang="en-US" sz="1600" dirty="0"/>
              <a:t>分隔符明確：英文通常使用空格作為單詞間的分隔符。因此，英文斷詞相對簡單，可以通過空格、標點符號等明顯的界限來進行。</a:t>
            </a:r>
            <a:endParaRPr kumimoji="1" lang="en-US" altLang="zh-TW" sz="1600" dirty="0"/>
          </a:p>
          <a:p>
            <a:pPr lvl="1">
              <a:lnSpc>
                <a:spcPct val="120000"/>
              </a:lnSpc>
            </a:pPr>
            <a:r>
              <a:rPr kumimoji="1" lang="zh-TW" altLang="en-US" sz="1600" dirty="0"/>
              <a:t>變體處理：英文中需要處理的是單詞的不同變體，如時態、單數複數等。這通常透過詞性標注（</a:t>
            </a:r>
            <a:r>
              <a:rPr kumimoji="1" lang="en" altLang="zh-TW" sz="1600" dirty="0"/>
              <a:t>POS tagging</a:t>
            </a:r>
            <a:r>
              <a:rPr kumimoji="1" lang="zh-TW" altLang="en" sz="1600" dirty="0"/>
              <a:t>）</a:t>
            </a:r>
            <a:r>
              <a:rPr kumimoji="1" lang="zh-TW" altLang="en-US" sz="1600" dirty="0"/>
              <a:t>和詞形還原（</a:t>
            </a:r>
            <a:r>
              <a:rPr kumimoji="1" lang="en" altLang="zh-TW" sz="1600" dirty="0"/>
              <a:t>lemmatization</a:t>
            </a:r>
            <a:r>
              <a:rPr kumimoji="1" lang="zh-TW" altLang="en" sz="1600" dirty="0"/>
              <a:t>）</a:t>
            </a:r>
            <a:r>
              <a:rPr kumimoji="1" lang="zh-TW" altLang="en-US" sz="1600" dirty="0"/>
              <a:t>來實現。</a:t>
            </a:r>
            <a:endParaRPr kumimoji="1" lang="en-US" altLang="zh-TW" sz="1600" dirty="0"/>
          </a:p>
          <a:p>
            <a:pPr lvl="1">
              <a:lnSpc>
                <a:spcPct val="120000"/>
              </a:lnSpc>
            </a:pPr>
            <a:r>
              <a:rPr kumimoji="1" lang="zh-TW" altLang="en-US" sz="1600" dirty="0"/>
              <a:t>標準化：英文斷詞後通常還會涉及大小寫的標準化、去除停用詞等步驟。</a:t>
            </a:r>
          </a:p>
          <a:p>
            <a:pPr>
              <a:lnSpc>
                <a:spcPct val="120000"/>
              </a:lnSpc>
            </a:pPr>
            <a:r>
              <a:rPr kumimoji="1" lang="zh-TW" altLang="en-US" sz="2000" dirty="0"/>
              <a:t>中文斷詞</a:t>
            </a:r>
            <a:r>
              <a:rPr kumimoji="1" lang="zh-TW" altLang="en" sz="2000" dirty="0"/>
              <a:t>（</a:t>
            </a:r>
            <a:r>
              <a:rPr kumimoji="1" lang="en" altLang="zh-TW" sz="2000" dirty="0"/>
              <a:t>Chinese Word Segmentation</a:t>
            </a:r>
            <a:r>
              <a:rPr kumimoji="1" lang="zh-TW" altLang="en" sz="2000" dirty="0"/>
              <a:t>）</a:t>
            </a:r>
            <a:r>
              <a:rPr kumimoji="1" lang="zh-TW" altLang="en-US" sz="2000" dirty="0"/>
              <a:t>的特點</a:t>
            </a:r>
            <a:endParaRPr kumimoji="1" lang="en-US" altLang="zh-TW" sz="2000" dirty="0"/>
          </a:p>
          <a:p>
            <a:pPr lvl="1">
              <a:lnSpc>
                <a:spcPct val="120000"/>
              </a:lnSpc>
            </a:pPr>
            <a:r>
              <a:rPr kumimoji="1" lang="zh-TW" altLang="en-US" sz="1600" dirty="0"/>
              <a:t>無明確分隔符：中文沒有像空格這樣的自然分隔符，單字和詞語之間沒有明顯界限，因此斷詞難度較大。</a:t>
            </a:r>
            <a:endParaRPr kumimoji="1" lang="en-US" altLang="zh-TW" sz="1600" dirty="0"/>
          </a:p>
          <a:p>
            <a:pPr lvl="1">
              <a:lnSpc>
                <a:spcPct val="120000"/>
              </a:lnSpc>
            </a:pPr>
            <a:r>
              <a:rPr kumimoji="1" lang="zh-TW" altLang="en-US" sz="1600" dirty="0"/>
              <a:t>多義性和歧義性：中文中一個字可以獨立成詞，也可以與其他字組合成不同詞語，這增加了斷詞的複雜性。</a:t>
            </a:r>
            <a:endParaRPr kumimoji="1" lang="en-US" altLang="zh-TW" sz="1600" dirty="0"/>
          </a:p>
          <a:p>
            <a:pPr lvl="1">
              <a:lnSpc>
                <a:spcPct val="120000"/>
              </a:lnSpc>
            </a:pPr>
            <a:r>
              <a:rPr kumimoji="1" lang="zh-TW" altLang="en-US" sz="1600" dirty="0"/>
              <a:t>長詞優先：中文斷詞時通常會考慮最長匹配，即在確保語義正確的前提下，優先匹配更長的詞語。</a:t>
            </a:r>
            <a:endParaRPr kumimoji="1" lang="en-US" altLang="zh-TW" sz="1600" dirty="0"/>
          </a:p>
          <a:p>
            <a:pPr lvl="1">
              <a:lnSpc>
                <a:spcPct val="120000"/>
              </a:lnSpc>
            </a:pPr>
            <a:r>
              <a:rPr kumimoji="1" lang="zh-TW" altLang="en-US" sz="1600" dirty="0"/>
              <a:t>詞典和規則：中文斷詞往往依賴於詞典和語言規則，例如基於規則的斷詞方法（如最長匹配法）或基於統計的方法（如隱馬爾可夫模型）。</a:t>
            </a:r>
          </a:p>
        </p:txBody>
      </p:sp>
    </p:spTree>
    <p:extLst>
      <p:ext uri="{BB962C8B-B14F-4D97-AF65-F5344CB8AC3E}">
        <p14:creationId xmlns:p14="http://schemas.microsoft.com/office/powerpoint/2010/main" val="24832440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394EC0-ECEE-14BD-9C47-1A65F25098BE}"/>
              </a:ext>
            </a:extLst>
          </p:cNvPr>
          <p:cNvSpPr>
            <a:spLocks noGrp="1"/>
          </p:cNvSpPr>
          <p:nvPr>
            <p:ph type="title"/>
          </p:nvPr>
        </p:nvSpPr>
        <p:spPr/>
        <p:txBody>
          <a:bodyPr/>
          <a:lstStyle/>
          <a:p>
            <a:r>
              <a:rPr kumimoji="1" lang="en-US" altLang="zh-TW" dirty="0" err="1"/>
              <a:t>Jieba</a:t>
            </a:r>
            <a:r>
              <a:rPr kumimoji="1" lang="zh-TW" altLang="en-US" dirty="0"/>
              <a:t>結巴</a:t>
            </a:r>
          </a:p>
        </p:txBody>
      </p:sp>
      <p:sp>
        <p:nvSpPr>
          <p:cNvPr id="3" name="內容版面配置區 2">
            <a:extLst>
              <a:ext uri="{FF2B5EF4-FFF2-40B4-BE49-F238E27FC236}">
                <a16:creationId xmlns:a16="http://schemas.microsoft.com/office/drawing/2014/main" id="{F7D2304A-F29B-7E50-5DDA-B77667A44207}"/>
              </a:ext>
            </a:extLst>
          </p:cNvPr>
          <p:cNvSpPr>
            <a:spLocks noGrp="1"/>
          </p:cNvSpPr>
          <p:nvPr>
            <p:ph idx="1"/>
          </p:nvPr>
        </p:nvSpPr>
        <p:spPr/>
        <p:txBody>
          <a:bodyPr/>
          <a:lstStyle/>
          <a:p>
            <a:r>
              <a:rPr kumimoji="1" lang="en" altLang="zh-TW" dirty="0" err="1"/>
              <a:t>Jieba</a:t>
            </a:r>
            <a:r>
              <a:rPr kumimoji="1" lang="zh-TW" altLang="en-US" dirty="0"/>
              <a:t>是一個 </a:t>
            </a:r>
            <a:r>
              <a:rPr kumimoji="1" lang="en" altLang="zh-TW" dirty="0"/>
              <a:t>MIT </a:t>
            </a:r>
            <a:r>
              <a:rPr kumimoji="1" lang="zh-TW" altLang="en-US" dirty="0"/>
              <a:t>授權的開源分詞詞庫套件</a:t>
            </a:r>
            <a:endParaRPr kumimoji="1" lang="en-US" altLang="zh-TW" dirty="0"/>
          </a:p>
          <a:p>
            <a:pPr lvl="1"/>
            <a:r>
              <a:rPr kumimoji="1" lang="en-US" altLang="zh-TW" dirty="0"/>
              <a:t>(</a:t>
            </a:r>
            <a:r>
              <a:rPr kumimoji="1" lang="en" altLang="zh-TW" dirty="0"/>
              <a:t>GitHub</a:t>
            </a:r>
            <a:r>
              <a:rPr kumimoji="1" lang="en-US" altLang="zh-TW" dirty="0"/>
              <a:t>:https://</a:t>
            </a:r>
            <a:r>
              <a:rPr kumimoji="1" lang="en-US" altLang="zh-TW" dirty="0" err="1"/>
              <a:t>github.com</a:t>
            </a:r>
            <a:r>
              <a:rPr kumimoji="1" lang="en-US" altLang="zh-TW" dirty="0"/>
              <a:t>/</a:t>
            </a:r>
            <a:r>
              <a:rPr kumimoji="1" lang="en-US" altLang="zh-TW" dirty="0" err="1"/>
              <a:t>fxsjy</a:t>
            </a:r>
            <a:r>
              <a:rPr kumimoji="1" lang="en-US" altLang="zh-TW" dirty="0"/>
              <a:t>/</a:t>
            </a:r>
            <a:r>
              <a:rPr kumimoji="1" lang="en-US" altLang="zh-TW" dirty="0" err="1"/>
              <a:t>jieba</a:t>
            </a:r>
            <a:r>
              <a:rPr kumimoji="1" lang="en-US" altLang="zh-TW" dirty="0"/>
              <a:t>)</a:t>
            </a:r>
          </a:p>
          <a:p>
            <a:r>
              <a:rPr kumimoji="1" lang="zh-TW" altLang="en-US" dirty="0"/>
              <a:t>套件本身支援中文繁體與簡體的分詞。</a:t>
            </a:r>
            <a:endParaRPr kumimoji="1" lang="en-US" altLang="zh-TW" dirty="0"/>
          </a:p>
          <a:p>
            <a:r>
              <a:rPr kumimoji="1" lang="en" altLang="zh-TW" dirty="0" err="1"/>
              <a:t>Jieba</a:t>
            </a:r>
            <a:r>
              <a:rPr kumimoji="1" lang="zh-TW" altLang="en-US" dirty="0"/>
              <a:t>有三種模式（精確、全引擎與搜尋引擎），若對分詞結果不滿意時，可以自己動手增加特定詞彙或者是自行定義字典，調整分詞的結果。</a:t>
            </a:r>
          </a:p>
        </p:txBody>
      </p:sp>
    </p:spTree>
    <p:extLst>
      <p:ext uri="{BB962C8B-B14F-4D97-AF65-F5344CB8AC3E}">
        <p14:creationId xmlns:p14="http://schemas.microsoft.com/office/powerpoint/2010/main" val="20325826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2D06E8E1-F096-6966-0FCA-91E2981D99AB}"/>
              </a:ext>
            </a:extLst>
          </p:cNvPr>
          <p:cNvSpPr txBox="1"/>
          <p:nvPr/>
        </p:nvSpPr>
        <p:spPr>
          <a:xfrm>
            <a:off x="1634801" y="295032"/>
            <a:ext cx="8922397" cy="5078313"/>
          </a:xfrm>
          <a:prstGeom prst="rect">
            <a:avLst/>
          </a:prstGeom>
          <a:noFill/>
          <a:ln>
            <a:solidFill>
              <a:schemeClr val="tx1"/>
            </a:solidFill>
          </a:ln>
        </p:spPr>
        <p:txBody>
          <a:bodyPr wrap="square">
            <a:spAutoFit/>
          </a:bodyPr>
          <a:lstStyle/>
          <a:p>
            <a:r>
              <a:rPr lang="en" altLang="zh-TW" b="0" dirty="0">
                <a:solidFill>
                  <a:srgbClr val="0000FF"/>
                </a:solidFill>
                <a:effectLst/>
                <a:latin typeface="Fira Code" panose="020B0809050000020004" pitchFamily="49" charset="0"/>
              </a:rPr>
              <a:t>import</a:t>
            </a:r>
            <a:r>
              <a:rPr lang="en" altLang="zh-TW" b="0" dirty="0">
                <a:solidFill>
                  <a:srgbClr val="000000"/>
                </a:solidFill>
                <a:effectLst/>
                <a:latin typeface="Fira Code" panose="020B0809050000020004" pitchFamily="49" charset="0"/>
              </a:rPr>
              <a:t> </a:t>
            </a:r>
            <a:r>
              <a:rPr lang="en" altLang="zh-TW" b="0" dirty="0" err="1">
                <a:solidFill>
                  <a:srgbClr val="000000"/>
                </a:solidFill>
                <a:effectLst/>
                <a:latin typeface="Fira Code" panose="020B0809050000020004" pitchFamily="49" charset="0"/>
              </a:rPr>
              <a:t>jieba</a:t>
            </a:r>
            <a:endParaRPr lang="en" altLang="zh-TW" b="0" dirty="0">
              <a:solidFill>
                <a:srgbClr val="000000"/>
              </a:solidFill>
              <a:effectLst/>
              <a:latin typeface="Fira Code" panose="020B0809050000020004" pitchFamily="49" charset="0"/>
            </a:endParaRPr>
          </a:p>
          <a:p>
            <a:br>
              <a:rPr lang="en" altLang="zh-TW" b="0" dirty="0">
                <a:solidFill>
                  <a:srgbClr val="000000"/>
                </a:solidFill>
                <a:effectLst/>
                <a:latin typeface="Fira Code" panose="020B0809050000020004" pitchFamily="49" charset="0"/>
              </a:rPr>
            </a:b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 = </a:t>
            </a:r>
            <a:r>
              <a:rPr lang="en" altLang="zh-TW" b="0" dirty="0" err="1">
                <a:solidFill>
                  <a:srgbClr val="000000"/>
                </a:solidFill>
                <a:effectLst/>
                <a:latin typeface="Fira Code" panose="020B0809050000020004" pitchFamily="49" charset="0"/>
              </a:rPr>
              <a:t>jieba.cut</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zh-TW" altLang="en-US" b="0" dirty="0">
                <a:solidFill>
                  <a:srgbClr val="A31515"/>
                </a:solidFill>
                <a:effectLst/>
                <a:latin typeface="Fira Code" panose="020B0809050000020004" pitchFamily="49" charset="0"/>
              </a:rPr>
              <a:t>國立臺北商業大學資訊管理系学</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 altLang="zh-TW" b="0" dirty="0" err="1">
                <a:solidFill>
                  <a:srgbClr val="000000"/>
                </a:solidFill>
                <a:effectLst/>
                <a:latin typeface="Fira Code" panose="020B0809050000020004" pitchFamily="49" charset="0"/>
              </a:rPr>
              <a:t>cut_all</a:t>
            </a:r>
            <a:r>
              <a:rPr lang="en" altLang="zh-TW" b="0" dirty="0">
                <a:solidFill>
                  <a:srgbClr val="000000"/>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True</a:t>
            </a:r>
            <a:r>
              <a:rPr lang="en" altLang="zh-TW" b="0" dirty="0">
                <a:solidFill>
                  <a:srgbClr val="000000"/>
                </a:solidFill>
                <a:effectLst/>
                <a:latin typeface="Fira Code" panose="020B0809050000020004" pitchFamily="49" charset="0"/>
              </a:rPr>
              <a:t>)</a:t>
            </a:r>
          </a:p>
          <a:p>
            <a:r>
              <a:rPr lang="en" altLang="zh-TW" b="0" dirty="0">
                <a:solidFill>
                  <a:srgbClr val="000000"/>
                </a:solidFill>
                <a:effectLst/>
                <a:latin typeface="Fira Code" panose="020B0809050000020004" pitchFamily="49" charset="0"/>
              </a:rPr>
              <a:t>print(</a:t>
            </a:r>
            <a:r>
              <a:rPr lang="en" altLang="zh-TW" b="0" dirty="0">
                <a:solidFill>
                  <a:srgbClr val="A31515"/>
                </a:solidFill>
                <a:effectLst/>
                <a:latin typeface="Fira Code" panose="020B0809050000020004" pitchFamily="49" charset="0"/>
              </a:rPr>
              <a:t>"Full Mode: "</a:t>
            </a:r>
            <a:r>
              <a:rPr lang="en" altLang="zh-TW" b="0" dirty="0">
                <a:solidFill>
                  <a:srgbClr val="000000"/>
                </a:solidFill>
                <a:effectLst/>
                <a:latin typeface="Fira Code" panose="020B0809050000020004" pitchFamily="49" charset="0"/>
              </a:rPr>
              <a:t> + </a:t>
            </a:r>
            <a:r>
              <a:rPr lang="en" altLang="zh-TW" b="0" dirty="0">
                <a:solidFill>
                  <a:srgbClr val="A31515"/>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.join(</a:t>
            </a: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 </a:t>
            </a:r>
            <a:r>
              <a:rPr lang="en"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全模式</a:t>
            </a:r>
            <a:endParaRPr lang="zh-TW" altLang="en-US" b="0" dirty="0">
              <a:solidFill>
                <a:srgbClr val="000000"/>
              </a:solidFill>
              <a:effectLst/>
              <a:latin typeface="Fira Code" panose="020B0809050000020004" pitchFamily="49" charset="0"/>
            </a:endParaRPr>
          </a:p>
          <a:p>
            <a:br>
              <a:rPr lang="zh-TW" altLang="en-US" b="0" dirty="0">
                <a:solidFill>
                  <a:srgbClr val="000000"/>
                </a:solidFill>
                <a:effectLst/>
                <a:latin typeface="Fira Code" panose="020B0809050000020004" pitchFamily="49" charset="0"/>
              </a:rPr>
            </a:b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 = </a:t>
            </a:r>
            <a:r>
              <a:rPr lang="en" altLang="zh-TW" b="0" dirty="0" err="1">
                <a:solidFill>
                  <a:srgbClr val="000000"/>
                </a:solidFill>
                <a:effectLst/>
                <a:latin typeface="Fira Code" panose="020B0809050000020004" pitchFamily="49" charset="0"/>
              </a:rPr>
              <a:t>jieba.cut</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zh-TW" altLang="en-US" b="0" dirty="0">
                <a:solidFill>
                  <a:srgbClr val="A31515"/>
                </a:solidFill>
                <a:effectLst/>
                <a:latin typeface="Fira Code" panose="020B0809050000020004" pitchFamily="49" charset="0"/>
              </a:rPr>
              <a:t>國立臺北商業大學資訊管理系</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 altLang="zh-TW" b="0" dirty="0" err="1">
                <a:solidFill>
                  <a:srgbClr val="000000"/>
                </a:solidFill>
                <a:effectLst/>
                <a:latin typeface="Fira Code" panose="020B0809050000020004" pitchFamily="49" charset="0"/>
              </a:rPr>
              <a:t>cut_all</a:t>
            </a:r>
            <a:r>
              <a:rPr lang="en" altLang="zh-TW" b="0" dirty="0">
                <a:solidFill>
                  <a:srgbClr val="000000"/>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False</a:t>
            </a:r>
            <a:r>
              <a:rPr lang="en" altLang="zh-TW" b="0" dirty="0">
                <a:solidFill>
                  <a:srgbClr val="000000"/>
                </a:solidFill>
                <a:effectLst/>
                <a:latin typeface="Fira Code" panose="020B0809050000020004" pitchFamily="49" charset="0"/>
              </a:rPr>
              <a:t>)</a:t>
            </a:r>
          </a:p>
          <a:p>
            <a:r>
              <a:rPr lang="en" altLang="zh-TW" b="0" dirty="0">
                <a:solidFill>
                  <a:srgbClr val="000000"/>
                </a:solidFill>
                <a:effectLst/>
                <a:latin typeface="Fira Code" panose="020B0809050000020004" pitchFamily="49" charset="0"/>
              </a:rPr>
              <a:t>print(</a:t>
            </a:r>
            <a:r>
              <a:rPr lang="en" altLang="zh-TW" b="0" dirty="0">
                <a:solidFill>
                  <a:srgbClr val="A31515"/>
                </a:solidFill>
                <a:effectLst/>
                <a:latin typeface="Fira Code" panose="020B0809050000020004" pitchFamily="49" charset="0"/>
              </a:rPr>
              <a:t>“Default Mode: ”</a:t>
            </a:r>
            <a:r>
              <a:rPr lang="en" altLang="zh-TW" b="0" dirty="0">
                <a:solidFill>
                  <a:srgbClr val="000000"/>
                </a:solidFill>
                <a:effectLst/>
                <a:latin typeface="Fira Code" panose="020B0809050000020004" pitchFamily="49" charset="0"/>
              </a:rPr>
              <a:t> + </a:t>
            </a:r>
            <a:r>
              <a:rPr lang="en" altLang="zh-TW" b="0" dirty="0">
                <a:solidFill>
                  <a:srgbClr val="A31515"/>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.join(</a:t>
            </a: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 </a:t>
            </a:r>
            <a:r>
              <a:rPr lang="en"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精確模式</a:t>
            </a:r>
            <a:endParaRPr lang="zh-TW" altLang="en-US" b="0" dirty="0">
              <a:solidFill>
                <a:srgbClr val="000000"/>
              </a:solidFill>
              <a:effectLst/>
              <a:latin typeface="Fira Code" panose="020B0809050000020004" pitchFamily="49" charset="0"/>
            </a:endParaRPr>
          </a:p>
          <a:p>
            <a:br>
              <a:rPr lang="zh-TW" altLang="en-US" b="0" dirty="0">
                <a:solidFill>
                  <a:srgbClr val="000000"/>
                </a:solidFill>
                <a:effectLst/>
                <a:latin typeface="Fira Code" panose="020B0809050000020004" pitchFamily="49" charset="0"/>
              </a:rPr>
            </a:b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 = </a:t>
            </a:r>
            <a:r>
              <a:rPr lang="en" altLang="zh-TW" b="0" dirty="0" err="1">
                <a:solidFill>
                  <a:srgbClr val="000000"/>
                </a:solidFill>
                <a:effectLst/>
                <a:latin typeface="Fira Code" panose="020B0809050000020004" pitchFamily="49" charset="0"/>
              </a:rPr>
              <a:t>jieba.cut</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zh-TW" altLang="en-US" b="0" dirty="0">
                <a:solidFill>
                  <a:srgbClr val="A31515"/>
                </a:solidFill>
                <a:effectLst/>
                <a:latin typeface="Fira Code" panose="020B0809050000020004" pitchFamily="49" charset="0"/>
              </a:rPr>
              <a:t>下雨天留客天天留我不留</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US"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默</a:t>
            </a:r>
            <a:r>
              <a:rPr lang="zh-TW" altLang="en-US" dirty="0">
                <a:solidFill>
                  <a:srgbClr val="008000"/>
                </a:solidFill>
                <a:latin typeface="Fira Code" panose="020B0809050000020004" pitchFamily="49" charset="0"/>
              </a:rPr>
              <a:t>認</a:t>
            </a:r>
            <a:r>
              <a:rPr lang="zh-TW" altLang="en-US" b="0" dirty="0">
                <a:solidFill>
                  <a:srgbClr val="008000"/>
                </a:solidFill>
                <a:effectLst/>
                <a:latin typeface="Fira Code" panose="020B0809050000020004" pitchFamily="49" charset="0"/>
              </a:rPr>
              <a:t>是精確模式</a:t>
            </a:r>
            <a:endParaRPr lang="zh-TW" altLang="en-US" b="0" dirty="0">
              <a:solidFill>
                <a:srgbClr val="000000"/>
              </a:solidFill>
              <a:effectLst/>
              <a:latin typeface="Fira Code" panose="020B0809050000020004" pitchFamily="49" charset="0"/>
            </a:endParaRPr>
          </a:p>
          <a:p>
            <a:r>
              <a:rPr lang="en" altLang="zh-TW" b="0" dirty="0">
                <a:solidFill>
                  <a:srgbClr val="000000"/>
                </a:solidFill>
                <a:effectLst/>
                <a:latin typeface="Fira Code" panose="020B0809050000020004" pitchFamily="49" charset="0"/>
              </a:rPr>
              <a:t>print(</a:t>
            </a:r>
            <a:r>
              <a:rPr lang="en" altLang="zh-TW" b="0" dirty="0">
                <a:solidFill>
                  <a:srgbClr val="A31515"/>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.join(</a:t>
            </a: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a:t>
            </a:r>
          </a:p>
          <a:p>
            <a:br>
              <a:rPr lang="en" altLang="zh-TW" b="0" dirty="0">
                <a:solidFill>
                  <a:srgbClr val="000000"/>
                </a:solidFill>
                <a:effectLst/>
                <a:latin typeface="Fira Code" panose="020B0809050000020004" pitchFamily="49" charset="0"/>
              </a:rPr>
            </a:b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 = </a:t>
            </a:r>
            <a:r>
              <a:rPr lang="en" altLang="zh-TW" b="0" dirty="0" err="1">
                <a:solidFill>
                  <a:srgbClr val="000000"/>
                </a:solidFill>
                <a:effectLst/>
                <a:latin typeface="Fira Code" panose="020B0809050000020004" pitchFamily="49" charset="0"/>
              </a:rPr>
              <a:t>jieba.cut_for_search</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zh-TW" altLang="en-US" b="0" dirty="0">
                <a:solidFill>
                  <a:srgbClr val="A31515"/>
                </a:solidFill>
                <a:effectLst/>
                <a:latin typeface="Fira Code" panose="020B0809050000020004" pitchFamily="49" charset="0"/>
              </a:rPr>
              <a:t>小明的大學是國立臺北商業大學資訊管理系，之後繼續在人工智慧與商業應用碩士班攻讀碩士學位</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US" altLang="zh-TW" b="0" dirty="0">
                <a:solidFill>
                  <a:srgbClr val="008000"/>
                </a:solidFill>
                <a:effectLst/>
                <a:latin typeface="Fira Code" panose="020B0809050000020004" pitchFamily="49" charset="0"/>
              </a:rPr>
              <a:t># </a:t>
            </a:r>
            <a:r>
              <a:rPr lang="zh-TW" altLang="en-US" b="0" dirty="0">
                <a:solidFill>
                  <a:srgbClr val="008000"/>
                </a:solidFill>
                <a:effectLst/>
                <a:latin typeface="Fira Code" panose="020B0809050000020004" pitchFamily="49" charset="0"/>
              </a:rPr>
              <a:t>搜索引擎模式</a:t>
            </a:r>
            <a:endParaRPr lang="zh-TW" altLang="en-US" b="0" dirty="0">
              <a:solidFill>
                <a:srgbClr val="000000"/>
              </a:solidFill>
              <a:effectLst/>
              <a:latin typeface="Fira Code" panose="020B0809050000020004" pitchFamily="49" charset="0"/>
            </a:endParaRPr>
          </a:p>
          <a:p>
            <a:r>
              <a:rPr lang="en" altLang="zh-TW" b="0" dirty="0">
                <a:solidFill>
                  <a:srgbClr val="000000"/>
                </a:solidFill>
                <a:effectLst/>
                <a:latin typeface="Fira Code" panose="020B0809050000020004" pitchFamily="49" charset="0"/>
              </a:rPr>
              <a:t>print(</a:t>
            </a:r>
            <a:r>
              <a:rPr lang="en" altLang="zh-TW" b="0" dirty="0">
                <a:solidFill>
                  <a:srgbClr val="A31515"/>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.join(</a:t>
            </a:r>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a:t>
            </a:r>
          </a:p>
          <a:p>
            <a:br>
              <a:rPr lang="en" altLang="zh-TW" b="0" dirty="0">
                <a:solidFill>
                  <a:srgbClr val="000000"/>
                </a:solidFill>
                <a:effectLst/>
                <a:latin typeface="Fira Code" panose="020B0809050000020004" pitchFamily="49" charset="0"/>
              </a:rPr>
            </a:br>
            <a:r>
              <a:rPr lang="en" altLang="zh-TW" b="0" dirty="0" err="1">
                <a:solidFill>
                  <a:srgbClr val="000000"/>
                </a:solidFill>
                <a:effectLst/>
                <a:latin typeface="Fira Code" panose="020B0809050000020004" pitchFamily="49" charset="0"/>
              </a:rPr>
              <a:t>jieba.suggest_freq</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zh-TW" altLang="en-US" b="0" dirty="0">
                <a:solidFill>
                  <a:srgbClr val="A31515"/>
                </a:solidFill>
                <a:effectLst/>
                <a:latin typeface="Fira Code" panose="020B0809050000020004" pitchFamily="49" charset="0"/>
              </a:rPr>
              <a:t>臺北</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 altLang="zh-TW" b="0" dirty="0">
                <a:solidFill>
                  <a:srgbClr val="0000FF"/>
                </a:solidFill>
                <a:effectLst/>
                <a:latin typeface="Fira Code" panose="020B0809050000020004" pitchFamily="49" charset="0"/>
              </a:rPr>
              <a:t>True</a:t>
            </a:r>
            <a:r>
              <a:rPr lang="en" altLang="zh-TW" b="0" dirty="0">
                <a:solidFill>
                  <a:srgbClr val="000000"/>
                </a:solidFill>
                <a:effectLst/>
                <a:latin typeface="Fira Code" panose="020B0809050000020004" pitchFamily="49" charset="0"/>
              </a:rPr>
              <a:t>)</a:t>
            </a:r>
          </a:p>
          <a:p>
            <a:r>
              <a:rPr lang="en" altLang="zh-TW" b="0" dirty="0" err="1">
                <a:solidFill>
                  <a:srgbClr val="000000"/>
                </a:solidFill>
                <a:effectLst/>
                <a:latin typeface="Fira Code" panose="020B0809050000020004" pitchFamily="49" charset="0"/>
              </a:rPr>
              <a:t>seg_list</a:t>
            </a:r>
            <a:r>
              <a:rPr lang="en" altLang="zh-TW" b="0" dirty="0">
                <a:solidFill>
                  <a:srgbClr val="000000"/>
                </a:solidFill>
                <a:effectLst/>
                <a:latin typeface="Fira Code" panose="020B0809050000020004" pitchFamily="49" charset="0"/>
              </a:rPr>
              <a:t> = </a:t>
            </a:r>
            <a:r>
              <a:rPr lang="en" altLang="zh-TW" b="0" dirty="0" err="1">
                <a:solidFill>
                  <a:srgbClr val="000000"/>
                </a:solidFill>
                <a:effectLst/>
                <a:latin typeface="Fira Code" panose="020B0809050000020004" pitchFamily="49" charset="0"/>
              </a:rPr>
              <a:t>jieba.cut</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zh-TW" altLang="en-US" b="0" dirty="0">
                <a:solidFill>
                  <a:srgbClr val="A31515"/>
                </a:solidFill>
                <a:effectLst/>
                <a:latin typeface="Fira Code" panose="020B0809050000020004" pitchFamily="49" charset="0"/>
              </a:rPr>
              <a:t>國立臺北商業大學資訊管理系</a:t>
            </a:r>
            <a:r>
              <a:rPr lang="en-US" altLang="zh-TW" b="0" dirty="0">
                <a:solidFill>
                  <a:srgbClr val="A31515"/>
                </a:solidFill>
                <a:effectLst/>
                <a:latin typeface="Fira Code" panose="020B0809050000020004" pitchFamily="49" charset="0"/>
              </a:rPr>
              <a:t>"</a:t>
            </a:r>
            <a:r>
              <a:rPr lang="en-US" altLang="zh-TW" b="0" dirty="0">
                <a:solidFill>
                  <a:srgbClr val="000000"/>
                </a:solidFill>
                <a:effectLst/>
                <a:latin typeface="Fira Code" panose="020B0809050000020004" pitchFamily="49" charset="0"/>
              </a:rPr>
              <a:t>, </a:t>
            </a:r>
            <a:r>
              <a:rPr lang="en" altLang="zh-TW" b="0" dirty="0" err="1">
                <a:solidFill>
                  <a:srgbClr val="000000"/>
                </a:solidFill>
                <a:effectLst/>
                <a:latin typeface="Fira Code" panose="020B0809050000020004" pitchFamily="49" charset="0"/>
              </a:rPr>
              <a:t>cut_all</a:t>
            </a:r>
            <a:r>
              <a:rPr lang="en" altLang="zh-TW" b="0" dirty="0">
                <a:solidFill>
                  <a:srgbClr val="000000"/>
                </a:solidFill>
                <a:effectLst/>
                <a:latin typeface="Fira Code" panose="020B0809050000020004" pitchFamily="49" charset="0"/>
              </a:rPr>
              <a:t>=</a:t>
            </a:r>
            <a:r>
              <a:rPr lang="en" altLang="zh-TW" b="0" dirty="0">
                <a:solidFill>
                  <a:srgbClr val="0000FF"/>
                </a:solidFill>
                <a:effectLst/>
                <a:latin typeface="Fira Code" panose="020B0809050000020004" pitchFamily="49" charset="0"/>
              </a:rPr>
              <a:t>False</a:t>
            </a:r>
            <a:r>
              <a:rPr lang="en" altLang="zh-TW" b="0" dirty="0">
                <a:solidFill>
                  <a:srgbClr val="000000"/>
                </a:solidFill>
                <a:effectLst/>
                <a:latin typeface="Fira Code" panose="020B0809050000020004" pitchFamily="49" charset="0"/>
              </a:rPr>
              <a:t>)</a:t>
            </a:r>
          </a:p>
          <a:p>
            <a:r>
              <a:rPr lang="en" altLang="zh-TW" b="0" dirty="0">
                <a:solidFill>
                  <a:srgbClr val="000000"/>
                </a:solidFill>
                <a:effectLst/>
                <a:latin typeface="Fira Code" panose="020B0809050000020004" pitchFamily="49" charset="0"/>
              </a:rPr>
              <a:t>print(</a:t>
            </a:r>
            <a:r>
              <a:rPr lang="en" altLang="zh-TW" b="0" dirty="0">
                <a:solidFill>
                  <a:srgbClr val="A31515"/>
                </a:solidFill>
                <a:effectLst/>
                <a:latin typeface="Fira Code" panose="020B0809050000020004" pitchFamily="49" charset="0"/>
              </a:rPr>
              <a:t>"Default Mode: "</a:t>
            </a:r>
            <a:r>
              <a:rPr lang="en" altLang="zh-TW" b="0" dirty="0">
                <a:solidFill>
                  <a:srgbClr val="000000"/>
                </a:solidFill>
                <a:effectLst/>
                <a:latin typeface="Fira Code" panose="020B0809050000020004" pitchFamily="49" charset="0"/>
              </a:rPr>
              <a:t> + </a:t>
            </a:r>
            <a:r>
              <a:rPr lang="en" altLang="zh-TW" b="0" dirty="0">
                <a:solidFill>
                  <a:srgbClr val="A31515"/>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.join(</a:t>
            </a:r>
            <a:r>
              <a:rPr lang="en" altLang="zh-TW" b="0" dirty="0" err="1">
                <a:solidFill>
                  <a:srgbClr val="000000"/>
                </a:solidFill>
                <a:effectLst/>
                <a:latin typeface="Fira Code" panose="020B0809050000020004" pitchFamily="49" charset="0"/>
              </a:rPr>
              <a:t>seg_list</a:t>
            </a:r>
            <a:r>
              <a:rPr lang="en" altLang="zh-TW" b="0">
                <a:solidFill>
                  <a:srgbClr val="000000"/>
                </a:solidFill>
                <a:effectLst/>
                <a:latin typeface="Fira Code" panose="020B0809050000020004" pitchFamily="49" charset="0"/>
              </a:rPr>
              <a:t>))</a:t>
            </a:r>
            <a:endParaRPr lang="zh-TW" altLang="en-US" b="0" dirty="0">
              <a:solidFill>
                <a:srgbClr val="000000"/>
              </a:solidFill>
              <a:effectLst/>
              <a:latin typeface="Fira Code" panose="020B0809050000020004" pitchFamily="49" charset="0"/>
            </a:endParaRPr>
          </a:p>
        </p:txBody>
      </p:sp>
    </p:spTree>
    <p:extLst>
      <p:ext uri="{BB962C8B-B14F-4D97-AF65-F5344CB8AC3E}">
        <p14:creationId xmlns:p14="http://schemas.microsoft.com/office/powerpoint/2010/main" val="24462600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6C36DBEF-0158-4733-84D8-08362FA08C92}"/>
              </a:ext>
            </a:extLst>
          </p:cNvPr>
          <p:cNvSpPr>
            <a:spLocks noGrp="1"/>
          </p:cNvSpPr>
          <p:nvPr>
            <p:ph type="title"/>
          </p:nvPr>
        </p:nvSpPr>
        <p:spPr/>
        <p:txBody>
          <a:bodyPr/>
          <a:lstStyle/>
          <a:p>
            <a:r>
              <a:rPr lang="en-US" altLang="zh-TW" dirty="0"/>
              <a:t>Using RNN</a:t>
            </a:r>
            <a:r>
              <a:rPr lang="zh-TW" altLang="en-US" dirty="0"/>
              <a:t> </a:t>
            </a:r>
            <a:r>
              <a:rPr lang="en-US" altLang="zh-TW" dirty="0"/>
              <a:t>in</a:t>
            </a:r>
            <a:r>
              <a:rPr lang="zh-TW" altLang="en-US" dirty="0"/>
              <a:t> </a:t>
            </a:r>
            <a:r>
              <a:rPr lang="en-US" altLang="zh-TW" dirty="0"/>
              <a:t>NLP</a:t>
            </a:r>
            <a:endParaRPr lang="zh-TW" altLang="en-US" dirty="0"/>
          </a:p>
        </p:txBody>
      </p:sp>
      <p:sp>
        <p:nvSpPr>
          <p:cNvPr id="5" name="文字版面配置區 4">
            <a:extLst>
              <a:ext uri="{FF2B5EF4-FFF2-40B4-BE49-F238E27FC236}">
                <a16:creationId xmlns:a16="http://schemas.microsoft.com/office/drawing/2014/main" id="{615D2094-CFA0-4D49-87BD-C7826D2F02AC}"/>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9947670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AD7937-ACA5-40D7-B5E6-DF6238678F23}"/>
              </a:ext>
            </a:extLst>
          </p:cNvPr>
          <p:cNvSpPr>
            <a:spLocks noGrp="1"/>
          </p:cNvSpPr>
          <p:nvPr>
            <p:ph type="title"/>
          </p:nvPr>
        </p:nvSpPr>
        <p:spPr>
          <a:xfrm>
            <a:off x="838200" y="365125"/>
            <a:ext cx="10515600" cy="1325563"/>
          </a:xfrm>
        </p:spPr>
        <p:txBody>
          <a:bodyPr>
            <a:normAutofit/>
          </a:bodyPr>
          <a:lstStyle/>
          <a:p>
            <a:r>
              <a:rPr lang="en-US" altLang="zh-TW" dirty="0"/>
              <a:t>RNN from scratch</a:t>
            </a:r>
            <a:endParaRPr lang="zh-TW" altLang="en-US" dirty="0"/>
          </a:p>
        </p:txBody>
      </p:sp>
      <p:sp>
        <p:nvSpPr>
          <p:cNvPr id="3" name="內容版面配置區 2">
            <a:extLst>
              <a:ext uri="{FF2B5EF4-FFF2-40B4-BE49-F238E27FC236}">
                <a16:creationId xmlns:a16="http://schemas.microsoft.com/office/drawing/2014/main" id="{9BF26F4A-8B09-41BA-955C-75988EA80A6F}"/>
              </a:ext>
            </a:extLst>
          </p:cNvPr>
          <p:cNvSpPr>
            <a:spLocks noGrp="1"/>
          </p:cNvSpPr>
          <p:nvPr>
            <p:ph idx="1"/>
          </p:nvPr>
        </p:nvSpPr>
        <p:spPr>
          <a:xfrm>
            <a:off x="838200" y="1825625"/>
            <a:ext cx="5145833" cy="4667250"/>
          </a:xfrm>
        </p:spPr>
        <p:txBody>
          <a:bodyPr>
            <a:normAutofit lnSpcReduction="10000"/>
          </a:bodyPr>
          <a:lstStyle/>
          <a:p>
            <a:r>
              <a:rPr lang="zh-TW" altLang="en-US" dirty="0"/>
              <a:t>範例目的：</a:t>
            </a:r>
            <a:r>
              <a:rPr lang="en-US" altLang="zh-TW" dirty="0"/>
              <a:t>a-&gt;b, b-&gt;c, c-&gt;d…….</a:t>
            </a:r>
          </a:p>
          <a:p>
            <a:pPr lvl="1"/>
            <a:r>
              <a:rPr lang="zh-TW" altLang="en-US" dirty="0"/>
              <a:t>所以可視為是一個「多元分類」問題</a:t>
            </a:r>
            <a:endParaRPr lang="en-US" altLang="zh-TW" dirty="0"/>
          </a:p>
          <a:p>
            <a:pPr lvl="1"/>
            <a:r>
              <a:rPr lang="zh-TW" altLang="en-US" dirty="0"/>
              <a:t>輸入的地方用</a:t>
            </a:r>
            <a:r>
              <a:rPr lang="en-US" altLang="zh-TW" dirty="0"/>
              <a:t>one hot encoding</a:t>
            </a:r>
            <a:r>
              <a:rPr lang="zh-TW" altLang="en-US" dirty="0"/>
              <a:t>將字元轉成數字向量</a:t>
            </a:r>
            <a:endParaRPr lang="en-US" altLang="zh-TW" dirty="0"/>
          </a:p>
          <a:p>
            <a:pPr lvl="1"/>
            <a:r>
              <a:rPr lang="en-US" altLang="zh-TW" dirty="0"/>
              <a:t>Hidden layer</a:t>
            </a:r>
            <a:r>
              <a:rPr lang="zh-TW" altLang="en-US" dirty="0"/>
              <a:t>的資訊會「傳遞」到下一筆，並當成輸入</a:t>
            </a:r>
            <a:endParaRPr lang="en-US" altLang="zh-TW" dirty="0"/>
          </a:p>
          <a:p>
            <a:pPr lvl="2"/>
            <a:r>
              <a:rPr lang="zh-TW" altLang="en-US" dirty="0"/>
              <a:t>活化函式使用</a:t>
            </a:r>
            <a:r>
              <a:rPr lang="en-US" altLang="zh-TW" dirty="0"/>
              <a:t>tanh</a:t>
            </a:r>
          </a:p>
          <a:p>
            <a:pPr lvl="1"/>
            <a:r>
              <a:rPr lang="zh-TW" altLang="en-US" dirty="0"/>
              <a:t>輸出的數值最後用</a:t>
            </a:r>
            <a:r>
              <a:rPr lang="en-US" altLang="zh-TW" dirty="0" err="1"/>
              <a:t>Softmax</a:t>
            </a:r>
            <a:r>
              <a:rPr lang="zh-TW" altLang="en-US" dirty="0"/>
              <a:t>計算預測陣列</a:t>
            </a:r>
            <a:endParaRPr lang="en-US" altLang="zh-TW" dirty="0"/>
          </a:p>
          <a:p>
            <a:pPr lvl="1"/>
            <a:r>
              <a:rPr lang="zh-TW" altLang="en-US" dirty="0"/>
              <a:t>損失函數很直覺的使用</a:t>
            </a:r>
            <a:r>
              <a:rPr lang="en-US" altLang="zh-TW" dirty="0"/>
              <a:t>cross-</a:t>
            </a:r>
            <a:r>
              <a:rPr lang="en-US" altLang="zh-TW" dirty="0" err="1"/>
              <a:t>entroy</a:t>
            </a:r>
            <a:endParaRPr lang="en-US" altLang="zh-TW" dirty="0"/>
          </a:p>
          <a:p>
            <a:endParaRPr lang="zh-TW" altLang="en-US" dirty="0"/>
          </a:p>
        </p:txBody>
      </p:sp>
      <p:pic>
        <p:nvPicPr>
          <p:cNvPr id="2050" name="Picture 2">
            <a:extLst>
              <a:ext uri="{FF2B5EF4-FFF2-40B4-BE49-F238E27FC236}">
                <a16:creationId xmlns:a16="http://schemas.microsoft.com/office/drawing/2014/main" id="{6E5F7DE9-593E-40F1-921B-FE25B88C4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94050"/>
            <a:ext cx="5280643" cy="38020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F7763C90-A40B-4C3E-8A8C-3FE5818FC269}"/>
              </a:ext>
            </a:extLst>
          </p:cNvPr>
          <p:cNvSpPr txBox="1"/>
          <p:nvPr/>
        </p:nvSpPr>
        <p:spPr>
          <a:xfrm>
            <a:off x="1312505" y="6080745"/>
            <a:ext cx="9212426" cy="369332"/>
          </a:xfrm>
          <a:prstGeom prst="rect">
            <a:avLst/>
          </a:prstGeom>
          <a:noFill/>
        </p:spPr>
        <p:txBody>
          <a:bodyPr wrap="square">
            <a:spAutoFit/>
          </a:bodyPr>
          <a:lstStyle/>
          <a:p>
            <a:r>
              <a:rPr lang="en-US" altLang="zh-TW" dirty="0">
                <a:hlinkClick r:id="rId3"/>
              </a:rPr>
              <a:t>https://colab.research.google.com/drive/1pEnRQXshxZPyrw3JniJh54O_eTO-XP7f?usp=sharing</a:t>
            </a:r>
            <a:endParaRPr lang="zh-TW" altLang="en-US" dirty="0"/>
          </a:p>
        </p:txBody>
      </p:sp>
    </p:spTree>
    <p:extLst>
      <p:ext uri="{BB962C8B-B14F-4D97-AF65-F5344CB8AC3E}">
        <p14:creationId xmlns:p14="http://schemas.microsoft.com/office/powerpoint/2010/main" val="36990321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6C135E-5594-4950-06F1-CD07FB0C2539}"/>
              </a:ext>
            </a:extLst>
          </p:cNvPr>
          <p:cNvSpPr>
            <a:spLocks noGrp="1"/>
          </p:cNvSpPr>
          <p:nvPr>
            <p:ph type="title"/>
          </p:nvPr>
        </p:nvSpPr>
        <p:spPr/>
        <p:txBody>
          <a:bodyPr/>
          <a:lstStyle/>
          <a:p>
            <a:r>
              <a:rPr kumimoji="1" lang="en-US" altLang="zh-TW" dirty="0"/>
              <a:t>RNN</a:t>
            </a:r>
            <a:r>
              <a:rPr kumimoji="1" lang="zh-TW" altLang="en-US" dirty="0"/>
              <a:t>的類型</a:t>
            </a:r>
          </a:p>
        </p:txBody>
      </p:sp>
      <p:pic>
        <p:nvPicPr>
          <p:cNvPr id="4" name="圖片 3">
            <a:extLst>
              <a:ext uri="{FF2B5EF4-FFF2-40B4-BE49-F238E27FC236}">
                <a16:creationId xmlns:a16="http://schemas.microsoft.com/office/drawing/2014/main" id="{50042DDC-8F99-3C4C-65E7-CF3143177E5B}"/>
              </a:ext>
            </a:extLst>
          </p:cNvPr>
          <p:cNvPicPr>
            <a:picLocks noChangeAspect="1"/>
          </p:cNvPicPr>
          <p:nvPr/>
        </p:nvPicPr>
        <p:blipFill>
          <a:blip r:embed="rId2"/>
          <a:stretch>
            <a:fillRect/>
          </a:stretch>
        </p:blipFill>
        <p:spPr>
          <a:xfrm>
            <a:off x="2822396" y="1615123"/>
            <a:ext cx="6755966" cy="4534923"/>
          </a:xfrm>
          <a:prstGeom prst="rect">
            <a:avLst/>
          </a:prstGeom>
        </p:spPr>
      </p:pic>
      <p:sp>
        <p:nvSpPr>
          <p:cNvPr id="5" name="矩形圖說文字 4">
            <a:extLst>
              <a:ext uri="{FF2B5EF4-FFF2-40B4-BE49-F238E27FC236}">
                <a16:creationId xmlns:a16="http://schemas.microsoft.com/office/drawing/2014/main" id="{BD2E4AE5-9A74-195F-0C13-417E44B62089}"/>
              </a:ext>
            </a:extLst>
          </p:cNvPr>
          <p:cNvSpPr/>
          <p:nvPr/>
        </p:nvSpPr>
        <p:spPr>
          <a:xfrm>
            <a:off x="891994" y="2074171"/>
            <a:ext cx="1644073" cy="1172000"/>
          </a:xfrm>
          <a:prstGeom prst="wedgeRectCallout">
            <a:avLst>
              <a:gd name="adj1" fmla="val 65690"/>
              <a:gd name="adj2" fmla="val 184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t>Seq2Seq</a:t>
            </a:r>
          </a:p>
          <a:p>
            <a:pPr algn="ctr"/>
            <a:r>
              <a:rPr kumimoji="1" lang="en-US" altLang="zh-TW" sz="1600" dirty="0"/>
              <a:t>(</a:t>
            </a:r>
            <a:r>
              <a:rPr kumimoji="1" lang="zh-TW" altLang="en-US" sz="1600" dirty="0"/>
              <a:t>例如時間序列預測，今天預測明天，明天預測後天</a:t>
            </a:r>
            <a:r>
              <a:rPr kumimoji="1" lang="en-US" altLang="zh-TW" sz="1600" dirty="0"/>
              <a:t>)</a:t>
            </a:r>
            <a:endParaRPr kumimoji="1" lang="zh-TW" altLang="en-US" sz="1600" dirty="0"/>
          </a:p>
        </p:txBody>
      </p:sp>
      <p:sp>
        <p:nvSpPr>
          <p:cNvPr id="6" name="矩形圖說文字 5">
            <a:extLst>
              <a:ext uri="{FF2B5EF4-FFF2-40B4-BE49-F238E27FC236}">
                <a16:creationId xmlns:a16="http://schemas.microsoft.com/office/drawing/2014/main" id="{4B691067-8AD7-1441-9B66-3B6EA24A27C6}"/>
              </a:ext>
            </a:extLst>
          </p:cNvPr>
          <p:cNvSpPr/>
          <p:nvPr/>
        </p:nvSpPr>
        <p:spPr>
          <a:xfrm>
            <a:off x="7874686" y="947227"/>
            <a:ext cx="2641599" cy="667895"/>
          </a:xfrm>
          <a:prstGeom prst="wedgeRectCallout">
            <a:avLst>
              <a:gd name="adj1" fmla="val 4802"/>
              <a:gd name="adj2" fmla="val 887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t>Seq2Vector</a:t>
            </a:r>
          </a:p>
          <a:p>
            <a:pPr algn="ctr"/>
            <a:r>
              <a:rPr kumimoji="1" lang="en-US" altLang="zh-TW" sz="1600" dirty="0"/>
              <a:t>(</a:t>
            </a:r>
            <a:r>
              <a:rPr kumimoji="1" lang="zh-TW" altLang="en-US" sz="1600" dirty="0"/>
              <a:t>如影評的單字序列輸入，輸出一個情緒分數</a:t>
            </a:r>
            <a:r>
              <a:rPr kumimoji="1" lang="en-US" altLang="zh-TW" sz="1600" dirty="0"/>
              <a:t>)</a:t>
            </a:r>
            <a:endParaRPr kumimoji="1" lang="zh-TW" altLang="en-US" sz="1600" dirty="0"/>
          </a:p>
        </p:txBody>
      </p:sp>
      <p:sp>
        <p:nvSpPr>
          <p:cNvPr id="7" name="矩形圖說文字 6">
            <a:extLst>
              <a:ext uri="{FF2B5EF4-FFF2-40B4-BE49-F238E27FC236}">
                <a16:creationId xmlns:a16="http://schemas.microsoft.com/office/drawing/2014/main" id="{4D7A642A-3CDC-C7AE-2062-BF4BEFAE8A7A}"/>
              </a:ext>
            </a:extLst>
          </p:cNvPr>
          <p:cNvSpPr/>
          <p:nvPr/>
        </p:nvSpPr>
        <p:spPr>
          <a:xfrm>
            <a:off x="891995" y="4123625"/>
            <a:ext cx="1699490" cy="1085273"/>
          </a:xfrm>
          <a:prstGeom prst="wedgeRectCallout">
            <a:avLst>
              <a:gd name="adj1" fmla="val 65690"/>
              <a:gd name="adj2" fmla="val 1844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1600" dirty="0"/>
              <a:t>Vector2Seq</a:t>
            </a:r>
          </a:p>
          <a:p>
            <a:pPr algn="ctr"/>
            <a:r>
              <a:rPr kumimoji="1" lang="en-US" altLang="zh-TW" sz="1600" dirty="0"/>
              <a:t>(</a:t>
            </a:r>
            <a:r>
              <a:rPr kumimoji="1" lang="zh-TW" altLang="en-US" sz="1600" dirty="0"/>
              <a:t>例如輸入是一張圖，輸出是標題</a:t>
            </a:r>
            <a:r>
              <a:rPr kumimoji="1" lang="en-US" altLang="zh-TW" sz="1600" dirty="0"/>
              <a:t>)</a:t>
            </a:r>
            <a:endParaRPr kumimoji="1" lang="zh-TW" altLang="en-US" sz="1600" dirty="0"/>
          </a:p>
        </p:txBody>
      </p:sp>
      <p:sp>
        <p:nvSpPr>
          <p:cNvPr id="8" name="矩形圖說文字 7">
            <a:extLst>
              <a:ext uri="{FF2B5EF4-FFF2-40B4-BE49-F238E27FC236}">
                <a16:creationId xmlns:a16="http://schemas.microsoft.com/office/drawing/2014/main" id="{9D8F1E7F-526F-EC53-F65F-1DD4C79ACAC7}"/>
              </a:ext>
            </a:extLst>
          </p:cNvPr>
          <p:cNvSpPr/>
          <p:nvPr/>
        </p:nvSpPr>
        <p:spPr>
          <a:xfrm>
            <a:off x="9762657" y="3614469"/>
            <a:ext cx="729673" cy="2103583"/>
          </a:xfrm>
          <a:prstGeom prst="wedgeRectCallout">
            <a:avLst>
              <a:gd name="adj1" fmla="val -72691"/>
              <a:gd name="adj2" fmla="val 167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sz="1600" dirty="0"/>
              <a:t>例如翻譯</a:t>
            </a:r>
          </a:p>
        </p:txBody>
      </p:sp>
    </p:spTree>
    <p:extLst>
      <p:ext uri="{BB962C8B-B14F-4D97-AF65-F5344CB8AC3E}">
        <p14:creationId xmlns:p14="http://schemas.microsoft.com/office/powerpoint/2010/main" val="20365747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3628CA-2C1C-A8D7-B0FA-0D2BB6B317AB}"/>
              </a:ext>
            </a:extLst>
          </p:cNvPr>
          <p:cNvSpPr>
            <a:spLocks noGrp="1"/>
          </p:cNvSpPr>
          <p:nvPr>
            <p:ph type="title"/>
          </p:nvPr>
        </p:nvSpPr>
        <p:spPr/>
        <p:txBody>
          <a:bodyPr/>
          <a:lstStyle/>
          <a:p>
            <a:r>
              <a:rPr kumimoji="1" lang="en" altLang="zh-TW" dirty="0"/>
              <a:t>Bidirectional RNN</a:t>
            </a:r>
            <a:endParaRPr kumimoji="1" lang="zh-TW" altLang="en-US" dirty="0"/>
          </a:p>
        </p:txBody>
      </p:sp>
      <p:sp>
        <p:nvSpPr>
          <p:cNvPr id="3" name="內容版面配置區 2">
            <a:extLst>
              <a:ext uri="{FF2B5EF4-FFF2-40B4-BE49-F238E27FC236}">
                <a16:creationId xmlns:a16="http://schemas.microsoft.com/office/drawing/2014/main" id="{58E1A426-81FB-7B52-CB92-042E5763799F}"/>
              </a:ext>
            </a:extLst>
          </p:cNvPr>
          <p:cNvSpPr>
            <a:spLocks noGrp="1"/>
          </p:cNvSpPr>
          <p:nvPr>
            <p:ph idx="1"/>
          </p:nvPr>
        </p:nvSpPr>
        <p:spPr>
          <a:xfrm>
            <a:off x="1024128" y="2084832"/>
            <a:ext cx="9720073" cy="4224528"/>
          </a:xfrm>
        </p:spPr>
        <p:txBody>
          <a:bodyPr/>
          <a:lstStyle/>
          <a:p>
            <a:pPr marL="432000" indent="-324000">
              <a:spcAft>
                <a:spcPts val="1060"/>
              </a:spcAft>
              <a:buClr>
                <a:srgbClr val="000000"/>
              </a:buClr>
              <a:buSzPct val="40000"/>
              <a:buFont typeface="Wingdings" charset="2"/>
              <a:buChar char=""/>
            </a:pPr>
            <a:r>
              <a:rPr lang="zh-TW" altLang="zh-TW" sz="2000" b="0" strike="noStrike" spc="-1" dirty="0">
                <a:solidFill>
                  <a:srgbClr val="050505"/>
                </a:solidFill>
                <a:latin typeface="Arial"/>
              </a:rPr>
              <a:t>一般的遞迴層在產生輸出之前，只會查看過去跟現在的輸入，但對文字處理而言，例如翻譯，可能需要看一下「後面」的字才能正確處理</a:t>
            </a:r>
            <a:endParaRPr lang="en-US" altLang="zh-TW" sz="2000" b="0" strike="noStrike" spc="-1" dirty="0">
              <a:solidFill>
                <a:srgbClr val="050505"/>
              </a:solidFill>
              <a:latin typeface="Arial"/>
            </a:endParaRPr>
          </a:p>
          <a:p>
            <a:pPr marL="432000" indent="-324000">
              <a:spcAft>
                <a:spcPts val="1060"/>
              </a:spcAft>
              <a:buClr>
                <a:srgbClr val="000000"/>
              </a:buClr>
              <a:buSzPct val="40000"/>
              <a:buFont typeface="Wingdings" charset="2"/>
              <a:buChar char=""/>
            </a:pPr>
            <a:r>
              <a:rPr lang="zh-TW" altLang="zh-TW" sz="2000" b="0" strike="noStrike" spc="-1" dirty="0">
                <a:solidFill>
                  <a:srgbClr val="050505"/>
                </a:solidFill>
                <a:latin typeface="Arial"/>
              </a:rPr>
              <a:t>雙向</a:t>
            </a:r>
            <a:r>
              <a:rPr lang="en-US" altLang="zh-TW" sz="2000" b="0" strike="noStrike" spc="-1" dirty="0">
                <a:solidFill>
                  <a:srgbClr val="050505"/>
                </a:solidFill>
                <a:latin typeface="Arial"/>
              </a:rPr>
              <a:t>RNN</a:t>
            </a:r>
            <a:r>
              <a:rPr lang="zh-TW" altLang="zh-TW" sz="2000" b="0" strike="noStrike" spc="-1" dirty="0">
                <a:solidFill>
                  <a:srgbClr val="050505"/>
                </a:solidFill>
                <a:latin typeface="Arial"/>
              </a:rPr>
              <a:t>的機制就是對同一個輸入執行兩個遞迴層，一個從左到右讀取單字，另一個從右到左</a:t>
            </a:r>
            <a:endParaRPr lang="en-US" altLang="zh-TW" sz="2000" b="0" strike="noStrike" spc="-1" dirty="0">
              <a:solidFill>
                <a:srgbClr val="050505"/>
              </a:solidFill>
              <a:latin typeface="Arial"/>
            </a:endParaRPr>
          </a:p>
        </p:txBody>
      </p:sp>
      <p:pic>
        <p:nvPicPr>
          <p:cNvPr id="4" name="圖片 3">
            <a:extLst>
              <a:ext uri="{FF2B5EF4-FFF2-40B4-BE49-F238E27FC236}">
                <a16:creationId xmlns:a16="http://schemas.microsoft.com/office/drawing/2014/main" id="{FC48164B-855F-4727-B9C3-466725B96468}"/>
              </a:ext>
            </a:extLst>
          </p:cNvPr>
          <p:cNvPicPr/>
          <p:nvPr/>
        </p:nvPicPr>
        <p:blipFill>
          <a:blip r:embed="rId2"/>
          <a:stretch/>
        </p:blipFill>
        <p:spPr>
          <a:xfrm>
            <a:off x="1876160" y="3712711"/>
            <a:ext cx="7276680" cy="2571480"/>
          </a:xfrm>
          <a:prstGeom prst="rect">
            <a:avLst/>
          </a:prstGeom>
          <a:ln w="18000">
            <a:noFill/>
          </a:ln>
        </p:spPr>
      </p:pic>
    </p:spTree>
    <p:extLst>
      <p:ext uri="{BB962C8B-B14F-4D97-AF65-F5344CB8AC3E}">
        <p14:creationId xmlns:p14="http://schemas.microsoft.com/office/powerpoint/2010/main" val="41939877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99BABD40-02FF-75C4-38D9-7677ED1FD349}"/>
              </a:ext>
            </a:extLst>
          </p:cNvPr>
          <p:cNvSpPr>
            <a:spLocks noGrp="1"/>
          </p:cNvSpPr>
          <p:nvPr>
            <p:ph type="title"/>
          </p:nvPr>
        </p:nvSpPr>
        <p:spPr/>
        <p:txBody>
          <a:bodyPr/>
          <a:lstStyle/>
          <a:p>
            <a:r>
              <a:rPr lang="zh-TW" altLang="en-US" dirty="0"/>
              <a:t>情感分析</a:t>
            </a:r>
            <a:br>
              <a:rPr lang="en-US" altLang="zh-TW" dirty="0"/>
            </a:br>
            <a:r>
              <a:rPr kumimoji="1" lang="en-US" altLang="zh-TW" sz="6000" dirty="0"/>
              <a:t>RNN</a:t>
            </a:r>
            <a:r>
              <a:rPr kumimoji="1" lang="zh-TW" altLang="en-US" sz="6000" dirty="0"/>
              <a:t>練習</a:t>
            </a:r>
            <a:r>
              <a:rPr kumimoji="1" lang="en-US" altLang="zh-TW" sz="6000" dirty="0"/>
              <a:t>(I)-</a:t>
            </a:r>
            <a:r>
              <a:rPr kumimoji="1" lang="en-US" altLang="zh-TW" sz="6000" dirty="0" err="1"/>
              <a:t>imdb</a:t>
            </a:r>
            <a:r>
              <a:rPr kumimoji="1" lang="zh-TW" altLang="en-US" sz="6000" dirty="0"/>
              <a:t> </a:t>
            </a:r>
            <a:r>
              <a:rPr kumimoji="1" lang="en-US" altLang="zh-TW" sz="6000" dirty="0"/>
              <a:t>review</a:t>
            </a:r>
            <a:r>
              <a:rPr kumimoji="1" lang="zh-TW" altLang="en-US" sz="6000" dirty="0"/>
              <a:t>實作</a:t>
            </a:r>
            <a:endParaRPr lang="zh-TW" altLang="en-US" dirty="0"/>
          </a:p>
        </p:txBody>
      </p:sp>
      <p:sp>
        <p:nvSpPr>
          <p:cNvPr id="5" name="文字版面配置區 4">
            <a:extLst>
              <a:ext uri="{FF2B5EF4-FFF2-40B4-BE49-F238E27FC236}">
                <a16:creationId xmlns:a16="http://schemas.microsoft.com/office/drawing/2014/main" id="{D0E74613-3673-855F-2F2F-F1E573AA9B19}"/>
              </a:ext>
            </a:extLst>
          </p:cNvPr>
          <p:cNvSpPr>
            <a:spLocks noGrp="1"/>
          </p:cNvSpPr>
          <p:nvPr>
            <p:ph type="body" idx="1"/>
          </p:nvPr>
        </p:nvSpPr>
        <p:spPr/>
        <p:txBody>
          <a:bodyPr/>
          <a:lstStyle/>
          <a:p>
            <a:r>
              <a:rPr lang="en-US" altLang="zh-TW" dirty="0"/>
              <a:t>IMDB</a:t>
            </a:r>
            <a:r>
              <a:rPr lang="zh-TW" altLang="en-US" dirty="0"/>
              <a:t>資料集</a:t>
            </a:r>
          </a:p>
        </p:txBody>
      </p:sp>
    </p:spTree>
    <p:extLst>
      <p:ext uri="{BB962C8B-B14F-4D97-AF65-F5344CB8AC3E}">
        <p14:creationId xmlns:p14="http://schemas.microsoft.com/office/powerpoint/2010/main" val="20575326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CB3F56-5E51-47BB-88E1-D9D6EBE14292}"/>
              </a:ext>
            </a:extLst>
          </p:cNvPr>
          <p:cNvSpPr>
            <a:spLocks noGrp="1"/>
          </p:cNvSpPr>
          <p:nvPr>
            <p:ph type="title"/>
          </p:nvPr>
        </p:nvSpPr>
        <p:spPr>
          <a:xfrm>
            <a:off x="838200" y="365125"/>
            <a:ext cx="10515600" cy="1325563"/>
          </a:xfrm>
        </p:spPr>
        <p:txBody>
          <a:bodyPr/>
          <a:lstStyle/>
          <a:p>
            <a:r>
              <a:rPr lang="zh-TW" altLang="en-US" dirty="0"/>
              <a:t>情感分析</a:t>
            </a:r>
            <a:r>
              <a:rPr lang="en-US" altLang="zh-TW" dirty="0"/>
              <a:t>Sentiment analysis</a:t>
            </a:r>
            <a:endParaRPr lang="zh-TW" altLang="en-US" dirty="0"/>
          </a:p>
        </p:txBody>
      </p:sp>
      <p:sp>
        <p:nvSpPr>
          <p:cNvPr id="3" name="內容版面配置區 2">
            <a:extLst>
              <a:ext uri="{FF2B5EF4-FFF2-40B4-BE49-F238E27FC236}">
                <a16:creationId xmlns:a16="http://schemas.microsoft.com/office/drawing/2014/main" id="{E309CF9D-C5D9-4DA4-8705-FD1CBE44078C}"/>
              </a:ext>
            </a:extLst>
          </p:cNvPr>
          <p:cNvSpPr>
            <a:spLocks noGrp="1"/>
          </p:cNvSpPr>
          <p:nvPr>
            <p:ph idx="1"/>
          </p:nvPr>
        </p:nvSpPr>
        <p:spPr>
          <a:xfrm>
            <a:off x="838200" y="1825625"/>
            <a:ext cx="10515600" cy="4469428"/>
          </a:xfrm>
        </p:spPr>
        <p:txBody>
          <a:bodyPr>
            <a:normAutofit fontScale="85000" lnSpcReduction="10000"/>
          </a:bodyPr>
          <a:lstStyle/>
          <a:p>
            <a:pPr>
              <a:lnSpc>
                <a:spcPct val="120000"/>
              </a:lnSpc>
            </a:pPr>
            <a:r>
              <a:rPr lang="zh-TW" altLang="en-US" dirty="0"/>
              <a:t>什麼是情感分析？</a:t>
            </a:r>
          </a:p>
          <a:p>
            <a:pPr>
              <a:lnSpc>
                <a:spcPct val="120000"/>
              </a:lnSpc>
            </a:pPr>
            <a:r>
              <a:rPr lang="zh-TW" altLang="en-US" dirty="0"/>
              <a:t>世界上現有的數據有</a:t>
            </a:r>
            <a:r>
              <a:rPr lang="en-US" altLang="zh-TW" dirty="0"/>
              <a:t>80%</a:t>
            </a:r>
            <a:r>
              <a:rPr lang="zh-TW" altLang="en-US" dirty="0"/>
              <a:t>是以文字形式存在的，這是一種非結構化數據。</a:t>
            </a:r>
          </a:p>
          <a:p>
            <a:pPr>
              <a:lnSpc>
                <a:spcPct val="120000"/>
              </a:lnSpc>
            </a:pPr>
            <a:r>
              <a:rPr lang="zh-TW" altLang="en-US" dirty="0"/>
              <a:t>情感分析（也稱為</a:t>
            </a:r>
            <a:r>
              <a:rPr lang="en" altLang="zh-TW" dirty="0"/>
              <a:t>opinion mining </a:t>
            </a:r>
            <a:r>
              <a:rPr lang="zh-TW" altLang="en" dirty="0"/>
              <a:t>或</a:t>
            </a:r>
            <a:r>
              <a:rPr lang="en" altLang="zh-TW" dirty="0"/>
              <a:t> emotion AI</a:t>
            </a:r>
            <a:r>
              <a:rPr lang="zh-TW" altLang="en-US" dirty="0"/>
              <a:t>）是自然語言處理（</a:t>
            </a:r>
            <a:r>
              <a:rPr lang="en" altLang="zh-TW" dirty="0"/>
              <a:t>NLP</a:t>
            </a:r>
            <a:r>
              <a:rPr lang="zh-TW" altLang="en" dirty="0"/>
              <a:t>）</a:t>
            </a:r>
            <a:r>
              <a:rPr lang="zh-TW" altLang="en-US" dirty="0"/>
              <a:t>的一個子領域，它測量人們在非結構化文本中的意見（正面</a:t>
            </a:r>
            <a:r>
              <a:rPr lang="en-US" altLang="zh-TW" dirty="0"/>
              <a:t>/</a:t>
            </a:r>
            <a:r>
              <a:rPr lang="zh-TW" altLang="en-US" dirty="0"/>
              <a:t>負面）的傾向。</a:t>
            </a:r>
          </a:p>
          <a:p>
            <a:pPr>
              <a:lnSpc>
                <a:spcPct val="120000"/>
              </a:lnSpc>
            </a:pPr>
            <a:r>
              <a:rPr lang="zh-TW" altLang="en-US" dirty="0"/>
              <a:t>非結構化數據來源：</a:t>
            </a:r>
          </a:p>
          <a:p>
            <a:pPr lvl="1">
              <a:lnSpc>
                <a:spcPct val="120000"/>
              </a:lnSpc>
            </a:pPr>
            <a:r>
              <a:rPr lang="zh-TW" altLang="en-US" dirty="0"/>
              <a:t>社交媒體的推文</a:t>
            </a:r>
            <a:r>
              <a:rPr lang="en-US" altLang="zh-TW" dirty="0"/>
              <a:t>/</a:t>
            </a:r>
            <a:r>
              <a:rPr lang="zh-TW" altLang="en-US" dirty="0"/>
              <a:t>帖子、通話記錄、調查或面試評論、博客、論壇、新聞等中的文字。</a:t>
            </a:r>
          </a:p>
          <a:p>
            <a:pPr>
              <a:lnSpc>
                <a:spcPct val="120000"/>
              </a:lnSpc>
            </a:pPr>
            <a:r>
              <a:rPr lang="zh-TW" altLang="en-US" dirty="0"/>
              <a:t>用於分析情緒的兩個指標是：</a:t>
            </a:r>
          </a:p>
          <a:p>
            <a:pPr lvl="1">
              <a:lnSpc>
                <a:spcPct val="120000"/>
              </a:lnSpc>
            </a:pPr>
            <a:r>
              <a:rPr lang="zh-TW" altLang="en-US" dirty="0"/>
              <a:t>主觀性</a:t>
            </a:r>
            <a:r>
              <a:rPr lang="en-US" altLang="zh-TW" dirty="0"/>
              <a:t>(</a:t>
            </a:r>
            <a:r>
              <a:rPr lang="en" altLang="zh-TW" dirty="0"/>
              <a:t>Subjectivity</a:t>
            </a:r>
            <a:r>
              <a:rPr lang="en-US" altLang="zh-TW" dirty="0"/>
              <a:t>)</a:t>
            </a:r>
            <a:r>
              <a:rPr lang="zh-TW" altLang="en-US" dirty="0"/>
              <a:t>：談論意見有多主觀。</a:t>
            </a:r>
          </a:p>
          <a:p>
            <a:pPr lvl="1">
              <a:lnSpc>
                <a:spcPct val="120000"/>
              </a:lnSpc>
            </a:pPr>
            <a:r>
              <a:rPr lang="zh-TW" altLang="en-US" dirty="0"/>
              <a:t>極性</a:t>
            </a:r>
            <a:r>
              <a:rPr lang="en-US" altLang="zh-TW" dirty="0"/>
              <a:t>(</a:t>
            </a:r>
            <a:r>
              <a:rPr lang="en" altLang="zh-TW" dirty="0"/>
              <a:t>Polarity</a:t>
            </a:r>
            <a:r>
              <a:rPr lang="en-US" altLang="zh-TW" dirty="0"/>
              <a:t>)</a:t>
            </a:r>
            <a:r>
              <a:rPr lang="zh-TW" altLang="en-US" dirty="0"/>
              <a:t>：談論意見是正面的還是負面的。</a:t>
            </a:r>
          </a:p>
        </p:txBody>
      </p:sp>
    </p:spTree>
    <p:extLst>
      <p:ext uri="{BB962C8B-B14F-4D97-AF65-F5344CB8AC3E}">
        <p14:creationId xmlns:p14="http://schemas.microsoft.com/office/powerpoint/2010/main" val="254941298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C64FCB-FF23-C573-9187-A8D261EB03D5}"/>
              </a:ext>
            </a:extLst>
          </p:cNvPr>
          <p:cNvSpPr>
            <a:spLocks noGrp="1"/>
          </p:cNvSpPr>
          <p:nvPr>
            <p:ph type="title"/>
          </p:nvPr>
        </p:nvSpPr>
        <p:spPr>
          <a:xfrm>
            <a:off x="838200" y="365125"/>
            <a:ext cx="10515600" cy="1325563"/>
          </a:xfrm>
        </p:spPr>
        <p:txBody>
          <a:bodyPr>
            <a:normAutofit/>
          </a:bodyPr>
          <a:lstStyle/>
          <a:p>
            <a:r>
              <a:rPr lang="en-US" altLang="zh-TW" dirty="0"/>
              <a:t>RNN</a:t>
            </a:r>
            <a:r>
              <a:rPr lang="zh-TW" altLang="en-US" dirty="0"/>
              <a:t>練習</a:t>
            </a:r>
            <a:r>
              <a:rPr lang="en-US" altLang="zh-TW" dirty="0"/>
              <a:t>(I)-</a:t>
            </a:r>
            <a:r>
              <a:rPr lang="en-US" altLang="zh-TW" dirty="0" err="1"/>
              <a:t>imdb</a:t>
            </a:r>
            <a:r>
              <a:rPr lang="zh-TW" altLang="en-US" dirty="0"/>
              <a:t> </a:t>
            </a:r>
            <a:r>
              <a:rPr lang="en-US" altLang="zh-TW" dirty="0"/>
              <a:t>review</a:t>
            </a:r>
            <a:r>
              <a:rPr lang="zh-TW" altLang="en-US" dirty="0"/>
              <a:t>實作</a:t>
            </a:r>
          </a:p>
        </p:txBody>
      </p:sp>
      <p:sp>
        <p:nvSpPr>
          <p:cNvPr id="3" name="內容版面配置區 2">
            <a:extLst>
              <a:ext uri="{FF2B5EF4-FFF2-40B4-BE49-F238E27FC236}">
                <a16:creationId xmlns:a16="http://schemas.microsoft.com/office/drawing/2014/main" id="{5E8E4982-CF2A-4FBD-C03F-1B835B971139}"/>
              </a:ext>
            </a:extLst>
          </p:cNvPr>
          <p:cNvSpPr>
            <a:spLocks noGrp="1"/>
          </p:cNvSpPr>
          <p:nvPr>
            <p:ph idx="1"/>
          </p:nvPr>
        </p:nvSpPr>
        <p:spPr>
          <a:xfrm>
            <a:off x="838200" y="1825625"/>
            <a:ext cx="10515600" cy="4351338"/>
          </a:xfrm>
        </p:spPr>
        <p:txBody>
          <a:bodyPr/>
          <a:lstStyle/>
          <a:p>
            <a:r>
              <a:rPr lang="en" altLang="zh-TW" dirty="0"/>
              <a:t>IMDB Dataset </a:t>
            </a:r>
            <a:r>
              <a:rPr lang="zh-TW" altLang="en-US" dirty="0"/>
              <a:t>是來自 </a:t>
            </a:r>
            <a:r>
              <a:rPr lang="en" altLang="zh-TW" dirty="0"/>
              <a:t>Internet </a:t>
            </a:r>
            <a:r>
              <a:rPr lang="zh-TW" altLang="en-US" dirty="0"/>
              <a:t>電影數據庫 </a:t>
            </a:r>
            <a:r>
              <a:rPr lang="en-US" altLang="zh-TW" dirty="0"/>
              <a:t>50,000 </a:t>
            </a:r>
            <a:r>
              <a:rPr lang="zh-TW" altLang="en-US" dirty="0"/>
              <a:t>條評論文字。</a:t>
            </a:r>
            <a:endParaRPr lang="en-US" altLang="zh-TW" dirty="0"/>
          </a:p>
          <a:p>
            <a:r>
              <a:rPr lang="zh-TW" altLang="en-US" dirty="0"/>
              <a:t>分為 </a:t>
            </a:r>
            <a:r>
              <a:rPr lang="en-US" altLang="zh-TW" dirty="0"/>
              <a:t>25,000 </a:t>
            </a:r>
            <a:r>
              <a:rPr lang="zh-TW" altLang="en-US" dirty="0"/>
              <a:t>條訓練數據和 </a:t>
            </a:r>
            <a:r>
              <a:rPr lang="en-US" altLang="zh-TW" dirty="0"/>
              <a:t>25,000 </a:t>
            </a:r>
            <a:r>
              <a:rPr lang="zh-TW" altLang="en-US" dirty="0"/>
              <a:t>條測試數據，每組皆包含包括 </a:t>
            </a:r>
            <a:r>
              <a:rPr lang="en-US" altLang="zh-TW" dirty="0"/>
              <a:t>50</a:t>
            </a:r>
            <a:r>
              <a:rPr lang="zh-TW" altLang="en-US" dirty="0"/>
              <a:t>％ 的負面評論和 </a:t>
            </a:r>
            <a:r>
              <a:rPr lang="en-US" altLang="zh-TW" dirty="0"/>
              <a:t>50</a:t>
            </a:r>
            <a:r>
              <a:rPr lang="zh-TW" altLang="en-US" dirty="0"/>
              <a:t>％ 的正面評論。</a:t>
            </a:r>
            <a:endParaRPr lang="en-US" altLang="zh-TW" dirty="0"/>
          </a:p>
          <a:p>
            <a:pPr lvl="1"/>
            <a:r>
              <a:rPr lang="zh-TW" altLang="en-US" dirty="0"/>
              <a:t>作為自然語言處理、情緒分析領域常使用的範例</a:t>
            </a:r>
            <a:endParaRPr lang="en-US" altLang="zh-TW" dirty="0"/>
          </a:p>
          <a:p>
            <a:r>
              <a:rPr lang="zh-TW" altLang="en-US" dirty="0"/>
              <a:t>資料集下載</a:t>
            </a:r>
            <a:endParaRPr lang="en-US" altLang="zh-TW" dirty="0"/>
          </a:p>
          <a:p>
            <a:pPr lvl="1"/>
            <a:r>
              <a:rPr lang="en-US" altLang="zh-TW" dirty="0">
                <a:hlinkClick r:id="rId2"/>
              </a:rPr>
              <a:t>http://ai.stanford.edu/~amaas/data/sentiment/aclImdb_v1.tar.gz</a:t>
            </a:r>
            <a:endParaRPr lang="en-US" altLang="zh-TW" dirty="0"/>
          </a:p>
          <a:p>
            <a:pPr lvl="1"/>
            <a:r>
              <a:rPr lang="en-US" altLang="zh-TW" dirty="0"/>
              <a:t>Kaggle:</a:t>
            </a:r>
            <a:r>
              <a:rPr lang="zh-TW" altLang="en-US" dirty="0"/>
              <a:t> </a:t>
            </a:r>
            <a:r>
              <a:rPr lang="en" altLang="zh-TW" dirty="0">
                <a:hlinkClick r:id="rId3"/>
              </a:rPr>
              <a:t>https://www.kaggle.com/datasets/lakshmi25npathi/imdb-dataset-of-50k-movie-reviews</a:t>
            </a:r>
            <a:endParaRPr lang="en" altLang="zh-TW" dirty="0"/>
          </a:p>
          <a:p>
            <a:endParaRPr lang="en-US" altLang="zh-TW" dirty="0"/>
          </a:p>
          <a:p>
            <a:endParaRPr lang="zh-TW" altLang="en-US" dirty="0"/>
          </a:p>
          <a:p>
            <a:endParaRPr lang="zh-TW" altLang="en-US" dirty="0"/>
          </a:p>
          <a:p>
            <a:endParaRPr lang="zh-TW" altLang="en-US" dirty="0"/>
          </a:p>
        </p:txBody>
      </p:sp>
      <p:graphicFrame>
        <p:nvGraphicFramePr>
          <p:cNvPr id="4" name="表格 3">
            <a:extLst>
              <a:ext uri="{FF2B5EF4-FFF2-40B4-BE49-F238E27FC236}">
                <a16:creationId xmlns:a16="http://schemas.microsoft.com/office/drawing/2014/main" id="{0C37F417-7229-CF9A-D136-B3C550588419}"/>
              </a:ext>
            </a:extLst>
          </p:cNvPr>
          <p:cNvGraphicFramePr>
            <a:graphicFrameLocks noGrp="1"/>
          </p:cNvGraphicFramePr>
          <p:nvPr/>
        </p:nvGraphicFramePr>
        <p:xfrm>
          <a:off x="410817" y="5237480"/>
          <a:ext cx="11555895" cy="1620520"/>
        </p:xfrm>
        <a:graphic>
          <a:graphicData uri="http://schemas.openxmlformats.org/drawingml/2006/table">
            <a:tbl>
              <a:tblPr firstRow="1" bandRow="1">
                <a:tableStyleId>{5C22544A-7EE6-4342-B048-85BDC9FD1C3A}</a:tableStyleId>
              </a:tblPr>
              <a:tblGrid>
                <a:gridCol w="10548731">
                  <a:extLst>
                    <a:ext uri="{9D8B030D-6E8A-4147-A177-3AD203B41FA5}">
                      <a16:colId xmlns:a16="http://schemas.microsoft.com/office/drawing/2014/main" val="1158738474"/>
                    </a:ext>
                  </a:extLst>
                </a:gridCol>
                <a:gridCol w="1007164">
                  <a:extLst>
                    <a:ext uri="{9D8B030D-6E8A-4147-A177-3AD203B41FA5}">
                      <a16:colId xmlns:a16="http://schemas.microsoft.com/office/drawing/2014/main" val="2001433672"/>
                    </a:ext>
                  </a:extLst>
                </a:gridCol>
              </a:tblGrid>
              <a:tr h="370840">
                <a:tc>
                  <a:txBody>
                    <a:bodyPr/>
                    <a:lstStyle/>
                    <a:p>
                      <a:r>
                        <a:rPr lang="zh-TW" altLang="en-US" sz="1400" dirty="0"/>
                        <a:t>文字</a:t>
                      </a:r>
                    </a:p>
                  </a:txBody>
                  <a:tcPr/>
                </a:tc>
                <a:tc>
                  <a:txBody>
                    <a:bodyPr/>
                    <a:lstStyle/>
                    <a:p>
                      <a:r>
                        <a:rPr lang="zh-TW" altLang="en-US" sz="1400" dirty="0"/>
                        <a:t>情感</a:t>
                      </a:r>
                    </a:p>
                  </a:txBody>
                  <a:tcPr/>
                </a:tc>
                <a:extLst>
                  <a:ext uri="{0D108BD9-81ED-4DB2-BD59-A6C34878D82A}">
                    <a16:rowId xmlns:a16="http://schemas.microsoft.com/office/drawing/2014/main" val="1225494032"/>
                  </a:ext>
                </a:extLst>
              </a:tr>
              <a:tr h="370840">
                <a:tc>
                  <a:txBody>
                    <a:bodyPr/>
                    <a:lstStyle/>
                    <a:p>
                      <a:r>
                        <a:rPr lang="en" altLang="zh-TW" sz="1400" dirty="0"/>
                        <a:t>One of the other reviewers has mentioned that after watching just 1 Oz episode you'll be hooked. They are right, as this is exactly what happened with me.&lt;</a:t>
                      </a:r>
                      <a:r>
                        <a:rPr lang="en" altLang="zh-TW" sz="1400" dirty="0" err="1"/>
                        <a:t>br</a:t>
                      </a:r>
                      <a:r>
                        <a:rPr lang="en" altLang="zh-TW" sz="1400" dirty="0"/>
                        <a:t> /&gt;&lt;</a:t>
                      </a:r>
                      <a:r>
                        <a:rPr lang="en" altLang="zh-TW" sz="1400" dirty="0" err="1"/>
                        <a:t>br</a:t>
                      </a:r>
                      <a:r>
                        <a:rPr lang="en" altLang="zh-TW" sz="1400" dirty="0"/>
                        <a:t> /&gt;The first thing that struck me about Oz was its brutality and unflinching scenes of violence, which set in right from the word GO. Trust me, …</a:t>
                      </a:r>
                      <a:endParaRPr lang="zh-TW" altLang="en-US" sz="1400" dirty="0"/>
                    </a:p>
                  </a:txBody>
                  <a:tcPr/>
                </a:tc>
                <a:tc>
                  <a:txBody>
                    <a:bodyPr/>
                    <a:lstStyle/>
                    <a:p>
                      <a:r>
                        <a:rPr lang="en-US" altLang="zh-TW" sz="1400" dirty="0"/>
                        <a:t>positive</a:t>
                      </a:r>
                      <a:endParaRPr lang="zh-TW" altLang="en-US" sz="1400" dirty="0"/>
                    </a:p>
                  </a:txBody>
                  <a:tcPr/>
                </a:tc>
                <a:extLst>
                  <a:ext uri="{0D108BD9-81ED-4DB2-BD59-A6C34878D82A}">
                    <a16:rowId xmlns:a16="http://schemas.microsoft.com/office/drawing/2014/main" val="942084269"/>
                  </a:ext>
                </a:extLst>
              </a:tr>
              <a:tr h="370840">
                <a:tc>
                  <a:txBody>
                    <a:bodyPr/>
                    <a:lstStyle/>
                    <a:p>
                      <a:r>
                        <a:rPr lang="en" altLang="zh-TW" sz="1400" dirty="0"/>
                        <a:t>I had the terrible misfortune of having to view this "b-movie" in it's entirety.&lt;</a:t>
                      </a:r>
                      <a:r>
                        <a:rPr lang="en" altLang="zh-TW" sz="1400" dirty="0" err="1"/>
                        <a:t>br</a:t>
                      </a:r>
                      <a:r>
                        <a:rPr lang="en" altLang="zh-TW" sz="1400" dirty="0"/>
                        <a:t> /&gt;&lt;</a:t>
                      </a:r>
                      <a:r>
                        <a:rPr lang="en" altLang="zh-TW" sz="1400" dirty="0" err="1"/>
                        <a:t>br</a:t>
                      </a:r>
                      <a:r>
                        <a:rPr lang="en" altLang="zh-TW" sz="1400" dirty="0"/>
                        <a:t> /&gt;All I have to say is--- save your time and money!!! This has got to be the worst b-movie of all time, it shouldn't even be called a b-movie, …</a:t>
                      </a:r>
                      <a:endParaRPr lang="zh-TW" altLang="en-US" sz="1400" dirty="0"/>
                    </a:p>
                  </a:txBody>
                  <a:tcPr/>
                </a:tc>
                <a:tc>
                  <a:txBody>
                    <a:bodyPr/>
                    <a:lstStyle/>
                    <a:p>
                      <a:r>
                        <a:rPr lang="en" altLang="zh-TW" sz="1400" dirty="0"/>
                        <a:t>negative</a:t>
                      </a:r>
                      <a:endParaRPr lang="zh-TW" altLang="en-US" sz="1400" dirty="0"/>
                    </a:p>
                  </a:txBody>
                  <a:tcPr/>
                </a:tc>
                <a:extLst>
                  <a:ext uri="{0D108BD9-81ED-4DB2-BD59-A6C34878D82A}">
                    <a16:rowId xmlns:a16="http://schemas.microsoft.com/office/drawing/2014/main" val="2033797083"/>
                  </a:ext>
                </a:extLst>
              </a:tr>
            </a:tbl>
          </a:graphicData>
        </a:graphic>
      </p:graphicFrame>
    </p:spTree>
    <p:extLst>
      <p:ext uri="{BB962C8B-B14F-4D97-AF65-F5344CB8AC3E}">
        <p14:creationId xmlns:p14="http://schemas.microsoft.com/office/powerpoint/2010/main" val="23683377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3113D4-F637-49EF-A7D8-FAA4741C0231}"/>
              </a:ext>
            </a:extLst>
          </p:cNvPr>
          <p:cNvSpPr>
            <a:spLocks noGrp="1"/>
          </p:cNvSpPr>
          <p:nvPr>
            <p:ph type="title"/>
          </p:nvPr>
        </p:nvSpPr>
        <p:spPr>
          <a:xfrm>
            <a:off x="838200" y="365125"/>
            <a:ext cx="10515600" cy="1325563"/>
          </a:xfrm>
        </p:spPr>
        <p:txBody>
          <a:bodyPr>
            <a:normAutofit/>
          </a:bodyPr>
          <a:lstStyle/>
          <a:p>
            <a:r>
              <a:rPr lang="en-US" altLang="zh-TW" dirty="0"/>
              <a:t>RNN</a:t>
            </a:r>
            <a:r>
              <a:rPr lang="zh-TW" altLang="en-US" dirty="0"/>
              <a:t>練習</a:t>
            </a:r>
            <a:r>
              <a:rPr lang="en-US" altLang="zh-TW" dirty="0"/>
              <a:t>(I)-</a:t>
            </a:r>
            <a:r>
              <a:rPr lang="en-US" altLang="zh-TW" dirty="0" err="1"/>
              <a:t>imdb</a:t>
            </a:r>
            <a:r>
              <a:rPr lang="zh-TW" altLang="en-US" dirty="0"/>
              <a:t> </a:t>
            </a:r>
            <a:r>
              <a:rPr lang="en-US" altLang="zh-TW" dirty="0"/>
              <a:t>review</a:t>
            </a:r>
            <a:r>
              <a:rPr lang="zh-TW" altLang="en-US" dirty="0"/>
              <a:t>實作</a:t>
            </a:r>
          </a:p>
        </p:txBody>
      </p:sp>
      <p:grpSp>
        <p:nvGrpSpPr>
          <p:cNvPr id="4" name="群組 3">
            <a:extLst>
              <a:ext uri="{FF2B5EF4-FFF2-40B4-BE49-F238E27FC236}">
                <a16:creationId xmlns:a16="http://schemas.microsoft.com/office/drawing/2014/main" id="{FD0F1BA4-D67E-4C46-99C1-7D5F1EA4580D}"/>
              </a:ext>
            </a:extLst>
          </p:cNvPr>
          <p:cNvGrpSpPr/>
          <p:nvPr/>
        </p:nvGrpSpPr>
        <p:grpSpPr>
          <a:xfrm>
            <a:off x="1254456" y="1809685"/>
            <a:ext cx="9683087" cy="4683190"/>
            <a:chOff x="1279477" y="1637774"/>
            <a:chExt cx="9683087" cy="4683190"/>
          </a:xfrm>
        </p:grpSpPr>
        <p:sp>
          <p:nvSpPr>
            <p:cNvPr id="6" name="文字方塊 5">
              <a:extLst>
                <a:ext uri="{FF2B5EF4-FFF2-40B4-BE49-F238E27FC236}">
                  <a16:creationId xmlns:a16="http://schemas.microsoft.com/office/drawing/2014/main" id="{85AFB997-90D6-D4C7-61BF-A7DD09EAC6BD}"/>
                </a:ext>
              </a:extLst>
            </p:cNvPr>
            <p:cNvSpPr txBox="1"/>
            <p:nvPr/>
          </p:nvSpPr>
          <p:spPr>
            <a:xfrm>
              <a:off x="1279477" y="1637774"/>
              <a:ext cx="9683087" cy="646331"/>
            </a:xfrm>
            <a:prstGeom prst="rect">
              <a:avLst/>
            </a:prstGeom>
            <a:noFill/>
            <a:ln>
              <a:solidFill>
                <a:schemeClr val="tx1"/>
              </a:solidFill>
            </a:ln>
          </p:spPr>
          <p:txBody>
            <a:bodyPr wrap="square">
              <a:spAutoFit/>
            </a:bodyPr>
            <a:lstStyle/>
            <a:p>
              <a:r>
                <a:rPr lang="zh-TW" altLang="en-US" sz="1200" dirty="0"/>
                <a:t>['you', 'probably', 'all', 'already', 'know', 'this', 'by', 'now', 'but', 'additional', 'episodes', 'never', 'aired', 'can', 'be', 'viewed', 'on', 'abc', 'com', 've', 'watched', 'lot', 'of', 'television', 'over', 'the', 'years', 'and', 'this', 'is', 'possibly', 'my', 'favorite', 'show', 'ever', 'it', 'a', 'crime', 'that', 'this', 'beautifully', 'written', 'and', 'acted', 'show', 'was', 'canceled', 'the', 'actors', 'that', 'played', 'laura', 'whit', 'carlos', 'mae', 'damian', 'anya', 'and', 'omg', ...]</a:t>
              </a:r>
            </a:p>
          </p:txBody>
        </p:sp>
        <p:sp>
          <p:nvSpPr>
            <p:cNvPr id="7" name="向下箭號 6">
              <a:extLst>
                <a:ext uri="{FF2B5EF4-FFF2-40B4-BE49-F238E27FC236}">
                  <a16:creationId xmlns:a16="http://schemas.microsoft.com/office/drawing/2014/main" id="{944430D3-4628-6788-E716-C88427C256D9}"/>
                </a:ext>
              </a:extLst>
            </p:cNvPr>
            <p:cNvSpPr/>
            <p:nvPr/>
          </p:nvSpPr>
          <p:spPr>
            <a:xfrm>
              <a:off x="2101755" y="2369921"/>
              <a:ext cx="641445" cy="5259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圓角矩形 7">
              <a:extLst>
                <a:ext uri="{FF2B5EF4-FFF2-40B4-BE49-F238E27FC236}">
                  <a16:creationId xmlns:a16="http://schemas.microsoft.com/office/drawing/2014/main" id="{3CAEC25E-62DB-0348-394D-AC4EB1539CC9}"/>
                </a:ext>
              </a:extLst>
            </p:cNvPr>
            <p:cNvSpPr/>
            <p:nvPr/>
          </p:nvSpPr>
          <p:spPr>
            <a:xfrm>
              <a:off x="1279477" y="2963337"/>
              <a:ext cx="2504366" cy="7757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把文字轉成</a:t>
              </a:r>
              <a:r>
                <a:rPr kumimoji="1" lang="en-US" altLang="zh-TW" dirty="0"/>
                <a:t>token</a:t>
              </a:r>
              <a:endParaRPr kumimoji="1" lang="zh-TW" altLang="en-US" dirty="0"/>
            </a:p>
          </p:txBody>
        </p:sp>
        <p:sp>
          <p:nvSpPr>
            <p:cNvPr id="10" name="圓角矩形 9">
              <a:extLst>
                <a:ext uri="{FF2B5EF4-FFF2-40B4-BE49-F238E27FC236}">
                  <a16:creationId xmlns:a16="http://schemas.microsoft.com/office/drawing/2014/main" id="{DD82DE64-04B9-4D62-A0D1-AE35DAE64819}"/>
                </a:ext>
              </a:extLst>
            </p:cNvPr>
            <p:cNvSpPr/>
            <p:nvPr/>
          </p:nvSpPr>
          <p:spPr>
            <a:xfrm>
              <a:off x="1279477" y="4449360"/>
              <a:ext cx="2504366" cy="1501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透過</a:t>
              </a:r>
              <a:r>
                <a:rPr kumimoji="1" lang="en-US" altLang="zh-TW" dirty="0"/>
                <a:t>Word2Vec</a:t>
              </a:r>
              <a:r>
                <a:rPr kumimoji="1" lang="zh-TW" altLang="en-US" dirty="0"/>
                <a:t>將</a:t>
              </a:r>
              <a:r>
                <a:rPr kumimoji="1" lang="en-US" altLang="zh-TW" dirty="0"/>
                <a:t>token</a:t>
              </a:r>
              <a:r>
                <a:rPr kumimoji="1" lang="zh-TW" altLang="en-US" dirty="0"/>
                <a:t>轉成向量</a:t>
              </a:r>
              <a:endParaRPr kumimoji="1" lang="en-US" altLang="zh-TW" dirty="0"/>
            </a:p>
            <a:p>
              <a:pPr algn="ctr"/>
              <a:r>
                <a:rPr kumimoji="1" lang="en-US" altLang="zh-TW" dirty="0"/>
                <a:t>(</a:t>
              </a:r>
              <a:r>
                <a:rPr kumimoji="1" lang="zh-TW" altLang="en-US" dirty="0"/>
                <a:t>或是讀取已經預訓練好的向量</a:t>
              </a:r>
              <a:r>
                <a:rPr kumimoji="1" lang="en-US" altLang="zh-TW" dirty="0"/>
                <a:t>)</a:t>
              </a:r>
              <a:endParaRPr kumimoji="1" lang="zh-TW" altLang="en-US" dirty="0"/>
            </a:p>
          </p:txBody>
        </p:sp>
        <p:sp>
          <p:nvSpPr>
            <p:cNvPr id="12" name="向下箭號 11">
              <a:extLst>
                <a:ext uri="{FF2B5EF4-FFF2-40B4-BE49-F238E27FC236}">
                  <a16:creationId xmlns:a16="http://schemas.microsoft.com/office/drawing/2014/main" id="{D28480A3-7B80-B35B-8F8F-4C147D6835BE}"/>
                </a:ext>
              </a:extLst>
            </p:cNvPr>
            <p:cNvSpPr/>
            <p:nvPr/>
          </p:nvSpPr>
          <p:spPr>
            <a:xfrm>
              <a:off x="2101755" y="3806518"/>
              <a:ext cx="641445" cy="5259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向下箭號 12">
              <a:extLst>
                <a:ext uri="{FF2B5EF4-FFF2-40B4-BE49-F238E27FC236}">
                  <a16:creationId xmlns:a16="http://schemas.microsoft.com/office/drawing/2014/main" id="{BC595F7D-4629-6F0C-64CF-967D4A91D1C9}"/>
                </a:ext>
              </a:extLst>
            </p:cNvPr>
            <p:cNvSpPr/>
            <p:nvPr/>
          </p:nvSpPr>
          <p:spPr>
            <a:xfrm rot="12945514">
              <a:off x="3866109" y="3447427"/>
              <a:ext cx="641445" cy="10614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圓角矩形 13">
              <a:extLst>
                <a:ext uri="{FF2B5EF4-FFF2-40B4-BE49-F238E27FC236}">
                  <a16:creationId xmlns:a16="http://schemas.microsoft.com/office/drawing/2014/main" id="{111B1DBF-2AC2-3443-E7E6-0E7567EFB5DD}"/>
                </a:ext>
              </a:extLst>
            </p:cNvPr>
            <p:cNvSpPr/>
            <p:nvPr/>
          </p:nvSpPr>
          <p:spPr>
            <a:xfrm>
              <a:off x="4479132" y="2589266"/>
              <a:ext cx="2504366" cy="7757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執行</a:t>
              </a:r>
              <a:r>
                <a:rPr kumimoji="1" lang="en-US" altLang="zh-TW" dirty="0"/>
                <a:t>LSTM</a:t>
              </a:r>
              <a:endParaRPr kumimoji="1" lang="zh-TW" altLang="en-US" dirty="0"/>
            </a:p>
          </p:txBody>
        </p:sp>
        <p:sp>
          <p:nvSpPr>
            <p:cNvPr id="15" name="圓角矩形 14">
              <a:extLst>
                <a:ext uri="{FF2B5EF4-FFF2-40B4-BE49-F238E27FC236}">
                  <a16:creationId xmlns:a16="http://schemas.microsoft.com/office/drawing/2014/main" id="{15884A18-B2ED-FA77-71F9-5AD970D1552E}"/>
                </a:ext>
              </a:extLst>
            </p:cNvPr>
            <p:cNvSpPr/>
            <p:nvPr/>
          </p:nvSpPr>
          <p:spPr>
            <a:xfrm>
              <a:off x="4479132" y="4096956"/>
              <a:ext cx="2504366" cy="7757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執行線性運算</a:t>
              </a:r>
              <a:r>
                <a:rPr kumimoji="1" lang="en-US" altLang="zh-TW" dirty="0"/>
                <a:t>LSTM</a:t>
              </a:r>
              <a:r>
                <a:rPr kumimoji="1" lang="zh-TW" altLang="en-US" dirty="0"/>
                <a:t>輸出</a:t>
              </a:r>
            </a:p>
          </p:txBody>
        </p:sp>
        <p:sp>
          <p:nvSpPr>
            <p:cNvPr id="16" name="圓角矩形 15">
              <a:extLst>
                <a:ext uri="{FF2B5EF4-FFF2-40B4-BE49-F238E27FC236}">
                  <a16:creationId xmlns:a16="http://schemas.microsoft.com/office/drawing/2014/main" id="{2619CF82-0D52-0CDF-3240-101785A2A446}"/>
                </a:ext>
              </a:extLst>
            </p:cNvPr>
            <p:cNvSpPr/>
            <p:nvPr/>
          </p:nvSpPr>
          <p:spPr>
            <a:xfrm>
              <a:off x="4468580" y="5545251"/>
              <a:ext cx="2504366" cy="7757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計算</a:t>
              </a:r>
              <a:r>
                <a:rPr kumimoji="1" lang="en-US" altLang="zh-TW" dirty="0"/>
                <a:t>loss:</a:t>
              </a:r>
              <a:r>
                <a:rPr kumimoji="1" lang="zh-TW" altLang="en-US" dirty="0"/>
                <a:t> </a:t>
              </a:r>
              <a:r>
                <a:rPr kumimoji="1" lang="en-US" altLang="zh-TW" dirty="0" err="1"/>
                <a:t>CrossEntropy</a:t>
              </a:r>
              <a:endParaRPr kumimoji="1" lang="zh-TW" altLang="en-US" dirty="0"/>
            </a:p>
          </p:txBody>
        </p:sp>
        <p:sp>
          <p:nvSpPr>
            <p:cNvPr id="17" name="向下箭號 16">
              <a:extLst>
                <a:ext uri="{FF2B5EF4-FFF2-40B4-BE49-F238E27FC236}">
                  <a16:creationId xmlns:a16="http://schemas.microsoft.com/office/drawing/2014/main" id="{A50E9635-9817-8EAC-5862-36A105B2A9EA}"/>
                </a:ext>
              </a:extLst>
            </p:cNvPr>
            <p:cNvSpPr/>
            <p:nvPr/>
          </p:nvSpPr>
          <p:spPr>
            <a:xfrm>
              <a:off x="5400042" y="3448759"/>
              <a:ext cx="641445" cy="5259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向下箭號 17">
              <a:extLst>
                <a:ext uri="{FF2B5EF4-FFF2-40B4-BE49-F238E27FC236}">
                  <a16:creationId xmlns:a16="http://schemas.microsoft.com/office/drawing/2014/main" id="{4EA07259-8489-DF9F-5678-B0C68AE8DBBE}"/>
                </a:ext>
              </a:extLst>
            </p:cNvPr>
            <p:cNvSpPr/>
            <p:nvPr/>
          </p:nvSpPr>
          <p:spPr>
            <a:xfrm>
              <a:off x="5400041" y="4957252"/>
              <a:ext cx="641445" cy="5259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圓角矩形 18">
              <a:extLst>
                <a:ext uri="{FF2B5EF4-FFF2-40B4-BE49-F238E27FC236}">
                  <a16:creationId xmlns:a16="http://schemas.microsoft.com/office/drawing/2014/main" id="{B9981ECA-355E-B143-324A-B6DC62627DA5}"/>
                </a:ext>
              </a:extLst>
            </p:cNvPr>
            <p:cNvSpPr/>
            <p:nvPr/>
          </p:nvSpPr>
          <p:spPr>
            <a:xfrm>
              <a:off x="7957496" y="2508012"/>
              <a:ext cx="2504366" cy="7757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呼叫倒傳遞計算</a:t>
              </a:r>
              <a:r>
                <a:rPr kumimoji="1" lang="en-US" altLang="zh-TW" dirty="0"/>
                <a:t>(backward())</a:t>
              </a:r>
              <a:endParaRPr kumimoji="1" lang="zh-TW" altLang="en-US" dirty="0"/>
            </a:p>
          </p:txBody>
        </p:sp>
        <p:sp>
          <p:nvSpPr>
            <p:cNvPr id="20" name="向下箭號 19">
              <a:extLst>
                <a:ext uri="{FF2B5EF4-FFF2-40B4-BE49-F238E27FC236}">
                  <a16:creationId xmlns:a16="http://schemas.microsoft.com/office/drawing/2014/main" id="{4E8BE3F8-897A-C8E5-0566-DD8FCE780132}"/>
                </a:ext>
              </a:extLst>
            </p:cNvPr>
            <p:cNvSpPr/>
            <p:nvPr/>
          </p:nvSpPr>
          <p:spPr>
            <a:xfrm rot="12945514">
              <a:off x="7265155" y="3336021"/>
              <a:ext cx="641445" cy="10614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圓角矩形 20">
              <a:extLst>
                <a:ext uri="{FF2B5EF4-FFF2-40B4-BE49-F238E27FC236}">
                  <a16:creationId xmlns:a16="http://schemas.microsoft.com/office/drawing/2014/main" id="{A7A21BF1-C760-0DAF-8C4A-81FE865A338B}"/>
                </a:ext>
              </a:extLst>
            </p:cNvPr>
            <p:cNvSpPr/>
            <p:nvPr/>
          </p:nvSpPr>
          <p:spPr>
            <a:xfrm>
              <a:off x="8033871" y="4049759"/>
              <a:ext cx="2504366" cy="7757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透過最佳化模組</a:t>
              </a:r>
              <a:r>
                <a:rPr kumimoji="1" lang="en-US" altLang="zh-TW" dirty="0"/>
                <a:t>(optimizer)</a:t>
              </a:r>
              <a:r>
                <a:rPr kumimoji="1" lang="zh-TW" altLang="en-US" dirty="0"/>
                <a:t>計算梯度</a:t>
              </a:r>
            </a:p>
          </p:txBody>
        </p:sp>
        <p:sp>
          <p:nvSpPr>
            <p:cNvPr id="22" name="向下箭號 21">
              <a:extLst>
                <a:ext uri="{FF2B5EF4-FFF2-40B4-BE49-F238E27FC236}">
                  <a16:creationId xmlns:a16="http://schemas.microsoft.com/office/drawing/2014/main" id="{10528204-702E-3276-B3EF-F89C13F263C5}"/>
                </a:ext>
              </a:extLst>
            </p:cNvPr>
            <p:cNvSpPr/>
            <p:nvPr/>
          </p:nvSpPr>
          <p:spPr>
            <a:xfrm>
              <a:off x="8888956" y="3384952"/>
              <a:ext cx="641445" cy="5259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3" name="文字方塊 22">
            <a:extLst>
              <a:ext uri="{FF2B5EF4-FFF2-40B4-BE49-F238E27FC236}">
                <a16:creationId xmlns:a16="http://schemas.microsoft.com/office/drawing/2014/main" id="{F8422538-0AA2-4CEC-8A90-6341EB108335}"/>
              </a:ext>
            </a:extLst>
          </p:cNvPr>
          <p:cNvSpPr txBox="1"/>
          <p:nvPr/>
        </p:nvSpPr>
        <p:spPr>
          <a:xfrm>
            <a:off x="845017" y="1318104"/>
            <a:ext cx="9355765" cy="369332"/>
          </a:xfrm>
          <a:prstGeom prst="rect">
            <a:avLst/>
          </a:prstGeom>
          <a:noFill/>
        </p:spPr>
        <p:txBody>
          <a:bodyPr wrap="square">
            <a:spAutoFit/>
          </a:bodyPr>
          <a:lstStyle/>
          <a:p>
            <a:r>
              <a:rPr lang="en" altLang="zh-TW" dirty="0">
                <a:hlinkClick r:id="rId2"/>
              </a:rPr>
              <a:t>https://colab.research.google.com/drive/1DTvc4egWytFnYhQyv6L5MDsSwV96-ygS?usp=sharing</a:t>
            </a:r>
            <a:endParaRPr lang="zh-TW" altLang="en-US" dirty="0"/>
          </a:p>
        </p:txBody>
      </p:sp>
    </p:spTree>
    <p:extLst>
      <p:ext uri="{BB962C8B-B14F-4D97-AF65-F5344CB8AC3E}">
        <p14:creationId xmlns:p14="http://schemas.microsoft.com/office/powerpoint/2010/main" val="13091176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B40A1D-C54D-22B0-DDAF-F601C945318D}"/>
              </a:ext>
            </a:extLst>
          </p:cNvPr>
          <p:cNvSpPr>
            <a:spLocks noGrp="1"/>
          </p:cNvSpPr>
          <p:nvPr>
            <p:ph type="title"/>
          </p:nvPr>
        </p:nvSpPr>
        <p:spPr>
          <a:xfrm>
            <a:off x="838200" y="365125"/>
            <a:ext cx="10515600" cy="1325563"/>
          </a:xfrm>
        </p:spPr>
        <p:txBody>
          <a:bodyPr/>
          <a:lstStyle/>
          <a:p>
            <a:r>
              <a:rPr lang="en-US" altLang="zh-TW" dirty="0"/>
              <a:t>RNN</a:t>
            </a:r>
            <a:r>
              <a:rPr lang="zh-TW" altLang="en-US" dirty="0"/>
              <a:t>練習</a:t>
            </a:r>
            <a:r>
              <a:rPr lang="en-US" altLang="zh-TW" dirty="0"/>
              <a:t>(I)-</a:t>
            </a:r>
            <a:r>
              <a:rPr lang="en-US" altLang="zh-TW" dirty="0" err="1"/>
              <a:t>imdb</a:t>
            </a:r>
            <a:r>
              <a:rPr lang="zh-TW" altLang="en-US" dirty="0"/>
              <a:t> </a:t>
            </a:r>
            <a:r>
              <a:rPr lang="en-US" altLang="zh-TW" dirty="0"/>
              <a:t>review</a:t>
            </a:r>
            <a:r>
              <a:rPr lang="zh-TW" altLang="en-US" dirty="0"/>
              <a:t>實作程式說明</a:t>
            </a:r>
          </a:p>
        </p:txBody>
      </p:sp>
      <p:sp>
        <p:nvSpPr>
          <p:cNvPr id="3" name="內容版面配置區 2">
            <a:extLst>
              <a:ext uri="{FF2B5EF4-FFF2-40B4-BE49-F238E27FC236}">
                <a16:creationId xmlns:a16="http://schemas.microsoft.com/office/drawing/2014/main" id="{65ED46D3-73A2-C279-279C-A2B922069586}"/>
              </a:ext>
            </a:extLst>
          </p:cNvPr>
          <p:cNvSpPr>
            <a:spLocks noGrp="1"/>
          </p:cNvSpPr>
          <p:nvPr>
            <p:ph idx="1"/>
          </p:nvPr>
        </p:nvSpPr>
        <p:spPr>
          <a:xfrm>
            <a:off x="838200" y="1825625"/>
            <a:ext cx="10515600" cy="4351338"/>
          </a:xfrm>
        </p:spPr>
        <p:txBody>
          <a:bodyPr/>
          <a:lstStyle/>
          <a:p>
            <a:r>
              <a:rPr lang="zh-TW" altLang="en-US" dirty="0"/>
              <a:t>文字前處理：包含去</a:t>
            </a:r>
            <a:r>
              <a:rPr lang="en-US" altLang="zh-TW" dirty="0"/>
              <a:t>html</a:t>
            </a:r>
            <a:r>
              <a:rPr lang="zh-TW" altLang="en-US" dirty="0"/>
              <a:t>、去掉非</a:t>
            </a:r>
            <a:r>
              <a:rPr lang="en-US" altLang="zh-TW" dirty="0"/>
              <a:t>a-</a:t>
            </a:r>
            <a:r>
              <a:rPr lang="en-US" altLang="zh-TW" dirty="0" err="1"/>
              <a:t>zA</a:t>
            </a:r>
            <a:r>
              <a:rPr lang="en-US" altLang="zh-TW" dirty="0"/>
              <a:t>-Z</a:t>
            </a:r>
            <a:r>
              <a:rPr lang="zh-TW" altLang="en-US" dirty="0"/>
              <a:t>的字元，減少多餘空白等等</a:t>
            </a:r>
            <a:endParaRPr lang="en-US" altLang="zh-TW" dirty="0"/>
          </a:p>
          <a:p>
            <a:r>
              <a:rPr lang="zh-TW" altLang="en-US" dirty="0"/>
              <a:t>使用「空格」做為文字的切割</a:t>
            </a:r>
            <a:r>
              <a:rPr lang="en-US" altLang="zh-TW" dirty="0"/>
              <a:t>(tokenizer)</a:t>
            </a:r>
          </a:p>
          <a:p>
            <a:r>
              <a:rPr lang="en" altLang="zh-TW" dirty="0" err="1"/>
              <a:t>pad_samples</a:t>
            </a:r>
            <a:r>
              <a:rPr lang="zh-TW" altLang="en" dirty="0"/>
              <a:t>：</a:t>
            </a:r>
            <a:r>
              <a:rPr lang="zh-TW" altLang="en-US" dirty="0"/>
              <a:t>將所有的句子變成同樣的長度，進行截長補短</a:t>
            </a:r>
            <a:r>
              <a:rPr lang="en-US" altLang="zh-TW" dirty="0"/>
              <a:t>(</a:t>
            </a:r>
            <a:r>
              <a:rPr lang="zh-TW" altLang="en-US" dirty="0"/>
              <a:t>補上代表</a:t>
            </a:r>
            <a:r>
              <a:rPr lang="en-US" altLang="zh-TW" dirty="0"/>
              <a:t>PAD</a:t>
            </a:r>
            <a:r>
              <a:rPr lang="zh-TW" altLang="en-US" dirty="0"/>
              <a:t>的數字</a:t>
            </a:r>
          </a:p>
        </p:txBody>
      </p:sp>
    </p:spTree>
    <p:extLst>
      <p:ext uri="{BB962C8B-B14F-4D97-AF65-F5344CB8AC3E}">
        <p14:creationId xmlns:p14="http://schemas.microsoft.com/office/powerpoint/2010/main" val="20775332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1CEC6C-DD3F-760B-DF67-6DC21AA1CBFC}"/>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a:t>
            </a:r>
            <a:r>
              <a:rPr kumimoji="1" lang="en-US" altLang="zh-TW" sz="4400" dirty="0" err="1"/>
              <a:t>imdb</a:t>
            </a:r>
            <a:r>
              <a:rPr kumimoji="1" lang="zh-TW" altLang="en-US" sz="4400" dirty="0"/>
              <a:t> </a:t>
            </a:r>
            <a:r>
              <a:rPr kumimoji="1" lang="en-US" altLang="zh-TW" sz="4400" dirty="0"/>
              <a:t>review</a:t>
            </a:r>
            <a:r>
              <a:rPr kumimoji="1" lang="zh-TW" altLang="en-US" sz="4400" dirty="0"/>
              <a:t>實作</a:t>
            </a:r>
            <a:r>
              <a:rPr kumimoji="1" lang="zh-TW" altLang="en-US" dirty="0"/>
              <a:t>程式說明</a:t>
            </a:r>
          </a:p>
        </p:txBody>
      </p:sp>
      <p:sp>
        <p:nvSpPr>
          <p:cNvPr id="3" name="內容版面配置區 2">
            <a:extLst>
              <a:ext uri="{FF2B5EF4-FFF2-40B4-BE49-F238E27FC236}">
                <a16:creationId xmlns:a16="http://schemas.microsoft.com/office/drawing/2014/main" id="{297E87B1-6A8F-04A3-6921-2B553D10A215}"/>
              </a:ext>
            </a:extLst>
          </p:cNvPr>
          <p:cNvSpPr>
            <a:spLocks noGrp="1"/>
          </p:cNvSpPr>
          <p:nvPr>
            <p:ph idx="1"/>
          </p:nvPr>
        </p:nvSpPr>
        <p:spPr>
          <a:xfrm>
            <a:off x="838200" y="1825624"/>
            <a:ext cx="10515600" cy="4829175"/>
          </a:xfrm>
        </p:spPr>
        <p:txBody>
          <a:bodyPr>
            <a:normAutofit fontScale="92500" lnSpcReduction="10000"/>
          </a:bodyPr>
          <a:lstStyle/>
          <a:p>
            <a:r>
              <a:rPr kumimoji="1" lang="zh-TW" altLang="en-US" dirty="0"/>
              <a:t>程式在使用</a:t>
            </a:r>
            <a:r>
              <a:rPr kumimoji="1" lang="en-US" altLang="zh-TW" dirty="0"/>
              <a:t>embedding</a:t>
            </a:r>
            <a:r>
              <a:rPr kumimoji="1" lang="zh-TW" altLang="en-US" dirty="0"/>
              <a:t>的地方，</a:t>
            </a:r>
            <a:r>
              <a:rPr kumimoji="1" lang="en-US" altLang="zh-TW" dirty="0" err="1"/>
              <a:t>Pytorch</a:t>
            </a:r>
            <a:r>
              <a:rPr kumimoji="1" lang="zh-TW" altLang="en-US" dirty="0"/>
              <a:t>有提供一個叫</a:t>
            </a:r>
            <a:r>
              <a:rPr kumimoji="1" lang="en-US" altLang="zh-TW" dirty="0"/>
              <a:t>Embedding</a:t>
            </a:r>
            <a:r>
              <a:rPr kumimoji="1" lang="zh-TW" altLang="en-US" dirty="0"/>
              <a:t>的</a:t>
            </a:r>
            <a:r>
              <a:rPr kumimoji="1" lang="en-US" altLang="zh-TW" dirty="0"/>
              <a:t>layer</a:t>
            </a:r>
            <a:r>
              <a:rPr kumimoji="1" lang="zh-TW" altLang="en-US" dirty="0"/>
              <a:t>，可以很方便的將文字利用</a:t>
            </a:r>
            <a:r>
              <a:rPr kumimoji="1" lang="en-US" altLang="zh-TW" dirty="0"/>
              <a:t>word2vec</a:t>
            </a:r>
            <a:r>
              <a:rPr kumimoji="1" lang="zh-TW" altLang="en-US" dirty="0"/>
              <a:t>轉成向量。</a:t>
            </a:r>
            <a:endParaRPr kumimoji="1" lang="en-US" altLang="zh-TW" dirty="0"/>
          </a:p>
          <a:p>
            <a:r>
              <a:rPr kumimoji="1" lang="zh-TW" altLang="en-US" dirty="0"/>
              <a:t>這裡提供兩種寫法</a:t>
            </a:r>
            <a:r>
              <a:rPr kumimoji="1" lang="en-US" altLang="zh-TW" dirty="0"/>
              <a:t>(</a:t>
            </a:r>
            <a:r>
              <a:rPr kumimoji="1" lang="zh-TW" altLang="en-US" dirty="0"/>
              <a:t>僅能擇一</a:t>
            </a:r>
            <a:r>
              <a:rPr kumimoji="1" lang="en-US" altLang="zh-TW" dirty="0"/>
              <a:t>)</a:t>
            </a:r>
          </a:p>
          <a:p>
            <a:pPr marL="514350" indent="-514350">
              <a:buFont typeface="+mj-lt"/>
              <a:buAutoNum type="arabicPeriod"/>
            </a:pPr>
            <a:r>
              <a:rPr kumimoji="1" lang="zh-TW" altLang="en-US" dirty="0"/>
              <a:t>使用別人已經訓練好的模型</a:t>
            </a:r>
            <a:endParaRPr kumimoji="1" lang="en-US" altLang="zh-TW" dirty="0"/>
          </a:p>
          <a:p>
            <a:pPr lvl="1"/>
            <a:r>
              <a:rPr kumimoji="1" lang="zh-TW" altLang="en-US" dirty="0"/>
              <a:t>載入權重檔後，建立一個「數字的索引值」 對應 「向量」 的陣列</a:t>
            </a:r>
            <a:endParaRPr kumimoji="1" lang="en-US" altLang="zh-TW" dirty="0"/>
          </a:p>
          <a:p>
            <a:pPr marL="0" indent="0">
              <a:buNone/>
            </a:pPr>
            <a:r>
              <a:rPr lang="en" altLang="zh-TW" sz="1400" b="0" dirty="0" err="1">
                <a:solidFill>
                  <a:srgbClr val="000000"/>
                </a:solidFill>
                <a:effectLst/>
                <a:highlight>
                  <a:srgbClr val="F7F7F7"/>
                </a:highlight>
                <a:latin typeface="Courier New" panose="02070309020205020404" pitchFamily="49" charset="0"/>
              </a:rPr>
              <a:t>wvmodel</a:t>
            </a:r>
            <a:r>
              <a:rPr lang="en" altLang="zh-TW" sz="1400" b="0" dirty="0">
                <a:solidFill>
                  <a:srgbClr val="000000"/>
                </a:solidFill>
                <a:effectLst/>
                <a:highlight>
                  <a:srgbClr val="F7F7F7"/>
                </a:highlight>
                <a:latin typeface="Courier New" panose="02070309020205020404" pitchFamily="49" charset="0"/>
              </a:rPr>
              <a:t> = gensim.models.KeyedVectors.load_word2vec_format(</a:t>
            </a:r>
            <a:r>
              <a:rPr lang="en" altLang="zh-TW" sz="1400" b="0" dirty="0">
                <a:solidFill>
                  <a:srgbClr val="A31515"/>
                </a:solidFill>
                <a:effectLst/>
                <a:highlight>
                  <a:srgbClr val="F7F7F7"/>
                </a:highlight>
                <a:latin typeface="Courier New" panose="02070309020205020404" pitchFamily="49" charset="0"/>
              </a:rPr>
              <a:t>'glove.6B.100d.w2vformat.txt'</a:t>
            </a:r>
            <a:r>
              <a:rPr lang="en" altLang="zh-TW" sz="1400" b="0" dirty="0">
                <a:solidFill>
                  <a:srgbClr val="000000"/>
                </a:solidFill>
                <a:effectLst/>
                <a:highlight>
                  <a:srgbClr val="F7F7F7"/>
                </a:highlight>
                <a:latin typeface="Courier New" panose="02070309020205020404" pitchFamily="49" charset="0"/>
              </a:rPr>
              <a:t>,binary=</a:t>
            </a:r>
            <a:r>
              <a:rPr lang="en" altLang="zh-TW" sz="1400" b="0" dirty="0">
                <a:solidFill>
                  <a:srgbClr val="0000FF"/>
                </a:solidFill>
                <a:effectLst/>
                <a:highlight>
                  <a:srgbClr val="F7F7F7"/>
                </a:highlight>
                <a:latin typeface="Courier New" panose="02070309020205020404" pitchFamily="49" charset="0"/>
              </a:rPr>
              <a:t>False</a:t>
            </a:r>
            <a:r>
              <a:rPr lang="en" altLang="zh-TW" sz="1400" b="0" dirty="0">
                <a:solidFill>
                  <a:srgbClr val="000000"/>
                </a:solidFill>
                <a:effectLst/>
                <a:highlight>
                  <a:srgbClr val="F7F7F7"/>
                </a:highlight>
                <a:latin typeface="Courier New" panose="02070309020205020404" pitchFamily="49" charset="0"/>
              </a:rPr>
              <a:t>, encoding=</a:t>
            </a:r>
            <a:r>
              <a:rPr lang="en" altLang="zh-TW" sz="1400" b="0" dirty="0">
                <a:solidFill>
                  <a:srgbClr val="A31515"/>
                </a:solidFill>
                <a:effectLst/>
                <a:highlight>
                  <a:srgbClr val="F7F7F7"/>
                </a:highlight>
                <a:latin typeface="Courier New" panose="02070309020205020404" pitchFamily="49" charset="0"/>
              </a:rPr>
              <a:t>'utf-8’</a:t>
            </a:r>
            <a:r>
              <a:rPr lang="en" altLang="zh-TW" sz="1400" b="0" dirty="0">
                <a:solidFill>
                  <a:srgbClr val="000000"/>
                </a:solidFill>
                <a:effectLst/>
                <a:highlight>
                  <a:srgbClr val="F7F7F7"/>
                </a:highlight>
                <a:latin typeface="Courier New" panose="02070309020205020404" pitchFamily="49" charset="0"/>
              </a:rPr>
              <a:t>)</a:t>
            </a:r>
          </a:p>
          <a:p>
            <a:pPr marL="0" indent="0">
              <a:buNone/>
            </a:pPr>
            <a:r>
              <a:rPr lang="en" altLang="zh-TW" sz="1400" b="0" dirty="0">
                <a:solidFill>
                  <a:srgbClr val="000000"/>
                </a:solidFill>
                <a:effectLst/>
                <a:highlight>
                  <a:srgbClr val="F7F7F7"/>
                </a:highlight>
                <a:latin typeface="Courier New" panose="02070309020205020404" pitchFamily="49" charset="0"/>
              </a:rPr>
              <a:t>weight = </a:t>
            </a:r>
            <a:r>
              <a:rPr lang="en" altLang="zh-TW" sz="1400" b="0" dirty="0" err="1">
                <a:solidFill>
                  <a:srgbClr val="000000"/>
                </a:solidFill>
                <a:effectLst/>
                <a:highlight>
                  <a:srgbClr val="F7F7F7"/>
                </a:highlight>
                <a:latin typeface="Courier New" panose="02070309020205020404" pitchFamily="49" charset="0"/>
              </a:rPr>
              <a:t>torch.zeros</a:t>
            </a:r>
            <a:r>
              <a:rPr lang="en" altLang="zh-TW" sz="1400" b="0" dirty="0">
                <a:solidFill>
                  <a:srgbClr val="000000"/>
                </a:solidFill>
                <a:effectLst/>
                <a:highlight>
                  <a:srgbClr val="F7F7F7"/>
                </a:highlight>
                <a:latin typeface="Courier New" panose="02070309020205020404" pitchFamily="49" charset="0"/>
              </a:rPr>
              <a:t>(vocab_size+</a:t>
            </a:r>
            <a:r>
              <a:rPr lang="en" altLang="zh-TW" sz="1400" b="0" dirty="0">
                <a:solidFill>
                  <a:srgbClr val="116644"/>
                </a:solidFill>
                <a:effectLst/>
                <a:highlight>
                  <a:srgbClr val="F7F7F7"/>
                </a:highlight>
                <a:latin typeface="Courier New" panose="02070309020205020404" pitchFamily="49" charset="0"/>
              </a:rPr>
              <a:t>1</a:t>
            </a:r>
            <a:r>
              <a:rPr lang="en" altLang="zh-TW" sz="1400" b="0" dirty="0">
                <a:solidFill>
                  <a:srgbClr val="000000"/>
                </a:solidFill>
                <a:effectLst/>
                <a:highlight>
                  <a:srgbClr val="F7F7F7"/>
                </a:highlight>
                <a:latin typeface="Courier New" panose="02070309020205020404" pitchFamily="49" charset="0"/>
              </a:rPr>
              <a:t>, </a:t>
            </a:r>
            <a:r>
              <a:rPr lang="en" altLang="zh-TW" sz="1400" b="0" dirty="0" err="1">
                <a:solidFill>
                  <a:srgbClr val="000000"/>
                </a:solidFill>
                <a:effectLst/>
                <a:highlight>
                  <a:srgbClr val="F7F7F7"/>
                </a:highlight>
                <a:latin typeface="Courier New" panose="02070309020205020404" pitchFamily="49" charset="0"/>
              </a:rPr>
              <a:t>embed_size</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008000"/>
                </a:solidFill>
                <a:effectLst/>
                <a:highlight>
                  <a:srgbClr val="F7F7F7"/>
                </a:highlight>
                <a:latin typeface="Courier New" panose="02070309020205020404" pitchFamily="49" charset="0"/>
              </a:rPr>
              <a:t>#given 0 if the word is not in glove</a:t>
            </a:r>
            <a:endParaRPr lang="en" altLang="zh-TW" sz="1400" b="0" dirty="0">
              <a:solidFill>
                <a:srgbClr val="000000"/>
              </a:solidFill>
              <a:effectLst/>
              <a:highlight>
                <a:srgbClr val="F7F7F7"/>
              </a:highlight>
              <a:latin typeface="Courier New" panose="02070309020205020404" pitchFamily="49" charset="0"/>
            </a:endParaRPr>
          </a:p>
          <a:p>
            <a:pPr marL="0" indent="0">
              <a:buNone/>
            </a:pPr>
            <a:r>
              <a:rPr lang="en" altLang="zh-TW" sz="1400" b="0" dirty="0">
                <a:solidFill>
                  <a:srgbClr val="AF00DB"/>
                </a:solidFill>
                <a:effectLst/>
                <a:highlight>
                  <a:srgbClr val="F7F7F7"/>
                </a:highlight>
                <a:latin typeface="Courier New" panose="02070309020205020404" pitchFamily="49" charset="0"/>
              </a:rPr>
              <a:t>for</a:t>
            </a:r>
            <a:r>
              <a:rPr lang="en" altLang="zh-TW" sz="1400" b="0" dirty="0">
                <a:solidFill>
                  <a:srgbClr val="000000"/>
                </a:solidFill>
                <a:effectLst/>
                <a:highlight>
                  <a:srgbClr val="F7F7F7"/>
                </a:highlight>
                <a:latin typeface="Courier New" panose="02070309020205020404" pitchFamily="49" charset="0"/>
              </a:rPr>
              <a:t> </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0000FF"/>
                </a:solidFill>
                <a:effectLst/>
                <a:highlight>
                  <a:srgbClr val="F7F7F7"/>
                </a:highlight>
                <a:latin typeface="Courier New" panose="02070309020205020404" pitchFamily="49" charset="0"/>
              </a:rPr>
              <a:t>in</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795E26"/>
                </a:solidFill>
                <a:effectLst/>
                <a:highlight>
                  <a:srgbClr val="F7F7F7"/>
                </a:highlight>
                <a:latin typeface="Courier New" panose="02070309020205020404" pitchFamily="49" charset="0"/>
              </a:rPr>
              <a:t>range</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795E26"/>
                </a:solidFill>
                <a:effectLst/>
                <a:highlight>
                  <a:srgbClr val="F7F7F7"/>
                </a:highlight>
                <a:latin typeface="Courier New" panose="02070309020205020404" pitchFamily="49" charset="0"/>
              </a:rPr>
              <a:t>len</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wvmodel.index_to_key</a:t>
            </a:r>
            <a:r>
              <a:rPr lang="en" altLang="zh-TW" sz="1400" b="0" dirty="0">
                <a:solidFill>
                  <a:srgbClr val="000000"/>
                </a:solidFill>
                <a:effectLst/>
                <a:highlight>
                  <a:srgbClr val="F7F7F7"/>
                </a:highlight>
                <a:latin typeface="Courier New" panose="02070309020205020404" pitchFamily="49" charset="0"/>
              </a:rPr>
              <a:t>)):</a:t>
            </a:r>
          </a:p>
          <a:p>
            <a:pPr marL="457200" lvl="1" indent="0">
              <a:buNone/>
            </a:pPr>
            <a:r>
              <a:rPr lang="en" altLang="zh-TW" sz="1400" b="0" dirty="0">
                <a:solidFill>
                  <a:srgbClr val="AF00DB"/>
                </a:solidFill>
                <a:effectLst/>
                <a:highlight>
                  <a:srgbClr val="F7F7F7"/>
                </a:highlight>
                <a:latin typeface="Courier New" panose="02070309020205020404" pitchFamily="49" charset="0"/>
              </a:rPr>
              <a:t>try</a:t>
            </a:r>
            <a:r>
              <a:rPr lang="en" altLang="zh-TW" sz="1400" b="0" dirty="0">
                <a:solidFill>
                  <a:srgbClr val="000000"/>
                </a:solidFill>
                <a:effectLst/>
                <a:highlight>
                  <a:srgbClr val="F7F7F7"/>
                </a:highlight>
                <a:latin typeface="Courier New" panose="02070309020205020404" pitchFamily="49" charset="0"/>
              </a:rPr>
              <a:t>:</a:t>
            </a:r>
          </a:p>
          <a:p>
            <a:pPr marL="914400" lvl="2" indent="0">
              <a:buNone/>
            </a:pPr>
            <a:r>
              <a:rPr lang="en" altLang="zh-TW" sz="1400" b="0" dirty="0">
                <a:solidFill>
                  <a:srgbClr val="000000"/>
                </a:solidFill>
                <a:effectLst/>
                <a:highlight>
                  <a:srgbClr val="F7F7F7"/>
                </a:highlight>
                <a:latin typeface="Courier New" panose="02070309020205020404" pitchFamily="49" charset="0"/>
              </a:rPr>
              <a:t>index = </a:t>
            </a:r>
            <a:r>
              <a:rPr lang="en" altLang="zh-TW" sz="1400" b="0" dirty="0" err="1">
                <a:solidFill>
                  <a:srgbClr val="000000"/>
                </a:solidFill>
                <a:effectLst/>
                <a:highlight>
                  <a:srgbClr val="F7F7F7"/>
                </a:highlight>
                <a:latin typeface="Courier New" panose="02070309020205020404" pitchFamily="49" charset="0"/>
              </a:rPr>
              <a:t>word_to_idx</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wvmodel.index_to_key</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008000"/>
                </a:solidFill>
                <a:effectLst/>
                <a:highlight>
                  <a:srgbClr val="F7F7F7"/>
                </a:highlight>
                <a:latin typeface="Courier New" panose="02070309020205020404" pitchFamily="49" charset="0"/>
              </a:rPr>
              <a:t>#transfer to our word2ind</a:t>
            </a:r>
            <a:endParaRPr lang="en" altLang="zh-TW" sz="1400" b="0" dirty="0">
              <a:solidFill>
                <a:srgbClr val="000000"/>
              </a:solidFill>
              <a:effectLst/>
              <a:highlight>
                <a:srgbClr val="F7F7F7"/>
              </a:highlight>
              <a:latin typeface="Courier New" panose="02070309020205020404" pitchFamily="49" charset="0"/>
            </a:endParaRPr>
          </a:p>
          <a:p>
            <a:pPr marL="457200" lvl="1" indent="0">
              <a:buNone/>
            </a:pPr>
            <a:r>
              <a:rPr lang="en" altLang="zh-TW" sz="1400" b="0" dirty="0">
                <a:solidFill>
                  <a:srgbClr val="AF00DB"/>
                </a:solidFill>
                <a:effectLst/>
                <a:highlight>
                  <a:srgbClr val="F7F7F7"/>
                </a:highlight>
                <a:latin typeface="Courier New" panose="02070309020205020404" pitchFamily="49" charset="0"/>
              </a:rPr>
              <a:t>except</a:t>
            </a:r>
            <a:r>
              <a:rPr lang="en" altLang="zh-TW" sz="1400" b="0" dirty="0">
                <a:solidFill>
                  <a:srgbClr val="000000"/>
                </a:solidFill>
                <a:effectLst/>
                <a:highlight>
                  <a:srgbClr val="F7F7F7"/>
                </a:highlight>
                <a:latin typeface="Courier New" panose="02070309020205020404" pitchFamily="49" charset="0"/>
              </a:rPr>
              <a:t>:</a:t>
            </a:r>
          </a:p>
          <a:p>
            <a:pPr marL="914400" lvl="2" indent="0">
              <a:buNone/>
            </a:pPr>
            <a:r>
              <a:rPr lang="en" altLang="zh-TW" sz="1400" b="0" dirty="0">
                <a:solidFill>
                  <a:srgbClr val="AF00DB"/>
                </a:solidFill>
                <a:effectLst/>
                <a:highlight>
                  <a:srgbClr val="F7F7F7"/>
                </a:highlight>
                <a:latin typeface="Courier New" panose="02070309020205020404" pitchFamily="49" charset="0"/>
              </a:rPr>
              <a:t>continue</a:t>
            </a:r>
            <a:endParaRPr lang="en" altLang="zh-TW" sz="1400" b="0" dirty="0">
              <a:solidFill>
                <a:srgbClr val="000000"/>
              </a:solidFill>
              <a:effectLst/>
              <a:highlight>
                <a:srgbClr val="F7F7F7"/>
              </a:highlight>
              <a:latin typeface="Courier New" panose="02070309020205020404" pitchFamily="49" charset="0"/>
            </a:endParaRPr>
          </a:p>
          <a:p>
            <a:pPr marL="457200" lvl="1" indent="0">
              <a:buNone/>
            </a:pPr>
            <a:r>
              <a:rPr lang="en" altLang="zh-TW" sz="1400" b="0" dirty="0">
                <a:solidFill>
                  <a:srgbClr val="000000"/>
                </a:solidFill>
                <a:effectLst/>
                <a:highlight>
                  <a:srgbClr val="F7F7F7"/>
                </a:highlight>
                <a:latin typeface="Courier New" panose="02070309020205020404" pitchFamily="49" charset="0"/>
              </a:rPr>
              <a:t>weight[index, :] = </a:t>
            </a:r>
            <a:r>
              <a:rPr lang="en" altLang="zh-TW" sz="1400" b="0" dirty="0" err="1">
                <a:solidFill>
                  <a:srgbClr val="000000"/>
                </a:solidFill>
                <a:effectLst/>
                <a:highlight>
                  <a:srgbClr val="F7F7F7"/>
                </a:highlight>
                <a:latin typeface="Courier New" panose="02070309020205020404" pitchFamily="49" charset="0"/>
              </a:rPr>
              <a:t>torch.from_numpy</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wvmodel.get_vector</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wvmodel.index_to_key</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a:t>
            </a:r>
          </a:p>
          <a:p>
            <a:pPr marL="0" indent="0">
              <a:buNone/>
            </a:pPr>
            <a:r>
              <a:rPr lang="en" altLang="zh-TW" sz="1400" b="0" dirty="0" err="1">
                <a:solidFill>
                  <a:srgbClr val="000000"/>
                </a:solidFill>
                <a:effectLst/>
                <a:highlight>
                  <a:srgbClr val="F7F7F7"/>
                </a:highlight>
                <a:latin typeface="Courier New" panose="02070309020205020404" pitchFamily="49" charset="0"/>
              </a:rPr>
              <a:t>self.embedding</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000000"/>
                </a:solidFill>
                <a:effectLst/>
                <a:highlight>
                  <a:srgbClr val="F7F7F7"/>
                </a:highlight>
                <a:latin typeface="Courier New" panose="02070309020205020404" pitchFamily="49" charset="0"/>
              </a:rPr>
              <a:t>nn.Embedding.from_pretrained</a:t>
            </a:r>
            <a:r>
              <a:rPr lang="en" altLang="zh-TW" sz="1400" b="0" dirty="0">
                <a:solidFill>
                  <a:srgbClr val="000000"/>
                </a:solidFill>
                <a:effectLst/>
                <a:highlight>
                  <a:srgbClr val="F7F7F7"/>
                </a:highlight>
                <a:latin typeface="Courier New" panose="02070309020205020404" pitchFamily="49" charset="0"/>
              </a:rPr>
              <a:t>(weight)</a:t>
            </a:r>
          </a:p>
          <a:p>
            <a:pPr marL="0" indent="0">
              <a:buNone/>
            </a:pPr>
            <a:r>
              <a:rPr lang="en" altLang="zh-TW" sz="1400" b="0" dirty="0" err="1">
                <a:solidFill>
                  <a:srgbClr val="000000"/>
                </a:solidFill>
                <a:effectLst/>
                <a:highlight>
                  <a:srgbClr val="F7F7F7"/>
                </a:highlight>
                <a:latin typeface="Courier New" panose="02070309020205020404" pitchFamily="49" charset="0"/>
              </a:rPr>
              <a:t>self.embedding.weight.requires_grad</a:t>
            </a:r>
            <a:r>
              <a:rPr lang="en" altLang="zh-TW" sz="1400" b="0" dirty="0">
                <a:solidFill>
                  <a:srgbClr val="000000"/>
                </a:solidFill>
                <a:effectLst/>
                <a:highlight>
                  <a:srgbClr val="F7F7F7"/>
                </a:highlight>
                <a:latin typeface="Courier New" panose="02070309020205020404" pitchFamily="49" charset="0"/>
              </a:rPr>
              <a:t> = False</a:t>
            </a:r>
            <a:endParaRPr lang="en" altLang="zh-TW" sz="1900" b="0" dirty="0">
              <a:solidFill>
                <a:srgbClr val="000000"/>
              </a:solidFill>
              <a:effectLst/>
              <a:highlight>
                <a:srgbClr val="F7F7F7"/>
              </a:highlight>
              <a:latin typeface="Courier New" panose="02070309020205020404" pitchFamily="49" charset="0"/>
            </a:endParaRPr>
          </a:p>
          <a:p>
            <a:endParaRPr lang="en" altLang="zh-TW" sz="1800" b="0" dirty="0">
              <a:solidFill>
                <a:srgbClr val="000000"/>
              </a:solidFill>
              <a:effectLst/>
              <a:highlight>
                <a:srgbClr val="F7F7F7"/>
              </a:highlight>
              <a:latin typeface="Courier New" panose="02070309020205020404" pitchFamily="49" charset="0"/>
            </a:endParaRPr>
          </a:p>
        </p:txBody>
      </p:sp>
      <p:sp>
        <p:nvSpPr>
          <p:cNvPr id="4" name="向左箭號圖說文字 3">
            <a:extLst>
              <a:ext uri="{FF2B5EF4-FFF2-40B4-BE49-F238E27FC236}">
                <a16:creationId xmlns:a16="http://schemas.microsoft.com/office/drawing/2014/main" id="{16A4B49D-C424-EAE5-4618-6D356522D1C8}"/>
              </a:ext>
            </a:extLst>
          </p:cNvPr>
          <p:cNvSpPr/>
          <p:nvPr/>
        </p:nvSpPr>
        <p:spPr>
          <a:xfrm>
            <a:off x="6333066" y="6002866"/>
            <a:ext cx="3572934" cy="711201"/>
          </a:xfrm>
          <a:prstGeom prst="leftArrowCallout">
            <a:avLst>
              <a:gd name="adj1" fmla="val 25000"/>
              <a:gd name="adj2" fmla="val 25000"/>
              <a:gd name="adj3" fmla="val 25000"/>
              <a:gd name="adj4" fmla="val 902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直接載入預訓練權重，並設定成不需要再調整權重</a:t>
            </a:r>
          </a:p>
        </p:txBody>
      </p:sp>
    </p:spTree>
    <p:extLst>
      <p:ext uri="{BB962C8B-B14F-4D97-AF65-F5344CB8AC3E}">
        <p14:creationId xmlns:p14="http://schemas.microsoft.com/office/powerpoint/2010/main" val="35338875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FF0845-D3ED-61AB-42DB-E94F61D0AC30}"/>
              </a:ext>
            </a:extLst>
          </p:cNvPr>
          <p:cNvSpPr>
            <a:spLocks noGrp="1"/>
          </p:cNvSpPr>
          <p:nvPr>
            <p:ph type="title"/>
          </p:nvPr>
        </p:nvSpPr>
        <p:spPr>
          <a:xfrm>
            <a:off x="838200" y="365125"/>
            <a:ext cx="10515600" cy="1325563"/>
          </a:xfrm>
        </p:spPr>
        <p:txBody>
          <a:bodyPr/>
          <a:lstStyle/>
          <a:p>
            <a:r>
              <a:rPr kumimoji="1" lang="en-US" altLang="zh-TW" sz="4400" dirty="0"/>
              <a:t>RNN</a:t>
            </a:r>
            <a:r>
              <a:rPr kumimoji="1" lang="zh-TW" altLang="en-US" sz="4400" dirty="0"/>
              <a:t>練習</a:t>
            </a:r>
            <a:r>
              <a:rPr kumimoji="1" lang="en-US" altLang="zh-TW" sz="4400" dirty="0"/>
              <a:t>(I)-</a:t>
            </a:r>
            <a:r>
              <a:rPr kumimoji="1" lang="en-US" altLang="zh-TW" sz="4400" dirty="0" err="1"/>
              <a:t>imdb</a:t>
            </a:r>
            <a:r>
              <a:rPr kumimoji="1" lang="zh-TW" altLang="en-US" sz="4400" dirty="0"/>
              <a:t> </a:t>
            </a:r>
            <a:r>
              <a:rPr kumimoji="1" lang="en-US" altLang="zh-TW" sz="4400" dirty="0"/>
              <a:t>review</a:t>
            </a:r>
            <a:r>
              <a:rPr kumimoji="1" lang="zh-TW" altLang="en-US" sz="4400" dirty="0"/>
              <a:t>實作</a:t>
            </a:r>
            <a:r>
              <a:rPr kumimoji="1" lang="zh-TW" altLang="en-US" dirty="0"/>
              <a:t>程式說明</a:t>
            </a:r>
            <a:endParaRPr lang="zh-TW" altLang="en-US" dirty="0"/>
          </a:p>
        </p:txBody>
      </p:sp>
      <p:sp>
        <p:nvSpPr>
          <p:cNvPr id="9" name="內容版面配置區 8">
            <a:extLst>
              <a:ext uri="{FF2B5EF4-FFF2-40B4-BE49-F238E27FC236}">
                <a16:creationId xmlns:a16="http://schemas.microsoft.com/office/drawing/2014/main" id="{0CCC271B-2769-5586-3C73-3540E9A22671}"/>
              </a:ext>
            </a:extLst>
          </p:cNvPr>
          <p:cNvSpPr>
            <a:spLocks noGrp="1"/>
          </p:cNvSpPr>
          <p:nvPr>
            <p:ph idx="1"/>
          </p:nvPr>
        </p:nvSpPr>
        <p:spPr>
          <a:xfrm>
            <a:off x="838200" y="1825625"/>
            <a:ext cx="10515600" cy="4744508"/>
          </a:xfrm>
        </p:spPr>
        <p:txBody>
          <a:bodyPr>
            <a:normAutofit/>
          </a:bodyPr>
          <a:lstStyle/>
          <a:p>
            <a:pPr marL="514350" indent="-514350">
              <a:buFont typeface="+mj-lt"/>
              <a:buAutoNum type="arabicPeriod" startAt="2"/>
            </a:pPr>
            <a:r>
              <a:rPr lang="zh-TW" altLang="en-US" dirty="0"/>
              <a:t>利用</a:t>
            </a:r>
            <a:r>
              <a:rPr lang="en-US" altLang="zh-TW" dirty="0"/>
              <a:t>Embedding</a:t>
            </a:r>
            <a:r>
              <a:rPr lang="zh-TW" altLang="en-US" dirty="0"/>
              <a:t>其實也是神經網路的特性，把它跟</a:t>
            </a:r>
            <a:r>
              <a:rPr lang="en-US" altLang="zh-TW" dirty="0"/>
              <a:t>LSTM</a:t>
            </a:r>
            <a:r>
              <a:rPr lang="zh-TW" altLang="en-US" dirty="0"/>
              <a:t>直接接在一起，使用訓練資料直接訓練</a:t>
            </a:r>
            <a:r>
              <a:rPr lang="en-US" altLang="zh-TW" dirty="0"/>
              <a:t>word2vec</a:t>
            </a:r>
          </a:p>
          <a:p>
            <a:pPr marL="0" indent="0">
              <a:buNone/>
            </a:pPr>
            <a:r>
              <a:rPr lang="en" altLang="zh-TW" b="0" dirty="0" err="1">
                <a:solidFill>
                  <a:srgbClr val="001080"/>
                </a:solidFill>
                <a:effectLst/>
                <a:highlight>
                  <a:srgbClr val="F7F7F7"/>
                </a:highlight>
                <a:latin typeface="Courier New" panose="02070309020205020404" pitchFamily="49" charset="0"/>
              </a:rPr>
              <a:t>self</a:t>
            </a:r>
            <a:r>
              <a:rPr lang="en" altLang="zh-TW" b="0" dirty="0" err="1">
                <a:solidFill>
                  <a:srgbClr val="000000"/>
                </a:solidFill>
                <a:effectLst/>
                <a:highlight>
                  <a:srgbClr val="F7F7F7"/>
                </a:highlight>
                <a:latin typeface="Courier New" panose="02070309020205020404" pitchFamily="49" charset="0"/>
              </a:rPr>
              <a:t>.embedding</a:t>
            </a:r>
            <a:r>
              <a:rPr lang="en" altLang="zh-TW" b="0" dirty="0">
                <a:solidFill>
                  <a:srgbClr val="000000"/>
                </a:solidFill>
                <a:effectLst/>
                <a:highlight>
                  <a:srgbClr val="F7F7F7"/>
                </a:highlight>
                <a:latin typeface="Courier New" panose="02070309020205020404" pitchFamily="49" charset="0"/>
              </a:rPr>
              <a:t> = </a:t>
            </a:r>
            <a:r>
              <a:rPr lang="en" altLang="zh-TW" b="0" dirty="0" err="1">
                <a:solidFill>
                  <a:srgbClr val="000000"/>
                </a:solidFill>
                <a:effectLst/>
                <a:highlight>
                  <a:srgbClr val="F7F7F7"/>
                </a:highlight>
                <a:latin typeface="Courier New" panose="02070309020205020404" pitchFamily="49" charset="0"/>
              </a:rPr>
              <a:t>nn.Embedding</a:t>
            </a:r>
            <a:r>
              <a:rPr lang="en" altLang="zh-TW" b="0" dirty="0">
                <a:solidFill>
                  <a:srgbClr val="000000"/>
                </a:solidFill>
                <a:effectLst/>
                <a:highlight>
                  <a:srgbClr val="F7F7F7"/>
                </a:highlight>
                <a:latin typeface="Courier New" panose="02070309020205020404" pitchFamily="49" charset="0"/>
              </a:rPr>
              <a:t>(</a:t>
            </a:r>
            <a:r>
              <a:rPr lang="en" altLang="zh-TW" b="0" dirty="0" err="1">
                <a:solidFill>
                  <a:srgbClr val="000000"/>
                </a:solidFill>
                <a:effectLst/>
                <a:highlight>
                  <a:srgbClr val="F7F7F7"/>
                </a:highlight>
                <a:latin typeface="Courier New" panose="02070309020205020404" pitchFamily="49" charset="0"/>
              </a:rPr>
              <a:t>vocab_size</a:t>
            </a:r>
            <a:r>
              <a:rPr lang="en" altLang="zh-TW" b="0" dirty="0">
                <a:solidFill>
                  <a:srgbClr val="000000"/>
                </a:solidFill>
                <a:effectLst/>
                <a:highlight>
                  <a:srgbClr val="F7F7F7"/>
                </a:highlight>
                <a:latin typeface="Courier New" panose="02070309020205020404" pitchFamily="49" charset="0"/>
              </a:rPr>
              <a:t>, </a:t>
            </a:r>
            <a:r>
              <a:rPr lang="en" altLang="zh-TW" b="0" dirty="0" err="1">
                <a:solidFill>
                  <a:srgbClr val="000000"/>
                </a:solidFill>
                <a:effectLst/>
                <a:highlight>
                  <a:srgbClr val="F7F7F7"/>
                </a:highlight>
                <a:latin typeface="Courier New" panose="02070309020205020404" pitchFamily="49" charset="0"/>
              </a:rPr>
              <a:t>embedding_dim</a:t>
            </a:r>
            <a:r>
              <a:rPr lang="en" altLang="zh-TW" b="0" dirty="0">
                <a:solidFill>
                  <a:srgbClr val="000000"/>
                </a:solidFill>
                <a:effectLst/>
                <a:highlight>
                  <a:srgbClr val="F7F7F7"/>
                </a:highlight>
                <a:latin typeface="Courier New" panose="02070309020205020404" pitchFamily="49" charset="0"/>
              </a:rPr>
              <a:t>=</a:t>
            </a:r>
            <a:r>
              <a:rPr lang="en" altLang="zh-TW" b="0" dirty="0" err="1">
                <a:solidFill>
                  <a:srgbClr val="000000"/>
                </a:solidFill>
                <a:effectLst/>
                <a:highlight>
                  <a:srgbClr val="F7F7F7"/>
                </a:highlight>
                <a:latin typeface="Courier New" panose="02070309020205020404" pitchFamily="49" charset="0"/>
              </a:rPr>
              <a:t>embed_size</a:t>
            </a:r>
            <a:r>
              <a:rPr lang="en" altLang="zh-TW" b="0" dirty="0">
                <a:solidFill>
                  <a:srgbClr val="000000"/>
                </a:solidFill>
                <a:effectLst/>
                <a:highlight>
                  <a:srgbClr val="F7F7F7"/>
                </a:highlight>
                <a:latin typeface="Courier New" panose="02070309020205020404" pitchFamily="49" charset="0"/>
              </a:rPr>
              <a:t>)</a:t>
            </a:r>
          </a:p>
          <a:p>
            <a:r>
              <a:rPr lang="en-US" altLang="zh-TW" dirty="0" err="1"/>
              <a:t>vocab_size</a:t>
            </a:r>
            <a:r>
              <a:rPr lang="en-US" altLang="zh-TW" dirty="0"/>
              <a:t>:</a:t>
            </a:r>
            <a:r>
              <a:rPr lang="zh-TW" altLang="en-US" dirty="0"/>
              <a:t> 有多少個字需要認得</a:t>
            </a:r>
            <a:r>
              <a:rPr lang="en-US" altLang="zh-TW" dirty="0"/>
              <a:t>(</a:t>
            </a:r>
            <a:r>
              <a:rPr lang="zh-TW" altLang="en-US" dirty="0"/>
              <a:t>可能是整個文字資料的總互斥字數再加上</a:t>
            </a:r>
            <a:r>
              <a:rPr lang="en-US" altLang="zh-TW" dirty="0"/>
              <a:t>unknown</a:t>
            </a:r>
            <a:r>
              <a:rPr lang="zh-TW" altLang="en-US" dirty="0"/>
              <a:t>、</a:t>
            </a:r>
            <a:r>
              <a:rPr lang="en-US" altLang="zh-TW" dirty="0"/>
              <a:t>PAD</a:t>
            </a:r>
            <a:r>
              <a:rPr lang="zh-TW" altLang="en-US" dirty="0"/>
              <a:t>等特別字的數量</a:t>
            </a:r>
            <a:r>
              <a:rPr lang="en-US" altLang="zh-TW" dirty="0"/>
              <a:t>)</a:t>
            </a:r>
          </a:p>
          <a:p>
            <a:r>
              <a:rPr lang="en-US" altLang="zh-TW" dirty="0" err="1"/>
              <a:t>embedding_dim</a:t>
            </a:r>
            <a:r>
              <a:rPr lang="en-US" altLang="zh-TW" dirty="0"/>
              <a:t>:</a:t>
            </a:r>
            <a:r>
              <a:rPr lang="zh-TW" altLang="en-US" dirty="0"/>
              <a:t> 轉成向量後，向量的長度</a:t>
            </a:r>
            <a:endParaRPr lang="en-US" altLang="zh-TW" dirty="0"/>
          </a:p>
          <a:p>
            <a:r>
              <a:rPr lang="zh-TW" altLang="en-US" dirty="0"/>
              <a:t>使用</a:t>
            </a:r>
            <a:r>
              <a:rPr lang="en-US" altLang="zh-TW" dirty="0" err="1"/>
              <a:t>nn.Embedding</a:t>
            </a:r>
            <a:r>
              <a:rPr lang="zh-TW" altLang="en-US" dirty="0"/>
              <a:t>層，僅需將每個</a:t>
            </a:r>
            <a:r>
              <a:rPr lang="en-US" altLang="zh-TW" dirty="0"/>
              <a:t>token(</a:t>
            </a:r>
            <a:r>
              <a:rPr lang="zh-TW" altLang="en-US" dirty="0"/>
              <a:t>可能是一個字</a:t>
            </a:r>
            <a:r>
              <a:rPr lang="en-US" altLang="zh-TW" dirty="0"/>
              <a:t>one</a:t>
            </a:r>
            <a:r>
              <a:rPr lang="zh-TW" altLang="en-US" dirty="0"/>
              <a:t> </a:t>
            </a:r>
            <a:r>
              <a:rPr lang="en-US" altLang="zh-TW" dirty="0"/>
              <a:t>word)</a:t>
            </a:r>
            <a:r>
              <a:rPr lang="zh-TW" altLang="en-US" dirty="0"/>
              <a:t>，對應到唯一的數字上，然後將整個句子中的每個字都轉成相對應的數字</a:t>
            </a:r>
          </a:p>
        </p:txBody>
      </p:sp>
    </p:spTree>
    <p:extLst>
      <p:ext uri="{BB962C8B-B14F-4D97-AF65-F5344CB8AC3E}">
        <p14:creationId xmlns:p14="http://schemas.microsoft.com/office/powerpoint/2010/main" val="11369201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7EEC99-BEBC-FDBD-93A7-B80A5EEEADCE}"/>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a:t>
            </a:r>
            <a:r>
              <a:rPr kumimoji="1" lang="en-US" altLang="zh-TW" sz="4400" dirty="0" err="1"/>
              <a:t>imdb</a:t>
            </a:r>
            <a:r>
              <a:rPr kumimoji="1" lang="zh-TW" altLang="en-US" sz="4400" dirty="0"/>
              <a:t> </a:t>
            </a:r>
            <a:r>
              <a:rPr kumimoji="1" lang="en-US" altLang="zh-TW" sz="4400" dirty="0"/>
              <a:t>review</a:t>
            </a:r>
            <a:r>
              <a:rPr kumimoji="1" lang="zh-TW" altLang="en-US" sz="4400" dirty="0"/>
              <a:t>實作</a:t>
            </a:r>
            <a:r>
              <a:rPr kumimoji="1" lang="zh-TW" altLang="en-US" dirty="0"/>
              <a:t>程式說明</a:t>
            </a:r>
          </a:p>
        </p:txBody>
      </p:sp>
      <p:sp>
        <p:nvSpPr>
          <p:cNvPr id="3" name="內容版面配置區 2">
            <a:extLst>
              <a:ext uri="{FF2B5EF4-FFF2-40B4-BE49-F238E27FC236}">
                <a16:creationId xmlns:a16="http://schemas.microsoft.com/office/drawing/2014/main" id="{C583DBA3-8A27-7C91-D7A2-E571A038F01C}"/>
              </a:ext>
            </a:extLst>
          </p:cNvPr>
          <p:cNvSpPr>
            <a:spLocks noGrp="1"/>
          </p:cNvSpPr>
          <p:nvPr>
            <p:ph idx="1"/>
          </p:nvPr>
        </p:nvSpPr>
        <p:spPr>
          <a:xfrm>
            <a:off x="838200" y="1825625"/>
            <a:ext cx="10515600" cy="4851916"/>
          </a:xfrm>
        </p:spPr>
        <p:txBody>
          <a:bodyPr>
            <a:normAutofit fontScale="92500" lnSpcReduction="10000"/>
          </a:bodyPr>
          <a:lstStyle/>
          <a:p>
            <a:r>
              <a:rPr kumimoji="1" lang="en-US" altLang="zh-TW" dirty="0" err="1"/>
              <a:t>Pytorch</a:t>
            </a:r>
            <a:r>
              <a:rPr kumimoji="1" lang="zh-TW" altLang="en-US" dirty="0"/>
              <a:t>的</a:t>
            </a:r>
            <a:r>
              <a:rPr kumimoji="1" lang="en-US" altLang="zh-TW" dirty="0"/>
              <a:t>LSTM</a:t>
            </a:r>
            <a:r>
              <a:rPr kumimoji="1" lang="zh-TW" altLang="en-US" dirty="0"/>
              <a:t>在使用時有幾個要注意的地方</a:t>
            </a:r>
            <a:endParaRPr kumimoji="1" lang="en-US" altLang="zh-TW" dirty="0"/>
          </a:p>
          <a:p>
            <a:pPr marL="914400" lvl="1" indent="-457200">
              <a:buFont typeface="+mj-lt"/>
              <a:buAutoNum type="arabicPeriod"/>
            </a:pPr>
            <a:r>
              <a:rPr kumimoji="1" lang="zh-TW" altLang="en-US" dirty="0"/>
              <a:t>有沒有設定成雙向</a:t>
            </a:r>
            <a:r>
              <a:rPr kumimoji="1" lang="en-US" altLang="zh-TW" dirty="0"/>
              <a:t>(bi-directional)</a:t>
            </a:r>
            <a:r>
              <a:rPr kumimoji="1" lang="zh-TW" altLang="en-US" dirty="0"/>
              <a:t>，有的話，輸出的陣列大小會變成原本的</a:t>
            </a:r>
            <a:r>
              <a:rPr kumimoji="1" lang="en-US" altLang="zh-TW" dirty="0"/>
              <a:t>2</a:t>
            </a:r>
            <a:r>
              <a:rPr kumimoji="1" lang="zh-TW" altLang="en-US" dirty="0"/>
              <a:t>倍</a:t>
            </a:r>
            <a:r>
              <a:rPr kumimoji="1" lang="en-US" altLang="zh-TW" dirty="0"/>
              <a:t>(</a:t>
            </a:r>
            <a:r>
              <a:rPr kumimoji="1" lang="zh-TW" altLang="en-US" dirty="0"/>
              <a:t>正向跟反向的</a:t>
            </a:r>
            <a:r>
              <a:rPr kumimoji="1" lang="en-US" altLang="zh-TW" dirty="0"/>
              <a:t>output)</a:t>
            </a:r>
          </a:p>
          <a:p>
            <a:pPr marL="914400" lvl="1" indent="-457200">
              <a:buFont typeface="+mj-lt"/>
              <a:buAutoNum type="arabicPeriod"/>
            </a:pPr>
            <a:r>
              <a:rPr kumimoji="1" lang="en-US" altLang="zh-TW" dirty="0"/>
              <a:t>LSTM</a:t>
            </a:r>
            <a:r>
              <a:rPr kumimoji="1" lang="zh-TW" altLang="en-US" dirty="0"/>
              <a:t>輸入的向量維度形狀</a:t>
            </a:r>
            <a:r>
              <a:rPr kumimoji="1" lang="en-US" altLang="zh-TW" dirty="0"/>
              <a:t>(shape)</a:t>
            </a:r>
            <a:r>
              <a:rPr kumimoji="1" lang="zh-TW" altLang="en-US" dirty="0"/>
              <a:t>：</a:t>
            </a:r>
            <a:endParaRPr kumimoji="1" lang="en-US" altLang="zh-TW" dirty="0"/>
          </a:p>
          <a:p>
            <a:pPr marL="1371600" lvl="2" indent="-457200">
              <a:buFont typeface="+mj-lt"/>
              <a:buAutoNum type="arabicPeriod"/>
            </a:pPr>
            <a:r>
              <a:rPr kumimoji="1" lang="en" altLang="zh-TW" dirty="0"/>
              <a:t>input_size</a:t>
            </a:r>
            <a:r>
              <a:rPr kumimoji="1" lang="zh-TW" altLang="en-US" dirty="0"/>
              <a:t> ：輸入的字的長度，其實就是每個單字透過</a:t>
            </a:r>
            <a:r>
              <a:rPr kumimoji="1" lang="en-US" altLang="zh-TW" dirty="0"/>
              <a:t>Word</a:t>
            </a:r>
            <a:r>
              <a:rPr kumimoji="1" lang="zh-TW" altLang="en-US" dirty="0"/>
              <a:t> </a:t>
            </a:r>
            <a:r>
              <a:rPr kumimoji="1" lang="en-US" altLang="zh-TW" dirty="0"/>
              <a:t>Embedding</a:t>
            </a:r>
            <a:r>
              <a:rPr kumimoji="1" lang="zh-TW" altLang="en-US" dirty="0"/>
              <a:t>後輸出的向量大小</a:t>
            </a:r>
            <a:endParaRPr kumimoji="1" lang="en-US" altLang="zh-TW" dirty="0"/>
          </a:p>
          <a:p>
            <a:pPr marL="1371600" lvl="2" indent="-457200">
              <a:buFont typeface="+mj-lt"/>
              <a:buAutoNum type="arabicPeriod"/>
            </a:pPr>
            <a:r>
              <a:rPr kumimoji="1" lang="en-US" altLang="zh-TW" dirty="0"/>
              <a:t>h</a:t>
            </a:r>
            <a:r>
              <a:rPr kumimoji="1" lang="en" altLang="zh-TW" dirty="0"/>
              <a:t>idden_s</a:t>
            </a:r>
            <a:r>
              <a:rPr kumimoji="1" lang="en-US" altLang="zh-TW" dirty="0" err="1"/>
              <a:t>ize</a:t>
            </a:r>
            <a:r>
              <a:rPr kumimoji="1" lang="zh-TW" altLang="en-US" dirty="0"/>
              <a:t>：隱藏層輸出的向量大小</a:t>
            </a:r>
            <a:endParaRPr kumimoji="1" lang="en-US" altLang="zh-TW" dirty="0"/>
          </a:p>
          <a:p>
            <a:pPr marL="1371600" lvl="2" indent="-457200">
              <a:buFont typeface="+mj-lt"/>
              <a:buAutoNum type="arabicPeriod"/>
            </a:pPr>
            <a:r>
              <a:rPr kumimoji="1" lang="zh-TW" altLang="en-US" dirty="0"/>
              <a:t>預設是</a:t>
            </a:r>
            <a:r>
              <a:rPr kumimoji="1" lang="en-US" altLang="zh-TW" dirty="0" err="1"/>
              <a:t>batch_first</a:t>
            </a:r>
            <a:r>
              <a:rPr kumimoji="1" lang="zh-TW" altLang="en-US" dirty="0"/>
              <a:t> </a:t>
            </a:r>
            <a:r>
              <a:rPr kumimoji="1" lang="en-US" altLang="zh-TW" dirty="0"/>
              <a:t>=</a:t>
            </a:r>
            <a:r>
              <a:rPr kumimoji="1" lang="zh-TW" altLang="en-US" dirty="0"/>
              <a:t> </a:t>
            </a:r>
            <a:r>
              <a:rPr kumimoji="1" lang="en-US" altLang="zh-TW" dirty="0"/>
              <a:t>False</a:t>
            </a:r>
            <a:r>
              <a:rPr kumimoji="1" lang="zh-TW" altLang="en-US" dirty="0"/>
              <a:t>，代表接受的矩陣</a:t>
            </a:r>
            <a:r>
              <a:rPr kumimoji="1" lang="en-US" altLang="zh-TW" dirty="0"/>
              <a:t>shape</a:t>
            </a:r>
            <a:r>
              <a:rPr kumimoji="1" lang="zh-TW" altLang="en-US" dirty="0"/>
              <a:t>是</a:t>
            </a:r>
            <a:r>
              <a:rPr kumimoji="1" lang="en" altLang="zh-TW" dirty="0"/>
              <a:t>(batch, seq, feature) </a:t>
            </a:r>
            <a:r>
              <a:rPr kumimoji="1" lang="zh-TW" altLang="en-US" dirty="0"/>
              <a:t>或</a:t>
            </a:r>
            <a:r>
              <a:rPr kumimoji="1" lang="en-US" altLang="zh-TW" dirty="0"/>
              <a:t>(</a:t>
            </a:r>
            <a:r>
              <a:rPr kumimoji="1" lang="en-US" altLang="zh-TW" dirty="0" err="1"/>
              <a:t>seq_length</a:t>
            </a:r>
            <a:r>
              <a:rPr kumimoji="1" lang="en-US" altLang="zh-TW" dirty="0"/>
              <a:t>,</a:t>
            </a:r>
            <a:r>
              <a:rPr kumimoji="1" lang="zh-TW" altLang="en-US" dirty="0"/>
              <a:t> </a:t>
            </a:r>
            <a:r>
              <a:rPr kumimoji="1" lang="en-US" altLang="zh-TW" dirty="0" err="1"/>
              <a:t>batch_size</a:t>
            </a:r>
            <a:r>
              <a:rPr kumimoji="1" lang="en-US" altLang="zh-TW" dirty="0"/>
              <a:t> ,</a:t>
            </a:r>
            <a:r>
              <a:rPr kumimoji="1" lang="zh-TW" altLang="en-US" dirty="0"/>
              <a:t> </a:t>
            </a:r>
            <a:r>
              <a:rPr kumimoji="1" lang="en-US" altLang="zh-TW" dirty="0"/>
              <a:t>word2vec_length)</a:t>
            </a:r>
          </a:p>
          <a:p>
            <a:pPr marL="1371600" lvl="2" indent="-457200">
              <a:buFont typeface="+mj-lt"/>
              <a:buAutoNum type="arabicPeriod"/>
            </a:pPr>
            <a:r>
              <a:rPr kumimoji="1" lang="zh-TW" altLang="en-US" dirty="0"/>
              <a:t>如果要批次的筆數在第一個維度，可以透過</a:t>
            </a:r>
            <a:r>
              <a:rPr kumimoji="1" lang="en-US" altLang="zh-TW" dirty="0" err="1"/>
              <a:t>batch_first</a:t>
            </a:r>
            <a:r>
              <a:rPr kumimoji="1" lang="zh-TW" altLang="en-US" dirty="0"/>
              <a:t> </a:t>
            </a:r>
            <a:r>
              <a:rPr kumimoji="1" lang="en-US" altLang="zh-TW" dirty="0"/>
              <a:t>=</a:t>
            </a:r>
            <a:r>
              <a:rPr kumimoji="1" lang="zh-TW" altLang="en-US" dirty="0"/>
              <a:t> </a:t>
            </a:r>
            <a:r>
              <a:rPr kumimoji="1" lang="en-US" altLang="zh-TW" dirty="0"/>
              <a:t>True</a:t>
            </a:r>
            <a:r>
              <a:rPr kumimoji="1" lang="zh-TW" altLang="en-US" dirty="0"/>
              <a:t>來指定</a:t>
            </a:r>
            <a:endParaRPr kumimoji="1" lang="en-US" altLang="zh-TW" dirty="0"/>
          </a:p>
          <a:p>
            <a:pPr lvl="2"/>
            <a:r>
              <a:rPr kumimoji="1" lang="en-US" altLang="zh-TW" dirty="0" err="1"/>
              <a:t>batch_first</a:t>
            </a:r>
            <a:r>
              <a:rPr kumimoji="1" lang="zh-TW" altLang="en-US" dirty="0"/>
              <a:t>是預設的</a:t>
            </a:r>
            <a:r>
              <a:rPr kumimoji="1" lang="en-US" altLang="zh-TW" dirty="0"/>
              <a:t>False</a:t>
            </a:r>
            <a:r>
              <a:rPr kumimoji="1" lang="zh-TW" altLang="en-US" dirty="0"/>
              <a:t>的話，輸入資料第一個維度是句子長度，如果這時的資料第一個維度不是句子長度的話，就需要進行旋轉</a:t>
            </a:r>
            <a:r>
              <a:rPr kumimoji="1" lang="en-US" altLang="zh-TW" dirty="0"/>
              <a:t>(permute)</a:t>
            </a:r>
          </a:p>
          <a:p>
            <a:pPr marL="914400" lvl="1" indent="-457200">
              <a:buFont typeface="+mj-lt"/>
              <a:buAutoNum type="arabicPeriod"/>
            </a:pPr>
            <a:r>
              <a:rPr kumimoji="1" lang="en-US" altLang="zh-TW" dirty="0"/>
              <a:t>LSTM</a:t>
            </a:r>
            <a:r>
              <a:rPr kumimoji="1" lang="zh-TW" altLang="en-US" dirty="0"/>
              <a:t>的輸出包含</a:t>
            </a:r>
            <a:r>
              <a:rPr kumimoji="1" lang="en-US" altLang="zh-TW" dirty="0"/>
              <a:t>output</a:t>
            </a:r>
            <a:r>
              <a:rPr kumimoji="1" lang="zh-TW" altLang="en-US" dirty="0"/>
              <a:t>、</a:t>
            </a:r>
            <a:r>
              <a:rPr kumimoji="1" lang="en-US" altLang="zh-TW" dirty="0"/>
              <a:t>(hidden</a:t>
            </a:r>
            <a:r>
              <a:rPr kumimoji="1" lang="zh-TW" altLang="en-US" dirty="0"/>
              <a:t>、</a:t>
            </a:r>
            <a:r>
              <a:rPr kumimoji="1" lang="en-US" altLang="zh-TW" dirty="0"/>
              <a:t>cell)</a:t>
            </a:r>
            <a:r>
              <a:rPr kumimoji="1" lang="zh-TW" altLang="en-US" dirty="0"/>
              <a:t>，</a:t>
            </a:r>
            <a:r>
              <a:rPr kumimoji="1" lang="en-US" altLang="zh-TW" dirty="0"/>
              <a:t>hidden</a:t>
            </a:r>
            <a:r>
              <a:rPr kumimoji="1" lang="zh-TW" altLang="en-US" dirty="0"/>
              <a:t>就是每個隱藏層的值，</a:t>
            </a:r>
            <a:r>
              <a:rPr kumimoji="1" lang="en-US" altLang="zh-TW" dirty="0"/>
              <a:t>output</a:t>
            </a:r>
            <a:r>
              <a:rPr kumimoji="1" lang="zh-TW" altLang="en-US" dirty="0"/>
              <a:t>就是全部的</a:t>
            </a:r>
            <a:r>
              <a:rPr kumimoji="1" lang="en-US" altLang="zh-TW" dirty="0"/>
              <a:t>hidden</a:t>
            </a:r>
            <a:r>
              <a:rPr kumimoji="1" lang="zh-TW" altLang="en-US" dirty="0"/>
              <a:t>串在一起</a:t>
            </a:r>
            <a:endParaRPr kumimoji="1" lang="en-US" altLang="zh-TW" dirty="0"/>
          </a:p>
          <a:p>
            <a:pPr marL="914400" lvl="1" indent="-457200">
              <a:buFont typeface="+mj-lt"/>
              <a:buAutoNum type="arabicPeriod"/>
            </a:pPr>
            <a:r>
              <a:rPr kumimoji="1" lang="en-US" altLang="zh-TW" dirty="0"/>
              <a:t>n</a:t>
            </a:r>
            <a:r>
              <a:rPr kumimoji="1" lang="en" altLang="zh-TW" dirty="0"/>
              <a:t>um_layer</a:t>
            </a:r>
            <a:r>
              <a:rPr kumimoji="1" lang="en-US" altLang="zh-TW" dirty="0"/>
              <a:t>s</a:t>
            </a:r>
            <a:r>
              <a:rPr kumimoji="1" lang="zh-TW" altLang="en-US" dirty="0"/>
              <a:t>：設定</a:t>
            </a:r>
            <a:r>
              <a:rPr kumimoji="1" lang="en" altLang="zh-TW" dirty="0"/>
              <a:t>num_layers=2</a:t>
            </a:r>
            <a:r>
              <a:rPr kumimoji="1" lang="zh-TW" altLang="en-US" dirty="0"/>
              <a:t>意味著將兩個</a:t>
            </a:r>
            <a:r>
              <a:rPr kumimoji="1" lang="en" altLang="zh-TW" dirty="0"/>
              <a:t>LSTM</a:t>
            </a:r>
            <a:r>
              <a:rPr kumimoji="1" lang="zh-TW" altLang="en-US" dirty="0"/>
              <a:t>堆疊在一起形成一個堆疊的</a:t>
            </a:r>
            <a:r>
              <a:rPr kumimoji="1" lang="en" altLang="zh-TW" dirty="0"/>
              <a:t>LSTM</a:t>
            </a:r>
            <a:r>
              <a:rPr kumimoji="1" lang="zh-TW" altLang="en" dirty="0"/>
              <a:t>，</a:t>
            </a:r>
            <a:r>
              <a:rPr kumimoji="1" lang="zh-TW" altLang="en-US" dirty="0"/>
              <a:t>其中第二個</a:t>
            </a:r>
            <a:r>
              <a:rPr kumimoji="1" lang="en" altLang="zh-TW" dirty="0"/>
              <a:t>LSTM</a:t>
            </a:r>
            <a:r>
              <a:rPr kumimoji="1" lang="zh-TW" altLang="en-US" dirty="0"/>
              <a:t>接收第一個</a:t>
            </a:r>
            <a:r>
              <a:rPr kumimoji="1" lang="en" altLang="zh-TW" dirty="0"/>
              <a:t>LSTM</a:t>
            </a:r>
            <a:r>
              <a:rPr kumimoji="1" lang="zh-TW" altLang="en-US" dirty="0"/>
              <a:t>的輸出並計算最終結果</a:t>
            </a:r>
            <a:endParaRPr kumimoji="1" lang="en-US" altLang="zh-TW" dirty="0"/>
          </a:p>
          <a:p>
            <a:pPr marL="914400" lvl="1" indent="-457200">
              <a:buFont typeface="+mj-lt"/>
              <a:buAutoNum type="arabicPeriod"/>
            </a:pPr>
            <a:endParaRPr kumimoji="1" lang="en-US" altLang="zh-TW" dirty="0"/>
          </a:p>
          <a:p>
            <a:pPr marL="914400" lvl="1" indent="-457200">
              <a:buFont typeface="+mj-lt"/>
              <a:buAutoNum type="arabicPeriod"/>
            </a:pPr>
            <a:endParaRPr kumimoji="1" lang="en-US" altLang="zh-TW" dirty="0"/>
          </a:p>
          <a:p>
            <a:pPr lvl="1">
              <a:buFont typeface="Wingdings" pitchFamily="2" charset="2"/>
              <a:buChar char="l"/>
            </a:pPr>
            <a:endParaRPr kumimoji="1" lang="en-US" altLang="zh-TW" dirty="0"/>
          </a:p>
          <a:p>
            <a:pPr marL="914400" lvl="1" indent="-457200">
              <a:buFont typeface="+mj-lt"/>
              <a:buAutoNum type="arabicPeriod"/>
            </a:pPr>
            <a:endParaRPr kumimoji="1" lang="zh-TW" altLang="en-US" dirty="0"/>
          </a:p>
        </p:txBody>
      </p:sp>
      <p:sp>
        <p:nvSpPr>
          <p:cNvPr id="5" name="文字方塊 4">
            <a:extLst>
              <a:ext uri="{FF2B5EF4-FFF2-40B4-BE49-F238E27FC236}">
                <a16:creationId xmlns:a16="http://schemas.microsoft.com/office/drawing/2014/main" id="{950FFC90-27F2-52FC-DAD3-5ED59C5031F8}"/>
              </a:ext>
            </a:extLst>
          </p:cNvPr>
          <p:cNvSpPr txBox="1"/>
          <p:nvPr/>
        </p:nvSpPr>
        <p:spPr>
          <a:xfrm>
            <a:off x="5003800" y="1456293"/>
            <a:ext cx="6350000" cy="369332"/>
          </a:xfrm>
          <a:prstGeom prst="rect">
            <a:avLst/>
          </a:prstGeom>
          <a:noFill/>
        </p:spPr>
        <p:txBody>
          <a:bodyPr wrap="square">
            <a:spAutoFit/>
          </a:bodyPr>
          <a:lstStyle/>
          <a:p>
            <a:r>
              <a:rPr lang="zh-TW" altLang="en-US" dirty="0"/>
              <a:t>https://pytorch.org/docs/stable/generated/torch.nn.LSTM.html</a:t>
            </a:r>
          </a:p>
        </p:txBody>
      </p:sp>
    </p:spTree>
    <p:extLst>
      <p:ext uri="{BB962C8B-B14F-4D97-AF65-F5344CB8AC3E}">
        <p14:creationId xmlns:p14="http://schemas.microsoft.com/office/powerpoint/2010/main" val="30426899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101135-967C-2830-C3CE-58FB0995AF8E}"/>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a:t>
            </a:r>
            <a:r>
              <a:rPr kumimoji="1" lang="en-US" altLang="zh-TW" sz="4400" dirty="0" err="1"/>
              <a:t>imdb</a:t>
            </a:r>
            <a:r>
              <a:rPr kumimoji="1" lang="zh-TW" altLang="en-US" sz="4400" dirty="0"/>
              <a:t> </a:t>
            </a:r>
            <a:r>
              <a:rPr kumimoji="1" lang="en-US" altLang="zh-TW" sz="4400" dirty="0"/>
              <a:t>review</a:t>
            </a:r>
            <a:r>
              <a:rPr kumimoji="1" lang="zh-TW" altLang="en-US" sz="4400" dirty="0"/>
              <a:t>實作</a:t>
            </a:r>
            <a:r>
              <a:rPr kumimoji="1" lang="zh-TW" altLang="en-US" dirty="0"/>
              <a:t>程式說明</a:t>
            </a:r>
          </a:p>
        </p:txBody>
      </p:sp>
      <p:sp>
        <p:nvSpPr>
          <p:cNvPr id="3" name="內容版面配置區 2">
            <a:extLst>
              <a:ext uri="{FF2B5EF4-FFF2-40B4-BE49-F238E27FC236}">
                <a16:creationId xmlns:a16="http://schemas.microsoft.com/office/drawing/2014/main" id="{233E2124-6410-CA13-6140-EEDC1490D130}"/>
              </a:ext>
            </a:extLst>
          </p:cNvPr>
          <p:cNvSpPr>
            <a:spLocks noGrp="1"/>
          </p:cNvSpPr>
          <p:nvPr>
            <p:ph idx="1"/>
          </p:nvPr>
        </p:nvSpPr>
        <p:spPr>
          <a:xfrm>
            <a:off x="838200" y="1825625"/>
            <a:ext cx="10515600" cy="4837642"/>
          </a:xfrm>
        </p:spPr>
        <p:txBody>
          <a:bodyPr>
            <a:normAutofit fontScale="92500"/>
          </a:bodyPr>
          <a:lstStyle/>
          <a:p>
            <a:r>
              <a:rPr kumimoji="1" lang="zh-TW" altLang="en-US" dirty="0"/>
              <a:t>目前假設輸入的批次筆數是</a:t>
            </a:r>
            <a:r>
              <a:rPr kumimoji="1" lang="en-US" altLang="zh-TW" dirty="0"/>
              <a:t>36</a:t>
            </a:r>
            <a:r>
              <a:rPr kumimoji="1" lang="zh-TW" altLang="en-US" dirty="0"/>
              <a:t>筆，每筆資料經過截長補短後會有</a:t>
            </a:r>
            <a:r>
              <a:rPr kumimoji="1" lang="en-US" altLang="zh-TW" dirty="0"/>
              <a:t>350</a:t>
            </a:r>
            <a:r>
              <a:rPr kumimoji="1" lang="zh-TW" altLang="en-US" dirty="0"/>
              <a:t>個字</a:t>
            </a:r>
            <a:endParaRPr kumimoji="1" lang="en-US" altLang="zh-TW" dirty="0"/>
          </a:p>
          <a:p>
            <a:endParaRPr kumimoji="1" lang="en-US" altLang="zh-TW" dirty="0"/>
          </a:p>
          <a:p>
            <a:endParaRPr kumimoji="1" lang="en-US" altLang="zh-TW" dirty="0"/>
          </a:p>
          <a:p>
            <a:endParaRPr kumimoji="1" lang="en-US" altLang="zh-TW" dirty="0"/>
          </a:p>
          <a:p>
            <a:pPr marL="0" indent="0">
              <a:buNone/>
            </a:pPr>
            <a:endParaRPr kumimoji="1" lang="en-US" altLang="zh-TW" dirty="0"/>
          </a:p>
          <a:p>
            <a:r>
              <a:rPr kumimoji="1" lang="zh-TW" altLang="en-US" dirty="0"/>
              <a:t>程式透過</a:t>
            </a:r>
            <a:r>
              <a:rPr kumimoji="1" lang="en-US" altLang="zh-TW" dirty="0"/>
              <a:t>embedding</a:t>
            </a:r>
            <a:r>
              <a:rPr kumimoji="1" lang="zh-TW" altLang="en-US" dirty="0"/>
              <a:t>層，將每個字轉成長度</a:t>
            </a:r>
            <a:r>
              <a:rPr kumimoji="1" lang="en-US" altLang="zh-TW" dirty="0"/>
              <a:t>100</a:t>
            </a:r>
            <a:r>
              <a:rPr kumimoji="1" lang="zh-TW" altLang="en-US" dirty="0"/>
              <a:t>的向量</a:t>
            </a:r>
            <a:endParaRPr kumimoji="1" lang="en-US" altLang="zh-TW" dirty="0"/>
          </a:p>
          <a:p>
            <a:r>
              <a:rPr kumimoji="1" lang="en-US" altLang="zh-TW" dirty="0"/>
              <a:t>Embedding</a:t>
            </a:r>
            <a:r>
              <a:rPr kumimoji="1" lang="zh-TW" altLang="en-US" dirty="0"/>
              <a:t>的輸出接到</a:t>
            </a:r>
            <a:r>
              <a:rPr kumimoji="1" lang="en-US" altLang="zh-TW" dirty="0"/>
              <a:t>LSTM</a:t>
            </a:r>
            <a:r>
              <a:rPr kumimoji="1" lang="zh-TW" altLang="en-US" dirty="0"/>
              <a:t>的輸入，所以需要透過</a:t>
            </a:r>
            <a:r>
              <a:rPr kumimoji="1" lang="en-US" altLang="zh-TW" dirty="0"/>
              <a:t>permute</a:t>
            </a:r>
            <a:r>
              <a:rPr kumimoji="1" lang="zh-TW" altLang="en-US" dirty="0"/>
              <a:t>轉軸</a:t>
            </a:r>
            <a:endParaRPr kumimoji="1" lang="en-US" altLang="zh-TW" dirty="0"/>
          </a:p>
          <a:p>
            <a:r>
              <a:rPr kumimoji="1" lang="zh-TW" altLang="en-US" dirty="0"/>
              <a:t>因為</a:t>
            </a:r>
            <a:r>
              <a:rPr kumimoji="1" lang="en-US" altLang="zh-TW" dirty="0"/>
              <a:t>LSTM</a:t>
            </a:r>
            <a:r>
              <a:rPr kumimoji="1" lang="zh-TW" altLang="en-US" dirty="0"/>
              <a:t>有設定成雙向，所以輸出的</a:t>
            </a:r>
            <a:r>
              <a:rPr kumimoji="1" lang="en-US" altLang="zh-TW" dirty="0"/>
              <a:t>shape</a:t>
            </a:r>
            <a:r>
              <a:rPr kumimoji="1" lang="zh-TW" altLang="en-US" dirty="0"/>
              <a:t>變成</a:t>
            </a:r>
            <a:r>
              <a:rPr kumimoji="1" lang="en-US" altLang="zh-TW" dirty="0"/>
              <a:t>100</a:t>
            </a:r>
            <a:r>
              <a:rPr kumimoji="1" lang="zh-TW" altLang="en-US" dirty="0"/>
              <a:t>*</a:t>
            </a:r>
            <a:r>
              <a:rPr kumimoji="1" lang="en-US" altLang="zh-TW" dirty="0"/>
              <a:t>2=200</a:t>
            </a:r>
          </a:p>
          <a:p>
            <a:r>
              <a:rPr kumimoji="1" lang="zh-TW" altLang="en-US" dirty="0"/>
              <a:t>最後</a:t>
            </a:r>
            <a:endParaRPr kumimoji="1" lang="en-US" altLang="zh-TW" dirty="0"/>
          </a:p>
          <a:p>
            <a:endParaRPr kumimoji="1" lang="zh-TW" altLang="en-US" dirty="0"/>
          </a:p>
        </p:txBody>
      </p:sp>
      <p:graphicFrame>
        <p:nvGraphicFramePr>
          <p:cNvPr id="6" name="表格 5">
            <a:extLst>
              <a:ext uri="{FF2B5EF4-FFF2-40B4-BE49-F238E27FC236}">
                <a16:creationId xmlns:a16="http://schemas.microsoft.com/office/drawing/2014/main" id="{B2EED375-F3B8-C0CE-32B8-6D00FEE47267}"/>
              </a:ext>
            </a:extLst>
          </p:cNvPr>
          <p:cNvGraphicFramePr>
            <a:graphicFrameLocks noGrp="1"/>
          </p:cNvGraphicFramePr>
          <p:nvPr/>
        </p:nvGraphicFramePr>
        <p:xfrm>
          <a:off x="2531533" y="2390246"/>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09140719"/>
                    </a:ext>
                  </a:extLst>
                </a:gridCol>
                <a:gridCol w="2709333">
                  <a:extLst>
                    <a:ext uri="{9D8B030D-6E8A-4147-A177-3AD203B41FA5}">
                      <a16:colId xmlns:a16="http://schemas.microsoft.com/office/drawing/2014/main" val="1032312064"/>
                    </a:ext>
                  </a:extLst>
                </a:gridCol>
                <a:gridCol w="2709333">
                  <a:extLst>
                    <a:ext uri="{9D8B030D-6E8A-4147-A177-3AD203B41FA5}">
                      <a16:colId xmlns:a16="http://schemas.microsoft.com/office/drawing/2014/main" val="3096543584"/>
                    </a:ext>
                  </a:extLst>
                </a:gridCol>
              </a:tblGrid>
              <a:tr h="370840">
                <a:tc>
                  <a:txBody>
                    <a:bodyPr/>
                    <a:lstStyle/>
                    <a:p>
                      <a:r>
                        <a:rPr lang="en-US" altLang="zh-TW" dirty="0"/>
                        <a:t>Layer</a:t>
                      </a:r>
                      <a:endParaRPr lang="zh-TW" altLang="en-US" dirty="0"/>
                    </a:p>
                  </a:txBody>
                  <a:tcPr/>
                </a:tc>
                <a:tc>
                  <a:txBody>
                    <a:bodyPr/>
                    <a:lstStyle/>
                    <a:p>
                      <a:r>
                        <a:rPr lang="en-US" altLang="zh-TW" dirty="0"/>
                        <a:t>Output</a:t>
                      </a:r>
                      <a:r>
                        <a:rPr lang="zh-TW" altLang="en-US" dirty="0"/>
                        <a:t> </a:t>
                      </a:r>
                      <a:r>
                        <a:rPr lang="en-US" altLang="zh-TW" dirty="0"/>
                        <a:t>shape</a:t>
                      </a:r>
                      <a:endParaRPr lang="zh-TW" altLang="en-US" dirty="0"/>
                    </a:p>
                  </a:txBody>
                  <a:tcPr/>
                </a:tc>
                <a:tc>
                  <a:txBody>
                    <a:bodyPr/>
                    <a:lstStyle/>
                    <a:p>
                      <a:r>
                        <a:rPr lang="zh-TW" altLang="en-US" dirty="0"/>
                        <a:t>需要訓練的參數量</a:t>
                      </a:r>
                    </a:p>
                  </a:txBody>
                  <a:tcPr/>
                </a:tc>
                <a:extLst>
                  <a:ext uri="{0D108BD9-81ED-4DB2-BD59-A6C34878D82A}">
                    <a16:rowId xmlns:a16="http://schemas.microsoft.com/office/drawing/2014/main" val="471804823"/>
                  </a:ext>
                </a:extLst>
              </a:tr>
              <a:tr h="370840">
                <a:tc>
                  <a:txBody>
                    <a:bodyPr/>
                    <a:lstStyle/>
                    <a:p>
                      <a:r>
                        <a:rPr lang="en" altLang="zh-TW" dirty="0"/>
                        <a:t>RNN</a:t>
                      </a:r>
                      <a:endParaRPr lang="zh-TW" altLang="en-US" dirty="0"/>
                    </a:p>
                  </a:txBody>
                  <a:tcPr/>
                </a:tc>
                <a:tc>
                  <a:txBody>
                    <a:bodyPr/>
                    <a:lstStyle/>
                    <a:p>
                      <a:r>
                        <a:rPr lang="en" altLang="zh-TW" dirty="0"/>
                        <a:t>[36, 2] </a:t>
                      </a:r>
                      <a:endParaRPr lang="zh-TW" altLang="en-US" dirty="0"/>
                    </a:p>
                  </a:txBody>
                  <a:tcPr/>
                </a:tc>
                <a:tc>
                  <a:txBody>
                    <a:bodyPr/>
                    <a:lstStyle/>
                    <a:p>
                      <a:endParaRPr lang="zh-TW" altLang="en-US" dirty="0"/>
                    </a:p>
                  </a:txBody>
                  <a:tcPr/>
                </a:tc>
                <a:extLst>
                  <a:ext uri="{0D108BD9-81ED-4DB2-BD59-A6C34878D82A}">
                    <a16:rowId xmlns:a16="http://schemas.microsoft.com/office/drawing/2014/main" val="2412087087"/>
                  </a:ext>
                </a:extLst>
              </a:tr>
              <a:tr h="370840">
                <a:tc>
                  <a:txBody>
                    <a:bodyPr/>
                    <a:lstStyle/>
                    <a:p>
                      <a:pPr lvl="1"/>
                      <a:r>
                        <a:rPr lang="en" altLang="zh-TW" dirty="0"/>
                        <a:t>─Embedding</a:t>
                      </a:r>
                      <a:endParaRPr lang="zh-TW" altLang="en-US" dirty="0"/>
                    </a:p>
                  </a:txBody>
                  <a:tcPr/>
                </a:tc>
                <a:tc>
                  <a:txBody>
                    <a:bodyPr/>
                    <a:lstStyle/>
                    <a:p>
                      <a:r>
                        <a:rPr lang="en" altLang="zh-TW" dirty="0"/>
                        <a:t>[36, 350, 100] </a:t>
                      </a:r>
                      <a:endParaRPr lang="zh-TW" altLang="en-US" dirty="0"/>
                    </a:p>
                  </a:txBody>
                  <a:tcPr/>
                </a:tc>
                <a:tc>
                  <a:txBody>
                    <a:bodyPr/>
                    <a:lstStyle/>
                    <a:p>
                      <a:r>
                        <a:rPr lang="en-US" altLang="zh-TW" dirty="0"/>
                        <a:t>7,422,100</a:t>
                      </a:r>
                      <a:endParaRPr lang="zh-TW" altLang="en-US" dirty="0"/>
                    </a:p>
                  </a:txBody>
                  <a:tcPr/>
                </a:tc>
                <a:extLst>
                  <a:ext uri="{0D108BD9-81ED-4DB2-BD59-A6C34878D82A}">
                    <a16:rowId xmlns:a16="http://schemas.microsoft.com/office/drawing/2014/main" val="4108769140"/>
                  </a:ext>
                </a:extLst>
              </a:tr>
              <a:tr h="370840">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 altLang="zh-TW" dirty="0"/>
                        <a:t>─</a:t>
                      </a:r>
                      <a:r>
                        <a:rPr lang="en-US" altLang="zh-TW" dirty="0"/>
                        <a:t>LSTM</a:t>
                      </a:r>
                      <a:endParaRPr lang="zh-TW" altLang="en-US" dirty="0"/>
                    </a:p>
                  </a:txBody>
                  <a:tcPr/>
                </a:tc>
                <a:tc>
                  <a:txBody>
                    <a:bodyPr/>
                    <a:lstStyle/>
                    <a:p>
                      <a:r>
                        <a:rPr lang="en-US" altLang="zh-TW" dirty="0"/>
                        <a:t>[350, 36, 200] </a:t>
                      </a:r>
                      <a:endParaRPr lang="zh-TW" altLang="en-US" dirty="0"/>
                    </a:p>
                  </a:txBody>
                  <a:tcPr/>
                </a:tc>
                <a:tc>
                  <a:txBody>
                    <a:bodyPr/>
                    <a:lstStyle/>
                    <a:p>
                      <a:r>
                        <a:rPr lang="en-US" altLang="zh-TW" dirty="0"/>
                        <a:t>403,200</a:t>
                      </a:r>
                      <a:endParaRPr lang="zh-TW" altLang="en-US" dirty="0"/>
                    </a:p>
                  </a:txBody>
                  <a:tcPr/>
                </a:tc>
                <a:extLst>
                  <a:ext uri="{0D108BD9-81ED-4DB2-BD59-A6C34878D82A}">
                    <a16:rowId xmlns:a16="http://schemas.microsoft.com/office/drawing/2014/main" val="2665009733"/>
                  </a:ext>
                </a:extLst>
              </a:tr>
              <a:tr h="370840">
                <a:tc>
                  <a:txBody>
                    <a:bodyPr/>
                    <a:lstStyle/>
                    <a:p>
                      <a:pPr lvl="1"/>
                      <a:r>
                        <a:rPr lang="en-US" altLang="zh-TW" dirty="0"/>
                        <a:t>-</a:t>
                      </a:r>
                      <a:r>
                        <a:rPr lang="en" altLang="zh-TW" dirty="0"/>
                        <a:t>Linear</a:t>
                      </a:r>
                      <a:endParaRPr lang="zh-TW" altLang="en-US" dirty="0"/>
                    </a:p>
                  </a:txBody>
                  <a:tcPr/>
                </a:tc>
                <a:tc>
                  <a:txBody>
                    <a:bodyPr/>
                    <a:lstStyle/>
                    <a:p>
                      <a:r>
                        <a:rPr lang="en-US" altLang="zh-TW" dirty="0"/>
                        <a:t>[36, 2] </a:t>
                      </a:r>
                      <a:endParaRPr lang="zh-TW" altLang="en-US" dirty="0"/>
                    </a:p>
                  </a:txBody>
                  <a:tcPr/>
                </a:tc>
                <a:tc>
                  <a:txBody>
                    <a:bodyPr/>
                    <a:lstStyle/>
                    <a:p>
                      <a:r>
                        <a:rPr lang="en-US" altLang="zh-TW" dirty="0"/>
                        <a:t>802</a:t>
                      </a:r>
                      <a:endParaRPr lang="zh-TW" altLang="en-US" dirty="0"/>
                    </a:p>
                  </a:txBody>
                  <a:tcPr/>
                </a:tc>
                <a:extLst>
                  <a:ext uri="{0D108BD9-81ED-4DB2-BD59-A6C34878D82A}">
                    <a16:rowId xmlns:a16="http://schemas.microsoft.com/office/drawing/2014/main" val="3317906013"/>
                  </a:ext>
                </a:extLst>
              </a:tr>
            </a:tbl>
          </a:graphicData>
        </a:graphic>
      </p:graphicFrame>
    </p:spTree>
    <p:extLst>
      <p:ext uri="{BB962C8B-B14F-4D97-AF65-F5344CB8AC3E}">
        <p14:creationId xmlns:p14="http://schemas.microsoft.com/office/powerpoint/2010/main" val="389736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0BD78D-D74B-8D92-C5FD-593537A9B75C}"/>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a:t>
            </a:r>
            <a:r>
              <a:rPr kumimoji="1" lang="en-US" altLang="zh-TW" dirty="0"/>
              <a:t>Char-based</a:t>
            </a:r>
            <a:r>
              <a:rPr kumimoji="1" lang="zh-TW" altLang="en-US" dirty="0"/>
              <a:t> </a:t>
            </a:r>
            <a:r>
              <a:rPr kumimoji="1" lang="en-US" altLang="zh-TW" dirty="0"/>
              <a:t>generator</a:t>
            </a:r>
            <a:endParaRPr kumimoji="1" lang="zh-TW" altLang="en-US" dirty="0"/>
          </a:p>
        </p:txBody>
      </p:sp>
      <p:sp>
        <p:nvSpPr>
          <p:cNvPr id="3" name="內容版面配置區 2">
            <a:extLst>
              <a:ext uri="{FF2B5EF4-FFF2-40B4-BE49-F238E27FC236}">
                <a16:creationId xmlns:a16="http://schemas.microsoft.com/office/drawing/2014/main" id="{AEAE90F6-CA3E-FF8A-C79B-B5DE9D8569FA}"/>
              </a:ext>
            </a:extLst>
          </p:cNvPr>
          <p:cNvSpPr>
            <a:spLocks noGrp="1"/>
          </p:cNvSpPr>
          <p:nvPr>
            <p:ph idx="1"/>
          </p:nvPr>
        </p:nvSpPr>
        <p:spPr/>
        <p:txBody>
          <a:bodyPr/>
          <a:lstStyle/>
          <a:p>
            <a:r>
              <a:rPr kumimoji="1" lang="zh-TW" altLang="en-US" dirty="0"/>
              <a:t>字元產生器</a:t>
            </a:r>
            <a:endParaRPr kumimoji="1" lang="en-US" altLang="zh-TW" dirty="0"/>
          </a:p>
          <a:p>
            <a:r>
              <a:rPr kumimoji="1" lang="zh-TW" altLang="en-US" dirty="0"/>
              <a:t>讀取一篇文章：愛麗絲夢遊仙境</a:t>
            </a:r>
            <a:endParaRPr kumimoji="1" lang="en-US" altLang="zh-TW" dirty="0"/>
          </a:p>
          <a:p>
            <a:r>
              <a:rPr kumimoji="1" lang="en" altLang="zh-TW" dirty="0">
                <a:hlinkClick r:id="rId2"/>
              </a:rPr>
              <a:t>https://www.gutenberg.org/ebooks/11</a:t>
            </a:r>
            <a:endParaRPr kumimoji="1" lang="en-US" altLang="zh-TW" dirty="0"/>
          </a:p>
          <a:p>
            <a:pPr lvl="1"/>
            <a:r>
              <a:rPr kumimoji="1" lang="zh-TW" altLang="en-US" dirty="0"/>
              <a:t>下載</a:t>
            </a:r>
            <a:r>
              <a:rPr kumimoji="1" lang="en-US" altLang="zh-TW" dirty="0"/>
              <a:t>Plain</a:t>
            </a:r>
            <a:r>
              <a:rPr kumimoji="1" lang="zh-TW" altLang="en-US" dirty="0"/>
              <a:t> </a:t>
            </a:r>
            <a:r>
              <a:rPr kumimoji="1" lang="en-US" altLang="zh-TW" dirty="0"/>
              <a:t>Text</a:t>
            </a:r>
            <a:r>
              <a:rPr kumimoji="1" lang="zh-TW" altLang="en-US" dirty="0"/>
              <a:t>：</a:t>
            </a:r>
            <a:r>
              <a:rPr kumimoji="1" lang="en" altLang="zh-TW" dirty="0">
                <a:hlinkClick r:id="rId3"/>
              </a:rPr>
              <a:t>https://www.gutenberg.org/ebooks/11.txt.utf-8</a:t>
            </a:r>
            <a:endParaRPr kumimoji="1" lang="en-US" altLang="zh-TW" dirty="0"/>
          </a:p>
          <a:p>
            <a:r>
              <a:rPr kumimoji="1" lang="zh-TW" altLang="en-US" dirty="0"/>
              <a:t>這邊使用</a:t>
            </a:r>
            <a:r>
              <a:rPr kumimoji="1" lang="en-US" altLang="zh-TW" dirty="0"/>
              <a:t>LSTM</a:t>
            </a:r>
            <a:r>
              <a:rPr kumimoji="1" lang="zh-TW" altLang="en-US" dirty="0"/>
              <a:t>來做文字接龍</a:t>
            </a:r>
            <a:endParaRPr kumimoji="1" lang="en-US" altLang="zh-TW" dirty="0"/>
          </a:p>
          <a:p>
            <a:pPr lvl="1"/>
            <a:r>
              <a:rPr kumimoji="1" lang="en" altLang="zh-TW" dirty="0">
                <a:hlinkClick r:id="rId4"/>
              </a:rPr>
              <a:t>https://colab.research.google.com/drive/1IPILalnIXPFUH_JvRuPSqHF0O3vRC3RV?usp=sharing</a:t>
            </a:r>
            <a:endParaRPr kumimoji="1" lang="en" altLang="zh-TW" dirty="0"/>
          </a:p>
          <a:p>
            <a:pPr lvl="1"/>
            <a:r>
              <a:rPr kumimoji="1" lang="zh-TW" altLang="en" dirty="0"/>
              <a:t>這</a:t>
            </a:r>
            <a:r>
              <a:rPr kumimoji="1" lang="zh-TW" altLang="en-US" dirty="0"/>
              <a:t>程式用</a:t>
            </a:r>
            <a:r>
              <a:rPr kumimoji="1" lang="en-US" altLang="zh-TW" dirty="0"/>
              <a:t>CPU</a:t>
            </a:r>
            <a:r>
              <a:rPr kumimoji="1" lang="zh-TW" altLang="en-US" dirty="0"/>
              <a:t>要跑很久，建議使用</a:t>
            </a:r>
            <a:r>
              <a:rPr kumimoji="1" lang="en-US" altLang="zh-TW" dirty="0"/>
              <a:t>GPU</a:t>
            </a:r>
            <a:endParaRPr kumimoji="1" lang="zh-TW" altLang="en-US" dirty="0"/>
          </a:p>
        </p:txBody>
      </p:sp>
    </p:spTree>
    <p:extLst>
      <p:ext uri="{BB962C8B-B14F-4D97-AF65-F5344CB8AC3E}">
        <p14:creationId xmlns:p14="http://schemas.microsoft.com/office/powerpoint/2010/main" val="27263678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2BE949-39A7-B1D8-68BF-E23255857D9B}"/>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a:t>
            </a:r>
            <a:r>
              <a:rPr kumimoji="1" lang="en-US" altLang="zh-TW" dirty="0"/>
              <a:t>Char-based</a:t>
            </a:r>
            <a:r>
              <a:rPr kumimoji="1" lang="zh-TW" altLang="en-US" dirty="0"/>
              <a:t> </a:t>
            </a:r>
            <a:r>
              <a:rPr kumimoji="1" lang="en-US" altLang="zh-TW" dirty="0"/>
              <a:t>generator</a:t>
            </a:r>
            <a:endParaRPr kumimoji="1" lang="zh-TW" altLang="en-US" dirty="0"/>
          </a:p>
        </p:txBody>
      </p:sp>
      <p:sp>
        <p:nvSpPr>
          <p:cNvPr id="3" name="內容版面配置區 2">
            <a:extLst>
              <a:ext uri="{FF2B5EF4-FFF2-40B4-BE49-F238E27FC236}">
                <a16:creationId xmlns:a16="http://schemas.microsoft.com/office/drawing/2014/main" id="{CE41F999-A83A-8FD9-DE68-E67186386B31}"/>
              </a:ext>
            </a:extLst>
          </p:cNvPr>
          <p:cNvSpPr>
            <a:spLocks noGrp="1"/>
          </p:cNvSpPr>
          <p:nvPr>
            <p:ph idx="1"/>
          </p:nvPr>
        </p:nvSpPr>
        <p:spPr/>
        <p:txBody>
          <a:bodyPr/>
          <a:lstStyle/>
          <a:p>
            <a:r>
              <a:rPr kumimoji="1" lang="zh-TW" altLang="en-US" dirty="0"/>
              <a:t>將每個「字元」轉成數字，並做成對應表</a:t>
            </a:r>
            <a:endParaRPr kumimoji="1" lang="en-US" altLang="zh-TW" dirty="0"/>
          </a:p>
          <a:p>
            <a:pPr lvl="1"/>
            <a:r>
              <a:rPr kumimoji="1" lang="zh-TW" altLang="en-US" dirty="0"/>
              <a:t>轉成數字方便輸入到</a:t>
            </a:r>
            <a:r>
              <a:rPr kumimoji="1" lang="en-US" altLang="zh-TW" dirty="0"/>
              <a:t>LSTM</a:t>
            </a:r>
          </a:p>
          <a:p>
            <a:pPr lvl="1"/>
            <a:r>
              <a:rPr kumimoji="1" lang="zh-TW" altLang="en-US" dirty="0"/>
              <a:t>有對應表在生成</a:t>
            </a:r>
            <a:r>
              <a:rPr kumimoji="1" lang="en-US" altLang="zh-TW" dirty="0"/>
              <a:t>(</a:t>
            </a:r>
            <a:r>
              <a:rPr kumimoji="1" lang="zh-TW" altLang="en-US" dirty="0"/>
              <a:t>預測</a:t>
            </a:r>
            <a:r>
              <a:rPr kumimoji="1" lang="en-US" altLang="zh-TW" dirty="0"/>
              <a:t>)</a:t>
            </a:r>
            <a:r>
              <a:rPr kumimoji="1" lang="zh-TW" altLang="en-US" dirty="0"/>
              <a:t>數字後</a:t>
            </a:r>
            <a:br>
              <a:rPr kumimoji="1" lang="en-US" altLang="zh-TW" dirty="0"/>
            </a:br>
            <a:r>
              <a:rPr kumimoji="1" lang="zh-TW" altLang="en-US" dirty="0"/>
              <a:t>就可以轉回成字元</a:t>
            </a:r>
            <a:endParaRPr kumimoji="1" lang="en-US" altLang="zh-TW" dirty="0"/>
          </a:p>
          <a:p>
            <a:pPr lvl="1"/>
            <a:endParaRPr kumimoji="1" lang="en-US" altLang="zh-TW" dirty="0"/>
          </a:p>
          <a:p>
            <a:pPr lvl="1"/>
            <a:endParaRPr kumimoji="1" lang="en-US" altLang="zh-TW" dirty="0"/>
          </a:p>
          <a:p>
            <a:pPr lvl="1"/>
            <a:r>
              <a:rPr kumimoji="1" lang="zh-TW" altLang="en-US" dirty="0"/>
              <a:t>假設用</a:t>
            </a:r>
            <a:r>
              <a:rPr kumimoji="1" lang="en-US" altLang="zh-TW" dirty="0"/>
              <a:t>100</a:t>
            </a:r>
            <a:r>
              <a:rPr kumimoji="1" lang="zh-TW" altLang="en-US" dirty="0"/>
              <a:t>個字元去預測「下一個字元」會是什麼</a:t>
            </a:r>
          </a:p>
        </p:txBody>
      </p:sp>
      <p:sp>
        <p:nvSpPr>
          <p:cNvPr id="5" name="文字方塊 4">
            <a:extLst>
              <a:ext uri="{FF2B5EF4-FFF2-40B4-BE49-F238E27FC236}">
                <a16:creationId xmlns:a16="http://schemas.microsoft.com/office/drawing/2014/main" id="{64A35E3B-B5ED-C438-2A1B-58AC5BDF5A5C}"/>
              </a:ext>
            </a:extLst>
          </p:cNvPr>
          <p:cNvSpPr txBox="1"/>
          <p:nvPr/>
        </p:nvSpPr>
        <p:spPr>
          <a:xfrm>
            <a:off x="5520267" y="2290789"/>
            <a:ext cx="6493934" cy="1600438"/>
          </a:xfrm>
          <a:prstGeom prst="rect">
            <a:avLst/>
          </a:prstGeom>
          <a:noFill/>
          <a:ln>
            <a:solidFill>
              <a:schemeClr val="tx1"/>
            </a:solidFill>
          </a:ln>
        </p:spPr>
        <p:txBody>
          <a:bodyPr wrap="square">
            <a:spAutoFit/>
          </a:bodyPr>
          <a:lstStyle/>
          <a:p>
            <a:r>
              <a:rPr lang="en" altLang="zh-TW" sz="1400" b="0" dirty="0">
                <a:solidFill>
                  <a:srgbClr val="008000"/>
                </a:solidFill>
                <a:effectLst/>
                <a:highlight>
                  <a:srgbClr val="F7F7F7"/>
                </a:highlight>
                <a:latin typeface="Courier New" panose="02070309020205020404" pitchFamily="49" charset="0"/>
              </a:rPr>
              <a:t># create mapping of unique chars to integers</a:t>
            </a:r>
            <a:endParaRPr lang="en" altLang="zh-TW" sz="1400" b="0" dirty="0">
              <a:solidFill>
                <a:srgbClr val="000000"/>
              </a:solidFill>
              <a:effectLst/>
              <a:highlight>
                <a:srgbClr val="F7F7F7"/>
              </a:highlight>
              <a:latin typeface="Courier New" panose="02070309020205020404" pitchFamily="49" charset="0"/>
            </a:endParaRPr>
          </a:p>
          <a:p>
            <a:r>
              <a:rPr lang="en" altLang="zh-TW" sz="1400" b="0" dirty="0">
                <a:solidFill>
                  <a:srgbClr val="000000"/>
                </a:solidFill>
                <a:effectLst/>
                <a:highlight>
                  <a:srgbClr val="F7F7F7"/>
                </a:highlight>
                <a:latin typeface="Courier New" panose="02070309020205020404" pitchFamily="49" charset="0"/>
              </a:rPr>
              <a:t>chars = </a:t>
            </a:r>
            <a:r>
              <a:rPr lang="en" altLang="zh-TW" sz="1400" b="0" dirty="0">
                <a:solidFill>
                  <a:srgbClr val="795E26"/>
                </a:solidFill>
                <a:effectLst/>
                <a:highlight>
                  <a:srgbClr val="F7F7F7"/>
                </a:highlight>
                <a:latin typeface="Courier New" panose="02070309020205020404" pitchFamily="49" charset="0"/>
              </a:rPr>
              <a:t>sorted</a:t>
            </a:r>
            <a:r>
              <a:rPr lang="en" altLang="zh-TW" sz="1400" b="0" dirty="0">
                <a:solidFill>
                  <a:srgbClr val="000000"/>
                </a:solidFill>
                <a:effectLst/>
                <a:highlight>
                  <a:srgbClr val="F7F7F7"/>
                </a:highlight>
                <a:latin typeface="Courier New" panose="02070309020205020404" pitchFamily="49" charset="0"/>
              </a:rPr>
              <a:t>(</a:t>
            </a:r>
            <a:r>
              <a:rPr lang="en" altLang="zh-TW" sz="1400" b="0" dirty="0">
                <a:solidFill>
                  <a:srgbClr val="257693"/>
                </a:solidFill>
                <a:effectLst/>
                <a:highlight>
                  <a:srgbClr val="F7F7F7"/>
                </a:highlight>
                <a:latin typeface="Courier New" panose="02070309020205020404" pitchFamily="49" charset="0"/>
              </a:rPr>
              <a:t>list</a:t>
            </a:r>
            <a:r>
              <a:rPr lang="en" altLang="zh-TW" sz="1400" b="0" dirty="0">
                <a:solidFill>
                  <a:srgbClr val="000000"/>
                </a:solidFill>
                <a:effectLst/>
                <a:highlight>
                  <a:srgbClr val="F7F7F7"/>
                </a:highlight>
                <a:latin typeface="Courier New" panose="02070309020205020404" pitchFamily="49" charset="0"/>
              </a:rPr>
              <a:t>(</a:t>
            </a:r>
            <a:r>
              <a:rPr lang="en" altLang="zh-TW" sz="1400" b="0" dirty="0">
                <a:solidFill>
                  <a:srgbClr val="257693"/>
                </a:solidFill>
                <a:effectLst/>
                <a:highlight>
                  <a:srgbClr val="F7F7F7"/>
                </a:highlight>
                <a:latin typeface="Courier New" panose="02070309020205020404" pitchFamily="49" charset="0"/>
              </a:rPr>
              <a:t>set</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raw_text</a:t>
            </a:r>
            <a:r>
              <a:rPr lang="en" altLang="zh-TW" sz="1400" b="0" dirty="0">
                <a:solidFill>
                  <a:srgbClr val="000000"/>
                </a:solidFill>
                <a:effectLst/>
                <a:highlight>
                  <a:srgbClr val="F7F7F7"/>
                </a:highlight>
                <a:latin typeface="Courier New" panose="02070309020205020404" pitchFamily="49" charset="0"/>
              </a:rPr>
              <a:t>)))</a:t>
            </a:r>
          </a:p>
          <a:p>
            <a:r>
              <a:rPr lang="en" altLang="zh-TW" sz="1400" b="0" dirty="0" err="1">
                <a:solidFill>
                  <a:srgbClr val="000000"/>
                </a:solidFill>
                <a:effectLst/>
                <a:highlight>
                  <a:srgbClr val="F7F7F7"/>
                </a:highlight>
                <a:latin typeface="Courier New" panose="02070309020205020404" pitchFamily="49" charset="0"/>
              </a:rPr>
              <a:t>char_to_int</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257693"/>
                </a:solidFill>
                <a:effectLst/>
                <a:highlight>
                  <a:srgbClr val="F7F7F7"/>
                </a:highlight>
                <a:latin typeface="Courier New" panose="02070309020205020404" pitchFamily="49" charset="0"/>
              </a:rPr>
              <a:t>dict</a:t>
            </a:r>
            <a:r>
              <a:rPr lang="en" altLang="zh-TW" sz="1400" b="0" dirty="0">
                <a:solidFill>
                  <a:srgbClr val="000000"/>
                </a:solidFill>
                <a:effectLst/>
                <a:highlight>
                  <a:srgbClr val="F7F7F7"/>
                </a:highlight>
                <a:latin typeface="Courier New" panose="02070309020205020404" pitchFamily="49" charset="0"/>
              </a:rPr>
              <a:t>((c, </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AF00DB"/>
                </a:solidFill>
                <a:effectLst/>
                <a:highlight>
                  <a:srgbClr val="F7F7F7"/>
                </a:highlight>
                <a:latin typeface="Courier New" panose="02070309020205020404" pitchFamily="49" charset="0"/>
              </a:rPr>
              <a:t>for</a:t>
            </a:r>
            <a:r>
              <a:rPr lang="en" altLang="zh-TW" sz="1400" b="0" dirty="0">
                <a:solidFill>
                  <a:srgbClr val="000000"/>
                </a:solidFill>
                <a:effectLst/>
                <a:highlight>
                  <a:srgbClr val="F7F7F7"/>
                </a:highlight>
                <a:latin typeface="Courier New" panose="02070309020205020404" pitchFamily="49" charset="0"/>
              </a:rPr>
              <a:t> </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c </a:t>
            </a:r>
            <a:r>
              <a:rPr lang="en" altLang="zh-TW" sz="1400" b="0" dirty="0">
                <a:solidFill>
                  <a:srgbClr val="0000FF"/>
                </a:solidFill>
                <a:effectLst/>
                <a:highlight>
                  <a:srgbClr val="F7F7F7"/>
                </a:highlight>
                <a:latin typeface="Courier New" panose="02070309020205020404" pitchFamily="49" charset="0"/>
              </a:rPr>
              <a:t>in</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795E26"/>
                </a:solidFill>
                <a:effectLst/>
                <a:highlight>
                  <a:srgbClr val="F7F7F7"/>
                </a:highlight>
                <a:latin typeface="Courier New" panose="02070309020205020404" pitchFamily="49" charset="0"/>
              </a:rPr>
              <a:t>enumerate</a:t>
            </a:r>
            <a:r>
              <a:rPr lang="en" altLang="zh-TW" sz="1400" b="0" dirty="0">
                <a:solidFill>
                  <a:srgbClr val="000000"/>
                </a:solidFill>
                <a:effectLst/>
                <a:highlight>
                  <a:srgbClr val="F7F7F7"/>
                </a:highlight>
                <a:latin typeface="Courier New" panose="02070309020205020404" pitchFamily="49" charset="0"/>
              </a:rPr>
              <a:t>(chars))</a:t>
            </a:r>
          </a:p>
          <a:p>
            <a:r>
              <a:rPr lang="en" altLang="zh-TW" sz="1400" b="0" dirty="0" err="1">
                <a:solidFill>
                  <a:srgbClr val="000000"/>
                </a:solidFill>
                <a:effectLst/>
                <a:highlight>
                  <a:srgbClr val="F7F7F7"/>
                </a:highlight>
                <a:latin typeface="Courier New" panose="02070309020205020404" pitchFamily="49" charset="0"/>
              </a:rPr>
              <a:t>int_to_char</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257693"/>
                </a:solidFill>
                <a:effectLst/>
                <a:highlight>
                  <a:srgbClr val="F7F7F7"/>
                </a:highlight>
                <a:latin typeface="Courier New" panose="02070309020205020404" pitchFamily="49" charset="0"/>
              </a:rPr>
              <a:t>dict</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c) </a:t>
            </a:r>
            <a:r>
              <a:rPr lang="en" altLang="zh-TW" sz="1400" b="0" dirty="0">
                <a:solidFill>
                  <a:srgbClr val="AF00DB"/>
                </a:solidFill>
                <a:effectLst/>
                <a:highlight>
                  <a:srgbClr val="F7F7F7"/>
                </a:highlight>
                <a:latin typeface="Courier New" panose="02070309020205020404" pitchFamily="49" charset="0"/>
              </a:rPr>
              <a:t>for</a:t>
            </a:r>
            <a:r>
              <a:rPr lang="en" altLang="zh-TW" sz="1400" b="0" dirty="0">
                <a:solidFill>
                  <a:srgbClr val="000000"/>
                </a:solidFill>
                <a:effectLst/>
                <a:highlight>
                  <a:srgbClr val="F7F7F7"/>
                </a:highlight>
                <a:latin typeface="Courier New" panose="02070309020205020404" pitchFamily="49" charset="0"/>
              </a:rPr>
              <a:t> c, </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0000FF"/>
                </a:solidFill>
                <a:effectLst/>
                <a:highlight>
                  <a:srgbClr val="F7F7F7"/>
                </a:highlight>
                <a:latin typeface="Courier New" panose="02070309020205020404" pitchFamily="49" charset="0"/>
              </a:rPr>
              <a:t>in</a:t>
            </a:r>
            <a:r>
              <a:rPr lang="en" altLang="zh-TW" sz="1400" b="0" dirty="0">
                <a:solidFill>
                  <a:srgbClr val="000000"/>
                </a:solidFill>
                <a:effectLst/>
                <a:highlight>
                  <a:srgbClr val="F7F7F7"/>
                </a:highlight>
                <a:latin typeface="Courier New" panose="02070309020205020404" pitchFamily="49" charset="0"/>
              </a:rPr>
              <a:t> </a:t>
            </a:r>
            <a:r>
              <a:rPr lang="en" altLang="zh-TW" sz="1400" b="0" dirty="0" err="1">
                <a:solidFill>
                  <a:srgbClr val="000000"/>
                </a:solidFill>
                <a:effectLst/>
                <a:highlight>
                  <a:srgbClr val="F7F7F7"/>
                </a:highlight>
                <a:latin typeface="Courier New" panose="02070309020205020404" pitchFamily="49" charset="0"/>
              </a:rPr>
              <a:t>char_to_int.items</a:t>
            </a:r>
            <a:r>
              <a:rPr lang="en" altLang="zh-TW" sz="1400" b="0" dirty="0">
                <a:solidFill>
                  <a:srgbClr val="000000"/>
                </a:solidFill>
                <a:effectLst/>
                <a:highlight>
                  <a:srgbClr val="F7F7F7"/>
                </a:highlight>
                <a:latin typeface="Courier New" panose="02070309020205020404" pitchFamily="49" charset="0"/>
              </a:rPr>
              <a:t>())</a:t>
            </a:r>
          </a:p>
          <a:p>
            <a:r>
              <a:rPr lang="en" altLang="zh-TW" sz="1400" b="0" dirty="0">
                <a:solidFill>
                  <a:srgbClr val="008000"/>
                </a:solidFill>
                <a:effectLst/>
                <a:highlight>
                  <a:srgbClr val="F7F7F7"/>
                </a:highlight>
                <a:latin typeface="Courier New" panose="02070309020205020404" pitchFamily="49" charset="0"/>
              </a:rPr>
              <a:t># summarize the loaded data</a:t>
            </a:r>
            <a:endParaRPr lang="en" altLang="zh-TW" sz="1400" b="0" dirty="0">
              <a:solidFill>
                <a:srgbClr val="000000"/>
              </a:solidFill>
              <a:effectLst/>
              <a:highlight>
                <a:srgbClr val="F7F7F7"/>
              </a:highlight>
              <a:latin typeface="Courier New" panose="02070309020205020404" pitchFamily="49" charset="0"/>
            </a:endParaRPr>
          </a:p>
          <a:p>
            <a:r>
              <a:rPr lang="en" altLang="zh-TW" sz="1400" b="0" dirty="0" err="1">
                <a:solidFill>
                  <a:srgbClr val="000000"/>
                </a:solidFill>
                <a:effectLst/>
                <a:highlight>
                  <a:srgbClr val="F7F7F7"/>
                </a:highlight>
                <a:latin typeface="Courier New" panose="02070309020205020404" pitchFamily="49" charset="0"/>
              </a:rPr>
              <a:t>n_chars</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795E26"/>
                </a:solidFill>
                <a:effectLst/>
                <a:highlight>
                  <a:srgbClr val="F7F7F7"/>
                </a:highlight>
                <a:latin typeface="Courier New" panose="02070309020205020404" pitchFamily="49" charset="0"/>
              </a:rPr>
              <a:t>len</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raw_text</a:t>
            </a:r>
            <a:r>
              <a:rPr lang="en" altLang="zh-TW" sz="1400" b="0" dirty="0">
                <a:solidFill>
                  <a:srgbClr val="000000"/>
                </a:solidFill>
                <a:effectLst/>
                <a:highlight>
                  <a:srgbClr val="F7F7F7"/>
                </a:highlight>
                <a:latin typeface="Courier New" panose="02070309020205020404" pitchFamily="49" charset="0"/>
              </a:rPr>
              <a:t>)</a:t>
            </a:r>
          </a:p>
          <a:p>
            <a:r>
              <a:rPr lang="en" altLang="zh-TW" sz="1400" b="0" dirty="0" err="1">
                <a:solidFill>
                  <a:srgbClr val="000000"/>
                </a:solidFill>
                <a:effectLst/>
                <a:highlight>
                  <a:srgbClr val="F7F7F7"/>
                </a:highlight>
                <a:latin typeface="Courier New" panose="02070309020205020404" pitchFamily="49" charset="0"/>
              </a:rPr>
              <a:t>n_vocab</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795E26"/>
                </a:solidFill>
                <a:effectLst/>
                <a:highlight>
                  <a:srgbClr val="F7F7F7"/>
                </a:highlight>
                <a:latin typeface="Courier New" panose="02070309020205020404" pitchFamily="49" charset="0"/>
              </a:rPr>
              <a:t>len</a:t>
            </a:r>
            <a:r>
              <a:rPr lang="en" altLang="zh-TW" sz="1400" b="0" dirty="0">
                <a:solidFill>
                  <a:srgbClr val="000000"/>
                </a:solidFill>
                <a:effectLst/>
                <a:highlight>
                  <a:srgbClr val="F7F7F7"/>
                </a:highlight>
                <a:latin typeface="Courier New" panose="02070309020205020404" pitchFamily="49" charset="0"/>
              </a:rPr>
              <a:t>(chars)</a:t>
            </a:r>
          </a:p>
        </p:txBody>
      </p:sp>
      <p:sp>
        <p:nvSpPr>
          <p:cNvPr id="7" name="文字方塊 6">
            <a:extLst>
              <a:ext uri="{FF2B5EF4-FFF2-40B4-BE49-F238E27FC236}">
                <a16:creationId xmlns:a16="http://schemas.microsoft.com/office/drawing/2014/main" id="{9FC7C3C9-91B5-832F-AE34-018F484E278C}"/>
              </a:ext>
            </a:extLst>
          </p:cNvPr>
          <p:cNvSpPr txBox="1"/>
          <p:nvPr/>
        </p:nvSpPr>
        <p:spPr>
          <a:xfrm>
            <a:off x="2095500" y="4610802"/>
            <a:ext cx="8000999" cy="2031325"/>
          </a:xfrm>
          <a:prstGeom prst="rect">
            <a:avLst/>
          </a:prstGeom>
          <a:noFill/>
          <a:ln>
            <a:solidFill>
              <a:schemeClr val="tx1"/>
            </a:solidFill>
          </a:ln>
        </p:spPr>
        <p:txBody>
          <a:bodyPr wrap="square">
            <a:spAutoFit/>
          </a:bodyPr>
          <a:lstStyle/>
          <a:p>
            <a:r>
              <a:rPr lang="en" altLang="zh-TW" sz="1400" b="0" dirty="0" err="1">
                <a:solidFill>
                  <a:srgbClr val="000000"/>
                </a:solidFill>
                <a:effectLst/>
                <a:highlight>
                  <a:srgbClr val="F7F7F7"/>
                </a:highlight>
                <a:latin typeface="Courier New" panose="02070309020205020404" pitchFamily="49" charset="0"/>
              </a:rPr>
              <a:t>seq_length</a:t>
            </a:r>
            <a:r>
              <a:rPr lang="en" altLang="zh-TW" sz="1400" b="0" dirty="0">
                <a:solidFill>
                  <a:srgbClr val="000000"/>
                </a:solidFill>
                <a:effectLst/>
                <a:highlight>
                  <a:srgbClr val="F7F7F7"/>
                </a:highlight>
                <a:latin typeface="Courier New" panose="02070309020205020404" pitchFamily="49" charset="0"/>
              </a:rPr>
              <a:t> = </a:t>
            </a:r>
            <a:r>
              <a:rPr lang="en" altLang="zh-TW" sz="1400" b="0" dirty="0">
                <a:solidFill>
                  <a:srgbClr val="116644"/>
                </a:solidFill>
                <a:effectLst/>
                <a:highlight>
                  <a:srgbClr val="F7F7F7"/>
                </a:highlight>
                <a:latin typeface="Courier New" panose="02070309020205020404" pitchFamily="49" charset="0"/>
              </a:rPr>
              <a:t>100</a:t>
            </a:r>
            <a:endParaRPr lang="en" altLang="zh-TW" sz="1400" b="0" dirty="0">
              <a:solidFill>
                <a:srgbClr val="000000"/>
              </a:solidFill>
              <a:effectLst/>
              <a:highlight>
                <a:srgbClr val="F7F7F7"/>
              </a:highlight>
              <a:latin typeface="Courier New" panose="02070309020205020404" pitchFamily="49" charset="0"/>
            </a:endParaRPr>
          </a:p>
          <a:p>
            <a:r>
              <a:rPr lang="en" altLang="zh-TW" sz="1400" b="0" dirty="0" err="1">
                <a:solidFill>
                  <a:srgbClr val="000000"/>
                </a:solidFill>
                <a:effectLst/>
                <a:highlight>
                  <a:srgbClr val="F7F7F7"/>
                </a:highlight>
                <a:latin typeface="Courier New" panose="02070309020205020404" pitchFamily="49" charset="0"/>
              </a:rPr>
              <a:t>dataX</a:t>
            </a:r>
            <a:r>
              <a:rPr lang="en" altLang="zh-TW" sz="1400" b="0" dirty="0">
                <a:solidFill>
                  <a:srgbClr val="000000"/>
                </a:solidFill>
                <a:effectLst/>
                <a:highlight>
                  <a:srgbClr val="F7F7F7"/>
                </a:highlight>
                <a:latin typeface="Courier New" panose="02070309020205020404" pitchFamily="49" charset="0"/>
              </a:rPr>
              <a:t> = []</a:t>
            </a:r>
          </a:p>
          <a:p>
            <a:r>
              <a:rPr lang="en" altLang="zh-TW" sz="1400" b="0" dirty="0" err="1">
                <a:solidFill>
                  <a:srgbClr val="000000"/>
                </a:solidFill>
                <a:effectLst/>
                <a:highlight>
                  <a:srgbClr val="F7F7F7"/>
                </a:highlight>
                <a:latin typeface="Courier New" panose="02070309020205020404" pitchFamily="49" charset="0"/>
              </a:rPr>
              <a:t>dataY</a:t>
            </a:r>
            <a:r>
              <a:rPr lang="en" altLang="zh-TW" sz="1400" b="0" dirty="0">
                <a:solidFill>
                  <a:srgbClr val="000000"/>
                </a:solidFill>
                <a:effectLst/>
                <a:highlight>
                  <a:srgbClr val="F7F7F7"/>
                </a:highlight>
                <a:latin typeface="Courier New" panose="02070309020205020404" pitchFamily="49" charset="0"/>
              </a:rPr>
              <a:t> = []</a:t>
            </a:r>
          </a:p>
          <a:p>
            <a:r>
              <a:rPr lang="en" altLang="zh-TW" sz="1400" b="0" dirty="0">
                <a:solidFill>
                  <a:srgbClr val="AF00DB"/>
                </a:solidFill>
                <a:effectLst/>
                <a:highlight>
                  <a:srgbClr val="F7F7F7"/>
                </a:highlight>
                <a:latin typeface="Courier New" panose="02070309020205020404" pitchFamily="49" charset="0"/>
              </a:rPr>
              <a:t>for</a:t>
            </a:r>
            <a:r>
              <a:rPr lang="en" altLang="zh-TW" sz="1400" b="0" dirty="0">
                <a:solidFill>
                  <a:srgbClr val="000000"/>
                </a:solidFill>
                <a:effectLst/>
                <a:highlight>
                  <a:srgbClr val="F7F7F7"/>
                </a:highlight>
                <a:latin typeface="Courier New" panose="02070309020205020404" pitchFamily="49" charset="0"/>
              </a:rPr>
              <a:t> </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0000FF"/>
                </a:solidFill>
                <a:effectLst/>
                <a:highlight>
                  <a:srgbClr val="F7F7F7"/>
                </a:highlight>
                <a:latin typeface="Courier New" panose="02070309020205020404" pitchFamily="49" charset="0"/>
              </a:rPr>
              <a:t>in</a:t>
            </a:r>
            <a:r>
              <a:rPr lang="en" altLang="zh-TW" sz="1400" b="0" dirty="0">
                <a:solidFill>
                  <a:srgbClr val="000000"/>
                </a:solidFill>
                <a:effectLst/>
                <a:highlight>
                  <a:srgbClr val="F7F7F7"/>
                </a:highlight>
                <a:latin typeface="Courier New" panose="02070309020205020404" pitchFamily="49" charset="0"/>
              </a:rPr>
              <a:t> </a:t>
            </a:r>
            <a:r>
              <a:rPr lang="en" altLang="zh-TW" sz="1400" b="0" dirty="0">
                <a:solidFill>
                  <a:srgbClr val="795E26"/>
                </a:solidFill>
                <a:effectLst/>
                <a:highlight>
                  <a:srgbClr val="F7F7F7"/>
                </a:highlight>
                <a:latin typeface="Courier New" panose="02070309020205020404" pitchFamily="49" charset="0"/>
              </a:rPr>
              <a:t>range</a:t>
            </a:r>
            <a:r>
              <a:rPr lang="en" altLang="zh-TW" sz="1400" b="0" dirty="0">
                <a:solidFill>
                  <a:srgbClr val="000000"/>
                </a:solidFill>
                <a:effectLst/>
                <a:highlight>
                  <a:srgbClr val="F7F7F7"/>
                </a:highlight>
                <a:latin typeface="Courier New" panose="02070309020205020404" pitchFamily="49" charset="0"/>
              </a:rPr>
              <a:t>(</a:t>
            </a:r>
            <a:r>
              <a:rPr lang="en" altLang="zh-TW" sz="1400" b="0" dirty="0">
                <a:solidFill>
                  <a:srgbClr val="116644"/>
                </a:solidFill>
                <a:effectLst/>
                <a:highlight>
                  <a:srgbClr val="F7F7F7"/>
                </a:highlight>
                <a:latin typeface="Courier New" panose="02070309020205020404" pitchFamily="49" charset="0"/>
              </a:rPr>
              <a:t>0</a:t>
            </a:r>
            <a:r>
              <a:rPr lang="en" altLang="zh-TW" sz="1400" b="0" dirty="0">
                <a:solidFill>
                  <a:srgbClr val="000000"/>
                </a:solidFill>
                <a:effectLst/>
                <a:highlight>
                  <a:srgbClr val="F7F7F7"/>
                </a:highlight>
                <a:latin typeface="Courier New" panose="02070309020205020404" pitchFamily="49" charset="0"/>
              </a:rPr>
              <a:t>, </a:t>
            </a:r>
            <a:r>
              <a:rPr lang="en" altLang="zh-TW" sz="1400" b="0" dirty="0" err="1">
                <a:solidFill>
                  <a:srgbClr val="000000"/>
                </a:solidFill>
                <a:effectLst/>
                <a:highlight>
                  <a:srgbClr val="F7F7F7"/>
                </a:highlight>
                <a:latin typeface="Courier New" panose="02070309020205020404" pitchFamily="49" charset="0"/>
              </a:rPr>
              <a:t>n_chars</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000000"/>
                </a:solidFill>
                <a:effectLst/>
                <a:highlight>
                  <a:srgbClr val="F7F7F7"/>
                </a:highlight>
                <a:latin typeface="Courier New" panose="02070309020205020404" pitchFamily="49" charset="0"/>
              </a:rPr>
              <a:t>seq_length</a:t>
            </a:r>
            <a:r>
              <a:rPr lang="en" altLang="zh-TW" sz="1400" b="0" dirty="0">
                <a:solidFill>
                  <a:srgbClr val="000000"/>
                </a:solidFill>
                <a:effectLst/>
                <a:highlight>
                  <a:srgbClr val="F7F7F7"/>
                </a:highlight>
                <a:latin typeface="Courier New" panose="02070309020205020404" pitchFamily="49" charset="0"/>
              </a:rPr>
              <a:t>):</a:t>
            </a:r>
          </a:p>
          <a:p>
            <a:pPr lvl="1"/>
            <a:r>
              <a:rPr lang="en" altLang="zh-TW" sz="1400" b="0" dirty="0" err="1">
                <a:solidFill>
                  <a:srgbClr val="000000"/>
                </a:solidFill>
                <a:effectLst/>
                <a:highlight>
                  <a:srgbClr val="F7F7F7"/>
                </a:highlight>
                <a:latin typeface="Courier New" panose="02070309020205020404" pitchFamily="49" charset="0"/>
              </a:rPr>
              <a:t>seq_in</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000000"/>
                </a:solidFill>
                <a:effectLst/>
                <a:highlight>
                  <a:srgbClr val="F7F7F7"/>
                </a:highlight>
                <a:latin typeface="Courier New" panose="02070309020205020404" pitchFamily="49" charset="0"/>
              </a:rPr>
              <a:t>raw_text</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i:i</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000000"/>
                </a:solidFill>
                <a:effectLst/>
                <a:highlight>
                  <a:srgbClr val="F7F7F7"/>
                </a:highlight>
                <a:latin typeface="Courier New" panose="02070309020205020404" pitchFamily="49" charset="0"/>
              </a:rPr>
              <a:t>seq_length</a:t>
            </a:r>
            <a:r>
              <a:rPr lang="en" altLang="zh-TW" sz="1400" b="0" dirty="0">
                <a:solidFill>
                  <a:srgbClr val="000000"/>
                </a:solidFill>
                <a:effectLst/>
                <a:highlight>
                  <a:srgbClr val="F7F7F7"/>
                </a:highlight>
                <a:latin typeface="Courier New" panose="02070309020205020404" pitchFamily="49" charset="0"/>
              </a:rPr>
              <a:t>]</a:t>
            </a:r>
          </a:p>
          <a:p>
            <a:pPr lvl="1"/>
            <a:r>
              <a:rPr lang="en" altLang="zh-TW" sz="1400" b="0" dirty="0" err="1">
                <a:solidFill>
                  <a:srgbClr val="000000"/>
                </a:solidFill>
                <a:effectLst/>
                <a:highlight>
                  <a:srgbClr val="F7F7F7"/>
                </a:highlight>
                <a:latin typeface="Courier New" panose="02070309020205020404" pitchFamily="49" charset="0"/>
              </a:rPr>
              <a:t>seq_out</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000000"/>
                </a:solidFill>
                <a:effectLst/>
                <a:highlight>
                  <a:srgbClr val="F7F7F7"/>
                </a:highlight>
                <a:latin typeface="Courier New" panose="02070309020205020404" pitchFamily="49" charset="0"/>
              </a:rPr>
              <a:t>raw_text</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i</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000000"/>
                </a:solidFill>
                <a:effectLst/>
                <a:highlight>
                  <a:srgbClr val="F7F7F7"/>
                </a:highlight>
                <a:latin typeface="Courier New" panose="02070309020205020404" pitchFamily="49" charset="0"/>
              </a:rPr>
              <a:t>seq_length</a:t>
            </a:r>
            <a:r>
              <a:rPr lang="en" altLang="zh-TW" sz="1400" b="0" dirty="0">
                <a:solidFill>
                  <a:srgbClr val="000000"/>
                </a:solidFill>
                <a:effectLst/>
                <a:highlight>
                  <a:srgbClr val="F7F7F7"/>
                </a:highlight>
                <a:latin typeface="Courier New" panose="02070309020205020404" pitchFamily="49" charset="0"/>
              </a:rPr>
              <a:t>]</a:t>
            </a:r>
          </a:p>
          <a:p>
            <a:pPr lvl="1"/>
            <a:r>
              <a:rPr lang="en" altLang="zh-TW" sz="1400" b="0" dirty="0" err="1">
                <a:solidFill>
                  <a:srgbClr val="000000"/>
                </a:solidFill>
                <a:effectLst/>
                <a:highlight>
                  <a:srgbClr val="F7F7F7"/>
                </a:highlight>
                <a:latin typeface="Courier New" panose="02070309020205020404" pitchFamily="49" charset="0"/>
              </a:rPr>
              <a:t>dataX.append</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char_to_int</a:t>
            </a:r>
            <a:r>
              <a:rPr lang="en" altLang="zh-TW" sz="1400" b="0" dirty="0">
                <a:solidFill>
                  <a:srgbClr val="000000"/>
                </a:solidFill>
                <a:effectLst/>
                <a:highlight>
                  <a:srgbClr val="F7F7F7"/>
                </a:highlight>
                <a:latin typeface="Courier New" panose="02070309020205020404" pitchFamily="49" charset="0"/>
              </a:rPr>
              <a:t>[char] </a:t>
            </a:r>
            <a:r>
              <a:rPr lang="en" altLang="zh-TW" sz="1400" b="0" dirty="0">
                <a:solidFill>
                  <a:srgbClr val="AF00DB"/>
                </a:solidFill>
                <a:effectLst/>
                <a:highlight>
                  <a:srgbClr val="F7F7F7"/>
                </a:highlight>
                <a:latin typeface="Courier New" panose="02070309020205020404" pitchFamily="49" charset="0"/>
              </a:rPr>
              <a:t>for</a:t>
            </a:r>
            <a:r>
              <a:rPr lang="en" altLang="zh-TW" sz="1400" b="0" dirty="0">
                <a:solidFill>
                  <a:srgbClr val="000000"/>
                </a:solidFill>
                <a:effectLst/>
                <a:highlight>
                  <a:srgbClr val="F7F7F7"/>
                </a:highlight>
                <a:latin typeface="Courier New" panose="02070309020205020404" pitchFamily="49" charset="0"/>
              </a:rPr>
              <a:t> char </a:t>
            </a:r>
            <a:r>
              <a:rPr lang="en" altLang="zh-TW" sz="1400" b="0" dirty="0">
                <a:solidFill>
                  <a:srgbClr val="0000FF"/>
                </a:solidFill>
                <a:effectLst/>
                <a:highlight>
                  <a:srgbClr val="F7F7F7"/>
                </a:highlight>
                <a:latin typeface="Courier New" panose="02070309020205020404" pitchFamily="49" charset="0"/>
              </a:rPr>
              <a:t>in</a:t>
            </a:r>
            <a:r>
              <a:rPr lang="en" altLang="zh-TW" sz="1400" b="0" dirty="0">
                <a:solidFill>
                  <a:srgbClr val="000000"/>
                </a:solidFill>
                <a:effectLst/>
                <a:highlight>
                  <a:srgbClr val="F7F7F7"/>
                </a:highlight>
                <a:latin typeface="Courier New" panose="02070309020205020404" pitchFamily="49" charset="0"/>
              </a:rPr>
              <a:t> </a:t>
            </a:r>
            <a:r>
              <a:rPr lang="en" altLang="zh-TW" sz="1400" b="0" dirty="0" err="1">
                <a:solidFill>
                  <a:srgbClr val="000000"/>
                </a:solidFill>
                <a:effectLst/>
                <a:highlight>
                  <a:srgbClr val="F7F7F7"/>
                </a:highlight>
                <a:latin typeface="Courier New" panose="02070309020205020404" pitchFamily="49" charset="0"/>
              </a:rPr>
              <a:t>seq_in</a:t>
            </a:r>
            <a:r>
              <a:rPr lang="en" altLang="zh-TW" sz="1400" b="0" dirty="0">
                <a:solidFill>
                  <a:srgbClr val="000000"/>
                </a:solidFill>
                <a:effectLst/>
                <a:highlight>
                  <a:srgbClr val="F7F7F7"/>
                </a:highlight>
                <a:latin typeface="Courier New" panose="02070309020205020404" pitchFamily="49" charset="0"/>
              </a:rPr>
              <a:t>])</a:t>
            </a:r>
          </a:p>
          <a:p>
            <a:pPr lvl="1"/>
            <a:r>
              <a:rPr lang="en" altLang="zh-TW" sz="1400" b="0" dirty="0" err="1">
                <a:solidFill>
                  <a:srgbClr val="000000"/>
                </a:solidFill>
                <a:effectLst/>
                <a:highlight>
                  <a:srgbClr val="F7F7F7"/>
                </a:highlight>
                <a:latin typeface="Courier New" panose="02070309020205020404" pitchFamily="49" charset="0"/>
              </a:rPr>
              <a:t>dataY.append</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char_to_int</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seq_out</a:t>
            </a:r>
            <a:r>
              <a:rPr lang="en" altLang="zh-TW" sz="1400" b="0" dirty="0">
                <a:solidFill>
                  <a:srgbClr val="000000"/>
                </a:solidFill>
                <a:effectLst/>
                <a:highlight>
                  <a:srgbClr val="F7F7F7"/>
                </a:highlight>
                <a:latin typeface="Courier New" panose="02070309020205020404" pitchFamily="49" charset="0"/>
              </a:rPr>
              <a:t>])</a:t>
            </a:r>
          </a:p>
          <a:p>
            <a:r>
              <a:rPr lang="en" altLang="zh-TW" sz="1400" b="0" dirty="0" err="1">
                <a:solidFill>
                  <a:srgbClr val="000000"/>
                </a:solidFill>
                <a:effectLst/>
                <a:highlight>
                  <a:srgbClr val="F7F7F7"/>
                </a:highlight>
                <a:latin typeface="Courier New" panose="02070309020205020404" pitchFamily="49" charset="0"/>
              </a:rPr>
              <a:t>n_patterns</a:t>
            </a:r>
            <a:r>
              <a:rPr lang="en" altLang="zh-TW" sz="1400" b="0" dirty="0">
                <a:solidFill>
                  <a:srgbClr val="000000"/>
                </a:solidFill>
                <a:effectLst/>
                <a:highlight>
                  <a:srgbClr val="F7F7F7"/>
                </a:highlight>
                <a:latin typeface="Courier New" panose="02070309020205020404" pitchFamily="49" charset="0"/>
              </a:rPr>
              <a:t> = </a:t>
            </a:r>
            <a:r>
              <a:rPr lang="en" altLang="zh-TW" sz="1400" b="0" dirty="0" err="1">
                <a:solidFill>
                  <a:srgbClr val="795E26"/>
                </a:solidFill>
                <a:effectLst/>
                <a:highlight>
                  <a:srgbClr val="F7F7F7"/>
                </a:highlight>
                <a:latin typeface="Courier New" panose="02070309020205020404" pitchFamily="49" charset="0"/>
              </a:rPr>
              <a:t>len</a:t>
            </a:r>
            <a:r>
              <a:rPr lang="en" altLang="zh-TW" sz="1400" b="0" dirty="0">
                <a:solidFill>
                  <a:srgbClr val="000000"/>
                </a:solidFill>
                <a:effectLst/>
                <a:highlight>
                  <a:srgbClr val="F7F7F7"/>
                </a:highlight>
                <a:latin typeface="Courier New" panose="02070309020205020404" pitchFamily="49" charset="0"/>
              </a:rPr>
              <a:t>(</a:t>
            </a:r>
            <a:r>
              <a:rPr lang="en" altLang="zh-TW" sz="1400" b="0" dirty="0" err="1">
                <a:solidFill>
                  <a:srgbClr val="000000"/>
                </a:solidFill>
                <a:effectLst/>
                <a:highlight>
                  <a:srgbClr val="F7F7F7"/>
                </a:highlight>
                <a:latin typeface="Courier New" panose="02070309020205020404" pitchFamily="49" charset="0"/>
              </a:rPr>
              <a:t>dataX</a:t>
            </a:r>
            <a:r>
              <a:rPr lang="en" altLang="zh-TW" sz="1400" b="0" dirty="0">
                <a:solidFill>
                  <a:srgbClr val="000000"/>
                </a:solidFill>
                <a:effectLst/>
                <a:highlight>
                  <a:srgbClr val="F7F7F7"/>
                </a:highlight>
                <a:latin typeface="Courier New" panose="02070309020205020404" pitchFamily="49" charset="0"/>
              </a:rPr>
              <a:t>)</a:t>
            </a:r>
          </a:p>
        </p:txBody>
      </p:sp>
    </p:spTree>
    <p:extLst>
      <p:ext uri="{BB962C8B-B14F-4D97-AF65-F5344CB8AC3E}">
        <p14:creationId xmlns:p14="http://schemas.microsoft.com/office/powerpoint/2010/main" val="40701154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E36354-1DA1-E727-E4BD-0BBCA3087A52}"/>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a:t>
            </a:r>
            <a:r>
              <a:rPr kumimoji="1" lang="en-US" altLang="zh-TW" dirty="0"/>
              <a:t>Char-based</a:t>
            </a:r>
            <a:r>
              <a:rPr kumimoji="1" lang="zh-TW" altLang="en-US" dirty="0"/>
              <a:t> </a:t>
            </a:r>
            <a:r>
              <a:rPr kumimoji="1" lang="en-US" altLang="zh-TW" dirty="0"/>
              <a:t>generator</a:t>
            </a:r>
            <a:endParaRPr kumimoji="1" lang="zh-TW" altLang="en-US" dirty="0"/>
          </a:p>
        </p:txBody>
      </p:sp>
      <p:sp>
        <p:nvSpPr>
          <p:cNvPr id="3" name="內容版面配置區 2">
            <a:extLst>
              <a:ext uri="{FF2B5EF4-FFF2-40B4-BE49-F238E27FC236}">
                <a16:creationId xmlns:a16="http://schemas.microsoft.com/office/drawing/2014/main" id="{218933AE-B51D-3FF8-A4D0-8D9F2CCD4685}"/>
              </a:ext>
            </a:extLst>
          </p:cNvPr>
          <p:cNvSpPr>
            <a:spLocks noGrp="1"/>
          </p:cNvSpPr>
          <p:nvPr>
            <p:ph idx="1"/>
          </p:nvPr>
        </p:nvSpPr>
        <p:spPr>
          <a:xfrm>
            <a:off x="838200" y="1825624"/>
            <a:ext cx="3522133" cy="4879975"/>
          </a:xfrm>
        </p:spPr>
        <p:txBody>
          <a:bodyPr/>
          <a:lstStyle/>
          <a:p>
            <a:r>
              <a:rPr kumimoji="1" lang="zh-TW" altLang="en-US" dirty="0"/>
              <a:t>這邊不使用</a:t>
            </a:r>
            <a:r>
              <a:rPr kumimoji="1" lang="en-US" altLang="zh-TW" dirty="0"/>
              <a:t>embedding</a:t>
            </a:r>
            <a:r>
              <a:rPr kumimoji="1" lang="zh-TW" altLang="en-US" dirty="0"/>
              <a:t>，直接把代表每個字元的數字轉成浮點數</a:t>
            </a:r>
            <a:r>
              <a:rPr kumimoji="1" lang="en-US" altLang="zh-TW" dirty="0"/>
              <a:t>(</a:t>
            </a:r>
            <a:r>
              <a:rPr kumimoji="1" lang="zh-TW" altLang="en-US" dirty="0"/>
              <a:t>除以總字彙數</a:t>
            </a:r>
            <a:r>
              <a:rPr kumimoji="1" lang="en-US" altLang="zh-TW" dirty="0"/>
              <a:t>)</a:t>
            </a:r>
            <a:r>
              <a:rPr kumimoji="1" lang="zh-TW" altLang="en-US" dirty="0"/>
              <a:t>後做為輸入</a:t>
            </a:r>
            <a:endParaRPr kumimoji="1" lang="en-US" altLang="zh-TW" dirty="0"/>
          </a:p>
          <a:p>
            <a:r>
              <a:rPr kumimoji="1" lang="en-US" altLang="zh-TW" dirty="0"/>
              <a:t>X</a:t>
            </a:r>
            <a:r>
              <a:rPr kumimoji="1" lang="zh-TW" altLang="en-US" dirty="0"/>
              <a:t>的</a:t>
            </a:r>
            <a:r>
              <a:rPr kumimoji="1" lang="en-US" altLang="zh-TW" dirty="0"/>
              <a:t>shape</a:t>
            </a:r>
            <a:r>
              <a:rPr kumimoji="1" lang="zh-TW" altLang="en-US" dirty="0"/>
              <a:t>是</a:t>
            </a:r>
            <a:r>
              <a:rPr kumimoji="1" lang="en-US" altLang="zh-TW" dirty="0"/>
              <a:t>(batch,</a:t>
            </a:r>
            <a:r>
              <a:rPr kumimoji="1" lang="zh-TW" altLang="en-US" dirty="0"/>
              <a:t> </a:t>
            </a:r>
            <a:r>
              <a:rPr kumimoji="1" lang="en-US" altLang="zh-TW" dirty="0" err="1"/>
              <a:t>seq_len</a:t>
            </a:r>
            <a:r>
              <a:rPr kumimoji="1" lang="en-US" altLang="zh-TW" dirty="0"/>
              <a:t>,</a:t>
            </a:r>
            <a:r>
              <a:rPr kumimoji="1" lang="zh-TW" altLang="en-US" dirty="0"/>
              <a:t> </a:t>
            </a:r>
            <a:r>
              <a:rPr kumimoji="1" lang="en-US" altLang="zh-TW" dirty="0"/>
              <a:t>feature)</a:t>
            </a:r>
            <a:r>
              <a:rPr kumimoji="1" lang="zh-TW" altLang="en-US" dirty="0"/>
              <a:t>，所以取</a:t>
            </a:r>
            <a:r>
              <a:rPr kumimoji="1" lang="en-US" altLang="zh-TW" dirty="0"/>
              <a:t>-1</a:t>
            </a:r>
            <a:r>
              <a:rPr kumimoji="1" lang="zh-TW" altLang="en-US" dirty="0"/>
              <a:t>拿最後一個輸出</a:t>
            </a:r>
            <a:endParaRPr kumimoji="1" lang="en-US" altLang="zh-TW" dirty="0"/>
          </a:p>
          <a:p>
            <a:pPr lvl="1"/>
            <a:r>
              <a:rPr kumimoji="1" lang="zh-TW" altLang="en-US" dirty="0"/>
              <a:t>也可以直接拿</a:t>
            </a:r>
            <a:r>
              <a:rPr kumimoji="1" lang="en-US" altLang="zh-TW" dirty="0"/>
              <a:t>h</a:t>
            </a:r>
            <a:r>
              <a:rPr kumimoji="1" lang="zh-TW" altLang="en-US" dirty="0"/>
              <a:t>這個變數，是一樣的</a:t>
            </a:r>
            <a:endParaRPr kumimoji="1" lang="en-US" altLang="zh-TW" dirty="0"/>
          </a:p>
          <a:p>
            <a:pPr lvl="1"/>
            <a:endParaRPr kumimoji="1" lang="zh-TW" altLang="en-US" dirty="0"/>
          </a:p>
        </p:txBody>
      </p:sp>
      <p:sp>
        <p:nvSpPr>
          <p:cNvPr id="5" name="文字方塊 4">
            <a:extLst>
              <a:ext uri="{FF2B5EF4-FFF2-40B4-BE49-F238E27FC236}">
                <a16:creationId xmlns:a16="http://schemas.microsoft.com/office/drawing/2014/main" id="{F41371A2-77E0-8458-09E3-477915894B69}"/>
              </a:ext>
            </a:extLst>
          </p:cNvPr>
          <p:cNvSpPr txBox="1"/>
          <p:nvPr/>
        </p:nvSpPr>
        <p:spPr>
          <a:xfrm>
            <a:off x="4360333" y="2227002"/>
            <a:ext cx="7543799" cy="3600986"/>
          </a:xfrm>
          <a:prstGeom prst="rect">
            <a:avLst/>
          </a:prstGeom>
          <a:noFill/>
          <a:ln>
            <a:solidFill>
              <a:schemeClr val="tx1"/>
            </a:solidFill>
          </a:ln>
        </p:spPr>
        <p:txBody>
          <a:bodyPr wrap="square">
            <a:spAutoFit/>
          </a:bodyPr>
          <a:lstStyle/>
          <a:p>
            <a:r>
              <a:rPr lang="en" altLang="zh-TW" sz="1200" b="0" dirty="0">
                <a:solidFill>
                  <a:srgbClr val="008000"/>
                </a:solidFill>
                <a:effectLst/>
                <a:highlight>
                  <a:srgbClr val="F7F7F7"/>
                </a:highlight>
                <a:latin typeface="Courier New" panose="02070309020205020404" pitchFamily="49" charset="0"/>
              </a:rPr>
              <a:t># reshape X to be [samples, time steps, features]</a:t>
            </a:r>
            <a:endParaRPr lang="en" altLang="zh-TW" sz="1200" b="0" dirty="0">
              <a:solidFill>
                <a:srgbClr val="000000"/>
              </a:solidFill>
              <a:effectLst/>
              <a:highlight>
                <a:srgbClr val="F7F7F7"/>
              </a:highlight>
              <a:latin typeface="Courier New" panose="02070309020205020404" pitchFamily="49" charset="0"/>
            </a:endParaRPr>
          </a:p>
          <a:p>
            <a:r>
              <a:rPr lang="en" altLang="zh-TW" sz="1200" b="0" dirty="0">
                <a:solidFill>
                  <a:srgbClr val="000000"/>
                </a:solidFill>
                <a:effectLst/>
                <a:highlight>
                  <a:srgbClr val="F7F7F7"/>
                </a:highlight>
                <a:latin typeface="Courier New" panose="02070309020205020404" pitchFamily="49" charset="0"/>
              </a:rPr>
              <a:t>X = </a:t>
            </a:r>
            <a:r>
              <a:rPr lang="en" altLang="zh-TW" sz="1200" b="0" dirty="0" err="1">
                <a:solidFill>
                  <a:srgbClr val="000000"/>
                </a:solidFill>
                <a:effectLst/>
                <a:highlight>
                  <a:srgbClr val="F7F7F7"/>
                </a:highlight>
                <a:latin typeface="Courier New" panose="02070309020205020404" pitchFamily="49" charset="0"/>
              </a:rPr>
              <a:t>torch.tensor</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dataX</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dtype</a:t>
            </a:r>
            <a:r>
              <a:rPr lang="en" altLang="zh-TW" sz="1200" b="0" dirty="0">
                <a:solidFill>
                  <a:srgbClr val="000000"/>
                </a:solidFill>
                <a:effectLst/>
                <a:highlight>
                  <a:srgbClr val="F7F7F7"/>
                </a:highlight>
                <a:latin typeface="Courier New" panose="02070309020205020404" pitchFamily="49" charset="0"/>
              </a:rPr>
              <a:t>=torch.float32).reshape(</a:t>
            </a:r>
            <a:r>
              <a:rPr lang="en" altLang="zh-TW" sz="1200" b="0" dirty="0" err="1">
                <a:solidFill>
                  <a:srgbClr val="000000"/>
                </a:solidFill>
                <a:effectLst/>
                <a:highlight>
                  <a:srgbClr val="F7F7F7"/>
                </a:highlight>
                <a:latin typeface="Courier New" panose="02070309020205020404" pitchFamily="49" charset="0"/>
              </a:rPr>
              <a:t>n_patterns</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seq_length</a:t>
            </a:r>
            <a:r>
              <a:rPr lang="en" altLang="zh-TW" sz="1200" b="0" dirty="0">
                <a:solidFill>
                  <a:srgbClr val="000000"/>
                </a:solidFill>
                <a:effectLst/>
                <a:highlight>
                  <a:srgbClr val="F7F7F7"/>
                </a:highlight>
                <a:latin typeface="Courier New" panose="02070309020205020404" pitchFamily="49" charset="0"/>
              </a:rPr>
              <a:t>, </a:t>
            </a:r>
            <a:r>
              <a:rPr lang="en" altLang="zh-TW" sz="1200" b="0" dirty="0">
                <a:solidFill>
                  <a:srgbClr val="116644"/>
                </a:solidFill>
                <a:effectLst/>
                <a:highlight>
                  <a:srgbClr val="F7F7F7"/>
                </a:highlight>
                <a:latin typeface="Courier New" panose="02070309020205020404" pitchFamily="49" charset="0"/>
              </a:rPr>
              <a:t>1</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a:solidFill>
                  <a:srgbClr val="000000"/>
                </a:solidFill>
                <a:effectLst/>
                <a:highlight>
                  <a:srgbClr val="F7F7F7"/>
                </a:highlight>
                <a:latin typeface="Courier New" panose="02070309020205020404" pitchFamily="49" charset="0"/>
              </a:rPr>
              <a:t>X = X / </a:t>
            </a:r>
            <a:r>
              <a:rPr lang="en" altLang="zh-TW" sz="1200" b="0" dirty="0">
                <a:solidFill>
                  <a:srgbClr val="257693"/>
                </a:solidFill>
                <a:effectLst/>
                <a:highlight>
                  <a:srgbClr val="F7F7F7"/>
                </a:highlight>
                <a:latin typeface="Courier New" panose="02070309020205020404" pitchFamily="49" charset="0"/>
              </a:rPr>
              <a:t>float</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n_vocab</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a:solidFill>
                  <a:srgbClr val="000000"/>
                </a:solidFill>
                <a:effectLst/>
                <a:highlight>
                  <a:srgbClr val="F7F7F7"/>
                </a:highlight>
                <a:latin typeface="Courier New" panose="02070309020205020404" pitchFamily="49" charset="0"/>
              </a:rPr>
              <a:t>y = </a:t>
            </a:r>
            <a:r>
              <a:rPr lang="en" altLang="zh-TW" sz="1200" b="0" dirty="0" err="1">
                <a:solidFill>
                  <a:srgbClr val="000000"/>
                </a:solidFill>
                <a:effectLst/>
                <a:highlight>
                  <a:srgbClr val="F7F7F7"/>
                </a:highlight>
                <a:latin typeface="Courier New" panose="02070309020205020404" pitchFamily="49" charset="0"/>
              </a:rPr>
              <a:t>torch.tensor</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dataY</a:t>
            </a:r>
            <a:r>
              <a:rPr lang="en" altLang="zh-TW" sz="1200" b="0" dirty="0">
                <a:solidFill>
                  <a:srgbClr val="000000"/>
                </a:solidFill>
                <a:effectLst/>
                <a:highlight>
                  <a:srgbClr val="F7F7F7"/>
                </a:highlight>
                <a:latin typeface="Courier New" panose="02070309020205020404" pitchFamily="49" charset="0"/>
              </a:rPr>
              <a:t>)</a:t>
            </a:r>
          </a:p>
          <a:p>
            <a:br>
              <a:rPr lang="en" altLang="zh-TW" sz="1200" b="0" dirty="0">
                <a:solidFill>
                  <a:srgbClr val="000000"/>
                </a:solidFill>
                <a:effectLst/>
                <a:highlight>
                  <a:srgbClr val="F7F7F7"/>
                </a:highlight>
                <a:latin typeface="Courier New" panose="02070309020205020404" pitchFamily="49" charset="0"/>
              </a:rPr>
            </a:br>
            <a:r>
              <a:rPr lang="en" altLang="zh-TW" sz="1200" b="0" dirty="0">
                <a:solidFill>
                  <a:srgbClr val="0000FF"/>
                </a:solidFill>
                <a:effectLst/>
                <a:highlight>
                  <a:srgbClr val="F7F7F7"/>
                </a:highlight>
                <a:latin typeface="Courier New" panose="02070309020205020404" pitchFamily="49" charset="0"/>
              </a:rPr>
              <a:t>class</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257693"/>
                </a:solidFill>
                <a:effectLst/>
                <a:highlight>
                  <a:srgbClr val="F7F7F7"/>
                </a:highlight>
                <a:latin typeface="Courier New" panose="02070309020205020404" pitchFamily="49" charset="0"/>
              </a:rPr>
              <a:t>CharModel</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257693"/>
                </a:solidFill>
                <a:effectLst/>
                <a:highlight>
                  <a:srgbClr val="F7F7F7"/>
                </a:highlight>
                <a:latin typeface="Courier New" panose="02070309020205020404" pitchFamily="49" charset="0"/>
              </a:rPr>
              <a:t>nn</a:t>
            </a:r>
            <a:r>
              <a:rPr lang="en" altLang="zh-TW" sz="1200" b="0" dirty="0" err="1">
                <a:solidFill>
                  <a:srgbClr val="000000"/>
                </a:solidFill>
                <a:effectLst/>
                <a:highlight>
                  <a:srgbClr val="F7F7F7"/>
                </a:highlight>
                <a:latin typeface="Courier New" panose="02070309020205020404" pitchFamily="49" charset="0"/>
              </a:rPr>
              <a:t>.</a:t>
            </a:r>
            <a:r>
              <a:rPr lang="en" altLang="zh-TW" sz="1200" b="0" dirty="0" err="1">
                <a:solidFill>
                  <a:srgbClr val="257693"/>
                </a:solidFill>
                <a:effectLst/>
                <a:highlight>
                  <a:srgbClr val="F7F7F7"/>
                </a:highlight>
                <a:latin typeface="Courier New" panose="02070309020205020404" pitchFamily="49" charset="0"/>
              </a:rPr>
              <a:t>Module</a:t>
            </a:r>
            <a:r>
              <a:rPr lang="en" altLang="zh-TW" sz="1200" b="0" dirty="0">
                <a:solidFill>
                  <a:srgbClr val="000000"/>
                </a:solidFill>
                <a:effectLst/>
                <a:highlight>
                  <a:srgbClr val="F7F7F7"/>
                </a:highlight>
                <a:latin typeface="Courier New" panose="02070309020205020404" pitchFamily="49" charset="0"/>
              </a:rPr>
              <a:t>):</a:t>
            </a:r>
          </a:p>
          <a:p>
            <a:pPr lvl="1"/>
            <a:r>
              <a:rPr lang="en" altLang="zh-TW" sz="1200" b="0" dirty="0">
                <a:solidFill>
                  <a:srgbClr val="0000FF"/>
                </a:solidFill>
                <a:effectLst/>
                <a:highlight>
                  <a:srgbClr val="F7F7F7"/>
                </a:highlight>
                <a:latin typeface="Courier New" panose="02070309020205020404" pitchFamily="49" charset="0"/>
              </a:rPr>
              <a:t>def</a:t>
            </a:r>
            <a:r>
              <a:rPr lang="en" altLang="zh-TW" sz="1200" b="0" dirty="0">
                <a:solidFill>
                  <a:srgbClr val="000000"/>
                </a:solidFill>
                <a:effectLst/>
                <a:highlight>
                  <a:srgbClr val="F7F7F7"/>
                </a:highlight>
                <a:latin typeface="Courier New" panose="02070309020205020404" pitchFamily="49" charset="0"/>
              </a:rPr>
              <a:t> </a:t>
            </a:r>
            <a:r>
              <a:rPr lang="en" altLang="zh-TW" sz="1200" b="0" dirty="0">
                <a:solidFill>
                  <a:srgbClr val="795E26"/>
                </a:solidFill>
                <a:effectLst/>
                <a:highlight>
                  <a:srgbClr val="F7F7F7"/>
                </a:highlight>
                <a:latin typeface="Courier New" panose="02070309020205020404" pitchFamily="49" charset="0"/>
              </a:rPr>
              <a:t>__</a:t>
            </a:r>
            <a:r>
              <a:rPr lang="en" altLang="zh-TW" sz="1200" b="0" dirty="0" err="1">
                <a:solidFill>
                  <a:srgbClr val="795E26"/>
                </a:solidFill>
                <a:effectLst/>
                <a:highlight>
                  <a:srgbClr val="F7F7F7"/>
                </a:highlight>
                <a:latin typeface="Courier New" panose="02070309020205020404" pitchFamily="49" charset="0"/>
              </a:rPr>
              <a:t>init</a:t>
            </a:r>
            <a:r>
              <a:rPr lang="en" altLang="zh-TW" sz="1200" b="0" dirty="0">
                <a:solidFill>
                  <a:srgbClr val="795E26"/>
                </a:solidFill>
                <a:effectLst/>
                <a:highlight>
                  <a:srgbClr val="F7F7F7"/>
                </a:highlight>
                <a:latin typeface="Courier New" panose="02070309020205020404" pitchFamily="49" charset="0"/>
              </a:rPr>
              <a:t>__</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001080"/>
                </a:solidFill>
                <a:effectLst/>
                <a:highlight>
                  <a:srgbClr val="F7F7F7"/>
                </a:highlight>
                <a:latin typeface="Courier New" panose="02070309020205020404" pitchFamily="49" charset="0"/>
              </a:rPr>
              <a:t>self</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a:solidFill>
                  <a:srgbClr val="000000"/>
                </a:solidFill>
                <a:effectLst/>
                <a:highlight>
                  <a:srgbClr val="F7F7F7"/>
                </a:highlight>
                <a:latin typeface="Courier New" panose="02070309020205020404" pitchFamily="49" charset="0"/>
              </a:rPr>
              <a:t>super().</a:t>
            </a:r>
            <a:r>
              <a:rPr lang="en" altLang="zh-TW" sz="1200" b="0" dirty="0">
                <a:solidFill>
                  <a:srgbClr val="795E26"/>
                </a:solidFill>
                <a:effectLst/>
                <a:highlight>
                  <a:srgbClr val="F7F7F7"/>
                </a:highlight>
                <a:latin typeface="Courier New" panose="02070309020205020404" pitchFamily="49" charset="0"/>
              </a:rPr>
              <a:t>__</a:t>
            </a:r>
            <a:r>
              <a:rPr lang="en" altLang="zh-TW" sz="1200" b="0" dirty="0" err="1">
                <a:solidFill>
                  <a:srgbClr val="795E26"/>
                </a:solidFill>
                <a:effectLst/>
                <a:highlight>
                  <a:srgbClr val="F7F7F7"/>
                </a:highlight>
                <a:latin typeface="Courier New" panose="02070309020205020404" pitchFamily="49" charset="0"/>
              </a:rPr>
              <a:t>init</a:t>
            </a:r>
            <a:r>
              <a:rPr lang="en" altLang="zh-TW" sz="1200" b="0" dirty="0">
                <a:solidFill>
                  <a:srgbClr val="795E26"/>
                </a:solidFill>
                <a:effectLst/>
                <a:highlight>
                  <a:srgbClr val="F7F7F7"/>
                </a:highlight>
                <a:latin typeface="Courier New" panose="02070309020205020404" pitchFamily="49" charset="0"/>
              </a:rPr>
              <a:t>__</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err="1">
                <a:solidFill>
                  <a:srgbClr val="001080"/>
                </a:solidFill>
                <a:effectLst/>
                <a:highlight>
                  <a:srgbClr val="F7F7F7"/>
                </a:highlight>
                <a:latin typeface="Courier New" panose="02070309020205020404" pitchFamily="49" charset="0"/>
              </a:rPr>
              <a:t>self</a:t>
            </a:r>
            <a:r>
              <a:rPr lang="en" altLang="zh-TW" sz="1200" b="0" dirty="0" err="1">
                <a:solidFill>
                  <a:srgbClr val="000000"/>
                </a:solidFill>
                <a:effectLst/>
                <a:highlight>
                  <a:srgbClr val="F7F7F7"/>
                </a:highlight>
                <a:latin typeface="Courier New" panose="02070309020205020404" pitchFamily="49" charset="0"/>
              </a:rPr>
              <a:t>.lstm</a:t>
            </a:r>
            <a:r>
              <a:rPr lang="en" altLang="zh-TW" sz="1200" b="0" dirty="0">
                <a:solidFill>
                  <a:srgbClr val="000000"/>
                </a:solidFill>
                <a:effectLst/>
                <a:highlight>
                  <a:srgbClr val="F7F7F7"/>
                </a:highlight>
                <a:latin typeface="Courier New" panose="02070309020205020404" pitchFamily="49" charset="0"/>
              </a:rPr>
              <a:t> = </a:t>
            </a:r>
            <a:r>
              <a:rPr lang="en" altLang="zh-TW" sz="1200" b="0" dirty="0" err="1">
                <a:solidFill>
                  <a:srgbClr val="000000"/>
                </a:solidFill>
                <a:effectLst/>
                <a:highlight>
                  <a:srgbClr val="F7F7F7"/>
                </a:highlight>
                <a:latin typeface="Courier New" panose="02070309020205020404" pitchFamily="49" charset="0"/>
              </a:rPr>
              <a:t>nn.LSTM</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input_size</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116644"/>
                </a:solidFill>
                <a:effectLst/>
                <a:highlight>
                  <a:srgbClr val="F7F7F7"/>
                </a:highlight>
                <a:latin typeface="Courier New" panose="02070309020205020404" pitchFamily="49" charset="0"/>
              </a:rPr>
              <a:t>1</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hidden_size</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116644"/>
                </a:solidFill>
                <a:effectLst/>
                <a:highlight>
                  <a:srgbClr val="F7F7F7"/>
                </a:highlight>
                <a:latin typeface="Courier New" panose="02070309020205020404" pitchFamily="49" charset="0"/>
              </a:rPr>
              <a:t>256</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num_layers</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116644"/>
                </a:solidFill>
                <a:effectLst/>
                <a:highlight>
                  <a:srgbClr val="F7F7F7"/>
                </a:highlight>
                <a:latin typeface="Courier New" panose="02070309020205020404" pitchFamily="49" charset="0"/>
              </a:rPr>
              <a:t>1</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batch_first</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0000FF"/>
                </a:solidFill>
                <a:effectLst/>
                <a:highlight>
                  <a:srgbClr val="F7F7F7"/>
                </a:highlight>
                <a:latin typeface="Courier New" panose="02070309020205020404" pitchFamily="49" charset="0"/>
              </a:rPr>
              <a:t>True</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err="1">
                <a:solidFill>
                  <a:srgbClr val="001080"/>
                </a:solidFill>
                <a:effectLst/>
                <a:highlight>
                  <a:srgbClr val="F7F7F7"/>
                </a:highlight>
                <a:latin typeface="Courier New" panose="02070309020205020404" pitchFamily="49" charset="0"/>
              </a:rPr>
              <a:t>self</a:t>
            </a:r>
            <a:r>
              <a:rPr lang="en" altLang="zh-TW" sz="1200" b="0" dirty="0" err="1">
                <a:solidFill>
                  <a:srgbClr val="000000"/>
                </a:solidFill>
                <a:effectLst/>
                <a:highlight>
                  <a:srgbClr val="F7F7F7"/>
                </a:highlight>
                <a:latin typeface="Courier New" panose="02070309020205020404" pitchFamily="49" charset="0"/>
              </a:rPr>
              <a:t>.dropout</a:t>
            </a:r>
            <a:r>
              <a:rPr lang="en" altLang="zh-TW" sz="1200" b="0" dirty="0">
                <a:solidFill>
                  <a:srgbClr val="000000"/>
                </a:solidFill>
                <a:effectLst/>
                <a:highlight>
                  <a:srgbClr val="F7F7F7"/>
                </a:highlight>
                <a:latin typeface="Courier New" panose="02070309020205020404" pitchFamily="49" charset="0"/>
              </a:rPr>
              <a:t> = </a:t>
            </a:r>
            <a:r>
              <a:rPr lang="en" altLang="zh-TW" sz="1200" b="0" dirty="0" err="1">
                <a:solidFill>
                  <a:srgbClr val="000000"/>
                </a:solidFill>
                <a:effectLst/>
                <a:highlight>
                  <a:srgbClr val="F7F7F7"/>
                </a:highlight>
                <a:latin typeface="Courier New" panose="02070309020205020404" pitchFamily="49" charset="0"/>
              </a:rPr>
              <a:t>nn.Dropout</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116644"/>
                </a:solidFill>
                <a:effectLst/>
                <a:highlight>
                  <a:srgbClr val="F7F7F7"/>
                </a:highlight>
                <a:latin typeface="Courier New" panose="02070309020205020404" pitchFamily="49" charset="0"/>
              </a:rPr>
              <a:t>0.2</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err="1">
                <a:solidFill>
                  <a:srgbClr val="001080"/>
                </a:solidFill>
                <a:effectLst/>
                <a:highlight>
                  <a:srgbClr val="F7F7F7"/>
                </a:highlight>
                <a:latin typeface="Courier New" panose="02070309020205020404" pitchFamily="49" charset="0"/>
              </a:rPr>
              <a:t>self</a:t>
            </a:r>
            <a:r>
              <a:rPr lang="en" altLang="zh-TW" sz="1200" b="0" dirty="0" err="1">
                <a:solidFill>
                  <a:srgbClr val="000000"/>
                </a:solidFill>
                <a:effectLst/>
                <a:highlight>
                  <a:srgbClr val="F7F7F7"/>
                </a:highlight>
                <a:latin typeface="Courier New" panose="02070309020205020404" pitchFamily="49" charset="0"/>
              </a:rPr>
              <a:t>.linear</a:t>
            </a:r>
            <a:r>
              <a:rPr lang="en" altLang="zh-TW" sz="1200" b="0" dirty="0">
                <a:solidFill>
                  <a:srgbClr val="000000"/>
                </a:solidFill>
                <a:effectLst/>
                <a:highlight>
                  <a:srgbClr val="F7F7F7"/>
                </a:highlight>
                <a:latin typeface="Courier New" panose="02070309020205020404" pitchFamily="49" charset="0"/>
              </a:rPr>
              <a:t> = </a:t>
            </a:r>
            <a:r>
              <a:rPr lang="en" altLang="zh-TW" sz="1200" b="0" dirty="0" err="1">
                <a:solidFill>
                  <a:srgbClr val="000000"/>
                </a:solidFill>
                <a:effectLst/>
                <a:highlight>
                  <a:srgbClr val="F7F7F7"/>
                </a:highlight>
                <a:latin typeface="Courier New" panose="02070309020205020404" pitchFamily="49" charset="0"/>
              </a:rPr>
              <a:t>nn.Linear</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116644"/>
                </a:solidFill>
                <a:effectLst/>
                <a:highlight>
                  <a:srgbClr val="F7F7F7"/>
                </a:highlight>
                <a:latin typeface="Courier New" panose="02070309020205020404" pitchFamily="49" charset="0"/>
              </a:rPr>
              <a:t>256</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n_vocab</a:t>
            </a:r>
            <a:r>
              <a:rPr lang="en" altLang="zh-TW" sz="1200" b="0" dirty="0">
                <a:solidFill>
                  <a:srgbClr val="000000"/>
                </a:solidFill>
                <a:effectLst/>
                <a:highlight>
                  <a:srgbClr val="F7F7F7"/>
                </a:highlight>
                <a:latin typeface="Courier New" panose="02070309020205020404" pitchFamily="49" charset="0"/>
              </a:rPr>
              <a:t>)</a:t>
            </a:r>
          </a:p>
          <a:p>
            <a:pPr lvl="1"/>
            <a:r>
              <a:rPr lang="en" altLang="zh-TW" sz="1200" b="0" dirty="0">
                <a:solidFill>
                  <a:srgbClr val="0000FF"/>
                </a:solidFill>
                <a:effectLst/>
                <a:highlight>
                  <a:srgbClr val="F7F7F7"/>
                </a:highlight>
                <a:latin typeface="Courier New" panose="02070309020205020404" pitchFamily="49" charset="0"/>
              </a:rPr>
              <a:t>def</a:t>
            </a:r>
            <a:r>
              <a:rPr lang="en" altLang="zh-TW" sz="1200" b="0" dirty="0">
                <a:solidFill>
                  <a:srgbClr val="000000"/>
                </a:solidFill>
                <a:effectLst/>
                <a:highlight>
                  <a:srgbClr val="F7F7F7"/>
                </a:highlight>
                <a:latin typeface="Courier New" panose="02070309020205020404" pitchFamily="49" charset="0"/>
              </a:rPr>
              <a:t> </a:t>
            </a:r>
            <a:r>
              <a:rPr lang="en" altLang="zh-TW" sz="1200" b="0" dirty="0">
                <a:solidFill>
                  <a:srgbClr val="795E26"/>
                </a:solidFill>
                <a:effectLst/>
                <a:highlight>
                  <a:srgbClr val="F7F7F7"/>
                </a:highlight>
                <a:latin typeface="Courier New" panose="02070309020205020404" pitchFamily="49" charset="0"/>
              </a:rPr>
              <a:t>forward</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001080"/>
                </a:solidFill>
                <a:effectLst/>
                <a:highlight>
                  <a:srgbClr val="F7F7F7"/>
                </a:highlight>
                <a:latin typeface="Courier New" panose="02070309020205020404" pitchFamily="49" charset="0"/>
              </a:rPr>
              <a:t>self</a:t>
            </a:r>
            <a:r>
              <a:rPr lang="en" altLang="zh-TW" sz="1200" b="0" dirty="0">
                <a:solidFill>
                  <a:srgbClr val="000000"/>
                </a:solidFill>
                <a:effectLst/>
                <a:highlight>
                  <a:srgbClr val="F7F7F7"/>
                </a:highlight>
                <a:latin typeface="Courier New" panose="02070309020205020404" pitchFamily="49" charset="0"/>
              </a:rPr>
              <a:t>, </a:t>
            </a:r>
            <a:r>
              <a:rPr lang="en" altLang="zh-TW" sz="1200" b="0" dirty="0">
                <a:solidFill>
                  <a:srgbClr val="001080"/>
                </a:solidFill>
                <a:effectLst/>
                <a:highlight>
                  <a:srgbClr val="F7F7F7"/>
                </a:highlight>
                <a:latin typeface="Courier New" panose="02070309020205020404" pitchFamily="49" charset="0"/>
              </a:rPr>
              <a:t>x</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a:solidFill>
                  <a:srgbClr val="000000"/>
                </a:solidFill>
                <a:effectLst/>
                <a:highlight>
                  <a:srgbClr val="F7F7F7"/>
                </a:highlight>
                <a:latin typeface="Courier New" panose="02070309020205020404" pitchFamily="49" charset="0"/>
              </a:rPr>
              <a:t>	x, (h, c) = </a:t>
            </a:r>
            <a:r>
              <a:rPr lang="en" altLang="zh-TW" sz="1200" b="0" dirty="0" err="1">
                <a:solidFill>
                  <a:srgbClr val="001080"/>
                </a:solidFill>
                <a:effectLst/>
                <a:highlight>
                  <a:srgbClr val="F7F7F7"/>
                </a:highlight>
                <a:latin typeface="Courier New" panose="02070309020205020404" pitchFamily="49" charset="0"/>
              </a:rPr>
              <a:t>self</a:t>
            </a:r>
            <a:r>
              <a:rPr lang="en" altLang="zh-TW" sz="1200" b="0" dirty="0" err="1">
                <a:solidFill>
                  <a:srgbClr val="000000"/>
                </a:solidFill>
                <a:effectLst/>
                <a:highlight>
                  <a:srgbClr val="F7F7F7"/>
                </a:highlight>
                <a:latin typeface="Courier New" panose="02070309020205020404" pitchFamily="49" charset="0"/>
              </a:rPr>
              <a:t>.lstm</a:t>
            </a:r>
            <a:r>
              <a:rPr lang="en" altLang="zh-TW" sz="1200" b="0" dirty="0">
                <a:solidFill>
                  <a:srgbClr val="000000"/>
                </a:solidFill>
                <a:effectLst/>
                <a:highlight>
                  <a:srgbClr val="F7F7F7"/>
                </a:highlight>
                <a:latin typeface="Courier New" panose="02070309020205020404" pitchFamily="49" charset="0"/>
              </a:rPr>
              <a:t>(x)</a:t>
            </a:r>
          </a:p>
          <a:p>
            <a:pPr lvl="2"/>
            <a:r>
              <a:rPr lang="en" altLang="zh-TW" sz="1200" b="0" dirty="0">
                <a:solidFill>
                  <a:srgbClr val="008000"/>
                </a:solidFill>
                <a:effectLst/>
                <a:highlight>
                  <a:srgbClr val="F7F7F7"/>
                </a:highlight>
                <a:latin typeface="Courier New" panose="02070309020205020404" pitchFamily="49" charset="0"/>
              </a:rPr>
              <a:t># take only the last output</a:t>
            </a:r>
            <a:endParaRPr lang="en" altLang="zh-TW" sz="1200" b="0" dirty="0">
              <a:solidFill>
                <a:srgbClr val="000000"/>
              </a:solidFill>
              <a:effectLst/>
              <a:highlight>
                <a:srgbClr val="F7F7F7"/>
              </a:highlight>
              <a:latin typeface="Courier New" panose="02070309020205020404" pitchFamily="49" charset="0"/>
            </a:endParaRPr>
          </a:p>
          <a:p>
            <a:pPr lvl="2"/>
            <a:r>
              <a:rPr lang="en" altLang="zh-TW" sz="1200" b="0" dirty="0">
                <a:solidFill>
                  <a:srgbClr val="000000"/>
                </a:solidFill>
                <a:effectLst/>
                <a:highlight>
                  <a:srgbClr val="F7F7F7"/>
                </a:highlight>
                <a:latin typeface="Courier New" panose="02070309020205020404" pitchFamily="49" charset="0"/>
              </a:rPr>
              <a:t>x = x[:, </a:t>
            </a:r>
            <a:r>
              <a:rPr lang="en" altLang="zh-TW" sz="1200" b="0" dirty="0">
                <a:solidFill>
                  <a:srgbClr val="116644"/>
                </a:solidFill>
                <a:effectLst/>
                <a:highlight>
                  <a:srgbClr val="F7F7F7"/>
                </a:highlight>
                <a:latin typeface="Courier New" panose="02070309020205020404" pitchFamily="49" charset="0"/>
              </a:rPr>
              <a:t>-1</a:t>
            </a:r>
            <a:r>
              <a:rPr lang="en" altLang="zh-TW" sz="1200" b="0" dirty="0">
                <a:solidFill>
                  <a:srgbClr val="000000"/>
                </a:solidFill>
                <a:effectLst/>
                <a:highlight>
                  <a:srgbClr val="F7F7F7"/>
                </a:highlight>
                <a:latin typeface="Courier New" panose="02070309020205020404" pitchFamily="49" charset="0"/>
              </a:rPr>
              <a:t>, :]</a:t>
            </a:r>
          </a:p>
          <a:p>
            <a:pPr lvl="2"/>
            <a:r>
              <a:rPr lang="en" altLang="zh-TW" sz="1200" b="0" dirty="0">
                <a:solidFill>
                  <a:srgbClr val="008000"/>
                </a:solidFill>
                <a:effectLst/>
                <a:highlight>
                  <a:srgbClr val="F7F7F7"/>
                </a:highlight>
                <a:latin typeface="Courier New" panose="02070309020205020404" pitchFamily="49" charset="0"/>
              </a:rPr>
              <a:t># produce output</a:t>
            </a:r>
            <a:endParaRPr lang="en" altLang="zh-TW" sz="1200" b="0" dirty="0">
              <a:solidFill>
                <a:srgbClr val="000000"/>
              </a:solidFill>
              <a:effectLst/>
              <a:highlight>
                <a:srgbClr val="F7F7F7"/>
              </a:highlight>
              <a:latin typeface="Courier New" panose="02070309020205020404" pitchFamily="49" charset="0"/>
            </a:endParaRPr>
          </a:p>
          <a:p>
            <a:pPr lvl="2"/>
            <a:r>
              <a:rPr lang="en" altLang="zh-TW" sz="1200" b="0" dirty="0">
                <a:solidFill>
                  <a:srgbClr val="000000"/>
                </a:solidFill>
                <a:effectLst/>
                <a:highlight>
                  <a:srgbClr val="F7F7F7"/>
                </a:highlight>
                <a:latin typeface="Courier New" panose="02070309020205020404" pitchFamily="49" charset="0"/>
              </a:rPr>
              <a:t>x = </a:t>
            </a:r>
            <a:r>
              <a:rPr lang="en" altLang="zh-TW" sz="1200" b="0" dirty="0" err="1">
                <a:solidFill>
                  <a:srgbClr val="001080"/>
                </a:solidFill>
                <a:effectLst/>
                <a:highlight>
                  <a:srgbClr val="F7F7F7"/>
                </a:highlight>
                <a:latin typeface="Courier New" panose="02070309020205020404" pitchFamily="49" charset="0"/>
              </a:rPr>
              <a:t>self</a:t>
            </a:r>
            <a:r>
              <a:rPr lang="en" altLang="zh-TW" sz="1200" b="0" dirty="0" err="1">
                <a:solidFill>
                  <a:srgbClr val="000000"/>
                </a:solidFill>
                <a:effectLst/>
                <a:highlight>
                  <a:srgbClr val="F7F7F7"/>
                </a:highlight>
                <a:latin typeface="Courier New" panose="02070309020205020404" pitchFamily="49" charset="0"/>
              </a:rPr>
              <a:t>.linear</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1080"/>
                </a:solidFill>
                <a:effectLst/>
                <a:highlight>
                  <a:srgbClr val="F7F7F7"/>
                </a:highlight>
                <a:latin typeface="Courier New" panose="02070309020205020404" pitchFamily="49" charset="0"/>
              </a:rPr>
              <a:t>self</a:t>
            </a:r>
            <a:r>
              <a:rPr lang="en" altLang="zh-TW" sz="1200" b="0" dirty="0" err="1">
                <a:solidFill>
                  <a:srgbClr val="000000"/>
                </a:solidFill>
                <a:effectLst/>
                <a:highlight>
                  <a:srgbClr val="F7F7F7"/>
                </a:highlight>
                <a:latin typeface="Courier New" panose="02070309020205020404" pitchFamily="49" charset="0"/>
              </a:rPr>
              <a:t>.dropout</a:t>
            </a:r>
            <a:r>
              <a:rPr lang="en" altLang="zh-TW" sz="1200" b="0" dirty="0">
                <a:solidFill>
                  <a:srgbClr val="000000"/>
                </a:solidFill>
                <a:effectLst/>
                <a:highlight>
                  <a:srgbClr val="F7F7F7"/>
                </a:highlight>
                <a:latin typeface="Courier New" panose="02070309020205020404" pitchFamily="49" charset="0"/>
              </a:rPr>
              <a:t>(x))</a:t>
            </a:r>
          </a:p>
          <a:p>
            <a:pPr lvl="2"/>
            <a:r>
              <a:rPr lang="en" altLang="zh-TW" sz="1200" b="0" dirty="0">
                <a:solidFill>
                  <a:srgbClr val="AF00DB"/>
                </a:solidFill>
                <a:effectLst/>
                <a:highlight>
                  <a:srgbClr val="F7F7F7"/>
                </a:highlight>
                <a:latin typeface="Courier New" panose="02070309020205020404" pitchFamily="49" charset="0"/>
              </a:rPr>
              <a:t>return</a:t>
            </a:r>
            <a:r>
              <a:rPr lang="en" altLang="zh-TW" sz="1200" b="0" dirty="0">
                <a:solidFill>
                  <a:srgbClr val="000000"/>
                </a:solidFill>
                <a:effectLst/>
                <a:highlight>
                  <a:srgbClr val="F7F7F7"/>
                </a:highlight>
                <a:latin typeface="Courier New" panose="02070309020205020404" pitchFamily="49" charset="0"/>
              </a:rPr>
              <a:t> x</a:t>
            </a:r>
          </a:p>
        </p:txBody>
      </p:sp>
    </p:spTree>
    <p:extLst>
      <p:ext uri="{BB962C8B-B14F-4D97-AF65-F5344CB8AC3E}">
        <p14:creationId xmlns:p14="http://schemas.microsoft.com/office/powerpoint/2010/main" val="41659870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0700F7-BFFB-69DB-34EB-B46D773C05B4}"/>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a:t>
            </a:r>
            <a:r>
              <a:rPr kumimoji="1" lang="en-US" altLang="zh-TW" dirty="0"/>
              <a:t>Char-based</a:t>
            </a:r>
            <a:r>
              <a:rPr kumimoji="1" lang="zh-TW" altLang="en-US" dirty="0"/>
              <a:t> </a:t>
            </a:r>
            <a:r>
              <a:rPr kumimoji="1" lang="en-US" altLang="zh-TW" dirty="0"/>
              <a:t>generator</a:t>
            </a:r>
            <a:endParaRPr kumimoji="1" lang="zh-TW" altLang="en-US" dirty="0"/>
          </a:p>
        </p:txBody>
      </p:sp>
      <p:sp>
        <p:nvSpPr>
          <p:cNvPr id="3" name="內容版面配置區 2">
            <a:extLst>
              <a:ext uri="{FF2B5EF4-FFF2-40B4-BE49-F238E27FC236}">
                <a16:creationId xmlns:a16="http://schemas.microsoft.com/office/drawing/2014/main" id="{EE6AF0AB-7C54-BC02-A05F-7CBFBC0CF180}"/>
              </a:ext>
            </a:extLst>
          </p:cNvPr>
          <p:cNvSpPr>
            <a:spLocks noGrp="1"/>
          </p:cNvSpPr>
          <p:nvPr>
            <p:ph idx="1"/>
          </p:nvPr>
        </p:nvSpPr>
        <p:spPr>
          <a:xfrm>
            <a:off x="838200" y="1825625"/>
            <a:ext cx="3716867" cy="4351338"/>
          </a:xfrm>
        </p:spPr>
        <p:txBody>
          <a:bodyPr/>
          <a:lstStyle/>
          <a:p>
            <a:r>
              <a:rPr kumimoji="1" lang="zh-TW" altLang="en-US" dirty="0"/>
              <a:t>訓練階段</a:t>
            </a:r>
            <a:endParaRPr kumimoji="1" lang="en-US" altLang="zh-TW" dirty="0"/>
          </a:p>
          <a:p>
            <a:pPr lvl="1"/>
            <a:r>
              <a:rPr kumimoji="1" lang="zh-TW" altLang="en-US" dirty="0"/>
              <a:t>記錄最佳</a:t>
            </a:r>
            <a:r>
              <a:rPr kumimoji="1" lang="en-US" altLang="zh-TW" dirty="0"/>
              <a:t>(loss</a:t>
            </a:r>
            <a:r>
              <a:rPr kumimoji="1" lang="zh-TW" altLang="en-US" dirty="0"/>
              <a:t>最小</a:t>
            </a:r>
            <a:r>
              <a:rPr kumimoji="1" lang="en-US" altLang="zh-TW" dirty="0"/>
              <a:t>)</a:t>
            </a:r>
            <a:r>
              <a:rPr kumimoji="1" lang="zh-TW" altLang="en-US" dirty="0"/>
              <a:t>的模型</a:t>
            </a:r>
            <a:endParaRPr kumimoji="1" lang="en-US" altLang="zh-TW" dirty="0"/>
          </a:p>
          <a:p>
            <a:pPr lvl="1"/>
            <a:r>
              <a:rPr kumimoji="1" lang="zh-TW" altLang="en-US" dirty="0"/>
              <a:t>把最佳參數存下來</a:t>
            </a:r>
            <a:endParaRPr kumimoji="1" lang="en-US" altLang="zh-TW" dirty="0"/>
          </a:p>
          <a:p>
            <a:endParaRPr kumimoji="1" lang="zh-TW" altLang="en-US" dirty="0"/>
          </a:p>
        </p:txBody>
      </p:sp>
      <p:sp>
        <p:nvSpPr>
          <p:cNvPr id="5" name="文字方塊 4">
            <a:extLst>
              <a:ext uri="{FF2B5EF4-FFF2-40B4-BE49-F238E27FC236}">
                <a16:creationId xmlns:a16="http://schemas.microsoft.com/office/drawing/2014/main" id="{6F6ABE07-B6F1-8E47-8A96-FB4191F8C58B}"/>
              </a:ext>
            </a:extLst>
          </p:cNvPr>
          <p:cNvSpPr txBox="1"/>
          <p:nvPr/>
        </p:nvSpPr>
        <p:spPr>
          <a:xfrm>
            <a:off x="4639732" y="1805517"/>
            <a:ext cx="7332135" cy="4832092"/>
          </a:xfrm>
          <a:prstGeom prst="rect">
            <a:avLst/>
          </a:prstGeom>
          <a:noFill/>
          <a:ln>
            <a:solidFill>
              <a:schemeClr val="tx1"/>
            </a:solidFill>
          </a:ln>
        </p:spPr>
        <p:txBody>
          <a:bodyPr wrap="square">
            <a:spAutoFit/>
          </a:bodyPr>
          <a:lstStyle/>
          <a:p>
            <a:r>
              <a:rPr lang="en" altLang="zh-TW" sz="1100" b="0" dirty="0" err="1">
                <a:solidFill>
                  <a:srgbClr val="000000"/>
                </a:solidFill>
                <a:effectLst/>
                <a:highlight>
                  <a:srgbClr val="F7F7F7"/>
                </a:highlight>
                <a:latin typeface="Courier New" panose="02070309020205020404" pitchFamily="49" charset="0"/>
              </a:rPr>
              <a:t>model.to</a:t>
            </a:r>
            <a:r>
              <a:rPr lang="en" altLang="zh-TW" sz="1100" b="0" dirty="0">
                <a:solidFill>
                  <a:srgbClr val="000000"/>
                </a:solidFill>
                <a:effectLst/>
                <a:highlight>
                  <a:srgbClr val="F7F7F7"/>
                </a:highlight>
                <a:latin typeface="Courier New" panose="02070309020205020404" pitchFamily="49" charset="0"/>
              </a:rPr>
              <a:t>(device)</a:t>
            </a:r>
          </a:p>
          <a:p>
            <a:r>
              <a:rPr lang="en" altLang="zh-TW" sz="1100" b="0" dirty="0" err="1">
                <a:solidFill>
                  <a:srgbClr val="000000"/>
                </a:solidFill>
                <a:effectLst/>
                <a:highlight>
                  <a:srgbClr val="F7F7F7"/>
                </a:highlight>
                <a:latin typeface="Courier New" panose="02070309020205020404" pitchFamily="49" charset="0"/>
              </a:rPr>
              <a:t>best_model</a:t>
            </a:r>
            <a:r>
              <a:rPr lang="en" altLang="zh-TW" sz="1100" b="0" dirty="0">
                <a:solidFill>
                  <a:srgbClr val="000000"/>
                </a:solidFill>
                <a:effectLst/>
                <a:highlight>
                  <a:srgbClr val="F7F7F7"/>
                </a:highlight>
                <a:latin typeface="Courier New" panose="02070309020205020404" pitchFamily="49" charset="0"/>
              </a:rPr>
              <a:t> = </a:t>
            </a:r>
            <a:r>
              <a:rPr lang="en" altLang="zh-TW" sz="1100" b="0" dirty="0">
                <a:solidFill>
                  <a:srgbClr val="0000FF"/>
                </a:solidFill>
                <a:effectLst/>
                <a:highlight>
                  <a:srgbClr val="F7F7F7"/>
                </a:highlight>
                <a:latin typeface="Courier New" panose="02070309020205020404" pitchFamily="49" charset="0"/>
              </a:rPr>
              <a:t>None</a:t>
            </a:r>
            <a:endParaRPr lang="en" altLang="zh-TW" sz="1100" b="0" dirty="0">
              <a:solidFill>
                <a:srgbClr val="000000"/>
              </a:solidFill>
              <a:effectLst/>
              <a:highlight>
                <a:srgbClr val="F7F7F7"/>
              </a:highlight>
              <a:latin typeface="Courier New" panose="02070309020205020404" pitchFamily="49" charset="0"/>
            </a:endParaRPr>
          </a:p>
          <a:p>
            <a:r>
              <a:rPr lang="en" altLang="zh-TW" sz="1100" b="0" dirty="0" err="1">
                <a:solidFill>
                  <a:srgbClr val="000000"/>
                </a:solidFill>
                <a:effectLst/>
                <a:highlight>
                  <a:srgbClr val="F7F7F7"/>
                </a:highlight>
                <a:latin typeface="Courier New" panose="02070309020205020404" pitchFamily="49" charset="0"/>
              </a:rPr>
              <a:t>best_loss</a:t>
            </a:r>
            <a:r>
              <a:rPr lang="en" altLang="zh-TW" sz="1100" b="0" dirty="0">
                <a:solidFill>
                  <a:srgbClr val="000000"/>
                </a:solidFill>
                <a:effectLst/>
                <a:highlight>
                  <a:srgbClr val="F7F7F7"/>
                </a:highlight>
                <a:latin typeface="Courier New" panose="02070309020205020404" pitchFamily="49" charset="0"/>
              </a:rPr>
              <a:t> = </a:t>
            </a:r>
            <a:r>
              <a:rPr lang="en" altLang="zh-TW" sz="1100" b="0" dirty="0" err="1">
                <a:solidFill>
                  <a:srgbClr val="000000"/>
                </a:solidFill>
                <a:effectLst/>
                <a:highlight>
                  <a:srgbClr val="F7F7F7"/>
                </a:highlight>
                <a:latin typeface="Courier New" panose="02070309020205020404" pitchFamily="49" charset="0"/>
              </a:rPr>
              <a:t>np.inf</a:t>
            </a:r>
            <a:endParaRPr lang="en" altLang="zh-TW" sz="1100" b="0" dirty="0">
              <a:solidFill>
                <a:srgbClr val="000000"/>
              </a:solidFill>
              <a:effectLst/>
              <a:highlight>
                <a:srgbClr val="F7F7F7"/>
              </a:highlight>
              <a:latin typeface="Courier New" panose="02070309020205020404" pitchFamily="49" charset="0"/>
            </a:endParaRPr>
          </a:p>
          <a:p>
            <a:r>
              <a:rPr lang="en" altLang="zh-TW" sz="1100" b="0" dirty="0">
                <a:solidFill>
                  <a:srgbClr val="AF00DB"/>
                </a:solidFill>
                <a:effectLst/>
                <a:highlight>
                  <a:srgbClr val="F7F7F7"/>
                </a:highlight>
                <a:latin typeface="Courier New" panose="02070309020205020404" pitchFamily="49" charset="0"/>
              </a:rPr>
              <a:t>for</a:t>
            </a:r>
            <a:r>
              <a:rPr lang="en" altLang="zh-TW" sz="1100" b="0" dirty="0">
                <a:solidFill>
                  <a:srgbClr val="000000"/>
                </a:solidFill>
                <a:effectLst/>
                <a:highlight>
                  <a:srgbClr val="F7F7F7"/>
                </a:highlight>
                <a:latin typeface="Courier New" panose="02070309020205020404" pitchFamily="49" charset="0"/>
              </a:rPr>
              <a:t> epoch </a:t>
            </a:r>
            <a:r>
              <a:rPr lang="en" altLang="zh-TW" sz="1100" b="0" dirty="0">
                <a:solidFill>
                  <a:srgbClr val="0000FF"/>
                </a:solidFill>
                <a:effectLst/>
                <a:highlight>
                  <a:srgbClr val="F7F7F7"/>
                </a:highlight>
                <a:latin typeface="Courier New" panose="02070309020205020404" pitchFamily="49" charset="0"/>
              </a:rPr>
              <a:t>in</a:t>
            </a:r>
            <a:r>
              <a:rPr lang="en" altLang="zh-TW" sz="1100" b="0" dirty="0">
                <a:solidFill>
                  <a:srgbClr val="000000"/>
                </a:solidFill>
                <a:effectLst/>
                <a:highlight>
                  <a:srgbClr val="F7F7F7"/>
                </a:highlight>
                <a:latin typeface="Courier New" panose="02070309020205020404" pitchFamily="49" charset="0"/>
              </a:rPr>
              <a:t> </a:t>
            </a:r>
            <a:r>
              <a:rPr lang="en" altLang="zh-TW" sz="1100" b="0" dirty="0">
                <a:solidFill>
                  <a:srgbClr val="795E26"/>
                </a:solidFill>
                <a:effectLst/>
                <a:highlight>
                  <a:srgbClr val="F7F7F7"/>
                </a:highlight>
                <a:latin typeface="Courier New" panose="02070309020205020404" pitchFamily="49" charset="0"/>
              </a:rPr>
              <a:t>range</a:t>
            </a:r>
            <a:r>
              <a:rPr lang="en" altLang="zh-TW" sz="1100" b="0" dirty="0">
                <a:solidFill>
                  <a:srgbClr val="000000"/>
                </a:solidFill>
                <a:effectLst/>
                <a:highlight>
                  <a:srgbClr val="F7F7F7"/>
                </a:highlight>
                <a:latin typeface="Courier New" panose="02070309020205020404" pitchFamily="49" charset="0"/>
              </a:rPr>
              <a:t>(</a:t>
            </a:r>
            <a:r>
              <a:rPr lang="en" altLang="zh-TW" sz="1100" b="0" dirty="0" err="1">
                <a:solidFill>
                  <a:srgbClr val="000000"/>
                </a:solidFill>
                <a:effectLst/>
                <a:highlight>
                  <a:srgbClr val="F7F7F7"/>
                </a:highlight>
                <a:latin typeface="Courier New" panose="02070309020205020404" pitchFamily="49" charset="0"/>
              </a:rPr>
              <a:t>n_epochs</a:t>
            </a:r>
            <a:r>
              <a:rPr lang="en" altLang="zh-TW" sz="1100" b="0" dirty="0">
                <a:solidFill>
                  <a:srgbClr val="000000"/>
                </a:solidFill>
                <a:effectLst/>
                <a:highlight>
                  <a:srgbClr val="F7F7F7"/>
                </a:highlight>
                <a:latin typeface="Courier New" panose="02070309020205020404" pitchFamily="49" charset="0"/>
              </a:rPr>
              <a:t>):</a:t>
            </a:r>
          </a:p>
          <a:p>
            <a:pPr lvl="1"/>
            <a:r>
              <a:rPr lang="en" altLang="zh-TW" sz="1100" b="0" dirty="0" err="1">
                <a:solidFill>
                  <a:srgbClr val="000000"/>
                </a:solidFill>
                <a:effectLst/>
                <a:highlight>
                  <a:srgbClr val="F7F7F7"/>
                </a:highlight>
                <a:latin typeface="Courier New" panose="02070309020205020404" pitchFamily="49" charset="0"/>
              </a:rPr>
              <a:t>model.train</a:t>
            </a:r>
            <a:r>
              <a:rPr lang="en" altLang="zh-TW" sz="1100" b="0" dirty="0">
                <a:solidFill>
                  <a:srgbClr val="000000"/>
                </a:solidFill>
                <a:effectLst/>
                <a:highlight>
                  <a:srgbClr val="F7F7F7"/>
                </a:highlight>
                <a:latin typeface="Courier New" panose="02070309020205020404" pitchFamily="49" charset="0"/>
              </a:rPr>
              <a:t>()</a:t>
            </a:r>
          </a:p>
          <a:p>
            <a:pPr lvl="1"/>
            <a:r>
              <a:rPr lang="en" altLang="zh-TW" sz="1100" b="0" dirty="0">
                <a:solidFill>
                  <a:srgbClr val="AF00DB"/>
                </a:solidFill>
                <a:effectLst/>
                <a:highlight>
                  <a:srgbClr val="F7F7F7"/>
                </a:highlight>
                <a:latin typeface="Courier New" panose="02070309020205020404" pitchFamily="49" charset="0"/>
              </a:rPr>
              <a:t>for</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X_batch</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y_batch</a:t>
            </a:r>
            <a:r>
              <a:rPr lang="en" altLang="zh-TW" sz="1100" b="0" dirty="0">
                <a:solidFill>
                  <a:srgbClr val="000000"/>
                </a:solidFill>
                <a:effectLst/>
                <a:highlight>
                  <a:srgbClr val="F7F7F7"/>
                </a:highlight>
                <a:latin typeface="Courier New" panose="02070309020205020404" pitchFamily="49" charset="0"/>
              </a:rPr>
              <a:t> </a:t>
            </a:r>
            <a:r>
              <a:rPr lang="en" altLang="zh-TW" sz="1100" b="0" dirty="0">
                <a:solidFill>
                  <a:srgbClr val="0000FF"/>
                </a:solidFill>
                <a:effectLst/>
                <a:highlight>
                  <a:srgbClr val="F7F7F7"/>
                </a:highlight>
                <a:latin typeface="Courier New" panose="02070309020205020404" pitchFamily="49" charset="0"/>
              </a:rPr>
              <a:t>in</a:t>
            </a:r>
            <a:r>
              <a:rPr lang="en" altLang="zh-TW" sz="1100" b="0" dirty="0">
                <a:solidFill>
                  <a:srgbClr val="000000"/>
                </a:solidFill>
                <a:effectLst/>
                <a:highlight>
                  <a:srgbClr val="F7F7F7"/>
                </a:highlight>
                <a:latin typeface="Courier New" panose="02070309020205020404" pitchFamily="49" charset="0"/>
              </a:rPr>
              <a:t> loader:</a:t>
            </a:r>
          </a:p>
          <a:p>
            <a:pPr lvl="2"/>
            <a:r>
              <a:rPr lang="en" altLang="zh-TW" sz="1100" b="0" dirty="0" err="1">
                <a:solidFill>
                  <a:srgbClr val="000000"/>
                </a:solidFill>
                <a:effectLst/>
                <a:highlight>
                  <a:srgbClr val="F7F7F7"/>
                </a:highlight>
                <a:latin typeface="Courier New" panose="02070309020205020404" pitchFamily="49" charset="0"/>
              </a:rPr>
              <a:t>X_batch</a:t>
            </a:r>
            <a:r>
              <a:rPr lang="en" altLang="zh-TW" sz="1100" b="0" dirty="0">
                <a:solidFill>
                  <a:srgbClr val="000000"/>
                </a:solidFill>
                <a:effectLst/>
                <a:highlight>
                  <a:srgbClr val="F7F7F7"/>
                </a:highlight>
                <a:latin typeface="Courier New" panose="02070309020205020404" pitchFamily="49" charset="0"/>
              </a:rPr>
              <a:t> = </a:t>
            </a:r>
            <a:r>
              <a:rPr lang="en" altLang="zh-TW" sz="1100" b="0" dirty="0" err="1">
                <a:solidFill>
                  <a:srgbClr val="000000"/>
                </a:solidFill>
                <a:effectLst/>
                <a:highlight>
                  <a:srgbClr val="F7F7F7"/>
                </a:highlight>
                <a:latin typeface="Courier New" panose="02070309020205020404" pitchFamily="49" charset="0"/>
              </a:rPr>
              <a:t>X_batch.to</a:t>
            </a:r>
            <a:r>
              <a:rPr lang="en" altLang="zh-TW" sz="1100" b="0" dirty="0">
                <a:solidFill>
                  <a:srgbClr val="000000"/>
                </a:solidFill>
                <a:effectLst/>
                <a:highlight>
                  <a:srgbClr val="F7F7F7"/>
                </a:highlight>
                <a:latin typeface="Courier New" panose="02070309020205020404" pitchFamily="49" charset="0"/>
              </a:rPr>
              <a:t>(device)</a:t>
            </a:r>
          </a:p>
          <a:p>
            <a:pPr lvl="2"/>
            <a:r>
              <a:rPr lang="en" altLang="zh-TW" sz="1100" b="0" dirty="0" err="1">
                <a:solidFill>
                  <a:srgbClr val="000000"/>
                </a:solidFill>
                <a:effectLst/>
                <a:highlight>
                  <a:srgbClr val="F7F7F7"/>
                </a:highlight>
                <a:latin typeface="Courier New" panose="02070309020205020404" pitchFamily="49" charset="0"/>
              </a:rPr>
              <a:t>y_batch</a:t>
            </a:r>
            <a:r>
              <a:rPr lang="en" altLang="zh-TW" sz="1100" b="0" dirty="0">
                <a:solidFill>
                  <a:srgbClr val="000000"/>
                </a:solidFill>
                <a:effectLst/>
                <a:highlight>
                  <a:srgbClr val="F7F7F7"/>
                </a:highlight>
                <a:latin typeface="Courier New" panose="02070309020205020404" pitchFamily="49" charset="0"/>
              </a:rPr>
              <a:t> = </a:t>
            </a:r>
            <a:r>
              <a:rPr lang="en" altLang="zh-TW" sz="1100" b="0" dirty="0" err="1">
                <a:solidFill>
                  <a:srgbClr val="000000"/>
                </a:solidFill>
                <a:effectLst/>
                <a:highlight>
                  <a:srgbClr val="F7F7F7"/>
                </a:highlight>
                <a:latin typeface="Courier New" panose="02070309020205020404" pitchFamily="49" charset="0"/>
              </a:rPr>
              <a:t>y_batch.to</a:t>
            </a:r>
            <a:r>
              <a:rPr lang="en" altLang="zh-TW" sz="1100" b="0" dirty="0">
                <a:solidFill>
                  <a:srgbClr val="000000"/>
                </a:solidFill>
                <a:effectLst/>
                <a:highlight>
                  <a:srgbClr val="F7F7F7"/>
                </a:highlight>
                <a:latin typeface="Courier New" panose="02070309020205020404" pitchFamily="49" charset="0"/>
              </a:rPr>
              <a:t>(device)</a:t>
            </a:r>
          </a:p>
          <a:p>
            <a:pPr lvl="2"/>
            <a:r>
              <a:rPr lang="en" altLang="zh-TW" sz="1100" b="0" dirty="0" err="1">
                <a:solidFill>
                  <a:srgbClr val="000000"/>
                </a:solidFill>
                <a:effectLst/>
                <a:highlight>
                  <a:srgbClr val="F7F7F7"/>
                </a:highlight>
                <a:latin typeface="Courier New" panose="02070309020205020404" pitchFamily="49" charset="0"/>
              </a:rPr>
              <a:t>y_pred</a:t>
            </a:r>
            <a:r>
              <a:rPr lang="en" altLang="zh-TW" sz="1100" b="0" dirty="0">
                <a:solidFill>
                  <a:srgbClr val="000000"/>
                </a:solidFill>
                <a:effectLst/>
                <a:highlight>
                  <a:srgbClr val="F7F7F7"/>
                </a:highlight>
                <a:latin typeface="Courier New" panose="02070309020205020404" pitchFamily="49" charset="0"/>
              </a:rPr>
              <a:t> = model(</a:t>
            </a:r>
            <a:r>
              <a:rPr lang="en" altLang="zh-TW" sz="1100" b="0" dirty="0" err="1">
                <a:solidFill>
                  <a:srgbClr val="000000"/>
                </a:solidFill>
                <a:effectLst/>
                <a:highlight>
                  <a:srgbClr val="F7F7F7"/>
                </a:highlight>
                <a:latin typeface="Courier New" panose="02070309020205020404" pitchFamily="49" charset="0"/>
              </a:rPr>
              <a:t>X_batch</a:t>
            </a:r>
            <a:r>
              <a:rPr lang="en" altLang="zh-TW" sz="1100" b="0" dirty="0">
                <a:solidFill>
                  <a:srgbClr val="000000"/>
                </a:solidFill>
                <a:effectLst/>
                <a:highlight>
                  <a:srgbClr val="F7F7F7"/>
                </a:highlight>
                <a:latin typeface="Courier New" panose="02070309020205020404" pitchFamily="49" charset="0"/>
              </a:rPr>
              <a:t>)</a:t>
            </a:r>
          </a:p>
          <a:p>
            <a:pPr lvl="2"/>
            <a:r>
              <a:rPr lang="en" altLang="zh-TW" sz="1100" b="0" dirty="0">
                <a:solidFill>
                  <a:srgbClr val="000000"/>
                </a:solidFill>
                <a:effectLst/>
                <a:highlight>
                  <a:srgbClr val="F7F7F7"/>
                </a:highlight>
                <a:latin typeface="Courier New" panose="02070309020205020404" pitchFamily="49" charset="0"/>
              </a:rPr>
              <a:t>loss = </a:t>
            </a:r>
            <a:r>
              <a:rPr lang="en" altLang="zh-TW" sz="1100" b="0" dirty="0" err="1">
                <a:solidFill>
                  <a:srgbClr val="000000"/>
                </a:solidFill>
                <a:effectLst/>
                <a:highlight>
                  <a:srgbClr val="F7F7F7"/>
                </a:highlight>
                <a:latin typeface="Courier New" panose="02070309020205020404" pitchFamily="49" charset="0"/>
              </a:rPr>
              <a:t>loss_fn</a:t>
            </a:r>
            <a:r>
              <a:rPr lang="en" altLang="zh-TW" sz="1100" b="0" dirty="0">
                <a:solidFill>
                  <a:srgbClr val="000000"/>
                </a:solidFill>
                <a:effectLst/>
                <a:highlight>
                  <a:srgbClr val="F7F7F7"/>
                </a:highlight>
                <a:latin typeface="Courier New" panose="02070309020205020404" pitchFamily="49" charset="0"/>
              </a:rPr>
              <a:t>(</a:t>
            </a:r>
            <a:r>
              <a:rPr lang="en" altLang="zh-TW" sz="1100" b="0" dirty="0" err="1">
                <a:solidFill>
                  <a:srgbClr val="000000"/>
                </a:solidFill>
                <a:effectLst/>
                <a:highlight>
                  <a:srgbClr val="F7F7F7"/>
                </a:highlight>
                <a:latin typeface="Courier New" panose="02070309020205020404" pitchFamily="49" charset="0"/>
              </a:rPr>
              <a:t>y_pred</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y_batch</a:t>
            </a:r>
            <a:r>
              <a:rPr lang="en" altLang="zh-TW" sz="1100" b="0" dirty="0">
                <a:solidFill>
                  <a:srgbClr val="000000"/>
                </a:solidFill>
                <a:effectLst/>
                <a:highlight>
                  <a:srgbClr val="F7F7F7"/>
                </a:highlight>
                <a:latin typeface="Courier New" panose="02070309020205020404" pitchFamily="49" charset="0"/>
              </a:rPr>
              <a:t>)</a:t>
            </a:r>
          </a:p>
          <a:p>
            <a:pPr lvl="2"/>
            <a:r>
              <a:rPr lang="en" altLang="zh-TW" sz="1100" b="0" dirty="0" err="1">
                <a:solidFill>
                  <a:srgbClr val="000000"/>
                </a:solidFill>
                <a:effectLst/>
                <a:highlight>
                  <a:srgbClr val="F7F7F7"/>
                </a:highlight>
                <a:latin typeface="Courier New" panose="02070309020205020404" pitchFamily="49" charset="0"/>
              </a:rPr>
              <a:t>optimizer.zero_grad</a:t>
            </a:r>
            <a:r>
              <a:rPr lang="en" altLang="zh-TW" sz="1100" b="0" dirty="0">
                <a:solidFill>
                  <a:srgbClr val="000000"/>
                </a:solidFill>
                <a:effectLst/>
                <a:highlight>
                  <a:srgbClr val="F7F7F7"/>
                </a:highlight>
                <a:latin typeface="Courier New" panose="02070309020205020404" pitchFamily="49" charset="0"/>
              </a:rPr>
              <a:t>()</a:t>
            </a:r>
          </a:p>
          <a:p>
            <a:pPr lvl="2"/>
            <a:r>
              <a:rPr lang="en" altLang="zh-TW" sz="1100" b="0" dirty="0" err="1">
                <a:solidFill>
                  <a:srgbClr val="000000"/>
                </a:solidFill>
                <a:effectLst/>
                <a:highlight>
                  <a:srgbClr val="F7F7F7"/>
                </a:highlight>
                <a:latin typeface="Courier New" panose="02070309020205020404" pitchFamily="49" charset="0"/>
              </a:rPr>
              <a:t>loss.backward</a:t>
            </a:r>
            <a:r>
              <a:rPr lang="en" altLang="zh-TW" sz="1100" b="0" dirty="0">
                <a:solidFill>
                  <a:srgbClr val="000000"/>
                </a:solidFill>
                <a:effectLst/>
                <a:highlight>
                  <a:srgbClr val="F7F7F7"/>
                </a:highlight>
                <a:latin typeface="Courier New" panose="02070309020205020404" pitchFamily="49" charset="0"/>
              </a:rPr>
              <a:t>()</a:t>
            </a:r>
          </a:p>
          <a:p>
            <a:pPr lvl="2"/>
            <a:r>
              <a:rPr lang="en" altLang="zh-TW" sz="1100" b="0" dirty="0" err="1">
                <a:solidFill>
                  <a:srgbClr val="000000"/>
                </a:solidFill>
                <a:effectLst/>
                <a:highlight>
                  <a:srgbClr val="F7F7F7"/>
                </a:highlight>
                <a:latin typeface="Courier New" panose="02070309020205020404" pitchFamily="49" charset="0"/>
              </a:rPr>
              <a:t>optimizer.step</a:t>
            </a:r>
            <a:r>
              <a:rPr lang="en" altLang="zh-TW" sz="1100" b="0" dirty="0">
                <a:solidFill>
                  <a:srgbClr val="000000"/>
                </a:solidFill>
                <a:effectLst/>
                <a:highlight>
                  <a:srgbClr val="F7F7F7"/>
                </a:highlight>
                <a:latin typeface="Courier New" panose="02070309020205020404" pitchFamily="49" charset="0"/>
              </a:rPr>
              <a:t>()</a:t>
            </a:r>
          </a:p>
          <a:p>
            <a:pPr lvl="1"/>
            <a:r>
              <a:rPr lang="en" altLang="zh-TW" sz="1100" b="0" dirty="0">
                <a:solidFill>
                  <a:srgbClr val="008000"/>
                </a:solidFill>
                <a:effectLst/>
                <a:highlight>
                  <a:srgbClr val="F7F7F7"/>
                </a:highlight>
                <a:latin typeface="Courier New" panose="02070309020205020404" pitchFamily="49" charset="0"/>
              </a:rPr>
              <a:t># Validation</a:t>
            </a:r>
            <a:endParaRPr lang="en" altLang="zh-TW" sz="1100" b="0" dirty="0">
              <a:solidFill>
                <a:srgbClr val="000000"/>
              </a:solidFill>
              <a:effectLst/>
              <a:highlight>
                <a:srgbClr val="F7F7F7"/>
              </a:highlight>
              <a:latin typeface="Courier New" panose="02070309020205020404" pitchFamily="49" charset="0"/>
            </a:endParaRPr>
          </a:p>
          <a:p>
            <a:pPr lvl="1"/>
            <a:r>
              <a:rPr lang="en" altLang="zh-TW" sz="1100" b="0" dirty="0" err="1">
                <a:solidFill>
                  <a:srgbClr val="000000"/>
                </a:solidFill>
                <a:effectLst/>
                <a:highlight>
                  <a:srgbClr val="F7F7F7"/>
                </a:highlight>
                <a:latin typeface="Courier New" panose="02070309020205020404" pitchFamily="49" charset="0"/>
              </a:rPr>
              <a:t>model.</a:t>
            </a:r>
            <a:r>
              <a:rPr lang="en" altLang="zh-TW" sz="1100" b="0" dirty="0" err="1">
                <a:solidFill>
                  <a:srgbClr val="795E26"/>
                </a:solidFill>
                <a:effectLst/>
                <a:highlight>
                  <a:srgbClr val="F7F7F7"/>
                </a:highlight>
                <a:latin typeface="Courier New" panose="02070309020205020404" pitchFamily="49" charset="0"/>
              </a:rPr>
              <a:t>eval</a:t>
            </a:r>
            <a:r>
              <a:rPr lang="en" altLang="zh-TW" sz="1100" b="0" dirty="0">
                <a:solidFill>
                  <a:srgbClr val="000000"/>
                </a:solidFill>
                <a:effectLst/>
                <a:highlight>
                  <a:srgbClr val="F7F7F7"/>
                </a:highlight>
                <a:latin typeface="Courier New" panose="02070309020205020404" pitchFamily="49" charset="0"/>
              </a:rPr>
              <a:t>()</a:t>
            </a:r>
          </a:p>
          <a:p>
            <a:pPr lvl="1"/>
            <a:r>
              <a:rPr lang="en" altLang="zh-TW" sz="1100" b="0" dirty="0">
                <a:solidFill>
                  <a:srgbClr val="000000"/>
                </a:solidFill>
                <a:effectLst/>
                <a:highlight>
                  <a:srgbClr val="F7F7F7"/>
                </a:highlight>
                <a:latin typeface="Courier New" panose="02070309020205020404" pitchFamily="49" charset="0"/>
              </a:rPr>
              <a:t>loss = </a:t>
            </a:r>
            <a:r>
              <a:rPr lang="en" altLang="zh-TW" sz="1100" b="0" dirty="0">
                <a:solidFill>
                  <a:srgbClr val="116644"/>
                </a:solidFill>
                <a:effectLst/>
                <a:highlight>
                  <a:srgbClr val="F7F7F7"/>
                </a:highlight>
                <a:latin typeface="Courier New" panose="02070309020205020404" pitchFamily="49" charset="0"/>
              </a:rPr>
              <a:t>0</a:t>
            </a:r>
            <a:endParaRPr lang="en" altLang="zh-TW" sz="1100" b="0" dirty="0">
              <a:solidFill>
                <a:srgbClr val="000000"/>
              </a:solidFill>
              <a:effectLst/>
              <a:highlight>
                <a:srgbClr val="F7F7F7"/>
              </a:highlight>
              <a:latin typeface="Courier New" panose="02070309020205020404" pitchFamily="49" charset="0"/>
            </a:endParaRPr>
          </a:p>
          <a:p>
            <a:pPr lvl="1"/>
            <a:r>
              <a:rPr lang="en" altLang="zh-TW" sz="1100" b="0" dirty="0">
                <a:solidFill>
                  <a:srgbClr val="AF00DB"/>
                </a:solidFill>
                <a:effectLst/>
                <a:highlight>
                  <a:srgbClr val="F7F7F7"/>
                </a:highlight>
                <a:latin typeface="Courier New" panose="02070309020205020404" pitchFamily="49" charset="0"/>
              </a:rPr>
              <a:t>with</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torch.no_grad</a:t>
            </a:r>
            <a:r>
              <a:rPr lang="en" altLang="zh-TW" sz="1100" b="0" dirty="0">
                <a:solidFill>
                  <a:srgbClr val="000000"/>
                </a:solidFill>
                <a:effectLst/>
                <a:highlight>
                  <a:srgbClr val="F7F7F7"/>
                </a:highlight>
                <a:latin typeface="Courier New" panose="02070309020205020404" pitchFamily="49" charset="0"/>
              </a:rPr>
              <a:t>():</a:t>
            </a:r>
          </a:p>
          <a:p>
            <a:pPr lvl="2"/>
            <a:r>
              <a:rPr lang="en" altLang="zh-TW" sz="1100" b="0" dirty="0">
                <a:solidFill>
                  <a:srgbClr val="AF00DB"/>
                </a:solidFill>
                <a:effectLst/>
                <a:highlight>
                  <a:srgbClr val="F7F7F7"/>
                </a:highlight>
                <a:latin typeface="Courier New" panose="02070309020205020404" pitchFamily="49" charset="0"/>
              </a:rPr>
              <a:t>for</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X_batch</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y_batch</a:t>
            </a:r>
            <a:r>
              <a:rPr lang="en" altLang="zh-TW" sz="1100" b="0" dirty="0">
                <a:solidFill>
                  <a:srgbClr val="000000"/>
                </a:solidFill>
                <a:effectLst/>
                <a:highlight>
                  <a:srgbClr val="F7F7F7"/>
                </a:highlight>
                <a:latin typeface="Courier New" panose="02070309020205020404" pitchFamily="49" charset="0"/>
              </a:rPr>
              <a:t> </a:t>
            </a:r>
            <a:r>
              <a:rPr lang="en" altLang="zh-TW" sz="1100" b="0" dirty="0">
                <a:solidFill>
                  <a:srgbClr val="0000FF"/>
                </a:solidFill>
                <a:effectLst/>
                <a:highlight>
                  <a:srgbClr val="F7F7F7"/>
                </a:highlight>
                <a:latin typeface="Courier New" panose="02070309020205020404" pitchFamily="49" charset="0"/>
              </a:rPr>
              <a:t>in</a:t>
            </a:r>
            <a:r>
              <a:rPr lang="en" altLang="zh-TW" sz="1100" b="0" dirty="0">
                <a:solidFill>
                  <a:srgbClr val="000000"/>
                </a:solidFill>
                <a:effectLst/>
                <a:highlight>
                  <a:srgbClr val="F7F7F7"/>
                </a:highlight>
                <a:latin typeface="Courier New" panose="02070309020205020404" pitchFamily="49" charset="0"/>
              </a:rPr>
              <a:t> loader:</a:t>
            </a:r>
          </a:p>
          <a:p>
            <a:pPr lvl="3"/>
            <a:r>
              <a:rPr lang="en" altLang="zh-TW" sz="1100" b="0" dirty="0" err="1">
                <a:solidFill>
                  <a:srgbClr val="000000"/>
                </a:solidFill>
                <a:effectLst/>
                <a:highlight>
                  <a:srgbClr val="F7F7F7"/>
                </a:highlight>
                <a:latin typeface="Courier New" panose="02070309020205020404" pitchFamily="49" charset="0"/>
              </a:rPr>
              <a:t>X_batch</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X_batch.to</a:t>
            </a:r>
            <a:r>
              <a:rPr lang="en" altLang="zh-TW" sz="1100" b="0" dirty="0">
                <a:solidFill>
                  <a:srgbClr val="000000"/>
                </a:solidFill>
                <a:effectLst/>
                <a:highlight>
                  <a:srgbClr val="F7F7F7"/>
                </a:highlight>
                <a:latin typeface="Courier New" panose="02070309020205020404" pitchFamily="49" charset="0"/>
              </a:rPr>
              <a:t>(device)</a:t>
            </a:r>
          </a:p>
          <a:p>
            <a:pPr lvl="3"/>
            <a:r>
              <a:rPr lang="en" altLang="zh-TW" sz="1100" b="0" dirty="0" err="1">
                <a:solidFill>
                  <a:srgbClr val="000000"/>
                </a:solidFill>
                <a:effectLst/>
                <a:highlight>
                  <a:srgbClr val="F7F7F7"/>
                </a:highlight>
                <a:latin typeface="Courier New" panose="02070309020205020404" pitchFamily="49" charset="0"/>
              </a:rPr>
              <a:t>y_batch</a:t>
            </a:r>
            <a:r>
              <a:rPr lang="en" altLang="zh-TW" sz="1100" b="0" dirty="0">
                <a:solidFill>
                  <a:srgbClr val="000000"/>
                </a:solidFill>
                <a:effectLst/>
                <a:highlight>
                  <a:srgbClr val="F7F7F7"/>
                </a:highlight>
                <a:latin typeface="Courier New" panose="02070309020205020404" pitchFamily="49" charset="0"/>
              </a:rPr>
              <a:t> = </a:t>
            </a:r>
            <a:r>
              <a:rPr lang="en" altLang="zh-TW" sz="1100" b="0" dirty="0" err="1">
                <a:solidFill>
                  <a:srgbClr val="000000"/>
                </a:solidFill>
                <a:effectLst/>
                <a:highlight>
                  <a:srgbClr val="F7F7F7"/>
                </a:highlight>
                <a:latin typeface="Courier New" panose="02070309020205020404" pitchFamily="49" charset="0"/>
              </a:rPr>
              <a:t>y_batch.to</a:t>
            </a:r>
            <a:r>
              <a:rPr lang="en" altLang="zh-TW" sz="1100" b="0" dirty="0">
                <a:solidFill>
                  <a:srgbClr val="000000"/>
                </a:solidFill>
                <a:effectLst/>
                <a:highlight>
                  <a:srgbClr val="F7F7F7"/>
                </a:highlight>
                <a:latin typeface="Courier New" panose="02070309020205020404" pitchFamily="49" charset="0"/>
              </a:rPr>
              <a:t>(device)</a:t>
            </a:r>
          </a:p>
          <a:p>
            <a:pPr lvl="3"/>
            <a:r>
              <a:rPr lang="en" altLang="zh-TW" sz="1100" b="0" dirty="0" err="1">
                <a:solidFill>
                  <a:srgbClr val="000000"/>
                </a:solidFill>
                <a:effectLst/>
                <a:highlight>
                  <a:srgbClr val="F7F7F7"/>
                </a:highlight>
                <a:latin typeface="Courier New" panose="02070309020205020404" pitchFamily="49" charset="0"/>
              </a:rPr>
              <a:t>y_pred</a:t>
            </a:r>
            <a:r>
              <a:rPr lang="en" altLang="zh-TW" sz="1100" b="0" dirty="0">
                <a:solidFill>
                  <a:srgbClr val="000000"/>
                </a:solidFill>
                <a:effectLst/>
                <a:highlight>
                  <a:srgbClr val="F7F7F7"/>
                </a:highlight>
                <a:latin typeface="Courier New" panose="02070309020205020404" pitchFamily="49" charset="0"/>
              </a:rPr>
              <a:t> = model(</a:t>
            </a:r>
            <a:r>
              <a:rPr lang="en" altLang="zh-TW" sz="1100" b="0" dirty="0" err="1">
                <a:solidFill>
                  <a:srgbClr val="000000"/>
                </a:solidFill>
                <a:effectLst/>
                <a:highlight>
                  <a:srgbClr val="F7F7F7"/>
                </a:highlight>
                <a:latin typeface="Courier New" panose="02070309020205020404" pitchFamily="49" charset="0"/>
              </a:rPr>
              <a:t>X_batch</a:t>
            </a:r>
            <a:r>
              <a:rPr lang="en" altLang="zh-TW" sz="1100" b="0" dirty="0">
                <a:solidFill>
                  <a:srgbClr val="000000"/>
                </a:solidFill>
                <a:effectLst/>
                <a:highlight>
                  <a:srgbClr val="F7F7F7"/>
                </a:highlight>
                <a:latin typeface="Courier New" panose="02070309020205020404" pitchFamily="49" charset="0"/>
              </a:rPr>
              <a:t>)</a:t>
            </a:r>
          </a:p>
          <a:p>
            <a:pPr lvl="3"/>
            <a:r>
              <a:rPr lang="en" altLang="zh-TW" sz="1100" b="0" dirty="0">
                <a:solidFill>
                  <a:srgbClr val="000000"/>
                </a:solidFill>
                <a:effectLst/>
                <a:highlight>
                  <a:srgbClr val="F7F7F7"/>
                </a:highlight>
                <a:latin typeface="Courier New" panose="02070309020205020404" pitchFamily="49" charset="0"/>
              </a:rPr>
              <a:t>loss += </a:t>
            </a:r>
            <a:r>
              <a:rPr lang="en" altLang="zh-TW" sz="1100" b="0" dirty="0" err="1">
                <a:solidFill>
                  <a:srgbClr val="000000"/>
                </a:solidFill>
                <a:effectLst/>
                <a:highlight>
                  <a:srgbClr val="F7F7F7"/>
                </a:highlight>
                <a:latin typeface="Courier New" panose="02070309020205020404" pitchFamily="49" charset="0"/>
              </a:rPr>
              <a:t>loss_fn</a:t>
            </a:r>
            <a:r>
              <a:rPr lang="en" altLang="zh-TW" sz="1100" b="0" dirty="0">
                <a:solidFill>
                  <a:srgbClr val="000000"/>
                </a:solidFill>
                <a:effectLst/>
                <a:highlight>
                  <a:srgbClr val="F7F7F7"/>
                </a:highlight>
                <a:latin typeface="Courier New" panose="02070309020205020404" pitchFamily="49" charset="0"/>
              </a:rPr>
              <a:t>(</a:t>
            </a:r>
            <a:r>
              <a:rPr lang="en" altLang="zh-TW" sz="1100" b="0" dirty="0" err="1">
                <a:solidFill>
                  <a:srgbClr val="000000"/>
                </a:solidFill>
                <a:effectLst/>
                <a:highlight>
                  <a:srgbClr val="F7F7F7"/>
                </a:highlight>
                <a:latin typeface="Courier New" panose="02070309020205020404" pitchFamily="49" charset="0"/>
              </a:rPr>
              <a:t>y_pred</a:t>
            </a:r>
            <a:r>
              <a:rPr lang="en" altLang="zh-TW" sz="1100" b="0" dirty="0">
                <a:solidFill>
                  <a:srgbClr val="000000"/>
                </a:solidFill>
                <a:effectLst/>
                <a:highlight>
                  <a:srgbClr val="F7F7F7"/>
                </a:highlight>
                <a:latin typeface="Courier New" panose="02070309020205020404" pitchFamily="49" charset="0"/>
              </a:rPr>
              <a:t>, </a:t>
            </a:r>
            <a:r>
              <a:rPr lang="en" altLang="zh-TW" sz="1100" b="0" dirty="0" err="1">
                <a:solidFill>
                  <a:srgbClr val="000000"/>
                </a:solidFill>
                <a:effectLst/>
                <a:highlight>
                  <a:srgbClr val="F7F7F7"/>
                </a:highlight>
                <a:latin typeface="Courier New" panose="02070309020205020404" pitchFamily="49" charset="0"/>
              </a:rPr>
              <a:t>y_batch</a:t>
            </a:r>
            <a:r>
              <a:rPr lang="en" altLang="zh-TW" sz="1100" b="0" dirty="0">
                <a:solidFill>
                  <a:srgbClr val="000000"/>
                </a:solidFill>
                <a:effectLst/>
                <a:highlight>
                  <a:srgbClr val="F7F7F7"/>
                </a:highlight>
                <a:latin typeface="Courier New" panose="02070309020205020404" pitchFamily="49" charset="0"/>
              </a:rPr>
              <a:t>)</a:t>
            </a:r>
          </a:p>
          <a:p>
            <a:pPr lvl="2"/>
            <a:r>
              <a:rPr lang="en" altLang="zh-TW" sz="1100" b="0" dirty="0">
                <a:solidFill>
                  <a:srgbClr val="AF00DB"/>
                </a:solidFill>
                <a:effectLst/>
                <a:highlight>
                  <a:srgbClr val="F7F7F7"/>
                </a:highlight>
                <a:latin typeface="Courier New" panose="02070309020205020404" pitchFamily="49" charset="0"/>
              </a:rPr>
              <a:t>if</a:t>
            </a:r>
            <a:r>
              <a:rPr lang="en" altLang="zh-TW" sz="1100" b="0" dirty="0">
                <a:solidFill>
                  <a:srgbClr val="000000"/>
                </a:solidFill>
                <a:effectLst/>
                <a:highlight>
                  <a:srgbClr val="F7F7F7"/>
                </a:highlight>
                <a:latin typeface="Courier New" panose="02070309020205020404" pitchFamily="49" charset="0"/>
              </a:rPr>
              <a:t> loss &lt; </a:t>
            </a:r>
            <a:r>
              <a:rPr lang="en" altLang="zh-TW" sz="1100" b="0" dirty="0" err="1">
                <a:solidFill>
                  <a:srgbClr val="000000"/>
                </a:solidFill>
                <a:effectLst/>
                <a:highlight>
                  <a:srgbClr val="F7F7F7"/>
                </a:highlight>
                <a:latin typeface="Courier New" panose="02070309020205020404" pitchFamily="49" charset="0"/>
              </a:rPr>
              <a:t>best_loss</a:t>
            </a:r>
            <a:r>
              <a:rPr lang="en" altLang="zh-TW" sz="1100" b="0" dirty="0">
                <a:solidFill>
                  <a:srgbClr val="000000"/>
                </a:solidFill>
                <a:effectLst/>
                <a:highlight>
                  <a:srgbClr val="F7F7F7"/>
                </a:highlight>
                <a:latin typeface="Courier New" panose="02070309020205020404" pitchFamily="49" charset="0"/>
              </a:rPr>
              <a:t>:</a:t>
            </a:r>
          </a:p>
          <a:p>
            <a:pPr lvl="3"/>
            <a:r>
              <a:rPr lang="en" altLang="zh-TW" sz="1100" b="0" dirty="0" err="1">
                <a:solidFill>
                  <a:srgbClr val="000000"/>
                </a:solidFill>
                <a:effectLst/>
                <a:highlight>
                  <a:srgbClr val="F7F7F7"/>
                </a:highlight>
                <a:latin typeface="Courier New" panose="02070309020205020404" pitchFamily="49" charset="0"/>
              </a:rPr>
              <a:t>best_loss</a:t>
            </a:r>
            <a:r>
              <a:rPr lang="en" altLang="zh-TW" sz="1100" b="0" dirty="0">
                <a:solidFill>
                  <a:srgbClr val="000000"/>
                </a:solidFill>
                <a:effectLst/>
                <a:highlight>
                  <a:srgbClr val="F7F7F7"/>
                </a:highlight>
                <a:latin typeface="Courier New" panose="02070309020205020404" pitchFamily="49" charset="0"/>
              </a:rPr>
              <a:t> = loss</a:t>
            </a:r>
          </a:p>
          <a:p>
            <a:pPr lvl="3"/>
            <a:r>
              <a:rPr lang="en" altLang="zh-TW" sz="1100" b="0" dirty="0" err="1">
                <a:solidFill>
                  <a:srgbClr val="000000"/>
                </a:solidFill>
                <a:effectLst/>
                <a:highlight>
                  <a:srgbClr val="F7F7F7"/>
                </a:highlight>
                <a:latin typeface="Courier New" panose="02070309020205020404" pitchFamily="49" charset="0"/>
              </a:rPr>
              <a:t>best_model</a:t>
            </a:r>
            <a:r>
              <a:rPr lang="en" altLang="zh-TW" sz="1100" b="0" dirty="0">
                <a:solidFill>
                  <a:srgbClr val="000000"/>
                </a:solidFill>
                <a:effectLst/>
                <a:highlight>
                  <a:srgbClr val="F7F7F7"/>
                </a:highlight>
                <a:latin typeface="Courier New" panose="02070309020205020404" pitchFamily="49" charset="0"/>
              </a:rPr>
              <a:t> = </a:t>
            </a:r>
            <a:r>
              <a:rPr lang="en" altLang="zh-TW" sz="1100" b="0" dirty="0" err="1">
                <a:solidFill>
                  <a:srgbClr val="000000"/>
                </a:solidFill>
                <a:effectLst/>
                <a:highlight>
                  <a:srgbClr val="F7F7F7"/>
                </a:highlight>
                <a:latin typeface="Courier New" panose="02070309020205020404" pitchFamily="49" charset="0"/>
              </a:rPr>
              <a:t>model.state_dict</a:t>
            </a:r>
            <a:r>
              <a:rPr lang="en" altLang="zh-TW" sz="1100" b="0" dirty="0">
                <a:solidFill>
                  <a:srgbClr val="000000"/>
                </a:solidFill>
                <a:effectLst/>
                <a:highlight>
                  <a:srgbClr val="F7F7F7"/>
                </a:highlight>
                <a:latin typeface="Courier New" panose="02070309020205020404" pitchFamily="49" charset="0"/>
              </a:rPr>
              <a:t>()</a:t>
            </a:r>
          </a:p>
          <a:p>
            <a:pPr lvl="2"/>
            <a:r>
              <a:rPr lang="en" altLang="zh-TW" sz="1100" b="0" dirty="0">
                <a:solidFill>
                  <a:srgbClr val="795E26"/>
                </a:solidFill>
                <a:effectLst/>
                <a:highlight>
                  <a:srgbClr val="F7F7F7"/>
                </a:highlight>
                <a:latin typeface="Courier New" panose="02070309020205020404" pitchFamily="49" charset="0"/>
              </a:rPr>
              <a:t>print</a:t>
            </a:r>
            <a:r>
              <a:rPr lang="en" altLang="zh-TW" sz="1100" b="0" dirty="0">
                <a:solidFill>
                  <a:srgbClr val="000000"/>
                </a:solidFill>
                <a:effectLst/>
                <a:highlight>
                  <a:srgbClr val="F7F7F7"/>
                </a:highlight>
                <a:latin typeface="Courier New" panose="02070309020205020404" pitchFamily="49" charset="0"/>
              </a:rPr>
              <a:t>(</a:t>
            </a:r>
            <a:r>
              <a:rPr lang="en" altLang="zh-TW" sz="1100" b="0" dirty="0">
                <a:solidFill>
                  <a:srgbClr val="A31515"/>
                </a:solidFill>
                <a:effectLst/>
                <a:highlight>
                  <a:srgbClr val="F7F7F7"/>
                </a:highlight>
                <a:latin typeface="Courier New" panose="02070309020205020404" pitchFamily="49" charset="0"/>
              </a:rPr>
              <a:t>"Epoch %d: Cross-entropy: %.4f"</a:t>
            </a:r>
            <a:r>
              <a:rPr lang="en" altLang="zh-TW" sz="1100" b="0" dirty="0">
                <a:solidFill>
                  <a:srgbClr val="000000"/>
                </a:solidFill>
                <a:effectLst/>
                <a:highlight>
                  <a:srgbClr val="F7F7F7"/>
                </a:highlight>
                <a:latin typeface="Courier New" panose="02070309020205020404" pitchFamily="49" charset="0"/>
              </a:rPr>
              <a:t> % (epoch, </a:t>
            </a:r>
            <a:r>
              <a:rPr lang="en" altLang="zh-TW" sz="1100" b="0" dirty="0" err="1">
                <a:solidFill>
                  <a:srgbClr val="000000"/>
                </a:solidFill>
                <a:effectLst/>
                <a:highlight>
                  <a:srgbClr val="F7F7F7"/>
                </a:highlight>
                <a:latin typeface="Courier New" panose="02070309020205020404" pitchFamily="49" charset="0"/>
              </a:rPr>
              <a:t>loss.item</a:t>
            </a:r>
            <a:r>
              <a:rPr lang="en" altLang="zh-TW" sz="1100" b="0" dirty="0">
                <a:solidFill>
                  <a:srgbClr val="000000"/>
                </a:solidFill>
                <a:effectLst/>
                <a:highlight>
                  <a:srgbClr val="F7F7F7"/>
                </a:highlight>
                <a:latin typeface="Courier New" panose="02070309020205020404" pitchFamily="49" charset="0"/>
              </a:rPr>
              <a:t>()/</a:t>
            </a:r>
            <a:r>
              <a:rPr lang="en" altLang="zh-TW" sz="1100" b="0" dirty="0" err="1">
                <a:solidFill>
                  <a:srgbClr val="795E26"/>
                </a:solidFill>
                <a:effectLst/>
                <a:highlight>
                  <a:srgbClr val="F7F7F7"/>
                </a:highlight>
                <a:latin typeface="Courier New" panose="02070309020205020404" pitchFamily="49" charset="0"/>
              </a:rPr>
              <a:t>len</a:t>
            </a:r>
            <a:r>
              <a:rPr lang="en" altLang="zh-TW" sz="1100" b="0" dirty="0">
                <a:solidFill>
                  <a:srgbClr val="000000"/>
                </a:solidFill>
                <a:effectLst/>
                <a:highlight>
                  <a:srgbClr val="F7F7F7"/>
                </a:highlight>
                <a:latin typeface="Courier New" panose="02070309020205020404" pitchFamily="49" charset="0"/>
              </a:rPr>
              <a:t>(dataset)))</a:t>
            </a:r>
          </a:p>
          <a:p>
            <a:pPr lvl="2"/>
            <a:endParaRPr lang="en" altLang="zh-TW" sz="1100" dirty="0">
              <a:solidFill>
                <a:srgbClr val="000000"/>
              </a:solidFill>
              <a:highlight>
                <a:srgbClr val="F7F7F7"/>
              </a:highlight>
              <a:latin typeface="Courier New" panose="02070309020205020404" pitchFamily="49" charset="0"/>
            </a:endParaRPr>
          </a:p>
          <a:p>
            <a:r>
              <a:rPr lang="en" altLang="zh-TW" sz="1100" b="0" dirty="0" err="1">
                <a:solidFill>
                  <a:srgbClr val="000000"/>
                </a:solidFill>
                <a:effectLst/>
                <a:highlight>
                  <a:srgbClr val="F7F7F7"/>
                </a:highlight>
                <a:latin typeface="Courier New" panose="02070309020205020404" pitchFamily="49" charset="0"/>
              </a:rPr>
              <a:t>torch.save</a:t>
            </a:r>
            <a:r>
              <a:rPr lang="en" altLang="zh-TW" sz="1100" b="0" dirty="0">
                <a:solidFill>
                  <a:srgbClr val="000000"/>
                </a:solidFill>
                <a:effectLst/>
                <a:highlight>
                  <a:srgbClr val="F7F7F7"/>
                </a:highlight>
                <a:latin typeface="Courier New" panose="02070309020205020404" pitchFamily="49" charset="0"/>
              </a:rPr>
              <a:t>(</a:t>
            </a:r>
            <a:r>
              <a:rPr lang="en" altLang="zh-TW" sz="1100" b="0" dirty="0" err="1">
                <a:solidFill>
                  <a:srgbClr val="000000"/>
                </a:solidFill>
                <a:effectLst/>
                <a:highlight>
                  <a:srgbClr val="F7F7F7"/>
                </a:highlight>
                <a:latin typeface="Courier New" panose="02070309020205020404" pitchFamily="49" charset="0"/>
              </a:rPr>
              <a:t>best_model</a:t>
            </a:r>
            <a:r>
              <a:rPr lang="en" altLang="zh-TW" sz="1100" b="0" dirty="0">
                <a:solidFill>
                  <a:srgbClr val="000000"/>
                </a:solidFill>
                <a:effectLst/>
                <a:highlight>
                  <a:srgbClr val="F7F7F7"/>
                </a:highlight>
                <a:latin typeface="Courier New" panose="02070309020205020404" pitchFamily="49" charset="0"/>
              </a:rPr>
              <a:t>, </a:t>
            </a:r>
            <a:r>
              <a:rPr lang="en" altLang="zh-TW" sz="1100" b="0" dirty="0">
                <a:solidFill>
                  <a:srgbClr val="A31515"/>
                </a:solidFill>
                <a:effectLst/>
                <a:highlight>
                  <a:srgbClr val="F7F7F7"/>
                </a:highlight>
                <a:latin typeface="Courier New" panose="02070309020205020404" pitchFamily="49" charset="0"/>
              </a:rPr>
              <a:t>'</a:t>
            </a:r>
            <a:r>
              <a:rPr lang="en" altLang="zh-TW" sz="1100" b="0" dirty="0" err="1">
                <a:solidFill>
                  <a:srgbClr val="A31515"/>
                </a:solidFill>
                <a:effectLst/>
                <a:highlight>
                  <a:srgbClr val="F7F7F7"/>
                </a:highlight>
                <a:latin typeface="Courier New" panose="02070309020205020404" pitchFamily="49" charset="0"/>
              </a:rPr>
              <a:t>best_model.pt</a:t>
            </a:r>
            <a:r>
              <a:rPr lang="en" altLang="zh-TW" sz="1100" b="0" dirty="0">
                <a:solidFill>
                  <a:srgbClr val="A31515"/>
                </a:solidFill>
                <a:effectLst/>
                <a:highlight>
                  <a:srgbClr val="F7F7F7"/>
                </a:highlight>
                <a:latin typeface="Courier New" panose="02070309020205020404" pitchFamily="49" charset="0"/>
              </a:rPr>
              <a:t>'</a:t>
            </a:r>
            <a:r>
              <a:rPr lang="en" altLang="zh-TW" sz="1100" b="0" dirty="0">
                <a:solidFill>
                  <a:srgbClr val="000000"/>
                </a:solidFill>
                <a:effectLst/>
                <a:highlight>
                  <a:srgbClr val="F7F7F7"/>
                </a:highlight>
                <a:latin typeface="Courier New" panose="02070309020205020404" pitchFamily="49" charset="0"/>
              </a:rPr>
              <a:t>)</a:t>
            </a:r>
          </a:p>
        </p:txBody>
      </p:sp>
    </p:spTree>
    <p:extLst>
      <p:ext uri="{BB962C8B-B14F-4D97-AF65-F5344CB8AC3E}">
        <p14:creationId xmlns:p14="http://schemas.microsoft.com/office/powerpoint/2010/main" val="5074990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4B88C3-B9F8-7F86-97B9-53AF644153D8}"/>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a:t>
            </a:r>
            <a:r>
              <a:rPr kumimoji="1" lang="en-US" altLang="zh-TW" dirty="0"/>
              <a:t>Char-based</a:t>
            </a:r>
            <a:r>
              <a:rPr kumimoji="1" lang="zh-TW" altLang="en-US" dirty="0"/>
              <a:t> </a:t>
            </a:r>
            <a:r>
              <a:rPr kumimoji="1" lang="en-US" altLang="zh-TW" dirty="0"/>
              <a:t>generator</a:t>
            </a:r>
            <a:endParaRPr kumimoji="1" lang="zh-TW" altLang="en-US" dirty="0"/>
          </a:p>
        </p:txBody>
      </p:sp>
      <p:sp>
        <p:nvSpPr>
          <p:cNvPr id="3" name="內容版面配置區 2">
            <a:extLst>
              <a:ext uri="{FF2B5EF4-FFF2-40B4-BE49-F238E27FC236}">
                <a16:creationId xmlns:a16="http://schemas.microsoft.com/office/drawing/2014/main" id="{5C77EB06-D75C-0479-3E3D-6112C17E3BDB}"/>
              </a:ext>
            </a:extLst>
          </p:cNvPr>
          <p:cNvSpPr>
            <a:spLocks noGrp="1"/>
          </p:cNvSpPr>
          <p:nvPr>
            <p:ph idx="1"/>
          </p:nvPr>
        </p:nvSpPr>
        <p:spPr>
          <a:xfrm>
            <a:off x="838201" y="1825624"/>
            <a:ext cx="4038600" cy="4708981"/>
          </a:xfrm>
        </p:spPr>
        <p:txBody>
          <a:bodyPr>
            <a:normAutofit lnSpcReduction="10000"/>
          </a:bodyPr>
          <a:lstStyle/>
          <a:p>
            <a:r>
              <a:rPr kumimoji="1" lang="zh-TW" altLang="en-US" dirty="0"/>
              <a:t>生成階段</a:t>
            </a:r>
            <a:endParaRPr kumimoji="1" lang="en-US" altLang="zh-TW" dirty="0"/>
          </a:p>
          <a:p>
            <a:pPr lvl="1"/>
            <a:r>
              <a:rPr kumimoji="1" lang="zh-TW" altLang="en-US" dirty="0"/>
              <a:t>一樣用</a:t>
            </a:r>
            <a:r>
              <a:rPr kumimoji="1" lang="en-US" altLang="zh-TW" dirty="0"/>
              <a:t>100</a:t>
            </a:r>
            <a:r>
              <a:rPr kumimoji="1" lang="zh-TW" altLang="en-US" dirty="0"/>
              <a:t>個字元預測下一個字元</a:t>
            </a:r>
            <a:endParaRPr kumimoji="1" lang="en-US" altLang="zh-TW" dirty="0"/>
          </a:p>
          <a:p>
            <a:pPr lvl="1"/>
            <a:r>
              <a:rPr kumimoji="1" lang="en-US" altLang="zh-TW" dirty="0"/>
              <a:t>X</a:t>
            </a:r>
            <a:r>
              <a:rPr kumimoji="1" lang="zh-TW" altLang="en-US" dirty="0"/>
              <a:t>記得要跟前面訓練時一樣，轉成浮點數</a:t>
            </a:r>
            <a:endParaRPr kumimoji="1" lang="en-US" altLang="zh-TW" dirty="0"/>
          </a:p>
          <a:p>
            <a:pPr lvl="1"/>
            <a:r>
              <a:rPr kumimoji="1" lang="zh-TW" altLang="en-US" dirty="0"/>
              <a:t>預測則是找出最大的機率的索引值是那一個，利用這個索引值去轉回字元</a:t>
            </a:r>
            <a:endParaRPr kumimoji="1" lang="en-US" altLang="zh-TW" dirty="0"/>
          </a:p>
          <a:p>
            <a:pPr lvl="1"/>
            <a:r>
              <a:rPr kumimoji="1" lang="zh-TW" altLang="en-US" dirty="0"/>
              <a:t>把這個新的字元接到要輸入的</a:t>
            </a:r>
            <a:r>
              <a:rPr kumimoji="1" lang="en-US" altLang="zh-TW" dirty="0"/>
              <a:t>pattern</a:t>
            </a:r>
            <a:r>
              <a:rPr kumimoji="1" lang="zh-TW" altLang="en-US" dirty="0"/>
              <a:t>裡面，並且只截取最後</a:t>
            </a:r>
            <a:r>
              <a:rPr kumimoji="1" lang="en-US" altLang="zh-TW" dirty="0"/>
              <a:t>100</a:t>
            </a:r>
            <a:r>
              <a:rPr kumimoji="1" lang="zh-TW" altLang="en-US" dirty="0"/>
              <a:t>個字元</a:t>
            </a:r>
            <a:r>
              <a:rPr kumimoji="1" lang="en-US" altLang="zh-TW" dirty="0"/>
              <a:t>(</a:t>
            </a:r>
            <a:r>
              <a:rPr kumimoji="1" lang="zh-TW" altLang="en-US" dirty="0"/>
              <a:t>做為下一個迴圈的輸入</a:t>
            </a:r>
            <a:r>
              <a:rPr kumimoji="1" lang="en-US" altLang="zh-TW" dirty="0"/>
              <a:t>)</a:t>
            </a:r>
            <a:endParaRPr kumimoji="1" lang="zh-TW" altLang="en-US" dirty="0"/>
          </a:p>
        </p:txBody>
      </p:sp>
      <p:sp>
        <p:nvSpPr>
          <p:cNvPr id="5" name="文字方塊 4">
            <a:extLst>
              <a:ext uri="{FF2B5EF4-FFF2-40B4-BE49-F238E27FC236}">
                <a16:creationId xmlns:a16="http://schemas.microsoft.com/office/drawing/2014/main" id="{0980B4CF-3AA2-C671-0F4B-F1794E1A5D95}"/>
              </a:ext>
            </a:extLst>
          </p:cNvPr>
          <p:cNvSpPr txBox="1"/>
          <p:nvPr/>
        </p:nvSpPr>
        <p:spPr>
          <a:xfrm>
            <a:off x="5046133" y="1739136"/>
            <a:ext cx="6807200" cy="4708981"/>
          </a:xfrm>
          <a:prstGeom prst="rect">
            <a:avLst/>
          </a:prstGeom>
          <a:noFill/>
          <a:ln>
            <a:solidFill>
              <a:schemeClr val="tx1"/>
            </a:solidFill>
          </a:ln>
        </p:spPr>
        <p:txBody>
          <a:bodyPr wrap="square">
            <a:spAutoFit/>
          </a:bodyPr>
          <a:lstStyle/>
          <a:p>
            <a:r>
              <a:rPr lang="en" altLang="zh-TW" sz="1200" b="0" dirty="0" err="1">
                <a:solidFill>
                  <a:srgbClr val="000000"/>
                </a:solidFill>
                <a:effectLst/>
                <a:highlight>
                  <a:srgbClr val="F7F7F7"/>
                </a:highlight>
                <a:latin typeface="Courier New" panose="02070309020205020404" pitchFamily="49" charset="0"/>
              </a:rPr>
              <a:t>seq_length</a:t>
            </a:r>
            <a:r>
              <a:rPr lang="en" altLang="zh-TW" sz="1200" b="0" dirty="0">
                <a:solidFill>
                  <a:srgbClr val="000000"/>
                </a:solidFill>
                <a:effectLst/>
                <a:highlight>
                  <a:srgbClr val="F7F7F7"/>
                </a:highlight>
                <a:latin typeface="Courier New" panose="02070309020205020404" pitchFamily="49" charset="0"/>
              </a:rPr>
              <a:t> = </a:t>
            </a:r>
            <a:r>
              <a:rPr lang="en" altLang="zh-TW" sz="1200" b="0" dirty="0">
                <a:solidFill>
                  <a:srgbClr val="116644"/>
                </a:solidFill>
                <a:effectLst/>
                <a:highlight>
                  <a:srgbClr val="F7F7F7"/>
                </a:highlight>
                <a:latin typeface="Courier New" panose="02070309020205020404" pitchFamily="49" charset="0"/>
              </a:rPr>
              <a:t>100</a:t>
            </a:r>
            <a:endParaRPr lang="en" altLang="zh-TW" sz="1200" b="0" dirty="0">
              <a:solidFill>
                <a:srgbClr val="000000"/>
              </a:solidFill>
              <a:effectLst/>
              <a:highlight>
                <a:srgbClr val="F7F7F7"/>
              </a:highlight>
              <a:latin typeface="Courier New" panose="02070309020205020404" pitchFamily="49" charset="0"/>
            </a:endParaRPr>
          </a:p>
          <a:p>
            <a:r>
              <a:rPr lang="en" altLang="zh-TW" sz="1200" b="0" dirty="0" err="1">
                <a:solidFill>
                  <a:srgbClr val="000000"/>
                </a:solidFill>
                <a:effectLst/>
                <a:highlight>
                  <a:srgbClr val="F7F7F7"/>
                </a:highlight>
                <a:latin typeface="Courier New" panose="02070309020205020404" pitchFamily="49" charset="0"/>
              </a:rPr>
              <a:t>raw_text</a:t>
            </a:r>
            <a:r>
              <a:rPr lang="en" altLang="zh-TW" sz="1200" b="0" dirty="0">
                <a:solidFill>
                  <a:srgbClr val="000000"/>
                </a:solidFill>
                <a:effectLst/>
                <a:highlight>
                  <a:srgbClr val="F7F7F7"/>
                </a:highlight>
                <a:latin typeface="Courier New" panose="02070309020205020404" pitchFamily="49" charset="0"/>
              </a:rPr>
              <a:t> = </a:t>
            </a:r>
            <a:r>
              <a:rPr lang="en" altLang="zh-TW" sz="1200" b="0" dirty="0">
                <a:solidFill>
                  <a:srgbClr val="795E26"/>
                </a:solidFill>
                <a:effectLst/>
                <a:highlight>
                  <a:srgbClr val="F7F7F7"/>
                </a:highlight>
                <a:latin typeface="Courier New" panose="02070309020205020404" pitchFamily="49" charset="0"/>
              </a:rPr>
              <a:t>open</a:t>
            </a:r>
            <a:r>
              <a:rPr lang="en" altLang="zh-TW" sz="1200" b="0" dirty="0">
                <a:solidFill>
                  <a:srgbClr val="000000"/>
                </a:solidFill>
                <a:effectLst/>
                <a:highlight>
                  <a:srgbClr val="F7F7F7"/>
                </a:highlight>
                <a:latin typeface="Courier New" panose="02070309020205020404" pitchFamily="49" charset="0"/>
              </a:rPr>
              <a:t>(filename, </a:t>
            </a:r>
            <a:r>
              <a:rPr lang="en" altLang="zh-TW" sz="1200" b="0" dirty="0">
                <a:solidFill>
                  <a:srgbClr val="A31515"/>
                </a:solidFill>
                <a:effectLst/>
                <a:highlight>
                  <a:srgbClr val="F7F7F7"/>
                </a:highlight>
                <a:latin typeface="Courier New" panose="02070309020205020404" pitchFamily="49" charset="0"/>
              </a:rPr>
              <a:t>'r'</a:t>
            </a:r>
            <a:r>
              <a:rPr lang="en" altLang="zh-TW" sz="1200" b="0" dirty="0">
                <a:solidFill>
                  <a:srgbClr val="000000"/>
                </a:solidFill>
                <a:effectLst/>
                <a:highlight>
                  <a:srgbClr val="F7F7F7"/>
                </a:highlight>
                <a:latin typeface="Courier New" panose="02070309020205020404" pitchFamily="49" charset="0"/>
              </a:rPr>
              <a:t>, encoding=</a:t>
            </a:r>
            <a:r>
              <a:rPr lang="en" altLang="zh-TW" sz="1200" b="0" dirty="0">
                <a:solidFill>
                  <a:srgbClr val="A31515"/>
                </a:solidFill>
                <a:effectLst/>
                <a:highlight>
                  <a:srgbClr val="F7F7F7"/>
                </a:highlight>
                <a:latin typeface="Courier New" panose="02070309020205020404" pitchFamily="49" charset="0"/>
              </a:rPr>
              <a:t>'utf-8'</a:t>
            </a:r>
            <a:r>
              <a:rPr lang="en" altLang="zh-TW" sz="1200" b="0" dirty="0">
                <a:solidFill>
                  <a:srgbClr val="000000"/>
                </a:solidFill>
                <a:effectLst/>
                <a:highlight>
                  <a:srgbClr val="F7F7F7"/>
                </a:highlight>
                <a:latin typeface="Courier New" panose="02070309020205020404" pitchFamily="49" charset="0"/>
              </a:rPr>
              <a:t>).read()</a:t>
            </a:r>
          </a:p>
          <a:p>
            <a:r>
              <a:rPr lang="en" altLang="zh-TW" sz="1200" b="0" dirty="0" err="1">
                <a:solidFill>
                  <a:srgbClr val="000000"/>
                </a:solidFill>
                <a:effectLst/>
                <a:highlight>
                  <a:srgbClr val="F7F7F7"/>
                </a:highlight>
                <a:latin typeface="Courier New" panose="02070309020205020404" pitchFamily="49" charset="0"/>
              </a:rPr>
              <a:t>raw_text</a:t>
            </a:r>
            <a:r>
              <a:rPr lang="en" altLang="zh-TW" sz="1200" b="0" dirty="0">
                <a:solidFill>
                  <a:srgbClr val="000000"/>
                </a:solidFill>
                <a:effectLst/>
                <a:highlight>
                  <a:srgbClr val="F7F7F7"/>
                </a:highlight>
                <a:latin typeface="Courier New" panose="02070309020205020404" pitchFamily="49" charset="0"/>
              </a:rPr>
              <a:t> = </a:t>
            </a:r>
            <a:r>
              <a:rPr lang="en" altLang="zh-TW" sz="1200" b="0" dirty="0" err="1">
                <a:solidFill>
                  <a:srgbClr val="000000"/>
                </a:solidFill>
                <a:effectLst/>
                <a:highlight>
                  <a:srgbClr val="F7F7F7"/>
                </a:highlight>
                <a:latin typeface="Courier New" panose="02070309020205020404" pitchFamily="49" charset="0"/>
              </a:rPr>
              <a:t>raw_text.lower</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a:solidFill>
                  <a:srgbClr val="000000"/>
                </a:solidFill>
                <a:effectLst/>
                <a:highlight>
                  <a:srgbClr val="F7F7F7"/>
                </a:highlight>
                <a:latin typeface="Courier New" panose="02070309020205020404" pitchFamily="49" charset="0"/>
              </a:rPr>
              <a:t>start = </a:t>
            </a:r>
            <a:r>
              <a:rPr lang="en" altLang="zh-TW" sz="1200" b="0" dirty="0" err="1">
                <a:solidFill>
                  <a:srgbClr val="000000"/>
                </a:solidFill>
                <a:effectLst/>
                <a:highlight>
                  <a:srgbClr val="F7F7F7"/>
                </a:highlight>
                <a:latin typeface="Courier New" panose="02070309020205020404" pitchFamily="49" charset="0"/>
              </a:rPr>
              <a:t>np.random.randint</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116644"/>
                </a:solidFill>
                <a:effectLst/>
                <a:highlight>
                  <a:srgbClr val="F7F7F7"/>
                </a:highlight>
                <a:latin typeface="Courier New" panose="02070309020205020404" pitchFamily="49" charset="0"/>
              </a:rPr>
              <a:t>0</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795E26"/>
                </a:solidFill>
                <a:effectLst/>
                <a:highlight>
                  <a:srgbClr val="F7F7F7"/>
                </a:highlight>
                <a:latin typeface="Courier New" panose="02070309020205020404" pitchFamily="49" charset="0"/>
              </a:rPr>
              <a:t>len</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raw_text</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seq_length</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a:solidFill>
                  <a:srgbClr val="000000"/>
                </a:solidFill>
                <a:effectLst/>
                <a:highlight>
                  <a:srgbClr val="F7F7F7"/>
                </a:highlight>
                <a:latin typeface="Courier New" panose="02070309020205020404" pitchFamily="49" charset="0"/>
              </a:rPr>
              <a:t>prompt = </a:t>
            </a:r>
            <a:r>
              <a:rPr lang="en" altLang="zh-TW" sz="1200" b="0" dirty="0" err="1">
                <a:solidFill>
                  <a:srgbClr val="000000"/>
                </a:solidFill>
                <a:effectLst/>
                <a:highlight>
                  <a:srgbClr val="F7F7F7"/>
                </a:highlight>
                <a:latin typeface="Courier New" panose="02070309020205020404" pitchFamily="49" charset="0"/>
              </a:rPr>
              <a:t>raw_text</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start:start+seq_length</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a:solidFill>
                  <a:srgbClr val="000000"/>
                </a:solidFill>
                <a:effectLst/>
                <a:highlight>
                  <a:srgbClr val="F7F7F7"/>
                </a:highlight>
                <a:latin typeface="Courier New" panose="02070309020205020404" pitchFamily="49" charset="0"/>
              </a:rPr>
              <a:t>pattern = [</a:t>
            </a:r>
            <a:r>
              <a:rPr lang="en" altLang="zh-TW" sz="1200" b="0" dirty="0" err="1">
                <a:solidFill>
                  <a:srgbClr val="000000"/>
                </a:solidFill>
                <a:effectLst/>
                <a:highlight>
                  <a:srgbClr val="F7F7F7"/>
                </a:highlight>
                <a:latin typeface="Courier New" panose="02070309020205020404" pitchFamily="49" charset="0"/>
              </a:rPr>
              <a:t>char_to_int</a:t>
            </a:r>
            <a:r>
              <a:rPr lang="en" altLang="zh-TW" sz="1200" b="0" dirty="0">
                <a:solidFill>
                  <a:srgbClr val="000000"/>
                </a:solidFill>
                <a:effectLst/>
                <a:highlight>
                  <a:srgbClr val="F7F7F7"/>
                </a:highlight>
                <a:latin typeface="Courier New" panose="02070309020205020404" pitchFamily="49" charset="0"/>
              </a:rPr>
              <a:t>[c] </a:t>
            </a:r>
            <a:r>
              <a:rPr lang="en" altLang="zh-TW" sz="1200" b="0" dirty="0">
                <a:solidFill>
                  <a:srgbClr val="AF00DB"/>
                </a:solidFill>
                <a:effectLst/>
                <a:highlight>
                  <a:srgbClr val="F7F7F7"/>
                </a:highlight>
                <a:latin typeface="Courier New" panose="02070309020205020404" pitchFamily="49" charset="0"/>
              </a:rPr>
              <a:t>for</a:t>
            </a:r>
            <a:r>
              <a:rPr lang="en" altLang="zh-TW" sz="1200" b="0" dirty="0">
                <a:solidFill>
                  <a:srgbClr val="000000"/>
                </a:solidFill>
                <a:effectLst/>
                <a:highlight>
                  <a:srgbClr val="F7F7F7"/>
                </a:highlight>
                <a:latin typeface="Courier New" panose="02070309020205020404" pitchFamily="49" charset="0"/>
              </a:rPr>
              <a:t> c </a:t>
            </a:r>
            <a:r>
              <a:rPr lang="en" altLang="zh-TW" sz="1200" b="0" dirty="0">
                <a:solidFill>
                  <a:srgbClr val="0000FF"/>
                </a:solidFill>
                <a:effectLst/>
                <a:highlight>
                  <a:srgbClr val="F7F7F7"/>
                </a:highlight>
                <a:latin typeface="Courier New" panose="02070309020205020404" pitchFamily="49" charset="0"/>
              </a:rPr>
              <a:t>in</a:t>
            </a:r>
            <a:r>
              <a:rPr lang="en" altLang="zh-TW" sz="1200" b="0" dirty="0">
                <a:solidFill>
                  <a:srgbClr val="000000"/>
                </a:solidFill>
                <a:effectLst/>
                <a:highlight>
                  <a:srgbClr val="F7F7F7"/>
                </a:highlight>
                <a:latin typeface="Courier New" panose="02070309020205020404" pitchFamily="49" charset="0"/>
              </a:rPr>
              <a:t> prompt]</a:t>
            </a:r>
          </a:p>
          <a:p>
            <a:r>
              <a:rPr lang="en" altLang="zh-TW" sz="1200" b="0" dirty="0" err="1">
                <a:solidFill>
                  <a:srgbClr val="000000"/>
                </a:solidFill>
                <a:effectLst/>
                <a:highlight>
                  <a:srgbClr val="F7F7F7"/>
                </a:highlight>
                <a:latin typeface="Courier New" panose="02070309020205020404" pitchFamily="49" charset="0"/>
              </a:rPr>
              <a:t>model.load_state_dict</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torch.load</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A31515"/>
                </a:solidFill>
                <a:effectLst/>
                <a:highlight>
                  <a:srgbClr val="F7F7F7"/>
                </a:highlight>
                <a:latin typeface="Courier New" panose="02070309020205020404" pitchFamily="49" charset="0"/>
              </a:rPr>
              <a:t>'</a:t>
            </a:r>
            <a:r>
              <a:rPr lang="en" altLang="zh-TW" sz="1200" b="0" dirty="0" err="1">
                <a:solidFill>
                  <a:srgbClr val="A31515"/>
                </a:solidFill>
                <a:effectLst/>
                <a:highlight>
                  <a:srgbClr val="F7F7F7"/>
                </a:highlight>
                <a:latin typeface="Courier New" panose="02070309020205020404" pitchFamily="49" charset="0"/>
              </a:rPr>
              <a:t>best_model.pt</a:t>
            </a:r>
            <a:r>
              <a:rPr lang="en" altLang="zh-TW" sz="1200" b="0" dirty="0">
                <a:solidFill>
                  <a:srgbClr val="A31515"/>
                </a:solidFill>
                <a:effectLst/>
                <a:highlight>
                  <a:srgbClr val="F7F7F7"/>
                </a:highlight>
                <a:latin typeface="Courier New" panose="02070309020205020404" pitchFamily="49" charset="0"/>
              </a:rPr>
              <a:t>'</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err="1">
                <a:solidFill>
                  <a:srgbClr val="000000"/>
                </a:solidFill>
                <a:effectLst/>
                <a:highlight>
                  <a:srgbClr val="F7F7F7"/>
                </a:highlight>
                <a:latin typeface="Courier New" panose="02070309020205020404" pitchFamily="49" charset="0"/>
              </a:rPr>
              <a:t>model.cpu</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err="1">
                <a:solidFill>
                  <a:srgbClr val="000000"/>
                </a:solidFill>
                <a:effectLst/>
                <a:highlight>
                  <a:srgbClr val="F7F7F7"/>
                </a:highlight>
                <a:latin typeface="Courier New" panose="02070309020205020404" pitchFamily="49" charset="0"/>
              </a:rPr>
              <a:t>model.</a:t>
            </a:r>
            <a:r>
              <a:rPr lang="en" altLang="zh-TW" sz="1200" b="0" dirty="0" err="1">
                <a:solidFill>
                  <a:srgbClr val="795E26"/>
                </a:solidFill>
                <a:effectLst/>
                <a:highlight>
                  <a:srgbClr val="F7F7F7"/>
                </a:highlight>
                <a:latin typeface="Courier New" panose="02070309020205020404" pitchFamily="49" charset="0"/>
              </a:rPr>
              <a:t>eval</a:t>
            </a:r>
            <a:r>
              <a:rPr lang="en" altLang="zh-TW" sz="1200" b="0" dirty="0">
                <a:solidFill>
                  <a:srgbClr val="000000"/>
                </a:solidFill>
                <a:effectLst/>
                <a:highlight>
                  <a:srgbClr val="F7F7F7"/>
                </a:highlight>
                <a:latin typeface="Courier New" panose="02070309020205020404" pitchFamily="49" charset="0"/>
              </a:rPr>
              <a:t>()</a:t>
            </a:r>
          </a:p>
          <a:p>
            <a:r>
              <a:rPr lang="en" altLang="zh-TW" sz="1200" b="0" dirty="0">
                <a:solidFill>
                  <a:srgbClr val="795E26"/>
                </a:solidFill>
                <a:effectLst/>
                <a:highlight>
                  <a:srgbClr val="F7F7F7"/>
                </a:highlight>
                <a:latin typeface="Courier New" panose="02070309020205020404" pitchFamily="49" charset="0"/>
              </a:rPr>
              <a:t>print</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A31515"/>
                </a:solidFill>
                <a:effectLst/>
                <a:highlight>
                  <a:srgbClr val="F7F7F7"/>
                </a:highlight>
                <a:latin typeface="Courier New" panose="02070309020205020404" pitchFamily="49" charset="0"/>
              </a:rPr>
              <a:t>'Prompt: "%s"'</a:t>
            </a:r>
            <a:r>
              <a:rPr lang="en" altLang="zh-TW" sz="1200" b="0" dirty="0">
                <a:solidFill>
                  <a:srgbClr val="000000"/>
                </a:solidFill>
                <a:effectLst/>
                <a:highlight>
                  <a:srgbClr val="F7F7F7"/>
                </a:highlight>
                <a:latin typeface="Courier New" panose="02070309020205020404" pitchFamily="49" charset="0"/>
              </a:rPr>
              <a:t> % prompt)</a:t>
            </a:r>
          </a:p>
          <a:p>
            <a:r>
              <a:rPr lang="en" altLang="zh-TW" sz="1200" b="0" dirty="0">
                <a:solidFill>
                  <a:srgbClr val="AF00DB"/>
                </a:solidFill>
                <a:effectLst/>
                <a:highlight>
                  <a:srgbClr val="F7F7F7"/>
                </a:highlight>
                <a:latin typeface="Courier New" panose="02070309020205020404" pitchFamily="49" charset="0"/>
              </a:rPr>
              <a:t>with</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torch.no_grad</a:t>
            </a:r>
            <a:r>
              <a:rPr lang="en" altLang="zh-TW" sz="1200" b="0" dirty="0">
                <a:solidFill>
                  <a:srgbClr val="000000"/>
                </a:solidFill>
                <a:effectLst/>
                <a:highlight>
                  <a:srgbClr val="F7F7F7"/>
                </a:highlight>
                <a:latin typeface="Courier New" panose="02070309020205020404" pitchFamily="49" charset="0"/>
              </a:rPr>
              <a:t>():</a:t>
            </a:r>
          </a:p>
          <a:p>
            <a:pPr lvl="1"/>
            <a:r>
              <a:rPr lang="en" altLang="zh-TW" sz="1200" b="0" dirty="0">
                <a:solidFill>
                  <a:srgbClr val="AF00DB"/>
                </a:solidFill>
                <a:effectLst/>
                <a:highlight>
                  <a:srgbClr val="F7F7F7"/>
                </a:highlight>
                <a:latin typeface="Courier New" panose="02070309020205020404" pitchFamily="49" charset="0"/>
              </a:rPr>
              <a:t>for</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000000"/>
                </a:solidFill>
                <a:effectLst/>
                <a:highlight>
                  <a:srgbClr val="F7F7F7"/>
                </a:highlight>
                <a:latin typeface="Courier New" panose="02070309020205020404" pitchFamily="49" charset="0"/>
              </a:rPr>
              <a:t>i</a:t>
            </a:r>
            <a:r>
              <a:rPr lang="en" altLang="zh-TW" sz="1200" b="0" dirty="0">
                <a:solidFill>
                  <a:srgbClr val="000000"/>
                </a:solidFill>
                <a:effectLst/>
                <a:highlight>
                  <a:srgbClr val="F7F7F7"/>
                </a:highlight>
                <a:latin typeface="Courier New" panose="02070309020205020404" pitchFamily="49" charset="0"/>
              </a:rPr>
              <a:t> </a:t>
            </a:r>
            <a:r>
              <a:rPr lang="en" altLang="zh-TW" sz="1200" b="0" dirty="0">
                <a:solidFill>
                  <a:srgbClr val="0000FF"/>
                </a:solidFill>
                <a:effectLst/>
                <a:highlight>
                  <a:srgbClr val="F7F7F7"/>
                </a:highlight>
                <a:latin typeface="Courier New" panose="02070309020205020404" pitchFamily="49" charset="0"/>
              </a:rPr>
              <a:t>in</a:t>
            </a:r>
            <a:r>
              <a:rPr lang="en" altLang="zh-TW" sz="1200" b="0" dirty="0">
                <a:solidFill>
                  <a:srgbClr val="000000"/>
                </a:solidFill>
                <a:effectLst/>
                <a:highlight>
                  <a:srgbClr val="F7F7F7"/>
                </a:highlight>
                <a:latin typeface="Courier New" panose="02070309020205020404" pitchFamily="49" charset="0"/>
              </a:rPr>
              <a:t> </a:t>
            </a:r>
            <a:r>
              <a:rPr lang="en" altLang="zh-TW" sz="1200" b="0" dirty="0">
                <a:solidFill>
                  <a:srgbClr val="795E26"/>
                </a:solidFill>
                <a:effectLst/>
                <a:highlight>
                  <a:srgbClr val="F7F7F7"/>
                </a:highlight>
                <a:latin typeface="Courier New" panose="02070309020205020404" pitchFamily="49" charset="0"/>
              </a:rPr>
              <a:t>range</a:t>
            </a:r>
            <a:r>
              <a:rPr lang="en" altLang="zh-TW" sz="1200" b="0" dirty="0">
                <a:solidFill>
                  <a:srgbClr val="000000"/>
                </a:solidFill>
                <a:effectLst/>
                <a:highlight>
                  <a:srgbClr val="F7F7F7"/>
                </a:highlight>
                <a:latin typeface="Courier New" panose="02070309020205020404" pitchFamily="49" charset="0"/>
              </a:rPr>
              <a:t>(</a:t>
            </a:r>
            <a:r>
              <a:rPr lang="en" altLang="zh-TW" sz="1200" b="0" dirty="0">
                <a:solidFill>
                  <a:srgbClr val="116644"/>
                </a:solidFill>
                <a:effectLst/>
                <a:highlight>
                  <a:srgbClr val="F7F7F7"/>
                </a:highlight>
                <a:latin typeface="Courier New" panose="02070309020205020404" pitchFamily="49" charset="0"/>
              </a:rPr>
              <a:t>1000</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a:solidFill>
                  <a:srgbClr val="008000"/>
                </a:solidFill>
                <a:effectLst/>
                <a:highlight>
                  <a:srgbClr val="F7F7F7"/>
                </a:highlight>
                <a:latin typeface="Courier New" panose="02070309020205020404" pitchFamily="49" charset="0"/>
              </a:rPr>
              <a:t># format input array of int into </a:t>
            </a:r>
            <a:r>
              <a:rPr lang="en" altLang="zh-TW" sz="1200" b="0" dirty="0" err="1">
                <a:solidFill>
                  <a:srgbClr val="008000"/>
                </a:solidFill>
                <a:effectLst/>
                <a:highlight>
                  <a:srgbClr val="F7F7F7"/>
                </a:highlight>
                <a:latin typeface="Courier New" panose="02070309020205020404" pitchFamily="49" charset="0"/>
              </a:rPr>
              <a:t>PyTorch</a:t>
            </a:r>
            <a:r>
              <a:rPr lang="en" altLang="zh-TW" sz="1200" b="0" dirty="0">
                <a:solidFill>
                  <a:srgbClr val="008000"/>
                </a:solidFill>
                <a:effectLst/>
                <a:highlight>
                  <a:srgbClr val="F7F7F7"/>
                </a:highlight>
                <a:latin typeface="Courier New" panose="02070309020205020404" pitchFamily="49" charset="0"/>
              </a:rPr>
              <a:t> tensor</a:t>
            </a:r>
            <a:endParaRPr lang="en" altLang="zh-TW" sz="1200" b="0" dirty="0">
              <a:solidFill>
                <a:srgbClr val="000000"/>
              </a:solidFill>
              <a:effectLst/>
              <a:highlight>
                <a:srgbClr val="F7F7F7"/>
              </a:highlight>
              <a:latin typeface="Courier New" panose="02070309020205020404" pitchFamily="49" charset="0"/>
            </a:endParaRPr>
          </a:p>
          <a:p>
            <a:pPr lvl="2"/>
            <a:r>
              <a:rPr lang="en" altLang="zh-TW" sz="1200" b="0" dirty="0">
                <a:solidFill>
                  <a:srgbClr val="000000"/>
                </a:solidFill>
                <a:effectLst/>
                <a:highlight>
                  <a:srgbClr val="F7F7F7"/>
                </a:highlight>
                <a:latin typeface="Courier New" panose="02070309020205020404" pitchFamily="49" charset="0"/>
              </a:rPr>
              <a:t>x = </a:t>
            </a:r>
            <a:r>
              <a:rPr lang="en" altLang="zh-TW" sz="1200" b="0" dirty="0" err="1">
                <a:solidFill>
                  <a:srgbClr val="000000"/>
                </a:solidFill>
                <a:effectLst/>
                <a:highlight>
                  <a:srgbClr val="F7F7F7"/>
                </a:highlight>
                <a:latin typeface="Courier New" panose="02070309020205020404" pitchFamily="49" charset="0"/>
              </a:rPr>
              <a:t>np.reshape</a:t>
            </a:r>
            <a:r>
              <a:rPr lang="en" altLang="zh-TW" sz="1200" b="0" dirty="0">
                <a:solidFill>
                  <a:srgbClr val="000000"/>
                </a:solidFill>
                <a:effectLst/>
                <a:highlight>
                  <a:srgbClr val="F7F7F7"/>
                </a:highlight>
                <a:latin typeface="Courier New" panose="02070309020205020404" pitchFamily="49" charset="0"/>
              </a:rPr>
              <a:t>(pattern, (</a:t>
            </a:r>
            <a:r>
              <a:rPr lang="en" altLang="zh-TW" sz="1200" b="0" dirty="0">
                <a:solidFill>
                  <a:srgbClr val="116644"/>
                </a:solidFill>
                <a:effectLst/>
                <a:highlight>
                  <a:srgbClr val="F7F7F7"/>
                </a:highlight>
                <a:latin typeface="Courier New" panose="02070309020205020404" pitchFamily="49" charset="0"/>
              </a:rPr>
              <a:t>1</a:t>
            </a:r>
            <a:r>
              <a:rPr lang="en" altLang="zh-TW" sz="1200" b="0" dirty="0">
                <a:solidFill>
                  <a:srgbClr val="000000"/>
                </a:solidFill>
                <a:effectLst/>
                <a:highlight>
                  <a:srgbClr val="F7F7F7"/>
                </a:highlight>
                <a:latin typeface="Courier New" panose="02070309020205020404" pitchFamily="49" charset="0"/>
              </a:rPr>
              <a:t>, </a:t>
            </a:r>
            <a:r>
              <a:rPr lang="en" altLang="zh-TW" sz="1200" b="0" dirty="0" err="1">
                <a:solidFill>
                  <a:srgbClr val="795E26"/>
                </a:solidFill>
                <a:effectLst/>
                <a:highlight>
                  <a:srgbClr val="F7F7F7"/>
                </a:highlight>
                <a:latin typeface="Courier New" panose="02070309020205020404" pitchFamily="49" charset="0"/>
              </a:rPr>
              <a:t>len</a:t>
            </a:r>
            <a:r>
              <a:rPr lang="en" altLang="zh-TW" sz="1200" b="0" dirty="0">
                <a:solidFill>
                  <a:srgbClr val="000000"/>
                </a:solidFill>
                <a:effectLst/>
                <a:highlight>
                  <a:srgbClr val="F7F7F7"/>
                </a:highlight>
                <a:latin typeface="Courier New" panose="02070309020205020404" pitchFamily="49" charset="0"/>
              </a:rPr>
              <a:t>(pattern), </a:t>
            </a:r>
            <a:r>
              <a:rPr lang="en" altLang="zh-TW" sz="1200" b="0" dirty="0">
                <a:solidFill>
                  <a:srgbClr val="116644"/>
                </a:solidFill>
                <a:effectLst/>
                <a:highlight>
                  <a:srgbClr val="F7F7F7"/>
                </a:highlight>
                <a:latin typeface="Courier New" panose="02070309020205020404" pitchFamily="49" charset="0"/>
              </a:rPr>
              <a:t>1</a:t>
            </a:r>
            <a:r>
              <a:rPr lang="en" altLang="zh-TW" sz="1200" b="0" dirty="0">
                <a:solidFill>
                  <a:srgbClr val="000000"/>
                </a:solidFill>
                <a:effectLst/>
                <a:highlight>
                  <a:srgbClr val="F7F7F7"/>
                </a:highlight>
                <a:latin typeface="Courier New" panose="02070309020205020404" pitchFamily="49" charset="0"/>
              </a:rPr>
              <a:t>)) / </a:t>
            </a:r>
            <a:r>
              <a:rPr lang="en" altLang="zh-TW" sz="1200" b="0" dirty="0">
                <a:solidFill>
                  <a:srgbClr val="257693"/>
                </a:solidFill>
                <a:effectLst/>
                <a:highlight>
                  <a:srgbClr val="F7F7F7"/>
                </a:highlight>
                <a:latin typeface="Courier New" panose="02070309020205020404" pitchFamily="49" charset="0"/>
              </a:rPr>
              <a:t>float</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n_vocab</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a:solidFill>
                  <a:srgbClr val="000000"/>
                </a:solidFill>
                <a:effectLst/>
                <a:highlight>
                  <a:srgbClr val="F7F7F7"/>
                </a:highlight>
                <a:latin typeface="Courier New" panose="02070309020205020404" pitchFamily="49" charset="0"/>
              </a:rPr>
              <a:t>x = </a:t>
            </a:r>
            <a:r>
              <a:rPr lang="en" altLang="zh-TW" sz="1200" b="0" dirty="0" err="1">
                <a:solidFill>
                  <a:srgbClr val="000000"/>
                </a:solidFill>
                <a:effectLst/>
                <a:highlight>
                  <a:srgbClr val="F7F7F7"/>
                </a:highlight>
                <a:latin typeface="Courier New" panose="02070309020205020404" pitchFamily="49" charset="0"/>
              </a:rPr>
              <a:t>torch.tensor</a:t>
            </a:r>
            <a:r>
              <a:rPr lang="en" altLang="zh-TW" sz="1200" b="0" dirty="0">
                <a:solidFill>
                  <a:srgbClr val="000000"/>
                </a:solidFill>
                <a:effectLst/>
                <a:highlight>
                  <a:srgbClr val="F7F7F7"/>
                </a:highlight>
                <a:latin typeface="Courier New" panose="02070309020205020404" pitchFamily="49" charset="0"/>
              </a:rPr>
              <a:t>(x, </a:t>
            </a:r>
            <a:r>
              <a:rPr lang="en" altLang="zh-TW" sz="1200" b="0" dirty="0" err="1">
                <a:solidFill>
                  <a:srgbClr val="000000"/>
                </a:solidFill>
                <a:effectLst/>
                <a:highlight>
                  <a:srgbClr val="F7F7F7"/>
                </a:highlight>
                <a:latin typeface="Courier New" panose="02070309020205020404" pitchFamily="49" charset="0"/>
              </a:rPr>
              <a:t>dtype</a:t>
            </a:r>
            <a:r>
              <a:rPr lang="en" altLang="zh-TW" sz="1200" b="0" dirty="0">
                <a:solidFill>
                  <a:srgbClr val="000000"/>
                </a:solidFill>
                <a:effectLst/>
                <a:highlight>
                  <a:srgbClr val="F7F7F7"/>
                </a:highlight>
                <a:latin typeface="Courier New" panose="02070309020205020404" pitchFamily="49" charset="0"/>
              </a:rPr>
              <a:t>=torch.float32)</a:t>
            </a:r>
          </a:p>
          <a:p>
            <a:pPr lvl="2"/>
            <a:r>
              <a:rPr lang="en" altLang="zh-TW" sz="1200" b="0" dirty="0">
                <a:solidFill>
                  <a:srgbClr val="008000"/>
                </a:solidFill>
                <a:effectLst/>
                <a:highlight>
                  <a:srgbClr val="F7F7F7"/>
                </a:highlight>
                <a:latin typeface="Courier New" panose="02070309020205020404" pitchFamily="49" charset="0"/>
              </a:rPr>
              <a:t># generate logits as output from the model</a:t>
            </a:r>
            <a:endParaRPr lang="en" altLang="zh-TW" sz="1200" b="0" dirty="0">
              <a:solidFill>
                <a:srgbClr val="000000"/>
              </a:solidFill>
              <a:effectLst/>
              <a:highlight>
                <a:srgbClr val="F7F7F7"/>
              </a:highlight>
              <a:latin typeface="Courier New" panose="02070309020205020404" pitchFamily="49" charset="0"/>
            </a:endParaRPr>
          </a:p>
          <a:p>
            <a:pPr lvl="2"/>
            <a:r>
              <a:rPr lang="en" altLang="zh-TW" sz="1200" b="0" dirty="0">
                <a:solidFill>
                  <a:srgbClr val="000000"/>
                </a:solidFill>
                <a:effectLst/>
                <a:highlight>
                  <a:srgbClr val="F7F7F7"/>
                </a:highlight>
                <a:latin typeface="Courier New" panose="02070309020205020404" pitchFamily="49" charset="0"/>
              </a:rPr>
              <a:t>prediction = model(x)</a:t>
            </a:r>
          </a:p>
          <a:p>
            <a:pPr lvl="2"/>
            <a:r>
              <a:rPr lang="en" altLang="zh-TW" sz="1200" b="0" dirty="0">
                <a:solidFill>
                  <a:srgbClr val="008000"/>
                </a:solidFill>
                <a:effectLst/>
                <a:highlight>
                  <a:srgbClr val="F7F7F7"/>
                </a:highlight>
                <a:latin typeface="Courier New" panose="02070309020205020404" pitchFamily="49" charset="0"/>
              </a:rPr>
              <a:t># convert logits into one character</a:t>
            </a:r>
            <a:endParaRPr lang="en" altLang="zh-TW" sz="1200" b="0" dirty="0">
              <a:solidFill>
                <a:srgbClr val="000000"/>
              </a:solidFill>
              <a:effectLst/>
              <a:highlight>
                <a:srgbClr val="F7F7F7"/>
              </a:highlight>
              <a:latin typeface="Courier New" panose="02070309020205020404" pitchFamily="49" charset="0"/>
            </a:endParaRPr>
          </a:p>
          <a:p>
            <a:pPr lvl="2"/>
            <a:r>
              <a:rPr lang="en" altLang="zh-TW" sz="1200" b="0" dirty="0">
                <a:solidFill>
                  <a:srgbClr val="000000"/>
                </a:solidFill>
                <a:effectLst/>
                <a:highlight>
                  <a:srgbClr val="F7F7F7"/>
                </a:highlight>
                <a:latin typeface="Courier New" panose="02070309020205020404" pitchFamily="49" charset="0"/>
              </a:rPr>
              <a:t>index = </a:t>
            </a:r>
            <a:r>
              <a:rPr lang="en" altLang="zh-TW" sz="1200" b="0" dirty="0">
                <a:solidFill>
                  <a:srgbClr val="257693"/>
                </a:solidFill>
                <a:effectLst/>
                <a:highlight>
                  <a:srgbClr val="F7F7F7"/>
                </a:highlight>
                <a:latin typeface="Courier New" panose="02070309020205020404" pitchFamily="49" charset="0"/>
              </a:rPr>
              <a:t>int</a:t>
            </a:r>
            <a:r>
              <a:rPr lang="en" altLang="zh-TW" sz="1200" b="0" dirty="0">
                <a:solidFill>
                  <a:srgbClr val="000000"/>
                </a:solidFill>
                <a:effectLst/>
                <a:highlight>
                  <a:srgbClr val="F7F7F7"/>
                </a:highlight>
                <a:latin typeface="Courier New" panose="02070309020205020404" pitchFamily="49" charset="0"/>
              </a:rPr>
              <a:t>(</a:t>
            </a:r>
            <a:r>
              <a:rPr lang="en" altLang="zh-TW" sz="1200" b="0" dirty="0" err="1">
                <a:solidFill>
                  <a:srgbClr val="000000"/>
                </a:solidFill>
                <a:effectLst/>
                <a:highlight>
                  <a:srgbClr val="F7F7F7"/>
                </a:highlight>
                <a:latin typeface="Courier New" panose="02070309020205020404" pitchFamily="49" charset="0"/>
              </a:rPr>
              <a:t>prediction.argmax</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a:solidFill>
                  <a:srgbClr val="000000"/>
                </a:solidFill>
                <a:effectLst/>
                <a:highlight>
                  <a:srgbClr val="F7F7F7"/>
                </a:highlight>
                <a:latin typeface="Courier New" panose="02070309020205020404" pitchFamily="49" charset="0"/>
              </a:rPr>
              <a:t>result = </a:t>
            </a:r>
            <a:r>
              <a:rPr lang="en" altLang="zh-TW" sz="1200" b="0" dirty="0" err="1">
                <a:solidFill>
                  <a:srgbClr val="000000"/>
                </a:solidFill>
                <a:effectLst/>
                <a:highlight>
                  <a:srgbClr val="F7F7F7"/>
                </a:highlight>
                <a:latin typeface="Courier New" panose="02070309020205020404" pitchFamily="49" charset="0"/>
              </a:rPr>
              <a:t>int_to_char</a:t>
            </a:r>
            <a:r>
              <a:rPr lang="en" altLang="zh-TW" sz="1200" b="0" dirty="0">
                <a:solidFill>
                  <a:srgbClr val="000000"/>
                </a:solidFill>
                <a:effectLst/>
                <a:highlight>
                  <a:srgbClr val="F7F7F7"/>
                </a:highlight>
                <a:latin typeface="Courier New" panose="02070309020205020404" pitchFamily="49" charset="0"/>
              </a:rPr>
              <a:t>[index]</a:t>
            </a:r>
          </a:p>
          <a:p>
            <a:pPr lvl="2"/>
            <a:r>
              <a:rPr lang="en" altLang="zh-TW" sz="1200" b="0" dirty="0">
                <a:solidFill>
                  <a:srgbClr val="795E26"/>
                </a:solidFill>
                <a:effectLst/>
                <a:highlight>
                  <a:srgbClr val="F7F7F7"/>
                </a:highlight>
                <a:latin typeface="Courier New" panose="02070309020205020404" pitchFamily="49" charset="0"/>
              </a:rPr>
              <a:t>print</a:t>
            </a:r>
            <a:r>
              <a:rPr lang="en" altLang="zh-TW" sz="1200" b="0" dirty="0">
                <a:solidFill>
                  <a:srgbClr val="000000"/>
                </a:solidFill>
                <a:effectLst/>
                <a:highlight>
                  <a:srgbClr val="F7F7F7"/>
                </a:highlight>
                <a:latin typeface="Courier New" panose="02070309020205020404" pitchFamily="49" charset="0"/>
              </a:rPr>
              <a:t>(result, end=</a:t>
            </a:r>
            <a:r>
              <a:rPr lang="en" altLang="zh-TW" sz="1200" b="0" dirty="0">
                <a:solidFill>
                  <a:srgbClr val="A31515"/>
                </a:solidFill>
                <a:effectLst/>
                <a:highlight>
                  <a:srgbClr val="F7F7F7"/>
                </a:highlight>
                <a:latin typeface="Courier New" panose="02070309020205020404" pitchFamily="49" charset="0"/>
              </a:rPr>
              <a:t>""</a:t>
            </a:r>
            <a:r>
              <a:rPr lang="en" altLang="zh-TW" sz="1200" b="0" dirty="0">
                <a:solidFill>
                  <a:srgbClr val="000000"/>
                </a:solidFill>
                <a:effectLst/>
                <a:highlight>
                  <a:srgbClr val="F7F7F7"/>
                </a:highlight>
                <a:latin typeface="Courier New" panose="02070309020205020404" pitchFamily="49" charset="0"/>
              </a:rPr>
              <a:t>)</a:t>
            </a:r>
          </a:p>
          <a:p>
            <a:pPr lvl="2"/>
            <a:r>
              <a:rPr lang="en" altLang="zh-TW" sz="1200" b="0" dirty="0">
                <a:solidFill>
                  <a:srgbClr val="008000"/>
                </a:solidFill>
                <a:effectLst/>
                <a:highlight>
                  <a:srgbClr val="F7F7F7"/>
                </a:highlight>
                <a:latin typeface="Courier New" panose="02070309020205020404" pitchFamily="49" charset="0"/>
              </a:rPr>
              <a:t># append the new character into the prompt for the next iteration</a:t>
            </a:r>
            <a:endParaRPr lang="en" altLang="zh-TW" sz="1200" b="0" dirty="0">
              <a:solidFill>
                <a:srgbClr val="000000"/>
              </a:solidFill>
              <a:effectLst/>
              <a:highlight>
                <a:srgbClr val="F7F7F7"/>
              </a:highlight>
              <a:latin typeface="Courier New" panose="02070309020205020404" pitchFamily="49" charset="0"/>
            </a:endParaRPr>
          </a:p>
          <a:p>
            <a:pPr lvl="2"/>
            <a:r>
              <a:rPr lang="en" altLang="zh-TW" sz="1200" b="0" dirty="0" err="1">
                <a:solidFill>
                  <a:srgbClr val="000000"/>
                </a:solidFill>
                <a:effectLst/>
                <a:highlight>
                  <a:srgbClr val="F7F7F7"/>
                </a:highlight>
                <a:latin typeface="Courier New" panose="02070309020205020404" pitchFamily="49" charset="0"/>
              </a:rPr>
              <a:t>pattern.append</a:t>
            </a:r>
            <a:r>
              <a:rPr lang="en" altLang="zh-TW" sz="1200" b="0" dirty="0">
                <a:solidFill>
                  <a:srgbClr val="000000"/>
                </a:solidFill>
                <a:effectLst/>
                <a:highlight>
                  <a:srgbClr val="F7F7F7"/>
                </a:highlight>
                <a:latin typeface="Courier New" panose="02070309020205020404" pitchFamily="49" charset="0"/>
              </a:rPr>
              <a:t>(index)</a:t>
            </a:r>
          </a:p>
          <a:p>
            <a:pPr lvl="2"/>
            <a:r>
              <a:rPr lang="en" altLang="zh-TW" sz="1200" b="0" dirty="0">
                <a:solidFill>
                  <a:srgbClr val="000000"/>
                </a:solidFill>
                <a:effectLst/>
                <a:highlight>
                  <a:srgbClr val="F7F7F7"/>
                </a:highlight>
                <a:latin typeface="Courier New" panose="02070309020205020404" pitchFamily="49" charset="0"/>
              </a:rPr>
              <a:t>pattern = pattern[</a:t>
            </a:r>
            <a:r>
              <a:rPr lang="en" altLang="zh-TW" sz="1200" b="0" dirty="0">
                <a:solidFill>
                  <a:srgbClr val="116644"/>
                </a:solidFill>
                <a:effectLst/>
                <a:highlight>
                  <a:srgbClr val="F7F7F7"/>
                </a:highlight>
                <a:latin typeface="Courier New" panose="02070309020205020404" pitchFamily="49" charset="0"/>
              </a:rPr>
              <a:t>1</a:t>
            </a:r>
            <a:r>
              <a:rPr lang="en" altLang="zh-TW" sz="1200" b="0" dirty="0">
                <a:solidFill>
                  <a:srgbClr val="000000"/>
                </a:solidFill>
                <a:effectLst/>
                <a:highlight>
                  <a:srgbClr val="F7F7F7"/>
                </a:highlight>
                <a:latin typeface="Courier New" panose="02070309020205020404" pitchFamily="49" charset="0"/>
              </a:rPr>
              <a:t>:]</a:t>
            </a:r>
          </a:p>
        </p:txBody>
      </p:sp>
    </p:spTree>
    <p:extLst>
      <p:ext uri="{BB962C8B-B14F-4D97-AF65-F5344CB8AC3E}">
        <p14:creationId xmlns:p14="http://schemas.microsoft.com/office/powerpoint/2010/main" val="209185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083FA29-B502-FBCD-421B-3B96F02925AA}"/>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448A0A1E-FA8B-25B9-CCD0-1EA466D930AA}"/>
              </a:ext>
            </a:extLst>
          </p:cNvPr>
          <p:cNvSpPr>
            <a:spLocks noGrp="1"/>
          </p:cNvSpPr>
          <p:nvPr>
            <p:ph idx="1"/>
          </p:nvPr>
        </p:nvSpPr>
        <p:spPr/>
        <p:txBody>
          <a:bodyPr/>
          <a:lstStyle/>
          <a:p>
            <a:r>
              <a:rPr kumimoji="1" lang="zh-TW" altLang="en-US" dirty="0"/>
              <a:t>試試看中文吧</a:t>
            </a:r>
            <a:endParaRPr kumimoji="1" lang="en-US" altLang="zh-TW" dirty="0"/>
          </a:p>
          <a:p>
            <a:r>
              <a:rPr lang="en" altLang="zh-TW" b="0" i="0" dirty="0">
                <a:solidFill>
                  <a:srgbClr val="000000"/>
                </a:solidFill>
                <a:effectLst/>
                <a:highlight>
                  <a:srgbClr val="FFFFFF"/>
                </a:highlight>
                <a:latin typeface="Inter"/>
                <a:hlinkClick r:id="rId2"/>
              </a:rPr>
              <a:t>https://www.kaggle.com/code/leonjye/three-kingdoms-text-generator</a:t>
            </a:r>
            <a:endParaRPr kumimoji="1" lang="en-US" altLang="zh-TW" b="0" i="0" dirty="0">
              <a:solidFill>
                <a:srgbClr val="000000"/>
              </a:solidFill>
              <a:effectLst/>
              <a:highlight>
                <a:srgbClr val="FFFFFF"/>
              </a:highlight>
              <a:latin typeface="Inter"/>
            </a:endParaRPr>
          </a:p>
          <a:p>
            <a:r>
              <a:rPr kumimoji="1" lang="zh-TW" altLang="en-US" dirty="0">
                <a:solidFill>
                  <a:srgbClr val="000000"/>
                </a:solidFill>
                <a:highlight>
                  <a:srgbClr val="FFFFFF"/>
                </a:highlight>
                <a:latin typeface="Inter"/>
              </a:rPr>
              <a:t>從網路上抓下來的三國演義，原本是簡體</a:t>
            </a:r>
            <a:endParaRPr kumimoji="1" lang="en-US" altLang="zh-TW" dirty="0">
              <a:solidFill>
                <a:srgbClr val="000000"/>
              </a:solidFill>
              <a:highlight>
                <a:srgbClr val="FFFFFF"/>
              </a:highlight>
              <a:latin typeface="Inter"/>
            </a:endParaRPr>
          </a:p>
          <a:p>
            <a:r>
              <a:rPr kumimoji="1" lang="zh-TW" altLang="en-US" dirty="0"/>
              <a:t>透過</a:t>
            </a:r>
            <a:r>
              <a:rPr kumimoji="1" lang="en-US" altLang="zh-TW" dirty="0" err="1"/>
              <a:t>OpenCC</a:t>
            </a:r>
            <a:r>
              <a:rPr kumimoji="1" lang="zh-TW" altLang="en-US" dirty="0"/>
              <a:t>將簡體轉成繁體</a:t>
            </a:r>
            <a:endParaRPr kumimoji="1" lang="en-US" altLang="zh-TW" dirty="0"/>
          </a:p>
          <a:p>
            <a:r>
              <a:rPr kumimoji="1" lang="zh-TW" altLang="en-US" dirty="0"/>
              <a:t>透過</a:t>
            </a:r>
            <a:r>
              <a:rPr kumimoji="1" lang="en-US" altLang="zh-TW" dirty="0" err="1"/>
              <a:t>Jieba</a:t>
            </a:r>
            <a:r>
              <a:rPr kumimoji="1" lang="zh-TW" altLang="en-US" dirty="0"/>
              <a:t>斷字斷詞</a:t>
            </a:r>
            <a:endParaRPr kumimoji="1" lang="en-US" altLang="zh-TW" dirty="0"/>
          </a:p>
          <a:p>
            <a:pPr lvl="1"/>
            <a:r>
              <a:rPr kumimoji="1" lang="zh-TW" altLang="en-US" dirty="0"/>
              <a:t>下載支持繁體分詞較好的字典：</a:t>
            </a:r>
            <a:r>
              <a:rPr kumimoji="1" lang="en" altLang="zh-TW" dirty="0">
                <a:hlinkClick r:id="rId3"/>
              </a:rPr>
              <a:t>https://raw.githubusercontent.com/fxsjy/jieba/master/extra_dict/dict.txt.big</a:t>
            </a:r>
            <a:endParaRPr kumimoji="1" lang="en" altLang="zh-TW" dirty="0"/>
          </a:p>
          <a:p>
            <a:pPr lvl="1"/>
            <a:r>
              <a:rPr kumimoji="1" lang="en-US" altLang="zh-TW" dirty="0"/>
              <a:t>Ref:</a:t>
            </a:r>
            <a:r>
              <a:rPr kumimoji="1" lang="zh-TW" altLang="en-US" dirty="0"/>
              <a:t> </a:t>
            </a:r>
            <a:r>
              <a:rPr kumimoji="1" lang="en" altLang="zh-TW" dirty="0">
                <a:hlinkClick r:id="rId4"/>
              </a:rPr>
              <a:t>https://github.com/fxsjy/jieba</a:t>
            </a:r>
            <a:endParaRPr kumimoji="1" lang="zh-TW" altLang="en-US" dirty="0"/>
          </a:p>
        </p:txBody>
      </p:sp>
    </p:spTree>
    <p:extLst>
      <p:ext uri="{BB962C8B-B14F-4D97-AF65-F5344CB8AC3E}">
        <p14:creationId xmlns:p14="http://schemas.microsoft.com/office/powerpoint/2010/main" val="3887782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BDB744-906B-BA5D-9ED4-AFA67B273906}"/>
              </a:ext>
            </a:extLst>
          </p:cNvPr>
          <p:cNvSpPr>
            <a:spLocks noGrp="1"/>
          </p:cNvSpPr>
          <p:nvPr>
            <p:ph type="title"/>
          </p:nvPr>
        </p:nvSpPr>
        <p:spPr/>
        <p:txBody>
          <a:bodyPr>
            <a:normAutofit/>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C71A7C99-C64A-79C6-CBC1-00C4C8801086}"/>
              </a:ext>
            </a:extLst>
          </p:cNvPr>
          <p:cNvSpPr>
            <a:spLocks noGrp="1"/>
          </p:cNvSpPr>
          <p:nvPr>
            <p:ph idx="1"/>
          </p:nvPr>
        </p:nvSpPr>
        <p:spPr>
          <a:xfrm>
            <a:off x="838200" y="1825625"/>
            <a:ext cx="10515600" cy="4667250"/>
          </a:xfrm>
        </p:spPr>
        <p:txBody>
          <a:bodyPr>
            <a:normAutofit fontScale="85000" lnSpcReduction="10000"/>
          </a:bodyPr>
          <a:lstStyle/>
          <a:p>
            <a:pPr>
              <a:lnSpc>
                <a:spcPct val="120000"/>
              </a:lnSpc>
            </a:pPr>
            <a:r>
              <a:rPr kumimoji="1" lang="zh-TW" altLang="en-US" sz="2400" dirty="0"/>
              <a:t>首先注意兩個類別：</a:t>
            </a:r>
            <a:r>
              <a:rPr kumimoji="1" lang="en" altLang="zh-TW" sz="2400" dirty="0"/>
              <a:t>Dataset </a:t>
            </a:r>
            <a:r>
              <a:rPr kumimoji="1" lang="zh-TW" altLang="en-US" sz="2400" dirty="0"/>
              <a:t>和 </a:t>
            </a:r>
            <a:r>
              <a:rPr kumimoji="1" lang="en" altLang="zh-TW" sz="2400" dirty="0"/>
              <a:t>Model</a:t>
            </a:r>
            <a:r>
              <a:rPr kumimoji="1" lang="zh-TW" altLang="en" sz="2400" dirty="0"/>
              <a:t>。</a:t>
            </a:r>
            <a:endParaRPr kumimoji="1" lang="en" altLang="zh-TW" sz="2400" dirty="0"/>
          </a:p>
          <a:p>
            <a:pPr>
              <a:lnSpc>
                <a:spcPct val="120000"/>
              </a:lnSpc>
            </a:pPr>
            <a:r>
              <a:rPr kumimoji="1" lang="en" altLang="zh-TW" sz="2400" dirty="0"/>
              <a:t>Dataset</a:t>
            </a:r>
            <a:r>
              <a:rPr kumimoji="1" lang="zh-TW" altLang="en-US" sz="2400" dirty="0"/>
              <a:t> </a:t>
            </a:r>
            <a:r>
              <a:rPr kumimoji="1" lang="en-US" altLang="zh-TW" sz="2400" dirty="0"/>
              <a:t>(</a:t>
            </a:r>
            <a:r>
              <a:rPr kumimoji="1" lang="zh-TW" altLang="en-US" sz="2400" dirty="0"/>
              <a:t>資料：</a:t>
            </a:r>
            <a:r>
              <a:rPr kumimoji="1" lang="en" altLang="zh-TW" sz="2400" dirty="0">
                <a:hlinkClick r:id="rId2"/>
              </a:rPr>
              <a:t>https://github.com/leonjyentub/Text_Generation/tree/main/Data</a:t>
            </a:r>
            <a:r>
              <a:rPr kumimoji="1" lang="en-US" altLang="zh-TW" sz="2400" dirty="0"/>
              <a:t>)</a:t>
            </a:r>
            <a:endParaRPr kumimoji="1" lang="en" altLang="zh-TW" sz="2400" dirty="0"/>
          </a:p>
          <a:p>
            <a:pPr>
              <a:lnSpc>
                <a:spcPct val="120000"/>
              </a:lnSpc>
            </a:pPr>
            <a:r>
              <a:rPr kumimoji="1" lang="zh-TW" altLang="en-US" sz="2400" dirty="0"/>
              <a:t>文章：「滾滾長江東逝水，浪花淘盡英雄。是非成敗轉頭空。青山依舊在，幾度夕陽紅。白髮漁樵江渚上，慣看秋月春風。一壺濁酒喜相逢。古今多少事，都付笑談中</a:t>
            </a:r>
            <a:r>
              <a:rPr kumimoji="1" lang="en-US" altLang="zh-TW" sz="2400" dirty="0"/>
              <a:t>——</a:t>
            </a:r>
            <a:r>
              <a:rPr kumimoji="1" lang="zh-TW" altLang="en-US" sz="2400" dirty="0"/>
              <a:t>」</a:t>
            </a:r>
            <a:endParaRPr kumimoji="1" lang="en-US" altLang="zh-TW" sz="2400" dirty="0"/>
          </a:p>
          <a:p>
            <a:pPr marL="514350" indent="-514350">
              <a:lnSpc>
                <a:spcPct val="120000"/>
              </a:lnSpc>
              <a:buFont typeface="+mj-lt"/>
              <a:buAutoNum type="arabicPeriod"/>
            </a:pPr>
            <a:r>
              <a:rPr kumimoji="1" lang="zh-TW" altLang="en-US" sz="2400" dirty="0"/>
              <a:t>簡體可以透過</a:t>
            </a:r>
            <a:r>
              <a:rPr kumimoji="1" lang="en-US" altLang="zh-TW" sz="2400" dirty="0" err="1"/>
              <a:t>OpenCC</a:t>
            </a:r>
            <a:r>
              <a:rPr kumimoji="1" lang="zh-TW" altLang="en-US" sz="2400" dirty="0"/>
              <a:t>轉成繁體</a:t>
            </a:r>
            <a:endParaRPr kumimoji="1" lang="en-US" altLang="zh-TW" sz="2400" dirty="0"/>
          </a:p>
          <a:p>
            <a:pPr marL="514350" indent="-514350">
              <a:lnSpc>
                <a:spcPct val="120000"/>
              </a:lnSpc>
              <a:buFont typeface="+mj-lt"/>
              <a:buAutoNum type="arabicPeriod"/>
            </a:pPr>
            <a:r>
              <a:rPr kumimoji="1" lang="zh-TW" altLang="en-US" sz="2400" dirty="0"/>
              <a:t>去除換行、空白後，透過</a:t>
            </a:r>
            <a:r>
              <a:rPr kumimoji="1" lang="en-US" altLang="zh-TW" sz="2400" dirty="0" err="1"/>
              <a:t>jieba</a:t>
            </a:r>
            <a:r>
              <a:rPr kumimoji="1" lang="zh-TW" altLang="en-US" sz="2400" dirty="0"/>
              <a:t>切詞</a:t>
            </a:r>
            <a:endParaRPr kumimoji="1" lang="en-US" altLang="zh-TW" sz="2400" dirty="0"/>
          </a:p>
          <a:p>
            <a:pPr marL="514350" indent="-514350">
              <a:lnSpc>
                <a:spcPct val="120000"/>
              </a:lnSpc>
              <a:buFont typeface="+mj-lt"/>
              <a:buAutoNum type="arabicPeriod"/>
            </a:pPr>
            <a:endParaRPr kumimoji="1" lang="en-US" altLang="zh-TW" sz="2400" dirty="0"/>
          </a:p>
          <a:p>
            <a:pPr marL="514350" indent="-514350">
              <a:lnSpc>
                <a:spcPct val="120000"/>
              </a:lnSpc>
              <a:buFont typeface="+mj-lt"/>
              <a:buAutoNum type="arabicPeriod"/>
            </a:pPr>
            <a:endParaRPr kumimoji="1" lang="en-US" altLang="zh-TW" sz="2400" dirty="0"/>
          </a:p>
          <a:p>
            <a:pPr marL="514350" indent="-514350">
              <a:lnSpc>
                <a:spcPct val="120000"/>
              </a:lnSpc>
              <a:buFont typeface="+mj-lt"/>
              <a:buAutoNum type="arabicPeriod"/>
            </a:pPr>
            <a:r>
              <a:rPr kumimoji="1" lang="zh-TW" altLang="en-US" sz="2400" dirty="0"/>
              <a:t>把每個詞都轉成</a:t>
            </a:r>
            <a:r>
              <a:rPr kumimoji="1" lang="en-US" altLang="zh-TW" sz="2400" dirty="0" err="1"/>
              <a:t>token_ids</a:t>
            </a:r>
            <a:r>
              <a:rPr kumimoji="1" lang="zh-TW" altLang="en-US" sz="2400" dirty="0"/>
              <a:t> </a:t>
            </a:r>
            <a:r>
              <a:rPr kumimoji="1" lang="en-US" altLang="zh-TW" sz="2400" dirty="0"/>
              <a:t>(</a:t>
            </a:r>
            <a:r>
              <a:rPr kumimoji="1" lang="zh-TW" altLang="en-US" sz="2400" dirty="0"/>
              <a:t>不重覆的數字編碼</a:t>
            </a:r>
            <a:r>
              <a:rPr kumimoji="1" lang="en-US" altLang="zh-TW" sz="2400" dirty="0"/>
              <a:t>)</a:t>
            </a:r>
          </a:p>
        </p:txBody>
      </p:sp>
      <p:sp>
        <p:nvSpPr>
          <p:cNvPr id="5" name="文字方塊 4">
            <a:extLst>
              <a:ext uri="{FF2B5EF4-FFF2-40B4-BE49-F238E27FC236}">
                <a16:creationId xmlns:a16="http://schemas.microsoft.com/office/drawing/2014/main" id="{8BC66418-51AA-DBFA-6836-0DF91B2F25E1}"/>
              </a:ext>
            </a:extLst>
          </p:cNvPr>
          <p:cNvSpPr txBox="1"/>
          <p:nvPr/>
        </p:nvSpPr>
        <p:spPr>
          <a:xfrm>
            <a:off x="274616" y="4452982"/>
            <a:ext cx="11456895" cy="923330"/>
          </a:xfrm>
          <a:prstGeom prst="rect">
            <a:avLst/>
          </a:prstGeom>
          <a:noFill/>
          <a:ln>
            <a:solidFill>
              <a:schemeClr val="tx1"/>
            </a:solidFill>
          </a:ln>
        </p:spPr>
        <p:txBody>
          <a:bodyPr wrap="square">
            <a:spAutoFit/>
          </a:bodyPr>
          <a:lstStyle/>
          <a:p>
            <a:r>
              <a:rPr lang="en-US" altLang="zh-TW" dirty="0"/>
              <a:t>[</a:t>
            </a:r>
            <a:r>
              <a:rPr lang="zh-TW" altLang="en-US" dirty="0"/>
              <a:t>'滾滾長', '江東', '逝水', '，', '浪花', '淘盡', '英雄', '。', '是非', '成敗', '轉頭空', '。', '青山', '依舊', '在', '，', '幾度', '夕陽紅', '。', '白', '髮', '漁樵江', '渚', '上', '，', '慣看', '秋月', '春風', '。', '一壺', '濁', '酒', '喜相逢', '。', '古今', '多少', '事', '，', '都', '付笑', '談中', '—', '—',</a:t>
            </a:r>
            <a:r>
              <a:rPr lang="en-US" altLang="zh-TW" dirty="0"/>
              <a:t>]</a:t>
            </a:r>
            <a:endParaRPr lang="zh-TW" altLang="en-US" dirty="0"/>
          </a:p>
        </p:txBody>
      </p:sp>
      <p:sp>
        <p:nvSpPr>
          <p:cNvPr id="6" name="文字方塊 5">
            <a:extLst>
              <a:ext uri="{FF2B5EF4-FFF2-40B4-BE49-F238E27FC236}">
                <a16:creationId xmlns:a16="http://schemas.microsoft.com/office/drawing/2014/main" id="{7600FC34-AB6B-46B2-ADE8-D9C1B08B5950}"/>
              </a:ext>
            </a:extLst>
          </p:cNvPr>
          <p:cNvSpPr txBox="1"/>
          <p:nvPr/>
        </p:nvSpPr>
        <p:spPr>
          <a:xfrm>
            <a:off x="914399" y="5900353"/>
            <a:ext cx="9243527" cy="369332"/>
          </a:xfrm>
          <a:prstGeom prst="rect">
            <a:avLst/>
          </a:prstGeom>
          <a:noFill/>
        </p:spPr>
        <p:txBody>
          <a:bodyPr wrap="square">
            <a:spAutoFit/>
          </a:bodyPr>
          <a:lstStyle/>
          <a:p>
            <a:r>
              <a:rPr kumimoji="1" lang="en" altLang="zh-TW" sz="1800" i="1" dirty="0">
                <a:solidFill>
                  <a:schemeClr val="bg1">
                    <a:lumMod val="75000"/>
                  </a:schemeClr>
                </a:solidFill>
                <a:hlinkClick r:id="rId3">
                  <a:extLst>
                    <a:ext uri="{A12FA001-AC4F-418D-AE19-62706E023703}">
                      <ahyp:hlinkClr xmlns:ahyp="http://schemas.microsoft.com/office/drawing/2018/hyperlinkcolor" val="tx"/>
                    </a:ext>
                  </a:extLst>
                </a:hlinkClick>
              </a:rPr>
              <a:t>https://github.com/leonjyentub/Text_Generation/blob/main/Text_Generation_LSTM.py</a:t>
            </a:r>
            <a:endParaRPr lang="zh-TW" altLang="en-US" i="1" dirty="0">
              <a:solidFill>
                <a:schemeClr val="bg1">
                  <a:lumMod val="75000"/>
                </a:schemeClr>
              </a:solidFill>
            </a:endParaRPr>
          </a:p>
        </p:txBody>
      </p:sp>
    </p:spTree>
    <p:extLst>
      <p:ext uri="{BB962C8B-B14F-4D97-AF65-F5344CB8AC3E}">
        <p14:creationId xmlns:p14="http://schemas.microsoft.com/office/powerpoint/2010/main" val="189498989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28304-DCD3-0EC1-6AB3-D49FA4DE0779}"/>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7A7F8884-C7E9-E1A1-A5AA-605B7C1AB617}"/>
              </a:ext>
            </a:extLst>
          </p:cNvPr>
          <p:cNvSpPr>
            <a:spLocks noGrp="1"/>
          </p:cNvSpPr>
          <p:nvPr>
            <p:ph idx="1"/>
          </p:nvPr>
        </p:nvSpPr>
        <p:spPr/>
        <p:txBody>
          <a:bodyPr/>
          <a:lstStyle/>
          <a:p>
            <a:endParaRPr kumimoji="1" lang="zh-TW" altLang="en-US"/>
          </a:p>
        </p:txBody>
      </p:sp>
      <p:pic>
        <p:nvPicPr>
          <p:cNvPr id="4" name="圖片 3">
            <a:extLst>
              <a:ext uri="{FF2B5EF4-FFF2-40B4-BE49-F238E27FC236}">
                <a16:creationId xmlns:a16="http://schemas.microsoft.com/office/drawing/2014/main" id="{EA64597D-E0F3-804D-284D-C1CD010C4EFB}"/>
              </a:ext>
            </a:extLst>
          </p:cNvPr>
          <p:cNvPicPr>
            <a:picLocks noChangeAspect="1"/>
          </p:cNvPicPr>
          <p:nvPr/>
        </p:nvPicPr>
        <p:blipFill>
          <a:blip r:embed="rId2"/>
          <a:stretch>
            <a:fillRect/>
          </a:stretch>
        </p:blipFill>
        <p:spPr>
          <a:xfrm>
            <a:off x="838200" y="1425675"/>
            <a:ext cx="7007473" cy="5151237"/>
          </a:xfrm>
          <a:prstGeom prst="rect">
            <a:avLst/>
          </a:prstGeom>
        </p:spPr>
      </p:pic>
      <p:sp>
        <p:nvSpPr>
          <p:cNvPr id="5" name="向左箭號圖說文字 4">
            <a:extLst>
              <a:ext uri="{FF2B5EF4-FFF2-40B4-BE49-F238E27FC236}">
                <a16:creationId xmlns:a16="http://schemas.microsoft.com/office/drawing/2014/main" id="{487C4BF4-C09E-6294-8941-7865298E6555}"/>
              </a:ext>
            </a:extLst>
          </p:cNvPr>
          <p:cNvSpPr/>
          <p:nvPr/>
        </p:nvSpPr>
        <p:spPr>
          <a:xfrm>
            <a:off x="8153400" y="3327400"/>
            <a:ext cx="3200400" cy="753533"/>
          </a:xfrm>
          <a:prstGeom prst="leftArrowCallout">
            <a:avLst>
              <a:gd name="adj1" fmla="val 25000"/>
              <a:gd name="adj2" fmla="val 25000"/>
              <a:gd name="adj3" fmla="val 25000"/>
              <a:gd name="adj4" fmla="val 8005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建立數字與詞的對應表</a:t>
            </a:r>
          </a:p>
        </p:txBody>
      </p:sp>
      <p:sp>
        <p:nvSpPr>
          <p:cNvPr id="6" name="向左箭號圖說文字 5">
            <a:extLst>
              <a:ext uri="{FF2B5EF4-FFF2-40B4-BE49-F238E27FC236}">
                <a16:creationId xmlns:a16="http://schemas.microsoft.com/office/drawing/2014/main" id="{7310598D-18C5-CC62-AD26-D899685EC83F}"/>
              </a:ext>
            </a:extLst>
          </p:cNvPr>
          <p:cNvSpPr/>
          <p:nvPr/>
        </p:nvSpPr>
        <p:spPr>
          <a:xfrm>
            <a:off x="7999536" y="5739342"/>
            <a:ext cx="3200400" cy="753533"/>
          </a:xfrm>
          <a:prstGeom prst="leftArrowCallout">
            <a:avLst>
              <a:gd name="adj1" fmla="val 25000"/>
              <a:gd name="adj2" fmla="val 25000"/>
              <a:gd name="adj3" fmla="val 25000"/>
              <a:gd name="adj4" fmla="val 8005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前</a:t>
            </a:r>
            <a:r>
              <a:rPr kumimoji="1" lang="en-US" altLang="zh-TW" dirty="0" err="1"/>
              <a:t>n~m</a:t>
            </a:r>
            <a:r>
              <a:rPr kumimoji="1" lang="zh-TW" altLang="en-US" dirty="0"/>
              <a:t>個字預測</a:t>
            </a:r>
            <a:r>
              <a:rPr kumimoji="1" lang="en-US" altLang="zh-TW" dirty="0"/>
              <a:t>n+1</a:t>
            </a:r>
            <a:r>
              <a:rPr kumimoji="1" lang="zh-TW" altLang="en-US" dirty="0"/>
              <a:t>到</a:t>
            </a:r>
            <a:r>
              <a:rPr kumimoji="1" lang="en-US" altLang="zh-TW" dirty="0"/>
              <a:t>m+1</a:t>
            </a:r>
            <a:r>
              <a:rPr kumimoji="1" lang="zh-TW" altLang="en-US" dirty="0"/>
              <a:t>個字</a:t>
            </a:r>
          </a:p>
        </p:txBody>
      </p:sp>
    </p:spTree>
    <p:extLst>
      <p:ext uri="{BB962C8B-B14F-4D97-AF65-F5344CB8AC3E}">
        <p14:creationId xmlns:p14="http://schemas.microsoft.com/office/powerpoint/2010/main" val="12328507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6B6D7A-F91D-D2CA-12C2-E005A9785238}"/>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F2BC36C1-36F6-8053-5C62-5C06D48B3BB7}"/>
              </a:ext>
            </a:extLst>
          </p:cNvPr>
          <p:cNvSpPr>
            <a:spLocks noGrp="1"/>
          </p:cNvSpPr>
          <p:nvPr>
            <p:ph idx="1"/>
          </p:nvPr>
        </p:nvSpPr>
        <p:spPr>
          <a:xfrm>
            <a:off x="838200" y="1825625"/>
            <a:ext cx="2658533" cy="4351338"/>
          </a:xfrm>
        </p:spPr>
        <p:txBody>
          <a:bodyPr/>
          <a:lstStyle/>
          <a:p>
            <a:r>
              <a:rPr kumimoji="1" lang="zh-TW" altLang="en-US" dirty="0"/>
              <a:t>簡單的小模型</a:t>
            </a:r>
            <a:endParaRPr kumimoji="1" lang="en-US" altLang="zh-TW" dirty="0"/>
          </a:p>
          <a:p>
            <a:r>
              <a:rPr kumimoji="1" lang="zh-TW" altLang="en-US" dirty="0"/>
              <a:t>使用</a:t>
            </a:r>
            <a:r>
              <a:rPr kumimoji="1" lang="en-US" altLang="zh-TW" dirty="0" err="1"/>
              <a:t>embedding+Bi-LSTM</a:t>
            </a:r>
            <a:endParaRPr kumimoji="1" lang="zh-TW" altLang="en-US" dirty="0"/>
          </a:p>
        </p:txBody>
      </p:sp>
      <p:pic>
        <p:nvPicPr>
          <p:cNvPr id="4" name="圖片 3">
            <a:extLst>
              <a:ext uri="{FF2B5EF4-FFF2-40B4-BE49-F238E27FC236}">
                <a16:creationId xmlns:a16="http://schemas.microsoft.com/office/drawing/2014/main" id="{E5D57E77-61C2-C403-3BF9-AB1F3AAD67BB}"/>
              </a:ext>
            </a:extLst>
          </p:cNvPr>
          <p:cNvPicPr>
            <a:picLocks noChangeAspect="1"/>
          </p:cNvPicPr>
          <p:nvPr/>
        </p:nvPicPr>
        <p:blipFill>
          <a:blip r:embed="rId2"/>
          <a:stretch>
            <a:fillRect/>
          </a:stretch>
        </p:blipFill>
        <p:spPr>
          <a:xfrm>
            <a:off x="3581400" y="1825625"/>
            <a:ext cx="7772400" cy="4022353"/>
          </a:xfrm>
          <a:prstGeom prst="rect">
            <a:avLst/>
          </a:prstGeom>
        </p:spPr>
      </p:pic>
    </p:spTree>
    <p:extLst>
      <p:ext uri="{BB962C8B-B14F-4D97-AF65-F5344CB8AC3E}">
        <p14:creationId xmlns:p14="http://schemas.microsoft.com/office/powerpoint/2010/main" val="40042932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7EC802-5CD4-719B-855E-9E1B949347A8}"/>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6F4ECFBE-243E-FEE0-888B-F48566777815}"/>
              </a:ext>
            </a:extLst>
          </p:cNvPr>
          <p:cNvSpPr>
            <a:spLocks noGrp="1"/>
          </p:cNvSpPr>
          <p:nvPr>
            <p:ph idx="1"/>
          </p:nvPr>
        </p:nvSpPr>
        <p:spPr/>
        <p:txBody>
          <a:bodyPr>
            <a:normAutofit fontScale="85000" lnSpcReduction="20000"/>
          </a:bodyPr>
          <a:lstStyle/>
          <a:p>
            <a:pPr>
              <a:lnSpc>
                <a:spcPct val="120000"/>
              </a:lnSpc>
            </a:pPr>
            <a:r>
              <a:rPr kumimoji="1" lang="en" altLang="zh-TW" dirty="0"/>
              <a:t>Model </a:t>
            </a:r>
            <a:r>
              <a:rPr kumimoji="1" lang="zh-TW" altLang="en-US" dirty="0"/>
              <a:t>類別</a:t>
            </a:r>
            <a:endParaRPr kumimoji="1" lang="en-US" altLang="zh-TW" dirty="0"/>
          </a:p>
          <a:p>
            <a:pPr lvl="1">
              <a:lnSpc>
                <a:spcPct val="120000"/>
              </a:lnSpc>
            </a:pPr>
            <a:r>
              <a:rPr kumimoji="1" lang="zh-TW" altLang="en-US" dirty="0"/>
              <a:t>定義了 </a:t>
            </a:r>
            <a:r>
              <a:rPr kumimoji="1" lang="en" altLang="zh-TW" dirty="0"/>
              <a:t>LSTM </a:t>
            </a:r>
            <a:r>
              <a:rPr kumimoji="1" lang="zh-TW" altLang="en-US" dirty="0"/>
              <a:t>模型架構，包括了幾個主要元件，包括一個嵌入層、一個隱藏層以及一個輸出層。</a:t>
            </a:r>
          </a:p>
          <a:p>
            <a:pPr lvl="2">
              <a:lnSpc>
                <a:spcPct val="120000"/>
              </a:lnSpc>
            </a:pPr>
            <a:r>
              <a:rPr kumimoji="1" lang="zh-TW" altLang="en-US" dirty="0"/>
              <a:t>首先，嵌入層將單詞編碼轉換為向量</a:t>
            </a:r>
            <a:r>
              <a:rPr kumimoji="1" lang="en-US" altLang="zh-TW" dirty="0"/>
              <a:t>(Word</a:t>
            </a:r>
            <a:r>
              <a:rPr kumimoji="1" lang="zh-TW" altLang="en-US" dirty="0"/>
              <a:t> </a:t>
            </a:r>
            <a:r>
              <a:rPr kumimoji="1" lang="en-US" altLang="zh-TW" dirty="0"/>
              <a:t>Embedding)</a:t>
            </a:r>
            <a:r>
              <a:rPr kumimoji="1" lang="zh-TW" altLang="en-US" dirty="0"/>
              <a:t>表示，以便輸入 </a:t>
            </a:r>
            <a:r>
              <a:rPr kumimoji="1" lang="en" altLang="zh-TW" dirty="0"/>
              <a:t>LSTM </a:t>
            </a:r>
            <a:r>
              <a:rPr kumimoji="1" lang="zh-TW" altLang="en-US" dirty="0"/>
              <a:t>中的序列 </a:t>
            </a:r>
            <a:r>
              <a:rPr kumimoji="1" lang="en" altLang="zh-TW" dirty="0" err="1"/>
              <a:t>memeory</a:t>
            </a:r>
            <a:r>
              <a:rPr kumimoji="1" lang="en" altLang="zh-TW" dirty="0"/>
              <a:t> </a:t>
            </a:r>
            <a:r>
              <a:rPr kumimoji="1" lang="zh-TW" altLang="en-US" dirty="0"/>
              <a:t>和 </a:t>
            </a:r>
            <a:r>
              <a:rPr kumimoji="1" lang="en" altLang="zh-TW" dirty="0"/>
              <a:t>cell state</a:t>
            </a:r>
            <a:r>
              <a:rPr kumimoji="1" lang="zh-TW" altLang="en" dirty="0"/>
              <a:t>。</a:t>
            </a:r>
          </a:p>
          <a:p>
            <a:pPr lvl="2">
              <a:lnSpc>
                <a:spcPct val="120000"/>
              </a:lnSpc>
            </a:pPr>
            <a:r>
              <a:rPr kumimoji="1" lang="zh-TW" altLang="en-US" dirty="0"/>
              <a:t>隱藏層包含了一個 </a:t>
            </a:r>
            <a:r>
              <a:rPr kumimoji="1" lang="en" altLang="zh-TW" dirty="0"/>
              <a:t>LSTM </a:t>
            </a:r>
            <a:r>
              <a:rPr kumimoji="1" lang="zh-TW" altLang="en-US" dirty="0"/>
              <a:t>單元，用來計算序列的輸出，使用</a:t>
            </a:r>
            <a:r>
              <a:rPr kumimoji="1" lang="en-US" altLang="zh-TW" dirty="0"/>
              <a:t>recurrent</a:t>
            </a:r>
            <a:r>
              <a:rPr kumimoji="1" lang="zh-TW" altLang="en-US" dirty="0"/>
              <a:t>，</a:t>
            </a:r>
            <a:r>
              <a:rPr kumimoji="1" lang="en-US" altLang="zh-TW" dirty="0"/>
              <a:t>long-term</a:t>
            </a:r>
            <a:r>
              <a:rPr kumimoji="1" lang="zh-TW" altLang="en-US" dirty="0"/>
              <a:t>的方式在單詞之間建立關聯性。</a:t>
            </a:r>
          </a:p>
          <a:p>
            <a:pPr lvl="2">
              <a:lnSpc>
                <a:spcPct val="120000"/>
              </a:lnSpc>
            </a:pPr>
            <a:r>
              <a:rPr kumimoji="1" lang="zh-TW" altLang="en-US" dirty="0"/>
              <a:t>最後，輸出層將序列的輸出傳遞給一個線性和 </a:t>
            </a:r>
            <a:r>
              <a:rPr kumimoji="1" lang="en" altLang="zh-TW" dirty="0" err="1"/>
              <a:t>softmax</a:t>
            </a:r>
            <a:r>
              <a:rPr kumimoji="1" lang="en" altLang="zh-TW" dirty="0"/>
              <a:t> </a:t>
            </a:r>
            <a:r>
              <a:rPr kumimoji="1" lang="zh-TW" altLang="en-US" dirty="0"/>
              <a:t>函數，以將輸出轉換為符合文字生成的機率分布。</a:t>
            </a:r>
          </a:p>
          <a:p>
            <a:pPr lvl="1">
              <a:lnSpc>
                <a:spcPct val="120000"/>
              </a:lnSpc>
            </a:pPr>
            <a:r>
              <a:rPr kumimoji="1" lang="zh-TW" altLang="en-US" dirty="0"/>
              <a:t>程式碼還實現了訓練和預測函數，可以使用訓練文本產生預測序列，並使用損失函數和反向傳播算法來優化模型參數。</a:t>
            </a:r>
          </a:p>
          <a:p>
            <a:pPr lvl="1">
              <a:lnSpc>
                <a:spcPct val="120000"/>
              </a:lnSpc>
            </a:pPr>
            <a:r>
              <a:rPr kumimoji="1" lang="zh-TW" altLang="en-US" dirty="0"/>
              <a:t>最後，程式碼將模型用於產生新的文字。透過輸入一個起始的句子，並使用模型的預測來產生新的文字資冊，直到產生一到指定長度為止。</a:t>
            </a:r>
          </a:p>
        </p:txBody>
      </p:sp>
    </p:spTree>
    <p:extLst>
      <p:ext uri="{BB962C8B-B14F-4D97-AF65-F5344CB8AC3E}">
        <p14:creationId xmlns:p14="http://schemas.microsoft.com/office/powerpoint/2010/main" val="11318052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E97DE0-090D-75A0-2553-DD0DF8C6A209}"/>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F2B55171-6D27-BFA4-2AF7-2AB07888F0F8}"/>
              </a:ext>
            </a:extLst>
          </p:cNvPr>
          <p:cNvSpPr>
            <a:spLocks noGrp="1"/>
          </p:cNvSpPr>
          <p:nvPr>
            <p:ph idx="1"/>
          </p:nvPr>
        </p:nvSpPr>
        <p:spPr>
          <a:xfrm>
            <a:off x="838200" y="1825625"/>
            <a:ext cx="3302000" cy="4351338"/>
          </a:xfrm>
        </p:spPr>
        <p:txBody>
          <a:bodyPr/>
          <a:lstStyle/>
          <a:p>
            <a:r>
              <a:rPr kumimoji="1" lang="zh-TW" altLang="en-US" dirty="0"/>
              <a:t>預測部分：注意每次只抓最後一個字加到原句子中，然後持續再抓固定字數去預測下一個字</a:t>
            </a:r>
            <a:endParaRPr kumimoji="1" lang="en-US" altLang="zh-TW" dirty="0"/>
          </a:p>
          <a:p>
            <a:r>
              <a:rPr kumimoji="1" lang="zh-TW" altLang="en-US" dirty="0"/>
              <a:t>可以無限</a:t>
            </a:r>
            <a:r>
              <a:rPr kumimoji="1" lang="zh-TW" altLang="en-US"/>
              <a:t>生成下去</a:t>
            </a:r>
            <a:endParaRPr kumimoji="1" lang="zh-TW" altLang="en-US" dirty="0"/>
          </a:p>
        </p:txBody>
      </p:sp>
      <p:pic>
        <p:nvPicPr>
          <p:cNvPr id="4" name="圖片 3">
            <a:extLst>
              <a:ext uri="{FF2B5EF4-FFF2-40B4-BE49-F238E27FC236}">
                <a16:creationId xmlns:a16="http://schemas.microsoft.com/office/drawing/2014/main" id="{1CFCB9C5-09D8-2DFE-C0BB-959FA2208D93}"/>
              </a:ext>
            </a:extLst>
          </p:cNvPr>
          <p:cNvPicPr>
            <a:picLocks noChangeAspect="1"/>
          </p:cNvPicPr>
          <p:nvPr/>
        </p:nvPicPr>
        <p:blipFill>
          <a:blip r:embed="rId2"/>
          <a:stretch>
            <a:fillRect/>
          </a:stretch>
        </p:blipFill>
        <p:spPr>
          <a:xfrm>
            <a:off x="4165602" y="1825625"/>
            <a:ext cx="7772400" cy="3375196"/>
          </a:xfrm>
          <a:prstGeom prst="rect">
            <a:avLst/>
          </a:prstGeom>
        </p:spPr>
      </p:pic>
    </p:spTree>
    <p:extLst>
      <p:ext uri="{BB962C8B-B14F-4D97-AF65-F5344CB8AC3E}">
        <p14:creationId xmlns:p14="http://schemas.microsoft.com/office/powerpoint/2010/main" val="3939500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973CD6-6C6C-7F48-C0FE-24AFB8DE9C47}"/>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2CB10AB2-AF8A-2938-A665-C9A7751EA865}"/>
              </a:ext>
            </a:extLst>
          </p:cNvPr>
          <p:cNvSpPr>
            <a:spLocks noGrp="1"/>
          </p:cNvSpPr>
          <p:nvPr>
            <p:ph idx="1"/>
          </p:nvPr>
        </p:nvSpPr>
        <p:spPr/>
        <p:txBody>
          <a:bodyPr/>
          <a:lstStyle/>
          <a:p>
            <a:r>
              <a:rPr kumimoji="1" lang="en" altLang="zh-TW" dirty="0"/>
              <a:t>class Model(</a:t>
            </a:r>
            <a:r>
              <a:rPr kumimoji="1" lang="en" altLang="zh-TW" dirty="0" err="1"/>
              <a:t>nn.Module</a:t>
            </a:r>
            <a:r>
              <a:rPr kumimoji="1" lang="en" altLang="zh-TW" dirty="0"/>
              <a:t>)</a:t>
            </a:r>
          </a:p>
          <a:p>
            <a:pPr lvl="1"/>
            <a:r>
              <a:rPr kumimoji="1" lang="zh-TW" altLang="en" dirty="0"/>
              <a:t>在</a:t>
            </a:r>
            <a:r>
              <a:rPr kumimoji="1" lang="en-US" altLang="zh-TW" dirty="0"/>
              <a:t>__</a:t>
            </a:r>
            <a:r>
              <a:rPr kumimoji="1" lang="en-US" altLang="zh-TW" dirty="0" err="1"/>
              <a:t>init</a:t>
            </a:r>
            <a:r>
              <a:rPr kumimoji="1" lang="en-US" altLang="zh-TW" dirty="0"/>
              <a:t>__()</a:t>
            </a:r>
            <a:r>
              <a:rPr kumimoji="1" lang="zh-TW" altLang="en-US" dirty="0"/>
              <a:t>  裡定義會有那些層</a:t>
            </a:r>
            <a:endParaRPr kumimoji="1" lang="en-US" altLang="zh-TW" dirty="0"/>
          </a:p>
          <a:p>
            <a:pPr lvl="1"/>
            <a:r>
              <a:rPr kumimoji="1" lang="zh-TW" altLang="en-US" dirty="0"/>
              <a:t>在</a:t>
            </a:r>
            <a:r>
              <a:rPr kumimoji="1" lang="en-US" altLang="zh-TW" dirty="0"/>
              <a:t>forward()</a:t>
            </a:r>
            <a:r>
              <a:rPr kumimoji="1" lang="zh-TW" altLang="en-US" dirty="0"/>
              <a:t> 裡定義呼叫的順序</a:t>
            </a:r>
            <a:endParaRPr kumimoji="1" lang="en-US" altLang="zh-TW" dirty="0"/>
          </a:p>
          <a:p>
            <a:endParaRPr kumimoji="1" lang="en" altLang="zh-TW" dirty="0"/>
          </a:p>
          <a:p>
            <a:endParaRPr kumimoji="1" lang="zh-TW" altLang="en-US" dirty="0"/>
          </a:p>
        </p:txBody>
      </p:sp>
      <p:sp>
        <p:nvSpPr>
          <p:cNvPr id="4" name="文字方塊 3">
            <a:extLst>
              <a:ext uri="{FF2B5EF4-FFF2-40B4-BE49-F238E27FC236}">
                <a16:creationId xmlns:a16="http://schemas.microsoft.com/office/drawing/2014/main" id="{DAF70120-35DF-BB61-8212-F94488FAF5F5}"/>
              </a:ext>
            </a:extLst>
          </p:cNvPr>
          <p:cNvSpPr txBox="1"/>
          <p:nvPr/>
        </p:nvSpPr>
        <p:spPr>
          <a:xfrm rot="5400000">
            <a:off x="712925" y="4180950"/>
            <a:ext cx="1700755" cy="400110"/>
          </a:xfrm>
          <a:prstGeom prst="rect">
            <a:avLst/>
          </a:prstGeom>
          <a:noFill/>
        </p:spPr>
        <p:txBody>
          <a:bodyPr wrap="square">
            <a:spAutoFit/>
          </a:bodyPr>
          <a:lstStyle/>
          <a:p>
            <a:r>
              <a:rPr lang="zh-TW" altLang="en-US" sz="2000" dirty="0"/>
              <a:t>[450, 451, 892]</a:t>
            </a:r>
            <a:endParaRPr lang="en-US" altLang="zh-TW" sz="2000" dirty="0"/>
          </a:p>
        </p:txBody>
      </p:sp>
      <p:graphicFrame>
        <p:nvGraphicFramePr>
          <p:cNvPr id="5" name="表格 4">
            <a:extLst>
              <a:ext uri="{FF2B5EF4-FFF2-40B4-BE49-F238E27FC236}">
                <a16:creationId xmlns:a16="http://schemas.microsoft.com/office/drawing/2014/main" id="{19809D1F-E4C4-AB01-9632-56EA05798F22}"/>
              </a:ext>
            </a:extLst>
          </p:cNvPr>
          <p:cNvGraphicFramePr>
            <a:graphicFrameLocks noGrp="1"/>
          </p:cNvGraphicFramePr>
          <p:nvPr/>
        </p:nvGraphicFramePr>
        <p:xfrm>
          <a:off x="1388932" y="3584367"/>
          <a:ext cx="374426" cy="1647015"/>
        </p:xfrm>
        <a:graphic>
          <a:graphicData uri="http://schemas.openxmlformats.org/drawingml/2006/table">
            <a:tbl>
              <a:tblPr firstRow="1" bandRow="1">
                <a:tableStyleId>{5940675A-B579-460E-94D1-54222C63F5DA}</a:tableStyleId>
              </a:tblPr>
              <a:tblGrid>
                <a:gridCol w="374426">
                  <a:extLst>
                    <a:ext uri="{9D8B030D-6E8A-4147-A177-3AD203B41FA5}">
                      <a16:colId xmlns:a16="http://schemas.microsoft.com/office/drawing/2014/main" val="1588247892"/>
                    </a:ext>
                  </a:extLst>
                </a:gridCol>
              </a:tblGrid>
              <a:tr h="549005">
                <a:tc>
                  <a:txBody>
                    <a:bodyPr/>
                    <a:lstStyle/>
                    <a:p>
                      <a:endParaRPr lang="zh-TW" altLang="en-US"/>
                    </a:p>
                  </a:txBody>
                  <a:tcPr/>
                </a:tc>
                <a:extLst>
                  <a:ext uri="{0D108BD9-81ED-4DB2-BD59-A6C34878D82A}">
                    <a16:rowId xmlns:a16="http://schemas.microsoft.com/office/drawing/2014/main" val="921147002"/>
                  </a:ext>
                </a:extLst>
              </a:tr>
              <a:tr h="549005">
                <a:tc>
                  <a:txBody>
                    <a:bodyPr/>
                    <a:lstStyle/>
                    <a:p>
                      <a:endParaRPr lang="zh-TW" altLang="en-US"/>
                    </a:p>
                  </a:txBody>
                  <a:tcPr/>
                </a:tc>
                <a:extLst>
                  <a:ext uri="{0D108BD9-81ED-4DB2-BD59-A6C34878D82A}">
                    <a16:rowId xmlns:a16="http://schemas.microsoft.com/office/drawing/2014/main" val="2238805677"/>
                  </a:ext>
                </a:extLst>
              </a:tr>
              <a:tr h="549005">
                <a:tc>
                  <a:txBody>
                    <a:bodyPr/>
                    <a:lstStyle/>
                    <a:p>
                      <a:endParaRPr lang="zh-TW" altLang="en-US" dirty="0"/>
                    </a:p>
                  </a:txBody>
                  <a:tcPr/>
                </a:tc>
                <a:extLst>
                  <a:ext uri="{0D108BD9-81ED-4DB2-BD59-A6C34878D82A}">
                    <a16:rowId xmlns:a16="http://schemas.microsoft.com/office/drawing/2014/main" val="2943267539"/>
                  </a:ext>
                </a:extLst>
              </a:tr>
            </a:tbl>
          </a:graphicData>
        </a:graphic>
      </p:graphicFrame>
      <p:graphicFrame>
        <p:nvGraphicFramePr>
          <p:cNvPr id="6" name="表格 5">
            <a:extLst>
              <a:ext uri="{FF2B5EF4-FFF2-40B4-BE49-F238E27FC236}">
                <a16:creationId xmlns:a16="http://schemas.microsoft.com/office/drawing/2014/main" id="{69B041E5-D896-93C5-FB45-06761D5D8288}"/>
              </a:ext>
            </a:extLst>
          </p:cNvPr>
          <p:cNvGraphicFramePr>
            <a:graphicFrameLocks noGrp="1"/>
          </p:cNvGraphicFramePr>
          <p:nvPr/>
        </p:nvGraphicFramePr>
        <p:xfrm>
          <a:off x="2465144" y="3046374"/>
          <a:ext cx="539078" cy="2926080"/>
        </p:xfrm>
        <a:graphic>
          <a:graphicData uri="http://schemas.openxmlformats.org/drawingml/2006/table">
            <a:tbl>
              <a:tblPr firstRow="1" bandRow="1">
                <a:tableStyleId>{5940675A-B579-460E-94D1-54222C63F5DA}</a:tableStyleId>
              </a:tblPr>
              <a:tblGrid>
                <a:gridCol w="539078">
                  <a:extLst>
                    <a:ext uri="{9D8B030D-6E8A-4147-A177-3AD203B41FA5}">
                      <a16:colId xmlns:a16="http://schemas.microsoft.com/office/drawing/2014/main" val="4065741651"/>
                    </a:ext>
                  </a:extLst>
                </a:gridCol>
              </a:tblGrid>
              <a:tr h="311037">
                <a:tc>
                  <a:txBody>
                    <a:bodyPr/>
                    <a:lstStyle/>
                    <a:p>
                      <a:endParaRPr lang="zh-TW" altLang="en-US"/>
                    </a:p>
                  </a:txBody>
                  <a:tcPr/>
                </a:tc>
                <a:extLst>
                  <a:ext uri="{0D108BD9-81ED-4DB2-BD59-A6C34878D82A}">
                    <a16:rowId xmlns:a16="http://schemas.microsoft.com/office/drawing/2014/main" val="1622485355"/>
                  </a:ext>
                </a:extLst>
              </a:tr>
              <a:tr h="311037">
                <a:tc>
                  <a:txBody>
                    <a:bodyPr/>
                    <a:lstStyle/>
                    <a:p>
                      <a:endParaRPr lang="zh-TW" altLang="en-US"/>
                    </a:p>
                  </a:txBody>
                  <a:tcPr/>
                </a:tc>
                <a:extLst>
                  <a:ext uri="{0D108BD9-81ED-4DB2-BD59-A6C34878D82A}">
                    <a16:rowId xmlns:a16="http://schemas.microsoft.com/office/drawing/2014/main" val="4202288467"/>
                  </a:ext>
                </a:extLst>
              </a:tr>
              <a:tr h="311037">
                <a:tc>
                  <a:txBody>
                    <a:bodyPr/>
                    <a:lstStyle/>
                    <a:p>
                      <a:endParaRPr lang="zh-TW" altLang="en-US"/>
                    </a:p>
                  </a:txBody>
                  <a:tcPr/>
                </a:tc>
                <a:extLst>
                  <a:ext uri="{0D108BD9-81ED-4DB2-BD59-A6C34878D82A}">
                    <a16:rowId xmlns:a16="http://schemas.microsoft.com/office/drawing/2014/main" val="3338870973"/>
                  </a:ext>
                </a:extLst>
              </a:tr>
              <a:tr h="311037">
                <a:tc>
                  <a:txBody>
                    <a:bodyPr/>
                    <a:lstStyle/>
                    <a:p>
                      <a:endParaRPr lang="zh-TW" altLang="en-US"/>
                    </a:p>
                  </a:txBody>
                  <a:tcPr/>
                </a:tc>
                <a:extLst>
                  <a:ext uri="{0D108BD9-81ED-4DB2-BD59-A6C34878D82A}">
                    <a16:rowId xmlns:a16="http://schemas.microsoft.com/office/drawing/2014/main" val="2611573268"/>
                  </a:ext>
                </a:extLst>
              </a:tr>
              <a:tr h="311037">
                <a:tc>
                  <a:txBody>
                    <a:bodyPr/>
                    <a:lstStyle/>
                    <a:p>
                      <a:endParaRPr lang="zh-TW" altLang="en-US"/>
                    </a:p>
                  </a:txBody>
                  <a:tcPr/>
                </a:tc>
                <a:extLst>
                  <a:ext uri="{0D108BD9-81ED-4DB2-BD59-A6C34878D82A}">
                    <a16:rowId xmlns:a16="http://schemas.microsoft.com/office/drawing/2014/main" val="2637160636"/>
                  </a:ext>
                </a:extLst>
              </a:tr>
              <a:tr h="311037">
                <a:tc>
                  <a:txBody>
                    <a:bodyPr/>
                    <a:lstStyle/>
                    <a:p>
                      <a:endParaRPr lang="zh-TW" altLang="en-US"/>
                    </a:p>
                  </a:txBody>
                  <a:tcPr/>
                </a:tc>
                <a:extLst>
                  <a:ext uri="{0D108BD9-81ED-4DB2-BD59-A6C34878D82A}">
                    <a16:rowId xmlns:a16="http://schemas.microsoft.com/office/drawing/2014/main" val="581952034"/>
                  </a:ext>
                </a:extLst>
              </a:tr>
              <a:tr h="311037">
                <a:tc>
                  <a:txBody>
                    <a:bodyPr/>
                    <a:lstStyle/>
                    <a:p>
                      <a:endParaRPr lang="zh-TW" altLang="en-US"/>
                    </a:p>
                  </a:txBody>
                  <a:tcPr/>
                </a:tc>
                <a:extLst>
                  <a:ext uri="{0D108BD9-81ED-4DB2-BD59-A6C34878D82A}">
                    <a16:rowId xmlns:a16="http://schemas.microsoft.com/office/drawing/2014/main" val="493265933"/>
                  </a:ext>
                </a:extLst>
              </a:tr>
              <a:tr h="311037">
                <a:tc>
                  <a:txBody>
                    <a:bodyPr/>
                    <a:lstStyle/>
                    <a:p>
                      <a:endParaRPr lang="zh-TW" altLang="en-US" dirty="0"/>
                    </a:p>
                  </a:txBody>
                  <a:tcPr/>
                </a:tc>
                <a:extLst>
                  <a:ext uri="{0D108BD9-81ED-4DB2-BD59-A6C34878D82A}">
                    <a16:rowId xmlns:a16="http://schemas.microsoft.com/office/drawing/2014/main" val="348955086"/>
                  </a:ext>
                </a:extLst>
              </a:tr>
            </a:tbl>
          </a:graphicData>
        </a:graphic>
      </p:graphicFrame>
      <p:graphicFrame>
        <p:nvGraphicFramePr>
          <p:cNvPr id="9" name="表格 8">
            <a:extLst>
              <a:ext uri="{FF2B5EF4-FFF2-40B4-BE49-F238E27FC236}">
                <a16:creationId xmlns:a16="http://schemas.microsoft.com/office/drawing/2014/main" id="{F8A54834-A503-FA35-7057-44B0BF6E14E2}"/>
              </a:ext>
            </a:extLst>
          </p:cNvPr>
          <p:cNvGraphicFramePr>
            <a:graphicFrameLocks noGrp="1"/>
          </p:cNvGraphicFramePr>
          <p:nvPr/>
        </p:nvGraphicFramePr>
        <p:xfrm>
          <a:off x="8099311" y="2214007"/>
          <a:ext cx="539078" cy="3758447"/>
        </p:xfrm>
        <a:graphic>
          <a:graphicData uri="http://schemas.openxmlformats.org/drawingml/2006/table">
            <a:tbl>
              <a:tblPr firstRow="1" bandRow="1">
                <a:tableStyleId>{5940675A-B579-460E-94D1-54222C63F5DA}</a:tableStyleId>
              </a:tblPr>
              <a:tblGrid>
                <a:gridCol w="539078">
                  <a:extLst>
                    <a:ext uri="{9D8B030D-6E8A-4147-A177-3AD203B41FA5}">
                      <a16:colId xmlns:a16="http://schemas.microsoft.com/office/drawing/2014/main" val="4065741651"/>
                    </a:ext>
                  </a:extLst>
                </a:gridCol>
              </a:tblGrid>
              <a:tr h="341677">
                <a:tc>
                  <a:txBody>
                    <a:bodyPr/>
                    <a:lstStyle/>
                    <a:p>
                      <a:endParaRPr lang="zh-TW" altLang="en-US" sz="1200" dirty="0"/>
                    </a:p>
                  </a:txBody>
                  <a:tcPr/>
                </a:tc>
                <a:extLst>
                  <a:ext uri="{0D108BD9-81ED-4DB2-BD59-A6C34878D82A}">
                    <a16:rowId xmlns:a16="http://schemas.microsoft.com/office/drawing/2014/main" val="1622485355"/>
                  </a:ext>
                </a:extLst>
              </a:tr>
              <a:tr h="341677">
                <a:tc>
                  <a:txBody>
                    <a:bodyPr/>
                    <a:lstStyle/>
                    <a:p>
                      <a:endParaRPr lang="zh-TW" altLang="en-US" sz="1200"/>
                    </a:p>
                  </a:txBody>
                  <a:tcPr/>
                </a:tc>
                <a:extLst>
                  <a:ext uri="{0D108BD9-81ED-4DB2-BD59-A6C34878D82A}">
                    <a16:rowId xmlns:a16="http://schemas.microsoft.com/office/drawing/2014/main" val="4202288467"/>
                  </a:ext>
                </a:extLst>
              </a:tr>
              <a:tr h="341677">
                <a:tc>
                  <a:txBody>
                    <a:bodyPr/>
                    <a:lstStyle/>
                    <a:p>
                      <a:endParaRPr lang="zh-TW" altLang="en-US" sz="1200" dirty="0"/>
                    </a:p>
                  </a:txBody>
                  <a:tcPr/>
                </a:tc>
                <a:extLst>
                  <a:ext uri="{0D108BD9-81ED-4DB2-BD59-A6C34878D82A}">
                    <a16:rowId xmlns:a16="http://schemas.microsoft.com/office/drawing/2014/main" val="3338870973"/>
                  </a:ext>
                </a:extLst>
              </a:tr>
              <a:tr h="341677">
                <a:tc>
                  <a:txBody>
                    <a:bodyPr/>
                    <a:lstStyle/>
                    <a:p>
                      <a:endParaRPr lang="zh-TW" altLang="en-US" sz="1200"/>
                    </a:p>
                  </a:txBody>
                  <a:tcPr/>
                </a:tc>
                <a:extLst>
                  <a:ext uri="{0D108BD9-81ED-4DB2-BD59-A6C34878D82A}">
                    <a16:rowId xmlns:a16="http://schemas.microsoft.com/office/drawing/2014/main" val="2611573268"/>
                  </a:ext>
                </a:extLst>
              </a:tr>
              <a:tr h="341677">
                <a:tc>
                  <a:txBody>
                    <a:bodyPr/>
                    <a:lstStyle/>
                    <a:p>
                      <a:endParaRPr lang="zh-TW" altLang="en-US" sz="1200" dirty="0"/>
                    </a:p>
                  </a:txBody>
                  <a:tcPr/>
                </a:tc>
                <a:extLst>
                  <a:ext uri="{0D108BD9-81ED-4DB2-BD59-A6C34878D82A}">
                    <a16:rowId xmlns:a16="http://schemas.microsoft.com/office/drawing/2014/main" val="2637160636"/>
                  </a:ext>
                </a:extLst>
              </a:tr>
              <a:tr h="341677">
                <a:tc>
                  <a:txBody>
                    <a:bodyPr/>
                    <a:lstStyle/>
                    <a:p>
                      <a:endParaRPr lang="zh-TW" altLang="en-US" sz="1200" dirty="0"/>
                    </a:p>
                  </a:txBody>
                  <a:tcPr/>
                </a:tc>
                <a:extLst>
                  <a:ext uri="{0D108BD9-81ED-4DB2-BD59-A6C34878D82A}">
                    <a16:rowId xmlns:a16="http://schemas.microsoft.com/office/drawing/2014/main" val="581952034"/>
                  </a:ext>
                </a:extLst>
              </a:tr>
              <a:tr h="341677">
                <a:tc>
                  <a:txBody>
                    <a:bodyPr/>
                    <a:lstStyle/>
                    <a:p>
                      <a:endParaRPr lang="zh-TW" altLang="en-US" sz="1200" dirty="0"/>
                    </a:p>
                  </a:txBody>
                  <a:tcPr/>
                </a:tc>
                <a:extLst>
                  <a:ext uri="{0D108BD9-81ED-4DB2-BD59-A6C34878D82A}">
                    <a16:rowId xmlns:a16="http://schemas.microsoft.com/office/drawing/2014/main" val="99196377"/>
                  </a:ext>
                </a:extLst>
              </a:tr>
              <a:tr h="341677">
                <a:tc>
                  <a:txBody>
                    <a:bodyPr/>
                    <a:lstStyle/>
                    <a:p>
                      <a:endParaRPr lang="zh-TW" altLang="en-US" sz="1200" dirty="0"/>
                    </a:p>
                  </a:txBody>
                  <a:tcPr/>
                </a:tc>
                <a:extLst>
                  <a:ext uri="{0D108BD9-81ED-4DB2-BD59-A6C34878D82A}">
                    <a16:rowId xmlns:a16="http://schemas.microsoft.com/office/drawing/2014/main" val="147486404"/>
                  </a:ext>
                </a:extLst>
              </a:tr>
              <a:tr h="341677">
                <a:tc>
                  <a:txBody>
                    <a:bodyPr/>
                    <a:lstStyle/>
                    <a:p>
                      <a:endParaRPr lang="zh-TW" altLang="en-US" sz="1200" dirty="0"/>
                    </a:p>
                  </a:txBody>
                  <a:tcPr/>
                </a:tc>
                <a:extLst>
                  <a:ext uri="{0D108BD9-81ED-4DB2-BD59-A6C34878D82A}">
                    <a16:rowId xmlns:a16="http://schemas.microsoft.com/office/drawing/2014/main" val="2525306412"/>
                  </a:ext>
                </a:extLst>
              </a:tr>
              <a:tr h="341677">
                <a:tc>
                  <a:txBody>
                    <a:bodyPr/>
                    <a:lstStyle/>
                    <a:p>
                      <a:endParaRPr lang="zh-TW" altLang="en-US" sz="1200" dirty="0"/>
                    </a:p>
                  </a:txBody>
                  <a:tcPr/>
                </a:tc>
                <a:extLst>
                  <a:ext uri="{0D108BD9-81ED-4DB2-BD59-A6C34878D82A}">
                    <a16:rowId xmlns:a16="http://schemas.microsoft.com/office/drawing/2014/main" val="1967071043"/>
                  </a:ext>
                </a:extLst>
              </a:tr>
              <a:tr h="341677">
                <a:tc>
                  <a:txBody>
                    <a:bodyPr/>
                    <a:lstStyle/>
                    <a:p>
                      <a:endParaRPr lang="zh-TW" altLang="en-US" sz="1200" dirty="0"/>
                    </a:p>
                  </a:txBody>
                  <a:tcPr/>
                </a:tc>
                <a:extLst>
                  <a:ext uri="{0D108BD9-81ED-4DB2-BD59-A6C34878D82A}">
                    <a16:rowId xmlns:a16="http://schemas.microsoft.com/office/drawing/2014/main" val="1436211508"/>
                  </a:ext>
                </a:extLst>
              </a:tr>
            </a:tbl>
          </a:graphicData>
        </a:graphic>
      </p:graphicFrame>
      <p:pic>
        <p:nvPicPr>
          <p:cNvPr id="2050" name="Picture 2" descr="AI60問】Q43什麼是循環神經網路Recurrent Neural Networks, RNN？ | 緯育TibaMe Blog">
            <a:extLst>
              <a:ext uri="{FF2B5EF4-FFF2-40B4-BE49-F238E27FC236}">
                <a16:creationId xmlns:a16="http://schemas.microsoft.com/office/drawing/2014/main" id="{4DF6073A-D17E-ED12-AD95-5363F56400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341" t="22054" r="1839" b="2937"/>
          <a:stretch/>
        </p:blipFill>
        <p:spPr bwMode="auto">
          <a:xfrm>
            <a:off x="3628685" y="3304516"/>
            <a:ext cx="3510429" cy="2190903"/>
          </a:xfrm>
          <a:prstGeom prst="rect">
            <a:avLst/>
          </a:prstGeom>
          <a:noFill/>
          <a:extLst>
            <a:ext uri="{909E8E84-426E-40DD-AFC4-6F175D3DCCD1}">
              <a14:hiddenFill xmlns:a14="http://schemas.microsoft.com/office/drawing/2010/main">
                <a:solidFill>
                  <a:srgbClr val="FFFFFF"/>
                </a:solidFill>
              </a14:hiddenFill>
            </a:ext>
          </a:extLst>
        </p:spPr>
      </p:pic>
      <p:sp>
        <p:nvSpPr>
          <p:cNvPr id="12" name="向右箭號 11">
            <a:extLst>
              <a:ext uri="{FF2B5EF4-FFF2-40B4-BE49-F238E27FC236}">
                <a16:creationId xmlns:a16="http://schemas.microsoft.com/office/drawing/2014/main" id="{2EBABDFA-8D29-F035-471B-B98A68965F7D}"/>
              </a:ext>
            </a:extLst>
          </p:cNvPr>
          <p:cNvSpPr/>
          <p:nvPr/>
        </p:nvSpPr>
        <p:spPr>
          <a:xfrm>
            <a:off x="1979407" y="4087905"/>
            <a:ext cx="311972" cy="4215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文字方塊 12">
            <a:extLst>
              <a:ext uri="{FF2B5EF4-FFF2-40B4-BE49-F238E27FC236}">
                <a16:creationId xmlns:a16="http://schemas.microsoft.com/office/drawing/2014/main" id="{0DB45375-A789-7336-343F-77AF57ABCE3A}"/>
              </a:ext>
            </a:extLst>
          </p:cNvPr>
          <p:cNvSpPr txBox="1"/>
          <p:nvPr/>
        </p:nvSpPr>
        <p:spPr>
          <a:xfrm>
            <a:off x="1267031" y="5999324"/>
            <a:ext cx="2977531" cy="646331"/>
          </a:xfrm>
          <a:prstGeom prst="rect">
            <a:avLst/>
          </a:prstGeom>
          <a:noFill/>
        </p:spPr>
        <p:txBody>
          <a:bodyPr wrap="square" rtlCol="0">
            <a:spAutoFit/>
          </a:bodyPr>
          <a:lstStyle/>
          <a:p>
            <a:pPr algn="ctr"/>
            <a:r>
              <a:rPr kumimoji="1" lang="en-US" altLang="zh-TW" dirty="0"/>
              <a:t>Embedding</a:t>
            </a:r>
            <a:br>
              <a:rPr kumimoji="1" lang="en-US" altLang="zh-TW" dirty="0"/>
            </a:br>
            <a:r>
              <a:rPr kumimoji="1" lang="en-US" altLang="zh-TW" dirty="0"/>
              <a:t>(vocab</a:t>
            </a:r>
            <a:r>
              <a:rPr kumimoji="1" lang="zh-TW" altLang="en-US" dirty="0"/>
              <a:t> </a:t>
            </a:r>
            <a:r>
              <a:rPr kumimoji="1" lang="en-US" altLang="zh-TW" dirty="0"/>
              <a:t>size</a:t>
            </a:r>
            <a:r>
              <a:rPr kumimoji="1" lang="zh-TW" altLang="en-US" dirty="0"/>
              <a:t> </a:t>
            </a:r>
            <a:r>
              <a:rPr kumimoji="1" lang="en-US" altLang="zh-TW" dirty="0"/>
              <a:t>x</a:t>
            </a:r>
            <a:r>
              <a:rPr kumimoji="1" lang="zh-TW" altLang="en-US" dirty="0"/>
              <a:t> </a:t>
            </a:r>
            <a:r>
              <a:rPr kumimoji="1" lang="en-US" altLang="zh-TW" dirty="0"/>
              <a:t>embedding</a:t>
            </a:r>
            <a:r>
              <a:rPr kumimoji="1" lang="zh-TW" altLang="en-US" dirty="0"/>
              <a:t> </a:t>
            </a:r>
            <a:r>
              <a:rPr kumimoji="1" lang="en-US" altLang="zh-TW" dirty="0"/>
              <a:t>dim)</a:t>
            </a:r>
            <a:endParaRPr kumimoji="1" lang="zh-TW" altLang="en-US" dirty="0"/>
          </a:p>
        </p:txBody>
      </p:sp>
      <p:sp>
        <p:nvSpPr>
          <p:cNvPr id="15" name="向右箭號 14">
            <a:extLst>
              <a:ext uri="{FF2B5EF4-FFF2-40B4-BE49-F238E27FC236}">
                <a16:creationId xmlns:a16="http://schemas.microsoft.com/office/drawing/2014/main" id="{7EE2EC0F-D4AE-8B84-A7E9-9E1BBCEC8FE4}"/>
              </a:ext>
            </a:extLst>
          </p:cNvPr>
          <p:cNvSpPr/>
          <p:nvPr/>
        </p:nvSpPr>
        <p:spPr>
          <a:xfrm>
            <a:off x="3237230" y="4087905"/>
            <a:ext cx="311972" cy="4215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文字方塊 15">
            <a:extLst>
              <a:ext uri="{FF2B5EF4-FFF2-40B4-BE49-F238E27FC236}">
                <a16:creationId xmlns:a16="http://schemas.microsoft.com/office/drawing/2014/main" id="{BA276346-C25B-4EFF-0223-46F7B1353C84}"/>
              </a:ext>
            </a:extLst>
          </p:cNvPr>
          <p:cNvSpPr txBox="1"/>
          <p:nvPr/>
        </p:nvSpPr>
        <p:spPr>
          <a:xfrm>
            <a:off x="5063189" y="6035958"/>
            <a:ext cx="767456" cy="369332"/>
          </a:xfrm>
          <a:prstGeom prst="rect">
            <a:avLst/>
          </a:prstGeom>
          <a:noFill/>
        </p:spPr>
        <p:txBody>
          <a:bodyPr wrap="square" rtlCol="0">
            <a:spAutoFit/>
          </a:bodyPr>
          <a:lstStyle/>
          <a:p>
            <a:r>
              <a:rPr kumimoji="1" lang="en-US" altLang="zh-TW" dirty="0"/>
              <a:t>LSTM</a:t>
            </a:r>
            <a:endParaRPr kumimoji="1" lang="zh-TW" altLang="en-US" dirty="0"/>
          </a:p>
        </p:txBody>
      </p:sp>
      <p:graphicFrame>
        <p:nvGraphicFramePr>
          <p:cNvPr id="17" name="表格 16">
            <a:extLst>
              <a:ext uri="{FF2B5EF4-FFF2-40B4-BE49-F238E27FC236}">
                <a16:creationId xmlns:a16="http://schemas.microsoft.com/office/drawing/2014/main" id="{91A37596-B962-91B4-07AB-B3116D1FC235}"/>
              </a:ext>
            </a:extLst>
          </p:cNvPr>
          <p:cNvGraphicFramePr>
            <a:graphicFrameLocks noGrp="1"/>
          </p:cNvGraphicFramePr>
          <p:nvPr/>
        </p:nvGraphicFramePr>
        <p:xfrm>
          <a:off x="9457016" y="2208682"/>
          <a:ext cx="539078" cy="3758447"/>
        </p:xfrm>
        <a:graphic>
          <a:graphicData uri="http://schemas.openxmlformats.org/drawingml/2006/table">
            <a:tbl>
              <a:tblPr firstRow="1" bandRow="1">
                <a:tableStyleId>{5940675A-B579-460E-94D1-54222C63F5DA}</a:tableStyleId>
              </a:tblPr>
              <a:tblGrid>
                <a:gridCol w="539078">
                  <a:extLst>
                    <a:ext uri="{9D8B030D-6E8A-4147-A177-3AD203B41FA5}">
                      <a16:colId xmlns:a16="http://schemas.microsoft.com/office/drawing/2014/main" val="4065741651"/>
                    </a:ext>
                  </a:extLst>
                </a:gridCol>
              </a:tblGrid>
              <a:tr h="341677">
                <a:tc>
                  <a:txBody>
                    <a:bodyPr/>
                    <a:lstStyle/>
                    <a:p>
                      <a:endParaRPr lang="zh-TW" altLang="en-US" sz="1200" dirty="0"/>
                    </a:p>
                  </a:txBody>
                  <a:tcPr/>
                </a:tc>
                <a:extLst>
                  <a:ext uri="{0D108BD9-81ED-4DB2-BD59-A6C34878D82A}">
                    <a16:rowId xmlns:a16="http://schemas.microsoft.com/office/drawing/2014/main" val="1622485355"/>
                  </a:ext>
                </a:extLst>
              </a:tr>
              <a:tr h="341677">
                <a:tc>
                  <a:txBody>
                    <a:bodyPr/>
                    <a:lstStyle/>
                    <a:p>
                      <a:endParaRPr lang="zh-TW" altLang="en-US" sz="1200" dirty="0"/>
                    </a:p>
                  </a:txBody>
                  <a:tcPr/>
                </a:tc>
                <a:extLst>
                  <a:ext uri="{0D108BD9-81ED-4DB2-BD59-A6C34878D82A}">
                    <a16:rowId xmlns:a16="http://schemas.microsoft.com/office/drawing/2014/main" val="4202288467"/>
                  </a:ext>
                </a:extLst>
              </a:tr>
              <a:tr h="341677">
                <a:tc>
                  <a:txBody>
                    <a:bodyPr/>
                    <a:lstStyle/>
                    <a:p>
                      <a:endParaRPr lang="zh-TW" altLang="en-US" sz="1200"/>
                    </a:p>
                  </a:txBody>
                  <a:tcPr/>
                </a:tc>
                <a:extLst>
                  <a:ext uri="{0D108BD9-81ED-4DB2-BD59-A6C34878D82A}">
                    <a16:rowId xmlns:a16="http://schemas.microsoft.com/office/drawing/2014/main" val="3338870973"/>
                  </a:ext>
                </a:extLst>
              </a:tr>
              <a:tr h="341677">
                <a:tc>
                  <a:txBody>
                    <a:bodyPr/>
                    <a:lstStyle/>
                    <a:p>
                      <a:endParaRPr lang="zh-TW" altLang="en-US" sz="1200"/>
                    </a:p>
                  </a:txBody>
                  <a:tcPr/>
                </a:tc>
                <a:extLst>
                  <a:ext uri="{0D108BD9-81ED-4DB2-BD59-A6C34878D82A}">
                    <a16:rowId xmlns:a16="http://schemas.microsoft.com/office/drawing/2014/main" val="2611573268"/>
                  </a:ext>
                </a:extLst>
              </a:tr>
              <a:tr h="341677">
                <a:tc>
                  <a:txBody>
                    <a:bodyPr/>
                    <a:lstStyle/>
                    <a:p>
                      <a:endParaRPr lang="zh-TW" altLang="en-US" sz="1200" dirty="0"/>
                    </a:p>
                  </a:txBody>
                  <a:tcPr/>
                </a:tc>
                <a:extLst>
                  <a:ext uri="{0D108BD9-81ED-4DB2-BD59-A6C34878D82A}">
                    <a16:rowId xmlns:a16="http://schemas.microsoft.com/office/drawing/2014/main" val="2637160636"/>
                  </a:ext>
                </a:extLst>
              </a:tr>
              <a:tr h="341677">
                <a:tc>
                  <a:txBody>
                    <a:bodyPr/>
                    <a:lstStyle/>
                    <a:p>
                      <a:endParaRPr lang="zh-TW" altLang="en-US" sz="1200" dirty="0"/>
                    </a:p>
                  </a:txBody>
                  <a:tcPr/>
                </a:tc>
                <a:extLst>
                  <a:ext uri="{0D108BD9-81ED-4DB2-BD59-A6C34878D82A}">
                    <a16:rowId xmlns:a16="http://schemas.microsoft.com/office/drawing/2014/main" val="581952034"/>
                  </a:ext>
                </a:extLst>
              </a:tr>
              <a:tr h="341677">
                <a:tc>
                  <a:txBody>
                    <a:bodyPr/>
                    <a:lstStyle/>
                    <a:p>
                      <a:endParaRPr lang="zh-TW" altLang="en-US" sz="1200" dirty="0"/>
                    </a:p>
                  </a:txBody>
                  <a:tcPr/>
                </a:tc>
                <a:extLst>
                  <a:ext uri="{0D108BD9-81ED-4DB2-BD59-A6C34878D82A}">
                    <a16:rowId xmlns:a16="http://schemas.microsoft.com/office/drawing/2014/main" val="99196377"/>
                  </a:ext>
                </a:extLst>
              </a:tr>
              <a:tr h="341677">
                <a:tc>
                  <a:txBody>
                    <a:bodyPr/>
                    <a:lstStyle/>
                    <a:p>
                      <a:endParaRPr lang="zh-TW" altLang="en-US" sz="1200" dirty="0"/>
                    </a:p>
                  </a:txBody>
                  <a:tcPr/>
                </a:tc>
                <a:extLst>
                  <a:ext uri="{0D108BD9-81ED-4DB2-BD59-A6C34878D82A}">
                    <a16:rowId xmlns:a16="http://schemas.microsoft.com/office/drawing/2014/main" val="147486404"/>
                  </a:ext>
                </a:extLst>
              </a:tr>
              <a:tr h="341677">
                <a:tc>
                  <a:txBody>
                    <a:bodyPr/>
                    <a:lstStyle/>
                    <a:p>
                      <a:endParaRPr lang="zh-TW" altLang="en-US" sz="1200" dirty="0"/>
                    </a:p>
                  </a:txBody>
                  <a:tcPr/>
                </a:tc>
                <a:extLst>
                  <a:ext uri="{0D108BD9-81ED-4DB2-BD59-A6C34878D82A}">
                    <a16:rowId xmlns:a16="http://schemas.microsoft.com/office/drawing/2014/main" val="2525306412"/>
                  </a:ext>
                </a:extLst>
              </a:tr>
              <a:tr h="341677">
                <a:tc>
                  <a:txBody>
                    <a:bodyPr/>
                    <a:lstStyle/>
                    <a:p>
                      <a:endParaRPr lang="zh-TW" altLang="en-US" sz="1200" dirty="0"/>
                    </a:p>
                  </a:txBody>
                  <a:tcPr/>
                </a:tc>
                <a:extLst>
                  <a:ext uri="{0D108BD9-81ED-4DB2-BD59-A6C34878D82A}">
                    <a16:rowId xmlns:a16="http://schemas.microsoft.com/office/drawing/2014/main" val="1967071043"/>
                  </a:ext>
                </a:extLst>
              </a:tr>
              <a:tr h="341677">
                <a:tc>
                  <a:txBody>
                    <a:bodyPr/>
                    <a:lstStyle/>
                    <a:p>
                      <a:endParaRPr lang="zh-TW" altLang="en-US" sz="1200" dirty="0"/>
                    </a:p>
                  </a:txBody>
                  <a:tcPr/>
                </a:tc>
                <a:extLst>
                  <a:ext uri="{0D108BD9-81ED-4DB2-BD59-A6C34878D82A}">
                    <a16:rowId xmlns:a16="http://schemas.microsoft.com/office/drawing/2014/main" val="1436211508"/>
                  </a:ext>
                </a:extLst>
              </a:tr>
            </a:tbl>
          </a:graphicData>
        </a:graphic>
      </p:graphicFrame>
      <p:sp>
        <p:nvSpPr>
          <p:cNvPr id="18" name="向右箭號 17">
            <a:extLst>
              <a:ext uri="{FF2B5EF4-FFF2-40B4-BE49-F238E27FC236}">
                <a16:creationId xmlns:a16="http://schemas.microsoft.com/office/drawing/2014/main" id="{0B4AA6BE-2A16-074A-0AFA-0AC042E96C1C}"/>
              </a:ext>
            </a:extLst>
          </p:cNvPr>
          <p:cNvSpPr/>
          <p:nvPr/>
        </p:nvSpPr>
        <p:spPr>
          <a:xfrm>
            <a:off x="7448540" y="4087905"/>
            <a:ext cx="311972" cy="4215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向右箭號 18">
            <a:extLst>
              <a:ext uri="{FF2B5EF4-FFF2-40B4-BE49-F238E27FC236}">
                <a16:creationId xmlns:a16="http://schemas.microsoft.com/office/drawing/2014/main" id="{042F9A93-7D29-E2EC-CEA3-0208D2D87D89}"/>
              </a:ext>
            </a:extLst>
          </p:cNvPr>
          <p:cNvSpPr/>
          <p:nvPr/>
        </p:nvSpPr>
        <p:spPr>
          <a:xfrm>
            <a:off x="8891716" y="4087905"/>
            <a:ext cx="311972" cy="4215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文字方塊 19">
            <a:extLst>
              <a:ext uri="{FF2B5EF4-FFF2-40B4-BE49-F238E27FC236}">
                <a16:creationId xmlns:a16="http://schemas.microsoft.com/office/drawing/2014/main" id="{DC8B64D1-D147-723E-2B5B-70F8FF133809}"/>
              </a:ext>
            </a:extLst>
          </p:cNvPr>
          <p:cNvSpPr txBox="1"/>
          <p:nvPr/>
        </p:nvSpPr>
        <p:spPr>
          <a:xfrm>
            <a:off x="6848697" y="6129544"/>
            <a:ext cx="2354991" cy="646331"/>
          </a:xfrm>
          <a:prstGeom prst="rect">
            <a:avLst/>
          </a:prstGeom>
          <a:noFill/>
        </p:spPr>
        <p:txBody>
          <a:bodyPr wrap="square" rtlCol="0">
            <a:spAutoFit/>
          </a:bodyPr>
          <a:lstStyle/>
          <a:p>
            <a:r>
              <a:rPr kumimoji="1" lang="en-US" altLang="zh-TW" dirty="0"/>
              <a:t>Linear</a:t>
            </a:r>
            <a:r>
              <a:rPr kumimoji="1" lang="zh-TW" altLang="en-US" dirty="0"/>
              <a:t>層，輸出長度為所有可能的字彙數</a:t>
            </a:r>
          </a:p>
        </p:txBody>
      </p:sp>
      <p:sp>
        <p:nvSpPr>
          <p:cNvPr id="21" name="文字方塊 20">
            <a:extLst>
              <a:ext uri="{FF2B5EF4-FFF2-40B4-BE49-F238E27FC236}">
                <a16:creationId xmlns:a16="http://schemas.microsoft.com/office/drawing/2014/main" id="{8F8A5405-9ABF-DFF6-8072-30BDFB897260}"/>
              </a:ext>
            </a:extLst>
          </p:cNvPr>
          <p:cNvSpPr txBox="1"/>
          <p:nvPr/>
        </p:nvSpPr>
        <p:spPr>
          <a:xfrm>
            <a:off x="9299365" y="6082124"/>
            <a:ext cx="2054435" cy="646331"/>
          </a:xfrm>
          <a:prstGeom prst="rect">
            <a:avLst/>
          </a:prstGeom>
          <a:noFill/>
        </p:spPr>
        <p:txBody>
          <a:bodyPr wrap="square" rtlCol="0">
            <a:spAutoFit/>
          </a:bodyPr>
          <a:lstStyle/>
          <a:p>
            <a:r>
              <a:rPr kumimoji="1" lang="zh-TW" altLang="en-US" dirty="0"/>
              <a:t>透過</a:t>
            </a:r>
            <a:r>
              <a:rPr kumimoji="1" lang="en-US" altLang="zh-TW" dirty="0"/>
              <a:t>SoftMax</a:t>
            </a:r>
            <a:r>
              <a:rPr kumimoji="1" lang="zh-TW" altLang="en-US" dirty="0"/>
              <a:t>轉換成機率</a:t>
            </a:r>
          </a:p>
        </p:txBody>
      </p:sp>
      <p:sp>
        <p:nvSpPr>
          <p:cNvPr id="24" name="向右箭號 23">
            <a:extLst>
              <a:ext uri="{FF2B5EF4-FFF2-40B4-BE49-F238E27FC236}">
                <a16:creationId xmlns:a16="http://schemas.microsoft.com/office/drawing/2014/main" id="{EB7858C2-7E0C-333B-D0BB-E73C5837B6DB}"/>
              </a:ext>
            </a:extLst>
          </p:cNvPr>
          <p:cNvSpPr/>
          <p:nvPr/>
        </p:nvSpPr>
        <p:spPr>
          <a:xfrm>
            <a:off x="10265333" y="4087905"/>
            <a:ext cx="311972" cy="42150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文字方塊 24">
            <a:extLst>
              <a:ext uri="{FF2B5EF4-FFF2-40B4-BE49-F238E27FC236}">
                <a16:creationId xmlns:a16="http://schemas.microsoft.com/office/drawing/2014/main" id="{971CE32D-EB38-D308-001B-283B78FC445B}"/>
              </a:ext>
            </a:extLst>
          </p:cNvPr>
          <p:cNvSpPr txBox="1"/>
          <p:nvPr/>
        </p:nvSpPr>
        <p:spPr>
          <a:xfrm>
            <a:off x="10725374" y="3429000"/>
            <a:ext cx="1447053" cy="1477328"/>
          </a:xfrm>
          <a:prstGeom prst="rect">
            <a:avLst/>
          </a:prstGeom>
          <a:noFill/>
        </p:spPr>
        <p:txBody>
          <a:bodyPr wrap="square" rtlCol="0">
            <a:spAutoFit/>
          </a:bodyPr>
          <a:lstStyle/>
          <a:p>
            <a:r>
              <a:rPr kumimoji="1" lang="zh-TW" altLang="en-US" dirty="0"/>
              <a:t>使用</a:t>
            </a:r>
            <a:r>
              <a:rPr kumimoji="1" lang="en-US" altLang="zh-TW" dirty="0" err="1"/>
              <a:t>CrossEntropy</a:t>
            </a:r>
            <a:r>
              <a:rPr kumimoji="1" lang="zh-TW" altLang="en-US" dirty="0"/>
              <a:t>計算梯度下降需要的誤差</a:t>
            </a:r>
          </a:p>
        </p:txBody>
      </p:sp>
      <p:sp>
        <p:nvSpPr>
          <p:cNvPr id="27" name="文字方塊 26">
            <a:extLst>
              <a:ext uri="{FF2B5EF4-FFF2-40B4-BE49-F238E27FC236}">
                <a16:creationId xmlns:a16="http://schemas.microsoft.com/office/drawing/2014/main" id="{6AAB4EE9-7917-B5E4-CB1A-CFA63F485FEF}"/>
              </a:ext>
            </a:extLst>
          </p:cNvPr>
          <p:cNvSpPr txBox="1"/>
          <p:nvPr/>
        </p:nvSpPr>
        <p:spPr>
          <a:xfrm>
            <a:off x="3393216" y="5446076"/>
            <a:ext cx="835218" cy="338554"/>
          </a:xfrm>
          <a:prstGeom prst="rect">
            <a:avLst/>
          </a:prstGeom>
          <a:noFill/>
          <a:ln>
            <a:solidFill>
              <a:schemeClr val="tx1"/>
            </a:solidFill>
          </a:ln>
        </p:spPr>
        <p:txBody>
          <a:bodyPr wrap="square">
            <a:spAutoFit/>
          </a:bodyPr>
          <a:lstStyle/>
          <a:p>
            <a:r>
              <a:rPr lang="zh-TW" altLang="en-US" sz="1600" dirty="0"/>
              <a:t>滾滾長</a:t>
            </a:r>
          </a:p>
        </p:txBody>
      </p:sp>
      <p:sp>
        <p:nvSpPr>
          <p:cNvPr id="30" name="文字方塊 29">
            <a:extLst>
              <a:ext uri="{FF2B5EF4-FFF2-40B4-BE49-F238E27FC236}">
                <a16:creationId xmlns:a16="http://schemas.microsoft.com/office/drawing/2014/main" id="{670ABB46-A20A-E7E4-81D0-092AD0F322F1}"/>
              </a:ext>
            </a:extLst>
          </p:cNvPr>
          <p:cNvSpPr txBox="1"/>
          <p:nvPr/>
        </p:nvSpPr>
        <p:spPr>
          <a:xfrm>
            <a:off x="3565337" y="3121804"/>
            <a:ext cx="679225" cy="338554"/>
          </a:xfrm>
          <a:prstGeom prst="rect">
            <a:avLst/>
          </a:prstGeom>
          <a:noFill/>
          <a:ln>
            <a:solidFill>
              <a:schemeClr val="tx1"/>
            </a:solidFill>
          </a:ln>
        </p:spPr>
        <p:txBody>
          <a:bodyPr wrap="square">
            <a:spAutoFit/>
          </a:bodyPr>
          <a:lstStyle/>
          <a:p>
            <a:r>
              <a:rPr lang="zh-TW" altLang="en-US" sz="1600" dirty="0"/>
              <a:t>江東</a:t>
            </a:r>
          </a:p>
        </p:txBody>
      </p:sp>
      <p:sp>
        <p:nvSpPr>
          <p:cNvPr id="31" name="文字方塊 30">
            <a:extLst>
              <a:ext uri="{FF2B5EF4-FFF2-40B4-BE49-F238E27FC236}">
                <a16:creationId xmlns:a16="http://schemas.microsoft.com/office/drawing/2014/main" id="{9D4134B6-FA15-469D-0855-E7B9D2B836DD}"/>
              </a:ext>
            </a:extLst>
          </p:cNvPr>
          <p:cNvSpPr txBox="1"/>
          <p:nvPr/>
        </p:nvSpPr>
        <p:spPr>
          <a:xfrm>
            <a:off x="4454523" y="5456321"/>
            <a:ext cx="631374" cy="338554"/>
          </a:xfrm>
          <a:prstGeom prst="rect">
            <a:avLst/>
          </a:prstGeom>
          <a:noFill/>
          <a:ln>
            <a:solidFill>
              <a:schemeClr val="tx1"/>
            </a:solidFill>
          </a:ln>
        </p:spPr>
        <p:txBody>
          <a:bodyPr wrap="square">
            <a:spAutoFit/>
          </a:bodyPr>
          <a:lstStyle/>
          <a:p>
            <a:r>
              <a:rPr lang="zh-TW" altLang="en-US" sz="1600" dirty="0"/>
              <a:t>江東</a:t>
            </a:r>
          </a:p>
        </p:txBody>
      </p:sp>
      <p:sp>
        <p:nvSpPr>
          <p:cNvPr id="33" name="文字方塊 32">
            <a:extLst>
              <a:ext uri="{FF2B5EF4-FFF2-40B4-BE49-F238E27FC236}">
                <a16:creationId xmlns:a16="http://schemas.microsoft.com/office/drawing/2014/main" id="{6F01E675-E8A5-0908-F272-A74512A401E6}"/>
              </a:ext>
            </a:extLst>
          </p:cNvPr>
          <p:cNvSpPr txBox="1"/>
          <p:nvPr/>
        </p:nvSpPr>
        <p:spPr>
          <a:xfrm>
            <a:off x="4405999" y="3091026"/>
            <a:ext cx="679225" cy="369332"/>
          </a:xfrm>
          <a:prstGeom prst="rect">
            <a:avLst/>
          </a:prstGeom>
          <a:noFill/>
          <a:ln>
            <a:solidFill>
              <a:schemeClr val="tx1"/>
            </a:solidFill>
          </a:ln>
        </p:spPr>
        <p:txBody>
          <a:bodyPr wrap="square">
            <a:spAutoFit/>
          </a:bodyPr>
          <a:lstStyle/>
          <a:p>
            <a:r>
              <a:rPr lang="zh-TW" altLang="en-US" sz="1800" dirty="0"/>
              <a:t>逝水</a:t>
            </a:r>
            <a:endParaRPr lang="zh-TW" altLang="en-US" dirty="0"/>
          </a:p>
        </p:txBody>
      </p:sp>
      <p:sp>
        <p:nvSpPr>
          <p:cNvPr id="36" name="文字方塊 35">
            <a:extLst>
              <a:ext uri="{FF2B5EF4-FFF2-40B4-BE49-F238E27FC236}">
                <a16:creationId xmlns:a16="http://schemas.microsoft.com/office/drawing/2014/main" id="{D898D8E3-3513-FA99-8BF6-CDBA3F62559B}"/>
              </a:ext>
            </a:extLst>
          </p:cNvPr>
          <p:cNvSpPr txBox="1"/>
          <p:nvPr/>
        </p:nvSpPr>
        <p:spPr>
          <a:xfrm>
            <a:off x="5339224" y="5438299"/>
            <a:ext cx="706870" cy="369332"/>
          </a:xfrm>
          <a:prstGeom prst="rect">
            <a:avLst/>
          </a:prstGeom>
          <a:noFill/>
          <a:ln>
            <a:solidFill>
              <a:schemeClr val="tx1"/>
            </a:solidFill>
          </a:ln>
        </p:spPr>
        <p:txBody>
          <a:bodyPr wrap="square">
            <a:spAutoFit/>
          </a:bodyPr>
          <a:lstStyle/>
          <a:p>
            <a:r>
              <a:rPr lang="zh-TW" altLang="en-US" sz="1800" dirty="0"/>
              <a:t>逝水</a:t>
            </a:r>
            <a:endParaRPr lang="zh-TW" altLang="en-US" dirty="0"/>
          </a:p>
        </p:txBody>
      </p:sp>
      <p:sp>
        <p:nvSpPr>
          <p:cNvPr id="38" name="文字方塊 37">
            <a:extLst>
              <a:ext uri="{FF2B5EF4-FFF2-40B4-BE49-F238E27FC236}">
                <a16:creationId xmlns:a16="http://schemas.microsoft.com/office/drawing/2014/main" id="{1BF8EC88-B48B-63A0-D567-0E0651469B9A}"/>
              </a:ext>
            </a:extLst>
          </p:cNvPr>
          <p:cNvSpPr txBox="1"/>
          <p:nvPr/>
        </p:nvSpPr>
        <p:spPr>
          <a:xfrm>
            <a:off x="5445839" y="3100288"/>
            <a:ext cx="354107" cy="369332"/>
          </a:xfrm>
          <a:prstGeom prst="rect">
            <a:avLst/>
          </a:prstGeom>
          <a:noFill/>
          <a:ln>
            <a:solidFill>
              <a:schemeClr val="tx1"/>
            </a:solidFill>
          </a:ln>
        </p:spPr>
        <p:txBody>
          <a:bodyPr wrap="square">
            <a:spAutoFit/>
          </a:bodyPr>
          <a:lstStyle/>
          <a:p>
            <a:r>
              <a:rPr lang="zh-TW" altLang="en-US" sz="1800" dirty="0"/>
              <a:t>，</a:t>
            </a:r>
            <a:endParaRPr lang="zh-TW" altLang="en-US" dirty="0"/>
          </a:p>
        </p:txBody>
      </p:sp>
    </p:spTree>
    <p:extLst>
      <p:ext uri="{BB962C8B-B14F-4D97-AF65-F5344CB8AC3E}">
        <p14:creationId xmlns:p14="http://schemas.microsoft.com/office/powerpoint/2010/main" val="7960917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16089C-1207-196F-EAA8-50E9072A80D8}"/>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dirty="0"/>
              <a:t>	</a:t>
            </a:r>
            <a:endParaRPr kumimoji="1" lang="zh-TW" altLang="en-US" dirty="0"/>
          </a:p>
        </p:txBody>
      </p:sp>
      <p:sp>
        <p:nvSpPr>
          <p:cNvPr id="3" name="內容版面配置區 2">
            <a:extLst>
              <a:ext uri="{FF2B5EF4-FFF2-40B4-BE49-F238E27FC236}">
                <a16:creationId xmlns:a16="http://schemas.microsoft.com/office/drawing/2014/main" id="{F484AA64-B62A-37C5-4AF4-3076B3B35232}"/>
              </a:ext>
            </a:extLst>
          </p:cNvPr>
          <p:cNvSpPr>
            <a:spLocks noGrp="1"/>
          </p:cNvSpPr>
          <p:nvPr>
            <p:ph idx="1"/>
          </p:nvPr>
        </p:nvSpPr>
        <p:spPr/>
        <p:txBody>
          <a:bodyPr/>
          <a:lstStyle/>
          <a:p>
            <a:r>
              <a:rPr kumimoji="1" lang="zh-TW" altLang="en-US" dirty="0"/>
              <a:t>組合成</a:t>
            </a:r>
            <a:r>
              <a:rPr kumimoji="1" lang="en-US" altLang="zh-TW" dirty="0"/>
              <a:t>X-&gt;y</a:t>
            </a:r>
            <a:r>
              <a:rPr kumimoji="1" lang="zh-TW" altLang="en-US" dirty="0"/>
              <a:t>，接龍遊戲，根據</a:t>
            </a:r>
            <a:r>
              <a:rPr kumimoji="1" lang="en" altLang="zh-TW" dirty="0" err="1"/>
              <a:t>sequence_length</a:t>
            </a:r>
            <a:r>
              <a:rPr kumimoji="1" lang="zh-TW" altLang="en" dirty="0"/>
              <a:t>切</a:t>
            </a:r>
            <a:r>
              <a:rPr kumimoji="1" lang="zh-TW" altLang="en-US" dirty="0"/>
              <a:t>割</a:t>
            </a:r>
            <a:endParaRPr kumimoji="1" lang="en-US" altLang="zh-TW" dirty="0"/>
          </a:p>
          <a:p>
            <a:r>
              <a:rPr kumimoji="1" lang="zh-TW" altLang="en-US" dirty="0"/>
              <a:t>假設</a:t>
            </a:r>
            <a:r>
              <a:rPr kumimoji="1" lang="en" altLang="zh-TW" dirty="0" err="1"/>
              <a:t>sequence_length</a:t>
            </a:r>
            <a:r>
              <a:rPr kumimoji="1" lang="zh-TW" altLang="en" dirty="0"/>
              <a:t>值</a:t>
            </a:r>
            <a:r>
              <a:rPr kumimoji="1" lang="zh-TW" altLang="en-US" dirty="0"/>
              <a:t>為</a:t>
            </a:r>
            <a:r>
              <a:rPr kumimoji="1" lang="en-US" altLang="zh-TW" dirty="0"/>
              <a:t>3</a:t>
            </a:r>
            <a:r>
              <a:rPr kumimoji="1" lang="zh-TW" altLang="en-US" dirty="0"/>
              <a:t>，</a:t>
            </a:r>
            <a:r>
              <a:rPr kumimoji="1" lang="en-US" altLang="zh-TW" dirty="0" err="1"/>
              <a:t>batch_size</a:t>
            </a:r>
            <a:r>
              <a:rPr kumimoji="1" lang="en-US" altLang="zh-TW" dirty="0"/>
              <a:t>=2</a:t>
            </a:r>
            <a:r>
              <a:rPr kumimoji="1" lang="zh-TW" altLang="en-US" dirty="0"/>
              <a:t> </a:t>
            </a:r>
            <a:r>
              <a:rPr kumimoji="1" lang="en-US" altLang="zh-TW" dirty="0"/>
              <a:t>(</a:t>
            </a:r>
            <a:r>
              <a:rPr kumimoji="1" lang="zh-TW" altLang="en-US" dirty="0"/>
              <a:t>一次計算兩筆資料</a:t>
            </a:r>
            <a:r>
              <a:rPr kumimoji="1" lang="en-US" altLang="zh-TW" dirty="0"/>
              <a:t>)</a:t>
            </a:r>
          </a:p>
          <a:p>
            <a:r>
              <a:rPr kumimoji="1" lang="zh-TW" altLang="en-US" dirty="0"/>
              <a:t>每個</a:t>
            </a:r>
            <a:r>
              <a:rPr kumimoji="1" lang="en-US" altLang="zh-TW" dirty="0"/>
              <a:t>batch</a:t>
            </a:r>
          </a:p>
          <a:p>
            <a:endParaRPr kumimoji="1" lang="en-US" altLang="zh-TW" dirty="0"/>
          </a:p>
          <a:p>
            <a:endParaRPr kumimoji="1" lang="en-US" altLang="zh-TW" dirty="0"/>
          </a:p>
          <a:p>
            <a:r>
              <a:rPr kumimoji="1" lang="zh-TW" altLang="en-US" dirty="0"/>
              <a:t>可以注意最後的</a:t>
            </a:r>
            <a:r>
              <a:rPr kumimoji="1" lang="en-US" altLang="zh-TW" dirty="0" err="1"/>
              <a:t>y_pred</a:t>
            </a:r>
            <a:r>
              <a:rPr kumimoji="1" lang="zh-TW" altLang="en-US" dirty="0"/>
              <a:t>的維度，會是</a:t>
            </a:r>
            <a:endParaRPr kumimoji="1" lang="en-US" altLang="zh-TW" dirty="0"/>
          </a:p>
          <a:p>
            <a:pPr lvl="1"/>
            <a:r>
              <a:rPr kumimoji="1" lang="en-US" altLang="zh-TW" dirty="0"/>
              <a:t>(batch</a:t>
            </a:r>
            <a:r>
              <a:rPr kumimoji="1" lang="zh-TW" altLang="en-US" dirty="0"/>
              <a:t> </a:t>
            </a:r>
            <a:r>
              <a:rPr kumimoji="1" lang="en-US" altLang="zh-TW" dirty="0"/>
              <a:t>size,</a:t>
            </a:r>
            <a:r>
              <a:rPr kumimoji="1" lang="zh-TW" altLang="en-US" dirty="0"/>
              <a:t> </a:t>
            </a:r>
            <a:r>
              <a:rPr kumimoji="1" lang="en-US" altLang="zh-TW" dirty="0"/>
              <a:t>vocab</a:t>
            </a:r>
            <a:r>
              <a:rPr kumimoji="1" lang="zh-TW" altLang="en-US" dirty="0"/>
              <a:t>數量</a:t>
            </a:r>
            <a:r>
              <a:rPr kumimoji="1" lang="en-US" altLang="zh-TW" dirty="0"/>
              <a:t>,</a:t>
            </a:r>
            <a:r>
              <a:rPr kumimoji="1" lang="zh-TW" altLang="en-US" dirty="0"/>
              <a:t> 句子長度</a:t>
            </a:r>
            <a:r>
              <a:rPr kumimoji="1" lang="en-US" altLang="zh-TW" dirty="0"/>
              <a:t>)</a:t>
            </a:r>
          </a:p>
          <a:p>
            <a:pPr lvl="1"/>
            <a:r>
              <a:rPr kumimoji="1" lang="zh-TW" altLang="en-US" dirty="0"/>
              <a:t>透過呼叫</a:t>
            </a:r>
            <a:r>
              <a:rPr kumimoji="1" lang="en-US" altLang="zh-TW" dirty="0"/>
              <a:t>transpose</a:t>
            </a:r>
            <a:r>
              <a:rPr kumimoji="1" lang="zh-TW" altLang="en-US" dirty="0"/>
              <a:t>，把後面兩維互調後，跟實際的</a:t>
            </a:r>
            <a:r>
              <a:rPr kumimoji="1" lang="en-US" altLang="zh-TW" dirty="0"/>
              <a:t>y(batch</a:t>
            </a:r>
            <a:r>
              <a:rPr kumimoji="1" lang="zh-TW" altLang="en-US" dirty="0"/>
              <a:t> </a:t>
            </a:r>
            <a:r>
              <a:rPr kumimoji="1" lang="en-US" altLang="zh-TW" dirty="0"/>
              <a:t>size,</a:t>
            </a:r>
            <a:r>
              <a:rPr kumimoji="1" lang="zh-TW" altLang="en-US" dirty="0"/>
              <a:t> 句子長度</a:t>
            </a:r>
            <a:r>
              <a:rPr kumimoji="1" lang="en-US" altLang="zh-TW" dirty="0"/>
              <a:t>)</a:t>
            </a:r>
            <a:r>
              <a:rPr kumimoji="1" lang="zh-TW" altLang="en-US" dirty="0"/>
              <a:t>去計算</a:t>
            </a:r>
            <a:r>
              <a:rPr kumimoji="1" lang="en-US" altLang="zh-TW" dirty="0" err="1"/>
              <a:t>crossentropy</a:t>
            </a:r>
            <a:endParaRPr kumimoji="1" lang="en-US" altLang="zh-TW" dirty="0"/>
          </a:p>
          <a:p>
            <a:endParaRPr kumimoji="1" lang="zh-TW" altLang="en-US" dirty="0"/>
          </a:p>
        </p:txBody>
      </p:sp>
      <p:sp>
        <p:nvSpPr>
          <p:cNvPr id="5" name="文字方塊 4">
            <a:extLst>
              <a:ext uri="{FF2B5EF4-FFF2-40B4-BE49-F238E27FC236}">
                <a16:creationId xmlns:a16="http://schemas.microsoft.com/office/drawing/2014/main" id="{1170FE26-D4CE-5D4D-2A9F-540C3A770A7B}"/>
              </a:ext>
            </a:extLst>
          </p:cNvPr>
          <p:cNvSpPr txBox="1"/>
          <p:nvPr/>
        </p:nvSpPr>
        <p:spPr>
          <a:xfrm>
            <a:off x="2856153" y="3293408"/>
            <a:ext cx="5018442" cy="707886"/>
          </a:xfrm>
          <a:prstGeom prst="rect">
            <a:avLst/>
          </a:prstGeom>
          <a:noFill/>
          <a:ln>
            <a:solidFill>
              <a:schemeClr val="tx1"/>
            </a:solidFill>
          </a:ln>
        </p:spPr>
        <p:txBody>
          <a:bodyPr wrap="square">
            <a:spAutoFit/>
          </a:bodyPr>
          <a:lstStyle/>
          <a:p>
            <a:r>
              <a:rPr lang="zh-TW" altLang="en-US" sz="2000" dirty="0"/>
              <a:t>x: tensor([[450, 451, 892], [451, 892, 893]]), </a:t>
            </a:r>
            <a:endParaRPr lang="en-US" altLang="zh-TW" sz="2000" dirty="0"/>
          </a:p>
          <a:p>
            <a:r>
              <a:rPr lang="zh-TW" altLang="en-US" sz="2000" dirty="0"/>
              <a:t>y: tensor([[451, 892, 893], [892, 893, 894]])</a:t>
            </a:r>
          </a:p>
        </p:txBody>
      </p:sp>
    </p:spTree>
    <p:extLst>
      <p:ext uri="{BB962C8B-B14F-4D97-AF65-F5344CB8AC3E}">
        <p14:creationId xmlns:p14="http://schemas.microsoft.com/office/powerpoint/2010/main" val="8896180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86944D-3848-F98F-95AF-F9DCB7EE04C9}"/>
              </a:ext>
            </a:extLst>
          </p:cNvPr>
          <p:cNvSpPr>
            <a:spLocks noGrp="1"/>
          </p:cNvSpPr>
          <p:nvPr>
            <p:ph type="title"/>
          </p:nvPr>
        </p:nvSpPr>
        <p:spPr/>
        <p:txBody>
          <a:bodyPr/>
          <a:lstStyle/>
          <a:p>
            <a:r>
              <a:rPr kumimoji="1" lang="en-US" altLang="zh-TW" sz="4400" dirty="0"/>
              <a:t>RNN</a:t>
            </a:r>
            <a:r>
              <a:rPr kumimoji="1" lang="zh-TW" altLang="en-US" sz="4400" dirty="0"/>
              <a:t>練習</a:t>
            </a:r>
            <a:r>
              <a:rPr kumimoji="1" lang="en-US" altLang="zh-TW" sz="4400" dirty="0"/>
              <a:t>(III)-</a:t>
            </a:r>
            <a:r>
              <a:rPr kumimoji="1" lang="zh-TW" altLang="en-US" dirty="0"/>
              <a:t>小說產生器</a:t>
            </a:r>
            <a:r>
              <a:rPr kumimoji="1" lang="en-US" altLang="zh-TW"/>
              <a:t>	</a:t>
            </a:r>
            <a:endParaRPr kumimoji="1" lang="zh-TW" altLang="en-US" dirty="0"/>
          </a:p>
        </p:txBody>
      </p:sp>
      <p:sp>
        <p:nvSpPr>
          <p:cNvPr id="3" name="內容版面配置區 2">
            <a:extLst>
              <a:ext uri="{FF2B5EF4-FFF2-40B4-BE49-F238E27FC236}">
                <a16:creationId xmlns:a16="http://schemas.microsoft.com/office/drawing/2014/main" id="{CD8D7AD3-CBD3-DD5E-A1A1-607848C6ED71}"/>
              </a:ext>
            </a:extLst>
          </p:cNvPr>
          <p:cNvSpPr>
            <a:spLocks noGrp="1"/>
          </p:cNvSpPr>
          <p:nvPr>
            <p:ph idx="1"/>
          </p:nvPr>
        </p:nvSpPr>
        <p:spPr/>
        <p:txBody>
          <a:bodyPr/>
          <a:lstStyle/>
          <a:p>
            <a:r>
              <a:rPr kumimoji="1" lang="en" altLang="zh-TW" dirty="0"/>
              <a:t>Predict</a:t>
            </a:r>
            <a:r>
              <a:rPr kumimoji="1" lang="zh-TW" altLang="en" dirty="0"/>
              <a:t>：</a:t>
            </a:r>
            <a:endParaRPr kumimoji="1" lang="en-US" altLang="zh-TW" dirty="0"/>
          </a:p>
          <a:p>
            <a:pPr lvl="1"/>
            <a:r>
              <a:rPr kumimoji="1" lang="zh-TW" altLang="en-US" dirty="0"/>
              <a:t>收到使用者輸入的「起始句子」後進行斷句變成</a:t>
            </a:r>
            <a:r>
              <a:rPr kumimoji="1" lang="en-US" altLang="zh-TW" dirty="0"/>
              <a:t>words</a:t>
            </a:r>
          </a:p>
          <a:p>
            <a:pPr marL="914400" lvl="1" indent="-457200">
              <a:buFont typeface="+mj-lt"/>
              <a:buAutoNum type="arabicPeriod"/>
            </a:pPr>
            <a:r>
              <a:rPr kumimoji="1" lang="zh-TW" altLang="en-US" dirty="0"/>
              <a:t>把每個</a:t>
            </a:r>
            <a:r>
              <a:rPr kumimoji="1" lang="en-US" altLang="zh-TW" dirty="0"/>
              <a:t>words</a:t>
            </a:r>
            <a:r>
              <a:rPr kumimoji="1" lang="zh-TW" altLang="en-US" dirty="0"/>
              <a:t>先輸入</a:t>
            </a:r>
            <a:r>
              <a:rPr kumimoji="1" lang="en-US" altLang="zh-TW" dirty="0"/>
              <a:t>model</a:t>
            </a:r>
          </a:p>
          <a:p>
            <a:pPr marL="914400" lvl="1" indent="-457200">
              <a:buFont typeface="+mj-lt"/>
              <a:buAutoNum type="arabicPeriod"/>
            </a:pPr>
            <a:r>
              <a:rPr kumimoji="1" lang="zh-TW" altLang="en-US" dirty="0"/>
              <a:t>取出最後一個輸出</a:t>
            </a:r>
            <a:r>
              <a:rPr kumimoji="1" lang="en-US" altLang="zh-TW" dirty="0"/>
              <a:t>(</a:t>
            </a:r>
            <a:r>
              <a:rPr kumimoji="1" lang="en-US" altLang="zh-TW" dirty="0" err="1"/>
              <a:t>y_pred</a:t>
            </a:r>
            <a:r>
              <a:rPr kumimoji="1" lang="en-US" altLang="zh-TW" dirty="0"/>
              <a:t>[0][-1])</a:t>
            </a:r>
            <a:r>
              <a:rPr kumimoji="1" lang="zh-TW" altLang="en-US" dirty="0"/>
              <a:t>，得到輸出的</a:t>
            </a:r>
            <a:r>
              <a:rPr kumimoji="1" lang="en-US" altLang="zh-TW" dirty="0" err="1"/>
              <a:t>softmax</a:t>
            </a:r>
            <a:r>
              <a:rPr kumimoji="1" lang="zh-TW" altLang="en-US" dirty="0"/>
              <a:t>機率矩陣</a:t>
            </a:r>
            <a:endParaRPr kumimoji="1" lang="en-US" altLang="zh-TW" dirty="0"/>
          </a:p>
          <a:p>
            <a:pPr marL="914400" lvl="1" indent="-457200">
              <a:buFont typeface="+mj-lt"/>
              <a:buAutoNum type="arabicPeriod"/>
            </a:pPr>
            <a:r>
              <a:rPr kumimoji="1" lang="zh-TW" altLang="en-US" dirty="0"/>
              <a:t>透過機率矩陣隨機取得下一個字</a:t>
            </a:r>
            <a:endParaRPr kumimoji="1" lang="en-US" altLang="zh-TW" dirty="0"/>
          </a:p>
          <a:p>
            <a:pPr marL="914400" lvl="1" indent="-457200">
              <a:buFont typeface="+mj-lt"/>
              <a:buAutoNum type="arabicPeriod"/>
            </a:pPr>
            <a:r>
              <a:rPr kumimoji="1" lang="zh-TW" altLang="en-US" dirty="0"/>
              <a:t>加入到起始句子中</a:t>
            </a:r>
            <a:endParaRPr kumimoji="1" lang="en-US" altLang="zh-TW" dirty="0"/>
          </a:p>
          <a:p>
            <a:pPr marL="914400" lvl="1" indent="-457200">
              <a:buFont typeface="+mj-lt"/>
              <a:buAutoNum type="arabicPeriod"/>
            </a:pPr>
            <a:r>
              <a:rPr kumimoji="1" lang="zh-TW" altLang="en-US" dirty="0"/>
              <a:t>重覆步驟</a:t>
            </a:r>
            <a:r>
              <a:rPr kumimoji="1" lang="en-US" altLang="zh-TW" dirty="0"/>
              <a:t>1</a:t>
            </a:r>
            <a:r>
              <a:rPr kumimoji="1" lang="zh-TW" altLang="en-US" dirty="0"/>
              <a:t>直接產生需要的長度為止</a:t>
            </a:r>
            <a:endParaRPr kumimoji="1" lang="en-US" altLang="zh-TW" dirty="0"/>
          </a:p>
          <a:p>
            <a:endParaRPr kumimoji="1" lang="zh-TW" altLang="en-US" dirty="0"/>
          </a:p>
        </p:txBody>
      </p:sp>
    </p:spTree>
    <p:extLst>
      <p:ext uri="{BB962C8B-B14F-4D97-AF65-F5344CB8AC3E}">
        <p14:creationId xmlns:p14="http://schemas.microsoft.com/office/powerpoint/2010/main" val="159579317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TotalTime>
  <Words>13608</Words>
  <Application>Microsoft Office PowerPoint</Application>
  <PresentationFormat>寬螢幕</PresentationFormat>
  <Paragraphs>1074</Paragraphs>
  <Slides>112</Slides>
  <Notes>1</Notes>
  <HiddenSlides>1</HiddenSlides>
  <MMClips>0</MMClips>
  <ScaleCrop>false</ScaleCrop>
  <HeadingPairs>
    <vt:vector size="6" baseType="variant">
      <vt:variant>
        <vt:lpstr>使用字型</vt:lpstr>
      </vt:variant>
      <vt:variant>
        <vt:i4>19</vt:i4>
      </vt:variant>
      <vt:variant>
        <vt:lpstr>佈景主題</vt:lpstr>
      </vt:variant>
      <vt:variant>
        <vt:i4>1</vt:i4>
      </vt:variant>
      <vt:variant>
        <vt:lpstr>投影片標題</vt:lpstr>
      </vt:variant>
      <vt:variant>
        <vt:i4>112</vt:i4>
      </vt:variant>
    </vt:vector>
  </HeadingPairs>
  <TitlesOfParts>
    <vt:vector size="132" baseType="lpstr">
      <vt:lpstr>-apple-system</vt:lpstr>
      <vt:lpstr>Helvetica Neue</vt:lpstr>
      <vt:lpstr>inherit</vt:lpstr>
      <vt:lpstr>Inter</vt:lpstr>
      <vt:lpstr>Menlo</vt:lpstr>
      <vt:lpstr>MJXc-TeX-main-R</vt:lpstr>
      <vt:lpstr>MJXc-TeX-math-I</vt:lpstr>
      <vt:lpstr>source-code-pro</vt:lpstr>
      <vt:lpstr>source-serif-pro</vt:lpstr>
      <vt:lpstr>微軟正黑體</vt:lpstr>
      <vt:lpstr>微軟正黑體</vt:lpstr>
      <vt:lpstr>Arial</vt:lpstr>
      <vt:lpstr>Calibri</vt:lpstr>
      <vt:lpstr>Calibri Light</vt:lpstr>
      <vt:lpstr>Cambria Math</vt:lpstr>
      <vt:lpstr>Courier New</vt:lpstr>
      <vt:lpstr>Fira Code</vt:lpstr>
      <vt:lpstr>Times New Roman</vt:lpstr>
      <vt:lpstr>Wingdings</vt:lpstr>
      <vt:lpstr>Office 佈景主題</vt:lpstr>
      <vt:lpstr>Recurrent Neuron Networks</vt:lpstr>
      <vt:lpstr>RNN</vt:lpstr>
      <vt:lpstr>Time Series using RNNs</vt:lpstr>
      <vt:lpstr>Slot filling</vt:lpstr>
      <vt:lpstr>Recurrent Neural Network, RNN</vt:lpstr>
      <vt:lpstr>Recurrent Neural Network, RNN</vt:lpstr>
      <vt:lpstr>Recurrent Neural Network, RNN</vt:lpstr>
      <vt:lpstr>Recurrent Neural Network -Deep RNN</vt:lpstr>
      <vt:lpstr>Recurrent Neural Network, RNN</vt:lpstr>
      <vt:lpstr>Recurrent Neural Network, RNN</vt:lpstr>
      <vt:lpstr>Recurrent Neural Network, RNN</vt:lpstr>
      <vt:lpstr>RNN from scratch</vt:lpstr>
      <vt:lpstr>RNN from scratch</vt:lpstr>
      <vt:lpstr>RNN from scratch</vt:lpstr>
      <vt:lpstr>RNN from scratch</vt:lpstr>
      <vt:lpstr>RNN from scratch</vt:lpstr>
      <vt:lpstr>Long Short-Term Memory (LSTM)</vt:lpstr>
      <vt:lpstr>LSTM</vt:lpstr>
      <vt:lpstr>參考</vt:lpstr>
      <vt:lpstr>PowerPoint 簡報</vt:lpstr>
      <vt:lpstr>PowerPoint 簡報</vt:lpstr>
      <vt:lpstr>PowerPoint 簡報</vt:lpstr>
      <vt:lpstr>PowerPoint 簡報</vt:lpstr>
      <vt:lpstr>GRU</vt:lpstr>
      <vt:lpstr>LSTM</vt:lpstr>
      <vt:lpstr>自然語言處理</vt:lpstr>
      <vt:lpstr>自然語言處理</vt:lpstr>
      <vt:lpstr>自然語言處理</vt:lpstr>
      <vt:lpstr>自然語言處理</vt:lpstr>
      <vt:lpstr>自然語言處理</vt:lpstr>
      <vt:lpstr>自然語言處理</vt:lpstr>
      <vt:lpstr>自然語言處理</vt:lpstr>
      <vt:lpstr>自然語言處理 - Tokenizers: Word-based</vt:lpstr>
      <vt:lpstr>自然語言處理 - Tokenizers: Character-based</vt:lpstr>
      <vt:lpstr>自然語言處理 - Tokenizers: Character-based</vt:lpstr>
      <vt:lpstr>自然語言的編碼</vt:lpstr>
      <vt:lpstr>獨熱編碼One-hot encoding</vt:lpstr>
      <vt:lpstr>獨熱編碼One-hot encoding</vt:lpstr>
      <vt:lpstr>程式測試</vt:lpstr>
      <vt:lpstr>詞袋模型Bag-of-words簡介</vt:lpstr>
      <vt:lpstr>詞袋模型Bag-of-words簡介</vt:lpstr>
      <vt:lpstr>詞袋模型Bag-of-words簡介</vt:lpstr>
      <vt:lpstr>詞袋模型Bag-of-words簡介</vt:lpstr>
      <vt:lpstr>詞袋模型Bag-of-words簡介 (Bag-of-Words)</vt:lpstr>
      <vt:lpstr>詞袋模型程式 (CountVectorizer)</vt:lpstr>
      <vt:lpstr>詞袋模型Bag-of-words</vt:lpstr>
      <vt:lpstr>詞袋模型程式 (CountVectorizer)</vt:lpstr>
      <vt:lpstr>計數手法 - Count Vectorizer (範例)</vt:lpstr>
      <vt:lpstr>計數手法 - Count Vectorizer (範例)</vt:lpstr>
      <vt:lpstr>比較One-Hot Encoding 與 Bag-of-Word</vt:lpstr>
      <vt:lpstr>n-gram 袋</vt:lpstr>
      <vt:lpstr>n-gram 袋</vt:lpstr>
      <vt:lpstr>Frequency based embedding TF-IDF</vt:lpstr>
      <vt:lpstr>TF-IDF</vt:lpstr>
      <vt:lpstr>Scikit learn的TF-IDF</vt:lpstr>
      <vt:lpstr>TF-IDF transformer</vt:lpstr>
      <vt:lpstr>TF-IDF Vectorizer</vt:lpstr>
      <vt:lpstr>TF-IDF</vt:lpstr>
      <vt:lpstr>TF-IDF</vt:lpstr>
      <vt:lpstr> Word2Vec</vt:lpstr>
      <vt:lpstr>用神經網路處理自然語言 (Predicted Based Embedding)</vt:lpstr>
      <vt:lpstr>Word2Vec</vt:lpstr>
      <vt:lpstr>Word2Vec-https://projector.tensorflow.org/</vt:lpstr>
      <vt:lpstr>Word2Vec</vt:lpstr>
      <vt:lpstr>用神經網路處理自然語言 (Word Vector, word2vec)</vt:lpstr>
      <vt:lpstr>用神經網路處理自然語言 (Predicted Based Embedding)</vt:lpstr>
      <vt:lpstr>用神經網路處理自然語言 (Predicted Based Embedding)</vt:lpstr>
      <vt:lpstr>用神經網路處理自然語言 (Predicted Based Embedding)</vt:lpstr>
      <vt:lpstr>用神經網路處理自然語言 (Predicted Based Embedding)</vt:lpstr>
      <vt:lpstr>用神經網路處理自然語言 (Predicted Based Embedding)</vt:lpstr>
      <vt:lpstr>用神經網路處理自然語言 (Predicted Based Embedding)</vt:lpstr>
      <vt:lpstr>用神經網路處理自然語言 (Predicted Based Embedding)</vt:lpstr>
      <vt:lpstr>用神經網路處理自然語言 (Predicted Based Embedding)-gloVe</vt:lpstr>
      <vt:lpstr>ELMo (Embeddings from Language Models)</vt:lpstr>
      <vt:lpstr>ELMo (Embeddings from Language Models)</vt:lpstr>
      <vt:lpstr>ELMo (Embeddings from Language Models)</vt:lpstr>
      <vt:lpstr>ELMo (Embeddings from Language Models)</vt:lpstr>
      <vt:lpstr>用神經網路處理自然語言 (Predicted Based Embedding)</vt:lpstr>
      <vt:lpstr>用神經網路處理自然語言 (Predicted Based Embedding)</vt:lpstr>
      <vt:lpstr>用神經網路處理自然語言 (Predicted Based Embedding)</vt:lpstr>
      <vt:lpstr>中文斷詞</vt:lpstr>
      <vt:lpstr>中文斷詞</vt:lpstr>
      <vt:lpstr>中文斷詞</vt:lpstr>
      <vt:lpstr>Jieba結巴</vt:lpstr>
      <vt:lpstr>PowerPoint 簡報</vt:lpstr>
      <vt:lpstr>Using RNN in NLP</vt:lpstr>
      <vt:lpstr>RNN from scratch</vt:lpstr>
      <vt:lpstr>RNN的類型</vt:lpstr>
      <vt:lpstr>Bidirectional RNN</vt:lpstr>
      <vt:lpstr>情感分析 RNN練習(I)-imdb review實作</vt:lpstr>
      <vt:lpstr>情感分析Sentiment analysis</vt:lpstr>
      <vt:lpstr>RNN練習(I)-imdb review實作</vt:lpstr>
      <vt:lpstr>RNN練習(I)-imdb review實作</vt:lpstr>
      <vt:lpstr>RNN練習(I)-imdb review實作程式說明</vt:lpstr>
      <vt:lpstr>RNN練習(I)-imdb review實作程式說明</vt:lpstr>
      <vt:lpstr>RNN練習(I)-imdb review實作程式說明</vt:lpstr>
      <vt:lpstr>RNN練習(I)-imdb review實作程式說明</vt:lpstr>
      <vt:lpstr>RNN練習(I)-imdb review實作程式說明</vt:lpstr>
      <vt:lpstr>RNN練習(II)-Char-based generator</vt:lpstr>
      <vt:lpstr>RNN練習(II)-Char-based generator</vt:lpstr>
      <vt:lpstr>RNN練習(II)-Char-based generator</vt:lpstr>
      <vt:lpstr>RNN練習(II)-Char-based generator</vt:lpstr>
      <vt:lpstr>RNN練習(II)-Char-based generator</vt:lpstr>
      <vt:lpstr>RNN練習(III)-小說產生器 </vt:lpstr>
      <vt:lpstr>RNN練習(III)-小說產生器 </vt:lpstr>
      <vt:lpstr>RNN練習(III)-小說產生器 </vt:lpstr>
      <vt:lpstr>RNN練習(III)-小說產生器 </vt:lpstr>
      <vt:lpstr>RNN練習(III)-小說產生器 </vt:lpstr>
      <vt:lpstr>RNN練習(III)-小說產生器 </vt:lpstr>
      <vt:lpstr>RNN練習(III)-小說產生器 </vt:lpstr>
      <vt:lpstr>RNN練習(III)-小說產生器 </vt:lpstr>
      <vt:lpstr>RNN練習(III)-小說產生器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Recurrent Neuron Networks</dc:title>
  <dc:creator>林俊杰</dc:creator>
  <cp:lastModifiedBy>林俊杰</cp:lastModifiedBy>
  <cp:revision>10</cp:revision>
  <dcterms:created xsi:type="dcterms:W3CDTF">2024-12-17T07:54:52Z</dcterms:created>
  <dcterms:modified xsi:type="dcterms:W3CDTF">2024-12-17T15:25:44Z</dcterms:modified>
</cp:coreProperties>
</file>