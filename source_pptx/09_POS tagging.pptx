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 id="264" r:id="rId14"/>
    <p:sldId id="273" r:id="rId15"/>
    <p:sldId id="277" r:id="rId16"/>
    <p:sldId id="265" r:id="rId17"/>
    <p:sldId id="270" r:id="rId18"/>
    <p:sldId id="271" r:id="rId19"/>
    <p:sldId id="272" r:id="rId20"/>
    <p:sldId id="276" r:id="rId21"/>
    <p:sldId id="278" r:id="rId22"/>
    <p:sldId id="279" r:id="rId23"/>
    <p:sldId id="274" r:id="rId24"/>
    <p:sldId id="275" r:id="rId25"/>
    <p:sldId id="282" r:id="rId26"/>
    <p:sldId id="283" r:id="rId27"/>
    <p:sldId id="285" r:id="rId28"/>
    <p:sldId id="284" r:id="rId29"/>
    <p:sldId id="289" r:id="rId30"/>
    <p:sldId id="288" r:id="rId31"/>
    <p:sldId id="287" r:id="rId32"/>
    <p:sldId id="301" r:id="rId33"/>
    <p:sldId id="305" r:id="rId34"/>
    <p:sldId id="306" r:id="rId35"/>
    <p:sldId id="280" r:id="rId3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p:restoredTop sz="94744"/>
  </p:normalViewPr>
  <p:slideViewPr>
    <p:cSldViewPr snapToGrid="0">
      <p:cViewPr varScale="1">
        <p:scale>
          <a:sx n="115" d="100"/>
          <a:sy n="115" d="100"/>
        </p:scale>
        <p:origin x="5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林俊杰" userId="dcfdc803-95d8-409b-8404-351632be86e2" providerId="ADAL" clId="{8C391C4A-92AA-58F5-9320-38493568155F}"/>
    <pc:docChg chg="delSld">
      <pc:chgData name="林俊杰" userId="dcfdc803-95d8-409b-8404-351632be86e2" providerId="ADAL" clId="{8C391C4A-92AA-58F5-9320-38493568155F}" dt="2025-12-19T09:19:45.471" v="2" actId="2696"/>
      <pc:docMkLst>
        <pc:docMk/>
      </pc:docMkLst>
      <pc:sldChg chg="del">
        <pc:chgData name="林俊杰" userId="dcfdc803-95d8-409b-8404-351632be86e2" providerId="ADAL" clId="{8C391C4A-92AA-58F5-9320-38493568155F}" dt="2025-12-19T09:19:45.455" v="0" actId="2696"/>
        <pc:sldMkLst>
          <pc:docMk/>
          <pc:sldMk cId="2657164801" sldId="302"/>
        </pc:sldMkLst>
      </pc:sldChg>
      <pc:sldChg chg="del">
        <pc:chgData name="林俊杰" userId="dcfdc803-95d8-409b-8404-351632be86e2" providerId="ADAL" clId="{8C391C4A-92AA-58F5-9320-38493568155F}" dt="2025-12-19T09:19:45.463" v="1" actId="2696"/>
        <pc:sldMkLst>
          <pc:docMk/>
          <pc:sldMk cId="2018913616" sldId="303"/>
        </pc:sldMkLst>
      </pc:sldChg>
      <pc:sldChg chg="del">
        <pc:chgData name="林俊杰" userId="dcfdc803-95d8-409b-8404-351632be86e2" providerId="ADAL" clId="{8C391C4A-92AA-58F5-9320-38493568155F}" dt="2025-12-19T09:19:45.471" v="2" actId="2696"/>
        <pc:sldMkLst>
          <pc:docMk/>
          <pc:sldMk cId="3898000539" sldId="30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E66E2F-32AC-554C-B788-5BE1924C5ED7}" type="datetimeFigureOut">
              <a:rPr kumimoji="1" lang="zh-TW" altLang="en-US" smtClean="0"/>
              <a:t>2025/12/19</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6F4C7F-5C71-C44A-B679-190C031EB7AC}" type="slidenum">
              <a:rPr kumimoji="1" lang="zh-TW" altLang="en-US" smtClean="0"/>
              <a:t>‹#›</a:t>
            </a:fld>
            <a:endParaRPr kumimoji="1" lang="zh-TW" altLang="en-US"/>
          </a:p>
        </p:txBody>
      </p:sp>
    </p:spTree>
    <p:extLst>
      <p:ext uri="{BB962C8B-B14F-4D97-AF65-F5344CB8AC3E}">
        <p14:creationId xmlns:p14="http://schemas.microsoft.com/office/powerpoint/2010/main" val="522017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32</a:t>
            </a:fld>
            <a:endParaRPr kumimoji="1" lang="zh-TW" altLang="en-US"/>
          </a:p>
        </p:txBody>
      </p:sp>
    </p:spTree>
    <p:extLst>
      <p:ext uri="{BB962C8B-B14F-4D97-AF65-F5344CB8AC3E}">
        <p14:creationId xmlns:p14="http://schemas.microsoft.com/office/powerpoint/2010/main" val="359577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B46AC2-9001-2467-DE84-5CDC57F28CE0}"/>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DD8F5CA4-2349-3CE2-4EE2-9DFEBC39C7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974A3D6F-6531-F8EB-21F0-796AD77270F4}"/>
              </a:ext>
            </a:extLst>
          </p:cNvPr>
          <p:cNvSpPr>
            <a:spLocks noGrp="1"/>
          </p:cNvSpPr>
          <p:nvPr>
            <p:ph type="dt" sz="half" idx="10"/>
          </p:nvPr>
        </p:nvSpPr>
        <p:spPr/>
        <p:txBody>
          <a:bodyPr/>
          <a:lstStyle/>
          <a:p>
            <a:fld id="{C73E9A17-AFEC-C74D-9C70-72996438B0AB}" type="datetimeFigureOut">
              <a:rPr kumimoji="1" lang="zh-TW" altLang="en-US" smtClean="0"/>
              <a:t>2025/12/19</a:t>
            </a:fld>
            <a:endParaRPr kumimoji="1" lang="zh-TW" altLang="en-US"/>
          </a:p>
        </p:txBody>
      </p:sp>
      <p:sp>
        <p:nvSpPr>
          <p:cNvPr id="5" name="頁尾版面配置區 4">
            <a:extLst>
              <a:ext uri="{FF2B5EF4-FFF2-40B4-BE49-F238E27FC236}">
                <a16:creationId xmlns:a16="http://schemas.microsoft.com/office/drawing/2014/main" id="{CA72812A-1040-BB84-A90D-CF78B5CB3269}"/>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FBFABDA-2E38-AB91-D8DD-D2F31A987737}"/>
              </a:ext>
            </a:extLst>
          </p:cNvPr>
          <p:cNvSpPr>
            <a:spLocks noGrp="1"/>
          </p:cNvSpPr>
          <p:nvPr>
            <p:ph type="sldNum" sz="quarter" idx="12"/>
          </p:nvPr>
        </p:nvSpPr>
        <p:spPr/>
        <p:txBody>
          <a:body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333600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4EC1B2-191E-56AA-E37B-6DDEC1D4C90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B7133BDA-B1D2-ADC1-A040-5632461A390F}"/>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4DCE142-14E0-3854-9095-49DBAACE3B7C}"/>
              </a:ext>
            </a:extLst>
          </p:cNvPr>
          <p:cNvSpPr>
            <a:spLocks noGrp="1"/>
          </p:cNvSpPr>
          <p:nvPr>
            <p:ph type="dt" sz="half" idx="10"/>
          </p:nvPr>
        </p:nvSpPr>
        <p:spPr/>
        <p:txBody>
          <a:bodyPr/>
          <a:lstStyle/>
          <a:p>
            <a:fld id="{C73E9A17-AFEC-C74D-9C70-72996438B0AB}" type="datetimeFigureOut">
              <a:rPr kumimoji="1" lang="zh-TW" altLang="en-US" smtClean="0"/>
              <a:t>2025/12/19</a:t>
            </a:fld>
            <a:endParaRPr kumimoji="1" lang="zh-TW" altLang="en-US"/>
          </a:p>
        </p:txBody>
      </p:sp>
      <p:sp>
        <p:nvSpPr>
          <p:cNvPr id="5" name="頁尾版面配置區 4">
            <a:extLst>
              <a:ext uri="{FF2B5EF4-FFF2-40B4-BE49-F238E27FC236}">
                <a16:creationId xmlns:a16="http://schemas.microsoft.com/office/drawing/2014/main" id="{3CE6508A-5FBA-37FD-64DB-AB36D6FC8086}"/>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EA4FB42-5B4E-7E56-4AE3-6DB3E31B7C31}"/>
              </a:ext>
            </a:extLst>
          </p:cNvPr>
          <p:cNvSpPr>
            <a:spLocks noGrp="1"/>
          </p:cNvSpPr>
          <p:nvPr>
            <p:ph type="sldNum" sz="quarter" idx="12"/>
          </p:nvPr>
        </p:nvSpPr>
        <p:spPr/>
        <p:txBody>
          <a:body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1285129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7D2EC7-1B5E-FA63-1E67-4777E357ECD5}"/>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1FB02BB7-8813-AD87-B59E-A5B9CF7314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F4A737B7-CA4C-0E3B-F49B-4135F340C8F7}"/>
              </a:ext>
            </a:extLst>
          </p:cNvPr>
          <p:cNvSpPr>
            <a:spLocks noGrp="1"/>
          </p:cNvSpPr>
          <p:nvPr>
            <p:ph type="dt" sz="half" idx="10"/>
          </p:nvPr>
        </p:nvSpPr>
        <p:spPr/>
        <p:txBody>
          <a:bodyPr/>
          <a:lstStyle/>
          <a:p>
            <a:fld id="{C73E9A17-AFEC-C74D-9C70-72996438B0AB}" type="datetimeFigureOut">
              <a:rPr kumimoji="1" lang="zh-TW" altLang="en-US" smtClean="0"/>
              <a:t>2025/12/19</a:t>
            </a:fld>
            <a:endParaRPr kumimoji="1" lang="zh-TW" altLang="en-US"/>
          </a:p>
        </p:txBody>
      </p:sp>
      <p:sp>
        <p:nvSpPr>
          <p:cNvPr id="5" name="頁尾版面配置區 4">
            <a:extLst>
              <a:ext uri="{FF2B5EF4-FFF2-40B4-BE49-F238E27FC236}">
                <a16:creationId xmlns:a16="http://schemas.microsoft.com/office/drawing/2014/main" id="{C5ABF62F-6913-1DA1-BC9C-705B2DC4D59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3401CEE-5FE2-3223-C132-131CAAAE9B16}"/>
              </a:ext>
            </a:extLst>
          </p:cNvPr>
          <p:cNvSpPr>
            <a:spLocks noGrp="1"/>
          </p:cNvSpPr>
          <p:nvPr>
            <p:ph type="sldNum" sz="quarter" idx="12"/>
          </p:nvPr>
        </p:nvSpPr>
        <p:spPr/>
        <p:txBody>
          <a:body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4293766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0551E5-E7F6-81A5-8776-C52FEA650A0C}"/>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B608EF3D-58C3-6BDC-7F31-7D5543BF64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4A864C1B-8711-FA93-965E-13C8D501D3B1}"/>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B81B5EEC-861B-2152-D11B-1EAB4414F07D}"/>
              </a:ext>
            </a:extLst>
          </p:cNvPr>
          <p:cNvSpPr>
            <a:spLocks noGrp="1"/>
          </p:cNvSpPr>
          <p:nvPr>
            <p:ph type="dt" sz="half" idx="10"/>
          </p:nvPr>
        </p:nvSpPr>
        <p:spPr/>
        <p:txBody>
          <a:bodyPr/>
          <a:lstStyle/>
          <a:p>
            <a:fld id="{C73E9A17-AFEC-C74D-9C70-72996438B0AB}" type="datetimeFigureOut">
              <a:rPr kumimoji="1" lang="zh-TW" altLang="en-US" smtClean="0"/>
              <a:t>2025/12/19</a:t>
            </a:fld>
            <a:endParaRPr kumimoji="1" lang="zh-TW" altLang="en-US"/>
          </a:p>
        </p:txBody>
      </p:sp>
      <p:sp>
        <p:nvSpPr>
          <p:cNvPr id="6" name="頁尾版面配置區 5">
            <a:extLst>
              <a:ext uri="{FF2B5EF4-FFF2-40B4-BE49-F238E27FC236}">
                <a16:creationId xmlns:a16="http://schemas.microsoft.com/office/drawing/2014/main" id="{6F1722AE-B336-FC7D-E5AE-45BD1DBA4266}"/>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EC750A5F-99E9-C45B-525D-3884F858611E}"/>
              </a:ext>
            </a:extLst>
          </p:cNvPr>
          <p:cNvSpPr>
            <a:spLocks noGrp="1"/>
          </p:cNvSpPr>
          <p:nvPr>
            <p:ph type="sldNum" sz="quarter" idx="12"/>
          </p:nvPr>
        </p:nvSpPr>
        <p:spPr/>
        <p:txBody>
          <a:body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2406119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94B44E-A0FD-9E39-1470-54FA3B8B20E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9B72D9CA-5937-839D-6FD9-924EB0175D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4AE54E0A-9365-A0A1-26F4-4A4E5A36139E}"/>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335CEB58-63AB-2D90-F840-3513604902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08EEB2CA-E60C-1174-298B-8359AB166BEB}"/>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3D20C5A2-FC89-D9CE-AE99-511D69CD9722}"/>
              </a:ext>
            </a:extLst>
          </p:cNvPr>
          <p:cNvSpPr>
            <a:spLocks noGrp="1"/>
          </p:cNvSpPr>
          <p:nvPr>
            <p:ph type="dt" sz="half" idx="10"/>
          </p:nvPr>
        </p:nvSpPr>
        <p:spPr/>
        <p:txBody>
          <a:bodyPr/>
          <a:lstStyle/>
          <a:p>
            <a:fld id="{C73E9A17-AFEC-C74D-9C70-72996438B0AB}" type="datetimeFigureOut">
              <a:rPr kumimoji="1" lang="zh-TW" altLang="en-US" smtClean="0"/>
              <a:t>2025/12/19</a:t>
            </a:fld>
            <a:endParaRPr kumimoji="1" lang="zh-TW" altLang="en-US"/>
          </a:p>
        </p:txBody>
      </p:sp>
      <p:sp>
        <p:nvSpPr>
          <p:cNvPr id="8" name="頁尾版面配置區 7">
            <a:extLst>
              <a:ext uri="{FF2B5EF4-FFF2-40B4-BE49-F238E27FC236}">
                <a16:creationId xmlns:a16="http://schemas.microsoft.com/office/drawing/2014/main" id="{4C6759FE-1603-4006-7993-0E0835EECE9C}"/>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46161E57-D989-8C23-7FB2-A959ABD8CA33}"/>
              </a:ext>
            </a:extLst>
          </p:cNvPr>
          <p:cNvSpPr>
            <a:spLocks noGrp="1"/>
          </p:cNvSpPr>
          <p:nvPr>
            <p:ph type="sldNum" sz="quarter" idx="12"/>
          </p:nvPr>
        </p:nvSpPr>
        <p:spPr/>
        <p:txBody>
          <a:body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2752479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42F768-EF22-7867-BEF7-6F0B8035DF8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8310AF0D-8EB6-44B3-22E6-563DBEF3914D}"/>
              </a:ext>
            </a:extLst>
          </p:cNvPr>
          <p:cNvSpPr>
            <a:spLocks noGrp="1"/>
          </p:cNvSpPr>
          <p:nvPr>
            <p:ph type="dt" sz="half" idx="10"/>
          </p:nvPr>
        </p:nvSpPr>
        <p:spPr/>
        <p:txBody>
          <a:bodyPr/>
          <a:lstStyle/>
          <a:p>
            <a:fld id="{C73E9A17-AFEC-C74D-9C70-72996438B0AB}" type="datetimeFigureOut">
              <a:rPr kumimoji="1" lang="zh-TW" altLang="en-US" smtClean="0"/>
              <a:t>2025/12/19</a:t>
            </a:fld>
            <a:endParaRPr kumimoji="1" lang="zh-TW" altLang="en-US"/>
          </a:p>
        </p:txBody>
      </p:sp>
      <p:sp>
        <p:nvSpPr>
          <p:cNvPr id="4" name="頁尾版面配置區 3">
            <a:extLst>
              <a:ext uri="{FF2B5EF4-FFF2-40B4-BE49-F238E27FC236}">
                <a16:creationId xmlns:a16="http://schemas.microsoft.com/office/drawing/2014/main" id="{C398A3E3-F6D8-67E4-F77A-9D8BAA5E9E14}"/>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D9F90734-1B79-0ECE-F3D1-5FC0B0A8D4CA}"/>
              </a:ext>
            </a:extLst>
          </p:cNvPr>
          <p:cNvSpPr>
            <a:spLocks noGrp="1"/>
          </p:cNvSpPr>
          <p:nvPr>
            <p:ph type="sldNum" sz="quarter" idx="12"/>
          </p:nvPr>
        </p:nvSpPr>
        <p:spPr/>
        <p:txBody>
          <a:body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979183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FDA6D3CA-8387-0294-A5AD-4E5F3E634D64}"/>
              </a:ext>
            </a:extLst>
          </p:cNvPr>
          <p:cNvSpPr>
            <a:spLocks noGrp="1"/>
          </p:cNvSpPr>
          <p:nvPr>
            <p:ph type="dt" sz="half" idx="10"/>
          </p:nvPr>
        </p:nvSpPr>
        <p:spPr/>
        <p:txBody>
          <a:bodyPr/>
          <a:lstStyle/>
          <a:p>
            <a:fld id="{C73E9A17-AFEC-C74D-9C70-72996438B0AB}" type="datetimeFigureOut">
              <a:rPr kumimoji="1" lang="zh-TW" altLang="en-US" smtClean="0"/>
              <a:t>2025/12/19</a:t>
            </a:fld>
            <a:endParaRPr kumimoji="1" lang="zh-TW" altLang="en-US"/>
          </a:p>
        </p:txBody>
      </p:sp>
      <p:sp>
        <p:nvSpPr>
          <p:cNvPr id="3" name="頁尾版面配置區 2">
            <a:extLst>
              <a:ext uri="{FF2B5EF4-FFF2-40B4-BE49-F238E27FC236}">
                <a16:creationId xmlns:a16="http://schemas.microsoft.com/office/drawing/2014/main" id="{35E7DF48-4FE4-B7E1-9A5C-6CCB62D65D84}"/>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28A34963-90FF-246E-BFB4-6F7B00B370CE}"/>
              </a:ext>
            </a:extLst>
          </p:cNvPr>
          <p:cNvSpPr>
            <a:spLocks noGrp="1"/>
          </p:cNvSpPr>
          <p:nvPr>
            <p:ph type="sldNum" sz="quarter" idx="12"/>
          </p:nvPr>
        </p:nvSpPr>
        <p:spPr/>
        <p:txBody>
          <a:body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3855647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4867A1-6D17-EEE4-8265-11BEF19CAD1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DDBA2A0-76F7-DD88-C589-30C1FBDB0F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D30C24ED-00F3-2526-879E-2DACD2AF8E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A2197AB8-E10D-CA20-7C10-E4A94F8D3524}"/>
              </a:ext>
            </a:extLst>
          </p:cNvPr>
          <p:cNvSpPr>
            <a:spLocks noGrp="1"/>
          </p:cNvSpPr>
          <p:nvPr>
            <p:ph type="dt" sz="half" idx="10"/>
          </p:nvPr>
        </p:nvSpPr>
        <p:spPr/>
        <p:txBody>
          <a:bodyPr/>
          <a:lstStyle/>
          <a:p>
            <a:fld id="{C73E9A17-AFEC-C74D-9C70-72996438B0AB}" type="datetimeFigureOut">
              <a:rPr kumimoji="1" lang="zh-TW" altLang="en-US" smtClean="0"/>
              <a:t>2025/12/19</a:t>
            </a:fld>
            <a:endParaRPr kumimoji="1" lang="zh-TW" altLang="en-US"/>
          </a:p>
        </p:txBody>
      </p:sp>
      <p:sp>
        <p:nvSpPr>
          <p:cNvPr id="6" name="頁尾版面配置區 5">
            <a:extLst>
              <a:ext uri="{FF2B5EF4-FFF2-40B4-BE49-F238E27FC236}">
                <a16:creationId xmlns:a16="http://schemas.microsoft.com/office/drawing/2014/main" id="{4DBC8EF9-09A9-BA58-57FE-9320666F461A}"/>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DF0FCA3B-FF50-EC74-35C0-761C43610B04}"/>
              </a:ext>
            </a:extLst>
          </p:cNvPr>
          <p:cNvSpPr>
            <a:spLocks noGrp="1"/>
          </p:cNvSpPr>
          <p:nvPr>
            <p:ph type="sldNum" sz="quarter" idx="12"/>
          </p:nvPr>
        </p:nvSpPr>
        <p:spPr/>
        <p:txBody>
          <a:body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2589878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60876D-5C2A-37A2-958E-5FC699710E57}"/>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23366527-AD0B-B988-42E0-3F8C4322D9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A22B6535-4A69-74D9-1AFC-1F6C920D59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BCADA30-D333-7D1E-62FC-7F1B280B8FD7}"/>
              </a:ext>
            </a:extLst>
          </p:cNvPr>
          <p:cNvSpPr>
            <a:spLocks noGrp="1"/>
          </p:cNvSpPr>
          <p:nvPr>
            <p:ph type="dt" sz="half" idx="10"/>
          </p:nvPr>
        </p:nvSpPr>
        <p:spPr/>
        <p:txBody>
          <a:bodyPr/>
          <a:lstStyle/>
          <a:p>
            <a:fld id="{C73E9A17-AFEC-C74D-9C70-72996438B0AB}" type="datetimeFigureOut">
              <a:rPr kumimoji="1" lang="zh-TW" altLang="en-US" smtClean="0"/>
              <a:t>2025/12/19</a:t>
            </a:fld>
            <a:endParaRPr kumimoji="1" lang="zh-TW" altLang="en-US"/>
          </a:p>
        </p:txBody>
      </p:sp>
      <p:sp>
        <p:nvSpPr>
          <p:cNvPr id="6" name="頁尾版面配置區 5">
            <a:extLst>
              <a:ext uri="{FF2B5EF4-FFF2-40B4-BE49-F238E27FC236}">
                <a16:creationId xmlns:a16="http://schemas.microsoft.com/office/drawing/2014/main" id="{5291496B-8EDC-BD6A-1188-67CDD65254D6}"/>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E12FC920-51A3-7C2E-84A2-158275A394FC}"/>
              </a:ext>
            </a:extLst>
          </p:cNvPr>
          <p:cNvSpPr>
            <a:spLocks noGrp="1"/>
          </p:cNvSpPr>
          <p:nvPr>
            <p:ph type="sldNum" sz="quarter" idx="12"/>
          </p:nvPr>
        </p:nvSpPr>
        <p:spPr/>
        <p:txBody>
          <a:body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413345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E1BDB2-7447-77CA-BCF4-A10CBDD5F624}"/>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EA43C0E5-B8EA-2582-D806-EAD81908C25A}"/>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C5C6C55E-06A8-7C19-B0E7-BCAC78DF54E0}"/>
              </a:ext>
            </a:extLst>
          </p:cNvPr>
          <p:cNvSpPr>
            <a:spLocks noGrp="1"/>
          </p:cNvSpPr>
          <p:nvPr>
            <p:ph type="dt" sz="half" idx="10"/>
          </p:nvPr>
        </p:nvSpPr>
        <p:spPr/>
        <p:txBody>
          <a:bodyPr/>
          <a:lstStyle/>
          <a:p>
            <a:fld id="{C73E9A17-AFEC-C74D-9C70-72996438B0AB}" type="datetimeFigureOut">
              <a:rPr kumimoji="1" lang="zh-TW" altLang="en-US" smtClean="0"/>
              <a:t>2025/12/19</a:t>
            </a:fld>
            <a:endParaRPr kumimoji="1" lang="zh-TW" altLang="en-US"/>
          </a:p>
        </p:txBody>
      </p:sp>
      <p:sp>
        <p:nvSpPr>
          <p:cNvPr id="5" name="頁尾版面配置區 4">
            <a:extLst>
              <a:ext uri="{FF2B5EF4-FFF2-40B4-BE49-F238E27FC236}">
                <a16:creationId xmlns:a16="http://schemas.microsoft.com/office/drawing/2014/main" id="{06325430-D69A-DD03-743B-4FDA5650ABA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599D4DB-0F11-0A80-E618-E5F455EE4B47}"/>
              </a:ext>
            </a:extLst>
          </p:cNvPr>
          <p:cNvSpPr>
            <a:spLocks noGrp="1"/>
          </p:cNvSpPr>
          <p:nvPr>
            <p:ph type="sldNum" sz="quarter" idx="12"/>
          </p:nvPr>
        </p:nvSpPr>
        <p:spPr/>
        <p:txBody>
          <a:body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3736713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6D433F5-8FC6-FD0D-2AF2-7C8DB3C926F6}"/>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57342C38-B346-9A1F-F780-939C81FCFE69}"/>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FD34D5EB-C4B7-E6AA-5491-ECEF6D1D6F86}"/>
              </a:ext>
            </a:extLst>
          </p:cNvPr>
          <p:cNvSpPr>
            <a:spLocks noGrp="1"/>
          </p:cNvSpPr>
          <p:nvPr>
            <p:ph type="dt" sz="half" idx="10"/>
          </p:nvPr>
        </p:nvSpPr>
        <p:spPr/>
        <p:txBody>
          <a:bodyPr/>
          <a:lstStyle/>
          <a:p>
            <a:fld id="{C73E9A17-AFEC-C74D-9C70-72996438B0AB}" type="datetimeFigureOut">
              <a:rPr kumimoji="1" lang="zh-TW" altLang="en-US" smtClean="0"/>
              <a:t>2025/12/19</a:t>
            </a:fld>
            <a:endParaRPr kumimoji="1" lang="zh-TW" altLang="en-US"/>
          </a:p>
        </p:txBody>
      </p:sp>
      <p:sp>
        <p:nvSpPr>
          <p:cNvPr id="5" name="頁尾版面配置區 4">
            <a:extLst>
              <a:ext uri="{FF2B5EF4-FFF2-40B4-BE49-F238E27FC236}">
                <a16:creationId xmlns:a16="http://schemas.microsoft.com/office/drawing/2014/main" id="{ED48B40F-7B65-0E3F-AA2F-B48279FD82D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C09A952-9701-E5B3-C2E8-0DFF735276B8}"/>
              </a:ext>
            </a:extLst>
          </p:cNvPr>
          <p:cNvSpPr>
            <a:spLocks noGrp="1"/>
          </p:cNvSpPr>
          <p:nvPr>
            <p:ph type="sldNum" sz="quarter" idx="12"/>
          </p:nvPr>
        </p:nvSpPr>
        <p:spPr/>
        <p:txBody>
          <a:body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1682118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3BE8756-34D8-9DA2-EA2D-2AAC868E9A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40EC176C-7C93-88A3-4890-A42D95945B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32652FC-9D1D-6B0D-FB45-5E3DC67F45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3E9A17-AFEC-C74D-9C70-72996438B0AB}" type="datetimeFigureOut">
              <a:rPr kumimoji="1" lang="zh-TW" altLang="en-US" smtClean="0"/>
              <a:t>2025/12/19</a:t>
            </a:fld>
            <a:endParaRPr kumimoji="1" lang="zh-TW" altLang="en-US"/>
          </a:p>
        </p:txBody>
      </p:sp>
      <p:sp>
        <p:nvSpPr>
          <p:cNvPr id="5" name="頁尾版面配置區 4">
            <a:extLst>
              <a:ext uri="{FF2B5EF4-FFF2-40B4-BE49-F238E27FC236}">
                <a16:creationId xmlns:a16="http://schemas.microsoft.com/office/drawing/2014/main" id="{F192FAB0-0C43-171A-D23E-73D9EBADE8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C942EB0-7592-8EDB-89C5-8A7C2124AF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3365A-1F5D-B746-9D75-4E383EE10DEE}" type="slidenum">
              <a:rPr kumimoji="1" lang="zh-TW" altLang="en-US" smtClean="0"/>
              <a:t>‹#›</a:t>
            </a:fld>
            <a:endParaRPr kumimoji="1" lang="zh-TW" altLang="en-US"/>
          </a:p>
        </p:txBody>
      </p:sp>
    </p:spTree>
    <p:extLst>
      <p:ext uri="{BB962C8B-B14F-4D97-AF65-F5344CB8AC3E}">
        <p14:creationId xmlns:p14="http://schemas.microsoft.com/office/powerpoint/2010/main" val="1117072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nltk.org/api/nltk.chat.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spacy.io/"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spacy.io/models/zh"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universaldependencies.org/" TargetMode="External"/><Relationship Id="rId1" Type="http://schemas.openxmlformats.org/officeDocument/2006/relationships/slideLayout" Target="../slideLayouts/slideLayout2.xml"/><Relationship Id="rId4" Type="http://schemas.openxmlformats.org/officeDocument/2006/relationships/hyperlink" Target="https://melaniewalsh.github.io/Intro-Cultural-Analytics/05-Text-Analysis/Multilingual/Chinese/03-POS-Keywords-Chinese.html#spacy-part-of-speech-taggin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spacy.io/api/top-level#displacy"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pacy.io/models/zh#zh_core_web_md" TargetMode="External"/><Relationship Id="rId1" Type="http://schemas.openxmlformats.org/officeDocument/2006/relationships/slideLayout" Target="../slideLayouts/slideLayout2.xml"/><Relationship Id="rId4" Type="http://schemas.openxmlformats.org/officeDocument/2006/relationships/hyperlink" Target="https://demos.explosion.ai/displacy-en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clips.uantwerpen.be/conll2003/ner/"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paperswithcode.com/sota/named-entity-recognition-ner-on-conll-2003"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github.com/leonjyentub/practical-nlp-code/blob/master/Ch5/02_NERTraining.ipynb"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8392F6-4A86-30B7-FB0A-799E4EC8F31B}"/>
              </a:ext>
            </a:extLst>
          </p:cNvPr>
          <p:cNvSpPr>
            <a:spLocks noGrp="1"/>
          </p:cNvSpPr>
          <p:nvPr>
            <p:ph type="ctrTitle"/>
          </p:nvPr>
        </p:nvSpPr>
        <p:spPr/>
        <p:txBody>
          <a:bodyPr/>
          <a:lstStyle/>
          <a:p>
            <a:r>
              <a:rPr kumimoji="1" lang="zh-TW" altLang="en-US" dirty="0"/>
              <a:t>自然語言處理中的詞性（</a:t>
            </a:r>
            <a:r>
              <a:rPr kumimoji="1" lang="en" altLang="zh-TW" dirty="0"/>
              <a:t>POS</a:t>
            </a:r>
            <a:r>
              <a:rPr kumimoji="1" lang="zh-TW" altLang="en" dirty="0"/>
              <a:t>）</a:t>
            </a:r>
            <a:r>
              <a:rPr kumimoji="1" lang="zh-TW" altLang="en-US" dirty="0"/>
              <a:t>標注</a:t>
            </a:r>
          </a:p>
        </p:txBody>
      </p:sp>
      <p:sp>
        <p:nvSpPr>
          <p:cNvPr id="3" name="副標題 2">
            <a:extLst>
              <a:ext uri="{FF2B5EF4-FFF2-40B4-BE49-F238E27FC236}">
                <a16:creationId xmlns:a16="http://schemas.microsoft.com/office/drawing/2014/main" id="{1128270E-28AA-E11C-CCDF-4AFFAFF8363C}"/>
              </a:ext>
            </a:extLst>
          </p:cNvPr>
          <p:cNvSpPr>
            <a:spLocks noGrp="1"/>
          </p:cNvSpPr>
          <p:nvPr>
            <p:ph type="subTitle" idx="1"/>
          </p:nvPr>
        </p:nvSpPr>
        <p:spPr/>
        <p:txBody>
          <a:bodyPr/>
          <a:lstStyle/>
          <a:p>
            <a:r>
              <a:rPr kumimoji="1" lang="en" altLang="zh-TW" dirty="0"/>
              <a:t>Parts of Speech (POS) Tagging in Natural Language Processing</a:t>
            </a:r>
            <a:endParaRPr kumimoji="1" lang="zh-TW" altLang="en-US" dirty="0"/>
          </a:p>
        </p:txBody>
      </p:sp>
    </p:spTree>
    <p:extLst>
      <p:ext uri="{BB962C8B-B14F-4D97-AF65-F5344CB8AC3E}">
        <p14:creationId xmlns:p14="http://schemas.microsoft.com/office/powerpoint/2010/main" val="333386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E6B754-E86C-2296-38A2-996498E2281C}"/>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endParaRPr kumimoji="1" lang="zh-TW" altLang="en-US" dirty="0"/>
          </a:p>
        </p:txBody>
      </p:sp>
      <p:sp>
        <p:nvSpPr>
          <p:cNvPr id="3" name="內容版面配置區 2">
            <a:extLst>
              <a:ext uri="{FF2B5EF4-FFF2-40B4-BE49-F238E27FC236}">
                <a16:creationId xmlns:a16="http://schemas.microsoft.com/office/drawing/2014/main" id="{DE8BAF1C-A4AC-0B5D-F6CE-C654D1E46C70}"/>
              </a:ext>
            </a:extLst>
          </p:cNvPr>
          <p:cNvSpPr>
            <a:spLocks noGrp="1"/>
          </p:cNvSpPr>
          <p:nvPr>
            <p:ph idx="1"/>
          </p:nvPr>
        </p:nvSpPr>
        <p:spPr/>
        <p:txBody>
          <a:bodyPr/>
          <a:lstStyle/>
          <a:p>
            <a:r>
              <a:rPr kumimoji="1" lang="zh-TW" altLang="en-US" dirty="0"/>
              <a:t>詞性 </a:t>
            </a:r>
            <a:r>
              <a:rPr kumimoji="1" lang="en-US" altLang="zh-TW" dirty="0"/>
              <a:t>(</a:t>
            </a:r>
            <a:r>
              <a:rPr kumimoji="1" lang="en" altLang="zh-TW" dirty="0"/>
              <a:t>POS) </a:t>
            </a:r>
            <a:r>
              <a:rPr kumimoji="1" lang="zh-TW" altLang="en-US" dirty="0"/>
              <a:t>標注是自然語言處理 </a:t>
            </a:r>
            <a:r>
              <a:rPr kumimoji="1" lang="en-US" altLang="zh-TW" dirty="0"/>
              <a:t>(</a:t>
            </a:r>
            <a:r>
              <a:rPr kumimoji="1" lang="en" altLang="zh-TW" dirty="0"/>
              <a:t>NLP) </a:t>
            </a:r>
            <a:r>
              <a:rPr kumimoji="1" lang="zh-TW" altLang="en-US" dirty="0"/>
              <a:t>中的一項基本任務，涉及為句子中的每個單字分配語法類別（例如名詞、動詞、形容詞等）。</a:t>
            </a:r>
            <a:endParaRPr kumimoji="1" lang="en-US" altLang="zh-TW" dirty="0"/>
          </a:p>
          <a:p>
            <a:r>
              <a:rPr kumimoji="1" lang="zh-TW" altLang="en-US" dirty="0"/>
              <a:t>目標是理解句子的句法結構並識別各個單字的語法角色。</a:t>
            </a:r>
            <a:endParaRPr kumimoji="1" lang="en-US" altLang="zh-TW" dirty="0"/>
          </a:p>
          <a:p>
            <a:r>
              <a:rPr kumimoji="1" lang="zh-TW" altLang="en-US" dirty="0"/>
              <a:t>詞性標註為各種 </a:t>
            </a:r>
            <a:r>
              <a:rPr kumimoji="1" lang="en" altLang="zh-TW" dirty="0"/>
              <a:t>NLP </a:t>
            </a:r>
            <a:r>
              <a:rPr kumimoji="1" lang="zh-TW" altLang="en-US" dirty="0"/>
              <a:t>應用提供必要的訊息，包括文字分析、機器翻譯和資訊檢索。</a:t>
            </a:r>
            <a:endParaRPr kumimoji="1" lang="en-US" altLang="zh-TW" dirty="0"/>
          </a:p>
          <a:p>
            <a:r>
              <a:rPr kumimoji="1" lang="en" altLang="zh-TW" dirty="0"/>
              <a:t>POS Tags</a:t>
            </a:r>
            <a:r>
              <a:rPr kumimoji="1" lang="zh-TW" altLang="en" dirty="0"/>
              <a:t>：</a:t>
            </a:r>
            <a:r>
              <a:rPr kumimoji="1" lang="zh-TW" altLang="en-US" dirty="0"/>
              <a:t>代表特定詞性的短代碼</a:t>
            </a:r>
            <a:endParaRPr kumimoji="1" lang="en-US" altLang="zh-TW" dirty="0"/>
          </a:p>
          <a:p>
            <a:endParaRPr kumimoji="1" lang="en-US" altLang="zh-TW" dirty="0"/>
          </a:p>
          <a:p>
            <a:pPr lvl="1"/>
            <a:endParaRPr kumimoji="1" lang="zh-TW" altLang="en-US" dirty="0"/>
          </a:p>
        </p:txBody>
      </p:sp>
      <p:graphicFrame>
        <p:nvGraphicFramePr>
          <p:cNvPr id="5" name="表格 4">
            <a:extLst>
              <a:ext uri="{FF2B5EF4-FFF2-40B4-BE49-F238E27FC236}">
                <a16:creationId xmlns:a16="http://schemas.microsoft.com/office/drawing/2014/main" id="{DDB9BC0C-1F01-9028-F08C-EEFF364C7902}"/>
              </a:ext>
            </a:extLst>
          </p:cNvPr>
          <p:cNvGraphicFramePr>
            <a:graphicFrameLocks noGrp="1"/>
          </p:cNvGraphicFramePr>
          <p:nvPr>
            <p:extLst>
              <p:ext uri="{D42A27DB-BD31-4B8C-83A1-F6EECF244321}">
                <p14:modId xmlns:p14="http://schemas.microsoft.com/office/powerpoint/2010/main" val="2607503158"/>
              </p:ext>
            </p:extLst>
          </p:nvPr>
        </p:nvGraphicFramePr>
        <p:xfrm>
          <a:off x="2675571" y="4697095"/>
          <a:ext cx="3420429" cy="1854200"/>
        </p:xfrm>
        <a:graphic>
          <a:graphicData uri="http://schemas.openxmlformats.org/drawingml/2006/table">
            <a:tbl>
              <a:tblPr firstRow="1" bandRow="1">
                <a:tableStyleId>{5C22544A-7EE6-4342-B048-85BDC9FD1C3A}</a:tableStyleId>
              </a:tblPr>
              <a:tblGrid>
                <a:gridCol w="1075691">
                  <a:extLst>
                    <a:ext uri="{9D8B030D-6E8A-4147-A177-3AD203B41FA5}">
                      <a16:colId xmlns:a16="http://schemas.microsoft.com/office/drawing/2014/main" val="652579199"/>
                    </a:ext>
                  </a:extLst>
                </a:gridCol>
                <a:gridCol w="1642745">
                  <a:extLst>
                    <a:ext uri="{9D8B030D-6E8A-4147-A177-3AD203B41FA5}">
                      <a16:colId xmlns:a16="http://schemas.microsoft.com/office/drawing/2014/main" val="4190937800"/>
                    </a:ext>
                  </a:extLst>
                </a:gridCol>
                <a:gridCol w="701993">
                  <a:extLst>
                    <a:ext uri="{9D8B030D-6E8A-4147-A177-3AD203B41FA5}">
                      <a16:colId xmlns:a16="http://schemas.microsoft.com/office/drawing/2014/main" val="2281885418"/>
                    </a:ext>
                  </a:extLst>
                </a:gridCol>
              </a:tblGrid>
              <a:tr h="370840">
                <a:tc>
                  <a:txBody>
                    <a:bodyPr/>
                    <a:lstStyle/>
                    <a:p>
                      <a:r>
                        <a:rPr lang="zh-TW" altLang="en-US" dirty="0"/>
                        <a:t>標籤</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標籤</a:t>
                      </a:r>
                    </a:p>
                  </a:txBody>
                  <a:tcPr/>
                </a:tc>
                <a:tc>
                  <a:txBody>
                    <a:bodyPr/>
                    <a:lstStyle/>
                    <a:p>
                      <a:r>
                        <a:rPr lang="zh-TW" altLang="en-US" dirty="0"/>
                        <a:t>代碼</a:t>
                      </a:r>
                    </a:p>
                  </a:txBody>
                  <a:tcPr/>
                </a:tc>
                <a:extLst>
                  <a:ext uri="{0D108BD9-81ED-4DB2-BD59-A6C34878D82A}">
                    <a16:rowId xmlns:a16="http://schemas.microsoft.com/office/drawing/2014/main" val="3829480560"/>
                  </a:ext>
                </a:extLst>
              </a:tr>
              <a:tr h="370840">
                <a:tc>
                  <a:txBody>
                    <a:bodyPr/>
                    <a:lstStyle/>
                    <a:p>
                      <a:r>
                        <a:rPr lang="zh-TW" altLang="en-US" sz="1800" b="0" i="0" kern="1200" dirty="0">
                          <a:solidFill>
                            <a:schemeClr val="dk1"/>
                          </a:solidFill>
                          <a:effectLst/>
                          <a:latin typeface="+mn-lt"/>
                          <a:ea typeface="+mn-ea"/>
                          <a:cs typeface="+mn-cs"/>
                        </a:rPr>
                        <a:t>名詞</a:t>
                      </a:r>
                      <a:endParaRPr lang="zh-TW" altLang="en-US" dirty="0"/>
                    </a:p>
                  </a:txBody>
                  <a:tcPr/>
                </a:tc>
                <a:tc>
                  <a:txBody>
                    <a:bodyPr/>
                    <a:lstStyle/>
                    <a:p>
                      <a:r>
                        <a:rPr lang="en" altLang="zh-TW" dirty="0"/>
                        <a:t>Noun</a:t>
                      </a:r>
                    </a:p>
                  </a:txBody>
                  <a:tcPr/>
                </a:tc>
                <a:tc>
                  <a:txBody>
                    <a:bodyPr/>
                    <a:lstStyle/>
                    <a:p>
                      <a:r>
                        <a:rPr lang="en-US" altLang="zh-TW" dirty="0"/>
                        <a:t>NN</a:t>
                      </a:r>
                      <a:endParaRPr lang="zh-TW" altLang="en-US" dirty="0"/>
                    </a:p>
                  </a:txBody>
                  <a:tcPr/>
                </a:tc>
                <a:extLst>
                  <a:ext uri="{0D108BD9-81ED-4DB2-BD59-A6C34878D82A}">
                    <a16:rowId xmlns:a16="http://schemas.microsoft.com/office/drawing/2014/main" val="818919772"/>
                  </a:ext>
                </a:extLst>
              </a:tr>
              <a:tr h="370840">
                <a:tc>
                  <a:txBody>
                    <a:bodyPr/>
                    <a:lstStyle/>
                    <a:p>
                      <a:r>
                        <a:rPr lang="zh-TW" altLang="en-US" dirty="0"/>
                        <a:t>動詞</a:t>
                      </a:r>
                      <a:endParaRPr lang="en" altLang="zh-TW" dirty="0"/>
                    </a:p>
                  </a:txBody>
                  <a:tcPr/>
                </a:tc>
                <a:tc>
                  <a:txBody>
                    <a:bodyPr/>
                    <a:lstStyle/>
                    <a:p>
                      <a:r>
                        <a:rPr lang="en" altLang="zh-TW" dirty="0"/>
                        <a:t>Verb</a:t>
                      </a:r>
                    </a:p>
                  </a:txBody>
                  <a:tcPr/>
                </a:tc>
                <a:tc>
                  <a:txBody>
                    <a:bodyPr/>
                    <a:lstStyle/>
                    <a:p>
                      <a:r>
                        <a:rPr lang="en-US" altLang="zh-TW" dirty="0"/>
                        <a:t>VB</a:t>
                      </a:r>
                      <a:endParaRPr lang="zh-TW" altLang="en-US" dirty="0"/>
                    </a:p>
                  </a:txBody>
                  <a:tcPr/>
                </a:tc>
                <a:extLst>
                  <a:ext uri="{0D108BD9-81ED-4DB2-BD59-A6C34878D82A}">
                    <a16:rowId xmlns:a16="http://schemas.microsoft.com/office/drawing/2014/main" val="580406895"/>
                  </a:ext>
                </a:extLst>
              </a:tr>
              <a:tr h="370840">
                <a:tc>
                  <a:txBody>
                    <a:bodyPr/>
                    <a:lstStyle/>
                    <a:p>
                      <a:r>
                        <a:rPr lang="zh-TW" altLang="en-US" dirty="0"/>
                        <a:t>形容詞</a:t>
                      </a:r>
                      <a:endParaRPr lang="en" altLang="zh-TW" dirty="0"/>
                    </a:p>
                  </a:txBody>
                  <a:tcPr/>
                </a:tc>
                <a:tc>
                  <a:txBody>
                    <a:bodyPr/>
                    <a:lstStyle/>
                    <a:p>
                      <a:r>
                        <a:rPr lang="en" altLang="zh-TW" dirty="0"/>
                        <a:t>Adjective</a:t>
                      </a:r>
                    </a:p>
                  </a:txBody>
                  <a:tcPr/>
                </a:tc>
                <a:tc>
                  <a:txBody>
                    <a:bodyPr/>
                    <a:lstStyle/>
                    <a:p>
                      <a:r>
                        <a:rPr lang="en-US" altLang="zh-TW" dirty="0"/>
                        <a:t>JJ</a:t>
                      </a:r>
                      <a:endParaRPr lang="zh-TW" altLang="en-US" dirty="0"/>
                    </a:p>
                  </a:txBody>
                  <a:tcPr/>
                </a:tc>
                <a:extLst>
                  <a:ext uri="{0D108BD9-81ED-4DB2-BD59-A6C34878D82A}">
                    <a16:rowId xmlns:a16="http://schemas.microsoft.com/office/drawing/2014/main" val="2503551286"/>
                  </a:ext>
                </a:extLst>
              </a:tr>
              <a:tr h="370840">
                <a:tc>
                  <a:txBody>
                    <a:bodyPr/>
                    <a:lstStyle/>
                    <a:p>
                      <a:r>
                        <a:rPr lang="zh-TW" altLang="en-US" dirty="0"/>
                        <a:t>副詞</a:t>
                      </a:r>
                      <a:endParaRPr lang="en" altLang="zh-TW" dirty="0"/>
                    </a:p>
                  </a:txBody>
                  <a:tcPr/>
                </a:tc>
                <a:tc>
                  <a:txBody>
                    <a:bodyPr/>
                    <a:lstStyle/>
                    <a:p>
                      <a:r>
                        <a:rPr lang="en" altLang="zh-TW" dirty="0"/>
                        <a:t>Adverb (RB)</a:t>
                      </a:r>
                    </a:p>
                  </a:txBody>
                  <a:tcPr/>
                </a:tc>
                <a:tc>
                  <a:txBody>
                    <a:bodyPr/>
                    <a:lstStyle/>
                    <a:p>
                      <a:r>
                        <a:rPr lang="en-US" altLang="zh-TW" dirty="0"/>
                        <a:t>RB</a:t>
                      </a:r>
                      <a:endParaRPr lang="zh-TW" altLang="en-US" dirty="0"/>
                    </a:p>
                  </a:txBody>
                  <a:tcPr/>
                </a:tc>
                <a:extLst>
                  <a:ext uri="{0D108BD9-81ED-4DB2-BD59-A6C34878D82A}">
                    <a16:rowId xmlns:a16="http://schemas.microsoft.com/office/drawing/2014/main" val="2614433492"/>
                  </a:ext>
                </a:extLst>
              </a:tr>
            </a:tbl>
          </a:graphicData>
        </a:graphic>
      </p:graphicFrame>
      <p:graphicFrame>
        <p:nvGraphicFramePr>
          <p:cNvPr id="6" name="表格 5">
            <a:extLst>
              <a:ext uri="{FF2B5EF4-FFF2-40B4-BE49-F238E27FC236}">
                <a16:creationId xmlns:a16="http://schemas.microsoft.com/office/drawing/2014/main" id="{8D2E393E-66A8-5D02-E453-F56E9046018E}"/>
              </a:ext>
            </a:extLst>
          </p:cNvPr>
          <p:cNvGraphicFramePr>
            <a:graphicFrameLocks noGrp="1"/>
          </p:cNvGraphicFramePr>
          <p:nvPr>
            <p:extLst>
              <p:ext uri="{D42A27DB-BD31-4B8C-83A1-F6EECF244321}">
                <p14:modId xmlns:p14="http://schemas.microsoft.com/office/powerpoint/2010/main" val="3790302939"/>
              </p:ext>
            </p:extLst>
          </p:nvPr>
        </p:nvGraphicFramePr>
        <p:xfrm>
          <a:off x="6600284" y="4326255"/>
          <a:ext cx="3420429" cy="2225040"/>
        </p:xfrm>
        <a:graphic>
          <a:graphicData uri="http://schemas.openxmlformats.org/drawingml/2006/table">
            <a:tbl>
              <a:tblPr firstRow="1" bandRow="1">
                <a:tableStyleId>{5C22544A-7EE6-4342-B048-85BDC9FD1C3A}</a:tableStyleId>
              </a:tblPr>
              <a:tblGrid>
                <a:gridCol w="1071755">
                  <a:extLst>
                    <a:ext uri="{9D8B030D-6E8A-4147-A177-3AD203B41FA5}">
                      <a16:colId xmlns:a16="http://schemas.microsoft.com/office/drawing/2014/main" val="652579199"/>
                    </a:ext>
                  </a:extLst>
                </a:gridCol>
                <a:gridCol w="1646681">
                  <a:extLst>
                    <a:ext uri="{9D8B030D-6E8A-4147-A177-3AD203B41FA5}">
                      <a16:colId xmlns:a16="http://schemas.microsoft.com/office/drawing/2014/main" val="4190937800"/>
                    </a:ext>
                  </a:extLst>
                </a:gridCol>
                <a:gridCol w="701993">
                  <a:extLst>
                    <a:ext uri="{9D8B030D-6E8A-4147-A177-3AD203B41FA5}">
                      <a16:colId xmlns:a16="http://schemas.microsoft.com/office/drawing/2014/main" val="2281885418"/>
                    </a:ext>
                  </a:extLst>
                </a:gridCol>
              </a:tblGrid>
              <a:tr h="370840">
                <a:tc>
                  <a:txBody>
                    <a:bodyPr/>
                    <a:lstStyle/>
                    <a:p>
                      <a:r>
                        <a:rPr lang="zh-TW" altLang="en-US" dirty="0"/>
                        <a:t>標籤</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標籤</a:t>
                      </a:r>
                    </a:p>
                  </a:txBody>
                  <a:tcPr/>
                </a:tc>
                <a:tc>
                  <a:txBody>
                    <a:bodyPr/>
                    <a:lstStyle/>
                    <a:p>
                      <a:r>
                        <a:rPr lang="zh-TW" altLang="en-US" dirty="0"/>
                        <a:t>代碼</a:t>
                      </a:r>
                    </a:p>
                  </a:txBody>
                  <a:tcPr/>
                </a:tc>
                <a:extLst>
                  <a:ext uri="{0D108BD9-81ED-4DB2-BD59-A6C34878D82A}">
                    <a16:rowId xmlns:a16="http://schemas.microsoft.com/office/drawing/2014/main" val="3829480560"/>
                  </a:ext>
                </a:extLst>
              </a:tr>
              <a:tr h="370840">
                <a:tc>
                  <a:txBody>
                    <a:bodyPr/>
                    <a:lstStyle/>
                    <a:p>
                      <a:r>
                        <a:rPr lang="zh-TW" altLang="en-US" dirty="0"/>
                        <a:t>代名詞</a:t>
                      </a:r>
                      <a:endParaRPr lang="en" altLang="zh-TW" dirty="0"/>
                    </a:p>
                  </a:txBody>
                  <a:tcPr/>
                </a:tc>
                <a:tc>
                  <a:txBody>
                    <a:bodyPr/>
                    <a:lstStyle/>
                    <a:p>
                      <a:r>
                        <a:rPr lang="en" altLang="zh-TW" dirty="0"/>
                        <a:t>Pronoun</a:t>
                      </a:r>
                    </a:p>
                  </a:txBody>
                  <a:tcPr/>
                </a:tc>
                <a:tc>
                  <a:txBody>
                    <a:bodyPr/>
                    <a:lstStyle/>
                    <a:p>
                      <a:r>
                        <a:rPr lang="en-US" altLang="zh-TW" dirty="0"/>
                        <a:t>PRP</a:t>
                      </a:r>
                      <a:endParaRPr lang="zh-TW" altLang="en-US" dirty="0"/>
                    </a:p>
                  </a:txBody>
                  <a:tcPr/>
                </a:tc>
                <a:extLst>
                  <a:ext uri="{0D108BD9-81ED-4DB2-BD59-A6C34878D82A}">
                    <a16:rowId xmlns:a16="http://schemas.microsoft.com/office/drawing/2014/main" val="4620091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介詞</a:t>
                      </a:r>
                      <a:endParaRPr lang="en" altLang="zh-TW"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Preposition</a:t>
                      </a:r>
                    </a:p>
                  </a:txBody>
                  <a:tcPr/>
                </a:tc>
                <a:tc>
                  <a:txBody>
                    <a:bodyPr/>
                    <a:lstStyle/>
                    <a:p>
                      <a:r>
                        <a:rPr lang="en-US" altLang="zh-TW" dirty="0"/>
                        <a:t>IN</a:t>
                      </a:r>
                      <a:endParaRPr lang="zh-TW" altLang="en-US" dirty="0"/>
                    </a:p>
                  </a:txBody>
                  <a:tcPr/>
                </a:tc>
                <a:extLst>
                  <a:ext uri="{0D108BD9-81ED-4DB2-BD59-A6C34878D82A}">
                    <a16:rowId xmlns:a16="http://schemas.microsoft.com/office/drawing/2014/main" val="28514773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連接詞</a:t>
                      </a:r>
                      <a:endParaRPr lang="en" altLang="zh-TW"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Conjunction</a:t>
                      </a:r>
                    </a:p>
                  </a:txBody>
                  <a:tcPr/>
                </a:tc>
                <a:tc>
                  <a:txBody>
                    <a:bodyPr/>
                    <a:lstStyle/>
                    <a:p>
                      <a:r>
                        <a:rPr lang="en-US" altLang="zh-TW" dirty="0"/>
                        <a:t>CC</a:t>
                      </a:r>
                      <a:endParaRPr lang="zh-TW" altLang="en-US" dirty="0"/>
                    </a:p>
                  </a:txBody>
                  <a:tcPr/>
                </a:tc>
                <a:extLst>
                  <a:ext uri="{0D108BD9-81ED-4DB2-BD59-A6C34878D82A}">
                    <a16:rowId xmlns:a16="http://schemas.microsoft.com/office/drawing/2014/main" val="28661836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限定詞</a:t>
                      </a:r>
                      <a:endParaRPr lang="en" altLang="zh-TW"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Determiner</a:t>
                      </a:r>
                    </a:p>
                  </a:txBody>
                  <a:tcPr/>
                </a:tc>
                <a:tc>
                  <a:txBody>
                    <a:bodyPr/>
                    <a:lstStyle/>
                    <a:p>
                      <a:r>
                        <a:rPr lang="en-US" altLang="zh-TW" dirty="0"/>
                        <a:t>DT</a:t>
                      </a:r>
                      <a:endParaRPr lang="zh-TW" altLang="en-US" dirty="0"/>
                    </a:p>
                  </a:txBody>
                  <a:tcPr/>
                </a:tc>
                <a:extLst>
                  <a:ext uri="{0D108BD9-81ED-4DB2-BD59-A6C34878D82A}">
                    <a16:rowId xmlns:a16="http://schemas.microsoft.com/office/drawing/2014/main" val="1016985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感嘆詞</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Interjection</a:t>
                      </a:r>
                      <a:endParaRPr lang="zh-TW" altLang="en-US" dirty="0"/>
                    </a:p>
                  </a:txBody>
                  <a:tcPr/>
                </a:tc>
                <a:tc>
                  <a:txBody>
                    <a:bodyPr/>
                    <a:lstStyle/>
                    <a:p>
                      <a:r>
                        <a:rPr lang="en-US" altLang="zh-TW" dirty="0"/>
                        <a:t>UH</a:t>
                      </a:r>
                      <a:endParaRPr lang="zh-TW" altLang="en-US" dirty="0"/>
                    </a:p>
                  </a:txBody>
                  <a:tcPr/>
                </a:tc>
                <a:extLst>
                  <a:ext uri="{0D108BD9-81ED-4DB2-BD59-A6C34878D82A}">
                    <a16:rowId xmlns:a16="http://schemas.microsoft.com/office/drawing/2014/main" val="556055183"/>
                  </a:ext>
                </a:extLst>
              </a:tr>
            </a:tbl>
          </a:graphicData>
        </a:graphic>
      </p:graphicFrame>
    </p:spTree>
    <p:extLst>
      <p:ext uri="{BB962C8B-B14F-4D97-AF65-F5344CB8AC3E}">
        <p14:creationId xmlns:p14="http://schemas.microsoft.com/office/powerpoint/2010/main" val="3963840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1717B1-9D17-A6BC-AFD3-3AF048F37C22}"/>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endParaRPr kumimoji="1" lang="zh-TW" altLang="en-US" dirty="0"/>
          </a:p>
        </p:txBody>
      </p:sp>
      <p:sp>
        <p:nvSpPr>
          <p:cNvPr id="3" name="內容版面配置區 2">
            <a:extLst>
              <a:ext uri="{FF2B5EF4-FFF2-40B4-BE49-F238E27FC236}">
                <a16:creationId xmlns:a16="http://schemas.microsoft.com/office/drawing/2014/main" id="{6742D086-8E79-0D43-67F9-8A4468452BA0}"/>
              </a:ext>
            </a:extLst>
          </p:cNvPr>
          <p:cNvSpPr>
            <a:spLocks noGrp="1"/>
          </p:cNvSpPr>
          <p:nvPr>
            <p:ph idx="1"/>
          </p:nvPr>
        </p:nvSpPr>
        <p:spPr>
          <a:xfrm>
            <a:off x="838200" y="1825625"/>
            <a:ext cx="6878444" cy="4351338"/>
          </a:xfrm>
        </p:spPr>
        <p:txBody>
          <a:bodyPr/>
          <a:lstStyle/>
          <a:p>
            <a:r>
              <a:rPr kumimoji="1" lang="zh-TW" altLang="en-US" dirty="0"/>
              <a:t>比方說：</a:t>
            </a:r>
            <a:r>
              <a:rPr kumimoji="1" lang="en" altLang="zh-TW" dirty="0"/>
              <a:t>“The quick brown fox jumps over the lazy dog.”</a:t>
            </a:r>
          </a:p>
          <a:p>
            <a:r>
              <a:rPr kumimoji="1" lang="zh-TW" altLang="en" dirty="0"/>
              <a:t>在</a:t>
            </a:r>
            <a:r>
              <a:rPr kumimoji="1" lang="zh-TW" altLang="en-US" dirty="0"/>
              <a:t>標注的結果可能會是</a:t>
            </a:r>
          </a:p>
        </p:txBody>
      </p:sp>
      <p:graphicFrame>
        <p:nvGraphicFramePr>
          <p:cNvPr id="4" name="表格 3">
            <a:extLst>
              <a:ext uri="{FF2B5EF4-FFF2-40B4-BE49-F238E27FC236}">
                <a16:creationId xmlns:a16="http://schemas.microsoft.com/office/drawing/2014/main" id="{191DCD66-225C-4200-45E9-78FC4851EC69}"/>
              </a:ext>
            </a:extLst>
          </p:cNvPr>
          <p:cNvGraphicFramePr>
            <a:graphicFrameLocks noGrp="1"/>
          </p:cNvGraphicFramePr>
          <p:nvPr>
            <p:extLst>
              <p:ext uri="{D42A27DB-BD31-4B8C-83A1-F6EECF244321}">
                <p14:modId xmlns:p14="http://schemas.microsoft.com/office/powerpoint/2010/main" val="3538390636"/>
              </p:ext>
            </p:extLst>
          </p:nvPr>
        </p:nvGraphicFramePr>
        <p:xfrm>
          <a:off x="7933371" y="681037"/>
          <a:ext cx="3420429" cy="3708400"/>
        </p:xfrm>
        <a:graphic>
          <a:graphicData uri="http://schemas.openxmlformats.org/drawingml/2006/table">
            <a:tbl>
              <a:tblPr firstRow="1" bandRow="1">
                <a:tableStyleId>{5C22544A-7EE6-4342-B048-85BDC9FD1C3A}</a:tableStyleId>
              </a:tblPr>
              <a:tblGrid>
                <a:gridCol w="1075691">
                  <a:extLst>
                    <a:ext uri="{9D8B030D-6E8A-4147-A177-3AD203B41FA5}">
                      <a16:colId xmlns:a16="http://schemas.microsoft.com/office/drawing/2014/main" val="652579199"/>
                    </a:ext>
                  </a:extLst>
                </a:gridCol>
                <a:gridCol w="1642745">
                  <a:extLst>
                    <a:ext uri="{9D8B030D-6E8A-4147-A177-3AD203B41FA5}">
                      <a16:colId xmlns:a16="http://schemas.microsoft.com/office/drawing/2014/main" val="4190937800"/>
                    </a:ext>
                  </a:extLst>
                </a:gridCol>
                <a:gridCol w="701993">
                  <a:extLst>
                    <a:ext uri="{9D8B030D-6E8A-4147-A177-3AD203B41FA5}">
                      <a16:colId xmlns:a16="http://schemas.microsoft.com/office/drawing/2014/main" val="2281885418"/>
                    </a:ext>
                  </a:extLst>
                </a:gridCol>
              </a:tblGrid>
              <a:tr h="370840">
                <a:tc>
                  <a:txBody>
                    <a:bodyPr/>
                    <a:lstStyle/>
                    <a:p>
                      <a:r>
                        <a:rPr lang="zh-TW" altLang="en-US" dirty="0"/>
                        <a:t>標籤</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標籤</a:t>
                      </a:r>
                    </a:p>
                  </a:txBody>
                  <a:tcPr/>
                </a:tc>
                <a:tc>
                  <a:txBody>
                    <a:bodyPr/>
                    <a:lstStyle/>
                    <a:p>
                      <a:r>
                        <a:rPr lang="zh-TW" altLang="en-US" dirty="0"/>
                        <a:t>代碼</a:t>
                      </a:r>
                    </a:p>
                  </a:txBody>
                  <a:tcPr/>
                </a:tc>
                <a:extLst>
                  <a:ext uri="{0D108BD9-81ED-4DB2-BD59-A6C34878D82A}">
                    <a16:rowId xmlns:a16="http://schemas.microsoft.com/office/drawing/2014/main" val="3829480560"/>
                  </a:ext>
                </a:extLst>
              </a:tr>
              <a:tr h="370840">
                <a:tc>
                  <a:txBody>
                    <a:bodyPr/>
                    <a:lstStyle/>
                    <a:p>
                      <a:r>
                        <a:rPr lang="zh-TW" altLang="en-US" sz="1800" b="0" i="0" kern="1200" dirty="0">
                          <a:solidFill>
                            <a:schemeClr val="dk1"/>
                          </a:solidFill>
                          <a:effectLst/>
                          <a:latin typeface="+mn-lt"/>
                          <a:ea typeface="+mn-ea"/>
                          <a:cs typeface="+mn-cs"/>
                        </a:rPr>
                        <a:t>名詞</a:t>
                      </a:r>
                      <a:endParaRPr lang="zh-TW" altLang="en-US" dirty="0"/>
                    </a:p>
                  </a:txBody>
                  <a:tcPr/>
                </a:tc>
                <a:tc>
                  <a:txBody>
                    <a:bodyPr/>
                    <a:lstStyle/>
                    <a:p>
                      <a:r>
                        <a:rPr lang="en" altLang="zh-TW" dirty="0"/>
                        <a:t>Noun</a:t>
                      </a:r>
                    </a:p>
                  </a:txBody>
                  <a:tcPr/>
                </a:tc>
                <a:tc>
                  <a:txBody>
                    <a:bodyPr/>
                    <a:lstStyle/>
                    <a:p>
                      <a:r>
                        <a:rPr lang="en-US" altLang="zh-TW" dirty="0"/>
                        <a:t>NN</a:t>
                      </a:r>
                      <a:endParaRPr lang="zh-TW" altLang="en-US" dirty="0"/>
                    </a:p>
                  </a:txBody>
                  <a:tcPr/>
                </a:tc>
                <a:extLst>
                  <a:ext uri="{0D108BD9-81ED-4DB2-BD59-A6C34878D82A}">
                    <a16:rowId xmlns:a16="http://schemas.microsoft.com/office/drawing/2014/main" val="818919772"/>
                  </a:ext>
                </a:extLst>
              </a:tr>
              <a:tr h="370840">
                <a:tc>
                  <a:txBody>
                    <a:bodyPr/>
                    <a:lstStyle/>
                    <a:p>
                      <a:r>
                        <a:rPr lang="zh-TW" altLang="en-US" dirty="0"/>
                        <a:t>動詞</a:t>
                      </a:r>
                      <a:endParaRPr lang="en" altLang="zh-TW" dirty="0"/>
                    </a:p>
                  </a:txBody>
                  <a:tcPr/>
                </a:tc>
                <a:tc>
                  <a:txBody>
                    <a:bodyPr/>
                    <a:lstStyle/>
                    <a:p>
                      <a:r>
                        <a:rPr lang="en" altLang="zh-TW" dirty="0"/>
                        <a:t>Verb</a:t>
                      </a:r>
                    </a:p>
                  </a:txBody>
                  <a:tcPr/>
                </a:tc>
                <a:tc>
                  <a:txBody>
                    <a:bodyPr/>
                    <a:lstStyle/>
                    <a:p>
                      <a:r>
                        <a:rPr lang="en-US" altLang="zh-TW" dirty="0"/>
                        <a:t>VB</a:t>
                      </a:r>
                      <a:endParaRPr lang="zh-TW" altLang="en-US" dirty="0"/>
                    </a:p>
                  </a:txBody>
                  <a:tcPr/>
                </a:tc>
                <a:extLst>
                  <a:ext uri="{0D108BD9-81ED-4DB2-BD59-A6C34878D82A}">
                    <a16:rowId xmlns:a16="http://schemas.microsoft.com/office/drawing/2014/main" val="580406895"/>
                  </a:ext>
                </a:extLst>
              </a:tr>
              <a:tr h="370840">
                <a:tc>
                  <a:txBody>
                    <a:bodyPr/>
                    <a:lstStyle/>
                    <a:p>
                      <a:r>
                        <a:rPr lang="zh-TW" altLang="en-US" dirty="0"/>
                        <a:t>形容詞</a:t>
                      </a:r>
                      <a:endParaRPr lang="en" altLang="zh-TW" dirty="0"/>
                    </a:p>
                  </a:txBody>
                  <a:tcPr/>
                </a:tc>
                <a:tc>
                  <a:txBody>
                    <a:bodyPr/>
                    <a:lstStyle/>
                    <a:p>
                      <a:r>
                        <a:rPr lang="en" altLang="zh-TW" dirty="0"/>
                        <a:t>Adjective</a:t>
                      </a:r>
                    </a:p>
                  </a:txBody>
                  <a:tcPr/>
                </a:tc>
                <a:tc>
                  <a:txBody>
                    <a:bodyPr/>
                    <a:lstStyle/>
                    <a:p>
                      <a:r>
                        <a:rPr lang="en-US" altLang="zh-TW" dirty="0"/>
                        <a:t>JJ</a:t>
                      </a:r>
                      <a:endParaRPr lang="zh-TW" altLang="en-US" dirty="0"/>
                    </a:p>
                  </a:txBody>
                  <a:tcPr/>
                </a:tc>
                <a:extLst>
                  <a:ext uri="{0D108BD9-81ED-4DB2-BD59-A6C34878D82A}">
                    <a16:rowId xmlns:a16="http://schemas.microsoft.com/office/drawing/2014/main" val="2503551286"/>
                  </a:ext>
                </a:extLst>
              </a:tr>
              <a:tr h="370840">
                <a:tc>
                  <a:txBody>
                    <a:bodyPr/>
                    <a:lstStyle/>
                    <a:p>
                      <a:r>
                        <a:rPr lang="zh-TW" altLang="en-US" dirty="0"/>
                        <a:t>副詞</a:t>
                      </a:r>
                      <a:endParaRPr lang="en" altLang="zh-TW" dirty="0"/>
                    </a:p>
                  </a:txBody>
                  <a:tcPr/>
                </a:tc>
                <a:tc>
                  <a:txBody>
                    <a:bodyPr/>
                    <a:lstStyle/>
                    <a:p>
                      <a:r>
                        <a:rPr lang="en" altLang="zh-TW" dirty="0"/>
                        <a:t>Adverb (RB)</a:t>
                      </a:r>
                    </a:p>
                  </a:txBody>
                  <a:tcPr/>
                </a:tc>
                <a:tc>
                  <a:txBody>
                    <a:bodyPr/>
                    <a:lstStyle/>
                    <a:p>
                      <a:r>
                        <a:rPr lang="en-US" altLang="zh-TW" dirty="0"/>
                        <a:t>RB</a:t>
                      </a:r>
                      <a:endParaRPr lang="zh-TW" altLang="en-US" dirty="0"/>
                    </a:p>
                  </a:txBody>
                  <a:tcPr/>
                </a:tc>
                <a:extLst>
                  <a:ext uri="{0D108BD9-81ED-4DB2-BD59-A6C34878D82A}">
                    <a16:rowId xmlns:a16="http://schemas.microsoft.com/office/drawing/2014/main" val="2614433492"/>
                  </a:ext>
                </a:extLst>
              </a:tr>
              <a:tr h="370840">
                <a:tc>
                  <a:txBody>
                    <a:bodyPr/>
                    <a:lstStyle/>
                    <a:p>
                      <a:r>
                        <a:rPr lang="zh-TW" altLang="en-US" dirty="0"/>
                        <a:t>代名詞</a:t>
                      </a:r>
                      <a:endParaRPr lang="en" altLang="zh-TW" dirty="0"/>
                    </a:p>
                  </a:txBody>
                  <a:tcPr/>
                </a:tc>
                <a:tc>
                  <a:txBody>
                    <a:bodyPr/>
                    <a:lstStyle/>
                    <a:p>
                      <a:r>
                        <a:rPr lang="en" altLang="zh-TW" dirty="0"/>
                        <a:t>Pronoun</a:t>
                      </a:r>
                    </a:p>
                  </a:txBody>
                  <a:tcPr/>
                </a:tc>
                <a:tc>
                  <a:txBody>
                    <a:bodyPr/>
                    <a:lstStyle/>
                    <a:p>
                      <a:r>
                        <a:rPr lang="en-US" altLang="zh-TW" dirty="0"/>
                        <a:t>PRP</a:t>
                      </a:r>
                      <a:endParaRPr lang="zh-TW" altLang="en-US" dirty="0"/>
                    </a:p>
                  </a:txBody>
                  <a:tcPr/>
                </a:tc>
                <a:extLst>
                  <a:ext uri="{0D108BD9-81ED-4DB2-BD59-A6C34878D82A}">
                    <a16:rowId xmlns:a16="http://schemas.microsoft.com/office/drawing/2014/main" val="31377858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介詞</a:t>
                      </a:r>
                      <a:endParaRPr lang="en" altLang="zh-TW"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Preposition</a:t>
                      </a:r>
                    </a:p>
                  </a:txBody>
                  <a:tcPr/>
                </a:tc>
                <a:tc>
                  <a:txBody>
                    <a:bodyPr/>
                    <a:lstStyle/>
                    <a:p>
                      <a:r>
                        <a:rPr lang="en-US" altLang="zh-TW" dirty="0"/>
                        <a:t>IN</a:t>
                      </a:r>
                      <a:endParaRPr lang="zh-TW" altLang="en-US" dirty="0"/>
                    </a:p>
                  </a:txBody>
                  <a:tcPr/>
                </a:tc>
                <a:extLst>
                  <a:ext uri="{0D108BD9-81ED-4DB2-BD59-A6C34878D82A}">
                    <a16:rowId xmlns:a16="http://schemas.microsoft.com/office/drawing/2014/main" val="21225434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連接詞</a:t>
                      </a:r>
                      <a:endParaRPr lang="en" altLang="zh-TW"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Conjunction</a:t>
                      </a:r>
                    </a:p>
                  </a:txBody>
                  <a:tcPr/>
                </a:tc>
                <a:tc>
                  <a:txBody>
                    <a:bodyPr/>
                    <a:lstStyle/>
                    <a:p>
                      <a:r>
                        <a:rPr lang="en-US" altLang="zh-TW" dirty="0"/>
                        <a:t>CC</a:t>
                      </a:r>
                      <a:endParaRPr lang="zh-TW" altLang="en-US" dirty="0"/>
                    </a:p>
                  </a:txBody>
                  <a:tcPr/>
                </a:tc>
                <a:extLst>
                  <a:ext uri="{0D108BD9-81ED-4DB2-BD59-A6C34878D82A}">
                    <a16:rowId xmlns:a16="http://schemas.microsoft.com/office/drawing/2014/main" val="9408253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限定詞</a:t>
                      </a:r>
                      <a:endParaRPr lang="en" altLang="zh-TW"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Determiner</a:t>
                      </a:r>
                    </a:p>
                  </a:txBody>
                  <a:tcPr/>
                </a:tc>
                <a:tc>
                  <a:txBody>
                    <a:bodyPr/>
                    <a:lstStyle/>
                    <a:p>
                      <a:r>
                        <a:rPr lang="en-US" altLang="zh-TW" dirty="0"/>
                        <a:t>DT</a:t>
                      </a:r>
                      <a:endParaRPr lang="zh-TW" altLang="en-US" dirty="0"/>
                    </a:p>
                  </a:txBody>
                  <a:tcPr/>
                </a:tc>
                <a:extLst>
                  <a:ext uri="{0D108BD9-81ED-4DB2-BD59-A6C34878D82A}">
                    <a16:rowId xmlns:a16="http://schemas.microsoft.com/office/drawing/2014/main" val="30235737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感嘆詞</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Interjection</a:t>
                      </a:r>
                      <a:endParaRPr lang="zh-TW" altLang="en-US" dirty="0"/>
                    </a:p>
                  </a:txBody>
                  <a:tcPr/>
                </a:tc>
                <a:tc>
                  <a:txBody>
                    <a:bodyPr/>
                    <a:lstStyle/>
                    <a:p>
                      <a:r>
                        <a:rPr lang="en-US" altLang="zh-TW" dirty="0"/>
                        <a:t>UH</a:t>
                      </a:r>
                      <a:endParaRPr lang="zh-TW" altLang="en-US" dirty="0"/>
                    </a:p>
                  </a:txBody>
                  <a:tcPr/>
                </a:tc>
                <a:extLst>
                  <a:ext uri="{0D108BD9-81ED-4DB2-BD59-A6C34878D82A}">
                    <a16:rowId xmlns:a16="http://schemas.microsoft.com/office/drawing/2014/main" val="398934719"/>
                  </a:ext>
                </a:extLst>
              </a:tr>
            </a:tbl>
          </a:graphicData>
        </a:graphic>
      </p:graphicFrame>
      <p:graphicFrame>
        <p:nvGraphicFramePr>
          <p:cNvPr id="5" name="表格 4">
            <a:extLst>
              <a:ext uri="{FF2B5EF4-FFF2-40B4-BE49-F238E27FC236}">
                <a16:creationId xmlns:a16="http://schemas.microsoft.com/office/drawing/2014/main" id="{CB3CE379-99F3-1CB7-A150-A2EC2A19E800}"/>
              </a:ext>
            </a:extLst>
          </p:cNvPr>
          <p:cNvGraphicFramePr>
            <a:graphicFrameLocks noGrp="1"/>
          </p:cNvGraphicFramePr>
          <p:nvPr>
            <p:extLst>
              <p:ext uri="{D42A27DB-BD31-4B8C-83A1-F6EECF244321}">
                <p14:modId xmlns:p14="http://schemas.microsoft.com/office/powerpoint/2010/main" val="2539627507"/>
              </p:ext>
            </p:extLst>
          </p:nvPr>
        </p:nvGraphicFramePr>
        <p:xfrm>
          <a:off x="4996977" y="2784475"/>
          <a:ext cx="2354163" cy="3708400"/>
        </p:xfrm>
        <a:graphic>
          <a:graphicData uri="http://schemas.openxmlformats.org/drawingml/2006/table">
            <a:tbl>
              <a:tblPr firstRow="1" bandRow="1">
                <a:tableStyleId>{5C22544A-7EE6-4342-B048-85BDC9FD1C3A}</a:tableStyleId>
              </a:tblPr>
              <a:tblGrid>
                <a:gridCol w="1016016">
                  <a:extLst>
                    <a:ext uri="{9D8B030D-6E8A-4147-A177-3AD203B41FA5}">
                      <a16:colId xmlns:a16="http://schemas.microsoft.com/office/drawing/2014/main" val="652579199"/>
                    </a:ext>
                  </a:extLst>
                </a:gridCol>
                <a:gridCol w="1338147">
                  <a:extLst>
                    <a:ext uri="{9D8B030D-6E8A-4147-A177-3AD203B41FA5}">
                      <a16:colId xmlns:a16="http://schemas.microsoft.com/office/drawing/2014/main" val="4190937800"/>
                    </a:ext>
                  </a:extLst>
                </a:gridCol>
              </a:tblGrid>
              <a:tr h="370840">
                <a:tc>
                  <a:txBody>
                    <a:bodyPr/>
                    <a:lstStyle/>
                    <a:p>
                      <a:r>
                        <a:rPr lang="zh-TW" altLang="en-US" dirty="0"/>
                        <a:t>單字</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標籤</a:t>
                      </a:r>
                    </a:p>
                  </a:txBody>
                  <a:tcPr/>
                </a:tc>
                <a:extLst>
                  <a:ext uri="{0D108BD9-81ED-4DB2-BD59-A6C34878D82A}">
                    <a16:rowId xmlns:a16="http://schemas.microsoft.com/office/drawing/2014/main" val="3829480560"/>
                  </a:ext>
                </a:extLst>
              </a:tr>
              <a:tr h="370840">
                <a:tc>
                  <a:txBody>
                    <a:bodyPr/>
                    <a:lstStyle/>
                    <a:p>
                      <a:r>
                        <a:rPr lang="en" altLang="zh-TW" dirty="0"/>
                        <a:t>The</a:t>
                      </a:r>
                      <a:endParaRPr lang="zh-TW" altLang="en-US" dirty="0"/>
                    </a:p>
                  </a:txBody>
                  <a:tcPr/>
                </a:tc>
                <a:tc>
                  <a:txBody>
                    <a:bodyPr/>
                    <a:lstStyle/>
                    <a:p>
                      <a:r>
                        <a:rPr lang="en" altLang="zh-TW" dirty="0"/>
                        <a:t>DT</a:t>
                      </a:r>
                    </a:p>
                  </a:txBody>
                  <a:tcPr/>
                </a:tc>
                <a:extLst>
                  <a:ext uri="{0D108BD9-81ED-4DB2-BD59-A6C34878D82A}">
                    <a16:rowId xmlns:a16="http://schemas.microsoft.com/office/drawing/2014/main" val="818919772"/>
                  </a:ext>
                </a:extLst>
              </a:tr>
              <a:tr h="370840">
                <a:tc>
                  <a:txBody>
                    <a:bodyPr/>
                    <a:lstStyle/>
                    <a:p>
                      <a:r>
                        <a:rPr lang="en" altLang="zh-TW" dirty="0"/>
                        <a:t>quick</a:t>
                      </a:r>
                    </a:p>
                  </a:txBody>
                  <a:tcPr/>
                </a:tc>
                <a:tc>
                  <a:txBody>
                    <a:bodyPr/>
                    <a:lstStyle/>
                    <a:p>
                      <a:r>
                        <a:rPr lang="en" altLang="zh-TW" dirty="0"/>
                        <a:t>JJ</a:t>
                      </a:r>
                    </a:p>
                  </a:txBody>
                  <a:tcPr/>
                </a:tc>
                <a:extLst>
                  <a:ext uri="{0D108BD9-81ED-4DB2-BD59-A6C34878D82A}">
                    <a16:rowId xmlns:a16="http://schemas.microsoft.com/office/drawing/2014/main" val="580406895"/>
                  </a:ext>
                </a:extLst>
              </a:tr>
              <a:tr h="370840">
                <a:tc>
                  <a:txBody>
                    <a:bodyPr/>
                    <a:lstStyle/>
                    <a:p>
                      <a:r>
                        <a:rPr lang="en" altLang="zh-TW" dirty="0"/>
                        <a:t>brown</a:t>
                      </a:r>
                    </a:p>
                  </a:txBody>
                  <a:tcPr/>
                </a:tc>
                <a:tc>
                  <a:txBody>
                    <a:bodyPr/>
                    <a:lstStyle/>
                    <a:p>
                      <a:r>
                        <a:rPr lang="en" altLang="zh-TW" dirty="0"/>
                        <a:t>JJ</a:t>
                      </a:r>
                    </a:p>
                  </a:txBody>
                  <a:tcPr/>
                </a:tc>
                <a:extLst>
                  <a:ext uri="{0D108BD9-81ED-4DB2-BD59-A6C34878D82A}">
                    <a16:rowId xmlns:a16="http://schemas.microsoft.com/office/drawing/2014/main" val="2503551286"/>
                  </a:ext>
                </a:extLst>
              </a:tr>
              <a:tr h="370840">
                <a:tc>
                  <a:txBody>
                    <a:bodyPr/>
                    <a:lstStyle/>
                    <a:p>
                      <a:r>
                        <a:rPr lang="en" altLang="zh-TW" dirty="0"/>
                        <a:t>fox</a:t>
                      </a:r>
                    </a:p>
                  </a:txBody>
                  <a:tcPr/>
                </a:tc>
                <a:tc>
                  <a:txBody>
                    <a:bodyPr/>
                    <a:lstStyle/>
                    <a:p>
                      <a:r>
                        <a:rPr lang="en" altLang="zh-TW" dirty="0"/>
                        <a:t>NN</a:t>
                      </a:r>
                    </a:p>
                  </a:txBody>
                  <a:tcPr/>
                </a:tc>
                <a:extLst>
                  <a:ext uri="{0D108BD9-81ED-4DB2-BD59-A6C34878D82A}">
                    <a16:rowId xmlns:a16="http://schemas.microsoft.com/office/drawing/2014/main" val="2614433492"/>
                  </a:ext>
                </a:extLst>
              </a:tr>
              <a:tr h="370840">
                <a:tc>
                  <a:txBody>
                    <a:bodyPr/>
                    <a:lstStyle/>
                    <a:p>
                      <a:r>
                        <a:rPr lang="en" altLang="zh-TW" dirty="0"/>
                        <a:t>jumps</a:t>
                      </a:r>
                    </a:p>
                  </a:txBody>
                  <a:tcPr/>
                </a:tc>
                <a:tc>
                  <a:txBody>
                    <a:bodyPr/>
                    <a:lstStyle/>
                    <a:p>
                      <a:r>
                        <a:rPr lang="en" altLang="zh-TW" dirty="0"/>
                        <a:t>VB</a:t>
                      </a:r>
                    </a:p>
                  </a:txBody>
                  <a:tcPr/>
                </a:tc>
                <a:extLst>
                  <a:ext uri="{0D108BD9-81ED-4DB2-BD59-A6C34878D82A}">
                    <a16:rowId xmlns:a16="http://schemas.microsoft.com/office/drawing/2014/main" val="31377858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over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IN</a:t>
                      </a:r>
                    </a:p>
                  </a:txBody>
                  <a:tcPr/>
                </a:tc>
                <a:extLst>
                  <a:ext uri="{0D108BD9-81ED-4DB2-BD59-A6C34878D82A}">
                    <a16:rowId xmlns:a16="http://schemas.microsoft.com/office/drawing/2014/main" val="21225434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the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DT</a:t>
                      </a:r>
                    </a:p>
                  </a:txBody>
                  <a:tcPr/>
                </a:tc>
                <a:extLst>
                  <a:ext uri="{0D108BD9-81ED-4DB2-BD59-A6C34878D82A}">
                    <a16:rowId xmlns:a16="http://schemas.microsoft.com/office/drawing/2014/main" val="9408253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lazy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JJ</a:t>
                      </a:r>
                    </a:p>
                  </a:txBody>
                  <a:tcPr/>
                </a:tc>
                <a:extLst>
                  <a:ext uri="{0D108BD9-81ED-4DB2-BD59-A6C34878D82A}">
                    <a16:rowId xmlns:a16="http://schemas.microsoft.com/office/drawing/2014/main" val="30235737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dog</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NN</a:t>
                      </a:r>
                      <a:endParaRPr lang="zh-TW" altLang="en-US" dirty="0"/>
                    </a:p>
                  </a:txBody>
                  <a:tcPr/>
                </a:tc>
                <a:extLst>
                  <a:ext uri="{0D108BD9-81ED-4DB2-BD59-A6C34878D82A}">
                    <a16:rowId xmlns:a16="http://schemas.microsoft.com/office/drawing/2014/main" val="398934719"/>
                  </a:ext>
                </a:extLst>
              </a:tr>
            </a:tbl>
          </a:graphicData>
        </a:graphic>
      </p:graphicFrame>
    </p:spTree>
    <p:extLst>
      <p:ext uri="{BB962C8B-B14F-4D97-AF65-F5344CB8AC3E}">
        <p14:creationId xmlns:p14="http://schemas.microsoft.com/office/powerpoint/2010/main" val="3760644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FDCDEA-6FF2-2795-7B3B-163CCC4C6851}"/>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endParaRPr kumimoji="1" lang="zh-TW" altLang="en-US" dirty="0"/>
          </a:p>
        </p:txBody>
      </p:sp>
      <p:sp>
        <p:nvSpPr>
          <p:cNvPr id="3" name="內容版面配置區 2">
            <a:extLst>
              <a:ext uri="{FF2B5EF4-FFF2-40B4-BE49-F238E27FC236}">
                <a16:creationId xmlns:a16="http://schemas.microsoft.com/office/drawing/2014/main" id="{DF165664-3903-EF77-6A75-358EB62373B7}"/>
              </a:ext>
            </a:extLst>
          </p:cNvPr>
          <p:cNvSpPr>
            <a:spLocks noGrp="1"/>
          </p:cNvSpPr>
          <p:nvPr>
            <p:ph idx="1"/>
          </p:nvPr>
        </p:nvSpPr>
        <p:spPr/>
        <p:txBody>
          <a:bodyPr/>
          <a:lstStyle/>
          <a:p>
            <a:r>
              <a:rPr kumimoji="1" lang="zh-TW" altLang="en-US" dirty="0"/>
              <a:t>標籤集：</a:t>
            </a:r>
            <a:endParaRPr kumimoji="1" lang="en-US" altLang="zh-TW" dirty="0"/>
          </a:p>
          <a:p>
            <a:pPr lvl="1"/>
            <a:r>
              <a:rPr kumimoji="1" lang="zh-TW" altLang="en-US" dirty="0"/>
              <a:t>在</a:t>
            </a:r>
            <a:r>
              <a:rPr kumimoji="1" lang="en-US" altLang="zh-TW" dirty="0"/>
              <a:t>POS</a:t>
            </a:r>
            <a:r>
              <a:rPr kumimoji="1" lang="zh-TW" altLang="en-US" dirty="0"/>
              <a:t> </a:t>
            </a:r>
            <a:r>
              <a:rPr kumimoji="1" lang="en-US" altLang="zh-TW" dirty="0"/>
              <a:t>Tagging</a:t>
            </a:r>
            <a:r>
              <a:rPr kumimoji="1" lang="zh-TW" altLang="en-US" dirty="0"/>
              <a:t>任務中，根據 </a:t>
            </a:r>
            <a:r>
              <a:rPr kumimoji="1" lang="en-US" altLang="zh-TW" dirty="0"/>
              <a:t>POS </a:t>
            </a:r>
            <a:r>
              <a:rPr kumimoji="1" lang="zh-TW" altLang="en-US" dirty="0"/>
              <a:t>標籤系統或語言，可以使用不同的標籤集，用來做為訓練資料或處理所需要的任務。</a:t>
            </a:r>
            <a:endParaRPr kumimoji="1" lang="en-US" altLang="zh-TW" dirty="0"/>
          </a:p>
          <a:p>
            <a:pPr lvl="1"/>
            <a:r>
              <a:rPr kumimoji="1" lang="zh-TW" altLang="en-US" dirty="0"/>
              <a:t>例如：</a:t>
            </a:r>
            <a:r>
              <a:rPr kumimoji="1" lang="en-US" altLang="zh-TW" dirty="0"/>
              <a:t>Penn Treebank POS </a:t>
            </a:r>
            <a:r>
              <a:rPr kumimoji="1" lang="zh-TW" altLang="en-US" dirty="0"/>
              <a:t>標籤集廣泛應用於英語 </a:t>
            </a:r>
            <a:r>
              <a:rPr kumimoji="1" lang="en-US" altLang="zh-TW" dirty="0"/>
              <a:t>NLP </a:t>
            </a:r>
            <a:r>
              <a:rPr kumimoji="1" lang="zh-TW" altLang="en-US" dirty="0"/>
              <a:t>任務。</a:t>
            </a:r>
          </a:p>
          <a:p>
            <a:r>
              <a:rPr kumimoji="1" lang="zh-TW" altLang="en-US" dirty="0"/>
              <a:t>處理歧義的問題：</a:t>
            </a:r>
            <a:endParaRPr kumimoji="1" lang="en-US" altLang="zh-TW" dirty="0"/>
          </a:p>
          <a:p>
            <a:pPr lvl="1"/>
            <a:r>
              <a:rPr kumimoji="1" lang="zh-TW" altLang="en-US" dirty="0"/>
              <a:t>根據上下文，同樣的單字可能有多個可能的詞性標籤。例如，「</a:t>
            </a:r>
            <a:r>
              <a:rPr kumimoji="1" lang="en-US" altLang="zh-TW" dirty="0"/>
              <a:t>lead</a:t>
            </a:r>
            <a:r>
              <a:rPr kumimoji="1" lang="zh-TW" altLang="en-US" dirty="0"/>
              <a:t>」在不同的句子中可能是名詞（金屬）或動詞（引導）。</a:t>
            </a:r>
            <a:endParaRPr kumimoji="1" lang="en-US" altLang="zh-TW" dirty="0"/>
          </a:p>
          <a:p>
            <a:pPr lvl="1"/>
            <a:endParaRPr kumimoji="1" lang="zh-TW" altLang="en-US" dirty="0"/>
          </a:p>
        </p:txBody>
      </p:sp>
    </p:spTree>
    <p:extLst>
      <p:ext uri="{BB962C8B-B14F-4D97-AF65-F5344CB8AC3E}">
        <p14:creationId xmlns:p14="http://schemas.microsoft.com/office/powerpoint/2010/main" val="1801254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53EE73-0DF3-19DC-C020-07E95E72C9A8}"/>
              </a:ext>
            </a:extLst>
          </p:cNvPr>
          <p:cNvSpPr>
            <a:spLocks noGrp="1"/>
          </p:cNvSpPr>
          <p:nvPr>
            <p:ph type="title"/>
          </p:nvPr>
        </p:nvSpPr>
        <p:spPr>
          <a:xfrm>
            <a:off x="838200" y="365125"/>
            <a:ext cx="10515600" cy="1325563"/>
          </a:xfrm>
        </p:spPr>
        <p:txBody>
          <a:bodyPr/>
          <a:lstStyle/>
          <a:p>
            <a:r>
              <a:rPr lang="en-US" altLang="zh-TW" dirty="0"/>
              <a:t>POS</a:t>
            </a:r>
            <a:r>
              <a:rPr lang="zh-TW" altLang="en-US" dirty="0"/>
              <a:t> </a:t>
            </a:r>
            <a:r>
              <a:rPr lang="en-US" altLang="zh-TW" dirty="0"/>
              <a:t>Tagging</a:t>
            </a:r>
            <a:r>
              <a:rPr lang="zh-TW" altLang="en-US" dirty="0"/>
              <a:t> </a:t>
            </a:r>
            <a:r>
              <a:rPr lang="en-US" altLang="zh-TW" dirty="0"/>
              <a:t>–</a:t>
            </a:r>
            <a:r>
              <a:rPr lang="zh-TW" altLang="en-US" dirty="0"/>
              <a:t>相關應用：</a:t>
            </a:r>
          </a:p>
        </p:txBody>
      </p:sp>
      <p:sp>
        <p:nvSpPr>
          <p:cNvPr id="3" name="內容版面配置區 2">
            <a:extLst>
              <a:ext uri="{FF2B5EF4-FFF2-40B4-BE49-F238E27FC236}">
                <a16:creationId xmlns:a16="http://schemas.microsoft.com/office/drawing/2014/main" id="{1951610E-D07E-411D-9AFE-79D2BCBB9B3C}"/>
              </a:ext>
            </a:extLst>
          </p:cNvPr>
          <p:cNvSpPr>
            <a:spLocks noGrp="1"/>
          </p:cNvSpPr>
          <p:nvPr>
            <p:ph idx="1"/>
          </p:nvPr>
        </p:nvSpPr>
        <p:spPr>
          <a:xfrm>
            <a:off x="838200" y="1825624"/>
            <a:ext cx="10515600" cy="4575175"/>
          </a:xfrm>
        </p:spPr>
        <p:txBody>
          <a:bodyPr>
            <a:normAutofit fontScale="70000" lnSpcReduction="20000"/>
          </a:bodyPr>
          <a:lstStyle/>
          <a:p>
            <a:pPr>
              <a:lnSpc>
                <a:spcPct val="120000"/>
              </a:lnSpc>
            </a:pPr>
            <a:r>
              <a:rPr lang="zh-TW" altLang="en-US" dirty="0"/>
              <a:t>句法分析（ </a:t>
            </a:r>
            <a:r>
              <a:rPr lang="en-US" altLang="zh-TW" dirty="0"/>
              <a:t>Syntactic Analysis</a:t>
            </a:r>
            <a:r>
              <a:rPr lang="zh-TW" altLang="en" dirty="0"/>
              <a:t> ） </a:t>
            </a:r>
            <a:r>
              <a:rPr lang="zh-TW" altLang="en-US" dirty="0"/>
              <a:t>：</a:t>
            </a:r>
          </a:p>
          <a:p>
            <a:pPr lvl="1">
              <a:lnSpc>
                <a:spcPct val="120000"/>
              </a:lnSpc>
            </a:pPr>
            <a:r>
              <a:rPr lang="zh-TW" altLang="en-US" dirty="0"/>
              <a:t>詞性標註對於理解句子的語法結構、實現句法分析至關重要。它有助於識別主詞、動詞、受詞和其他語法元素。</a:t>
            </a:r>
          </a:p>
          <a:p>
            <a:pPr>
              <a:lnSpc>
                <a:spcPct val="120000"/>
              </a:lnSpc>
            </a:pPr>
            <a:r>
              <a:rPr lang="zh-TW" altLang="en-US" dirty="0"/>
              <a:t>語義分析（ </a:t>
            </a:r>
            <a:r>
              <a:rPr lang="en-US" altLang="zh-TW" dirty="0"/>
              <a:t>Semantic Analysis</a:t>
            </a:r>
            <a:r>
              <a:rPr lang="zh-TW" altLang="en" dirty="0"/>
              <a:t> ） </a:t>
            </a:r>
            <a:r>
              <a:rPr lang="zh-TW" altLang="en-US" dirty="0"/>
              <a:t>：</a:t>
            </a:r>
          </a:p>
          <a:p>
            <a:pPr lvl="1">
              <a:lnSpc>
                <a:spcPct val="120000"/>
              </a:lnSpc>
            </a:pPr>
            <a:r>
              <a:rPr lang="zh-TW" altLang="en-US" dirty="0"/>
              <a:t>詞性標籤有助於理解上下文中單字的意思。例如，區分名詞和動詞可以顯著影響句子的解釋。</a:t>
            </a:r>
          </a:p>
          <a:p>
            <a:pPr>
              <a:lnSpc>
                <a:spcPct val="120000"/>
              </a:lnSpc>
            </a:pPr>
            <a:r>
              <a:rPr lang="zh-TW" altLang="en-US" dirty="0"/>
              <a:t>資訊檢索（ </a:t>
            </a:r>
            <a:r>
              <a:rPr lang="en-US" altLang="zh-TW" dirty="0"/>
              <a:t>Information Retrieval</a:t>
            </a:r>
            <a:r>
              <a:rPr lang="zh-TW" altLang="en" dirty="0"/>
              <a:t> ） </a:t>
            </a:r>
            <a:r>
              <a:rPr lang="zh-TW" altLang="en-US" dirty="0"/>
              <a:t>：</a:t>
            </a:r>
          </a:p>
          <a:p>
            <a:pPr lvl="1">
              <a:lnSpc>
                <a:spcPct val="120000"/>
              </a:lnSpc>
            </a:pPr>
            <a:r>
              <a:rPr lang="zh-TW" altLang="en-US" dirty="0"/>
              <a:t>詞性標註用於資訊檢索系統中，以提高搜尋結果的精確度和相關性。例如，在文件中搜尋“</a:t>
            </a:r>
            <a:r>
              <a:rPr lang="en" altLang="zh-TW" dirty="0"/>
              <a:t>NN”</a:t>
            </a:r>
            <a:r>
              <a:rPr lang="zh-TW" altLang="en" dirty="0"/>
              <a:t>（</a:t>
            </a:r>
            <a:r>
              <a:rPr lang="zh-TW" altLang="en-US" dirty="0"/>
              <a:t>名詞）可以優先考慮名詞而不是其他單字。</a:t>
            </a:r>
          </a:p>
          <a:p>
            <a:pPr>
              <a:lnSpc>
                <a:spcPct val="120000"/>
              </a:lnSpc>
            </a:pPr>
            <a:r>
              <a:rPr lang="zh-TW" altLang="en-US" dirty="0"/>
              <a:t>命名實體辨識（</a:t>
            </a:r>
            <a:r>
              <a:rPr lang="en" altLang="zh-TW" dirty="0"/>
              <a:t>NER</a:t>
            </a:r>
            <a:r>
              <a:rPr lang="zh-TW" altLang="en" dirty="0"/>
              <a:t>）：</a:t>
            </a:r>
          </a:p>
          <a:p>
            <a:pPr lvl="1">
              <a:lnSpc>
                <a:spcPct val="120000"/>
              </a:lnSpc>
            </a:pPr>
            <a:r>
              <a:rPr lang="zh-TW" altLang="en-US" dirty="0"/>
              <a:t>詞性標籤透過提供有關單字語法類別的信息，在命名實體識別中發揮作用。例如，認識到「紐約」是一個專有名詞。</a:t>
            </a:r>
          </a:p>
          <a:p>
            <a:pPr>
              <a:lnSpc>
                <a:spcPct val="120000"/>
              </a:lnSpc>
            </a:pPr>
            <a:r>
              <a:rPr lang="zh-TW" altLang="en-US" dirty="0"/>
              <a:t>機器翻譯（ </a:t>
            </a:r>
            <a:r>
              <a:rPr lang="en" altLang="zh-TW" dirty="0"/>
              <a:t>Machine Translation</a:t>
            </a:r>
            <a:r>
              <a:rPr lang="zh-TW" altLang="en" dirty="0"/>
              <a:t> ） </a:t>
            </a:r>
            <a:r>
              <a:rPr lang="zh-TW" altLang="en-US" dirty="0"/>
              <a:t>：</a:t>
            </a:r>
          </a:p>
          <a:p>
            <a:pPr lvl="1">
              <a:lnSpc>
                <a:spcPct val="120000"/>
              </a:lnSpc>
            </a:pPr>
            <a:r>
              <a:rPr lang="zh-TW" altLang="en-US" dirty="0"/>
              <a:t>詞性標註在機器翻譯中至關重要，可以確保根據句子的語法結構進行準確翻譯。</a:t>
            </a:r>
          </a:p>
        </p:txBody>
      </p:sp>
    </p:spTree>
    <p:extLst>
      <p:ext uri="{BB962C8B-B14F-4D97-AF65-F5344CB8AC3E}">
        <p14:creationId xmlns:p14="http://schemas.microsoft.com/office/powerpoint/2010/main" val="2810380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FAD802-3CFF-A986-54AF-0BAB0B137886}"/>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r>
              <a:rPr kumimoji="1" lang="zh-TW" altLang="en-US" dirty="0"/>
              <a:t> </a:t>
            </a:r>
            <a:r>
              <a:rPr kumimoji="1" lang="en-US" altLang="zh-TW" dirty="0"/>
              <a:t>-</a:t>
            </a:r>
            <a:r>
              <a:rPr kumimoji="1" lang="zh-TW" altLang="en-US" dirty="0"/>
              <a:t> </a:t>
            </a:r>
            <a:r>
              <a:rPr kumimoji="1" lang="en-US" altLang="zh-TW" dirty="0"/>
              <a:t>NLTK</a:t>
            </a:r>
            <a:endParaRPr kumimoji="1" lang="zh-TW" altLang="en-US" dirty="0"/>
          </a:p>
        </p:txBody>
      </p:sp>
      <p:sp>
        <p:nvSpPr>
          <p:cNvPr id="3" name="內容版面配置區 2">
            <a:extLst>
              <a:ext uri="{FF2B5EF4-FFF2-40B4-BE49-F238E27FC236}">
                <a16:creationId xmlns:a16="http://schemas.microsoft.com/office/drawing/2014/main" id="{A658121E-C468-9CB7-F70D-EA7D23EE537D}"/>
              </a:ext>
            </a:extLst>
          </p:cNvPr>
          <p:cNvSpPr>
            <a:spLocks noGrp="1"/>
          </p:cNvSpPr>
          <p:nvPr>
            <p:ph idx="1"/>
          </p:nvPr>
        </p:nvSpPr>
        <p:spPr>
          <a:xfrm>
            <a:off x="838200" y="1825625"/>
            <a:ext cx="10515600" cy="4876258"/>
          </a:xfrm>
        </p:spPr>
        <p:txBody>
          <a:bodyPr>
            <a:normAutofit fontScale="92500"/>
          </a:bodyPr>
          <a:lstStyle/>
          <a:p>
            <a:pPr>
              <a:lnSpc>
                <a:spcPct val="100000"/>
              </a:lnSpc>
            </a:pPr>
            <a:r>
              <a:rPr kumimoji="1" lang="zh-TW" altLang="en-US" dirty="0"/>
              <a:t>這邊使用</a:t>
            </a:r>
            <a:r>
              <a:rPr kumimoji="1" lang="en-US" altLang="zh-TW" dirty="0"/>
              <a:t>NLTK</a:t>
            </a:r>
            <a:r>
              <a:rPr kumimoji="1" lang="zh-TW" altLang="en-US" dirty="0"/>
              <a:t>測試</a:t>
            </a:r>
            <a:endParaRPr kumimoji="1" lang="en-US" altLang="zh-TW" dirty="0"/>
          </a:p>
          <a:p>
            <a:pPr lvl="1">
              <a:lnSpc>
                <a:spcPct val="100000"/>
              </a:lnSpc>
            </a:pPr>
            <a:r>
              <a:rPr kumimoji="1" lang="zh-TW" altLang="en-US" dirty="0"/>
              <a:t>全名是 </a:t>
            </a:r>
            <a:r>
              <a:rPr kumimoji="1" lang="en" altLang="zh-TW" dirty="0"/>
              <a:t>Natural Language Tool Kit</a:t>
            </a:r>
            <a:r>
              <a:rPr kumimoji="1" lang="zh-TW" altLang="en" dirty="0"/>
              <a:t>， </a:t>
            </a:r>
            <a:r>
              <a:rPr kumimoji="1" lang="zh-TW" altLang="en-US" dirty="0"/>
              <a:t>是一套基於 </a:t>
            </a:r>
            <a:r>
              <a:rPr kumimoji="1" lang="en" altLang="zh-TW" dirty="0"/>
              <a:t>Python </a:t>
            </a:r>
            <a:r>
              <a:rPr kumimoji="1" lang="zh-TW" altLang="en-US" dirty="0"/>
              <a:t>的自然語言處理工具箱</a:t>
            </a:r>
            <a:endParaRPr kumimoji="1" lang="en-US" altLang="zh-TW" dirty="0"/>
          </a:p>
          <a:p>
            <a:pPr lvl="1">
              <a:lnSpc>
                <a:spcPct val="100000"/>
              </a:lnSpc>
            </a:pPr>
            <a:r>
              <a:rPr kumimoji="1" lang="zh-TW" altLang="en-US" dirty="0"/>
              <a:t>對「標注」、「詞幹提取」、「解析」等任務提供了各種工具和相關資源</a:t>
            </a:r>
            <a:endParaRPr kumimoji="1" lang="en-US" altLang="zh-TW" dirty="0"/>
          </a:p>
          <a:p>
            <a:pPr>
              <a:lnSpc>
                <a:spcPct val="100000"/>
              </a:lnSpc>
            </a:pPr>
            <a:r>
              <a:rPr kumimoji="1" lang="zh-TW" altLang="en-US" dirty="0"/>
              <a:t>先下載相關模組</a:t>
            </a:r>
            <a:endParaRPr kumimoji="1" lang="en-US" altLang="zh-TW" dirty="0"/>
          </a:p>
          <a:p>
            <a:pPr lvl="1">
              <a:lnSpc>
                <a:spcPct val="100000"/>
              </a:lnSpc>
            </a:pPr>
            <a:r>
              <a:rPr kumimoji="1" lang="en-US" altLang="zh-TW" dirty="0" err="1"/>
              <a:t>punkt</a:t>
            </a:r>
            <a:r>
              <a:rPr kumimoji="1" lang="zh-TW" altLang="en-US" dirty="0"/>
              <a:t>用於句子分割（句子切分）</a:t>
            </a:r>
            <a:endParaRPr kumimoji="1" lang="en-US" altLang="zh-TW" dirty="0"/>
          </a:p>
          <a:p>
            <a:pPr lvl="1">
              <a:lnSpc>
                <a:spcPct val="100000"/>
              </a:lnSpc>
            </a:pPr>
            <a:r>
              <a:rPr kumimoji="1" lang="zh-TW" altLang="en-US" dirty="0"/>
              <a:t>在自然語言處理中，將文本分割</a:t>
            </a:r>
            <a:br>
              <a:rPr kumimoji="1" lang="en-US" altLang="zh-TW" dirty="0"/>
            </a:br>
            <a:r>
              <a:rPr kumimoji="1" lang="zh-TW" altLang="en-US" dirty="0"/>
              <a:t>成句子是一個常見的預處理步驟，因為許多 </a:t>
            </a:r>
            <a:r>
              <a:rPr kumimoji="1" lang="en-US" altLang="zh-TW" dirty="0"/>
              <a:t>NLP </a:t>
            </a:r>
            <a:r>
              <a:rPr kumimoji="1" lang="zh-TW" altLang="en-US" dirty="0"/>
              <a:t>任務需要對單獨的句子進行處理，例如情感分析、機器翻譯、文本摘要等。</a:t>
            </a:r>
          </a:p>
          <a:p>
            <a:pPr lvl="1">
              <a:lnSpc>
                <a:spcPct val="100000"/>
              </a:lnSpc>
            </a:pPr>
            <a:r>
              <a:rPr kumimoji="1" lang="en-US" altLang="zh-TW" dirty="0" err="1"/>
              <a:t>punkt</a:t>
            </a:r>
            <a:r>
              <a:rPr kumimoji="1" lang="en-US" altLang="zh-TW" dirty="0"/>
              <a:t> </a:t>
            </a:r>
            <a:r>
              <a:rPr kumimoji="1" lang="zh-TW" altLang="en-US" dirty="0"/>
              <a:t>是一個訓練好的分詞器（</a:t>
            </a:r>
            <a:r>
              <a:rPr kumimoji="1" lang="en-US" altLang="zh-TW" dirty="0"/>
              <a:t>tokenizer</a:t>
            </a:r>
            <a:r>
              <a:rPr kumimoji="1" lang="zh-TW" altLang="en-US" dirty="0"/>
              <a:t>）模型，它能夠根據不同語言中的標點、空格和其他規則來將文本分割成句子或單詞。這個模塊使用的是一種基於無監督學習的方法，通過分析大量文本來自動學習句子和單詞的分割規則，因此可以適用於多種語言和不同文本類型。</a:t>
            </a:r>
            <a:endParaRPr kumimoji="1" lang="en-US" altLang="zh-TW" dirty="0"/>
          </a:p>
        </p:txBody>
      </p:sp>
      <p:sp>
        <p:nvSpPr>
          <p:cNvPr id="5" name="文字方塊 4">
            <a:extLst>
              <a:ext uri="{FF2B5EF4-FFF2-40B4-BE49-F238E27FC236}">
                <a16:creationId xmlns:a16="http://schemas.microsoft.com/office/drawing/2014/main" id="{9E3531AC-38A2-3BE0-6A63-8E02C32128EA}"/>
              </a:ext>
            </a:extLst>
          </p:cNvPr>
          <p:cNvSpPr txBox="1"/>
          <p:nvPr/>
        </p:nvSpPr>
        <p:spPr>
          <a:xfrm>
            <a:off x="5718717" y="3155603"/>
            <a:ext cx="5635083" cy="830997"/>
          </a:xfrm>
          <a:prstGeom prst="rect">
            <a:avLst/>
          </a:prstGeom>
          <a:noFill/>
          <a:ln>
            <a:solidFill>
              <a:schemeClr val="tx1"/>
            </a:solidFill>
          </a:ln>
        </p:spPr>
        <p:txBody>
          <a:bodyPr wrap="square">
            <a:spAutoFit/>
          </a:bodyPr>
          <a:lstStyle/>
          <a:p>
            <a:r>
              <a:rPr lang="en" altLang="zh-TW" sz="1600" b="0" dirty="0">
                <a:solidFill>
                  <a:srgbClr val="AF00DB"/>
                </a:solidFill>
                <a:effectLst/>
                <a:latin typeface="Fira Code" panose="020B0809050000020004" pitchFamily="49" charset="0"/>
              </a:rPr>
              <a:t>import</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nltk</a:t>
            </a:r>
          </a:p>
          <a:p>
            <a:br>
              <a:rPr lang="en" altLang="zh-TW" sz="1600" b="0" dirty="0">
                <a:solidFill>
                  <a:srgbClr val="3B3B3B"/>
                </a:solidFill>
                <a:effectLst/>
                <a:latin typeface="Fira Code" panose="020B0809050000020004" pitchFamily="49" charset="0"/>
              </a:rPr>
            </a:br>
            <a:r>
              <a:rPr lang="en" altLang="zh-TW" sz="1600" b="0" dirty="0" err="1">
                <a:solidFill>
                  <a:srgbClr val="267F99"/>
                </a:solidFill>
                <a:effectLst/>
                <a:latin typeface="Fira Code" panose="020B0809050000020004" pitchFamily="49" charset="0"/>
              </a:rPr>
              <a:t>nltk</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download</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en" altLang="zh-TW" sz="1600" b="0" dirty="0" err="1">
                <a:solidFill>
                  <a:srgbClr val="A31515"/>
                </a:solidFill>
                <a:effectLst/>
                <a:latin typeface="Fira Code" panose="020B0809050000020004" pitchFamily="49" charset="0"/>
              </a:rPr>
              <a:t>punkt</a:t>
            </a:r>
            <a:r>
              <a:rPr lang="en" altLang="zh-TW" sz="1600" b="0" dirty="0">
                <a:solidFill>
                  <a:srgbClr val="A31515"/>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a:t>
            </a:r>
          </a:p>
        </p:txBody>
      </p:sp>
    </p:spTree>
    <p:extLst>
      <p:ext uri="{BB962C8B-B14F-4D97-AF65-F5344CB8AC3E}">
        <p14:creationId xmlns:p14="http://schemas.microsoft.com/office/powerpoint/2010/main" val="853563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26593F-04B4-D42C-4B35-F1E471DB9043}"/>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r>
              <a:rPr kumimoji="1" lang="zh-TW" altLang="en-US" dirty="0"/>
              <a:t> </a:t>
            </a:r>
            <a:r>
              <a:rPr kumimoji="1" lang="en-US" altLang="zh-TW" dirty="0"/>
              <a:t>-</a:t>
            </a:r>
            <a:r>
              <a:rPr kumimoji="1" lang="zh-TW" altLang="en-US" dirty="0"/>
              <a:t> </a:t>
            </a:r>
            <a:r>
              <a:rPr kumimoji="1" lang="en-US" altLang="zh-TW" dirty="0"/>
              <a:t>NLTK</a:t>
            </a:r>
            <a:endParaRPr kumimoji="1" lang="zh-TW" altLang="en-US" dirty="0"/>
          </a:p>
        </p:txBody>
      </p:sp>
      <p:sp>
        <p:nvSpPr>
          <p:cNvPr id="3" name="內容版面配置區 2">
            <a:extLst>
              <a:ext uri="{FF2B5EF4-FFF2-40B4-BE49-F238E27FC236}">
                <a16:creationId xmlns:a16="http://schemas.microsoft.com/office/drawing/2014/main" id="{27B26BFC-1871-3EF4-8BA6-9F8463F86803}"/>
              </a:ext>
            </a:extLst>
          </p:cNvPr>
          <p:cNvSpPr>
            <a:spLocks noGrp="1"/>
          </p:cNvSpPr>
          <p:nvPr>
            <p:ph idx="1"/>
          </p:nvPr>
        </p:nvSpPr>
        <p:spPr/>
        <p:txBody>
          <a:bodyPr/>
          <a:lstStyle/>
          <a:p>
            <a:r>
              <a:rPr kumimoji="1" lang="en" altLang="zh-TW" dirty="0" err="1"/>
              <a:t>averaged_perceptron_tagger</a:t>
            </a:r>
            <a:r>
              <a:rPr kumimoji="1" lang="en" altLang="zh-TW" dirty="0"/>
              <a:t> </a:t>
            </a:r>
            <a:r>
              <a:rPr kumimoji="1" lang="zh-TW" altLang="en-US" dirty="0"/>
              <a:t>是 </a:t>
            </a:r>
            <a:r>
              <a:rPr kumimoji="1" lang="en" altLang="zh-TW" dirty="0"/>
              <a:t>NLTK</a:t>
            </a:r>
            <a:r>
              <a:rPr kumimoji="1" lang="zh-TW" altLang="en" dirty="0"/>
              <a:t>（</a:t>
            </a:r>
            <a:r>
              <a:rPr kumimoji="1" lang="en" altLang="zh-TW" dirty="0"/>
              <a:t>Natural Language Toolkit</a:t>
            </a:r>
            <a:r>
              <a:rPr kumimoji="1" lang="zh-TW" altLang="en" dirty="0"/>
              <a:t>）</a:t>
            </a:r>
            <a:r>
              <a:rPr kumimoji="1" lang="zh-TW" altLang="en-US" dirty="0"/>
              <a:t>庫中的一個部分，它是用於詞性標注（</a:t>
            </a:r>
            <a:r>
              <a:rPr kumimoji="1" lang="en" altLang="zh-TW" dirty="0"/>
              <a:t>Part-of-Speech Tagging</a:t>
            </a:r>
            <a:r>
              <a:rPr kumimoji="1" lang="zh-TW" altLang="en" dirty="0"/>
              <a:t>）</a:t>
            </a:r>
            <a:r>
              <a:rPr kumimoji="1" lang="zh-TW" altLang="en-US" dirty="0"/>
              <a:t>的模塊。</a:t>
            </a:r>
            <a:endParaRPr kumimoji="1" lang="en-US" altLang="zh-TW" dirty="0"/>
          </a:p>
          <a:p>
            <a:r>
              <a:rPr kumimoji="1" lang="en" altLang="zh-TW" dirty="0"/>
              <a:t>NLTK </a:t>
            </a:r>
            <a:r>
              <a:rPr kumimoji="1" lang="zh-TW" altLang="en-US" dirty="0"/>
              <a:t>的 </a:t>
            </a:r>
            <a:r>
              <a:rPr kumimoji="1" lang="en" altLang="zh-TW" dirty="0" err="1"/>
              <a:t>averaged_perceptron_tagger</a:t>
            </a:r>
            <a:r>
              <a:rPr kumimoji="1" lang="en" altLang="zh-TW" dirty="0"/>
              <a:t> </a:t>
            </a:r>
            <a:r>
              <a:rPr kumimoji="1" lang="zh-TW" altLang="en-US" dirty="0"/>
              <a:t>模塊使用了感知器算法（</a:t>
            </a:r>
            <a:r>
              <a:rPr kumimoji="1" lang="en" altLang="zh-TW" dirty="0"/>
              <a:t>Perceptron Algorithm</a:t>
            </a:r>
            <a:r>
              <a:rPr kumimoji="1" lang="zh-TW" altLang="en" dirty="0"/>
              <a:t>）</a:t>
            </a:r>
            <a:r>
              <a:rPr kumimoji="1" lang="zh-TW" altLang="en-US" dirty="0"/>
              <a:t>來進行詞性標注。</a:t>
            </a:r>
            <a:endParaRPr kumimoji="1" lang="en-US" altLang="zh-TW" dirty="0"/>
          </a:p>
          <a:p>
            <a:r>
              <a:rPr kumimoji="1" lang="en" altLang="zh-TW" dirty="0"/>
              <a:t>Perceptron </a:t>
            </a:r>
            <a:r>
              <a:rPr kumimoji="1" lang="zh-TW" altLang="en-US" dirty="0"/>
              <a:t>算法是一種監督學習算法，它可以根據已標注的語料庫來學習單詞和其對應的詞性標籤之間的關係，然後對新的文本進行詞性標注。</a:t>
            </a:r>
          </a:p>
        </p:txBody>
      </p:sp>
      <p:sp>
        <p:nvSpPr>
          <p:cNvPr id="4" name="文字方塊 3">
            <a:extLst>
              <a:ext uri="{FF2B5EF4-FFF2-40B4-BE49-F238E27FC236}">
                <a16:creationId xmlns:a16="http://schemas.microsoft.com/office/drawing/2014/main" id="{3D1F389E-D195-43DB-D3D1-26458F5D2025}"/>
              </a:ext>
            </a:extLst>
          </p:cNvPr>
          <p:cNvSpPr txBox="1"/>
          <p:nvPr/>
        </p:nvSpPr>
        <p:spPr>
          <a:xfrm>
            <a:off x="5718717" y="473908"/>
            <a:ext cx="5635083" cy="1107996"/>
          </a:xfrm>
          <a:prstGeom prst="rect">
            <a:avLst/>
          </a:prstGeom>
          <a:noFill/>
          <a:ln>
            <a:solidFill>
              <a:schemeClr val="tx1"/>
            </a:solidFill>
          </a:ln>
        </p:spPr>
        <p:txBody>
          <a:bodyPr wrap="square">
            <a:spAutoFit/>
          </a:bodyPr>
          <a:lstStyle/>
          <a:p>
            <a:r>
              <a:rPr lang="en" altLang="zh-TW" sz="1600" b="0" dirty="0">
                <a:solidFill>
                  <a:srgbClr val="AF00DB"/>
                </a:solidFill>
                <a:effectLst/>
                <a:latin typeface="Fira Code" panose="020B0809050000020004" pitchFamily="49" charset="0"/>
              </a:rPr>
              <a:t>import</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nltk</a:t>
            </a:r>
          </a:p>
          <a:p>
            <a:br>
              <a:rPr lang="en" altLang="zh-TW" sz="1600" b="0" dirty="0">
                <a:solidFill>
                  <a:srgbClr val="3B3B3B"/>
                </a:solidFill>
                <a:effectLst/>
                <a:latin typeface="Fira Code" panose="020B0809050000020004" pitchFamily="49" charset="0"/>
              </a:rPr>
            </a:br>
            <a:r>
              <a:rPr lang="en" altLang="zh-TW" sz="1600" b="0" dirty="0" err="1">
                <a:solidFill>
                  <a:srgbClr val="267F99"/>
                </a:solidFill>
                <a:effectLst/>
                <a:latin typeface="Fira Code" panose="020B0809050000020004" pitchFamily="49" charset="0"/>
              </a:rPr>
              <a:t>nltk</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download</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en" altLang="zh-TW" sz="1600" b="0" dirty="0" err="1">
                <a:solidFill>
                  <a:srgbClr val="A31515"/>
                </a:solidFill>
                <a:effectLst/>
                <a:latin typeface="Fira Code" panose="020B0809050000020004" pitchFamily="49" charset="0"/>
              </a:rPr>
              <a:t>punkt</a:t>
            </a:r>
            <a:r>
              <a:rPr lang="en" altLang="zh-TW" sz="1600" b="0" dirty="0">
                <a:solidFill>
                  <a:srgbClr val="A31515"/>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a:t>
            </a:r>
          </a:p>
          <a:p>
            <a:r>
              <a:rPr lang="en" altLang="zh-TW" sz="1600" b="0" dirty="0" err="1">
                <a:solidFill>
                  <a:srgbClr val="267F99"/>
                </a:solidFill>
                <a:effectLst/>
                <a:latin typeface="Fira Code" panose="020B0809050000020004" pitchFamily="49" charset="0"/>
              </a:rPr>
              <a:t>nltk</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download</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en" altLang="zh-TW" sz="1600" b="0" dirty="0" err="1">
                <a:solidFill>
                  <a:srgbClr val="A31515"/>
                </a:solidFill>
                <a:effectLst/>
                <a:latin typeface="Fira Code" panose="020B0809050000020004" pitchFamily="49" charset="0"/>
              </a:rPr>
              <a:t>averaged_perceptron_tagger</a:t>
            </a:r>
            <a:r>
              <a:rPr lang="en" altLang="zh-TW" sz="1600" b="0" dirty="0">
                <a:solidFill>
                  <a:srgbClr val="A31515"/>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a:t>
            </a:r>
          </a:p>
        </p:txBody>
      </p:sp>
    </p:spTree>
    <p:extLst>
      <p:ext uri="{BB962C8B-B14F-4D97-AF65-F5344CB8AC3E}">
        <p14:creationId xmlns:p14="http://schemas.microsoft.com/office/powerpoint/2010/main" val="3216022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0C6126-499C-2B7B-82C7-D2DC1AD19DF3}"/>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r>
              <a:rPr kumimoji="1" lang="zh-TW" altLang="en-US" dirty="0"/>
              <a:t> </a:t>
            </a:r>
            <a:r>
              <a:rPr kumimoji="1" lang="en-US" altLang="zh-TW" dirty="0"/>
              <a:t>-</a:t>
            </a:r>
            <a:r>
              <a:rPr kumimoji="1" lang="zh-TW" altLang="en-US" dirty="0"/>
              <a:t> </a:t>
            </a:r>
            <a:r>
              <a:rPr kumimoji="1" lang="en-US" altLang="zh-TW" dirty="0"/>
              <a:t>NLTK</a:t>
            </a:r>
            <a:endParaRPr kumimoji="1" lang="zh-TW" altLang="en-US" dirty="0"/>
          </a:p>
        </p:txBody>
      </p:sp>
      <p:sp>
        <p:nvSpPr>
          <p:cNvPr id="7" name="文字方塊 6">
            <a:extLst>
              <a:ext uri="{FF2B5EF4-FFF2-40B4-BE49-F238E27FC236}">
                <a16:creationId xmlns:a16="http://schemas.microsoft.com/office/drawing/2014/main" id="{517C5578-1833-1EE0-5F80-A37F57668F99}"/>
              </a:ext>
            </a:extLst>
          </p:cNvPr>
          <p:cNvSpPr txBox="1"/>
          <p:nvPr/>
        </p:nvSpPr>
        <p:spPr>
          <a:xfrm>
            <a:off x="838200" y="1825625"/>
            <a:ext cx="8528824" cy="4247317"/>
          </a:xfrm>
          <a:prstGeom prst="rect">
            <a:avLst/>
          </a:prstGeom>
          <a:noFill/>
          <a:ln>
            <a:solidFill>
              <a:schemeClr val="tx1"/>
            </a:solidFill>
          </a:ln>
        </p:spPr>
        <p:txBody>
          <a:bodyPr wrap="square">
            <a:spAutoFit/>
          </a:bodyPr>
          <a:lstStyle/>
          <a:p>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a:solidFill>
                  <a:srgbClr val="267F99"/>
                </a:solidFill>
                <a:effectLst/>
                <a:latin typeface="Fira Code" panose="020B0809050000020004" pitchFamily="49" charset="0"/>
              </a:rPr>
              <a:t>nltk</a:t>
            </a:r>
            <a:endParaRPr lang="en" altLang="zh-TW" b="0" dirty="0">
              <a:solidFill>
                <a:srgbClr val="3B3B3B"/>
              </a:solidFill>
              <a:effectLst/>
              <a:latin typeface="Fira Code" panose="020B0809050000020004" pitchFamily="49" charset="0"/>
            </a:endParaRPr>
          </a:p>
          <a:p>
            <a:r>
              <a:rPr lang="en" altLang="zh-TW" b="0" dirty="0">
                <a:solidFill>
                  <a:srgbClr val="AF00DB"/>
                </a:solidFill>
                <a:effectLst/>
                <a:latin typeface="Fira Code" panose="020B0809050000020004" pitchFamily="49" charset="0"/>
              </a:rPr>
              <a:t>from</a:t>
            </a:r>
            <a:r>
              <a:rPr lang="en" altLang="zh-TW" b="0" dirty="0">
                <a:solidFill>
                  <a:srgbClr val="3B3B3B"/>
                </a:solidFill>
                <a:effectLst/>
                <a:latin typeface="Fira Code" panose="020B0809050000020004" pitchFamily="49" charset="0"/>
              </a:rPr>
              <a:t> </a:t>
            </a:r>
            <a:r>
              <a:rPr lang="en" altLang="zh-TW" b="0" dirty="0">
                <a:solidFill>
                  <a:srgbClr val="267F99"/>
                </a:solidFill>
                <a:effectLst/>
                <a:latin typeface="Fira Code" panose="020B0809050000020004" pitchFamily="49" charset="0"/>
              </a:rPr>
              <a:t>nltk</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err="1">
                <a:solidFill>
                  <a:srgbClr val="795E26"/>
                </a:solidFill>
                <a:effectLst/>
                <a:latin typeface="Fira Code" panose="020B0809050000020004" pitchFamily="49" charset="0"/>
              </a:rPr>
              <a:t>word_tokenize</a:t>
            </a:r>
            <a:r>
              <a:rPr lang="en" altLang="zh-TW" b="0" dirty="0">
                <a:solidFill>
                  <a:srgbClr val="3B3B3B"/>
                </a:solidFill>
                <a:effectLst/>
                <a:latin typeface="Fira Code" panose="020B0809050000020004" pitchFamily="49" charset="0"/>
              </a:rPr>
              <a:t>, </a:t>
            </a:r>
            <a:r>
              <a:rPr lang="en" altLang="zh-TW" b="0" dirty="0" err="1">
                <a:solidFill>
                  <a:srgbClr val="795E26"/>
                </a:solidFill>
                <a:effectLst/>
                <a:latin typeface="Fira Code" panose="020B0809050000020004" pitchFamily="49" charset="0"/>
              </a:rPr>
              <a:t>pos_tag</a:t>
            </a:r>
            <a:endParaRPr lang="en" altLang="zh-TW" b="0" dirty="0">
              <a:solidFill>
                <a:srgbClr val="3B3B3B"/>
              </a:solidFill>
              <a:effectLst/>
              <a:latin typeface="Fira Code" panose="020B0809050000020004" pitchFamily="49" charset="0"/>
            </a:endParaRPr>
          </a:p>
          <a:p>
            <a:br>
              <a:rPr lang="en" altLang="zh-TW" b="0" dirty="0">
                <a:solidFill>
                  <a:srgbClr val="3B3B3B"/>
                </a:solidFill>
                <a:effectLst/>
                <a:latin typeface="Fira Code" panose="020B0809050000020004" pitchFamily="49" charset="0"/>
              </a:rPr>
            </a:br>
            <a:r>
              <a:rPr lang="en" altLang="zh-TW" b="0" dirty="0">
                <a:solidFill>
                  <a:srgbClr val="008000"/>
                </a:solidFill>
                <a:effectLst/>
                <a:latin typeface="Fira Code" panose="020B0809050000020004" pitchFamily="49" charset="0"/>
              </a:rPr>
              <a:t># Sample sentence</a:t>
            </a:r>
            <a:endParaRPr lang="en" altLang="zh-TW" b="0" dirty="0">
              <a:solidFill>
                <a:srgbClr val="3B3B3B"/>
              </a:solidFill>
              <a:effectLst/>
              <a:latin typeface="Fira Code" panose="020B0809050000020004" pitchFamily="49" charset="0"/>
            </a:endParaRPr>
          </a:p>
          <a:p>
            <a:r>
              <a:rPr lang="en" altLang="zh-TW" b="0" dirty="0">
                <a:solidFill>
                  <a:srgbClr val="001080"/>
                </a:solidFill>
                <a:effectLst/>
                <a:latin typeface="Fira Code" panose="020B0809050000020004" pitchFamily="49" charset="0"/>
              </a:rPr>
              <a:t>sentence</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"The quick brown fox jumps over the lazy dog."</a:t>
            </a:r>
            <a:endParaRPr lang="en" altLang="zh-TW" b="0" dirty="0">
              <a:solidFill>
                <a:srgbClr val="3B3B3B"/>
              </a:solidFill>
              <a:effectLst/>
              <a:latin typeface="Fira Code" panose="020B0809050000020004" pitchFamily="49" charset="0"/>
            </a:endParaRPr>
          </a:p>
          <a:p>
            <a:br>
              <a:rPr lang="en" altLang="zh-TW" b="0" dirty="0">
                <a:solidFill>
                  <a:srgbClr val="3B3B3B"/>
                </a:solidFill>
                <a:effectLst/>
                <a:latin typeface="Fira Code" panose="020B0809050000020004" pitchFamily="49" charset="0"/>
              </a:rPr>
            </a:br>
            <a:r>
              <a:rPr lang="en" altLang="zh-TW" b="0" dirty="0">
                <a:solidFill>
                  <a:srgbClr val="008000"/>
                </a:solidFill>
                <a:effectLst/>
                <a:latin typeface="Fira Code" panose="020B0809050000020004" pitchFamily="49" charset="0"/>
              </a:rPr>
              <a:t># Tokenize the sentence</a:t>
            </a:r>
            <a:endParaRPr lang="en" altLang="zh-TW" b="0" dirty="0">
              <a:solidFill>
                <a:srgbClr val="3B3B3B"/>
              </a:solidFill>
              <a:effectLst/>
              <a:latin typeface="Fira Code" panose="020B0809050000020004" pitchFamily="49" charset="0"/>
            </a:endParaRPr>
          </a:p>
          <a:p>
            <a:r>
              <a:rPr lang="en" altLang="zh-TW" b="0" dirty="0">
                <a:solidFill>
                  <a:srgbClr val="001080"/>
                </a:solidFill>
                <a:effectLst/>
                <a:latin typeface="Fira Code" panose="020B0809050000020004" pitchFamily="49" charset="0"/>
              </a:rPr>
              <a:t>tokens</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795E26"/>
                </a:solidFill>
                <a:effectLst/>
                <a:latin typeface="Fira Code" panose="020B0809050000020004" pitchFamily="49" charset="0"/>
              </a:rPr>
              <a:t>word_tokenize</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sentence</a:t>
            </a:r>
            <a:r>
              <a:rPr lang="en" altLang="zh-TW" b="0" dirty="0">
                <a:solidFill>
                  <a:srgbClr val="3B3B3B"/>
                </a:solidFill>
                <a:effectLst/>
                <a:latin typeface="Fira Code" panose="020B0809050000020004" pitchFamily="49" charset="0"/>
              </a:rPr>
              <a:t>)</a:t>
            </a:r>
          </a:p>
          <a:p>
            <a:br>
              <a:rPr lang="en" altLang="zh-TW" b="0" dirty="0">
                <a:solidFill>
                  <a:srgbClr val="3B3B3B"/>
                </a:solidFill>
                <a:effectLst/>
                <a:latin typeface="Fira Code" panose="020B0809050000020004" pitchFamily="49" charset="0"/>
              </a:rPr>
            </a:br>
            <a:r>
              <a:rPr lang="en" altLang="zh-TW" b="0" dirty="0">
                <a:solidFill>
                  <a:srgbClr val="008000"/>
                </a:solidFill>
                <a:effectLst/>
                <a:latin typeface="Fira Code" panose="020B0809050000020004" pitchFamily="49" charset="0"/>
              </a:rPr>
              <a:t># Perform POS tagging</a:t>
            </a:r>
            <a:endParaRPr lang="en" altLang="zh-TW" b="0" dirty="0">
              <a:solidFill>
                <a:srgbClr val="3B3B3B"/>
              </a:solidFill>
              <a:effectLst/>
              <a:latin typeface="Fira Code" panose="020B0809050000020004" pitchFamily="49" charset="0"/>
            </a:endParaRPr>
          </a:p>
          <a:p>
            <a:r>
              <a:rPr lang="en" altLang="zh-TW" b="0" dirty="0" err="1">
                <a:solidFill>
                  <a:srgbClr val="001080"/>
                </a:solidFill>
                <a:effectLst/>
                <a:latin typeface="Fira Code" panose="020B0809050000020004" pitchFamily="49" charset="0"/>
              </a:rPr>
              <a:t>pos_tags</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795E26"/>
                </a:solidFill>
                <a:effectLst/>
                <a:latin typeface="Fira Code" panose="020B0809050000020004" pitchFamily="49" charset="0"/>
              </a:rPr>
              <a:t>pos_tag</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tokens</a:t>
            </a:r>
            <a:r>
              <a:rPr lang="en" altLang="zh-TW" b="0" dirty="0">
                <a:solidFill>
                  <a:srgbClr val="3B3B3B"/>
                </a:solidFill>
                <a:effectLst/>
                <a:latin typeface="Fira Code" panose="020B0809050000020004" pitchFamily="49" charset="0"/>
              </a:rPr>
              <a:t>)</a:t>
            </a:r>
          </a:p>
          <a:p>
            <a:br>
              <a:rPr lang="en" altLang="zh-TW" b="0" dirty="0">
                <a:solidFill>
                  <a:srgbClr val="3B3B3B"/>
                </a:solidFill>
                <a:effectLst/>
                <a:latin typeface="Fira Code" panose="020B0809050000020004" pitchFamily="49" charset="0"/>
              </a:rPr>
            </a:br>
            <a:r>
              <a:rPr lang="en" altLang="zh-TW" b="0" dirty="0">
                <a:solidFill>
                  <a:srgbClr val="008000"/>
                </a:solidFill>
                <a:effectLst/>
                <a:latin typeface="Fira Code" panose="020B0809050000020004" pitchFamily="49" charset="0"/>
              </a:rPr>
              <a:t># Display the POS tags</a:t>
            </a:r>
            <a:endParaRPr lang="en" altLang="zh-TW" b="0" dirty="0">
              <a:solidFill>
                <a:srgbClr val="3B3B3B"/>
              </a:solidFill>
              <a:effectLst/>
              <a:latin typeface="Fira Code" panose="020B0809050000020004" pitchFamily="49" charset="0"/>
            </a:endParaRPr>
          </a:p>
          <a:p>
            <a:r>
              <a:rPr lang="en" altLang="zh-TW" b="0" dirty="0">
                <a:solidFill>
                  <a:srgbClr val="AF00DB"/>
                </a:solidFill>
                <a:effectLst/>
                <a:latin typeface="Fira Code" panose="020B0809050000020004" pitchFamily="49" charset="0"/>
              </a:rPr>
              <a:t>for</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tag</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in</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pos_tags</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	print</a:t>
            </a:r>
            <a:r>
              <a:rPr lang="en" altLang="zh-TW" b="0" dirty="0">
                <a:solidFill>
                  <a:srgbClr val="3B3B3B"/>
                </a:solidFill>
                <a:effectLst/>
                <a:latin typeface="Fira Code" panose="020B0809050000020004" pitchFamily="49" charset="0"/>
              </a:rPr>
              <a:t>(</a:t>
            </a:r>
            <a:r>
              <a:rPr lang="en" altLang="zh-TW" b="0" dirty="0">
                <a:solidFill>
                  <a:srgbClr val="0000FF"/>
                </a:solidFill>
                <a:effectLst/>
                <a:latin typeface="Fira Code" panose="020B0809050000020004" pitchFamily="49" charset="0"/>
              </a:rPr>
              <a:t>f</a:t>
            </a:r>
            <a:r>
              <a:rPr lang="en" altLang="zh-TW" b="0" dirty="0">
                <a:solidFill>
                  <a:srgbClr val="A31515"/>
                </a:solidFill>
                <a:effectLst/>
                <a:latin typeface="Fira Code" panose="020B0809050000020004" pitchFamily="49" charset="0"/>
              </a:rPr>
              <a:t>'</a:t>
            </a:r>
            <a:r>
              <a:rPr lang="en" altLang="zh-TW" b="0" dirty="0">
                <a:solidFill>
                  <a:srgbClr val="0000FF"/>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tag</a:t>
            </a:r>
            <a:r>
              <a:rPr lang="en" altLang="zh-TW" b="0" dirty="0">
                <a:solidFill>
                  <a:srgbClr val="3B3B3B"/>
                </a:solidFill>
                <a:effectLst/>
                <a:latin typeface="Fira Code" panose="020B0809050000020004" pitchFamily="49" charset="0"/>
              </a:rPr>
              <a:t>[</a:t>
            </a:r>
            <a:r>
              <a:rPr lang="en" altLang="zh-TW" b="0" dirty="0">
                <a:solidFill>
                  <a:srgbClr val="098658"/>
                </a:solidFill>
                <a:effectLst/>
                <a:latin typeface="Fira Code" panose="020B0809050000020004" pitchFamily="49" charset="0"/>
              </a:rPr>
              <a:t>0</a:t>
            </a:r>
            <a:r>
              <a:rPr lang="en" altLang="zh-TW" b="0" dirty="0">
                <a:solidFill>
                  <a:srgbClr val="3B3B3B"/>
                </a:solidFill>
                <a:effectLst/>
                <a:latin typeface="Fira Code" panose="020B0809050000020004" pitchFamily="49" charset="0"/>
              </a:rPr>
              <a:t>]</a:t>
            </a:r>
            <a:r>
              <a:rPr lang="en" altLang="zh-TW" b="0" dirty="0">
                <a:solidFill>
                  <a:srgbClr val="0000FF"/>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 </a:t>
            </a:r>
            <a:r>
              <a:rPr lang="en" altLang="zh-TW" b="0" dirty="0">
                <a:solidFill>
                  <a:srgbClr val="0000FF"/>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tag</a:t>
            </a:r>
            <a:r>
              <a:rPr lang="en" altLang="zh-TW" b="0" dirty="0">
                <a:solidFill>
                  <a:srgbClr val="3B3B3B"/>
                </a:solidFill>
                <a:effectLst/>
                <a:latin typeface="Fira Code" panose="020B0809050000020004" pitchFamily="49" charset="0"/>
              </a:rPr>
              <a:t>[</a:t>
            </a:r>
            <a:r>
              <a:rPr lang="en" altLang="zh-TW" b="0" dirty="0">
                <a:solidFill>
                  <a:srgbClr val="098658"/>
                </a:solidFill>
                <a:effectLst/>
                <a:latin typeface="Fira Code" panose="020B0809050000020004" pitchFamily="49" charset="0"/>
              </a:rPr>
              <a:t>1</a:t>
            </a:r>
            <a:r>
              <a:rPr lang="en" altLang="zh-TW" b="0" dirty="0">
                <a:solidFill>
                  <a:srgbClr val="3B3B3B"/>
                </a:solidFill>
                <a:effectLst/>
                <a:latin typeface="Fira Code" panose="020B0809050000020004" pitchFamily="49" charset="0"/>
              </a:rPr>
              <a:t>]</a:t>
            </a:r>
            <a:r>
              <a:rPr lang="en" altLang="zh-TW" b="0" dirty="0">
                <a:solidFill>
                  <a:srgbClr val="0000FF"/>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p>
        </p:txBody>
      </p:sp>
    </p:spTree>
    <p:extLst>
      <p:ext uri="{BB962C8B-B14F-4D97-AF65-F5344CB8AC3E}">
        <p14:creationId xmlns:p14="http://schemas.microsoft.com/office/powerpoint/2010/main" val="608201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6D28A4-6F80-BB31-90A3-1A3F875A5F5C}"/>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r>
              <a:rPr kumimoji="1" lang="zh-TW" altLang="en-US" dirty="0"/>
              <a:t> </a:t>
            </a:r>
            <a:r>
              <a:rPr kumimoji="1" lang="en-US" altLang="zh-TW" dirty="0"/>
              <a:t>-</a:t>
            </a:r>
            <a:r>
              <a:rPr kumimoji="1" lang="zh-TW" altLang="en-US" dirty="0"/>
              <a:t> </a:t>
            </a:r>
            <a:r>
              <a:rPr kumimoji="1" lang="en-US" altLang="zh-TW" dirty="0"/>
              <a:t>NLTK</a:t>
            </a:r>
            <a:endParaRPr kumimoji="1" lang="zh-TW" altLang="en-US" dirty="0"/>
          </a:p>
        </p:txBody>
      </p:sp>
      <p:sp>
        <p:nvSpPr>
          <p:cNvPr id="3" name="內容版面配置區 2">
            <a:extLst>
              <a:ext uri="{FF2B5EF4-FFF2-40B4-BE49-F238E27FC236}">
                <a16:creationId xmlns:a16="http://schemas.microsoft.com/office/drawing/2014/main" id="{F7575301-CB64-5D14-99A2-F84D4C8DF03A}"/>
              </a:ext>
            </a:extLst>
          </p:cNvPr>
          <p:cNvSpPr>
            <a:spLocks noGrp="1"/>
          </p:cNvSpPr>
          <p:nvPr>
            <p:ph idx="1"/>
          </p:nvPr>
        </p:nvSpPr>
        <p:spPr/>
        <p:txBody>
          <a:bodyPr/>
          <a:lstStyle/>
          <a:p>
            <a:r>
              <a:rPr kumimoji="1" lang="en" altLang="zh-TW" dirty="0"/>
              <a:t>word tokenize()</a:t>
            </a:r>
          </a:p>
          <a:p>
            <a:pPr lvl="1"/>
            <a:r>
              <a:rPr kumimoji="1" lang="zh-TW" altLang="en-US" dirty="0"/>
              <a:t>使用預先訓練的詞語進行分拆，該分詞器應用各種規則和啟發式方法將輸入文字拆分為單字。</a:t>
            </a:r>
            <a:endParaRPr kumimoji="1" lang="en-US" altLang="zh-TW" dirty="0"/>
          </a:p>
          <a:p>
            <a:pPr lvl="1"/>
            <a:r>
              <a:rPr kumimoji="1" lang="zh-TW" altLang="en-US" dirty="0"/>
              <a:t>接受一個文字字串作為輸入並傳回一個「標記列表」。</a:t>
            </a:r>
            <a:endParaRPr kumimoji="1" lang="en-US" altLang="zh-TW" dirty="0"/>
          </a:p>
          <a:p>
            <a:r>
              <a:rPr kumimoji="1" lang="en" altLang="zh-TW" dirty="0" err="1"/>
              <a:t>sent_tokenize</a:t>
            </a:r>
            <a:r>
              <a:rPr kumimoji="1" lang="en" altLang="zh-TW" dirty="0"/>
              <a:t>()</a:t>
            </a:r>
          </a:p>
          <a:p>
            <a:pPr lvl="1"/>
            <a:r>
              <a:rPr kumimoji="1" lang="en" altLang="zh-TW" dirty="0" err="1"/>
              <a:t>sent_tokenize</a:t>
            </a:r>
            <a:r>
              <a:rPr kumimoji="1" lang="en" altLang="zh-TW" dirty="0"/>
              <a:t>()</a:t>
            </a:r>
            <a:r>
              <a:rPr kumimoji="1" lang="zh-TW" altLang="en-US" dirty="0"/>
              <a:t>函數將輸入文字拆分為句子。</a:t>
            </a:r>
            <a:endParaRPr kumimoji="1" lang="en-US" altLang="zh-TW" dirty="0"/>
          </a:p>
          <a:p>
            <a:pPr lvl="1"/>
            <a:r>
              <a:rPr kumimoji="1" lang="zh-TW" altLang="en-US" dirty="0"/>
              <a:t>接受一個文字字串作為輸入並傳回一個「句子列表」。</a:t>
            </a:r>
          </a:p>
          <a:p>
            <a:r>
              <a:rPr kumimoji="1" lang="en" altLang="zh-TW" dirty="0" err="1"/>
              <a:t>pos_tag</a:t>
            </a:r>
            <a:r>
              <a:rPr kumimoji="1" lang="en" altLang="zh-TW" dirty="0"/>
              <a:t>()</a:t>
            </a:r>
          </a:p>
          <a:p>
            <a:pPr lvl="1"/>
            <a:r>
              <a:rPr kumimoji="1" lang="zh-TW" altLang="en-US" dirty="0"/>
              <a:t>將單字輸入並傳回一個值，代表它的詞性。</a:t>
            </a:r>
          </a:p>
          <a:p>
            <a:endParaRPr kumimoji="1" lang="zh-TW" altLang="en-US" dirty="0"/>
          </a:p>
        </p:txBody>
      </p:sp>
    </p:spTree>
    <p:extLst>
      <p:ext uri="{BB962C8B-B14F-4D97-AF65-F5344CB8AC3E}">
        <p14:creationId xmlns:p14="http://schemas.microsoft.com/office/powerpoint/2010/main" val="3097828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52FA1C-2371-6FC9-B060-4D4E7102CA9D}"/>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r>
              <a:rPr kumimoji="1" lang="zh-TW" altLang="en-US" dirty="0"/>
              <a:t> </a:t>
            </a:r>
            <a:r>
              <a:rPr kumimoji="1" lang="en-US" altLang="zh-TW" dirty="0"/>
              <a:t>-</a:t>
            </a:r>
            <a:r>
              <a:rPr kumimoji="1" lang="zh-TW" altLang="en-US" dirty="0"/>
              <a:t> </a:t>
            </a:r>
            <a:r>
              <a:rPr kumimoji="1" lang="en-US" altLang="zh-TW" dirty="0"/>
              <a:t>NLTK</a:t>
            </a:r>
            <a:endParaRPr kumimoji="1" lang="zh-TW" altLang="en-US" dirty="0"/>
          </a:p>
        </p:txBody>
      </p:sp>
      <p:sp>
        <p:nvSpPr>
          <p:cNvPr id="3" name="內容版面配置區 2">
            <a:extLst>
              <a:ext uri="{FF2B5EF4-FFF2-40B4-BE49-F238E27FC236}">
                <a16:creationId xmlns:a16="http://schemas.microsoft.com/office/drawing/2014/main" id="{25C4BD83-8E36-EDFC-B1F8-C2F198759D0F}"/>
              </a:ext>
            </a:extLst>
          </p:cNvPr>
          <p:cNvSpPr>
            <a:spLocks noGrp="1"/>
          </p:cNvSpPr>
          <p:nvPr>
            <p:ph idx="1"/>
          </p:nvPr>
        </p:nvSpPr>
        <p:spPr/>
        <p:txBody>
          <a:bodyPr/>
          <a:lstStyle/>
          <a:p>
            <a:r>
              <a:rPr kumimoji="1" lang="zh-TW" altLang="en-US" dirty="0"/>
              <a:t>詞幹演算法</a:t>
            </a:r>
            <a:r>
              <a:rPr kumimoji="1" lang="en-US" altLang="zh-TW" dirty="0"/>
              <a:t>(Stem) - </a:t>
            </a:r>
            <a:r>
              <a:rPr kumimoji="1" lang="en-US" altLang="zh-TW" dirty="0" err="1"/>
              <a:t>PortStemmer</a:t>
            </a:r>
            <a:endParaRPr kumimoji="1" lang="zh-TW" altLang="en-US" dirty="0"/>
          </a:p>
          <a:p>
            <a:pPr lvl="1"/>
            <a:r>
              <a:rPr kumimoji="1" lang="zh-TW" altLang="en-US" dirty="0"/>
              <a:t>使用</a:t>
            </a:r>
            <a:r>
              <a:rPr kumimoji="1" lang="en" altLang="zh-TW" dirty="0" err="1"/>
              <a:t>PorterStemmer.stem</a:t>
            </a:r>
            <a:r>
              <a:rPr kumimoji="1" lang="en" altLang="zh-TW" dirty="0"/>
              <a:t>()</a:t>
            </a:r>
            <a:r>
              <a:rPr kumimoji="1" lang="zh-TW" altLang="en-US" dirty="0"/>
              <a:t>將單字縮減為其</a:t>
            </a:r>
            <a:r>
              <a:rPr kumimoji="1" lang="zh-TW" altLang="en-US" u="sng" dirty="0"/>
              <a:t>基本形式</a:t>
            </a:r>
            <a:r>
              <a:rPr kumimoji="1" lang="zh-TW" altLang="en-US" dirty="0"/>
              <a:t>或</a:t>
            </a:r>
            <a:r>
              <a:rPr kumimoji="1" lang="zh-TW" altLang="en-US" u="sng" dirty="0"/>
              <a:t>字根形式</a:t>
            </a:r>
            <a:r>
              <a:rPr kumimoji="1" lang="zh-TW" altLang="en-US" dirty="0"/>
              <a:t>。</a:t>
            </a:r>
            <a:endParaRPr kumimoji="1" lang="en-US" altLang="zh-TW" dirty="0"/>
          </a:p>
          <a:p>
            <a:pPr lvl="1"/>
            <a:r>
              <a:rPr kumimoji="1" lang="zh-TW" altLang="en-US" dirty="0"/>
              <a:t>詞幹提取是一個透過刪除後綴或前綴來幫助標準化單字的過程。</a:t>
            </a:r>
            <a:endParaRPr kumimoji="1" lang="en-US" altLang="zh-TW" dirty="0"/>
          </a:p>
          <a:p>
            <a:pPr lvl="1"/>
            <a:r>
              <a:rPr kumimoji="1" lang="zh-TW" altLang="en-US" dirty="0"/>
              <a:t>制定規則來拆解單詞</a:t>
            </a:r>
            <a:r>
              <a:rPr kumimoji="1" lang="en-US" altLang="zh-TW" dirty="0"/>
              <a:t>(</a:t>
            </a:r>
            <a:r>
              <a:rPr kumimoji="1" lang="en" altLang="zh-TW" dirty="0"/>
              <a:t>rule-based)</a:t>
            </a:r>
            <a:r>
              <a:rPr kumimoji="1" lang="zh-TW" altLang="en" dirty="0"/>
              <a:t>，</a:t>
            </a:r>
            <a:r>
              <a:rPr kumimoji="1" lang="zh-TW" altLang="en-US" dirty="0"/>
              <a:t>像是看到 </a:t>
            </a:r>
            <a:r>
              <a:rPr kumimoji="1" lang="en" altLang="zh-TW" dirty="0" err="1"/>
              <a:t>ing</a:t>
            </a:r>
            <a:r>
              <a:rPr kumimoji="1" lang="en" altLang="zh-TW" dirty="0"/>
              <a:t>/ed </a:t>
            </a:r>
            <a:r>
              <a:rPr kumimoji="1" lang="zh-TW" altLang="en-US" dirty="0"/>
              <a:t>就去除</a:t>
            </a:r>
            <a:r>
              <a:rPr kumimoji="1" lang="en-US" altLang="zh-TW" dirty="0"/>
              <a:t>(</a:t>
            </a:r>
            <a:r>
              <a:rPr kumimoji="1" lang="zh-TW" altLang="en-US" dirty="0"/>
              <a:t>可能有誤刪的情形</a:t>
            </a:r>
            <a:r>
              <a:rPr kumimoji="1" lang="en-US" altLang="zh-TW" dirty="0"/>
              <a:t>)</a:t>
            </a:r>
            <a:endParaRPr kumimoji="1" lang="zh-TW" altLang="en-US" dirty="0"/>
          </a:p>
        </p:txBody>
      </p:sp>
      <p:sp>
        <p:nvSpPr>
          <p:cNvPr id="7" name="文字方塊 6">
            <a:extLst>
              <a:ext uri="{FF2B5EF4-FFF2-40B4-BE49-F238E27FC236}">
                <a16:creationId xmlns:a16="http://schemas.microsoft.com/office/drawing/2014/main" id="{187A5DCD-F1B5-D900-83C7-5233540C7F38}"/>
              </a:ext>
            </a:extLst>
          </p:cNvPr>
          <p:cNvSpPr txBox="1"/>
          <p:nvPr/>
        </p:nvSpPr>
        <p:spPr>
          <a:xfrm>
            <a:off x="1254511" y="3868639"/>
            <a:ext cx="9261089" cy="2308324"/>
          </a:xfrm>
          <a:prstGeom prst="rect">
            <a:avLst/>
          </a:prstGeom>
          <a:noFill/>
          <a:ln>
            <a:solidFill>
              <a:schemeClr val="tx1"/>
            </a:solidFill>
          </a:ln>
        </p:spPr>
        <p:txBody>
          <a:bodyPr wrap="square">
            <a:spAutoFit/>
          </a:bodyPr>
          <a:lstStyle/>
          <a:p>
            <a:r>
              <a:rPr lang="en" altLang="zh-TW" b="0" dirty="0">
                <a:solidFill>
                  <a:srgbClr val="AF00DB"/>
                </a:solidFill>
                <a:effectLst/>
                <a:latin typeface="Fira Code" panose="020B0809050000020004" pitchFamily="49" charset="0"/>
              </a:rPr>
              <a:t>from</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nltk</a:t>
            </a:r>
            <a:r>
              <a:rPr lang="en" altLang="zh-TW" b="0" dirty="0" err="1">
                <a:solidFill>
                  <a:srgbClr val="3B3B3B"/>
                </a:solidFill>
                <a:effectLst/>
                <a:latin typeface="Fira Code" panose="020B0809050000020004" pitchFamily="49" charset="0"/>
              </a:rPr>
              <a:t>.</a:t>
            </a:r>
            <a:r>
              <a:rPr lang="en" altLang="zh-TW" b="0" dirty="0" err="1">
                <a:solidFill>
                  <a:srgbClr val="267F99"/>
                </a:solidFill>
                <a:effectLst/>
                <a:latin typeface="Fira Code" panose="020B0809050000020004" pitchFamily="49" charset="0"/>
              </a:rPr>
              <a:t>stem</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PorterStemmer</a:t>
            </a:r>
            <a:endParaRPr lang="en" altLang="zh-TW" b="0" dirty="0">
              <a:solidFill>
                <a:srgbClr val="3B3B3B"/>
              </a:solidFill>
              <a:effectLst/>
              <a:latin typeface="Fira Code" panose="020B0809050000020004" pitchFamily="49" charset="0"/>
            </a:endParaRPr>
          </a:p>
          <a:p>
            <a:r>
              <a:rPr lang="en" altLang="zh-TW" b="0" dirty="0" err="1">
                <a:solidFill>
                  <a:srgbClr val="001080"/>
                </a:solidFill>
                <a:effectLst/>
                <a:latin typeface="Fira Code" panose="020B0809050000020004" pitchFamily="49" charset="0"/>
              </a:rPr>
              <a:t>ps</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PorterStemmer</a:t>
            </a:r>
            <a:r>
              <a:rPr lang="en" altLang="zh-TW" b="0" dirty="0">
                <a:solidFill>
                  <a:srgbClr val="3B3B3B"/>
                </a:solidFill>
                <a:effectLst/>
                <a:latin typeface="Fira Code" panose="020B0809050000020004" pitchFamily="49" charset="0"/>
              </a:rPr>
              <a:t>() </a:t>
            </a:r>
          </a:p>
          <a:p>
            <a:r>
              <a:rPr lang="en" altLang="zh-TW" b="0" dirty="0">
                <a:solidFill>
                  <a:srgbClr val="008000"/>
                </a:solidFill>
                <a:effectLst/>
                <a:latin typeface="Fira Code" panose="020B0809050000020004" pitchFamily="49" charset="0"/>
              </a:rPr>
              <a:t># choose some words to be stemmed</a:t>
            </a:r>
            <a:endParaRPr lang="en" altLang="zh-TW" b="0" dirty="0">
              <a:solidFill>
                <a:srgbClr val="3B3B3B"/>
              </a:solidFill>
              <a:effectLst/>
              <a:latin typeface="Fira Code" panose="020B0809050000020004" pitchFamily="49" charset="0"/>
            </a:endParaRPr>
          </a:p>
          <a:p>
            <a:r>
              <a:rPr lang="en" altLang="zh-TW" b="0" dirty="0">
                <a:solidFill>
                  <a:srgbClr val="001080"/>
                </a:solidFill>
                <a:effectLst/>
                <a:latin typeface="Fira Code" panose="020B0809050000020004" pitchFamily="49" charset="0"/>
              </a:rPr>
              <a:t>words</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"go"</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”goes"</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"running"</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"jumps"</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"jumping"</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"played"</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"playing"</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"program"</a:t>
            </a:r>
            <a:r>
              <a:rPr lang="en" altLang="zh-TW" b="0" dirty="0">
                <a:solidFill>
                  <a:srgbClr val="3B3B3B"/>
                </a:solidFill>
                <a:effectLst/>
                <a:latin typeface="Fira Code" panose="020B0809050000020004" pitchFamily="49" charset="0"/>
              </a:rPr>
              <a:t>, </a:t>
            </a:r>
          </a:p>
          <a:p>
            <a:r>
              <a:rPr lang="en" altLang="zh-TW" b="0" dirty="0">
                <a:solidFill>
                  <a:srgbClr val="A31515"/>
                </a:solidFill>
                <a:effectLst/>
                <a:latin typeface="Fira Code" panose="020B0809050000020004" pitchFamily="49" charset="0"/>
              </a:rPr>
              <a:t>"programs"</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"programmer"</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"programming"</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"programmers"</a:t>
            </a:r>
            <a:r>
              <a:rPr lang="en" altLang="zh-TW" b="0" dirty="0">
                <a:solidFill>
                  <a:srgbClr val="3B3B3B"/>
                </a:solidFill>
                <a:effectLst/>
                <a:latin typeface="Fira Code" panose="020B0809050000020004" pitchFamily="49" charset="0"/>
              </a:rPr>
              <a:t>]</a:t>
            </a:r>
          </a:p>
          <a:p>
            <a:r>
              <a:rPr lang="en" altLang="zh-TW" b="0" dirty="0">
                <a:solidFill>
                  <a:srgbClr val="AF00DB"/>
                </a:solidFill>
                <a:effectLst/>
                <a:latin typeface="Fira Code" panose="020B0809050000020004" pitchFamily="49" charset="0"/>
              </a:rPr>
              <a:t>for</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w</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in</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words</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	print</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w</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 : "</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ps</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stem</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w</a:t>
            </a:r>
            <a:r>
              <a:rPr lang="en" altLang="zh-TW" b="0" dirty="0">
                <a:solidFill>
                  <a:srgbClr val="3B3B3B"/>
                </a:solidFill>
                <a:effectLst/>
                <a:latin typeface="Fira Code" panose="020B0809050000020004" pitchFamily="49" charset="0"/>
              </a:rPr>
              <a:t>))</a:t>
            </a:r>
          </a:p>
        </p:txBody>
      </p:sp>
    </p:spTree>
    <p:extLst>
      <p:ext uri="{BB962C8B-B14F-4D97-AF65-F5344CB8AC3E}">
        <p14:creationId xmlns:p14="http://schemas.microsoft.com/office/powerpoint/2010/main" val="4129892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EBBC2A-F120-C32E-236C-36A70A177C72}"/>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r>
              <a:rPr kumimoji="1" lang="zh-TW" altLang="en-US" dirty="0"/>
              <a:t> </a:t>
            </a:r>
            <a:r>
              <a:rPr kumimoji="1" lang="en-US" altLang="zh-TW" dirty="0"/>
              <a:t>-</a:t>
            </a:r>
            <a:r>
              <a:rPr kumimoji="1" lang="zh-TW" altLang="en-US" dirty="0"/>
              <a:t> </a:t>
            </a:r>
            <a:r>
              <a:rPr kumimoji="1" lang="en-US" altLang="zh-TW" dirty="0"/>
              <a:t>NLTK</a:t>
            </a:r>
            <a:endParaRPr kumimoji="1" lang="zh-TW" altLang="en-US" dirty="0"/>
          </a:p>
        </p:txBody>
      </p:sp>
      <p:sp>
        <p:nvSpPr>
          <p:cNvPr id="3" name="內容版面配置區 2">
            <a:extLst>
              <a:ext uri="{FF2B5EF4-FFF2-40B4-BE49-F238E27FC236}">
                <a16:creationId xmlns:a16="http://schemas.microsoft.com/office/drawing/2014/main" id="{FC9F686C-0B65-7B2F-1274-170DE41D0F89}"/>
              </a:ext>
            </a:extLst>
          </p:cNvPr>
          <p:cNvSpPr>
            <a:spLocks noGrp="1"/>
          </p:cNvSpPr>
          <p:nvPr>
            <p:ph idx="1"/>
          </p:nvPr>
        </p:nvSpPr>
        <p:spPr/>
        <p:txBody>
          <a:bodyPr/>
          <a:lstStyle/>
          <a:p>
            <a:r>
              <a:rPr kumimoji="1" lang="zh-TW" altLang="en-US" dirty="0"/>
              <a:t>詞幹演算法</a:t>
            </a:r>
            <a:r>
              <a:rPr kumimoji="1" lang="en-US" altLang="zh-TW" dirty="0"/>
              <a:t>(Stem) -(Lemmatization)</a:t>
            </a:r>
          </a:p>
          <a:p>
            <a:pPr lvl="1"/>
            <a:r>
              <a:rPr kumimoji="1" lang="en" altLang="zh-TW" dirty="0"/>
              <a:t>Lemmatization </a:t>
            </a:r>
            <a:r>
              <a:rPr kumimoji="1" lang="zh-TW" altLang="en-US" dirty="0"/>
              <a:t>是取出單詞的 </a:t>
            </a:r>
            <a:r>
              <a:rPr kumimoji="1" lang="en" altLang="zh-TW" dirty="0"/>
              <a:t>Lemma</a:t>
            </a:r>
            <a:r>
              <a:rPr kumimoji="1" lang="zh-TW" altLang="en" dirty="0"/>
              <a:t>，</a:t>
            </a:r>
            <a:r>
              <a:rPr kumimoji="1" lang="en" altLang="zh-TW" dirty="0"/>
              <a:t>Lemma </a:t>
            </a:r>
            <a:r>
              <a:rPr kumimoji="1" lang="zh-TW" altLang="en-US" dirty="0"/>
              <a:t>為語言學的用詞，可以翻譯為詞條、詞元、詞首等等，其意思為字的元型</a:t>
            </a:r>
            <a:endParaRPr kumimoji="1" lang="en-US" altLang="zh-TW" dirty="0"/>
          </a:p>
          <a:p>
            <a:pPr lvl="1"/>
            <a:r>
              <a:rPr kumimoji="1" lang="zh-TW" altLang="en-US" dirty="0"/>
              <a:t>相較於 </a:t>
            </a:r>
            <a:r>
              <a:rPr kumimoji="1" lang="en" altLang="zh-TW" dirty="0"/>
              <a:t>Stemming </a:t>
            </a:r>
            <a:r>
              <a:rPr kumimoji="1" lang="zh-TW" altLang="en" dirty="0"/>
              <a:t>， </a:t>
            </a:r>
            <a:r>
              <a:rPr kumimoji="1" lang="en" altLang="zh-TW" dirty="0"/>
              <a:t>Lemmatization </a:t>
            </a:r>
            <a:r>
              <a:rPr kumimoji="1" lang="zh-TW" altLang="en-US" dirty="0"/>
              <a:t>需要有字典來尋找單詞的原型，除此之外 </a:t>
            </a:r>
            <a:r>
              <a:rPr kumimoji="1" lang="en" altLang="zh-TW" dirty="0"/>
              <a:t>Lemmatization </a:t>
            </a:r>
            <a:r>
              <a:rPr kumimoji="1" lang="zh-TW" altLang="en-US" dirty="0"/>
              <a:t>也可以利用 </a:t>
            </a:r>
            <a:r>
              <a:rPr kumimoji="1" lang="en" altLang="zh-TW" dirty="0"/>
              <a:t>POS tagging </a:t>
            </a:r>
            <a:r>
              <a:rPr kumimoji="1" lang="zh-TW" altLang="en-US" dirty="0"/>
              <a:t>的訊息來給出更正確的答案。</a:t>
            </a:r>
          </a:p>
        </p:txBody>
      </p:sp>
      <p:sp>
        <p:nvSpPr>
          <p:cNvPr id="5" name="文字方塊 4">
            <a:extLst>
              <a:ext uri="{FF2B5EF4-FFF2-40B4-BE49-F238E27FC236}">
                <a16:creationId xmlns:a16="http://schemas.microsoft.com/office/drawing/2014/main" id="{06F12358-0152-C6BE-1E2C-182EDB28C0D5}"/>
              </a:ext>
            </a:extLst>
          </p:cNvPr>
          <p:cNvSpPr txBox="1"/>
          <p:nvPr/>
        </p:nvSpPr>
        <p:spPr>
          <a:xfrm>
            <a:off x="838200" y="4001294"/>
            <a:ext cx="10714463" cy="1754326"/>
          </a:xfrm>
          <a:prstGeom prst="rect">
            <a:avLst/>
          </a:prstGeom>
          <a:noFill/>
          <a:ln>
            <a:solidFill>
              <a:schemeClr val="tx1"/>
            </a:solidFill>
          </a:ln>
        </p:spPr>
        <p:txBody>
          <a:bodyPr wrap="square">
            <a:spAutoFit/>
          </a:bodyPr>
          <a:lstStyle/>
          <a:p>
            <a:r>
              <a:rPr lang="en" altLang="zh-TW" b="0" dirty="0">
                <a:solidFill>
                  <a:srgbClr val="AF00DB"/>
                </a:solidFill>
                <a:effectLst/>
                <a:latin typeface="Fira Code" panose="020B0809050000020004" pitchFamily="49" charset="0"/>
              </a:rPr>
              <a:t>from</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nltk</a:t>
            </a:r>
            <a:r>
              <a:rPr lang="en" altLang="zh-TW" b="0" dirty="0" err="1">
                <a:solidFill>
                  <a:srgbClr val="3B3B3B"/>
                </a:solidFill>
                <a:effectLst/>
                <a:latin typeface="Fira Code" panose="020B0809050000020004" pitchFamily="49" charset="0"/>
              </a:rPr>
              <a:t>.</a:t>
            </a:r>
            <a:r>
              <a:rPr lang="en" altLang="zh-TW" b="0" dirty="0" err="1">
                <a:solidFill>
                  <a:srgbClr val="267F99"/>
                </a:solidFill>
                <a:effectLst/>
                <a:latin typeface="Fira Code" panose="020B0809050000020004" pitchFamily="49" charset="0"/>
              </a:rPr>
              <a:t>stem</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WordNetLemmatizer</a:t>
            </a:r>
            <a:endParaRPr lang="en" altLang="zh-TW" b="0" dirty="0">
              <a:solidFill>
                <a:srgbClr val="3B3B3B"/>
              </a:solidFill>
              <a:effectLst/>
              <a:latin typeface="Fira Code" panose="020B0809050000020004" pitchFamily="49" charset="0"/>
            </a:endParaRPr>
          </a:p>
          <a:p>
            <a:r>
              <a:rPr lang="en" altLang="zh-TW" b="0" dirty="0" err="1">
                <a:solidFill>
                  <a:srgbClr val="001080"/>
                </a:solidFill>
                <a:effectLst/>
                <a:latin typeface="Fira Code" panose="020B0809050000020004" pitchFamily="49" charset="0"/>
              </a:rPr>
              <a:t>wl</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WordNetLemmatizer</a:t>
            </a:r>
            <a:r>
              <a:rPr lang="en" altLang="zh-TW" b="0" dirty="0">
                <a:solidFill>
                  <a:srgbClr val="3B3B3B"/>
                </a:solidFill>
                <a:effectLst/>
                <a:latin typeface="Fira Code" panose="020B0809050000020004" pitchFamily="49" charset="0"/>
              </a:rPr>
              <a:t>()</a:t>
            </a:r>
          </a:p>
          <a:p>
            <a:r>
              <a:rPr lang="en" altLang="zh-TW" b="0" dirty="0">
                <a:solidFill>
                  <a:srgbClr val="001080"/>
                </a:solidFill>
                <a:effectLst/>
                <a:latin typeface="Fira Code" panose="020B0809050000020004" pitchFamily="49" charset="0"/>
              </a:rPr>
              <a:t>words</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"go"</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”goes"</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"running"</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"jumps"</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"jumping"</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"played"</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"playing"</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"program"</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"programs"</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"programmer"</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"programming"</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"programmers"</a:t>
            </a:r>
            <a:r>
              <a:rPr lang="en" altLang="zh-TW" b="0" dirty="0">
                <a:solidFill>
                  <a:srgbClr val="3B3B3B"/>
                </a:solidFill>
                <a:effectLst/>
                <a:latin typeface="Fira Code" panose="020B0809050000020004" pitchFamily="49" charset="0"/>
              </a:rPr>
              <a:t>]</a:t>
            </a:r>
          </a:p>
          <a:p>
            <a:r>
              <a:rPr lang="en" altLang="zh-TW" b="0" dirty="0">
                <a:solidFill>
                  <a:srgbClr val="AF00DB"/>
                </a:solidFill>
                <a:effectLst/>
                <a:latin typeface="Fira Code" panose="020B0809050000020004" pitchFamily="49" charset="0"/>
              </a:rPr>
              <a:t>for</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w</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in</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words</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    print</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w</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 : "</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wl</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lemmatize</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w</a:t>
            </a:r>
            <a:r>
              <a:rPr lang="en" altLang="zh-TW" b="0" dirty="0">
                <a:solidFill>
                  <a:srgbClr val="3B3B3B"/>
                </a:solidFill>
                <a:effectLst/>
                <a:latin typeface="Fira Code" panose="020B0809050000020004" pitchFamily="49" charset="0"/>
              </a:rPr>
              <a:t>))</a:t>
            </a:r>
          </a:p>
        </p:txBody>
      </p:sp>
    </p:spTree>
    <p:extLst>
      <p:ext uri="{BB962C8B-B14F-4D97-AF65-F5344CB8AC3E}">
        <p14:creationId xmlns:p14="http://schemas.microsoft.com/office/powerpoint/2010/main" val="2049002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F169-5DD3-807C-4EFC-DCFE707A7255}"/>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r>
              <a:rPr kumimoji="1" lang="zh-TW" altLang="en-US" dirty="0"/>
              <a:t> </a:t>
            </a:r>
            <a:r>
              <a:rPr kumimoji="1" lang="en-US" altLang="zh-TW" dirty="0"/>
              <a:t>-</a:t>
            </a:r>
            <a:r>
              <a:rPr kumimoji="1" lang="zh-TW" altLang="en-US" dirty="0"/>
              <a:t> </a:t>
            </a:r>
            <a:r>
              <a:rPr kumimoji="1" lang="en-US" altLang="zh-TW" dirty="0"/>
              <a:t>NLTK</a:t>
            </a:r>
            <a:endParaRPr kumimoji="1" lang="zh-TW" altLang="en-US" dirty="0"/>
          </a:p>
        </p:txBody>
      </p:sp>
      <p:sp>
        <p:nvSpPr>
          <p:cNvPr id="3" name="內容版面配置區 2">
            <a:extLst>
              <a:ext uri="{FF2B5EF4-FFF2-40B4-BE49-F238E27FC236}">
                <a16:creationId xmlns:a16="http://schemas.microsoft.com/office/drawing/2014/main" id="{1E5673CD-2426-DDC1-6D0A-7F0A893A09E0}"/>
              </a:ext>
            </a:extLst>
          </p:cNvPr>
          <p:cNvSpPr>
            <a:spLocks noGrp="1"/>
          </p:cNvSpPr>
          <p:nvPr>
            <p:ph idx="1"/>
          </p:nvPr>
        </p:nvSpPr>
        <p:spPr/>
        <p:txBody>
          <a:bodyPr/>
          <a:lstStyle/>
          <a:p>
            <a:r>
              <a:rPr kumimoji="1" lang="zh-TW" altLang="en-US" dirty="0"/>
              <a:t>比較一下</a:t>
            </a:r>
            <a:r>
              <a:rPr kumimoji="1" lang="en" altLang="zh-TW" dirty="0" err="1"/>
              <a:t>PortStemmer</a:t>
            </a:r>
            <a:r>
              <a:rPr kumimoji="1" lang="zh-TW" altLang="en" dirty="0"/>
              <a:t>跟</a:t>
            </a:r>
            <a:r>
              <a:rPr kumimoji="1" lang="en-US" altLang="zh-TW" dirty="0"/>
              <a:t>Lemmatization</a:t>
            </a:r>
            <a:r>
              <a:rPr kumimoji="1" lang="zh-TW" altLang="en-US" dirty="0"/>
              <a:t>同異之處</a:t>
            </a:r>
          </a:p>
        </p:txBody>
      </p:sp>
      <p:sp>
        <p:nvSpPr>
          <p:cNvPr id="5" name="文字方塊 4">
            <a:extLst>
              <a:ext uri="{FF2B5EF4-FFF2-40B4-BE49-F238E27FC236}">
                <a16:creationId xmlns:a16="http://schemas.microsoft.com/office/drawing/2014/main" id="{87E72D78-A1ED-FF26-66DB-49A52C43E5E9}"/>
              </a:ext>
            </a:extLst>
          </p:cNvPr>
          <p:cNvSpPr txBox="1"/>
          <p:nvPr/>
        </p:nvSpPr>
        <p:spPr>
          <a:xfrm>
            <a:off x="343831" y="2720853"/>
            <a:ext cx="5142569" cy="2308324"/>
          </a:xfrm>
          <a:prstGeom prst="rect">
            <a:avLst/>
          </a:prstGeom>
          <a:noFill/>
          <a:ln>
            <a:solidFill>
              <a:schemeClr val="tx1"/>
            </a:solidFill>
          </a:ln>
        </p:spPr>
        <p:txBody>
          <a:bodyPr wrap="square">
            <a:spAutoFit/>
          </a:bodyPr>
          <a:lstStyle/>
          <a:p>
            <a:r>
              <a:rPr lang="en" altLang="zh-TW" b="0" dirty="0">
                <a:solidFill>
                  <a:srgbClr val="AF00DB"/>
                </a:solidFill>
                <a:effectLst/>
                <a:latin typeface="Fira Code" panose="020B0809050000020004" pitchFamily="49" charset="0"/>
              </a:rPr>
              <a:t>from</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nltk</a:t>
            </a:r>
            <a:r>
              <a:rPr lang="en" altLang="zh-TW" b="0" dirty="0" err="1">
                <a:solidFill>
                  <a:srgbClr val="3B3B3B"/>
                </a:solidFill>
                <a:effectLst/>
                <a:latin typeface="Fira Code" panose="020B0809050000020004" pitchFamily="49" charset="0"/>
              </a:rPr>
              <a:t>.</a:t>
            </a:r>
            <a:r>
              <a:rPr lang="en" altLang="zh-TW" b="0" dirty="0" err="1">
                <a:solidFill>
                  <a:srgbClr val="267F99"/>
                </a:solidFill>
                <a:effectLst/>
                <a:latin typeface="Fira Code" panose="020B0809050000020004" pitchFamily="49" charset="0"/>
              </a:rPr>
              <a:t>stem</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PorterStemmer</a:t>
            </a:r>
            <a:endParaRPr lang="en" altLang="zh-TW" b="0" dirty="0">
              <a:solidFill>
                <a:srgbClr val="3B3B3B"/>
              </a:solidFill>
              <a:effectLst/>
              <a:latin typeface="Fira Code" panose="020B0809050000020004" pitchFamily="49" charset="0"/>
            </a:endParaRPr>
          </a:p>
          <a:p>
            <a:br>
              <a:rPr lang="en" altLang="zh-TW" b="0" dirty="0">
                <a:solidFill>
                  <a:srgbClr val="3B3B3B"/>
                </a:solidFill>
                <a:effectLst/>
                <a:latin typeface="Fira Code" panose="020B0809050000020004" pitchFamily="49" charset="0"/>
              </a:rPr>
            </a:br>
            <a:r>
              <a:rPr lang="en" altLang="zh-TW" b="0" dirty="0">
                <a:solidFill>
                  <a:srgbClr val="001080"/>
                </a:solidFill>
                <a:effectLst/>
                <a:latin typeface="Fira Code" panose="020B0809050000020004" pitchFamily="49" charset="0"/>
              </a:rPr>
              <a:t>porter</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PorterStemmer</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porter</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stem</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"play"</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porter</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stem</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"playing"</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porter</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stem</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"plays"</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porter</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stem</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"played"</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porter</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stem</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"Communication"</a:t>
            </a:r>
            <a:r>
              <a:rPr lang="en" altLang="zh-TW" b="0" dirty="0">
                <a:solidFill>
                  <a:srgbClr val="3B3B3B"/>
                </a:solidFill>
                <a:effectLst/>
                <a:latin typeface="Fira Code" panose="020B0809050000020004" pitchFamily="49" charset="0"/>
              </a:rPr>
              <a:t>))</a:t>
            </a:r>
          </a:p>
        </p:txBody>
      </p:sp>
      <p:sp>
        <p:nvSpPr>
          <p:cNvPr id="7" name="文字方塊 6">
            <a:extLst>
              <a:ext uri="{FF2B5EF4-FFF2-40B4-BE49-F238E27FC236}">
                <a16:creationId xmlns:a16="http://schemas.microsoft.com/office/drawing/2014/main" id="{4D10F860-39CC-1AA4-2179-410391A293F8}"/>
              </a:ext>
            </a:extLst>
          </p:cNvPr>
          <p:cNvSpPr txBox="1"/>
          <p:nvPr/>
        </p:nvSpPr>
        <p:spPr>
          <a:xfrm>
            <a:off x="5597912" y="2720853"/>
            <a:ext cx="6445405" cy="2308324"/>
          </a:xfrm>
          <a:prstGeom prst="rect">
            <a:avLst/>
          </a:prstGeom>
          <a:noFill/>
          <a:ln>
            <a:solidFill>
              <a:schemeClr val="tx1"/>
            </a:solidFill>
          </a:ln>
        </p:spPr>
        <p:txBody>
          <a:bodyPr wrap="square">
            <a:spAutoFit/>
          </a:bodyPr>
          <a:lstStyle/>
          <a:p>
            <a:r>
              <a:rPr lang="en" altLang="zh-TW" b="0" dirty="0">
                <a:solidFill>
                  <a:srgbClr val="AF00DB"/>
                </a:solidFill>
                <a:effectLst/>
                <a:latin typeface="Fira Code" panose="020B0809050000020004" pitchFamily="49" charset="0"/>
              </a:rPr>
              <a:t>from</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nltk</a:t>
            </a:r>
            <a:r>
              <a:rPr lang="en" altLang="zh-TW" b="0" dirty="0" err="1">
                <a:solidFill>
                  <a:srgbClr val="3B3B3B"/>
                </a:solidFill>
                <a:effectLst/>
                <a:latin typeface="Fira Code" panose="020B0809050000020004" pitchFamily="49" charset="0"/>
              </a:rPr>
              <a:t>.</a:t>
            </a:r>
            <a:r>
              <a:rPr lang="en" altLang="zh-TW" b="0" dirty="0" err="1">
                <a:solidFill>
                  <a:srgbClr val="267F99"/>
                </a:solidFill>
                <a:effectLst/>
                <a:latin typeface="Fira Code" panose="020B0809050000020004" pitchFamily="49" charset="0"/>
              </a:rPr>
              <a:t>stem</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WordNetLemmatizer</a:t>
            </a:r>
            <a:endParaRPr lang="en" altLang="zh-TW" b="0" dirty="0">
              <a:solidFill>
                <a:srgbClr val="3B3B3B"/>
              </a:solidFill>
              <a:effectLst/>
              <a:latin typeface="Fira Code" panose="020B0809050000020004" pitchFamily="49" charset="0"/>
            </a:endParaRPr>
          </a:p>
          <a:p>
            <a:r>
              <a:rPr lang="en" altLang="zh-TW" b="0" dirty="0" err="1">
                <a:solidFill>
                  <a:srgbClr val="001080"/>
                </a:solidFill>
                <a:effectLst/>
                <a:latin typeface="Fira Code" panose="020B0809050000020004" pitchFamily="49" charset="0"/>
              </a:rPr>
              <a:t>lemmatizer</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WordNetLemmatizer</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lemmatizer</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lemmatize</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"plays"</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'v'</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lemmatizer</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lemmatize</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"played"</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'v'</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lemmatizer</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lemmatize</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"play"</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'v'</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lemmatizer</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lemmatize</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"playing"</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'v'</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lemmatizer</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lemmatize</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"Communication"</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'v'</a:t>
            </a:r>
            <a:r>
              <a:rPr lang="en" altLang="zh-TW" b="0" dirty="0">
                <a:solidFill>
                  <a:srgbClr val="3B3B3B"/>
                </a:solidFill>
                <a:effectLst/>
                <a:latin typeface="Fira Code" panose="020B0809050000020004" pitchFamily="49" charset="0"/>
              </a:rPr>
              <a:t>))</a:t>
            </a:r>
          </a:p>
        </p:txBody>
      </p:sp>
    </p:spTree>
    <p:extLst>
      <p:ext uri="{BB962C8B-B14F-4D97-AF65-F5344CB8AC3E}">
        <p14:creationId xmlns:p14="http://schemas.microsoft.com/office/powerpoint/2010/main" val="699818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EAE4E5-CE36-63A2-439B-CED84CF2A10F}"/>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r>
              <a:rPr kumimoji="1" lang="zh-TW" altLang="en-US" dirty="0"/>
              <a:t> </a:t>
            </a:r>
            <a:r>
              <a:rPr kumimoji="1" lang="en-US" altLang="zh-TW" dirty="0"/>
              <a:t>-</a:t>
            </a:r>
            <a:r>
              <a:rPr kumimoji="1" lang="zh-TW" altLang="en-US" dirty="0"/>
              <a:t> </a:t>
            </a:r>
            <a:r>
              <a:rPr kumimoji="1" lang="en-US" altLang="zh-TW" dirty="0"/>
              <a:t>NLTK</a:t>
            </a:r>
            <a:endParaRPr kumimoji="1" lang="zh-TW" altLang="en-US" dirty="0"/>
          </a:p>
        </p:txBody>
      </p:sp>
      <p:sp>
        <p:nvSpPr>
          <p:cNvPr id="3" name="內容版面配置區 2">
            <a:extLst>
              <a:ext uri="{FF2B5EF4-FFF2-40B4-BE49-F238E27FC236}">
                <a16:creationId xmlns:a16="http://schemas.microsoft.com/office/drawing/2014/main" id="{8F05FBBE-83F8-23D5-EFBE-3E226015ABCA}"/>
              </a:ext>
            </a:extLst>
          </p:cNvPr>
          <p:cNvSpPr>
            <a:spLocks noGrp="1"/>
          </p:cNvSpPr>
          <p:nvPr>
            <p:ph idx="1"/>
          </p:nvPr>
        </p:nvSpPr>
        <p:spPr>
          <a:solidFill>
            <a:schemeClr val="bg1"/>
          </a:solidFill>
          <a:ln>
            <a:solidFill>
              <a:schemeClr val="tx1"/>
            </a:solidFill>
          </a:ln>
        </p:spPr>
        <p:txBody>
          <a:bodyPr/>
          <a:lstStyle/>
          <a:p>
            <a:r>
              <a:rPr kumimoji="1" lang="en-US" altLang="zh-TW" dirty="0"/>
              <a:t>NER</a:t>
            </a:r>
            <a:r>
              <a:rPr kumimoji="1" lang="zh-TW" altLang="en-US" dirty="0"/>
              <a:t>：</a:t>
            </a:r>
            <a:r>
              <a:rPr kumimoji="1" lang="en-US" altLang="zh-TW" dirty="0" err="1"/>
              <a:t>ne_chunk</a:t>
            </a:r>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p:txBody>
      </p:sp>
      <p:sp>
        <p:nvSpPr>
          <p:cNvPr id="5" name="文字方塊 4">
            <a:extLst>
              <a:ext uri="{FF2B5EF4-FFF2-40B4-BE49-F238E27FC236}">
                <a16:creationId xmlns:a16="http://schemas.microsoft.com/office/drawing/2014/main" id="{F3214D31-686B-97E5-14E6-71B84223383F}"/>
              </a:ext>
            </a:extLst>
          </p:cNvPr>
          <p:cNvSpPr txBox="1"/>
          <p:nvPr/>
        </p:nvSpPr>
        <p:spPr>
          <a:xfrm>
            <a:off x="559419" y="2299694"/>
            <a:ext cx="11552662" cy="4278094"/>
          </a:xfrm>
          <a:prstGeom prst="rect">
            <a:avLst/>
          </a:prstGeom>
          <a:solidFill>
            <a:schemeClr val="bg1"/>
          </a:solidFill>
          <a:ln>
            <a:solidFill>
              <a:schemeClr val="tx1"/>
            </a:solidFill>
          </a:ln>
        </p:spPr>
        <p:txBody>
          <a:bodyPr wrap="square">
            <a:spAutoFit/>
          </a:bodyPr>
          <a:lstStyle/>
          <a:p>
            <a:r>
              <a:rPr lang="en" altLang="zh-TW" sz="1600" b="0" dirty="0">
                <a:solidFill>
                  <a:srgbClr val="AF00DB"/>
                </a:solidFill>
                <a:effectLst/>
                <a:latin typeface="Fira Code" panose="020B0809050000020004" pitchFamily="49" charset="0"/>
              </a:rPr>
              <a:t>import</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nltk</a:t>
            </a:r>
            <a:endParaRPr lang="en" altLang="zh-TW" sz="1600" b="0" dirty="0">
              <a:solidFill>
                <a:srgbClr val="3B3B3B"/>
              </a:solidFill>
              <a:effectLst/>
              <a:latin typeface="Fira Code" panose="020B0809050000020004" pitchFamily="49" charset="0"/>
            </a:endParaRPr>
          </a:p>
          <a:p>
            <a:r>
              <a:rPr lang="en" altLang="zh-TW" sz="1600" b="0" dirty="0">
                <a:solidFill>
                  <a:srgbClr val="AF00DB"/>
                </a:solidFill>
                <a:effectLst/>
                <a:latin typeface="Fira Code" panose="020B0809050000020004" pitchFamily="49" charset="0"/>
              </a:rPr>
              <a:t>from</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nltk</a:t>
            </a:r>
            <a:r>
              <a:rPr lang="en" altLang="zh-TW" sz="1600" b="0" dirty="0">
                <a:solidFill>
                  <a:srgbClr val="3B3B3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rPr>
              <a:t>import</a:t>
            </a:r>
            <a:r>
              <a:rPr lang="en" altLang="zh-TW" sz="1600" b="0" dirty="0">
                <a:solidFill>
                  <a:srgbClr val="3B3B3B"/>
                </a:solidFill>
                <a:effectLst/>
                <a:latin typeface="Fira Code" panose="020B0809050000020004" pitchFamily="49" charset="0"/>
              </a:rPr>
              <a:t> </a:t>
            </a:r>
            <a:r>
              <a:rPr lang="en" altLang="zh-TW" sz="1600" b="0" dirty="0" err="1">
                <a:solidFill>
                  <a:srgbClr val="795E26"/>
                </a:solidFill>
                <a:effectLst/>
                <a:latin typeface="Fira Code" panose="020B0809050000020004" pitchFamily="49" charset="0"/>
              </a:rPr>
              <a:t>ne_chunk</a:t>
            </a:r>
            <a:r>
              <a:rPr lang="en" altLang="zh-TW" sz="1600" b="0" dirty="0">
                <a:solidFill>
                  <a:srgbClr val="3B3B3B"/>
                </a:solidFill>
                <a:effectLst/>
                <a:latin typeface="Fira Code" panose="020B0809050000020004" pitchFamily="49" charset="0"/>
              </a:rPr>
              <a:t> </a:t>
            </a:r>
            <a:r>
              <a:rPr lang="en" altLang="zh-TW" sz="1600" b="0" dirty="0">
                <a:solidFill>
                  <a:srgbClr val="008000"/>
                </a:solidFill>
                <a:effectLst/>
                <a:latin typeface="Fira Code" panose="020B0809050000020004" pitchFamily="49" charset="0"/>
              </a:rPr>
              <a:t>##importing chunk library from nltk</a:t>
            </a:r>
            <a:endParaRPr lang="en" altLang="zh-TW" sz="1600" b="0" dirty="0">
              <a:solidFill>
                <a:srgbClr val="3B3B3B"/>
              </a:solidFill>
              <a:effectLst/>
              <a:latin typeface="Fira Code" panose="020B0809050000020004" pitchFamily="49" charset="0"/>
            </a:endParaRPr>
          </a:p>
          <a:p>
            <a:r>
              <a:rPr lang="en" altLang="zh-TW" sz="1600" b="0" dirty="0">
                <a:solidFill>
                  <a:srgbClr val="001080"/>
                </a:solidFill>
                <a:effectLst/>
                <a:latin typeface="Fira Code" panose="020B0809050000020004" pitchFamily="49" charset="0"/>
              </a:rPr>
              <a:t>text</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a:solidFill>
                  <a:srgbClr val="A31515"/>
                </a:solidFill>
                <a:effectLst/>
                <a:latin typeface="Fira Code" panose="020B0809050000020004" pitchFamily="49" charset="0"/>
              </a:rPr>
              <a:t>"Google's CEO Sundar Pichai introduced the new Pixel at Minnesota Roi Centre Event"</a:t>
            </a:r>
            <a:endParaRPr lang="en" altLang="zh-TW" sz="1600" b="0" dirty="0">
              <a:solidFill>
                <a:srgbClr val="3B3B3B"/>
              </a:solidFill>
              <a:effectLst/>
              <a:latin typeface="Fira Code" panose="020B0809050000020004" pitchFamily="49" charset="0"/>
            </a:endParaRPr>
          </a:p>
          <a:p>
            <a:r>
              <a:rPr lang="en" altLang="zh-TW" sz="1600" b="0" dirty="0">
                <a:solidFill>
                  <a:srgbClr val="001080"/>
                </a:solidFill>
                <a:effectLst/>
                <a:latin typeface="Fira Code" panose="020B0809050000020004" pitchFamily="49" charset="0"/>
              </a:rPr>
              <a:t>token</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267F99"/>
                </a:solidFill>
                <a:effectLst/>
                <a:latin typeface="Fira Code" panose="020B0809050000020004" pitchFamily="49" charset="0"/>
              </a:rPr>
              <a:t>nltk</a:t>
            </a:r>
            <a:r>
              <a:rPr lang="en" altLang="zh-TW" sz="1600" b="0" dirty="0" err="1">
                <a:solidFill>
                  <a:srgbClr val="3B3B3B"/>
                </a:solidFill>
                <a:effectLst/>
                <a:latin typeface="Fira Code" panose="020B0809050000020004" pitchFamily="49" charset="0"/>
              </a:rPr>
              <a:t>.</a:t>
            </a:r>
            <a:r>
              <a:rPr lang="en" altLang="zh-TW" sz="1600" b="0" dirty="0" err="1">
                <a:solidFill>
                  <a:srgbClr val="267F99"/>
                </a:solidFill>
                <a:effectLst/>
                <a:latin typeface="Fira Code" panose="020B0809050000020004" pitchFamily="49" charset="0"/>
              </a:rPr>
              <a:t>tokenize</a:t>
            </a:r>
            <a:r>
              <a:rPr lang="en" altLang="zh-TW" sz="1600" b="0" dirty="0" err="1">
                <a:solidFill>
                  <a:srgbClr val="3B3B3B"/>
                </a:solidFill>
                <a:effectLst/>
                <a:latin typeface="Fira Code" panose="020B0809050000020004" pitchFamily="49" charset="0"/>
              </a:rPr>
              <a:t>.</a:t>
            </a:r>
            <a:r>
              <a:rPr lang="en" altLang="zh-TW" sz="1600" b="0" dirty="0" err="1">
                <a:solidFill>
                  <a:srgbClr val="795E26"/>
                </a:solidFill>
                <a:effectLst/>
                <a:latin typeface="Fira Code" panose="020B0809050000020004" pitchFamily="49" charset="0"/>
              </a:rPr>
              <a:t>word_tokenize</a:t>
            </a:r>
            <a:r>
              <a:rPr lang="en" altLang="zh-TW" sz="1600" b="0" dirty="0">
                <a:solidFill>
                  <a:srgbClr val="3B3B3B"/>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text</a:t>
            </a:r>
            <a:r>
              <a:rPr lang="en" altLang="zh-TW" sz="1600" b="0" dirty="0">
                <a:solidFill>
                  <a:srgbClr val="3B3B3B"/>
                </a:solidFill>
                <a:effectLst/>
                <a:latin typeface="Fira Code" panose="020B0809050000020004" pitchFamily="49" charset="0"/>
              </a:rPr>
              <a:t>) </a:t>
            </a:r>
            <a:r>
              <a:rPr lang="en" altLang="zh-TW" sz="1600" b="0" dirty="0">
                <a:solidFill>
                  <a:srgbClr val="008000"/>
                </a:solidFill>
                <a:effectLst/>
                <a:latin typeface="Fira Code" panose="020B0809050000020004" pitchFamily="49" charset="0"/>
              </a:rPr>
              <a:t># </a:t>
            </a:r>
            <a:r>
              <a:rPr lang="zh-TW" altLang="en-US" sz="1600" b="0" dirty="0">
                <a:solidFill>
                  <a:srgbClr val="008000"/>
                </a:solidFill>
                <a:effectLst/>
                <a:latin typeface="Fira Code" panose="020B0809050000020004" pitchFamily="49" charset="0"/>
              </a:rPr>
              <a:t>在做</a:t>
            </a:r>
            <a:r>
              <a:rPr lang="en" altLang="zh-TW" sz="1600" b="0" dirty="0">
                <a:solidFill>
                  <a:srgbClr val="008000"/>
                </a:solidFill>
                <a:effectLst/>
                <a:latin typeface="Fira Code" panose="020B0809050000020004" pitchFamily="49" charset="0"/>
              </a:rPr>
              <a:t>NER chunk</a:t>
            </a:r>
            <a:r>
              <a:rPr lang="zh-TW" altLang="en-US" sz="1600" b="0" dirty="0">
                <a:solidFill>
                  <a:srgbClr val="008000"/>
                </a:solidFill>
                <a:effectLst/>
                <a:latin typeface="Fira Code" panose="020B0809050000020004" pitchFamily="49" charset="0"/>
              </a:rPr>
              <a:t>前，需要先做</a:t>
            </a:r>
            <a:r>
              <a:rPr lang="en" altLang="zh-TW" sz="1600" b="0" dirty="0">
                <a:solidFill>
                  <a:srgbClr val="008000"/>
                </a:solidFill>
                <a:effectLst/>
                <a:latin typeface="Fira Code" panose="020B0809050000020004" pitchFamily="49" charset="0"/>
              </a:rPr>
              <a:t>tokenize</a:t>
            </a:r>
            <a:r>
              <a:rPr lang="zh-TW" altLang="en-US" sz="1600" b="0" dirty="0">
                <a:solidFill>
                  <a:srgbClr val="008000"/>
                </a:solidFill>
                <a:effectLst/>
                <a:latin typeface="Fira Code" panose="020B0809050000020004" pitchFamily="49" charset="0"/>
              </a:rPr>
              <a:t>跟</a:t>
            </a:r>
            <a:r>
              <a:rPr lang="en" altLang="zh-TW" sz="1600" b="0" dirty="0">
                <a:solidFill>
                  <a:srgbClr val="008000"/>
                </a:solidFill>
                <a:effectLst/>
                <a:latin typeface="Fira Code" panose="020B0809050000020004" pitchFamily="49" charset="0"/>
              </a:rPr>
              <a:t>pos tagging</a:t>
            </a:r>
            <a:endParaRPr lang="en" altLang="zh-TW" sz="1600" b="0" dirty="0">
              <a:solidFill>
                <a:srgbClr val="3B3B3B"/>
              </a:solidFill>
              <a:effectLst/>
              <a:latin typeface="Fira Code" panose="020B0809050000020004" pitchFamily="49" charset="0"/>
            </a:endParaRPr>
          </a:p>
          <a:p>
            <a:r>
              <a:rPr lang="en" altLang="zh-TW" sz="1600" b="0" dirty="0">
                <a:solidFill>
                  <a:srgbClr val="008000"/>
                </a:solidFill>
                <a:effectLst/>
                <a:latin typeface="Fira Code" panose="020B0809050000020004" pitchFamily="49" charset="0"/>
              </a:rPr>
              <a:t># </a:t>
            </a:r>
            <a:r>
              <a:rPr lang="zh-TW" altLang="en-US" sz="1600" b="0" dirty="0">
                <a:solidFill>
                  <a:srgbClr val="008000"/>
                </a:solidFill>
                <a:effectLst/>
                <a:latin typeface="Fira Code" panose="020B0809050000020004" pitchFamily="49" charset="0"/>
              </a:rPr>
              <a:t>而</a:t>
            </a:r>
            <a:r>
              <a:rPr lang="en" altLang="zh-TW" sz="1600" b="0" dirty="0">
                <a:solidFill>
                  <a:srgbClr val="008000"/>
                </a:solidFill>
                <a:effectLst/>
                <a:latin typeface="Fira Code" panose="020B0809050000020004" pitchFamily="49" charset="0"/>
              </a:rPr>
              <a:t>tokenize</a:t>
            </a:r>
            <a:r>
              <a:rPr lang="zh-TW" altLang="en-US" sz="1600" b="0" dirty="0">
                <a:solidFill>
                  <a:srgbClr val="008000"/>
                </a:solidFill>
                <a:effectLst/>
                <a:latin typeface="Fira Code" panose="020B0809050000020004" pitchFamily="49" charset="0"/>
              </a:rPr>
              <a:t>是將句子切成詞的過程，</a:t>
            </a:r>
            <a:r>
              <a:rPr lang="en" altLang="zh-TW" sz="1600" b="0" dirty="0">
                <a:solidFill>
                  <a:srgbClr val="008000"/>
                </a:solidFill>
                <a:effectLst/>
                <a:latin typeface="Fira Code" panose="020B0809050000020004" pitchFamily="49" charset="0"/>
              </a:rPr>
              <a:t>pos tagging</a:t>
            </a:r>
            <a:r>
              <a:rPr lang="zh-TW" altLang="en-US" sz="1600" b="0" dirty="0">
                <a:solidFill>
                  <a:srgbClr val="008000"/>
                </a:solidFill>
                <a:effectLst/>
                <a:latin typeface="Fira Code" panose="020B0809050000020004" pitchFamily="49" charset="0"/>
              </a:rPr>
              <a:t>是將詞語性標示出來的過程。</a:t>
            </a:r>
            <a:endParaRPr lang="zh-TW" altLang="en-US" sz="1600" b="0" dirty="0">
              <a:solidFill>
                <a:srgbClr val="3B3B3B"/>
              </a:solidFill>
              <a:effectLst/>
              <a:latin typeface="Fira Code" panose="020B0809050000020004" pitchFamily="49" charset="0"/>
            </a:endParaRPr>
          </a:p>
          <a:p>
            <a:r>
              <a:rPr lang="en" altLang="zh-TW" sz="1600" b="0" dirty="0">
                <a:solidFill>
                  <a:srgbClr val="001080"/>
                </a:solidFill>
                <a:effectLst/>
                <a:latin typeface="Fira Code" panose="020B0809050000020004" pitchFamily="49" charset="0"/>
              </a:rPr>
              <a:t>tags</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267F99"/>
                </a:solidFill>
                <a:effectLst/>
                <a:latin typeface="Fira Code" panose="020B0809050000020004" pitchFamily="49" charset="0"/>
              </a:rPr>
              <a:t>nltk</a:t>
            </a:r>
            <a:r>
              <a:rPr lang="en" altLang="zh-TW" sz="1600" b="0" dirty="0" err="1">
                <a:solidFill>
                  <a:srgbClr val="3B3B3B"/>
                </a:solidFill>
                <a:effectLst/>
                <a:latin typeface="Fira Code" panose="020B0809050000020004" pitchFamily="49" charset="0"/>
              </a:rPr>
              <a:t>.</a:t>
            </a:r>
            <a:r>
              <a:rPr lang="en" altLang="zh-TW" sz="1600" b="0" dirty="0" err="1">
                <a:solidFill>
                  <a:srgbClr val="795E26"/>
                </a:solidFill>
                <a:effectLst/>
                <a:latin typeface="Fira Code" panose="020B0809050000020004" pitchFamily="49" charset="0"/>
              </a:rPr>
              <a:t>pos_tag</a:t>
            </a:r>
            <a:r>
              <a:rPr lang="en" altLang="zh-TW" sz="1600" b="0" dirty="0">
                <a:solidFill>
                  <a:srgbClr val="3B3B3B"/>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token</a:t>
            </a:r>
            <a:r>
              <a:rPr lang="en" altLang="zh-TW" sz="1600" b="0" dirty="0">
                <a:solidFill>
                  <a:srgbClr val="3B3B3B"/>
                </a:solidFill>
                <a:effectLst/>
                <a:latin typeface="Fira Code" panose="020B0809050000020004" pitchFamily="49" charset="0"/>
              </a:rPr>
              <a:t>)</a:t>
            </a:r>
          </a:p>
          <a:p>
            <a:r>
              <a:rPr lang="en" altLang="zh-TW" sz="1600" b="0" dirty="0">
                <a:solidFill>
                  <a:srgbClr val="001080"/>
                </a:solidFill>
                <a:effectLst/>
                <a:latin typeface="Fira Code" panose="020B0809050000020004" pitchFamily="49" charset="0"/>
              </a:rPr>
              <a:t>chunk</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795E26"/>
                </a:solidFill>
                <a:effectLst/>
                <a:latin typeface="Fira Code" panose="020B0809050000020004" pitchFamily="49" charset="0"/>
              </a:rPr>
              <a:t>ne_chunk</a:t>
            </a:r>
            <a:r>
              <a:rPr lang="en" altLang="zh-TW" sz="1600" b="0" dirty="0">
                <a:solidFill>
                  <a:srgbClr val="3B3B3B"/>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tags</a:t>
            </a:r>
            <a:r>
              <a:rPr lang="en" altLang="zh-TW" sz="1600" b="0" dirty="0">
                <a:solidFill>
                  <a:srgbClr val="3B3B3B"/>
                </a:solidFill>
                <a:effectLst/>
                <a:latin typeface="Fira Code" panose="020B0809050000020004" pitchFamily="49" charset="0"/>
              </a:rPr>
              <a:t>)</a:t>
            </a:r>
          </a:p>
          <a:p>
            <a:r>
              <a:rPr lang="en" altLang="zh-TW" sz="1600" b="0" dirty="0">
                <a:solidFill>
                  <a:srgbClr val="795E26"/>
                </a:solidFill>
                <a:effectLst/>
                <a:latin typeface="Fira Code" panose="020B0809050000020004" pitchFamily="49" charset="0"/>
              </a:rPr>
              <a:t>print</a:t>
            </a:r>
            <a:r>
              <a:rPr lang="en" altLang="zh-TW" sz="1600" b="0" dirty="0">
                <a:solidFill>
                  <a:srgbClr val="3B3B3B"/>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chunk</a:t>
            </a:r>
            <a:r>
              <a:rPr lang="en" altLang="zh-TW" sz="1600" b="0" dirty="0">
                <a:solidFill>
                  <a:srgbClr val="3B3B3B"/>
                </a:solidFill>
                <a:effectLst/>
                <a:latin typeface="Fira Code" panose="020B0809050000020004" pitchFamily="49" charset="0"/>
              </a:rPr>
              <a:t>)</a:t>
            </a:r>
          </a:p>
          <a:p>
            <a:r>
              <a:rPr lang="en" altLang="zh-TW" sz="1600" b="0" dirty="0" err="1">
                <a:solidFill>
                  <a:srgbClr val="001080"/>
                </a:solidFill>
                <a:effectLst/>
                <a:latin typeface="Fira Code" panose="020B0809050000020004" pitchFamily="49" charset="0"/>
              </a:rPr>
              <a:t>named_entities</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p>
          <a:p>
            <a:r>
              <a:rPr lang="en" altLang="zh-TW" sz="1600" b="0" dirty="0">
                <a:solidFill>
                  <a:srgbClr val="AF00DB"/>
                </a:solidFill>
                <a:effectLst/>
                <a:latin typeface="Fira Code" panose="020B0809050000020004" pitchFamily="49" charset="0"/>
              </a:rPr>
              <a:t>for</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tagged_tree</a:t>
            </a:r>
            <a:r>
              <a:rPr lang="en" altLang="zh-TW" sz="1600" b="0" dirty="0">
                <a:solidFill>
                  <a:srgbClr val="3B3B3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rPr>
              <a:t>in</a:t>
            </a:r>
            <a:r>
              <a:rPr lang="en" altLang="zh-TW" sz="1600" b="0" dirty="0">
                <a:solidFill>
                  <a:srgbClr val="3B3B3B"/>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chunk</a:t>
            </a:r>
            <a:r>
              <a:rPr lang="en" altLang="zh-TW" sz="1600" b="0" dirty="0">
                <a:solidFill>
                  <a:srgbClr val="3B3B3B"/>
                </a:solidFill>
                <a:effectLst/>
                <a:latin typeface="Fira Code" panose="020B0809050000020004" pitchFamily="49" charset="0"/>
              </a:rPr>
              <a:t>:</a:t>
            </a:r>
          </a:p>
          <a:p>
            <a:r>
              <a:rPr lang="zh-TW" altLang="en-US" sz="1600" b="0" dirty="0">
                <a:solidFill>
                  <a:srgbClr val="AF00D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rPr>
              <a:t>if</a:t>
            </a:r>
            <a:r>
              <a:rPr lang="en" altLang="zh-TW" sz="1600" b="0" dirty="0">
                <a:solidFill>
                  <a:srgbClr val="3B3B3B"/>
                </a:solidFill>
                <a:effectLst/>
                <a:latin typeface="Fira Code" panose="020B0809050000020004" pitchFamily="49" charset="0"/>
              </a:rPr>
              <a:t> </a:t>
            </a:r>
            <a:r>
              <a:rPr lang="en" altLang="zh-TW" sz="1600" b="0" dirty="0" err="1">
                <a:solidFill>
                  <a:srgbClr val="795E26"/>
                </a:solidFill>
                <a:effectLst/>
                <a:latin typeface="Fira Code" panose="020B0809050000020004" pitchFamily="49" charset="0"/>
              </a:rPr>
              <a:t>hasattr</a:t>
            </a:r>
            <a:r>
              <a:rPr lang="en" altLang="zh-TW" sz="1600" b="0" dirty="0">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tagged_tree</a:t>
            </a:r>
            <a:r>
              <a:rPr lang="en" altLang="zh-TW" sz="1600" b="0" dirty="0">
                <a:solidFill>
                  <a:srgbClr val="3B3B3B"/>
                </a:solidFill>
                <a:effectLst/>
                <a:latin typeface="Fira Code" panose="020B0809050000020004" pitchFamily="49" charset="0"/>
              </a:rPr>
              <a:t>, </a:t>
            </a:r>
            <a:r>
              <a:rPr lang="en" altLang="zh-TW" sz="1600" b="0" dirty="0">
                <a:solidFill>
                  <a:srgbClr val="A31515"/>
                </a:solidFill>
                <a:effectLst/>
                <a:latin typeface="Fira Code" panose="020B0809050000020004" pitchFamily="49" charset="0"/>
              </a:rPr>
              <a:t>'label‘</a:t>
            </a:r>
            <a:r>
              <a:rPr lang="en" altLang="zh-TW" sz="1600" b="0" dirty="0">
                <a:solidFill>
                  <a:srgbClr val="3B3B3B"/>
                </a:solidFill>
                <a:effectLst/>
                <a:latin typeface="Fira Code" panose="020B0809050000020004" pitchFamily="49" charset="0"/>
              </a:rPr>
              <a:t>):</a:t>
            </a:r>
          </a:p>
          <a:p>
            <a:r>
              <a:rPr lang="zh-TW" altLang="en-US" sz="1600" b="0" dirty="0">
                <a:solidFill>
                  <a:srgbClr val="001080"/>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entity_name</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a:solidFill>
                  <a:srgbClr val="A31515"/>
                </a:solidFill>
                <a:effectLst/>
                <a:latin typeface="Fira Code" panose="020B0809050000020004" pitchFamily="49" charset="0"/>
              </a:rPr>
              <a:t>' '</a:t>
            </a:r>
            <a:r>
              <a:rPr lang="en" altLang="zh-TW" sz="1600" b="0" dirty="0">
                <a:solidFill>
                  <a:srgbClr val="3B3B3B"/>
                </a:solidFill>
                <a:effectLst/>
                <a:latin typeface="Fira Code" panose="020B0809050000020004" pitchFamily="49" charset="0"/>
              </a:rPr>
              <a:t>.</a:t>
            </a:r>
            <a:r>
              <a:rPr lang="en" altLang="zh-TW" sz="1600" b="0" dirty="0">
                <a:solidFill>
                  <a:srgbClr val="795E26"/>
                </a:solidFill>
                <a:effectLst/>
                <a:latin typeface="Fira Code" panose="020B0809050000020004" pitchFamily="49" charset="0"/>
              </a:rPr>
              <a:t>join</a:t>
            </a:r>
            <a:r>
              <a:rPr lang="en" altLang="zh-TW" sz="1600" b="0" dirty="0">
                <a:solidFill>
                  <a:srgbClr val="3B3B3B"/>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c</a:t>
            </a:r>
            <a:r>
              <a:rPr lang="en" altLang="zh-TW" sz="1600" b="0" dirty="0">
                <a:solidFill>
                  <a:srgbClr val="3B3B3B"/>
                </a:solidFill>
                <a:effectLst/>
                <a:latin typeface="Fira Code" panose="020B0809050000020004" pitchFamily="49" charset="0"/>
              </a:rPr>
              <a:t>[</a:t>
            </a:r>
            <a:r>
              <a:rPr lang="en" altLang="zh-TW" sz="1600" b="0" dirty="0">
                <a:solidFill>
                  <a:srgbClr val="098658"/>
                </a:solidFill>
                <a:effectLst/>
                <a:latin typeface="Fira Code" panose="020B0809050000020004" pitchFamily="49" charset="0"/>
              </a:rPr>
              <a:t>0</a:t>
            </a:r>
            <a:r>
              <a:rPr lang="en" altLang="zh-TW" sz="1600" b="0" dirty="0">
                <a:solidFill>
                  <a:srgbClr val="3B3B3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rPr>
              <a:t>for</a:t>
            </a:r>
            <a:r>
              <a:rPr lang="en" altLang="zh-TW" sz="1600" b="0" dirty="0">
                <a:solidFill>
                  <a:srgbClr val="3B3B3B"/>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c</a:t>
            </a:r>
            <a:r>
              <a:rPr lang="en" altLang="zh-TW" sz="1600" b="0" dirty="0">
                <a:solidFill>
                  <a:srgbClr val="3B3B3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rPr>
              <a:t>in</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tagged_tree</a:t>
            </a:r>
            <a:r>
              <a:rPr lang="en" altLang="zh-TW" sz="1600" b="0" dirty="0" err="1">
                <a:solidFill>
                  <a:srgbClr val="3B3B3B"/>
                </a:solidFill>
                <a:effectLst/>
                <a:latin typeface="Fira Code" panose="020B0809050000020004" pitchFamily="49" charset="0"/>
              </a:rPr>
              <a:t>.leaves</a:t>
            </a:r>
            <a:r>
              <a:rPr lang="en" altLang="zh-TW" sz="1600" b="0" dirty="0">
                <a:solidFill>
                  <a:srgbClr val="3B3B3B"/>
                </a:solidFill>
                <a:effectLst/>
                <a:latin typeface="Fira Code" panose="020B0809050000020004" pitchFamily="49" charset="0"/>
              </a:rPr>
              <a:t>())</a:t>
            </a:r>
          </a:p>
          <a:p>
            <a:r>
              <a:rPr lang="zh-TW" altLang="en-US" sz="1600" b="0" dirty="0">
                <a:solidFill>
                  <a:srgbClr val="001080"/>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entity_type</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tagged_tree</a:t>
            </a:r>
            <a:r>
              <a:rPr lang="en" altLang="zh-TW" sz="1600" b="0" dirty="0" err="1">
                <a:solidFill>
                  <a:srgbClr val="3B3B3B"/>
                </a:solidFill>
                <a:effectLst/>
                <a:latin typeface="Fira Code" panose="020B0809050000020004" pitchFamily="49" charset="0"/>
              </a:rPr>
              <a:t>.label</a:t>
            </a:r>
            <a:r>
              <a:rPr lang="en" altLang="zh-TW" sz="1600" b="0" dirty="0">
                <a:solidFill>
                  <a:srgbClr val="3B3B3B"/>
                </a:solidFill>
                <a:effectLst/>
                <a:latin typeface="Fira Code" panose="020B0809050000020004" pitchFamily="49" charset="0"/>
              </a:rPr>
              <a:t>()</a:t>
            </a:r>
          </a:p>
          <a:p>
            <a:r>
              <a:rPr lang="zh-TW" altLang="en-US" sz="1600" b="0" dirty="0">
                <a:solidFill>
                  <a:srgbClr val="001080"/>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named_entities</a:t>
            </a:r>
            <a:r>
              <a:rPr lang="en" altLang="zh-TW" sz="1600" b="0" dirty="0" err="1">
                <a:solidFill>
                  <a:srgbClr val="3B3B3B"/>
                </a:solidFill>
                <a:effectLst/>
                <a:latin typeface="Fira Code" panose="020B0809050000020004" pitchFamily="49" charset="0"/>
              </a:rPr>
              <a:t>.</a:t>
            </a:r>
            <a:r>
              <a:rPr lang="en" altLang="zh-TW" sz="1600" b="0" dirty="0" err="1">
                <a:solidFill>
                  <a:srgbClr val="795E26"/>
                </a:solidFill>
                <a:effectLst/>
                <a:latin typeface="Fira Code" panose="020B0809050000020004" pitchFamily="49" charset="0"/>
              </a:rPr>
              <a:t>append</a:t>
            </a:r>
            <a:r>
              <a:rPr lang="en" altLang="zh-TW" sz="1600" b="0" dirty="0">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entity_name</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entity_type</a:t>
            </a:r>
            <a:r>
              <a:rPr lang="en" altLang="zh-TW" sz="1600" b="0" dirty="0">
                <a:solidFill>
                  <a:srgbClr val="3B3B3B"/>
                </a:solidFill>
                <a:effectLst/>
                <a:latin typeface="Fira Code" panose="020B0809050000020004" pitchFamily="49" charset="0"/>
              </a:rPr>
              <a:t>))</a:t>
            </a:r>
          </a:p>
          <a:p>
            <a:r>
              <a:rPr lang="zh-TW" altLang="en-US" sz="1600" b="0" dirty="0">
                <a:solidFill>
                  <a:srgbClr val="001080"/>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named_entities</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list</a:t>
            </a:r>
            <a:r>
              <a:rPr lang="en" altLang="zh-TW" sz="1600" b="0" dirty="0">
                <a:solidFill>
                  <a:srgbClr val="3B3B3B"/>
                </a:solidFill>
                <a:effectLst/>
                <a:latin typeface="Fira Code" panose="020B0809050000020004" pitchFamily="49" charset="0"/>
              </a:rPr>
              <a:t>(</a:t>
            </a:r>
            <a:r>
              <a:rPr lang="en" altLang="zh-TW" sz="1600" b="0" dirty="0">
                <a:solidFill>
                  <a:srgbClr val="267F99"/>
                </a:solidFill>
                <a:effectLst/>
                <a:latin typeface="Fira Code" panose="020B0809050000020004" pitchFamily="49" charset="0"/>
              </a:rPr>
              <a:t>set</a:t>
            </a:r>
            <a:r>
              <a:rPr lang="en" altLang="zh-TW" sz="1600" b="0" dirty="0">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named_entities</a:t>
            </a:r>
            <a:r>
              <a:rPr lang="en" altLang="zh-TW" sz="1600" b="0" dirty="0">
                <a:solidFill>
                  <a:srgbClr val="3B3B3B"/>
                </a:solidFill>
                <a:effectLst/>
                <a:latin typeface="Fira Code" panose="020B0809050000020004" pitchFamily="49" charset="0"/>
              </a:rPr>
              <a:t>))</a:t>
            </a:r>
          </a:p>
          <a:p>
            <a:br>
              <a:rPr lang="en" altLang="zh-TW" sz="1600" b="0" dirty="0">
                <a:solidFill>
                  <a:srgbClr val="3B3B3B"/>
                </a:solidFill>
                <a:effectLst/>
                <a:latin typeface="Fira Code" panose="020B0809050000020004" pitchFamily="49" charset="0"/>
              </a:rPr>
            </a:br>
            <a:r>
              <a:rPr lang="en" altLang="zh-TW" sz="1600" b="0" dirty="0">
                <a:solidFill>
                  <a:srgbClr val="795E26"/>
                </a:solidFill>
                <a:effectLst/>
                <a:latin typeface="Fira Code" panose="020B0809050000020004" pitchFamily="49" charset="0"/>
              </a:rPr>
              <a:t>print</a:t>
            </a:r>
            <a:r>
              <a:rPr lang="en" altLang="zh-TW" sz="1600" b="0" dirty="0">
                <a:solidFill>
                  <a:srgbClr val="3B3B3B"/>
                </a:solidFill>
                <a:effectLst/>
                <a:latin typeface="Fira Code" panose="020B0809050000020004" pitchFamily="49" charset="0"/>
              </a:rPr>
              <a:t>(</a:t>
            </a:r>
            <a:r>
              <a:rPr lang="en" altLang="zh-TW" sz="1600" b="0" dirty="0" err="1">
                <a:solidFill>
                  <a:srgbClr val="0000FF"/>
                </a:solidFill>
                <a:effectLst/>
                <a:latin typeface="Fira Code" panose="020B0809050000020004" pitchFamily="49" charset="0"/>
              </a:rPr>
              <a:t>f</a:t>
            </a:r>
            <a:r>
              <a:rPr lang="en" altLang="zh-TW" sz="1600" b="0" dirty="0" err="1">
                <a:solidFill>
                  <a:srgbClr val="A31515"/>
                </a:solidFill>
                <a:effectLst/>
                <a:latin typeface="Fira Code" panose="020B0809050000020004" pitchFamily="49" charset="0"/>
              </a:rPr>
              <a:t>'named_entities</a:t>
            </a:r>
            <a:r>
              <a:rPr lang="en" altLang="zh-TW" sz="1600" b="0" dirty="0">
                <a:solidFill>
                  <a:srgbClr val="A31515"/>
                </a:solidFill>
                <a:effectLst/>
                <a:latin typeface="Fira Code" panose="020B0809050000020004" pitchFamily="49" charset="0"/>
              </a:rPr>
              <a:t>: </a:t>
            </a:r>
            <a:r>
              <a:rPr lang="en" altLang="zh-TW" sz="1600" b="0" dirty="0">
                <a:solidFill>
                  <a:srgbClr val="0000FF"/>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named_entities</a:t>
            </a:r>
            <a:r>
              <a:rPr lang="en" altLang="zh-TW" sz="1600" b="0" dirty="0">
                <a:solidFill>
                  <a:srgbClr val="0000FF"/>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a:t>
            </a:r>
          </a:p>
        </p:txBody>
      </p:sp>
    </p:spTree>
    <p:extLst>
      <p:ext uri="{BB962C8B-B14F-4D97-AF65-F5344CB8AC3E}">
        <p14:creationId xmlns:p14="http://schemas.microsoft.com/office/powerpoint/2010/main" val="1515422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1BE2F4-F01C-FFA7-ED6A-E0A3EA606936}"/>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a:t>
            </a:r>
            <a:r>
              <a:rPr kumimoji="1" lang="zh-TW" altLang="en-US" dirty="0"/>
              <a:t> </a:t>
            </a:r>
            <a:r>
              <a:rPr kumimoji="1" lang="en-US" altLang="zh-TW" dirty="0"/>
              <a:t>-</a:t>
            </a:r>
            <a:r>
              <a:rPr kumimoji="1" lang="zh-TW" altLang="en-US" dirty="0"/>
              <a:t> </a:t>
            </a:r>
            <a:r>
              <a:rPr kumimoji="1" lang="en-US" altLang="zh-TW" dirty="0"/>
              <a:t>NLTK</a:t>
            </a:r>
            <a:endParaRPr kumimoji="1" lang="zh-TW" altLang="en-US" dirty="0"/>
          </a:p>
        </p:txBody>
      </p:sp>
      <p:sp>
        <p:nvSpPr>
          <p:cNvPr id="3" name="內容版面配置區 2">
            <a:extLst>
              <a:ext uri="{FF2B5EF4-FFF2-40B4-BE49-F238E27FC236}">
                <a16:creationId xmlns:a16="http://schemas.microsoft.com/office/drawing/2014/main" id="{A2F85732-7DBE-7DA2-029F-AE5D052F88CE}"/>
              </a:ext>
            </a:extLst>
          </p:cNvPr>
          <p:cNvSpPr>
            <a:spLocks noGrp="1"/>
          </p:cNvSpPr>
          <p:nvPr>
            <p:ph idx="1"/>
          </p:nvPr>
        </p:nvSpPr>
        <p:spPr/>
        <p:txBody>
          <a:bodyPr/>
          <a:lstStyle/>
          <a:p>
            <a:r>
              <a:rPr kumimoji="1" lang="zh-TW" altLang="en-US" dirty="0"/>
              <a:t>計算字出現次數：</a:t>
            </a:r>
            <a:r>
              <a:rPr kumimoji="1" lang="en-US" altLang="zh-TW" dirty="0" err="1"/>
              <a:t>FreqDist</a:t>
            </a:r>
            <a:endParaRPr kumimoji="1" lang="en-US" altLang="zh-TW" dirty="0"/>
          </a:p>
          <a:p>
            <a:endParaRPr kumimoji="1" lang="en-US" altLang="zh-TW" dirty="0"/>
          </a:p>
          <a:p>
            <a:endParaRPr kumimoji="1" lang="en-US" altLang="zh-TW" dirty="0"/>
          </a:p>
          <a:p>
            <a:endParaRPr kumimoji="1" lang="en-US" altLang="zh-TW" dirty="0"/>
          </a:p>
          <a:p>
            <a:pPr marL="457200" lvl="1" indent="0">
              <a:buNone/>
            </a:pPr>
            <a:endParaRPr kumimoji="1" lang="en-US" altLang="zh-TW" dirty="0"/>
          </a:p>
          <a:p>
            <a:r>
              <a:rPr kumimoji="1" lang="en-US" altLang="zh-TW" dirty="0"/>
              <a:t>NLTK</a:t>
            </a:r>
            <a:r>
              <a:rPr kumimoji="1" lang="zh-TW" altLang="en-US" dirty="0"/>
              <a:t>簡單對話機器人：</a:t>
            </a:r>
            <a:r>
              <a:rPr kumimoji="1" lang="en" altLang="zh-TW" dirty="0">
                <a:hlinkClick r:id="rId2"/>
              </a:rPr>
              <a:t>https://www.nltk.org/api/nltk.chat.html</a:t>
            </a:r>
            <a:endParaRPr kumimoji="1" lang="en" altLang="zh-TW" dirty="0"/>
          </a:p>
          <a:p>
            <a:pPr lvl="1"/>
            <a:r>
              <a:rPr kumimoji="1" lang="zh-TW" altLang="en-US" dirty="0"/>
              <a:t>程式：</a:t>
            </a:r>
            <a:r>
              <a:rPr lang="en" altLang="zh-TW" b="0" dirty="0">
                <a:solidFill>
                  <a:srgbClr val="267F99"/>
                </a:solidFill>
                <a:effectLst/>
                <a:latin typeface="Fira Code" panose="020B0809050000020004" pitchFamily="49" charset="0"/>
              </a:rPr>
              <a:t>nltk</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chat</a:t>
            </a:r>
            <a:r>
              <a:rPr lang="en" altLang="zh-TW" b="0" dirty="0">
                <a:solidFill>
                  <a:srgbClr val="3B3B3B"/>
                </a:solidFill>
                <a:effectLst/>
                <a:latin typeface="Fira Code" panose="020B0809050000020004" pitchFamily="49" charset="0"/>
              </a:rPr>
              <a:t>.eliza.eliza_chat(</a:t>
            </a:r>
            <a:r>
              <a:rPr lang="en-US" altLang="zh-TW" b="0" dirty="0">
                <a:solidFill>
                  <a:srgbClr val="3B3B3B"/>
                </a:solidFill>
                <a:effectLst/>
                <a:latin typeface="Fira Code" panose="020B0809050000020004" pitchFamily="49" charset="0"/>
              </a:rPr>
              <a:t>)</a:t>
            </a:r>
            <a:endParaRPr kumimoji="1" lang="en-US" altLang="zh-TW" dirty="0"/>
          </a:p>
          <a:p>
            <a:r>
              <a:rPr kumimoji="1" lang="zh-TW" altLang="en-US" dirty="0"/>
              <a:t>完整版程式：</a:t>
            </a:r>
            <a:r>
              <a:rPr kumimoji="1" lang="en-US" altLang="zh-TW" dirty="0" err="1"/>
              <a:t>nltk_all.py</a:t>
            </a:r>
            <a:r>
              <a:rPr kumimoji="1" lang="zh-TW" altLang="en-US" dirty="0"/>
              <a:t> </a:t>
            </a:r>
            <a:r>
              <a:rPr kumimoji="1" lang="en-US" altLang="zh-TW" dirty="0"/>
              <a:t>(</a:t>
            </a:r>
            <a:r>
              <a:rPr kumimoji="1" lang="zh-TW" altLang="en-US" dirty="0"/>
              <a:t>課堂上提供</a:t>
            </a:r>
            <a:r>
              <a:rPr kumimoji="1" lang="en-US" altLang="zh-TW" dirty="0"/>
              <a:t>)</a:t>
            </a:r>
            <a:endParaRPr kumimoji="1" lang="zh-TW" altLang="en-US" dirty="0"/>
          </a:p>
        </p:txBody>
      </p:sp>
      <p:sp>
        <p:nvSpPr>
          <p:cNvPr id="5" name="文字方塊 4">
            <a:extLst>
              <a:ext uri="{FF2B5EF4-FFF2-40B4-BE49-F238E27FC236}">
                <a16:creationId xmlns:a16="http://schemas.microsoft.com/office/drawing/2014/main" id="{16084715-54DF-EDDD-FB43-6F5B228F3BEB}"/>
              </a:ext>
            </a:extLst>
          </p:cNvPr>
          <p:cNvSpPr txBox="1"/>
          <p:nvPr/>
        </p:nvSpPr>
        <p:spPr>
          <a:xfrm>
            <a:off x="838200" y="2410434"/>
            <a:ext cx="9822366" cy="1754326"/>
          </a:xfrm>
          <a:prstGeom prst="rect">
            <a:avLst/>
          </a:prstGeom>
          <a:noFill/>
          <a:ln>
            <a:solidFill>
              <a:schemeClr val="tx1"/>
            </a:solidFill>
          </a:ln>
        </p:spPr>
        <p:txBody>
          <a:bodyPr wrap="square">
            <a:spAutoFit/>
          </a:bodyPr>
          <a:lstStyle/>
          <a:p>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a:solidFill>
                  <a:srgbClr val="267F99"/>
                </a:solidFill>
                <a:effectLst/>
                <a:latin typeface="Fira Code" panose="020B0809050000020004" pitchFamily="49" charset="0"/>
              </a:rPr>
              <a:t>nltk</a:t>
            </a:r>
            <a:endParaRPr lang="en" altLang="zh-TW" b="0" dirty="0">
              <a:solidFill>
                <a:srgbClr val="3B3B3B"/>
              </a:solidFill>
              <a:effectLst/>
              <a:latin typeface="Fira Code" panose="020B0809050000020004" pitchFamily="49" charset="0"/>
            </a:endParaRPr>
          </a:p>
          <a:p>
            <a:r>
              <a:rPr lang="en" altLang="zh-TW" b="0" dirty="0">
                <a:solidFill>
                  <a:srgbClr val="001080"/>
                </a:solidFill>
                <a:effectLst/>
                <a:latin typeface="Fira Code" panose="020B0809050000020004" pitchFamily="49" charset="0"/>
              </a:rPr>
              <a:t>text</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"AA BB CC AA CC AA BD DD CC BB BB BB EE CE"</a:t>
            </a:r>
            <a:endParaRPr lang="en" altLang="zh-TW" b="0" dirty="0">
              <a:solidFill>
                <a:srgbClr val="3B3B3B"/>
              </a:solidFill>
              <a:effectLst/>
              <a:latin typeface="Fira Code" panose="020B0809050000020004" pitchFamily="49" charset="0"/>
            </a:endParaRPr>
          </a:p>
          <a:p>
            <a:r>
              <a:rPr lang="en" altLang="zh-TW" b="0" dirty="0">
                <a:solidFill>
                  <a:srgbClr val="001080"/>
                </a:solidFill>
                <a:effectLst/>
                <a:latin typeface="Fira Code" panose="020B0809050000020004" pitchFamily="49" charset="0"/>
              </a:rPr>
              <a:t>token</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nltk</a:t>
            </a:r>
            <a:r>
              <a:rPr lang="en" altLang="zh-TW" b="0" dirty="0" err="1">
                <a:solidFill>
                  <a:srgbClr val="3B3B3B"/>
                </a:solidFill>
                <a:effectLst/>
                <a:latin typeface="Fira Code" panose="020B0809050000020004" pitchFamily="49" charset="0"/>
              </a:rPr>
              <a:t>.</a:t>
            </a:r>
            <a:r>
              <a:rPr lang="en" altLang="zh-TW" b="0" dirty="0" err="1">
                <a:solidFill>
                  <a:srgbClr val="267F99"/>
                </a:solidFill>
                <a:effectLst/>
                <a:latin typeface="Fira Code" panose="020B0809050000020004" pitchFamily="49" charset="0"/>
              </a:rPr>
              <a:t>tokenize</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word_tokenize</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text</a:t>
            </a:r>
            <a:r>
              <a:rPr lang="en" altLang="zh-TW" b="0" dirty="0">
                <a:solidFill>
                  <a:srgbClr val="3B3B3B"/>
                </a:solidFill>
                <a:effectLst/>
                <a:latin typeface="Fira Code" panose="020B0809050000020004" pitchFamily="49" charset="0"/>
              </a:rPr>
              <a:t>)</a:t>
            </a:r>
          </a:p>
          <a:p>
            <a:r>
              <a:rPr lang="en" altLang="zh-TW" b="0" dirty="0" err="1">
                <a:solidFill>
                  <a:srgbClr val="001080"/>
                </a:solidFill>
                <a:effectLst/>
                <a:latin typeface="Fira Code" panose="020B0809050000020004" pitchFamily="49" charset="0"/>
              </a:rPr>
              <a:t>frequency_distribution</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nltk</a:t>
            </a:r>
            <a:r>
              <a:rPr lang="en" altLang="zh-TW" b="0" dirty="0" err="1">
                <a:solidFill>
                  <a:srgbClr val="3B3B3B"/>
                </a:solidFill>
                <a:effectLst/>
                <a:latin typeface="Fira Code" panose="020B0809050000020004" pitchFamily="49" charset="0"/>
              </a:rPr>
              <a:t>.</a:t>
            </a:r>
            <a:r>
              <a:rPr lang="en" altLang="zh-TW" b="0" dirty="0" err="1">
                <a:solidFill>
                  <a:srgbClr val="267F99"/>
                </a:solidFill>
                <a:effectLst/>
                <a:latin typeface="Fira Code" panose="020B0809050000020004" pitchFamily="49" charset="0"/>
              </a:rPr>
              <a:t>FreqDist</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token</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frequency_distribution</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most_common</a:t>
            </a:r>
            <a:r>
              <a:rPr lang="en" altLang="zh-TW" b="0" dirty="0">
                <a:solidFill>
                  <a:srgbClr val="3B3B3B"/>
                </a:solidFill>
                <a:effectLst/>
                <a:latin typeface="Fira Code" panose="020B0809050000020004" pitchFamily="49" charset="0"/>
              </a:rPr>
              <a:t>(</a:t>
            </a:r>
            <a:r>
              <a:rPr lang="en" altLang="zh-TW" b="0" dirty="0">
                <a:solidFill>
                  <a:srgbClr val="098658"/>
                </a:solidFill>
                <a:effectLst/>
                <a:latin typeface="Fira Code" panose="020B0809050000020004" pitchFamily="49" charset="0"/>
              </a:rPr>
              <a:t>10</a:t>
            </a:r>
            <a:r>
              <a:rPr lang="en" altLang="zh-TW" b="0" dirty="0">
                <a:solidFill>
                  <a:srgbClr val="3B3B3B"/>
                </a:solidFill>
                <a:effectLst/>
                <a:latin typeface="Fira Code" panose="020B0809050000020004" pitchFamily="49" charset="0"/>
              </a:rPr>
              <a:t>)) </a:t>
            </a:r>
            <a:r>
              <a:rPr lang="en" altLang="zh-TW" b="0" dirty="0">
                <a:solidFill>
                  <a:srgbClr val="008000"/>
                </a:solidFill>
                <a:effectLst/>
                <a:latin typeface="Fira Code" panose="020B0809050000020004" pitchFamily="49" charset="0"/>
              </a:rPr>
              <a:t>#</a:t>
            </a:r>
            <a:r>
              <a:rPr lang="zh-TW" altLang="en-US" b="0" dirty="0">
                <a:solidFill>
                  <a:srgbClr val="008000"/>
                </a:solidFill>
                <a:effectLst/>
                <a:latin typeface="Fira Code" panose="020B0809050000020004" pitchFamily="49" charset="0"/>
              </a:rPr>
              <a:t>顯示前</a:t>
            </a:r>
            <a:r>
              <a:rPr lang="en-US" altLang="zh-TW" b="0" dirty="0">
                <a:solidFill>
                  <a:srgbClr val="008000"/>
                </a:solidFill>
                <a:effectLst/>
                <a:latin typeface="Fira Code" panose="020B0809050000020004" pitchFamily="49" charset="0"/>
              </a:rPr>
              <a:t>10</a:t>
            </a:r>
            <a:r>
              <a:rPr lang="zh-TW" altLang="en-US" b="0" dirty="0">
                <a:solidFill>
                  <a:srgbClr val="008000"/>
                </a:solidFill>
                <a:effectLst/>
                <a:latin typeface="Fira Code" panose="020B0809050000020004" pitchFamily="49" charset="0"/>
              </a:rPr>
              <a:t>個最常出現的字</a:t>
            </a:r>
            <a:endParaRPr lang="zh-TW" altLang="en-US" b="0" dirty="0">
              <a:solidFill>
                <a:srgbClr val="3B3B3B"/>
              </a:solidFill>
              <a:effectLst/>
              <a:latin typeface="Fira Code" panose="020B0809050000020004" pitchFamily="49" charset="0"/>
            </a:endParaRPr>
          </a:p>
          <a:p>
            <a:r>
              <a:rPr lang="en" altLang="zh-TW" b="0" dirty="0" err="1">
                <a:solidFill>
                  <a:srgbClr val="001080"/>
                </a:solidFill>
                <a:effectLst/>
                <a:latin typeface="Fira Code" panose="020B0809050000020004" pitchFamily="49" charset="0"/>
              </a:rPr>
              <a:t>frequency_distribution</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plot</a:t>
            </a:r>
            <a:r>
              <a:rPr lang="en" altLang="zh-TW" b="0" dirty="0">
                <a:solidFill>
                  <a:srgbClr val="3B3B3B"/>
                </a:solidFill>
                <a:effectLst/>
                <a:latin typeface="Fira Code" panose="020B0809050000020004" pitchFamily="49" charset="0"/>
              </a:rPr>
              <a:t>(</a:t>
            </a:r>
            <a:r>
              <a:rPr lang="en" altLang="zh-TW" b="0" dirty="0">
                <a:solidFill>
                  <a:srgbClr val="098658"/>
                </a:solidFill>
                <a:effectLst/>
                <a:latin typeface="Fira Code" panose="020B0809050000020004" pitchFamily="49" charset="0"/>
              </a:rPr>
              <a:t>10</a:t>
            </a:r>
            <a:r>
              <a:rPr lang="en" altLang="zh-TW" b="0" dirty="0">
                <a:solidFill>
                  <a:srgbClr val="3B3B3B"/>
                </a:solidFill>
                <a:effectLst/>
                <a:latin typeface="Fira Code" panose="020B0809050000020004" pitchFamily="49" charset="0"/>
              </a:rPr>
              <a:t>) </a:t>
            </a:r>
            <a:r>
              <a:rPr lang="en" altLang="zh-TW" b="0" dirty="0">
                <a:solidFill>
                  <a:srgbClr val="008000"/>
                </a:solidFill>
                <a:effectLst/>
                <a:latin typeface="Fira Code" panose="020B0809050000020004" pitchFamily="49" charset="0"/>
              </a:rPr>
              <a:t>#</a:t>
            </a:r>
            <a:r>
              <a:rPr lang="zh-TW" altLang="en-US" b="0" dirty="0">
                <a:solidFill>
                  <a:srgbClr val="008000"/>
                </a:solidFill>
                <a:effectLst/>
                <a:latin typeface="Fira Code" panose="020B0809050000020004" pitchFamily="49" charset="0"/>
              </a:rPr>
              <a:t>畫出前</a:t>
            </a:r>
            <a:r>
              <a:rPr lang="en-US" altLang="zh-TW" b="0" dirty="0">
                <a:solidFill>
                  <a:srgbClr val="008000"/>
                </a:solidFill>
                <a:effectLst/>
                <a:latin typeface="Fira Code" panose="020B0809050000020004" pitchFamily="49" charset="0"/>
              </a:rPr>
              <a:t>10</a:t>
            </a:r>
            <a:r>
              <a:rPr lang="zh-TW" altLang="en-US" b="0" dirty="0">
                <a:solidFill>
                  <a:srgbClr val="008000"/>
                </a:solidFill>
                <a:effectLst/>
                <a:latin typeface="Fira Code" panose="020B0809050000020004" pitchFamily="49" charset="0"/>
              </a:rPr>
              <a:t>個最常出現的字</a:t>
            </a:r>
            <a:endParaRPr lang="zh-TW" altLang="en-US" b="0" dirty="0">
              <a:solidFill>
                <a:srgbClr val="3B3B3B"/>
              </a:solidFill>
              <a:effectLst/>
              <a:latin typeface="Fira Code" panose="020B0809050000020004" pitchFamily="49" charset="0"/>
            </a:endParaRPr>
          </a:p>
        </p:txBody>
      </p:sp>
    </p:spTree>
    <p:extLst>
      <p:ext uri="{BB962C8B-B14F-4D97-AF65-F5344CB8AC3E}">
        <p14:creationId xmlns:p14="http://schemas.microsoft.com/office/powerpoint/2010/main" val="3084837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4753CD-D9DE-9451-4117-B7561C293673}"/>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 - </a:t>
            </a:r>
            <a:r>
              <a:rPr kumimoji="1" lang="en-US" altLang="zh-TW" dirty="0" err="1"/>
              <a:t>TextBlob</a:t>
            </a:r>
            <a:endParaRPr kumimoji="1" lang="zh-TW" altLang="en-US" dirty="0"/>
          </a:p>
        </p:txBody>
      </p:sp>
      <p:sp>
        <p:nvSpPr>
          <p:cNvPr id="3" name="內容版面配置區 2">
            <a:extLst>
              <a:ext uri="{FF2B5EF4-FFF2-40B4-BE49-F238E27FC236}">
                <a16:creationId xmlns:a16="http://schemas.microsoft.com/office/drawing/2014/main" id="{96FA04F2-58B6-4071-E6A0-0B7736A1C792}"/>
              </a:ext>
            </a:extLst>
          </p:cNvPr>
          <p:cNvSpPr>
            <a:spLocks noGrp="1"/>
          </p:cNvSpPr>
          <p:nvPr>
            <p:ph idx="1"/>
          </p:nvPr>
        </p:nvSpPr>
        <p:spPr/>
        <p:txBody>
          <a:bodyPr/>
          <a:lstStyle/>
          <a:p>
            <a:r>
              <a:rPr kumimoji="1" lang="en" altLang="zh-TW" dirty="0" err="1"/>
              <a:t>TextBlob</a:t>
            </a:r>
            <a:r>
              <a:rPr kumimoji="1" lang="zh-TW" altLang="en-US" dirty="0"/>
              <a:t>是一個用來處理文字資料的 </a:t>
            </a:r>
            <a:r>
              <a:rPr kumimoji="1" lang="en" altLang="zh-TW" dirty="0"/>
              <a:t>Python </a:t>
            </a:r>
            <a:r>
              <a:rPr kumimoji="1" lang="zh-TW" altLang="en-US" dirty="0"/>
              <a:t>函式庫。</a:t>
            </a:r>
            <a:endParaRPr kumimoji="1" lang="en-US" altLang="zh-TW" dirty="0"/>
          </a:p>
          <a:p>
            <a:pPr lvl="1"/>
            <a:r>
              <a:rPr kumimoji="1" lang="zh-TW" altLang="en-US" dirty="0"/>
              <a:t>可用於深入研究常見的自然語言處理 </a:t>
            </a:r>
            <a:r>
              <a:rPr kumimoji="1" lang="en-US" altLang="zh-TW" dirty="0"/>
              <a:t>(</a:t>
            </a:r>
            <a:r>
              <a:rPr kumimoji="1" lang="en" altLang="zh-TW" dirty="0"/>
              <a:t>NLP) </a:t>
            </a:r>
            <a:r>
              <a:rPr kumimoji="1" lang="zh-TW" altLang="en-US" dirty="0"/>
              <a:t>任務，例如詞性標注、名詞短語提取、情緒分析、分類等。</a:t>
            </a:r>
            <a:endParaRPr kumimoji="1" lang="en-US" altLang="zh-TW" dirty="0"/>
          </a:p>
          <a:p>
            <a:r>
              <a:rPr kumimoji="1" lang="zh-TW" altLang="en-US" dirty="0"/>
              <a:t>基於</a:t>
            </a:r>
            <a:r>
              <a:rPr kumimoji="1" lang="en-US" altLang="zh-TW" dirty="0"/>
              <a:t>NLTK</a:t>
            </a:r>
            <a:r>
              <a:rPr kumimoji="1" lang="zh-TW" altLang="en-US" dirty="0"/>
              <a:t>開發</a:t>
            </a:r>
            <a:endParaRPr kumimoji="1" lang="en-US" altLang="zh-TW" dirty="0"/>
          </a:p>
          <a:p>
            <a:r>
              <a:rPr kumimoji="1" lang="zh-TW" altLang="en-US" dirty="0"/>
              <a:t>安裝：</a:t>
            </a:r>
            <a:endParaRPr kumimoji="1" lang="en-US" altLang="zh-TW" dirty="0"/>
          </a:p>
          <a:p>
            <a:pPr marL="457200" lvl="1" indent="0">
              <a:buNone/>
            </a:pPr>
            <a:endParaRPr kumimoji="1" lang="en-US" altLang="zh-TW" dirty="0"/>
          </a:p>
        </p:txBody>
      </p:sp>
      <p:sp>
        <p:nvSpPr>
          <p:cNvPr id="7" name="文字方塊 6">
            <a:extLst>
              <a:ext uri="{FF2B5EF4-FFF2-40B4-BE49-F238E27FC236}">
                <a16:creationId xmlns:a16="http://schemas.microsoft.com/office/drawing/2014/main" id="{5A35F325-C241-F21E-053F-949D32E0CDE3}"/>
              </a:ext>
            </a:extLst>
          </p:cNvPr>
          <p:cNvSpPr txBox="1"/>
          <p:nvPr/>
        </p:nvSpPr>
        <p:spPr>
          <a:xfrm>
            <a:off x="5620215" y="2826127"/>
            <a:ext cx="5733585" cy="4031873"/>
          </a:xfrm>
          <a:prstGeom prst="rect">
            <a:avLst/>
          </a:prstGeom>
          <a:noFill/>
          <a:ln>
            <a:solidFill>
              <a:schemeClr val="tx1"/>
            </a:solidFill>
          </a:ln>
        </p:spPr>
        <p:txBody>
          <a:bodyPr wrap="square">
            <a:spAutoFit/>
          </a:bodyPr>
          <a:lstStyle/>
          <a:p>
            <a:r>
              <a:rPr lang="en" altLang="zh-TW" sz="1600" b="0" dirty="0">
                <a:solidFill>
                  <a:srgbClr val="AF00DB"/>
                </a:solidFill>
                <a:effectLst/>
                <a:latin typeface="Fira Code" panose="020B0809050000020004" pitchFamily="49" charset="0"/>
                <a:ea typeface="Fira Code" panose="020B0809050000020004" pitchFamily="49" charset="0"/>
              </a:rPr>
              <a:t>from</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err="1">
                <a:solidFill>
                  <a:srgbClr val="267F99"/>
                </a:solidFill>
                <a:effectLst/>
                <a:latin typeface="Fira Code" panose="020B0809050000020004" pitchFamily="49" charset="0"/>
                <a:ea typeface="Fira Code" panose="020B0809050000020004" pitchFamily="49" charset="0"/>
              </a:rPr>
              <a:t>textblob</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AF00DB"/>
                </a:solidFill>
                <a:effectLst/>
                <a:latin typeface="Fira Code" panose="020B0809050000020004" pitchFamily="49" charset="0"/>
                <a:ea typeface="Fira Code" panose="020B0809050000020004" pitchFamily="49" charset="0"/>
              </a:rPr>
              <a:t>import</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err="1">
                <a:solidFill>
                  <a:srgbClr val="267F99"/>
                </a:solidFill>
                <a:effectLst/>
                <a:latin typeface="Fira Code" panose="020B0809050000020004" pitchFamily="49" charset="0"/>
                <a:ea typeface="Fira Code" panose="020B0809050000020004" pitchFamily="49" charset="0"/>
              </a:rPr>
              <a:t>TextBlob</a:t>
            </a:r>
            <a:endParaRPr lang="en" altLang="zh-TW" sz="1600" b="0" dirty="0">
              <a:solidFill>
                <a:srgbClr val="3B3B3B"/>
              </a:solidFill>
              <a:effectLst/>
              <a:latin typeface="Fira Code" panose="020B0809050000020004" pitchFamily="49" charset="0"/>
              <a:ea typeface="Fira Code" panose="020B0809050000020004" pitchFamily="49" charset="0"/>
            </a:endParaRPr>
          </a:p>
          <a:p>
            <a:br>
              <a:rPr lang="en" altLang="zh-TW" sz="1600" b="0" dirty="0">
                <a:solidFill>
                  <a:srgbClr val="3B3B3B"/>
                </a:solidFill>
                <a:effectLst/>
                <a:latin typeface="Fira Code" panose="020B0809050000020004" pitchFamily="49" charset="0"/>
                <a:ea typeface="Fira Code" panose="020B0809050000020004" pitchFamily="49" charset="0"/>
              </a:rPr>
            </a:br>
            <a:r>
              <a:rPr lang="en" altLang="zh-TW" sz="1600" b="0" dirty="0">
                <a:solidFill>
                  <a:srgbClr val="001080"/>
                </a:solidFill>
                <a:effectLst/>
                <a:latin typeface="Fira Code" panose="020B0809050000020004" pitchFamily="49" charset="0"/>
                <a:ea typeface="Fira Code" panose="020B0809050000020004" pitchFamily="49" charset="0"/>
              </a:rPr>
              <a:t>text</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0000"/>
                </a:solidFill>
                <a:effectLst/>
                <a:latin typeface="Fira Code" panose="020B0809050000020004" pitchFamily="49" charset="0"/>
                <a:ea typeface="Fira Code" panose="020B0809050000020004" pitchFamily="49" charset="0"/>
              </a:rPr>
              <a:t>=</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A31515"/>
                </a:solidFill>
                <a:effectLst/>
                <a:latin typeface="Fira Code" panose="020B0809050000020004" pitchFamily="49" charset="0"/>
                <a:ea typeface="Fira Code" panose="020B0809050000020004" pitchFamily="49" charset="0"/>
              </a:rPr>
              <a:t>‘’’‘’</a:t>
            </a:r>
            <a:r>
              <a:rPr lang="zh-TW" altLang="en-US" sz="1600" b="0" dirty="0">
                <a:solidFill>
                  <a:srgbClr val="A31515"/>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ea typeface="Fira Code" panose="020B0809050000020004" pitchFamily="49" charset="0"/>
              </a:rPr>
              <a:t>#</a:t>
            </a:r>
            <a:r>
              <a:rPr lang="en-US" altLang="zh-TW" sz="1600" dirty="0">
                <a:solidFill>
                  <a:srgbClr val="A31515"/>
                </a:solidFill>
                <a:latin typeface="Fira Code" panose="020B0809050000020004" pitchFamily="49" charset="0"/>
                <a:ea typeface="Fira Code" panose="020B0809050000020004" pitchFamily="49" charset="0"/>
              </a:rPr>
              <a:t>(</a:t>
            </a:r>
            <a:r>
              <a:rPr lang="zh-TW" altLang="en-US" sz="1600" dirty="0">
                <a:solidFill>
                  <a:srgbClr val="A31515"/>
                </a:solidFill>
                <a:latin typeface="Fira Code" panose="020B0809050000020004" pitchFamily="49" charset="0"/>
              </a:rPr>
              <a:t>這邊放一句</a:t>
            </a:r>
            <a:r>
              <a:rPr lang="en-US" altLang="zh-TW" sz="1600" dirty="0">
                <a:solidFill>
                  <a:srgbClr val="A31515"/>
                </a:solidFill>
                <a:latin typeface="Fira Code" panose="020B0809050000020004" pitchFamily="49" charset="0"/>
                <a:ea typeface="Fira Code" panose="020B0809050000020004" pitchFamily="49" charset="0"/>
              </a:rPr>
              <a:t>IMDB</a:t>
            </a:r>
            <a:r>
              <a:rPr lang="zh-TW" altLang="en-US" sz="1600" dirty="0">
                <a:solidFill>
                  <a:srgbClr val="A31515"/>
                </a:solidFill>
                <a:latin typeface="Fira Code" panose="020B0809050000020004" pitchFamily="49" charset="0"/>
              </a:rPr>
              <a:t>的</a:t>
            </a:r>
            <a:r>
              <a:rPr lang="en-US" altLang="zh-TW" sz="1600" dirty="0">
                <a:solidFill>
                  <a:srgbClr val="A31515"/>
                </a:solidFill>
                <a:latin typeface="Fira Code" panose="020B0809050000020004" pitchFamily="49" charset="0"/>
                <a:ea typeface="Fira Code" panose="020B0809050000020004" pitchFamily="49" charset="0"/>
              </a:rPr>
              <a:t>review)</a:t>
            </a:r>
            <a:br>
              <a:rPr lang="en" altLang="zh-TW" sz="1600" b="0" dirty="0">
                <a:solidFill>
                  <a:srgbClr val="3B3B3B"/>
                </a:solidFill>
                <a:effectLst/>
                <a:latin typeface="Fira Code" panose="020B0809050000020004" pitchFamily="49" charset="0"/>
                <a:ea typeface="Fira Code" panose="020B0809050000020004" pitchFamily="49" charset="0"/>
              </a:rPr>
            </a:br>
            <a:r>
              <a:rPr lang="en" altLang="zh-TW" sz="1600" b="0" dirty="0">
                <a:solidFill>
                  <a:srgbClr val="001080"/>
                </a:solidFill>
                <a:effectLst/>
                <a:latin typeface="Fira Code" panose="020B0809050000020004" pitchFamily="49" charset="0"/>
                <a:ea typeface="Fira Code" panose="020B0809050000020004" pitchFamily="49" charset="0"/>
              </a:rPr>
              <a:t>blob</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0000"/>
                </a:solidFill>
                <a:effectLst/>
                <a:latin typeface="Fira Code" panose="020B0809050000020004" pitchFamily="49" charset="0"/>
                <a:ea typeface="Fira Code" panose="020B0809050000020004" pitchFamily="49" charset="0"/>
              </a:rPr>
              <a:t>=</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err="1">
                <a:solidFill>
                  <a:srgbClr val="267F99"/>
                </a:solidFill>
                <a:effectLst/>
                <a:latin typeface="Fira Code" panose="020B0809050000020004" pitchFamily="49" charset="0"/>
                <a:ea typeface="Fira Code" panose="020B0809050000020004" pitchFamily="49" charset="0"/>
              </a:rPr>
              <a:t>TextBlob</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a:solidFill>
                  <a:srgbClr val="001080"/>
                </a:solidFill>
                <a:effectLst/>
                <a:latin typeface="Fira Code" panose="020B0809050000020004" pitchFamily="49" charset="0"/>
                <a:ea typeface="Fira Code" panose="020B0809050000020004" pitchFamily="49" charset="0"/>
              </a:rPr>
              <a:t>text</a:t>
            </a:r>
            <a:r>
              <a:rPr lang="en" altLang="zh-TW" sz="1600" b="0" dirty="0">
                <a:solidFill>
                  <a:srgbClr val="3B3B3B"/>
                </a:solidFill>
                <a:effectLst/>
                <a:latin typeface="Fira Code" panose="020B0809050000020004" pitchFamily="49" charset="0"/>
                <a:ea typeface="Fira Code" panose="020B0809050000020004" pitchFamily="49" charset="0"/>
              </a:rPr>
              <a:t>)</a:t>
            </a:r>
          </a:p>
          <a:p>
            <a:r>
              <a:rPr lang="en" altLang="zh-TW" sz="1600" b="0" dirty="0">
                <a:solidFill>
                  <a:srgbClr val="795E26"/>
                </a:solidFill>
                <a:effectLst/>
                <a:latin typeface="Fira Code" panose="020B0809050000020004" pitchFamily="49" charset="0"/>
              </a:rPr>
              <a:t>print</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en" altLang="zh-TW" sz="1600" b="0" dirty="0" err="1">
                <a:solidFill>
                  <a:srgbClr val="A31515"/>
                </a:solidFill>
                <a:effectLst/>
                <a:latin typeface="Fira Code" panose="020B0809050000020004" pitchFamily="49" charset="0"/>
              </a:rPr>
              <a:t>blob.words</a:t>
            </a:r>
            <a:r>
              <a:rPr lang="en" altLang="zh-TW" sz="1600" b="0" dirty="0">
                <a:solidFill>
                  <a:srgbClr val="A31515"/>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blob</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words</a:t>
            </a:r>
            <a:r>
              <a:rPr lang="en" altLang="zh-TW" sz="1600" b="0" dirty="0">
                <a:solidFill>
                  <a:srgbClr val="3B3B3B"/>
                </a:solidFill>
                <a:effectLst/>
                <a:latin typeface="Fira Code" panose="020B0809050000020004" pitchFamily="49" charset="0"/>
              </a:rPr>
              <a:t>) </a:t>
            </a:r>
            <a:r>
              <a:rPr lang="en"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所有單詞</a:t>
            </a:r>
            <a:endParaRPr lang="zh-TW" altLang="en-US" sz="1600" b="0" dirty="0">
              <a:solidFill>
                <a:srgbClr val="3B3B3B"/>
              </a:solidFill>
              <a:effectLst/>
              <a:latin typeface="Fira Code" panose="020B0809050000020004" pitchFamily="49" charset="0"/>
            </a:endParaRPr>
          </a:p>
          <a:p>
            <a:r>
              <a:rPr lang="en" altLang="zh-TW" sz="1600" b="0" dirty="0">
                <a:solidFill>
                  <a:srgbClr val="795E26"/>
                </a:solidFill>
                <a:effectLst/>
                <a:latin typeface="Fira Code" panose="020B0809050000020004" pitchFamily="49" charset="0"/>
              </a:rPr>
              <a:t>print</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en" altLang="zh-TW" sz="1600" b="0" dirty="0" err="1">
                <a:solidFill>
                  <a:srgbClr val="A31515"/>
                </a:solidFill>
                <a:effectLst/>
                <a:latin typeface="Fira Code" panose="020B0809050000020004" pitchFamily="49" charset="0"/>
              </a:rPr>
              <a:t>blob.word_counts</a:t>
            </a:r>
            <a:r>
              <a:rPr lang="en" altLang="zh-TW" sz="1600" b="0" dirty="0">
                <a:solidFill>
                  <a:srgbClr val="A31515"/>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blob</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word_counts</a:t>
            </a:r>
            <a:r>
              <a:rPr lang="en" altLang="zh-TW" sz="1600" b="0" dirty="0">
                <a:solidFill>
                  <a:srgbClr val="3B3B3B"/>
                </a:solidFill>
                <a:effectLst/>
                <a:latin typeface="Fira Code" panose="020B0809050000020004" pitchFamily="49" charset="0"/>
              </a:rPr>
              <a:t>) </a:t>
            </a:r>
            <a:r>
              <a:rPr lang="en"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出現次數</a:t>
            </a:r>
            <a:endParaRPr lang="zh-TW" altLang="en-US" sz="1600" b="0" dirty="0">
              <a:solidFill>
                <a:srgbClr val="3B3B3B"/>
              </a:solidFill>
              <a:effectLst/>
              <a:latin typeface="Fira Code" panose="020B0809050000020004" pitchFamily="49" charset="0"/>
            </a:endParaRPr>
          </a:p>
          <a:p>
            <a:r>
              <a:rPr lang="en" altLang="zh-TW" sz="1600" b="0" dirty="0">
                <a:solidFill>
                  <a:srgbClr val="795E26"/>
                </a:solidFill>
                <a:effectLst/>
                <a:latin typeface="Fira Code" panose="020B0809050000020004" pitchFamily="49" charset="0"/>
              </a:rPr>
              <a:t>print</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en" altLang="zh-TW" sz="1600" b="0" dirty="0" err="1">
                <a:solidFill>
                  <a:srgbClr val="A31515"/>
                </a:solidFill>
                <a:effectLst/>
                <a:latin typeface="Fira Code" panose="020B0809050000020004" pitchFamily="49" charset="0"/>
              </a:rPr>
              <a:t>blob.tags</a:t>
            </a:r>
            <a:r>
              <a:rPr lang="en" altLang="zh-TW" sz="1600" b="0" dirty="0">
                <a:solidFill>
                  <a:srgbClr val="A31515"/>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blob</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tags</a:t>
            </a:r>
            <a:r>
              <a:rPr lang="en" altLang="zh-TW" sz="1600" b="0" dirty="0">
                <a:solidFill>
                  <a:srgbClr val="3B3B3B"/>
                </a:solidFill>
                <a:effectLst/>
                <a:latin typeface="Fira Code" panose="020B0809050000020004" pitchFamily="49" charset="0"/>
              </a:rPr>
              <a:t>) </a:t>
            </a:r>
            <a:r>
              <a:rPr lang="en"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詞性</a:t>
            </a:r>
            <a:endParaRPr lang="zh-TW" altLang="en-US" sz="1600" b="0" dirty="0">
              <a:solidFill>
                <a:srgbClr val="3B3B3B"/>
              </a:solidFill>
              <a:effectLst/>
              <a:latin typeface="Fira Code" panose="020B0809050000020004" pitchFamily="49" charset="0"/>
            </a:endParaRPr>
          </a:p>
          <a:p>
            <a:r>
              <a:rPr lang="en" altLang="zh-TW" sz="1600" b="0" dirty="0">
                <a:solidFill>
                  <a:srgbClr val="795E26"/>
                </a:solidFill>
                <a:effectLst/>
                <a:latin typeface="Fira Code" panose="020B0809050000020004" pitchFamily="49" charset="0"/>
                <a:ea typeface="Fira Code" panose="020B0809050000020004" pitchFamily="49" charset="0"/>
              </a:rPr>
              <a:t>print</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001080"/>
                </a:solidFill>
                <a:effectLst/>
                <a:latin typeface="Fira Code" panose="020B0809050000020004" pitchFamily="49" charset="0"/>
                <a:ea typeface="Fira Code" panose="020B0809050000020004" pitchFamily="49" charset="0"/>
              </a:rPr>
              <a:t>blob</a:t>
            </a:r>
            <a:r>
              <a:rPr lang="en" altLang="zh-TW" sz="1600" b="0" dirty="0" err="1">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001080"/>
                </a:solidFill>
                <a:effectLst/>
                <a:latin typeface="Fira Code" panose="020B0809050000020004" pitchFamily="49" charset="0"/>
                <a:ea typeface="Fira Code" panose="020B0809050000020004" pitchFamily="49" charset="0"/>
              </a:rPr>
              <a:t>noun_phrases</a:t>
            </a:r>
            <a:r>
              <a:rPr lang="en" altLang="zh-TW" sz="1600" b="0" dirty="0">
                <a:solidFill>
                  <a:srgbClr val="3B3B3B"/>
                </a:solidFill>
                <a:effectLst/>
                <a:latin typeface="Fira Code" panose="020B0809050000020004" pitchFamily="49" charset="0"/>
                <a:ea typeface="Fira Code" panose="020B0809050000020004" pitchFamily="49" charset="0"/>
              </a:rPr>
              <a:t>)</a:t>
            </a:r>
          </a:p>
          <a:p>
            <a:r>
              <a:rPr lang="en" altLang="zh-TW" sz="1600" b="0" dirty="0">
                <a:solidFill>
                  <a:srgbClr val="AF00DB"/>
                </a:solidFill>
                <a:effectLst/>
                <a:latin typeface="Fira Code" panose="020B0809050000020004" pitchFamily="49" charset="0"/>
                <a:ea typeface="Fira Code" panose="020B0809050000020004" pitchFamily="49" charset="0"/>
              </a:rPr>
              <a:t>for</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1080"/>
                </a:solidFill>
                <a:effectLst/>
                <a:latin typeface="Fira Code" panose="020B0809050000020004" pitchFamily="49" charset="0"/>
                <a:ea typeface="Fira Code" panose="020B0809050000020004" pitchFamily="49" charset="0"/>
              </a:rPr>
              <a:t>sentence</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AF00DB"/>
                </a:solidFill>
                <a:effectLst/>
                <a:latin typeface="Fira Code" panose="020B0809050000020004" pitchFamily="49" charset="0"/>
                <a:ea typeface="Fira Code" panose="020B0809050000020004" pitchFamily="49" charset="0"/>
              </a:rPr>
              <a:t>in</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err="1">
                <a:solidFill>
                  <a:srgbClr val="001080"/>
                </a:solidFill>
                <a:effectLst/>
                <a:latin typeface="Fira Code" panose="020B0809050000020004" pitchFamily="49" charset="0"/>
                <a:ea typeface="Fira Code" panose="020B0809050000020004" pitchFamily="49" charset="0"/>
              </a:rPr>
              <a:t>blob</a:t>
            </a:r>
            <a:r>
              <a:rPr lang="en" altLang="zh-TW" sz="1600" b="0" dirty="0" err="1">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001080"/>
                </a:solidFill>
                <a:effectLst/>
                <a:latin typeface="Fira Code" panose="020B0809050000020004" pitchFamily="49" charset="0"/>
                <a:ea typeface="Fira Code" panose="020B0809050000020004" pitchFamily="49" charset="0"/>
              </a:rPr>
              <a:t>sentences</a:t>
            </a:r>
            <a:r>
              <a:rPr lang="en" altLang="zh-TW" sz="1600" b="0" dirty="0">
                <a:solidFill>
                  <a:srgbClr val="3B3B3B"/>
                </a:solidFill>
                <a:effectLst/>
                <a:latin typeface="Fira Code" panose="020B0809050000020004" pitchFamily="49" charset="0"/>
                <a:ea typeface="Fira Code" panose="020B0809050000020004" pitchFamily="49" charset="0"/>
              </a:rPr>
              <a:t>:</a:t>
            </a:r>
          </a:p>
          <a:p>
            <a:r>
              <a:rPr lang="zh-TW" altLang="en-US" sz="1600" b="0" dirty="0">
                <a:solidFill>
                  <a:srgbClr val="AF00D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ea typeface="Fira Code" panose="020B0809050000020004" pitchFamily="49" charset="0"/>
              </a:rPr>
              <a:t>if</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err="1">
                <a:solidFill>
                  <a:srgbClr val="001080"/>
                </a:solidFill>
                <a:effectLst/>
                <a:latin typeface="Fira Code" panose="020B0809050000020004" pitchFamily="49" charset="0"/>
                <a:ea typeface="Fira Code" panose="020B0809050000020004" pitchFamily="49" charset="0"/>
              </a:rPr>
              <a:t>sentence</a:t>
            </a:r>
            <a:r>
              <a:rPr lang="en" altLang="zh-TW" sz="1600" b="0" dirty="0" err="1">
                <a:solidFill>
                  <a:srgbClr val="3B3B3B"/>
                </a:solidFill>
                <a:effectLst/>
                <a:latin typeface="Fira Code" panose="020B0809050000020004" pitchFamily="49" charset="0"/>
                <a:ea typeface="Fira Code" panose="020B0809050000020004" pitchFamily="49" charset="0"/>
              </a:rPr>
              <a:t>.sentiment.polarity</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0000"/>
                </a:solidFill>
                <a:effectLst/>
                <a:latin typeface="Fira Code" panose="020B0809050000020004" pitchFamily="49" charset="0"/>
                <a:ea typeface="Fira Code" panose="020B0809050000020004" pitchFamily="49" charset="0"/>
              </a:rPr>
              <a:t>&gt;</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98658"/>
                </a:solidFill>
                <a:effectLst/>
                <a:latin typeface="Fira Code" panose="020B0809050000020004" pitchFamily="49" charset="0"/>
                <a:ea typeface="Fira Code" panose="020B0809050000020004" pitchFamily="49" charset="0"/>
              </a:rPr>
              <a:t>0.3</a:t>
            </a:r>
            <a:r>
              <a:rPr lang="en" altLang="zh-TW" sz="1600" b="0" dirty="0">
                <a:solidFill>
                  <a:srgbClr val="3B3B3B"/>
                </a:solidFill>
                <a:effectLst/>
                <a:latin typeface="Fira Code" panose="020B0809050000020004" pitchFamily="49" charset="0"/>
                <a:ea typeface="Fira Code" panose="020B0809050000020004" pitchFamily="49" charset="0"/>
              </a:rPr>
              <a:t>:</a:t>
            </a:r>
          </a:p>
          <a:p>
            <a:r>
              <a:rPr lang="zh-TW" altLang="en-US" sz="1600" b="0" dirty="0">
                <a:solidFill>
                  <a:srgbClr val="795E26"/>
                </a:solidFill>
                <a:effectLst/>
                <a:latin typeface="Fira Code" panose="020B0809050000020004" pitchFamily="49" charset="0"/>
              </a:rPr>
              <a:t>        </a:t>
            </a:r>
            <a:r>
              <a:rPr lang="en" altLang="zh-TW" sz="1600" b="0" dirty="0">
                <a:solidFill>
                  <a:srgbClr val="795E26"/>
                </a:solidFill>
                <a:effectLst/>
                <a:latin typeface="Fira Code" panose="020B0809050000020004" pitchFamily="49" charset="0"/>
                <a:ea typeface="Fira Code" panose="020B0809050000020004" pitchFamily="49" charset="0"/>
              </a:rPr>
              <a:t>print</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a:solidFill>
                  <a:srgbClr val="A31515"/>
                </a:solidFill>
                <a:effectLst/>
                <a:latin typeface="Fira Code" panose="020B0809050000020004" pitchFamily="49" charset="0"/>
                <a:ea typeface="Fira Code" panose="020B0809050000020004" pitchFamily="49" charset="0"/>
              </a:rPr>
              <a:t>"Positive"</a:t>
            </a:r>
            <a:r>
              <a:rPr lang="en" altLang="zh-TW" sz="1600" b="0" dirty="0">
                <a:solidFill>
                  <a:srgbClr val="3B3B3B"/>
                </a:solidFill>
                <a:effectLst/>
                <a:latin typeface="Fira Code" panose="020B0809050000020004" pitchFamily="49" charset="0"/>
                <a:ea typeface="Fira Code" panose="020B0809050000020004" pitchFamily="49" charset="0"/>
              </a:rPr>
              <a:t>)</a:t>
            </a:r>
          </a:p>
          <a:p>
            <a:r>
              <a:rPr lang="zh-TW" altLang="en-US" sz="1600" b="0" dirty="0">
                <a:solidFill>
                  <a:srgbClr val="AF00DB"/>
                </a:solidFill>
                <a:effectLst/>
                <a:latin typeface="Fira Code" panose="020B0809050000020004" pitchFamily="49" charset="0"/>
              </a:rPr>
              <a:t>    </a:t>
            </a:r>
            <a:r>
              <a:rPr lang="en" altLang="zh-TW" sz="1600" b="0" dirty="0" err="1">
                <a:solidFill>
                  <a:srgbClr val="AF00DB"/>
                </a:solidFill>
                <a:effectLst/>
                <a:latin typeface="Fira Code" panose="020B0809050000020004" pitchFamily="49" charset="0"/>
                <a:ea typeface="Fira Code" panose="020B0809050000020004" pitchFamily="49" charset="0"/>
              </a:rPr>
              <a:t>elif</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err="1">
                <a:solidFill>
                  <a:srgbClr val="001080"/>
                </a:solidFill>
                <a:effectLst/>
                <a:latin typeface="Fira Code" panose="020B0809050000020004" pitchFamily="49" charset="0"/>
                <a:ea typeface="Fira Code" panose="020B0809050000020004" pitchFamily="49" charset="0"/>
              </a:rPr>
              <a:t>sentence</a:t>
            </a:r>
            <a:r>
              <a:rPr lang="en" altLang="zh-TW" sz="1600" b="0" dirty="0" err="1">
                <a:solidFill>
                  <a:srgbClr val="3B3B3B"/>
                </a:solidFill>
                <a:effectLst/>
                <a:latin typeface="Fira Code" panose="020B0809050000020004" pitchFamily="49" charset="0"/>
                <a:ea typeface="Fira Code" panose="020B0809050000020004" pitchFamily="49" charset="0"/>
              </a:rPr>
              <a:t>.sentiment.polarity</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0000"/>
                </a:solidFill>
                <a:effectLst/>
                <a:latin typeface="Fira Code" panose="020B0809050000020004" pitchFamily="49" charset="0"/>
                <a:ea typeface="Fira Code" panose="020B0809050000020004" pitchFamily="49" charset="0"/>
              </a:rPr>
              <a:t>&lt;</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0000"/>
                </a:solidFill>
                <a:effectLst/>
                <a:latin typeface="Fira Code" panose="020B0809050000020004" pitchFamily="49" charset="0"/>
                <a:ea typeface="Fira Code" panose="020B0809050000020004" pitchFamily="49" charset="0"/>
              </a:rPr>
              <a:t>-</a:t>
            </a:r>
            <a:r>
              <a:rPr lang="en" altLang="zh-TW" sz="1600" b="0" dirty="0">
                <a:solidFill>
                  <a:srgbClr val="098658"/>
                </a:solidFill>
                <a:effectLst/>
                <a:latin typeface="Fira Code" panose="020B0809050000020004" pitchFamily="49" charset="0"/>
                <a:ea typeface="Fira Code" panose="020B0809050000020004" pitchFamily="49" charset="0"/>
              </a:rPr>
              <a:t>0.3</a:t>
            </a:r>
            <a:r>
              <a:rPr lang="en" altLang="zh-TW" sz="1600" b="0" dirty="0">
                <a:solidFill>
                  <a:srgbClr val="3B3B3B"/>
                </a:solidFill>
                <a:effectLst/>
                <a:latin typeface="Fira Code" panose="020B0809050000020004" pitchFamily="49" charset="0"/>
                <a:ea typeface="Fira Code" panose="020B0809050000020004" pitchFamily="49" charset="0"/>
              </a:rPr>
              <a:t>:</a:t>
            </a:r>
          </a:p>
          <a:p>
            <a:r>
              <a:rPr lang="zh-TW" altLang="en-US" sz="1600" b="0" dirty="0">
                <a:solidFill>
                  <a:srgbClr val="795E26"/>
                </a:solidFill>
                <a:effectLst/>
                <a:latin typeface="Fira Code" panose="020B0809050000020004" pitchFamily="49" charset="0"/>
              </a:rPr>
              <a:t>        </a:t>
            </a:r>
            <a:r>
              <a:rPr lang="en" altLang="zh-TW" sz="1600" b="0" dirty="0">
                <a:solidFill>
                  <a:srgbClr val="795E26"/>
                </a:solidFill>
                <a:effectLst/>
                <a:latin typeface="Fira Code" panose="020B0809050000020004" pitchFamily="49" charset="0"/>
                <a:ea typeface="Fira Code" panose="020B0809050000020004" pitchFamily="49" charset="0"/>
              </a:rPr>
              <a:t>print</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a:solidFill>
                  <a:srgbClr val="A31515"/>
                </a:solidFill>
                <a:effectLst/>
                <a:latin typeface="Fira Code" panose="020B0809050000020004" pitchFamily="49" charset="0"/>
                <a:ea typeface="Fira Code" panose="020B0809050000020004" pitchFamily="49" charset="0"/>
              </a:rPr>
              <a:t>"Negative"</a:t>
            </a:r>
            <a:r>
              <a:rPr lang="en" altLang="zh-TW" sz="1600" b="0" dirty="0">
                <a:solidFill>
                  <a:srgbClr val="3B3B3B"/>
                </a:solidFill>
                <a:effectLst/>
                <a:latin typeface="Fira Code" panose="020B0809050000020004" pitchFamily="49" charset="0"/>
                <a:ea typeface="Fira Code" panose="020B0809050000020004" pitchFamily="49" charset="0"/>
              </a:rPr>
              <a:t>)</a:t>
            </a:r>
          </a:p>
          <a:p>
            <a:r>
              <a:rPr lang="zh-TW" altLang="en-US" sz="1600" b="0" dirty="0">
                <a:solidFill>
                  <a:srgbClr val="AF00D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ea typeface="Fira Code" panose="020B0809050000020004" pitchFamily="49" charset="0"/>
              </a:rPr>
              <a:t>else</a:t>
            </a:r>
            <a:r>
              <a:rPr lang="en" altLang="zh-TW" sz="1600" b="0" dirty="0">
                <a:solidFill>
                  <a:srgbClr val="3B3B3B"/>
                </a:solidFill>
                <a:effectLst/>
                <a:latin typeface="Fira Code" panose="020B0809050000020004" pitchFamily="49" charset="0"/>
                <a:ea typeface="Fira Code" panose="020B0809050000020004" pitchFamily="49" charset="0"/>
              </a:rPr>
              <a:t>:</a:t>
            </a:r>
          </a:p>
          <a:p>
            <a:r>
              <a:rPr lang="zh-TW" altLang="en-US" sz="1600" b="0" dirty="0">
                <a:solidFill>
                  <a:srgbClr val="795E26"/>
                </a:solidFill>
                <a:effectLst/>
                <a:latin typeface="Fira Code" panose="020B0809050000020004" pitchFamily="49" charset="0"/>
              </a:rPr>
              <a:t>        </a:t>
            </a:r>
            <a:r>
              <a:rPr lang="en" altLang="zh-TW" sz="1600" b="0" dirty="0">
                <a:solidFill>
                  <a:srgbClr val="795E26"/>
                </a:solidFill>
                <a:effectLst/>
                <a:latin typeface="Fira Code" panose="020B0809050000020004" pitchFamily="49" charset="0"/>
                <a:ea typeface="Fira Code" panose="020B0809050000020004" pitchFamily="49" charset="0"/>
              </a:rPr>
              <a:t>print</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a:solidFill>
                  <a:srgbClr val="A31515"/>
                </a:solidFill>
                <a:effectLst/>
                <a:latin typeface="Fira Code" panose="020B0809050000020004" pitchFamily="49" charset="0"/>
                <a:ea typeface="Fira Code" panose="020B0809050000020004" pitchFamily="49" charset="0"/>
              </a:rPr>
              <a:t>"Neutral"</a:t>
            </a:r>
            <a:r>
              <a:rPr lang="en" altLang="zh-TW" sz="1600" b="0" dirty="0">
                <a:solidFill>
                  <a:srgbClr val="3B3B3B"/>
                </a:solidFill>
                <a:effectLst/>
                <a:latin typeface="Fira Code" panose="020B0809050000020004" pitchFamily="49" charset="0"/>
                <a:ea typeface="Fira Code" panose="020B0809050000020004" pitchFamily="49" charset="0"/>
              </a:rPr>
              <a:t>)</a:t>
            </a:r>
          </a:p>
        </p:txBody>
      </p:sp>
      <p:sp>
        <p:nvSpPr>
          <p:cNvPr id="9" name="文字方塊 8">
            <a:extLst>
              <a:ext uri="{FF2B5EF4-FFF2-40B4-BE49-F238E27FC236}">
                <a16:creationId xmlns:a16="http://schemas.microsoft.com/office/drawing/2014/main" id="{58DBCA54-C1D8-F517-8A41-6AB617F10709}"/>
              </a:ext>
            </a:extLst>
          </p:cNvPr>
          <p:cNvSpPr txBox="1"/>
          <p:nvPr/>
        </p:nvSpPr>
        <p:spPr>
          <a:xfrm>
            <a:off x="838200" y="4154050"/>
            <a:ext cx="4571998" cy="707886"/>
          </a:xfrm>
          <a:prstGeom prst="rect">
            <a:avLst/>
          </a:prstGeom>
          <a:noFill/>
          <a:ln>
            <a:solidFill>
              <a:schemeClr val="tx1"/>
            </a:solidFill>
          </a:ln>
        </p:spPr>
        <p:txBody>
          <a:bodyPr wrap="square">
            <a:spAutoFit/>
          </a:bodyPr>
          <a:lstStyle/>
          <a:p>
            <a:r>
              <a:rPr lang="en" altLang="zh-TW" sz="2000" dirty="0"/>
              <a:t>$ pip install -U </a:t>
            </a:r>
            <a:r>
              <a:rPr lang="en" altLang="zh-TW" sz="2000" dirty="0" err="1"/>
              <a:t>textblob</a:t>
            </a:r>
            <a:r>
              <a:rPr lang="en" altLang="zh-TW" sz="2000" dirty="0"/>
              <a:t> </a:t>
            </a:r>
          </a:p>
          <a:p>
            <a:r>
              <a:rPr lang="en" altLang="zh-TW" sz="2000" dirty="0"/>
              <a:t>$ python -m </a:t>
            </a:r>
            <a:r>
              <a:rPr lang="en" altLang="zh-TW" sz="2000" dirty="0" err="1"/>
              <a:t>textblob.download_corpora</a:t>
            </a:r>
            <a:endParaRPr lang="zh-TW" altLang="en-US" sz="2000" dirty="0"/>
          </a:p>
        </p:txBody>
      </p:sp>
    </p:spTree>
    <p:extLst>
      <p:ext uri="{BB962C8B-B14F-4D97-AF65-F5344CB8AC3E}">
        <p14:creationId xmlns:p14="http://schemas.microsoft.com/office/powerpoint/2010/main" val="734969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5AAB88-780F-875A-354E-5674C7765EAA}"/>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 - </a:t>
            </a:r>
            <a:r>
              <a:rPr kumimoji="1" lang="en-US" altLang="zh-TW" dirty="0" err="1"/>
              <a:t>spaCy</a:t>
            </a:r>
            <a:endParaRPr kumimoji="1" lang="zh-TW" altLang="en-US" dirty="0"/>
          </a:p>
        </p:txBody>
      </p:sp>
      <p:sp>
        <p:nvSpPr>
          <p:cNvPr id="3" name="內容版面配置區 2">
            <a:extLst>
              <a:ext uri="{FF2B5EF4-FFF2-40B4-BE49-F238E27FC236}">
                <a16:creationId xmlns:a16="http://schemas.microsoft.com/office/drawing/2014/main" id="{8447B675-5CF2-E78C-A629-074DEB52838B}"/>
              </a:ext>
            </a:extLst>
          </p:cNvPr>
          <p:cNvSpPr>
            <a:spLocks noGrp="1"/>
          </p:cNvSpPr>
          <p:nvPr>
            <p:ph idx="1"/>
          </p:nvPr>
        </p:nvSpPr>
        <p:spPr/>
        <p:txBody>
          <a:bodyPr/>
          <a:lstStyle/>
          <a:p>
            <a:r>
              <a:rPr kumimoji="1" lang="zh-TW" altLang="en-US" dirty="0"/>
              <a:t>另一個好用的套件：</a:t>
            </a:r>
            <a:r>
              <a:rPr kumimoji="1" lang="en-US" altLang="zh-TW" dirty="0" err="1"/>
              <a:t>spaCy</a:t>
            </a:r>
            <a:r>
              <a:rPr kumimoji="1" lang="zh-TW" altLang="en-US" dirty="0"/>
              <a:t> </a:t>
            </a:r>
            <a:r>
              <a:rPr kumimoji="1" lang="en-US" altLang="zh-TW" dirty="0"/>
              <a:t>(</a:t>
            </a:r>
            <a:r>
              <a:rPr kumimoji="1" lang="en-US" altLang="zh-TW" dirty="0">
                <a:hlinkClick r:id="rId2"/>
              </a:rPr>
              <a:t>https://spacy.io/</a:t>
            </a:r>
            <a:r>
              <a:rPr kumimoji="1" lang="en-US" altLang="zh-TW" dirty="0"/>
              <a:t>)</a:t>
            </a:r>
          </a:p>
          <a:p>
            <a:r>
              <a:rPr kumimoji="1" lang="zh-TW" altLang="en-US" dirty="0"/>
              <a:t>廣泛應用於各種</a:t>
            </a:r>
            <a:r>
              <a:rPr kumimoji="1" lang="en-US" altLang="zh-TW" dirty="0"/>
              <a:t>NLP</a:t>
            </a:r>
            <a:r>
              <a:rPr kumimoji="1" lang="zh-TW" altLang="en-US" dirty="0"/>
              <a:t>任務，包括自然語言理解、訊息提取、文本分類和語言生成等。</a:t>
            </a:r>
            <a:endParaRPr kumimoji="1" lang="en-US" altLang="zh-TW" dirty="0"/>
          </a:p>
          <a:p>
            <a:endParaRPr kumimoji="1" lang="en-US" altLang="zh-TW" dirty="0"/>
          </a:p>
          <a:p>
            <a:endParaRPr kumimoji="1" lang="zh-TW" altLang="en-US" dirty="0"/>
          </a:p>
        </p:txBody>
      </p:sp>
      <p:sp>
        <p:nvSpPr>
          <p:cNvPr id="5" name="文字方塊 4">
            <a:extLst>
              <a:ext uri="{FF2B5EF4-FFF2-40B4-BE49-F238E27FC236}">
                <a16:creationId xmlns:a16="http://schemas.microsoft.com/office/drawing/2014/main" id="{48FB2DD7-2C9D-B9F9-48DE-1ED4E03731CF}"/>
              </a:ext>
            </a:extLst>
          </p:cNvPr>
          <p:cNvSpPr txBox="1"/>
          <p:nvPr/>
        </p:nvSpPr>
        <p:spPr>
          <a:xfrm>
            <a:off x="838200" y="3228278"/>
            <a:ext cx="7725937" cy="3416320"/>
          </a:xfrm>
          <a:prstGeom prst="rect">
            <a:avLst/>
          </a:prstGeom>
          <a:noFill/>
          <a:ln>
            <a:solidFill>
              <a:schemeClr val="tx1"/>
            </a:solidFill>
          </a:ln>
        </p:spPr>
        <p:txBody>
          <a:bodyPr wrap="square">
            <a:spAutoFit/>
          </a:bodyPr>
          <a:lstStyle/>
          <a:p>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a:solidFill>
                  <a:srgbClr val="267F99"/>
                </a:solidFill>
                <a:effectLst/>
                <a:latin typeface="Fira Code" panose="020B0809050000020004" pitchFamily="49" charset="0"/>
              </a:rPr>
              <a:t>spacy</a:t>
            </a:r>
            <a:endParaRPr lang="en" altLang="zh-TW" b="0" dirty="0">
              <a:solidFill>
                <a:srgbClr val="3B3B3B"/>
              </a:solidFill>
              <a:effectLst/>
              <a:latin typeface="Fira Code" panose="020B0809050000020004" pitchFamily="49" charset="0"/>
            </a:endParaRPr>
          </a:p>
          <a:p>
            <a:r>
              <a:rPr lang="en" altLang="zh-TW" b="0" dirty="0">
                <a:solidFill>
                  <a:srgbClr val="008000"/>
                </a:solidFill>
                <a:effectLst/>
                <a:latin typeface="Fira Code" panose="020B0809050000020004" pitchFamily="49" charset="0"/>
              </a:rPr>
              <a:t># Load the English language model</a:t>
            </a:r>
            <a:endParaRPr lang="en" altLang="zh-TW" b="0" dirty="0">
              <a:solidFill>
                <a:srgbClr val="3B3B3B"/>
              </a:solidFill>
              <a:effectLst/>
              <a:latin typeface="Fira Code" panose="020B0809050000020004" pitchFamily="49" charset="0"/>
            </a:endParaRPr>
          </a:p>
          <a:p>
            <a:r>
              <a:rPr lang="en" altLang="zh-TW" b="0" dirty="0" err="1">
                <a:solidFill>
                  <a:srgbClr val="001080"/>
                </a:solidFill>
                <a:effectLst/>
                <a:latin typeface="Fira Code" panose="020B0809050000020004" pitchFamily="49" charset="0"/>
              </a:rPr>
              <a:t>nlp</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spacy</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load</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en" altLang="zh-TW" b="0" dirty="0" err="1">
                <a:solidFill>
                  <a:srgbClr val="A31515"/>
                </a:solidFill>
                <a:effectLst/>
                <a:latin typeface="Fira Code" panose="020B0809050000020004" pitchFamily="49" charset="0"/>
              </a:rPr>
              <a:t>en_core_web_sm</a:t>
            </a:r>
            <a:r>
              <a:rPr lang="en" altLang="zh-TW" b="0" dirty="0">
                <a:solidFill>
                  <a:srgbClr val="A31515"/>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a:t>
            </a:r>
          </a:p>
          <a:p>
            <a:r>
              <a:rPr lang="en" altLang="zh-TW" b="0" dirty="0">
                <a:solidFill>
                  <a:srgbClr val="008000"/>
                </a:solidFill>
                <a:effectLst/>
                <a:latin typeface="Fira Code" panose="020B0809050000020004" pitchFamily="49" charset="0"/>
              </a:rPr>
              <a:t># Sample text</a:t>
            </a:r>
            <a:endParaRPr lang="en" altLang="zh-TW" b="0" dirty="0">
              <a:solidFill>
                <a:srgbClr val="3B3B3B"/>
              </a:solidFill>
              <a:effectLst/>
              <a:latin typeface="Fira Code" panose="020B0809050000020004" pitchFamily="49" charset="0"/>
            </a:endParaRPr>
          </a:p>
          <a:p>
            <a:r>
              <a:rPr lang="en" altLang="zh-TW" b="0" dirty="0">
                <a:solidFill>
                  <a:srgbClr val="001080"/>
                </a:solidFill>
                <a:effectLst/>
                <a:latin typeface="Fira Code" panose="020B0809050000020004" pitchFamily="49" charset="0"/>
              </a:rPr>
              <a:t>text</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'The quick brown fox jumps over the lazy dog.'</a:t>
            </a:r>
            <a:endParaRPr lang="en" altLang="zh-TW" b="0" dirty="0">
              <a:solidFill>
                <a:srgbClr val="3B3B3B"/>
              </a:solidFill>
              <a:effectLst/>
              <a:latin typeface="Fira Code" panose="020B0809050000020004" pitchFamily="49" charset="0"/>
            </a:endParaRPr>
          </a:p>
          <a:p>
            <a:r>
              <a:rPr lang="en" altLang="zh-TW" b="0" dirty="0">
                <a:solidFill>
                  <a:srgbClr val="008000"/>
                </a:solidFill>
                <a:effectLst/>
                <a:latin typeface="Fira Code" panose="020B0809050000020004" pitchFamily="49" charset="0"/>
              </a:rPr>
              <a:t># Process the text with </a:t>
            </a:r>
            <a:r>
              <a:rPr lang="en" altLang="zh-TW" b="0" dirty="0" err="1">
                <a:solidFill>
                  <a:srgbClr val="008000"/>
                </a:solidFill>
                <a:effectLst/>
                <a:latin typeface="Fira Code" panose="020B0809050000020004" pitchFamily="49" charset="0"/>
              </a:rPr>
              <a:t>SpaCy</a:t>
            </a:r>
            <a:endParaRPr lang="en" altLang="zh-TW" b="0" dirty="0">
              <a:solidFill>
                <a:srgbClr val="3B3B3B"/>
              </a:solidFill>
              <a:effectLst/>
              <a:latin typeface="Fira Code" panose="020B0809050000020004" pitchFamily="49" charset="0"/>
            </a:endParaRPr>
          </a:p>
          <a:p>
            <a:r>
              <a:rPr lang="en" altLang="zh-TW" b="0" dirty="0">
                <a:solidFill>
                  <a:srgbClr val="001080"/>
                </a:solidFill>
                <a:effectLst/>
                <a:latin typeface="Fira Code" panose="020B0809050000020004" pitchFamily="49" charset="0"/>
              </a:rPr>
              <a:t>doc</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nlp</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text</a:t>
            </a:r>
            <a:r>
              <a:rPr lang="en" altLang="zh-TW" b="0" dirty="0">
                <a:solidFill>
                  <a:srgbClr val="3B3B3B"/>
                </a:solidFill>
                <a:effectLst/>
                <a:latin typeface="Fira Code" panose="020B0809050000020004" pitchFamily="49" charset="0"/>
              </a:rPr>
              <a:t>)</a:t>
            </a:r>
          </a:p>
          <a:p>
            <a:r>
              <a:rPr lang="en" altLang="zh-TW" b="0" dirty="0">
                <a:solidFill>
                  <a:srgbClr val="008000"/>
                </a:solidFill>
                <a:effectLst/>
                <a:latin typeface="Fira Code" panose="020B0809050000020004" pitchFamily="49" charset="0"/>
              </a:rPr>
              <a:t># Display the </a:t>
            </a:r>
            <a:r>
              <a:rPr lang="en" altLang="zh-TW" b="0" dirty="0" err="1">
                <a:solidFill>
                  <a:srgbClr val="008000"/>
                </a:solidFill>
                <a:effectLst/>
                <a:latin typeface="Fira Code" panose="020B0809050000020004" pitchFamily="49" charset="0"/>
              </a:rPr>
              <a:t>PoS</a:t>
            </a:r>
            <a:r>
              <a:rPr lang="en" altLang="zh-TW" b="0" dirty="0">
                <a:solidFill>
                  <a:srgbClr val="008000"/>
                </a:solidFill>
                <a:effectLst/>
                <a:latin typeface="Fira Code" panose="020B0809050000020004" pitchFamily="49" charset="0"/>
              </a:rPr>
              <a:t> tagged result</a:t>
            </a:r>
            <a:endParaRPr lang="en" altLang="zh-TW" b="0" dirty="0">
              <a:solidFill>
                <a:srgbClr val="3B3B3B"/>
              </a:solidFill>
              <a:effectLst/>
              <a:latin typeface="Fira Code" panose="020B0809050000020004" pitchFamily="49" charset="0"/>
            </a:endParaRP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"Original Text: "</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text</a:t>
            </a:r>
            <a:r>
              <a:rPr lang="en" altLang="zh-TW" b="0" dirty="0">
                <a:solidFill>
                  <a:srgbClr val="3B3B3B"/>
                </a:solidFill>
                <a:effectLst/>
                <a:latin typeface="Fira Code" panose="020B0809050000020004" pitchFamily="49" charset="0"/>
              </a:rPr>
              <a:t>)</a:t>
            </a:r>
          </a:p>
          <a:p>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en" altLang="zh-TW" b="0" dirty="0" err="1">
                <a:solidFill>
                  <a:srgbClr val="A31515"/>
                </a:solidFill>
                <a:effectLst/>
                <a:latin typeface="Fira Code" panose="020B0809050000020004" pitchFamily="49" charset="0"/>
              </a:rPr>
              <a:t>PoS</a:t>
            </a:r>
            <a:r>
              <a:rPr lang="en" altLang="zh-TW" b="0" dirty="0">
                <a:solidFill>
                  <a:srgbClr val="A31515"/>
                </a:solidFill>
                <a:effectLst/>
                <a:latin typeface="Fira Code" panose="020B0809050000020004" pitchFamily="49" charset="0"/>
              </a:rPr>
              <a:t> Tagging Result:"</a:t>
            </a:r>
            <a:r>
              <a:rPr lang="en" altLang="zh-TW" b="0" dirty="0">
                <a:solidFill>
                  <a:srgbClr val="3B3B3B"/>
                </a:solidFill>
                <a:effectLst/>
                <a:latin typeface="Fira Code" panose="020B0809050000020004" pitchFamily="49" charset="0"/>
              </a:rPr>
              <a:t>)</a:t>
            </a:r>
          </a:p>
          <a:p>
            <a:r>
              <a:rPr lang="en" altLang="zh-TW" b="0" dirty="0">
                <a:solidFill>
                  <a:srgbClr val="AF00DB"/>
                </a:solidFill>
                <a:effectLst/>
                <a:latin typeface="Fira Code" panose="020B0809050000020004" pitchFamily="49" charset="0"/>
              </a:rPr>
              <a:t>for</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token</a:t>
            </a:r>
            <a:r>
              <a:rPr lang="en" altLang="zh-TW" b="0" dirty="0">
                <a:solidFill>
                  <a:srgbClr val="3B3B3B"/>
                </a:solidFill>
                <a:effectLst/>
                <a:latin typeface="Fira Code" panose="020B0809050000020004" pitchFamily="49" charset="0"/>
              </a:rPr>
              <a:t> </a:t>
            </a:r>
            <a:r>
              <a:rPr lang="en" altLang="zh-TW" b="0" dirty="0">
                <a:solidFill>
                  <a:srgbClr val="795E26"/>
                </a:solidFill>
                <a:effectLst/>
                <a:latin typeface="Fira Code" panose="020B0809050000020004" pitchFamily="49" charset="0"/>
              </a:rPr>
              <a:t>in</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doc</a:t>
            </a:r>
            <a:r>
              <a:rPr lang="en" altLang="zh-TW" b="0" dirty="0">
                <a:solidFill>
                  <a:srgbClr val="3B3B3B"/>
                </a:solidFill>
                <a:effectLst/>
                <a:latin typeface="Fira Code" panose="020B0809050000020004" pitchFamily="49" charset="0"/>
              </a:rPr>
              <a:t>:</a:t>
            </a:r>
          </a:p>
          <a:p>
            <a:r>
              <a:rPr lang="en" altLang="zh-TW" dirty="0">
                <a:solidFill>
                  <a:srgbClr val="795E26"/>
                </a:solidFill>
                <a:latin typeface="Fira Code" panose="020B0809050000020004" pitchFamily="49" charset="0"/>
              </a:rPr>
              <a:t>    </a:t>
            </a:r>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a:solidFill>
                  <a:srgbClr val="0000FF"/>
                </a:solidFill>
                <a:effectLst/>
                <a:latin typeface="Fira Code" panose="020B0809050000020004" pitchFamily="49" charset="0"/>
              </a:rPr>
              <a:t>f</a:t>
            </a:r>
            <a:r>
              <a:rPr lang="en" altLang="zh-TW" b="0" dirty="0">
                <a:solidFill>
                  <a:srgbClr val="A31515"/>
                </a:solidFill>
                <a:effectLst/>
                <a:latin typeface="Fira Code" panose="020B0809050000020004" pitchFamily="49" charset="0"/>
              </a:rPr>
              <a:t>"</a:t>
            </a:r>
            <a:r>
              <a:rPr lang="en" altLang="zh-TW" b="0" dirty="0">
                <a:solidFill>
                  <a:srgbClr val="0000FF"/>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token</a:t>
            </a:r>
            <a:r>
              <a:rPr lang="en" altLang="zh-TW" b="0" dirty="0" err="1">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text</a:t>
            </a:r>
            <a:r>
              <a:rPr lang="en" altLang="zh-TW" b="0" dirty="0">
                <a:solidFill>
                  <a:srgbClr val="0000FF"/>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 </a:t>
            </a:r>
            <a:r>
              <a:rPr lang="en" altLang="zh-TW" b="0" dirty="0">
                <a:solidFill>
                  <a:srgbClr val="0000FF"/>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token</a:t>
            </a:r>
            <a:r>
              <a:rPr lang="en" altLang="zh-TW" b="0" dirty="0" err="1">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pos</a:t>
            </a:r>
            <a:r>
              <a:rPr lang="en" altLang="zh-TW" b="0" dirty="0">
                <a:solidFill>
                  <a:srgbClr val="001080"/>
                </a:solidFill>
                <a:effectLst/>
                <a:latin typeface="Fira Code" panose="020B0809050000020004" pitchFamily="49" charset="0"/>
              </a:rPr>
              <a:t>_</a:t>
            </a:r>
            <a:r>
              <a:rPr lang="en" altLang="zh-TW" b="0" dirty="0">
                <a:solidFill>
                  <a:srgbClr val="0000FF"/>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a:t>
            </a:r>
          </a:p>
        </p:txBody>
      </p:sp>
      <p:sp>
        <p:nvSpPr>
          <p:cNvPr id="7" name="文字方塊 6">
            <a:extLst>
              <a:ext uri="{FF2B5EF4-FFF2-40B4-BE49-F238E27FC236}">
                <a16:creationId xmlns:a16="http://schemas.microsoft.com/office/drawing/2014/main" id="{1FD8C56C-B779-9B82-9811-61E16A610772}"/>
              </a:ext>
            </a:extLst>
          </p:cNvPr>
          <p:cNvSpPr txBox="1"/>
          <p:nvPr/>
        </p:nvSpPr>
        <p:spPr>
          <a:xfrm>
            <a:off x="6809678" y="674598"/>
            <a:ext cx="4544122" cy="923330"/>
          </a:xfrm>
          <a:prstGeom prst="rect">
            <a:avLst/>
          </a:prstGeom>
          <a:noFill/>
        </p:spPr>
        <p:txBody>
          <a:bodyPr wrap="square">
            <a:spAutoFit/>
          </a:bodyPr>
          <a:lstStyle/>
          <a:p>
            <a:r>
              <a:rPr lang="zh-TW" altLang="en" dirty="0">
                <a:effectLst/>
              </a:rPr>
              <a:t>可</a:t>
            </a:r>
            <a:r>
              <a:rPr lang="zh-TW" altLang="en-US" dirty="0">
                <a:effectLst/>
              </a:rPr>
              <a:t>能需要執行下列指令</a:t>
            </a:r>
            <a:endParaRPr lang="en" altLang="zh-TW" dirty="0">
              <a:effectLst/>
            </a:endParaRPr>
          </a:p>
          <a:p>
            <a:r>
              <a:rPr lang="en" altLang="zh-TW" dirty="0">
                <a:effectLst/>
              </a:rPr>
              <a:t>pip install spacy</a:t>
            </a:r>
            <a:br>
              <a:rPr lang="en" altLang="zh-TW" dirty="0"/>
            </a:br>
            <a:r>
              <a:rPr lang="en" altLang="zh-TW" dirty="0">
                <a:effectLst/>
              </a:rPr>
              <a:t>python -m spacy download </a:t>
            </a:r>
            <a:r>
              <a:rPr lang="en" altLang="zh-TW" dirty="0" err="1">
                <a:effectLst/>
              </a:rPr>
              <a:t>en_core_web_sm</a:t>
            </a:r>
            <a:endParaRPr lang="zh-TW" altLang="en-US" dirty="0"/>
          </a:p>
        </p:txBody>
      </p:sp>
      <p:sp>
        <p:nvSpPr>
          <p:cNvPr id="9" name="文字方塊 8">
            <a:extLst>
              <a:ext uri="{FF2B5EF4-FFF2-40B4-BE49-F238E27FC236}">
                <a16:creationId xmlns:a16="http://schemas.microsoft.com/office/drawing/2014/main" id="{F496E204-39D4-7B70-1DA7-2C311EDFC3F9}"/>
              </a:ext>
            </a:extLst>
          </p:cNvPr>
          <p:cNvSpPr txBox="1"/>
          <p:nvPr/>
        </p:nvSpPr>
        <p:spPr>
          <a:xfrm>
            <a:off x="8710962" y="3599775"/>
            <a:ext cx="3298902" cy="2893100"/>
          </a:xfrm>
          <a:prstGeom prst="rect">
            <a:avLst/>
          </a:prstGeom>
          <a:noFill/>
          <a:ln>
            <a:solidFill>
              <a:schemeClr val="tx1"/>
            </a:solidFill>
          </a:ln>
        </p:spPr>
        <p:txBody>
          <a:bodyPr wrap="square">
            <a:spAutoFit/>
          </a:bodyPr>
          <a:lstStyle/>
          <a:p>
            <a:r>
              <a:rPr lang="zh-TW" altLang="en-US" sz="1400" dirty="0"/>
              <a:t>Original Text:  The quick brown fox jumps over the lazy dog.</a:t>
            </a:r>
          </a:p>
          <a:p>
            <a:r>
              <a:rPr lang="zh-TW" altLang="en-US" sz="1400" dirty="0"/>
              <a:t>PoS Tagging Result:</a:t>
            </a:r>
          </a:p>
          <a:p>
            <a:r>
              <a:rPr lang="zh-TW" altLang="en-US" sz="1400" dirty="0"/>
              <a:t>The: DET</a:t>
            </a:r>
          </a:p>
          <a:p>
            <a:r>
              <a:rPr lang="zh-TW" altLang="en-US" sz="1400" dirty="0"/>
              <a:t>quick: ADJ</a:t>
            </a:r>
          </a:p>
          <a:p>
            <a:r>
              <a:rPr lang="zh-TW" altLang="en-US" sz="1400" dirty="0"/>
              <a:t>brown: ADJ</a:t>
            </a:r>
          </a:p>
          <a:p>
            <a:r>
              <a:rPr lang="zh-TW" altLang="en-US" sz="1400" dirty="0"/>
              <a:t>fox: NOUN</a:t>
            </a:r>
          </a:p>
          <a:p>
            <a:r>
              <a:rPr lang="zh-TW" altLang="en-US" sz="1400" dirty="0"/>
              <a:t>jumps: VERB</a:t>
            </a:r>
          </a:p>
          <a:p>
            <a:r>
              <a:rPr lang="zh-TW" altLang="en-US" sz="1400" dirty="0"/>
              <a:t>over: ADP</a:t>
            </a:r>
          </a:p>
          <a:p>
            <a:r>
              <a:rPr lang="zh-TW" altLang="en-US" sz="1400" dirty="0"/>
              <a:t>the: DET</a:t>
            </a:r>
          </a:p>
          <a:p>
            <a:r>
              <a:rPr lang="zh-TW" altLang="en-US" sz="1400" dirty="0"/>
              <a:t>lazy: ADJ</a:t>
            </a:r>
          </a:p>
          <a:p>
            <a:r>
              <a:rPr lang="zh-TW" altLang="en-US" sz="1400" dirty="0"/>
              <a:t>dog: NOUN</a:t>
            </a:r>
          </a:p>
          <a:p>
            <a:r>
              <a:rPr lang="zh-TW" altLang="en-US" sz="1400" dirty="0"/>
              <a:t>.: PUNCT</a:t>
            </a:r>
          </a:p>
        </p:txBody>
      </p:sp>
    </p:spTree>
    <p:extLst>
      <p:ext uri="{BB962C8B-B14F-4D97-AF65-F5344CB8AC3E}">
        <p14:creationId xmlns:p14="http://schemas.microsoft.com/office/powerpoint/2010/main" val="1027620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28EDF1-1AD4-5AF6-6293-BA41474FCEB1}"/>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 - </a:t>
            </a:r>
            <a:r>
              <a:rPr kumimoji="1" lang="en-US" altLang="zh-TW" dirty="0" err="1"/>
              <a:t>spaCy</a:t>
            </a:r>
            <a:endParaRPr kumimoji="1" lang="zh-TW" altLang="en-US" dirty="0"/>
          </a:p>
        </p:txBody>
      </p:sp>
      <p:sp>
        <p:nvSpPr>
          <p:cNvPr id="3" name="內容版面配置區 2">
            <a:extLst>
              <a:ext uri="{FF2B5EF4-FFF2-40B4-BE49-F238E27FC236}">
                <a16:creationId xmlns:a16="http://schemas.microsoft.com/office/drawing/2014/main" id="{0C76C19C-BFD8-342A-95AC-1FDF68DDADE1}"/>
              </a:ext>
            </a:extLst>
          </p:cNvPr>
          <p:cNvSpPr>
            <a:spLocks noGrp="1"/>
          </p:cNvSpPr>
          <p:nvPr>
            <p:ph idx="1"/>
          </p:nvPr>
        </p:nvSpPr>
        <p:spPr/>
        <p:txBody>
          <a:bodyPr/>
          <a:lstStyle/>
          <a:p>
            <a:r>
              <a:rPr kumimoji="1" lang="zh-TW" altLang="en-US" dirty="0"/>
              <a:t>詞形還原</a:t>
            </a:r>
            <a:r>
              <a:rPr kumimoji="1" lang="en-US" altLang="zh-TW" dirty="0"/>
              <a:t>(Lemmatization)</a:t>
            </a:r>
            <a:r>
              <a:rPr kumimoji="1" lang="zh-TW" altLang="en-US" dirty="0"/>
              <a:t>： 這是一個將單字的變形形式分組在一起的過程，以便可以將它們作為單一項目進行分析，並透過單字的元形或字典形式進行識別。</a:t>
            </a:r>
          </a:p>
        </p:txBody>
      </p:sp>
      <p:sp>
        <p:nvSpPr>
          <p:cNvPr id="5" name="文字方塊 4">
            <a:extLst>
              <a:ext uri="{FF2B5EF4-FFF2-40B4-BE49-F238E27FC236}">
                <a16:creationId xmlns:a16="http://schemas.microsoft.com/office/drawing/2014/main" id="{DEDB77A6-EF0A-A65B-28DB-58EDD0BB171A}"/>
              </a:ext>
            </a:extLst>
          </p:cNvPr>
          <p:cNvSpPr txBox="1"/>
          <p:nvPr/>
        </p:nvSpPr>
        <p:spPr>
          <a:xfrm>
            <a:off x="1042638" y="3170498"/>
            <a:ext cx="9874405" cy="2862322"/>
          </a:xfrm>
          <a:prstGeom prst="rect">
            <a:avLst/>
          </a:prstGeom>
          <a:noFill/>
          <a:ln>
            <a:solidFill>
              <a:schemeClr val="tx1"/>
            </a:solidFill>
          </a:ln>
        </p:spPr>
        <p:txBody>
          <a:bodyPr wrap="square">
            <a:spAutoFit/>
          </a:bodyPr>
          <a:lstStyle/>
          <a:p>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a:solidFill>
                  <a:srgbClr val="267F99"/>
                </a:solidFill>
                <a:effectLst/>
                <a:latin typeface="Fira Code" panose="020B0809050000020004" pitchFamily="49" charset="0"/>
              </a:rPr>
              <a:t>spacy</a:t>
            </a:r>
            <a:r>
              <a:rPr lang="en" altLang="zh-TW" b="0" dirty="0">
                <a:solidFill>
                  <a:srgbClr val="3B3B3B"/>
                </a:solidFill>
                <a:effectLst/>
                <a:latin typeface="Fira Code" panose="020B0809050000020004" pitchFamily="49" charset="0"/>
              </a:rPr>
              <a:t> </a:t>
            </a:r>
          </a:p>
          <a:p>
            <a:r>
              <a:rPr lang="en" altLang="zh-TW" b="0" dirty="0">
                <a:solidFill>
                  <a:srgbClr val="008000"/>
                </a:solidFill>
                <a:effectLst/>
                <a:latin typeface="Fira Code" panose="020B0809050000020004" pitchFamily="49" charset="0"/>
              </a:rPr>
              <a:t># Load English tokenizer, tagger, parser, NER and word vectors </a:t>
            </a:r>
            <a:endParaRPr lang="en" altLang="zh-TW" b="0" dirty="0">
              <a:solidFill>
                <a:srgbClr val="3B3B3B"/>
              </a:solidFill>
              <a:effectLst/>
              <a:latin typeface="Fira Code" panose="020B0809050000020004" pitchFamily="49" charset="0"/>
            </a:endParaRPr>
          </a:p>
          <a:p>
            <a:r>
              <a:rPr lang="en" altLang="zh-TW" b="0" dirty="0" err="1">
                <a:solidFill>
                  <a:srgbClr val="001080"/>
                </a:solidFill>
                <a:effectLst/>
                <a:latin typeface="Fira Code" panose="020B0809050000020004" pitchFamily="49" charset="0"/>
              </a:rPr>
              <a:t>nlp</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spacy</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load</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en" altLang="zh-TW" b="0" dirty="0" err="1">
                <a:solidFill>
                  <a:srgbClr val="A31515"/>
                </a:solidFill>
                <a:effectLst/>
                <a:latin typeface="Fira Code" panose="020B0809050000020004" pitchFamily="49" charset="0"/>
              </a:rPr>
              <a:t>en_core_web_sm</a:t>
            </a:r>
            <a:r>
              <a:rPr lang="en" altLang="zh-TW" b="0" dirty="0">
                <a:solidFill>
                  <a:srgbClr val="A31515"/>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p>
          <a:p>
            <a:r>
              <a:rPr lang="en" altLang="zh-TW" b="0" dirty="0">
                <a:solidFill>
                  <a:srgbClr val="008000"/>
                </a:solidFill>
                <a:effectLst/>
                <a:latin typeface="Fira Code" panose="020B0809050000020004" pitchFamily="49" charset="0"/>
              </a:rPr>
              <a:t># Process whole documents </a:t>
            </a:r>
            <a:endParaRPr lang="en" altLang="zh-TW" b="0" dirty="0">
              <a:solidFill>
                <a:srgbClr val="3B3B3B"/>
              </a:solidFill>
              <a:effectLst/>
              <a:latin typeface="Fira Code" panose="020B0809050000020004" pitchFamily="49" charset="0"/>
            </a:endParaRPr>
          </a:p>
          <a:p>
            <a:r>
              <a:rPr lang="en" altLang="zh-TW" b="0" dirty="0">
                <a:solidFill>
                  <a:srgbClr val="001080"/>
                </a:solidFill>
                <a:effectLst/>
                <a:latin typeface="Fira Code" panose="020B0809050000020004" pitchFamily="49" charset="0"/>
              </a:rPr>
              <a:t>text</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"""My name is </a:t>
            </a:r>
            <a:r>
              <a:rPr lang="en" altLang="zh-TW" b="0" dirty="0" err="1">
                <a:solidFill>
                  <a:srgbClr val="A31515"/>
                </a:solidFill>
                <a:effectLst/>
                <a:latin typeface="Fira Code" panose="020B0809050000020004" pitchFamily="49" charset="0"/>
              </a:rPr>
              <a:t>Shaurya</a:t>
            </a:r>
            <a:r>
              <a:rPr lang="en" altLang="zh-TW" b="0" dirty="0">
                <a:solidFill>
                  <a:srgbClr val="A31515"/>
                </a:solidFill>
                <a:effectLst/>
                <a:latin typeface="Fira Code" panose="020B0809050000020004" pitchFamily="49" charset="0"/>
              </a:rPr>
              <a:t> Uppal. I enjoy writing articles on </a:t>
            </a:r>
            <a:r>
              <a:rPr lang="en" altLang="zh-TW" b="0" dirty="0" err="1">
                <a:solidFill>
                  <a:srgbClr val="A31515"/>
                </a:solidFill>
                <a:effectLst/>
                <a:latin typeface="Fira Code" panose="020B0809050000020004" pitchFamily="49" charset="0"/>
              </a:rPr>
              <a:t>GeeksforGeeks</a:t>
            </a:r>
            <a:r>
              <a:rPr lang="en" altLang="zh-TW" b="0" dirty="0">
                <a:solidFill>
                  <a:srgbClr val="A31515"/>
                </a:solidFill>
                <a:effectLst/>
                <a:latin typeface="Fira Code" panose="020B0809050000020004" pitchFamily="49" charset="0"/>
              </a:rPr>
              <a:t> checkout my other article by going to my profile section."""</a:t>
            </a:r>
            <a:endParaRPr lang="en" altLang="zh-TW" b="0" dirty="0">
              <a:solidFill>
                <a:srgbClr val="3B3B3B"/>
              </a:solidFill>
              <a:effectLst/>
              <a:latin typeface="Fira Code" panose="020B0809050000020004" pitchFamily="49" charset="0"/>
            </a:endParaRPr>
          </a:p>
          <a:p>
            <a:r>
              <a:rPr lang="en" altLang="zh-TW" b="0" dirty="0">
                <a:solidFill>
                  <a:srgbClr val="001080"/>
                </a:solidFill>
                <a:effectLst/>
                <a:latin typeface="Fira Code" panose="020B0809050000020004" pitchFamily="49" charset="0"/>
              </a:rPr>
              <a:t>doc</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nlp</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text</a:t>
            </a:r>
            <a:r>
              <a:rPr lang="en" altLang="zh-TW" b="0" dirty="0">
                <a:solidFill>
                  <a:srgbClr val="3B3B3B"/>
                </a:solidFill>
                <a:effectLst/>
                <a:latin typeface="Fira Code" panose="020B0809050000020004" pitchFamily="49" charset="0"/>
              </a:rPr>
              <a:t>) </a:t>
            </a:r>
          </a:p>
          <a:p>
            <a:r>
              <a:rPr lang="en" altLang="zh-TW" b="0" dirty="0">
                <a:solidFill>
                  <a:srgbClr val="AF00DB"/>
                </a:solidFill>
                <a:effectLst/>
                <a:latin typeface="Fira Code" panose="020B0809050000020004" pitchFamily="49" charset="0"/>
              </a:rPr>
              <a:t>for</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token</a:t>
            </a:r>
            <a:r>
              <a:rPr lang="en" altLang="zh-TW" b="0" dirty="0">
                <a:solidFill>
                  <a:srgbClr val="3B3B3B"/>
                </a:solidFill>
                <a:effectLst/>
                <a:latin typeface="Fira Code" panose="020B0809050000020004" pitchFamily="49" charset="0"/>
              </a:rPr>
              <a:t> </a:t>
            </a:r>
            <a:r>
              <a:rPr lang="en" altLang="zh-TW" b="0" dirty="0">
                <a:solidFill>
                  <a:srgbClr val="795E26"/>
                </a:solidFill>
                <a:effectLst/>
                <a:latin typeface="Fira Code" panose="020B0809050000020004" pitchFamily="49" charset="0"/>
              </a:rPr>
              <a:t>in</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doc</a:t>
            </a:r>
            <a:r>
              <a:rPr lang="en" altLang="zh-TW" b="0" dirty="0">
                <a:solidFill>
                  <a:srgbClr val="3B3B3B"/>
                </a:solidFill>
                <a:effectLst/>
                <a:latin typeface="Fira Code" panose="020B0809050000020004" pitchFamily="49" charset="0"/>
              </a:rPr>
              <a:t>: </a:t>
            </a:r>
          </a:p>
          <a:p>
            <a:r>
              <a:rPr lang="zh-TW" altLang="en-US" b="0" dirty="0">
                <a:solidFill>
                  <a:srgbClr val="795E26"/>
                </a:solidFill>
                <a:effectLst/>
                <a:latin typeface="Fira Code" panose="020B0809050000020004" pitchFamily="49" charset="0"/>
              </a:rPr>
              <a:t>    </a:t>
            </a:r>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token</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token</a:t>
            </a:r>
            <a:r>
              <a:rPr lang="en" altLang="zh-TW" b="0" dirty="0" err="1">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lemma</a:t>
            </a:r>
            <a:r>
              <a:rPr lang="en" altLang="zh-TW" b="0" dirty="0">
                <a:solidFill>
                  <a:srgbClr val="001080"/>
                </a:solidFill>
                <a:effectLst/>
                <a:latin typeface="Fira Code" panose="020B0809050000020004" pitchFamily="49" charset="0"/>
              </a:rPr>
              <a:t>_</a:t>
            </a:r>
            <a:r>
              <a:rPr lang="en" altLang="zh-TW" b="0" dirty="0">
                <a:solidFill>
                  <a:srgbClr val="3B3B3B"/>
                </a:solidFill>
                <a:effectLst/>
                <a:latin typeface="Fira Code" panose="020B0809050000020004" pitchFamily="49" charset="0"/>
              </a:rPr>
              <a:t>) </a:t>
            </a:r>
          </a:p>
        </p:txBody>
      </p:sp>
    </p:spTree>
    <p:extLst>
      <p:ext uri="{BB962C8B-B14F-4D97-AF65-F5344CB8AC3E}">
        <p14:creationId xmlns:p14="http://schemas.microsoft.com/office/powerpoint/2010/main" val="1346955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035FC2-0009-6174-E78A-E2608FE28427}"/>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 - </a:t>
            </a:r>
            <a:r>
              <a:rPr kumimoji="1" lang="en-US" altLang="zh-TW" dirty="0" err="1"/>
              <a:t>spaCy</a:t>
            </a:r>
            <a:endParaRPr kumimoji="1" lang="zh-TW" altLang="en-US" dirty="0"/>
          </a:p>
        </p:txBody>
      </p:sp>
      <p:sp>
        <p:nvSpPr>
          <p:cNvPr id="3" name="內容版面配置區 2">
            <a:extLst>
              <a:ext uri="{FF2B5EF4-FFF2-40B4-BE49-F238E27FC236}">
                <a16:creationId xmlns:a16="http://schemas.microsoft.com/office/drawing/2014/main" id="{DD56E089-AED0-0C7B-8E4C-3E456B097A51}"/>
              </a:ext>
            </a:extLst>
          </p:cNvPr>
          <p:cNvSpPr>
            <a:spLocks noGrp="1"/>
          </p:cNvSpPr>
          <p:nvPr>
            <p:ph idx="1"/>
          </p:nvPr>
        </p:nvSpPr>
        <p:spPr>
          <a:xfrm>
            <a:off x="838200" y="1825624"/>
            <a:ext cx="10515600" cy="4820503"/>
          </a:xfrm>
        </p:spPr>
        <p:txBody>
          <a:bodyPr>
            <a:normAutofit fontScale="70000" lnSpcReduction="20000"/>
          </a:bodyPr>
          <a:lstStyle/>
          <a:p>
            <a:pPr>
              <a:lnSpc>
                <a:spcPct val="120000"/>
              </a:lnSpc>
            </a:pPr>
            <a:r>
              <a:rPr kumimoji="1" lang="zh-TW" altLang="en-US" dirty="0"/>
              <a:t>中文模組 </a:t>
            </a:r>
            <a:r>
              <a:rPr kumimoji="1" lang="en-US" altLang="zh-TW" dirty="0"/>
              <a:t>-</a:t>
            </a:r>
            <a:r>
              <a:rPr kumimoji="1" lang="zh-TW" altLang="en-US" dirty="0"/>
              <a:t> </a:t>
            </a:r>
            <a:r>
              <a:rPr kumimoji="1" lang="en" altLang="zh-TW" dirty="0">
                <a:hlinkClick r:id="rId2"/>
              </a:rPr>
              <a:t>https://spacy.io/models/zh</a:t>
            </a:r>
            <a:endParaRPr kumimoji="1" lang="en" altLang="zh-TW" dirty="0"/>
          </a:p>
          <a:p>
            <a:pPr>
              <a:lnSpc>
                <a:spcPct val="120000"/>
              </a:lnSpc>
              <a:spcBef>
                <a:spcPts val="500"/>
              </a:spcBef>
            </a:pPr>
            <a:r>
              <a:rPr kumimoji="1" lang="en" altLang="zh-TW" b="1" dirty="0" err="1">
                <a:solidFill>
                  <a:srgbClr val="FF0000"/>
                </a:solidFill>
              </a:rPr>
              <a:t>zh_core_web_sm</a:t>
            </a:r>
            <a:endParaRPr kumimoji="1" lang="en" altLang="zh-TW" b="1" dirty="0">
              <a:solidFill>
                <a:srgbClr val="FF0000"/>
              </a:solidFill>
            </a:endParaRPr>
          </a:p>
          <a:p>
            <a:pPr lvl="1">
              <a:lnSpc>
                <a:spcPct val="120000"/>
              </a:lnSpc>
            </a:pPr>
            <a:r>
              <a:rPr kumimoji="1" lang="zh-TW" altLang="en-US" dirty="0"/>
              <a:t>這是最小的中文語言模型，用於基本的語言處理任務</a:t>
            </a:r>
            <a:r>
              <a:rPr kumimoji="1" lang="en-US" altLang="zh-TW" dirty="0"/>
              <a:t>(</a:t>
            </a:r>
            <a:r>
              <a:rPr kumimoji="1" lang="zh-TW" altLang="en-US" dirty="0"/>
              <a:t>分詞和詞性標註</a:t>
            </a:r>
            <a:r>
              <a:rPr kumimoji="1" lang="en-US" altLang="zh-TW" dirty="0"/>
              <a:t>)</a:t>
            </a:r>
            <a:r>
              <a:rPr kumimoji="1" lang="zh-TW" altLang="en-US" dirty="0"/>
              <a:t>， 它的下載大小比較小，速度比較快，但是在處理複雜的語言問題時可能表現較差。</a:t>
            </a:r>
          </a:p>
          <a:p>
            <a:pPr>
              <a:lnSpc>
                <a:spcPct val="120000"/>
              </a:lnSpc>
              <a:spcBef>
                <a:spcPts val="500"/>
              </a:spcBef>
            </a:pPr>
            <a:r>
              <a:rPr kumimoji="1" lang="en" altLang="zh-TW" sz="2900" b="1" dirty="0" err="1">
                <a:solidFill>
                  <a:srgbClr val="FF0000"/>
                </a:solidFill>
              </a:rPr>
              <a:t>zh_core_web_md</a:t>
            </a:r>
            <a:endParaRPr kumimoji="1" lang="en" altLang="zh-TW" sz="2900" b="1" dirty="0">
              <a:solidFill>
                <a:srgbClr val="FF0000"/>
              </a:solidFill>
            </a:endParaRPr>
          </a:p>
          <a:p>
            <a:pPr lvl="1">
              <a:lnSpc>
                <a:spcPct val="120000"/>
              </a:lnSpc>
            </a:pPr>
            <a:r>
              <a:rPr kumimoji="1" lang="zh-TW" altLang="en-US" dirty="0"/>
              <a:t>這是中等大小的中文語言模型，比 </a:t>
            </a:r>
            <a:r>
              <a:rPr kumimoji="1" lang="en" altLang="zh-TW" dirty="0" err="1"/>
              <a:t>zh_core_web_sm</a:t>
            </a:r>
            <a:r>
              <a:rPr kumimoji="1" lang="en" altLang="zh-TW" dirty="0"/>
              <a:t> </a:t>
            </a:r>
            <a:r>
              <a:rPr kumimoji="1" lang="zh-TW" altLang="en-US" dirty="0"/>
              <a:t>包含更多的詞彙、語言特徵和上下文信息，可以用於更多的語言處理任務，它的下載大小比較大，速度比較慢，但是在處理複雜的語言問題時表現較好。</a:t>
            </a:r>
          </a:p>
          <a:p>
            <a:pPr>
              <a:lnSpc>
                <a:spcPct val="120000"/>
              </a:lnSpc>
              <a:spcBef>
                <a:spcPts val="500"/>
              </a:spcBef>
            </a:pPr>
            <a:r>
              <a:rPr kumimoji="1" lang="en" altLang="zh-TW" sz="2900" b="1" dirty="0" err="1">
                <a:solidFill>
                  <a:srgbClr val="FF0000"/>
                </a:solidFill>
              </a:rPr>
              <a:t>zh_core_web_lg</a:t>
            </a:r>
            <a:endParaRPr kumimoji="1" lang="en" altLang="zh-TW" sz="2900" b="1" dirty="0">
              <a:solidFill>
                <a:srgbClr val="FF0000"/>
              </a:solidFill>
            </a:endParaRPr>
          </a:p>
          <a:p>
            <a:pPr lvl="1">
              <a:lnSpc>
                <a:spcPct val="120000"/>
              </a:lnSpc>
            </a:pPr>
            <a:r>
              <a:rPr kumimoji="1" lang="zh-TW" altLang="en-US" dirty="0"/>
              <a:t>這是最大的中文語言模型，比 </a:t>
            </a:r>
            <a:r>
              <a:rPr kumimoji="1" lang="en" altLang="zh-TW" dirty="0" err="1"/>
              <a:t>zh_core_web_md</a:t>
            </a:r>
            <a:r>
              <a:rPr kumimoji="1" lang="en" altLang="zh-TW" dirty="0"/>
              <a:t> </a:t>
            </a:r>
            <a:r>
              <a:rPr kumimoji="1" lang="zh-TW" altLang="en-US" dirty="0"/>
              <a:t>包含更多的語言特徵和上下文信息，可以用於更複雜和高級的語言處理任務，例如自然語言生成和語言理解，它的下載大小非常大，速度非常慢，但是在處理最複雜的語言問題時表現最佳。</a:t>
            </a:r>
          </a:p>
          <a:p>
            <a:pPr>
              <a:lnSpc>
                <a:spcPct val="120000"/>
              </a:lnSpc>
              <a:spcBef>
                <a:spcPts val="500"/>
              </a:spcBef>
            </a:pPr>
            <a:r>
              <a:rPr kumimoji="1" lang="en" altLang="zh-TW" sz="2900" b="1" dirty="0" err="1">
                <a:solidFill>
                  <a:srgbClr val="FF0000"/>
                </a:solidFill>
              </a:rPr>
              <a:t>zh_core_web_trf</a:t>
            </a:r>
            <a:endParaRPr kumimoji="1" lang="en" altLang="zh-TW" sz="2900" b="1" dirty="0">
              <a:solidFill>
                <a:srgbClr val="FF0000"/>
              </a:solidFill>
            </a:endParaRPr>
          </a:p>
          <a:p>
            <a:pPr lvl="1">
              <a:lnSpc>
                <a:spcPct val="120000"/>
              </a:lnSpc>
            </a:pPr>
            <a:r>
              <a:rPr kumimoji="1" lang="zh-TW" altLang="en-US" dirty="0"/>
              <a:t>這是基於 </a:t>
            </a:r>
            <a:r>
              <a:rPr kumimoji="1" lang="en" altLang="zh-TW" dirty="0"/>
              <a:t>Transformer </a:t>
            </a:r>
            <a:r>
              <a:rPr kumimoji="1" lang="zh-TW" altLang="en-US" dirty="0"/>
              <a:t>技術的中文語言模型，是最先進和最強大的中文語言模型之一。它比 </a:t>
            </a:r>
            <a:r>
              <a:rPr kumimoji="1" lang="en" altLang="zh-TW" dirty="0" err="1"/>
              <a:t>zh_core_web_lg</a:t>
            </a:r>
            <a:r>
              <a:rPr kumimoji="1" lang="en" altLang="zh-TW" dirty="0"/>
              <a:t> </a:t>
            </a:r>
            <a:r>
              <a:rPr kumimoji="1" lang="zh-TW" altLang="en-US" dirty="0"/>
              <a:t>包含更多的語言特徵和上下文信息，同時使用 </a:t>
            </a:r>
            <a:r>
              <a:rPr kumimoji="1" lang="en" altLang="zh-TW" dirty="0"/>
              <a:t>Transformer </a:t>
            </a:r>
            <a:r>
              <a:rPr kumimoji="1" lang="zh-TW" altLang="en-US" dirty="0"/>
              <a:t>技術可以更好地處理長文本和上下文相關性，但是它的下載大小更大，速度更慢，需要更多的計算資源。</a:t>
            </a:r>
          </a:p>
        </p:txBody>
      </p:sp>
    </p:spTree>
    <p:extLst>
      <p:ext uri="{BB962C8B-B14F-4D97-AF65-F5344CB8AC3E}">
        <p14:creationId xmlns:p14="http://schemas.microsoft.com/office/powerpoint/2010/main" val="907425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A9850C-23EB-1FA1-78DF-296809EFEFA4}"/>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 - </a:t>
            </a:r>
            <a:r>
              <a:rPr kumimoji="1" lang="en-US" altLang="zh-TW" dirty="0" err="1"/>
              <a:t>spaCy</a:t>
            </a:r>
            <a:endParaRPr kumimoji="1" lang="zh-TW" altLang="en-US" dirty="0"/>
          </a:p>
        </p:txBody>
      </p:sp>
      <p:sp>
        <p:nvSpPr>
          <p:cNvPr id="3" name="內容版面配置區 2">
            <a:extLst>
              <a:ext uri="{FF2B5EF4-FFF2-40B4-BE49-F238E27FC236}">
                <a16:creationId xmlns:a16="http://schemas.microsoft.com/office/drawing/2014/main" id="{55E395FF-49F5-FB9E-A859-04E9915D9CAF}"/>
              </a:ext>
            </a:extLst>
          </p:cNvPr>
          <p:cNvSpPr>
            <a:spLocks noGrp="1"/>
          </p:cNvSpPr>
          <p:nvPr>
            <p:ph idx="1"/>
          </p:nvPr>
        </p:nvSpPr>
        <p:spPr/>
        <p:txBody>
          <a:bodyPr/>
          <a:lstStyle/>
          <a:p>
            <a:endParaRPr kumimoji="1" lang="en-US" altLang="zh-TW" dirty="0"/>
          </a:p>
          <a:p>
            <a:endParaRPr kumimoji="1" lang="en-US" altLang="zh-TW" dirty="0"/>
          </a:p>
          <a:p>
            <a:endParaRPr kumimoji="1" lang="en-US" altLang="zh-TW" dirty="0"/>
          </a:p>
          <a:p>
            <a:endParaRPr kumimoji="1" lang="en-US" altLang="zh-TW" dirty="0"/>
          </a:p>
          <a:p>
            <a:r>
              <a:rPr kumimoji="1" lang="zh-TW" altLang="en-US" dirty="0"/>
              <a:t>透過</a:t>
            </a:r>
            <a:r>
              <a:rPr kumimoji="1" lang="en-US" altLang="zh-TW" dirty="0" err="1"/>
              <a:t>spaCy</a:t>
            </a:r>
            <a:r>
              <a:rPr kumimoji="1" lang="zh-TW" altLang="en-US" dirty="0"/>
              <a:t>可將句子斷詞、找出詞性等</a:t>
            </a:r>
          </a:p>
        </p:txBody>
      </p:sp>
      <p:sp>
        <p:nvSpPr>
          <p:cNvPr id="5" name="文字方塊 4">
            <a:extLst>
              <a:ext uri="{FF2B5EF4-FFF2-40B4-BE49-F238E27FC236}">
                <a16:creationId xmlns:a16="http://schemas.microsoft.com/office/drawing/2014/main" id="{239F71D9-A706-EF22-0C9B-2AA6125507D8}"/>
              </a:ext>
            </a:extLst>
          </p:cNvPr>
          <p:cNvSpPr txBox="1"/>
          <p:nvPr/>
        </p:nvSpPr>
        <p:spPr>
          <a:xfrm>
            <a:off x="379141" y="1777845"/>
            <a:ext cx="11162371" cy="1569660"/>
          </a:xfrm>
          <a:prstGeom prst="rect">
            <a:avLst/>
          </a:prstGeom>
          <a:noFill/>
          <a:ln>
            <a:solidFill>
              <a:schemeClr val="tx1"/>
            </a:solidFill>
          </a:ln>
        </p:spPr>
        <p:txBody>
          <a:bodyPr wrap="square">
            <a:spAutoFit/>
          </a:bodyPr>
          <a:lstStyle/>
          <a:p>
            <a:r>
              <a:rPr lang="en" altLang="zh-TW" sz="1600" b="0" dirty="0">
                <a:solidFill>
                  <a:srgbClr val="AF00DB"/>
                </a:solidFill>
                <a:effectLst/>
                <a:latin typeface="Fira Code" panose="020B0809050000020004" pitchFamily="49" charset="0"/>
              </a:rPr>
              <a:t>import</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spacy</a:t>
            </a:r>
            <a:endParaRPr lang="en" altLang="zh-TW" sz="1600" b="0" dirty="0">
              <a:solidFill>
                <a:srgbClr val="3B3B3B"/>
              </a:solidFill>
              <a:effectLst/>
              <a:latin typeface="Fira Code" panose="020B0809050000020004" pitchFamily="49" charset="0"/>
            </a:endParaRPr>
          </a:p>
          <a:p>
            <a:r>
              <a:rPr lang="en" altLang="zh-TW" sz="1600" b="0" dirty="0">
                <a:solidFill>
                  <a:srgbClr val="AF00DB"/>
                </a:solidFill>
                <a:effectLst/>
                <a:latin typeface="Fira Code" panose="020B0809050000020004" pitchFamily="49" charset="0"/>
              </a:rPr>
              <a:t>import</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pandas</a:t>
            </a:r>
            <a:r>
              <a:rPr lang="en" altLang="zh-TW" sz="1600" b="0" dirty="0">
                <a:solidFill>
                  <a:srgbClr val="3B3B3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rPr>
              <a:t>as</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pd</a:t>
            </a:r>
            <a:endParaRPr lang="en" altLang="zh-TW" sz="1600" b="0" dirty="0">
              <a:solidFill>
                <a:srgbClr val="3B3B3B"/>
              </a:solidFill>
              <a:effectLst/>
              <a:latin typeface="Fira Code" panose="020B0809050000020004" pitchFamily="49" charset="0"/>
            </a:endParaRPr>
          </a:p>
          <a:p>
            <a:r>
              <a:rPr lang="en" altLang="zh-TW" sz="1600" b="0" dirty="0" err="1">
                <a:solidFill>
                  <a:srgbClr val="001080"/>
                </a:solidFill>
                <a:effectLst/>
                <a:latin typeface="Fira Code" panose="020B0809050000020004" pitchFamily="49" charset="0"/>
              </a:rPr>
              <a:t>nlp</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267F99"/>
                </a:solidFill>
                <a:effectLst/>
                <a:latin typeface="Fira Code" panose="020B0809050000020004" pitchFamily="49" charset="0"/>
              </a:rPr>
              <a:t>spacy</a:t>
            </a:r>
            <a:r>
              <a:rPr lang="en" altLang="zh-TW" sz="1600" b="0" dirty="0" err="1">
                <a:solidFill>
                  <a:srgbClr val="3B3B3B"/>
                </a:solidFill>
                <a:effectLst/>
                <a:latin typeface="Fira Code" panose="020B0809050000020004" pitchFamily="49" charset="0"/>
              </a:rPr>
              <a:t>.</a:t>
            </a:r>
            <a:r>
              <a:rPr lang="en" altLang="zh-TW" sz="1600" b="0" dirty="0" err="1">
                <a:solidFill>
                  <a:srgbClr val="795E26"/>
                </a:solidFill>
                <a:effectLst/>
                <a:latin typeface="Fira Code" panose="020B0809050000020004" pitchFamily="49" charset="0"/>
              </a:rPr>
              <a:t>load</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en" altLang="zh-TW" sz="1600" b="0" dirty="0" err="1">
                <a:solidFill>
                  <a:srgbClr val="A31515"/>
                </a:solidFill>
                <a:effectLst/>
                <a:latin typeface="Fira Code" panose="020B0809050000020004" pitchFamily="49" charset="0"/>
              </a:rPr>
              <a:t>zh_core_web_md</a:t>
            </a:r>
            <a:r>
              <a:rPr lang="en" altLang="zh-TW" sz="1600" b="0" dirty="0">
                <a:solidFill>
                  <a:srgbClr val="A31515"/>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a:t>
            </a:r>
            <a:r>
              <a:rPr lang="en" altLang="zh-TW" sz="1600" b="0" dirty="0">
                <a:solidFill>
                  <a:srgbClr val="008000"/>
                </a:solidFill>
                <a:effectLst/>
                <a:latin typeface="Fira Code" panose="020B0809050000020004" pitchFamily="49" charset="0"/>
              </a:rPr>
              <a:t># </a:t>
            </a:r>
            <a:r>
              <a:rPr lang="zh-TW" altLang="en-US" sz="1600" b="0" dirty="0">
                <a:solidFill>
                  <a:srgbClr val="008000"/>
                </a:solidFill>
                <a:effectLst/>
                <a:latin typeface="Fira Code" panose="020B0809050000020004" pitchFamily="49" charset="0"/>
              </a:rPr>
              <a:t>對中文語句進行解析</a:t>
            </a:r>
            <a:endParaRPr lang="zh-TW" altLang="en-US" sz="1600" b="0" dirty="0">
              <a:solidFill>
                <a:srgbClr val="3B3B3B"/>
              </a:solidFill>
              <a:effectLst/>
              <a:latin typeface="Fira Code" panose="020B0809050000020004" pitchFamily="49" charset="0"/>
            </a:endParaRPr>
          </a:p>
          <a:p>
            <a:r>
              <a:rPr lang="en" altLang="zh-TW" sz="1600" b="0" dirty="0">
                <a:solidFill>
                  <a:srgbClr val="001080"/>
                </a:solidFill>
                <a:effectLst/>
                <a:latin typeface="Fira Code" panose="020B0809050000020004" pitchFamily="49" charset="0"/>
              </a:rPr>
              <a:t>doc</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nlp</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zh-TW" altLang="en-US" sz="1600" b="0" dirty="0">
                <a:solidFill>
                  <a:srgbClr val="A31515"/>
                </a:solidFill>
                <a:effectLst/>
                <a:latin typeface="Fira Code" panose="020B0809050000020004" pitchFamily="49" charset="0"/>
              </a:rPr>
              <a:t>新冠疫情趨緩，但近來其他疾病如腸病毒、流感等多種傳染病卻呈現流行趨勢</a:t>
            </a:r>
            <a:r>
              <a:rPr lang="en-US" altLang="zh-TW" sz="1600" b="0" dirty="0">
                <a:solidFill>
                  <a:srgbClr val="A31515"/>
                </a:solidFill>
                <a:effectLst/>
                <a:latin typeface="Fira Code" panose="020B0809050000020004" pitchFamily="49" charset="0"/>
              </a:rPr>
              <a:t>'</a:t>
            </a:r>
            <a:r>
              <a:rPr lang="en-US" altLang="zh-TW" sz="1600" b="0" dirty="0">
                <a:solidFill>
                  <a:srgbClr val="3B3B3B"/>
                </a:solidFill>
                <a:effectLst/>
                <a:latin typeface="Fira Code" panose="020B0809050000020004" pitchFamily="49" charset="0"/>
              </a:rPr>
              <a:t>)</a:t>
            </a:r>
          </a:p>
          <a:p>
            <a:r>
              <a:rPr lang="en" altLang="zh-TW" sz="1600" b="0" dirty="0">
                <a:solidFill>
                  <a:srgbClr val="001080"/>
                </a:solidFill>
                <a:effectLst/>
                <a:latin typeface="Fira Code" panose="020B0809050000020004" pitchFamily="49" charset="0"/>
              </a:rPr>
              <a:t>columns</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zh-TW" altLang="en-US" sz="1600" b="0" dirty="0">
                <a:solidFill>
                  <a:srgbClr val="A31515"/>
                </a:solidFill>
                <a:effectLst/>
                <a:latin typeface="Fira Code" panose="020B0809050000020004" pitchFamily="49" charset="0"/>
              </a:rPr>
              <a:t>詞</a:t>
            </a:r>
            <a:r>
              <a:rPr lang="en-US" altLang="zh-TW" sz="1600" b="0" dirty="0">
                <a:solidFill>
                  <a:srgbClr val="A31515"/>
                </a:solidFill>
                <a:effectLst/>
                <a:latin typeface="Fira Code" panose="020B0809050000020004" pitchFamily="49" charset="0"/>
              </a:rPr>
              <a:t>'</a:t>
            </a:r>
            <a:r>
              <a:rPr lang="en-US" altLang="zh-TW" sz="1600" b="0" dirty="0">
                <a:solidFill>
                  <a:srgbClr val="3B3B3B"/>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a:t>
            </a:r>
            <a:r>
              <a:rPr lang="zh-TW" altLang="en-US" sz="1600" b="0" dirty="0">
                <a:solidFill>
                  <a:srgbClr val="A31515"/>
                </a:solidFill>
                <a:effectLst/>
                <a:latin typeface="Fira Code" panose="020B0809050000020004" pitchFamily="49" charset="0"/>
              </a:rPr>
              <a:t>詞類</a:t>
            </a:r>
            <a:r>
              <a:rPr lang="en-US" altLang="zh-TW" sz="1600" b="0" dirty="0">
                <a:solidFill>
                  <a:srgbClr val="A31515"/>
                </a:solidFill>
                <a:effectLst/>
                <a:latin typeface="Fira Code" panose="020B0809050000020004" pitchFamily="49" charset="0"/>
              </a:rPr>
              <a:t>'</a:t>
            </a:r>
            <a:r>
              <a:rPr lang="en-US" altLang="zh-TW" sz="1600" b="0" dirty="0">
                <a:solidFill>
                  <a:srgbClr val="3B3B3B"/>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a:t>
            </a:r>
            <a:r>
              <a:rPr lang="zh-TW" altLang="en-US" sz="1600" b="0" dirty="0">
                <a:solidFill>
                  <a:srgbClr val="A31515"/>
                </a:solidFill>
                <a:effectLst/>
                <a:latin typeface="Fira Code" panose="020B0809050000020004" pitchFamily="49" charset="0"/>
              </a:rPr>
              <a:t>詞性標注</a:t>
            </a:r>
            <a:r>
              <a:rPr lang="en-US" altLang="zh-TW" sz="1600" b="0" dirty="0">
                <a:solidFill>
                  <a:srgbClr val="A31515"/>
                </a:solidFill>
                <a:effectLst/>
                <a:latin typeface="Fira Code" panose="020B0809050000020004" pitchFamily="49" charset="0"/>
              </a:rPr>
              <a:t>'</a:t>
            </a:r>
            <a:r>
              <a:rPr lang="en-US" altLang="zh-TW" sz="1600" b="0" dirty="0">
                <a:solidFill>
                  <a:srgbClr val="3B3B3B"/>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a:t>
            </a:r>
            <a:r>
              <a:rPr lang="zh-TW" altLang="en-US" sz="1600" b="0" dirty="0">
                <a:solidFill>
                  <a:srgbClr val="A31515"/>
                </a:solidFill>
                <a:effectLst/>
                <a:latin typeface="Fira Code" panose="020B0809050000020004" pitchFamily="49" charset="0"/>
              </a:rPr>
              <a:t>單詞依存關係</a:t>
            </a:r>
            <a:r>
              <a:rPr lang="en-US" altLang="zh-TW" sz="1600" b="0" dirty="0">
                <a:solidFill>
                  <a:srgbClr val="A31515"/>
                </a:solidFill>
                <a:effectLst/>
                <a:latin typeface="Fira Code" panose="020B0809050000020004" pitchFamily="49" charset="0"/>
              </a:rPr>
              <a:t>'</a:t>
            </a:r>
            <a:r>
              <a:rPr lang="en-US" altLang="zh-TW" sz="1600" b="0" dirty="0">
                <a:solidFill>
                  <a:srgbClr val="3B3B3B"/>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a:t>
            </a:r>
            <a:r>
              <a:rPr lang="zh-TW" altLang="en-US" sz="1600" b="0" dirty="0">
                <a:solidFill>
                  <a:srgbClr val="A31515"/>
                </a:solidFill>
                <a:effectLst/>
                <a:latin typeface="Fira Code" panose="020B0809050000020004" pitchFamily="49" charset="0"/>
              </a:rPr>
              <a:t>是否為純字母組成</a:t>
            </a:r>
            <a:r>
              <a:rPr lang="en-US" altLang="zh-TW" sz="1600" b="0" dirty="0">
                <a:solidFill>
                  <a:srgbClr val="A31515"/>
                </a:solidFill>
                <a:effectLst/>
                <a:latin typeface="Fira Code" panose="020B0809050000020004" pitchFamily="49" charset="0"/>
              </a:rPr>
              <a:t>'</a:t>
            </a:r>
            <a:r>
              <a:rPr lang="en-US" altLang="zh-TW" sz="1600" b="0" dirty="0">
                <a:solidFill>
                  <a:srgbClr val="3B3B3B"/>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a:t>
            </a:r>
            <a:r>
              <a:rPr lang="zh-TW" altLang="en-US" sz="1600" b="0" dirty="0">
                <a:solidFill>
                  <a:srgbClr val="A31515"/>
                </a:solidFill>
                <a:effectLst/>
                <a:latin typeface="Fira Code" panose="020B0809050000020004" pitchFamily="49" charset="0"/>
              </a:rPr>
              <a:t>是否為停用詞</a:t>
            </a:r>
            <a:r>
              <a:rPr lang="en-US" altLang="zh-TW" sz="1600" b="0" dirty="0">
                <a:solidFill>
                  <a:srgbClr val="A31515"/>
                </a:solidFill>
                <a:effectLst/>
                <a:latin typeface="Fira Code" panose="020B0809050000020004" pitchFamily="49" charset="0"/>
              </a:rPr>
              <a:t>'</a:t>
            </a:r>
            <a:r>
              <a:rPr lang="en-US" altLang="zh-TW" sz="1600" b="0" dirty="0">
                <a:solidFill>
                  <a:srgbClr val="3B3B3B"/>
                </a:solidFill>
                <a:effectLst/>
                <a:latin typeface="Fira Code" panose="020B0809050000020004" pitchFamily="49" charset="0"/>
              </a:rPr>
              <a:t>]</a:t>
            </a:r>
          </a:p>
          <a:p>
            <a:r>
              <a:rPr lang="en" altLang="zh-TW" sz="1600" b="0" dirty="0">
                <a:solidFill>
                  <a:srgbClr val="001080"/>
                </a:solidFill>
                <a:effectLst/>
                <a:latin typeface="Fira Code" panose="020B0809050000020004" pitchFamily="49" charset="0"/>
              </a:rPr>
              <a:t>dim</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list</a:t>
            </a:r>
            <a:r>
              <a:rPr lang="en" altLang="zh-TW" sz="1600" b="0" dirty="0">
                <a:solidFill>
                  <a:srgbClr val="3B3B3B"/>
                </a:solidFill>
                <a:effectLst/>
                <a:latin typeface="Fira Code" panose="020B0809050000020004" pitchFamily="49" charset="0"/>
              </a:rPr>
              <a:t>(</a:t>
            </a:r>
            <a:r>
              <a:rPr lang="en" altLang="zh-TW" sz="1600" b="0" dirty="0">
                <a:solidFill>
                  <a:srgbClr val="267F99"/>
                </a:solidFill>
                <a:effectLst/>
                <a:latin typeface="Fira Code" panose="020B0809050000020004" pitchFamily="49" charset="0"/>
              </a:rPr>
              <a:t>map</a:t>
            </a:r>
            <a:r>
              <a:rPr lang="en" altLang="zh-TW" sz="1600" b="0" dirty="0">
                <a:solidFill>
                  <a:srgbClr val="3B3B3B"/>
                </a:solidFill>
                <a:effectLst/>
                <a:latin typeface="Fira Code" panose="020B0809050000020004" pitchFamily="49" charset="0"/>
              </a:rPr>
              <a:t>(</a:t>
            </a:r>
            <a:r>
              <a:rPr lang="en" altLang="zh-TW" sz="1600" b="0" dirty="0">
                <a:solidFill>
                  <a:srgbClr val="0000FF"/>
                </a:solidFill>
                <a:effectLst/>
                <a:latin typeface="Fira Code" panose="020B0809050000020004" pitchFamily="49" charset="0"/>
              </a:rPr>
              <a:t>lambda</a:t>
            </a:r>
            <a:r>
              <a:rPr lang="en" altLang="zh-TW" sz="1600" b="0" dirty="0">
                <a:solidFill>
                  <a:srgbClr val="3B3B3B"/>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x</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x</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text</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x</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pos</a:t>
            </a:r>
            <a:r>
              <a:rPr lang="en" altLang="zh-TW" sz="1600" b="0" dirty="0">
                <a:solidFill>
                  <a:srgbClr val="001080"/>
                </a:solidFill>
                <a:effectLst/>
                <a:latin typeface="Fira Code" panose="020B0809050000020004" pitchFamily="49" charset="0"/>
              </a:rPr>
              <a:t>_</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x</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tag</a:t>
            </a:r>
            <a:r>
              <a:rPr lang="en" altLang="zh-TW" sz="1600" b="0" dirty="0">
                <a:solidFill>
                  <a:srgbClr val="001080"/>
                </a:solidFill>
                <a:effectLst/>
                <a:latin typeface="Fira Code" panose="020B0809050000020004" pitchFamily="49" charset="0"/>
              </a:rPr>
              <a:t>_</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x</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dep</a:t>
            </a:r>
            <a:r>
              <a:rPr lang="en" altLang="zh-TW" sz="1600" b="0" dirty="0">
                <a:solidFill>
                  <a:srgbClr val="001080"/>
                </a:solidFill>
                <a:effectLst/>
                <a:latin typeface="Fira Code" panose="020B0809050000020004" pitchFamily="49" charset="0"/>
              </a:rPr>
              <a:t>_</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x</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is_alpha</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x</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is_stop</a:t>
            </a:r>
            <a:r>
              <a:rPr lang="en" altLang="zh-TW" sz="1600" b="0" dirty="0">
                <a:solidFill>
                  <a:srgbClr val="3B3B3B"/>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doc</a:t>
            </a:r>
            <a:r>
              <a:rPr lang="en" altLang="zh-TW" sz="1600" b="0" dirty="0">
                <a:solidFill>
                  <a:srgbClr val="3B3B3B"/>
                </a:solidFill>
                <a:effectLst/>
                <a:latin typeface="Fira Code" panose="020B0809050000020004" pitchFamily="49" charset="0"/>
              </a:rPr>
              <a:t>))</a:t>
            </a:r>
          </a:p>
        </p:txBody>
      </p:sp>
      <p:sp>
        <p:nvSpPr>
          <p:cNvPr id="7" name="文字方塊 6">
            <a:extLst>
              <a:ext uri="{FF2B5EF4-FFF2-40B4-BE49-F238E27FC236}">
                <a16:creationId xmlns:a16="http://schemas.microsoft.com/office/drawing/2014/main" id="{547A0E5A-1885-44B9-A7CC-377F4ADA334E}"/>
              </a:ext>
            </a:extLst>
          </p:cNvPr>
          <p:cNvSpPr txBox="1"/>
          <p:nvPr/>
        </p:nvSpPr>
        <p:spPr>
          <a:xfrm>
            <a:off x="379141" y="4593405"/>
            <a:ext cx="4650059" cy="338554"/>
          </a:xfrm>
          <a:prstGeom prst="rect">
            <a:avLst/>
          </a:prstGeom>
          <a:noFill/>
          <a:ln>
            <a:solidFill>
              <a:schemeClr val="tx1"/>
            </a:solidFill>
          </a:ln>
        </p:spPr>
        <p:txBody>
          <a:bodyPr wrap="square">
            <a:spAutoFit/>
          </a:bodyPr>
          <a:lstStyle/>
          <a:p>
            <a:r>
              <a:rPr lang="en" altLang="zh-TW" sz="1600" b="0" dirty="0" err="1">
                <a:solidFill>
                  <a:srgbClr val="267F99"/>
                </a:solidFill>
                <a:effectLst/>
                <a:latin typeface="Fira Code" panose="020B0809050000020004" pitchFamily="49" charset="0"/>
              </a:rPr>
              <a:t>pd</a:t>
            </a:r>
            <a:r>
              <a:rPr lang="en" altLang="zh-TW" sz="1600" b="0" dirty="0" err="1">
                <a:solidFill>
                  <a:srgbClr val="3B3B3B"/>
                </a:solidFill>
                <a:effectLst/>
                <a:latin typeface="Fira Code" panose="020B0809050000020004" pitchFamily="49" charset="0"/>
              </a:rPr>
              <a:t>.</a:t>
            </a:r>
            <a:r>
              <a:rPr lang="en" altLang="zh-TW" sz="1600" b="0" dirty="0" err="1">
                <a:solidFill>
                  <a:srgbClr val="267F99"/>
                </a:solidFill>
                <a:effectLst/>
                <a:latin typeface="Fira Code" panose="020B0809050000020004" pitchFamily="49" charset="0"/>
              </a:rPr>
              <a:t>DataFrame</a:t>
            </a:r>
            <a:r>
              <a:rPr lang="en" altLang="zh-TW" sz="1600" b="0" dirty="0">
                <a:solidFill>
                  <a:srgbClr val="3B3B3B"/>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dim</a:t>
            </a:r>
            <a:r>
              <a:rPr lang="en" altLang="zh-TW" sz="1600" b="0" dirty="0">
                <a:solidFill>
                  <a:srgbClr val="3B3B3B"/>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columns</a:t>
            </a:r>
            <a:r>
              <a:rPr lang="en" altLang="zh-TW" sz="1600" b="0" dirty="0">
                <a:solidFill>
                  <a:srgbClr val="000000"/>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columns</a:t>
            </a:r>
            <a:r>
              <a:rPr lang="en" altLang="zh-TW" sz="1600" b="0" dirty="0">
                <a:solidFill>
                  <a:srgbClr val="3B3B3B"/>
                </a:solidFill>
                <a:effectLst/>
                <a:latin typeface="Fira Code" panose="020B0809050000020004" pitchFamily="49" charset="0"/>
              </a:rPr>
              <a:t>)</a:t>
            </a:r>
          </a:p>
        </p:txBody>
      </p:sp>
      <p:pic>
        <p:nvPicPr>
          <p:cNvPr id="10" name="圖片 9">
            <a:extLst>
              <a:ext uri="{FF2B5EF4-FFF2-40B4-BE49-F238E27FC236}">
                <a16:creationId xmlns:a16="http://schemas.microsoft.com/office/drawing/2014/main" id="{09905839-FB5D-A9AF-851D-95938685D443}"/>
              </a:ext>
            </a:extLst>
          </p:cNvPr>
          <p:cNvPicPr>
            <a:picLocks noChangeAspect="1"/>
          </p:cNvPicPr>
          <p:nvPr/>
        </p:nvPicPr>
        <p:blipFill>
          <a:blip r:embed="rId2"/>
          <a:stretch>
            <a:fillRect/>
          </a:stretch>
        </p:blipFill>
        <p:spPr>
          <a:xfrm>
            <a:off x="6096000" y="4296802"/>
            <a:ext cx="5445512" cy="2500579"/>
          </a:xfrm>
          <a:prstGeom prst="rect">
            <a:avLst/>
          </a:prstGeom>
        </p:spPr>
      </p:pic>
    </p:spTree>
    <p:extLst>
      <p:ext uri="{BB962C8B-B14F-4D97-AF65-F5344CB8AC3E}">
        <p14:creationId xmlns:p14="http://schemas.microsoft.com/office/powerpoint/2010/main" val="3031117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4AB835-6694-D9F3-637C-E241AED2FD68}"/>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 - </a:t>
            </a:r>
            <a:r>
              <a:rPr kumimoji="1" lang="en-US" altLang="zh-TW" dirty="0" err="1"/>
              <a:t>spaCy</a:t>
            </a:r>
            <a:endParaRPr kumimoji="1" lang="zh-TW" altLang="en-US" dirty="0"/>
          </a:p>
        </p:txBody>
      </p:sp>
      <p:sp>
        <p:nvSpPr>
          <p:cNvPr id="3" name="內容版面配置區 2">
            <a:extLst>
              <a:ext uri="{FF2B5EF4-FFF2-40B4-BE49-F238E27FC236}">
                <a16:creationId xmlns:a16="http://schemas.microsoft.com/office/drawing/2014/main" id="{C360AA9B-6E73-003C-1CB6-C52B16A2B79B}"/>
              </a:ext>
            </a:extLst>
          </p:cNvPr>
          <p:cNvSpPr>
            <a:spLocks noGrp="1"/>
          </p:cNvSpPr>
          <p:nvPr>
            <p:ph idx="1"/>
          </p:nvPr>
        </p:nvSpPr>
        <p:spPr/>
        <p:txBody>
          <a:bodyPr/>
          <a:lstStyle/>
          <a:p>
            <a:r>
              <a:rPr kumimoji="1" lang="en" altLang="zh-TW" dirty="0" err="1"/>
              <a:t>spaCy</a:t>
            </a:r>
            <a:r>
              <a:rPr kumimoji="1" lang="en" altLang="zh-TW" dirty="0"/>
              <a:t> </a:t>
            </a:r>
            <a:r>
              <a:rPr kumimoji="1" lang="zh-TW" altLang="en-US" dirty="0"/>
              <a:t>用於詞性的標籤基於 </a:t>
            </a:r>
            <a:r>
              <a:rPr kumimoji="1" lang="en" altLang="zh-TW" dirty="0">
                <a:hlinkClick r:id="rId2"/>
              </a:rPr>
              <a:t>Universal Dependency</a:t>
            </a:r>
            <a:r>
              <a:rPr kumimoji="1" lang="zh-TW" altLang="en-US" dirty="0"/>
              <a:t> </a:t>
            </a:r>
            <a:r>
              <a:rPr kumimoji="1" lang="zh-TW" altLang="en" dirty="0"/>
              <a:t>的</a:t>
            </a:r>
            <a:r>
              <a:rPr kumimoji="1" lang="zh-TW" altLang="en-US" dirty="0"/>
              <a:t>任務旨在創建一組可跨多種不同語言使用的詞性標籤。</a:t>
            </a:r>
            <a:endParaRPr kumimoji="1" lang="en-US" altLang="zh-TW" dirty="0"/>
          </a:p>
          <a:p>
            <a:r>
              <a:rPr kumimoji="1" lang="zh-TW" altLang="en-US" dirty="0"/>
              <a:t>來自不同語言的文字使用這組通用標籤進行註釋，並貢獻給一個可用於訓練 </a:t>
            </a:r>
            <a:r>
              <a:rPr kumimoji="1" lang="en" altLang="zh-TW" dirty="0" err="1"/>
              <a:t>spaCy</a:t>
            </a:r>
            <a:r>
              <a:rPr kumimoji="1" lang="en" altLang="zh-TW" dirty="0"/>
              <a:t> </a:t>
            </a:r>
            <a:r>
              <a:rPr kumimoji="1" lang="zh-TW" altLang="en-US" dirty="0"/>
              <a:t>等模型的通用儲存庫。</a:t>
            </a:r>
          </a:p>
        </p:txBody>
      </p:sp>
      <p:pic>
        <p:nvPicPr>
          <p:cNvPr id="4" name="圖片 3">
            <a:extLst>
              <a:ext uri="{FF2B5EF4-FFF2-40B4-BE49-F238E27FC236}">
                <a16:creationId xmlns:a16="http://schemas.microsoft.com/office/drawing/2014/main" id="{47B4EDFD-CF2E-747F-39FB-7D24EE6700C3}"/>
              </a:ext>
            </a:extLst>
          </p:cNvPr>
          <p:cNvPicPr>
            <a:picLocks noChangeAspect="1"/>
          </p:cNvPicPr>
          <p:nvPr/>
        </p:nvPicPr>
        <p:blipFill>
          <a:blip r:embed="rId3"/>
          <a:stretch>
            <a:fillRect/>
          </a:stretch>
        </p:blipFill>
        <p:spPr>
          <a:xfrm>
            <a:off x="3378717" y="3645519"/>
            <a:ext cx="5434566" cy="2456721"/>
          </a:xfrm>
          <a:prstGeom prst="rect">
            <a:avLst/>
          </a:prstGeom>
        </p:spPr>
      </p:pic>
      <p:sp>
        <p:nvSpPr>
          <p:cNvPr id="6" name="文字方塊 5">
            <a:extLst>
              <a:ext uri="{FF2B5EF4-FFF2-40B4-BE49-F238E27FC236}">
                <a16:creationId xmlns:a16="http://schemas.microsoft.com/office/drawing/2014/main" id="{5612AAA8-6E7E-D5F5-ADD9-4B8B282FFB7B}"/>
              </a:ext>
            </a:extLst>
          </p:cNvPr>
          <p:cNvSpPr txBox="1"/>
          <p:nvPr/>
        </p:nvSpPr>
        <p:spPr>
          <a:xfrm>
            <a:off x="663499" y="6169709"/>
            <a:ext cx="11234852" cy="584775"/>
          </a:xfrm>
          <a:prstGeom prst="rect">
            <a:avLst/>
          </a:prstGeom>
          <a:noFill/>
        </p:spPr>
        <p:txBody>
          <a:bodyPr wrap="square">
            <a:spAutoFit/>
          </a:bodyPr>
          <a:lstStyle/>
          <a:p>
            <a:r>
              <a:rPr kumimoji="1" lang="en" altLang="zh-TW" sz="1600" dirty="0">
                <a:hlinkClick r:id="rId4"/>
              </a:rPr>
              <a:t>https://melaniewalsh.github.io/Intro-Cultural-Analytics/05-Text-Analysis/Multilingual/Chinese/03-POS-Keywords-Chinese.html#spacy-part-of-speech-tagging</a:t>
            </a:r>
            <a:endParaRPr kumimoji="1" lang="en" altLang="zh-TW" sz="1600" dirty="0"/>
          </a:p>
        </p:txBody>
      </p:sp>
    </p:spTree>
    <p:extLst>
      <p:ext uri="{BB962C8B-B14F-4D97-AF65-F5344CB8AC3E}">
        <p14:creationId xmlns:p14="http://schemas.microsoft.com/office/powerpoint/2010/main" val="1361453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61658E-14B7-3507-BC25-85EAB42BF92F}"/>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 - </a:t>
            </a:r>
            <a:r>
              <a:rPr kumimoji="1" lang="en-US" altLang="zh-TW" dirty="0" err="1"/>
              <a:t>spaCy</a:t>
            </a:r>
            <a:endParaRPr kumimoji="1" lang="zh-TW" altLang="en-US" dirty="0"/>
          </a:p>
        </p:txBody>
      </p:sp>
      <p:sp>
        <p:nvSpPr>
          <p:cNvPr id="3" name="內容版面配置區 2">
            <a:extLst>
              <a:ext uri="{FF2B5EF4-FFF2-40B4-BE49-F238E27FC236}">
                <a16:creationId xmlns:a16="http://schemas.microsoft.com/office/drawing/2014/main" id="{A33168CD-23A2-2C43-A6EF-DC3E82F533EF}"/>
              </a:ext>
            </a:extLst>
          </p:cNvPr>
          <p:cNvSpPr>
            <a:spLocks noGrp="1"/>
          </p:cNvSpPr>
          <p:nvPr>
            <p:ph idx="1"/>
          </p:nvPr>
        </p:nvSpPr>
        <p:spPr/>
        <p:txBody>
          <a:bodyPr/>
          <a:lstStyle/>
          <a:p>
            <a:r>
              <a:rPr kumimoji="1" lang="zh-TW" altLang="en-US" dirty="0"/>
              <a:t>計算字出現次數</a:t>
            </a:r>
          </a:p>
        </p:txBody>
      </p:sp>
      <p:sp>
        <p:nvSpPr>
          <p:cNvPr id="5" name="文字方塊 4">
            <a:extLst>
              <a:ext uri="{FF2B5EF4-FFF2-40B4-BE49-F238E27FC236}">
                <a16:creationId xmlns:a16="http://schemas.microsoft.com/office/drawing/2014/main" id="{0F664AEF-AD59-8F15-3392-FAC2C52831EC}"/>
              </a:ext>
            </a:extLst>
          </p:cNvPr>
          <p:cNvSpPr txBox="1"/>
          <p:nvPr/>
        </p:nvSpPr>
        <p:spPr>
          <a:xfrm>
            <a:off x="1042638" y="4156651"/>
            <a:ext cx="9249938" cy="1754326"/>
          </a:xfrm>
          <a:prstGeom prst="rect">
            <a:avLst/>
          </a:prstGeom>
          <a:noFill/>
          <a:ln>
            <a:solidFill>
              <a:schemeClr val="tx1"/>
            </a:solidFill>
          </a:ln>
        </p:spPr>
        <p:txBody>
          <a:bodyPr wrap="square">
            <a:spAutoFit/>
          </a:bodyPr>
          <a:lstStyle/>
          <a:p>
            <a:r>
              <a:rPr lang="en" altLang="zh-TW" b="0" dirty="0">
                <a:solidFill>
                  <a:srgbClr val="AF00DB"/>
                </a:solidFill>
                <a:effectLst/>
                <a:latin typeface="Fira Code" panose="020B0809050000020004" pitchFamily="49" charset="0"/>
              </a:rPr>
              <a:t>from</a:t>
            </a:r>
            <a:r>
              <a:rPr lang="en" altLang="zh-TW" b="0" dirty="0">
                <a:solidFill>
                  <a:srgbClr val="3B3B3B"/>
                </a:solidFill>
                <a:effectLst/>
                <a:latin typeface="Fira Code" panose="020B0809050000020004" pitchFamily="49" charset="0"/>
              </a:rPr>
              <a:t> </a:t>
            </a:r>
            <a:r>
              <a:rPr lang="en" altLang="zh-TW" b="0" dirty="0">
                <a:solidFill>
                  <a:srgbClr val="267F99"/>
                </a:solidFill>
                <a:effectLst/>
                <a:latin typeface="Fira Code" panose="020B0809050000020004" pitchFamily="49" charset="0"/>
              </a:rPr>
              <a:t>collections</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a:solidFill>
                  <a:srgbClr val="267F99"/>
                </a:solidFill>
                <a:effectLst/>
                <a:latin typeface="Fira Code" panose="020B0809050000020004" pitchFamily="49" charset="0"/>
              </a:rPr>
              <a:t>Counter</a:t>
            </a:r>
            <a:endParaRPr lang="en" altLang="zh-TW" b="0" dirty="0">
              <a:solidFill>
                <a:srgbClr val="3B3B3B"/>
              </a:solidFill>
              <a:effectLst/>
              <a:latin typeface="Fira Code" panose="020B0809050000020004" pitchFamily="49" charset="0"/>
            </a:endParaRPr>
          </a:p>
          <a:p>
            <a:r>
              <a:rPr lang="en" altLang="zh-TW" b="0" dirty="0">
                <a:solidFill>
                  <a:srgbClr val="001080"/>
                </a:solidFill>
                <a:effectLst/>
                <a:latin typeface="Fira Code" panose="020B0809050000020004" pitchFamily="49" charset="0"/>
              </a:rPr>
              <a:t>doc</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nlp</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text</a:t>
            </a:r>
            <a:r>
              <a:rPr lang="en" altLang="zh-TW" b="0" dirty="0">
                <a:solidFill>
                  <a:srgbClr val="3B3B3B"/>
                </a:solidFill>
                <a:effectLst/>
                <a:latin typeface="Fira Code" panose="020B0809050000020004" pitchFamily="49" charset="0"/>
              </a:rPr>
              <a:t>)</a:t>
            </a:r>
          </a:p>
          <a:p>
            <a:r>
              <a:rPr lang="en" altLang="zh-TW" b="0" dirty="0">
                <a:solidFill>
                  <a:srgbClr val="001080"/>
                </a:solidFill>
                <a:effectLst/>
                <a:latin typeface="Fira Code" panose="020B0809050000020004" pitchFamily="49" charset="0"/>
              </a:rPr>
              <a:t>verbs</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token</a:t>
            </a:r>
            <a:r>
              <a:rPr lang="en" altLang="zh-TW" b="0" dirty="0" err="1">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lemma</a:t>
            </a:r>
            <a:r>
              <a:rPr lang="en" altLang="zh-TW" b="0" dirty="0">
                <a:solidFill>
                  <a:srgbClr val="001080"/>
                </a:solidFill>
                <a:effectLst/>
                <a:latin typeface="Fira Code" panose="020B0809050000020004" pitchFamily="49" charset="0"/>
              </a:rPr>
              <a:t>_</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for</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token</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in</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doc</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if</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token</a:t>
            </a:r>
            <a:r>
              <a:rPr lang="en" altLang="zh-TW" b="0" dirty="0" err="1">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pos</a:t>
            </a:r>
            <a:r>
              <a:rPr lang="en" altLang="zh-TW" b="0" dirty="0">
                <a:solidFill>
                  <a:srgbClr val="001080"/>
                </a:solidFill>
                <a:effectLst/>
                <a:latin typeface="Fira Code" panose="020B0809050000020004" pitchFamily="49" charset="0"/>
              </a:rPr>
              <a:t>_</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'VERB'</a:t>
            </a:r>
            <a:r>
              <a:rPr lang="en" altLang="zh-TW" b="0" dirty="0">
                <a:solidFill>
                  <a:srgbClr val="3B3B3B"/>
                </a:solidFill>
                <a:effectLst/>
                <a:latin typeface="Fira Code" panose="020B0809050000020004" pitchFamily="49" charset="0"/>
              </a:rPr>
              <a:t>]</a:t>
            </a:r>
          </a:p>
          <a:p>
            <a:r>
              <a:rPr lang="en" altLang="zh-TW" b="0" dirty="0">
                <a:solidFill>
                  <a:srgbClr val="008000"/>
                </a:solidFill>
                <a:effectLst/>
                <a:latin typeface="Fira Code" panose="020B0809050000020004" pitchFamily="49" charset="0"/>
              </a:rPr>
              <a:t># </a:t>
            </a:r>
            <a:r>
              <a:rPr lang="zh-TW" altLang="en-US" b="0" dirty="0">
                <a:solidFill>
                  <a:srgbClr val="008000"/>
                </a:solidFill>
                <a:effectLst/>
                <a:latin typeface="Fira Code" panose="020B0809050000020004" pitchFamily="49" charset="0"/>
              </a:rPr>
              <a:t>假設只抓動詞 </a:t>
            </a:r>
            <a:r>
              <a:rPr lang="en-US" altLang="zh-TW" b="0" dirty="0">
                <a:solidFill>
                  <a:srgbClr val="008000"/>
                </a:solidFill>
                <a:effectLst/>
                <a:latin typeface="Fira Code" panose="020B0809050000020004" pitchFamily="49" charset="0"/>
              </a:rPr>
              <a:t>(</a:t>
            </a:r>
            <a:r>
              <a:rPr lang="en" altLang="zh-TW" b="0" dirty="0">
                <a:solidFill>
                  <a:srgbClr val="008000"/>
                </a:solidFill>
                <a:effectLst/>
                <a:latin typeface="Fira Code" panose="020B0809050000020004" pitchFamily="49" charset="0"/>
              </a:rPr>
              <a:t>VERB)</a:t>
            </a:r>
            <a:r>
              <a:rPr lang="zh-TW" altLang="en" b="0" dirty="0">
                <a:solidFill>
                  <a:srgbClr val="008000"/>
                </a:solidFill>
                <a:effectLst/>
                <a:latin typeface="Fira Code" panose="020B0809050000020004" pitchFamily="49" charset="0"/>
              </a:rPr>
              <a:t>，</a:t>
            </a:r>
            <a:r>
              <a:rPr lang="zh-TW" altLang="en-US" b="0" dirty="0">
                <a:solidFill>
                  <a:srgbClr val="008000"/>
                </a:solidFill>
                <a:effectLst/>
                <a:latin typeface="Fira Code" panose="020B0809050000020004" pitchFamily="49" charset="0"/>
              </a:rPr>
              <a:t>可以試試看換別的字</a:t>
            </a:r>
            <a:endParaRPr lang="zh-TW" altLang="en-US" b="0" dirty="0">
              <a:solidFill>
                <a:srgbClr val="3B3B3B"/>
              </a:solidFill>
              <a:effectLst/>
              <a:latin typeface="Fira Code" panose="020B0809050000020004" pitchFamily="49" charset="0"/>
            </a:endParaRPr>
          </a:p>
          <a:p>
            <a:r>
              <a:rPr lang="en" altLang="zh-TW" b="0" dirty="0" err="1">
                <a:solidFill>
                  <a:srgbClr val="001080"/>
                </a:solidFill>
                <a:effectLst/>
                <a:latin typeface="Fira Code" panose="020B0809050000020004" pitchFamily="49" charset="0"/>
              </a:rPr>
              <a:t>verbs_tally</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267F99"/>
                </a:solidFill>
                <a:effectLst/>
                <a:latin typeface="Fira Code" panose="020B0809050000020004" pitchFamily="49" charset="0"/>
              </a:rPr>
              <a:t>Counter</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verbs</a:t>
            </a:r>
            <a:r>
              <a:rPr lang="en" altLang="zh-TW" b="0" dirty="0">
                <a:solidFill>
                  <a:srgbClr val="3B3B3B"/>
                </a:solidFill>
                <a:effectLst/>
                <a:latin typeface="Fira Code" panose="020B0809050000020004" pitchFamily="49" charset="0"/>
              </a:rPr>
              <a:t>)</a:t>
            </a:r>
          </a:p>
          <a:p>
            <a:r>
              <a:rPr lang="en" altLang="zh-TW" b="0" dirty="0" err="1">
                <a:solidFill>
                  <a:srgbClr val="001080"/>
                </a:solidFill>
                <a:effectLst/>
                <a:latin typeface="Fira Code" panose="020B0809050000020004" pitchFamily="49" charset="0"/>
              </a:rPr>
              <a:t>verbs_tally</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most_common</a:t>
            </a:r>
            <a:r>
              <a:rPr lang="en" altLang="zh-TW" b="0" dirty="0">
                <a:solidFill>
                  <a:srgbClr val="3B3B3B"/>
                </a:solidFill>
                <a:effectLst/>
                <a:latin typeface="Fira Code" panose="020B0809050000020004" pitchFamily="49" charset="0"/>
              </a:rPr>
              <a:t>(</a:t>
            </a:r>
            <a:r>
              <a:rPr lang="en" altLang="zh-TW" b="0" dirty="0">
                <a:solidFill>
                  <a:srgbClr val="098658"/>
                </a:solidFill>
                <a:effectLst/>
                <a:latin typeface="Fira Code" panose="020B0809050000020004" pitchFamily="49" charset="0"/>
              </a:rPr>
              <a:t>10</a:t>
            </a:r>
            <a:r>
              <a:rPr lang="en" altLang="zh-TW" b="0" dirty="0">
                <a:solidFill>
                  <a:srgbClr val="3B3B3B"/>
                </a:solidFill>
                <a:effectLst/>
                <a:latin typeface="Fira Code" panose="020B0809050000020004" pitchFamily="49" charset="0"/>
              </a:rPr>
              <a:t>) </a:t>
            </a:r>
            <a:r>
              <a:rPr lang="en" altLang="zh-TW" b="0" dirty="0">
                <a:solidFill>
                  <a:srgbClr val="008000"/>
                </a:solidFill>
                <a:effectLst/>
                <a:latin typeface="Fira Code" panose="020B0809050000020004" pitchFamily="49" charset="0"/>
              </a:rPr>
              <a:t>#</a:t>
            </a:r>
            <a:r>
              <a:rPr lang="zh-TW" altLang="en-US" b="0" dirty="0">
                <a:solidFill>
                  <a:srgbClr val="008000"/>
                </a:solidFill>
                <a:effectLst/>
                <a:latin typeface="Fira Code" panose="020B0809050000020004" pitchFamily="49" charset="0"/>
              </a:rPr>
              <a:t>前</a:t>
            </a:r>
            <a:r>
              <a:rPr lang="en-US" altLang="zh-TW" b="0" dirty="0">
                <a:solidFill>
                  <a:srgbClr val="008000"/>
                </a:solidFill>
                <a:effectLst/>
                <a:latin typeface="Fira Code" panose="020B0809050000020004" pitchFamily="49" charset="0"/>
              </a:rPr>
              <a:t>10</a:t>
            </a:r>
            <a:r>
              <a:rPr lang="zh-TW" altLang="en-US" b="0" dirty="0">
                <a:solidFill>
                  <a:srgbClr val="008000"/>
                </a:solidFill>
                <a:effectLst/>
                <a:latin typeface="Fira Code" panose="020B0809050000020004" pitchFamily="49" charset="0"/>
              </a:rPr>
              <a:t>名</a:t>
            </a:r>
            <a:endParaRPr lang="zh-TW" altLang="en-US" b="0" dirty="0">
              <a:solidFill>
                <a:srgbClr val="3B3B3B"/>
              </a:solidFill>
              <a:effectLst/>
              <a:latin typeface="Fira Code" panose="020B0809050000020004" pitchFamily="49" charset="0"/>
            </a:endParaRPr>
          </a:p>
        </p:txBody>
      </p:sp>
      <p:sp>
        <p:nvSpPr>
          <p:cNvPr id="7" name="文字方塊 6">
            <a:extLst>
              <a:ext uri="{FF2B5EF4-FFF2-40B4-BE49-F238E27FC236}">
                <a16:creationId xmlns:a16="http://schemas.microsoft.com/office/drawing/2014/main" id="{6A621CE0-B601-5B48-6AE6-BF8995AD908B}"/>
              </a:ext>
            </a:extLst>
          </p:cNvPr>
          <p:cNvSpPr txBox="1"/>
          <p:nvPr/>
        </p:nvSpPr>
        <p:spPr>
          <a:xfrm>
            <a:off x="1042638" y="2413337"/>
            <a:ext cx="10311162" cy="1477328"/>
          </a:xfrm>
          <a:prstGeom prst="rect">
            <a:avLst/>
          </a:prstGeom>
          <a:noFill/>
          <a:ln>
            <a:solidFill>
              <a:schemeClr val="tx1"/>
            </a:solidFill>
          </a:ln>
        </p:spPr>
        <p:txBody>
          <a:bodyPr wrap="square">
            <a:spAutoFit/>
          </a:bodyPr>
          <a:lstStyle/>
          <a:p>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a:solidFill>
                  <a:srgbClr val="267F99"/>
                </a:solidFill>
                <a:effectLst/>
                <a:latin typeface="Fira Code" panose="020B0809050000020004" pitchFamily="49" charset="0"/>
              </a:rPr>
              <a:t>spacy</a:t>
            </a:r>
            <a:endParaRPr lang="en" altLang="zh-TW" b="0" dirty="0">
              <a:solidFill>
                <a:srgbClr val="3B3B3B"/>
              </a:solidFill>
              <a:effectLst/>
              <a:latin typeface="Fira Code" panose="020B0809050000020004" pitchFamily="49" charset="0"/>
            </a:endParaRPr>
          </a:p>
          <a:p>
            <a:r>
              <a:rPr lang="en" altLang="zh-TW" b="0" dirty="0" err="1">
                <a:solidFill>
                  <a:srgbClr val="001080"/>
                </a:solidFill>
                <a:effectLst/>
                <a:latin typeface="Fira Code" panose="020B0809050000020004" pitchFamily="49" charset="0"/>
              </a:rPr>
              <a:t>nlp</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spacy</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load</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en" altLang="zh-TW" b="0" dirty="0" err="1">
                <a:solidFill>
                  <a:srgbClr val="A31515"/>
                </a:solidFill>
                <a:effectLst/>
                <a:latin typeface="Fira Code" panose="020B0809050000020004" pitchFamily="49" charset="0"/>
              </a:rPr>
              <a:t>en_core_web_sm</a:t>
            </a:r>
            <a:r>
              <a:rPr lang="en" altLang="zh-TW" b="0" dirty="0">
                <a:solidFill>
                  <a:srgbClr val="A31515"/>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a:t>
            </a:r>
            <a:br>
              <a:rPr lang="zh-TW" altLang="en-US" b="0" dirty="0">
                <a:solidFill>
                  <a:srgbClr val="3B3B3B"/>
                </a:solidFill>
                <a:effectLst/>
                <a:latin typeface="Fira Code" panose="020B0809050000020004" pitchFamily="49" charset="0"/>
              </a:rPr>
            </a:br>
            <a:r>
              <a:rPr lang="en" altLang="zh-TW" b="0" dirty="0">
                <a:solidFill>
                  <a:srgbClr val="001080"/>
                </a:solidFill>
                <a:effectLst/>
                <a:latin typeface="Fira Code" panose="020B0809050000020004" pitchFamily="49" charset="0"/>
              </a:rPr>
              <a:t>text</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a:t>
            </a:r>
            <a:r>
              <a:rPr lang="en" altLang="zh-TW" b="0" dirty="0" err="1">
                <a:solidFill>
                  <a:srgbClr val="A31515"/>
                </a:solidFill>
                <a:effectLst/>
                <a:latin typeface="Fira Code" panose="020B0809050000020004" pitchFamily="49" charset="0"/>
              </a:rPr>
              <a:t>ChatGPT</a:t>
            </a:r>
            <a:r>
              <a:rPr lang="en" altLang="zh-TW" b="0" dirty="0">
                <a:solidFill>
                  <a:srgbClr val="A31515"/>
                </a:solidFill>
                <a:effectLst/>
                <a:latin typeface="Fira Code" panose="020B0809050000020004" pitchFamily="49" charset="0"/>
              </a:rPr>
              <a:t>-maker </a:t>
            </a:r>
            <a:r>
              <a:rPr lang="en" altLang="zh-TW" b="0" dirty="0" err="1">
                <a:solidFill>
                  <a:srgbClr val="A31515"/>
                </a:solidFill>
                <a:effectLst/>
                <a:latin typeface="Fira Code" panose="020B0809050000020004" pitchFamily="49" charset="0"/>
              </a:rPr>
              <a:t>OpenAI</a:t>
            </a:r>
            <a:r>
              <a:rPr lang="en" altLang="zh-TW" b="0" dirty="0">
                <a:solidFill>
                  <a:srgbClr val="A31515"/>
                </a:solidFill>
                <a:effectLst/>
                <a:latin typeface="Fira Code" panose="020B0809050000020004" pitchFamily="49" charset="0"/>
              </a:rPr>
              <a:t> is looking to fuse its artificial intelligence (AI) systems into the bodies of humanoid robots as part of a new deal with robotics startup Figure. '''</a:t>
            </a:r>
            <a:endParaRPr lang="en" altLang="zh-TW" b="0" dirty="0">
              <a:solidFill>
                <a:srgbClr val="3B3B3B"/>
              </a:solidFill>
              <a:effectLst/>
              <a:latin typeface="Fira Code" panose="020B0809050000020004" pitchFamily="49" charset="0"/>
            </a:endParaRPr>
          </a:p>
        </p:txBody>
      </p:sp>
    </p:spTree>
    <p:extLst>
      <p:ext uri="{BB962C8B-B14F-4D97-AF65-F5344CB8AC3E}">
        <p14:creationId xmlns:p14="http://schemas.microsoft.com/office/powerpoint/2010/main" val="2260231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337F3D-A5FC-1CF6-EDF6-278DE1C4AA89}"/>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 - </a:t>
            </a:r>
            <a:r>
              <a:rPr kumimoji="1" lang="en-US" altLang="zh-TW" dirty="0" err="1"/>
              <a:t>spaCy</a:t>
            </a:r>
            <a:endParaRPr kumimoji="1" lang="zh-TW" altLang="en-US" dirty="0"/>
          </a:p>
        </p:txBody>
      </p:sp>
      <p:sp>
        <p:nvSpPr>
          <p:cNvPr id="3" name="內容版面配置區 2">
            <a:extLst>
              <a:ext uri="{FF2B5EF4-FFF2-40B4-BE49-F238E27FC236}">
                <a16:creationId xmlns:a16="http://schemas.microsoft.com/office/drawing/2014/main" id="{3B5DC59A-A413-9F6A-6DA3-80F9C7598FBC}"/>
              </a:ext>
            </a:extLst>
          </p:cNvPr>
          <p:cNvSpPr>
            <a:spLocks noGrp="1"/>
          </p:cNvSpPr>
          <p:nvPr>
            <p:ph idx="1"/>
          </p:nvPr>
        </p:nvSpPr>
        <p:spPr/>
        <p:txBody>
          <a:bodyPr>
            <a:normAutofit/>
          </a:bodyPr>
          <a:lstStyle/>
          <a:p>
            <a:r>
              <a:rPr kumimoji="1" lang="zh-TW" altLang="en-US" dirty="0"/>
              <a:t>關鍵字萃取</a:t>
            </a:r>
            <a:r>
              <a:rPr kumimoji="1" lang="en-US" altLang="zh-TW" dirty="0"/>
              <a:t>(Keyword Extraction)</a:t>
            </a:r>
          </a:p>
          <a:p>
            <a:pPr lvl="1"/>
            <a:r>
              <a:rPr kumimoji="1" lang="en-US" altLang="zh-TW" dirty="0" err="1"/>
              <a:t>spaCy</a:t>
            </a:r>
            <a:r>
              <a:rPr kumimoji="1" lang="en-US" altLang="zh-TW" dirty="0"/>
              <a:t> </a:t>
            </a:r>
            <a:r>
              <a:rPr kumimoji="1" lang="zh-TW" altLang="en-US" dirty="0"/>
              <a:t>可以辨識文件中的每一句裡面的文字。</a:t>
            </a:r>
            <a:endParaRPr kumimoji="1" lang="en-US" altLang="zh-TW" dirty="0"/>
          </a:p>
          <a:p>
            <a:pPr lvl="1"/>
            <a:r>
              <a:rPr kumimoji="1" lang="zh-TW" altLang="en-US" dirty="0"/>
              <a:t>訪問每一句，透過迭代</a:t>
            </a:r>
            <a:r>
              <a:rPr kumimoji="1" lang="en-US" altLang="zh-TW" dirty="0" err="1"/>
              <a:t>document.sents</a:t>
            </a:r>
            <a:r>
              <a:rPr kumimoji="1" lang="zh-TW" altLang="en-US" dirty="0"/>
              <a:t>，並提取每個句子的</a:t>
            </a:r>
            <a:r>
              <a:rPr kumimoji="1" lang="en-US" altLang="zh-TW" dirty="0"/>
              <a:t>.text</a:t>
            </a:r>
            <a:r>
              <a:rPr kumimoji="1" lang="zh-TW" altLang="en-US" dirty="0"/>
              <a:t> 。</a:t>
            </a:r>
            <a:endParaRPr kumimoji="1" lang="en-US" altLang="zh-TW" dirty="0"/>
          </a:p>
          <a:p>
            <a:pPr lvl="1"/>
            <a:r>
              <a:rPr kumimoji="1" lang="zh-TW" altLang="en-US" dirty="0"/>
              <a:t>使用句子解析功能來提取包含「特定關鍵字」的句子</a:t>
            </a:r>
            <a:endParaRPr kumimoji="1" lang="en-US" altLang="zh-TW" dirty="0"/>
          </a:p>
        </p:txBody>
      </p:sp>
      <p:sp>
        <p:nvSpPr>
          <p:cNvPr id="5" name="文字方塊 4">
            <a:extLst>
              <a:ext uri="{FF2B5EF4-FFF2-40B4-BE49-F238E27FC236}">
                <a16:creationId xmlns:a16="http://schemas.microsoft.com/office/drawing/2014/main" id="{F4350793-612A-8D40-DD45-BA15EC15B7C1}"/>
              </a:ext>
            </a:extLst>
          </p:cNvPr>
          <p:cNvSpPr txBox="1"/>
          <p:nvPr/>
        </p:nvSpPr>
        <p:spPr>
          <a:xfrm>
            <a:off x="998033" y="3534388"/>
            <a:ext cx="8837341" cy="584775"/>
          </a:xfrm>
          <a:prstGeom prst="rect">
            <a:avLst/>
          </a:prstGeom>
          <a:noFill/>
          <a:ln>
            <a:solidFill>
              <a:schemeClr val="tx1"/>
            </a:solidFill>
          </a:ln>
        </p:spPr>
        <p:txBody>
          <a:bodyPr wrap="square">
            <a:spAutoFit/>
          </a:bodyPr>
          <a:lstStyle/>
          <a:p>
            <a:r>
              <a:rPr lang="en" altLang="zh-TW" sz="1600" b="0" dirty="0">
                <a:solidFill>
                  <a:srgbClr val="AF00DB"/>
                </a:solidFill>
                <a:effectLst/>
                <a:latin typeface="Fira Code" panose="020B0809050000020004" pitchFamily="49" charset="0"/>
              </a:rPr>
              <a:t>import</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re</a:t>
            </a:r>
            <a:endParaRPr lang="en" altLang="zh-TW" sz="1600" b="0" dirty="0">
              <a:solidFill>
                <a:srgbClr val="3B3B3B"/>
              </a:solidFill>
              <a:effectLst/>
              <a:latin typeface="Fira Code" panose="020B0809050000020004" pitchFamily="49" charset="0"/>
            </a:endParaRPr>
          </a:p>
          <a:p>
            <a:r>
              <a:rPr lang="en" altLang="zh-TW" sz="1600" b="0" dirty="0">
                <a:solidFill>
                  <a:srgbClr val="AF00DB"/>
                </a:solidFill>
                <a:effectLst/>
                <a:latin typeface="Fira Code" panose="020B0809050000020004" pitchFamily="49" charset="0"/>
              </a:rPr>
              <a:t>from</a:t>
            </a:r>
            <a:r>
              <a:rPr lang="en" altLang="zh-TW" sz="1600" b="0" dirty="0">
                <a:solidFill>
                  <a:srgbClr val="3B3B3B"/>
                </a:solidFill>
                <a:effectLst/>
                <a:latin typeface="Fira Code" panose="020B0809050000020004" pitchFamily="49" charset="0"/>
              </a:rPr>
              <a:t> </a:t>
            </a:r>
            <a:r>
              <a:rPr lang="en" altLang="zh-TW" sz="1600" b="0" dirty="0" err="1">
                <a:solidFill>
                  <a:srgbClr val="267F99"/>
                </a:solidFill>
                <a:effectLst/>
                <a:latin typeface="Fira Code" panose="020B0809050000020004" pitchFamily="49" charset="0"/>
              </a:rPr>
              <a:t>IPython</a:t>
            </a:r>
            <a:r>
              <a:rPr lang="en" altLang="zh-TW" sz="1600" b="0" dirty="0" err="1">
                <a:solidFill>
                  <a:srgbClr val="3B3B3B"/>
                </a:solidFill>
                <a:effectLst/>
                <a:latin typeface="Fira Code" panose="020B0809050000020004" pitchFamily="49" charset="0"/>
              </a:rPr>
              <a:t>.</a:t>
            </a:r>
            <a:r>
              <a:rPr lang="en" altLang="zh-TW" sz="1600" b="0" dirty="0" err="1">
                <a:solidFill>
                  <a:srgbClr val="267F99"/>
                </a:solidFill>
                <a:effectLst/>
                <a:latin typeface="Fira Code" panose="020B0809050000020004" pitchFamily="49" charset="0"/>
              </a:rPr>
              <a:t>display</a:t>
            </a:r>
            <a:r>
              <a:rPr lang="en" altLang="zh-TW" sz="1600" b="0" dirty="0">
                <a:solidFill>
                  <a:srgbClr val="3B3B3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rPr>
              <a:t>import</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Markdown</a:t>
            </a:r>
            <a:r>
              <a:rPr lang="en" altLang="zh-TW" sz="1600" b="0" dirty="0">
                <a:solidFill>
                  <a:srgbClr val="3B3B3B"/>
                </a:solidFill>
                <a:effectLst/>
                <a:latin typeface="Fira Code" panose="020B0809050000020004" pitchFamily="49" charset="0"/>
              </a:rPr>
              <a:t>, </a:t>
            </a:r>
            <a:r>
              <a:rPr lang="en" altLang="zh-TW" sz="1600" b="0" dirty="0">
                <a:solidFill>
                  <a:srgbClr val="795E26"/>
                </a:solidFill>
                <a:effectLst/>
                <a:latin typeface="Fira Code" panose="020B0809050000020004" pitchFamily="49" charset="0"/>
              </a:rPr>
              <a:t>display</a:t>
            </a:r>
            <a:endParaRPr lang="en" altLang="zh-TW" sz="1600" b="0" dirty="0">
              <a:solidFill>
                <a:srgbClr val="3B3B3B"/>
              </a:solidFill>
              <a:effectLst/>
              <a:latin typeface="Fira Code" panose="020B0809050000020004" pitchFamily="49" charset="0"/>
            </a:endParaRPr>
          </a:p>
        </p:txBody>
      </p:sp>
      <p:sp>
        <p:nvSpPr>
          <p:cNvPr id="7" name="文字方塊 6">
            <a:extLst>
              <a:ext uri="{FF2B5EF4-FFF2-40B4-BE49-F238E27FC236}">
                <a16:creationId xmlns:a16="http://schemas.microsoft.com/office/drawing/2014/main" id="{BF54C869-C4A2-A46B-F46A-C9F736499B02}"/>
              </a:ext>
            </a:extLst>
          </p:cNvPr>
          <p:cNvSpPr txBox="1"/>
          <p:nvPr/>
        </p:nvSpPr>
        <p:spPr>
          <a:xfrm>
            <a:off x="289933" y="4241899"/>
            <a:ext cx="11742234" cy="2554545"/>
          </a:xfrm>
          <a:prstGeom prst="rect">
            <a:avLst/>
          </a:prstGeom>
          <a:noFill/>
          <a:ln>
            <a:solidFill>
              <a:schemeClr val="tx1"/>
            </a:solidFill>
          </a:ln>
        </p:spPr>
        <p:txBody>
          <a:bodyPr wrap="square">
            <a:spAutoFit/>
          </a:bodyPr>
          <a:lstStyle/>
          <a:p>
            <a:r>
              <a:rPr lang="en" altLang="zh-TW" sz="1600" b="0" dirty="0">
                <a:solidFill>
                  <a:srgbClr val="0000FF"/>
                </a:solidFill>
                <a:effectLst/>
                <a:latin typeface="Fira Code" panose="020B0809050000020004" pitchFamily="49" charset="0"/>
              </a:rPr>
              <a:t>def</a:t>
            </a:r>
            <a:r>
              <a:rPr lang="en" altLang="zh-TW" sz="1600" b="0" dirty="0">
                <a:solidFill>
                  <a:srgbClr val="3B3B3B"/>
                </a:solidFill>
                <a:effectLst/>
                <a:latin typeface="Fira Code" panose="020B0809050000020004" pitchFamily="49" charset="0"/>
              </a:rPr>
              <a:t> </a:t>
            </a:r>
            <a:r>
              <a:rPr lang="en" altLang="zh-TW" sz="1600" b="0" dirty="0" err="1">
                <a:solidFill>
                  <a:srgbClr val="795E26"/>
                </a:solidFill>
                <a:effectLst/>
                <a:latin typeface="Fira Code" panose="020B0809050000020004" pitchFamily="49" charset="0"/>
              </a:rPr>
              <a:t>find_sentences_with_keyword</a:t>
            </a:r>
            <a:r>
              <a:rPr lang="en" altLang="zh-TW" sz="1600" b="0" dirty="0">
                <a:solidFill>
                  <a:srgbClr val="3B3B3B"/>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keyword</a:t>
            </a:r>
            <a:r>
              <a:rPr lang="en" altLang="zh-TW" sz="1600" b="0" dirty="0">
                <a:solidFill>
                  <a:srgbClr val="3B3B3B"/>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document</a:t>
            </a:r>
            <a:r>
              <a:rPr lang="en" altLang="zh-TW" sz="1600" b="0" dirty="0">
                <a:solidFill>
                  <a:srgbClr val="3B3B3B"/>
                </a:solidFill>
                <a:effectLst/>
                <a:latin typeface="Fira Code" panose="020B0809050000020004" pitchFamily="49" charset="0"/>
              </a:rPr>
              <a:t>):</a:t>
            </a:r>
          </a:p>
          <a:p>
            <a:pPr lvl="1"/>
            <a:r>
              <a:rPr lang="en"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透過迴圈取得每一句的</a:t>
            </a:r>
            <a:r>
              <a:rPr lang="en" altLang="zh-TW" sz="1600" b="0" dirty="0">
                <a:solidFill>
                  <a:srgbClr val="008000"/>
                </a:solidFill>
                <a:effectLst/>
                <a:latin typeface="Fira Code" panose="020B0809050000020004" pitchFamily="49" charset="0"/>
              </a:rPr>
              <a:t>text</a:t>
            </a:r>
            <a:endParaRPr lang="en" altLang="zh-TW" sz="1600" b="0" dirty="0">
              <a:solidFill>
                <a:srgbClr val="3B3B3B"/>
              </a:solidFill>
              <a:effectLst/>
              <a:latin typeface="Fira Code" panose="020B0809050000020004" pitchFamily="49" charset="0"/>
            </a:endParaRPr>
          </a:p>
          <a:p>
            <a:pPr lvl="1"/>
            <a:r>
              <a:rPr lang="en" altLang="zh-TW" sz="1600" b="0" dirty="0">
                <a:solidFill>
                  <a:srgbClr val="AF00DB"/>
                </a:solidFill>
                <a:effectLst/>
                <a:latin typeface="Fira Code" panose="020B0809050000020004" pitchFamily="49" charset="0"/>
              </a:rPr>
              <a:t>for</a:t>
            </a:r>
            <a:r>
              <a:rPr lang="en" altLang="zh-TW" sz="1600" b="0" dirty="0">
                <a:solidFill>
                  <a:srgbClr val="3B3B3B"/>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sentence</a:t>
            </a:r>
            <a:r>
              <a:rPr lang="en" altLang="zh-TW" sz="1600" b="0" dirty="0">
                <a:solidFill>
                  <a:srgbClr val="3B3B3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rPr>
              <a:t>in</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document</a:t>
            </a:r>
            <a:r>
              <a:rPr lang="en" altLang="zh-TW" sz="1600" b="0" dirty="0" err="1">
                <a:solidFill>
                  <a:srgbClr val="3B3B3B"/>
                </a:solidFill>
                <a:effectLst/>
                <a:latin typeface="Fira Code" panose="020B0809050000020004" pitchFamily="49" charset="0"/>
              </a:rPr>
              <a:t>.sents</a:t>
            </a:r>
            <a:r>
              <a:rPr lang="en" altLang="zh-TW" sz="1600" b="0" dirty="0">
                <a:solidFill>
                  <a:srgbClr val="3B3B3B"/>
                </a:solidFill>
                <a:effectLst/>
                <a:latin typeface="Fira Code" panose="020B0809050000020004" pitchFamily="49" charset="0"/>
              </a:rPr>
              <a:t>:</a:t>
            </a:r>
          </a:p>
          <a:p>
            <a:pPr lvl="1"/>
            <a:r>
              <a:rPr lang="zh-TW" altLang="en-US" sz="1600" b="0" dirty="0">
                <a:solidFill>
                  <a:srgbClr val="001080"/>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sentence</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sentence</a:t>
            </a:r>
            <a:r>
              <a:rPr lang="en" altLang="zh-TW" sz="1600" b="0" dirty="0" err="1">
                <a:solidFill>
                  <a:srgbClr val="3B3B3B"/>
                </a:solidFill>
                <a:effectLst/>
                <a:latin typeface="Fira Code" panose="020B0809050000020004" pitchFamily="49" charset="0"/>
              </a:rPr>
              <a:t>.text</a:t>
            </a:r>
            <a:endParaRPr lang="en" altLang="zh-TW" sz="1600" b="0" dirty="0">
              <a:solidFill>
                <a:srgbClr val="3B3B3B"/>
              </a:solidFill>
              <a:effectLst/>
              <a:latin typeface="Fira Code" panose="020B0809050000020004" pitchFamily="49" charset="0"/>
            </a:endParaRPr>
          </a:p>
          <a:p>
            <a:pPr lvl="1"/>
            <a:r>
              <a:rPr lang="en"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確定關鍵字有沒有在句子裡</a:t>
            </a:r>
            <a:r>
              <a:rPr lang="en-US"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全部變小寫來檢查</a:t>
            </a:r>
            <a:r>
              <a:rPr lang="en-US" altLang="zh-TW" sz="1600" b="0" dirty="0">
                <a:solidFill>
                  <a:srgbClr val="008000"/>
                </a:solidFill>
                <a:effectLst/>
                <a:latin typeface="Fira Code" panose="020B0809050000020004" pitchFamily="49" charset="0"/>
              </a:rPr>
              <a:t>)</a:t>
            </a:r>
            <a:endParaRPr lang="zh-TW" altLang="en-US" sz="1600" b="0" dirty="0">
              <a:solidFill>
                <a:srgbClr val="3B3B3B"/>
              </a:solidFill>
              <a:effectLst/>
              <a:latin typeface="Fira Code" panose="020B0809050000020004" pitchFamily="49" charset="0"/>
            </a:endParaRPr>
          </a:p>
          <a:p>
            <a:pPr lvl="1"/>
            <a:r>
              <a:rPr lang="en" altLang="zh-TW" sz="1600" b="0" dirty="0">
                <a:solidFill>
                  <a:srgbClr val="AF00DB"/>
                </a:solidFill>
                <a:effectLst/>
                <a:latin typeface="Fira Code" panose="020B0809050000020004" pitchFamily="49" charset="0"/>
              </a:rPr>
              <a:t>if</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keyword</a:t>
            </a:r>
            <a:r>
              <a:rPr lang="en" altLang="zh-TW" sz="1600" b="0" dirty="0" err="1">
                <a:solidFill>
                  <a:srgbClr val="3B3B3B"/>
                </a:solidFill>
                <a:effectLst/>
                <a:latin typeface="Fira Code" panose="020B0809050000020004" pitchFamily="49" charset="0"/>
              </a:rPr>
              <a:t>.lower</a:t>
            </a:r>
            <a:r>
              <a:rPr lang="en" altLang="zh-TW" sz="1600" b="0" dirty="0">
                <a:solidFill>
                  <a:srgbClr val="3B3B3B"/>
                </a:solidFill>
                <a:effectLst/>
                <a:latin typeface="Fira Code" panose="020B0809050000020004" pitchFamily="49" charset="0"/>
              </a:rPr>
              <a:t>() </a:t>
            </a:r>
            <a:r>
              <a:rPr lang="en" altLang="zh-TW" sz="1600" b="0" dirty="0">
                <a:solidFill>
                  <a:srgbClr val="0000FF"/>
                </a:solidFill>
                <a:effectLst/>
                <a:latin typeface="Fira Code" panose="020B0809050000020004" pitchFamily="49" charset="0"/>
              </a:rPr>
              <a:t>in</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sentence</a:t>
            </a:r>
            <a:r>
              <a:rPr lang="en" altLang="zh-TW" sz="1600" b="0" dirty="0" err="1">
                <a:solidFill>
                  <a:srgbClr val="3B3B3B"/>
                </a:solidFill>
                <a:effectLst/>
                <a:latin typeface="Fira Code" panose="020B0809050000020004" pitchFamily="49" charset="0"/>
              </a:rPr>
              <a:t>.lower</a:t>
            </a:r>
            <a:r>
              <a:rPr lang="en" altLang="zh-TW" sz="1600" b="0" dirty="0">
                <a:solidFill>
                  <a:srgbClr val="3B3B3B"/>
                </a:solidFill>
                <a:effectLst/>
                <a:latin typeface="Fira Code" panose="020B0809050000020004" pitchFamily="49" charset="0"/>
              </a:rPr>
              <a:t>():</a:t>
            </a:r>
          </a:p>
          <a:p>
            <a:pPr lvl="1"/>
            <a:r>
              <a:rPr lang="zh-TW" altLang="en-US" sz="1600" b="0" dirty="0">
                <a:solidFill>
                  <a:srgbClr val="3B3B3B"/>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sentence</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267F99"/>
                </a:solidFill>
                <a:effectLst/>
                <a:latin typeface="Fira Code" panose="020B0809050000020004" pitchFamily="49" charset="0"/>
              </a:rPr>
              <a:t>re</a:t>
            </a:r>
            <a:r>
              <a:rPr lang="en" altLang="zh-TW" sz="1600" b="0" dirty="0" err="1">
                <a:solidFill>
                  <a:srgbClr val="3B3B3B"/>
                </a:solidFill>
                <a:effectLst/>
                <a:latin typeface="Fira Code" panose="020B0809050000020004" pitchFamily="49" charset="0"/>
              </a:rPr>
              <a:t>.</a:t>
            </a:r>
            <a:r>
              <a:rPr lang="en" altLang="zh-TW" sz="1600" b="0" dirty="0" err="1">
                <a:solidFill>
                  <a:srgbClr val="795E26"/>
                </a:solidFill>
                <a:effectLst/>
                <a:latin typeface="Fira Code" panose="020B0809050000020004" pitchFamily="49" charset="0"/>
              </a:rPr>
              <a:t>sub</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en" altLang="zh-TW" sz="1600" b="0" dirty="0">
                <a:solidFill>
                  <a:srgbClr val="EE0000"/>
                </a:solidFill>
                <a:effectLst/>
                <a:latin typeface="Fira Code" panose="020B0809050000020004" pitchFamily="49" charset="0"/>
              </a:rPr>
              <a:t>\n</a:t>
            </a:r>
            <a:r>
              <a:rPr lang="en" altLang="zh-TW" sz="1600" b="0" dirty="0">
                <a:solidFill>
                  <a:srgbClr val="A31515"/>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a:solidFill>
                  <a:srgbClr val="A31515"/>
                </a:solidFill>
                <a:effectLst/>
                <a:latin typeface="Fira Code" panose="020B0809050000020004" pitchFamily="49" charset="0"/>
              </a:rPr>
              <a:t>' '</a:t>
            </a:r>
            <a:r>
              <a:rPr lang="en" altLang="zh-TW" sz="1600" b="0" dirty="0">
                <a:solidFill>
                  <a:srgbClr val="3B3B3B"/>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sentence</a:t>
            </a:r>
            <a:r>
              <a:rPr lang="en" altLang="zh-TW" sz="1600" b="0" dirty="0">
                <a:solidFill>
                  <a:srgbClr val="3B3B3B"/>
                </a:solidFill>
                <a:effectLst/>
                <a:latin typeface="Fira Code" panose="020B0809050000020004" pitchFamily="49" charset="0"/>
              </a:rPr>
              <a:t>) </a:t>
            </a:r>
            <a:r>
              <a:rPr lang="en"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透過</a:t>
            </a:r>
            <a:r>
              <a:rPr lang="en" altLang="zh-TW" sz="1600" b="0" dirty="0" err="1">
                <a:solidFill>
                  <a:srgbClr val="008000"/>
                </a:solidFill>
                <a:effectLst/>
                <a:latin typeface="Fira Code" panose="020B0809050000020004" pitchFamily="49" charset="0"/>
              </a:rPr>
              <a:t>re.sub</a:t>
            </a:r>
            <a:r>
              <a:rPr lang="en"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將換行符號取代為空白</a:t>
            </a:r>
            <a:endParaRPr lang="zh-TW" altLang="en-US" sz="1600" b="0" dirty="0">
              <a:solidFill>
                <a:srgbClr val="3B3B3B"/>
              </a:solidFill>
              <a:effectLst/>
              <a:latin typeface="Fira Code" panose="020B0809050000020004" pitchFamily="49" charset="0"/>
            </a:endParaRPr>
          </a:p>
          <a:p>
            <a:pPr lvl="1"/>
            <a:r>
              <a:rPr lang="zh-TW" altLang="en-US" sz="1600" b="0" dirty="0">
                <a:solidFill>
                  <a:srgbClr val="001080"/>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sentence</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267F99"/>
                </a:solidFill>
                <a:effectLst/>
                <a:latin typeface="Fira Code" panose="020B0809050000020004" pitchFamily="49" charset="0"/>
              </a:rPr>
              <a:t>re</a:t>
            </a:r>
            <a:r>
              <a:rPr lang="en" altLang="zh-TW" sz="1600" b="0" dirty="0" err="1">
                <a:solidFill>
                  <a:srgbClr val="3B3B3B"/>
                </a:solidFill>
                <a:effectLst/>
                <a:latin typeface="Fira Code" panose="020B0809050000020004" pitchFamily="49" charset="0"/>
              </a:rPr>
              <a:t>.</a:t>
            </a:r>
            <a:r>
              <a:rPr lang="en" altLang="zh-TW" sz="1600" b="0" dirty="0" err="1">
                <a:solidFill>
                  <a:srgbClr val="795E26"/>
                </a:solidFill>
                <a:effectLst/>
                <a:latin typeface="Fira Code" panose="020B0809050000020004" pitchFamily="49" charset="0"/>
              </a:rPr>
              <a:t>sub</a:t>
            </a:r>
            <a:r>
              <a:rPr lang="en" altLang="zh-TW" sz="1600" b="0" dirty="0">
                <a:solidFill>
                  <a:srgbClr val="3B3B3B"/>
                </a:solidFill>
                <a:effectLst/>
                <a:latin typeface="Fira Code" panose="020B0809050000020004" pitchFamily="49" charset="0"/>
              </a:rPr>
              <a:t>(</a:t>
            </a:r>
            <a:r>
              <a:rPr lang="en" altLang="zh-TW" sz="1600" b="0" dirty="0">
                <a:solidFill>
                  <a:srgbClr val="0000FF"/>
                </a:solidFill>
                <a:effectLst/>
                <a:latin typeface="Fira Code" panose="020B0809050000020004" pitchFamily="49" charset="0"/>
              </a:rPr>
              <a:t>f</a:t>
            </a:r>
            <a:r>
              <a:rPr lang="en" altLang="zh-TW" sz="1600" b="0" dirty="0">
                <a:solidFill>
                  <a:srgbClr val="A31515"/>
                </a:solidFill>
                <a:effectLst/>
                <a:latin typeface="Fira Code" panose="020B0809050000020004" pitchFamily="49" charset="0"/>
              </a:rPr>
              <a:t>"</a:t>
            </a:r>
            <a:r>
              <a:rPr lang="en" altLang="zh-TW" sz="1600" b="0" dirty="0">
                <a:solidFill>
                  <a:srgbClr val="0000FF"/>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keyword</a:t>
            </a:r>
            <a:r>
              <a:rPr lang="en" altLang="zh-TW" sz="1600" b="0" dirty="0">
                <a:solidFill>
                  <a:srgbClr val="0000FF"/>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a:solidFill>
                  <a:srgbClr val="0000FF"/>
                </a:solidFill>
                <a:effectLst/>
                <a:latin typeface="Fira Code" panose="020B0809050000020004" pitchFamily="49" charset="0"/>
              </a:rPr>
              <a:t>f</a:t>
            </a:r>
            <a:r>
              <a:rPr lang="en" altLang="zh-TW" sz="1600" b="0" dirty="0">
                <a:solidFill>
                  <a:srgbClr val="A31515"/>
                </a:solidFill>
                <a:effectLst/>
                <a:latin typeface="Fira Code" panose="020B0809050000020004" pitchFamily="49" charset="0"/>
              </a:rPr>
              <a:t>"**</a:t>
            </a:r>
            <a:r>
              <a:rPr lang="en" altLang="zh-TW" sz="1600" b="0" dirty="0">
                <a:solidFill>
                  <a:srgbClr val="0000FF"/>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keyword</a:t>
            </a:r>
            <a:r>
              <a:rPr lang="en" altLang="zh-TW" sz="1600" b="0" dirty="0">
                <a:solidFill>
                  <a:srgbClr val="0000FF"/>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sentence</a:t>
            </a:r>
            <a:r>
              <a:rPr lang="en" altLang="zh-TW" sz="1600" b="0" dirty="0">
                <a:solidFill>
                  <a:srgbClr val="3B3B3B"/>
                </a:solidFill>
                <a:effectLst/>
                <a:latin typeface="Fira Code" panose="020B0809050000020004" pitchFamily="49" charset="0"/>
              </a:rPr>
              <a:t>, </a:t>
            </a:r>
            <a:r>
              <a:rPr lang="en" altLang="zh-TW" sz="1600" b="0" dirty="0">
                <a:solidFill>
                  <a:srgbClr val="001080"/>
                </a:solidFill>
                <a:effectLst/>
                <a:latin typeface="Fira Code" panose="020B0809050000020004" pitchFamily="49" charset="0"/>
              </a:rPr>
              <a:t>flags</a:t>
            </a:r>
            <a:r>
              <a:rPr lang="en" altLang="zh-TW" sz="1600" b="0" dirty="0">
                <a:solidFill>
                  <a:srgbClr val="000000"/>
                </a:solidFill>
                <a:effectLst/>
                <a:latin typeface="Fira Code" panose="020B0809050000020004" pitchFamily="49" charset="0"/>
              </a:rPr>
              <a:t>=</a:t>
            </a:r>
            <a:r>
              <a:rPr lang="en" altLang="zh-TW" sz="1600" b="0" dirty="0" err="1">
                <a:solidFill>
                  <a:srgbClr val="267F99"/>
                </a:solidFill>
                <a:effectLst/>
                <a:latin typeface="Fira Code" panose="020B0809050000020004" pitchFamily="49" charset="0"/>
              </a:rPr>
              <a:t>re</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IGNORECASE</a:t>
            </a:r>
            <a:r>
              <a:rPr lang="en" altLang="zh-TW" sz="1600" b="0" dirty="0">
                <a:solidFill>
                  <a:srgbClr val="3B3B3B"/>
                </a:solidFill>
                <a:effectLst/>
                <a:latin typeface="Fira Code" panose="020B0809050000020004" pitchFamily="49" charset="0"/>
              </a:rPr>
              <a:t>)</a:t>
            </a:r>
          </a:p>
          <a:p>
            <a:pPr lvl="1"/>
            <a:r>
              <a:rPr lang="en" altLang="zh-TW" sz="1600" b="0" dirty="0">
                <a:solidFill>
                  <a:srgbClr val="008000"/>
                </a:solidFill>
                <a:effectLst/>
                <a:latin typeface="Fira Code" panose="020B0809050000020004" pitchFamily="49" charset="0"/>
              </a:rPr>
              <a:t>	#</a:t>
            </a:r>
            <a:r>
              <a:rPr lang="zh-TW" altLang="en-US" sz="1600" b="0" dirty="0">
                <a:solidFill>
                  <a:srgbClr val="008000"/>
                </a:solidFill>
                <a:effectLst/>
                <a:latin typeface="Fira Code" panose="020B0809050000020004" pitchFamily="49" charset="0"/>
              </a:rPr>
              <a:t>透過</a:t>
            </a:r>
            <a:r>
              <a:rPr lang="en" altLang="zh-TW" sz="1600" b="0" dirty="0" err="1">
                <a:solidFill>
                  <a:srgbClr val="008000"/>
                </a:solidFill>
                <a:effectLst/>
                <a:latin typeface="Fira Code" panose="020B0809050000020004" pitchFamily="49" charset="0"/>
              </a:rPr>
              <a:t>re.sub</a:t>
            </a:r>
            <a:r>
              <a:rPr lang="en"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將關鍵字取代為加粗字串</a:t>
            </a:r>
            <a:endParaRPr lang="zh-TW" altLang="en-US" sz="1600" b="0" dirty="0">
              <a:solidFill>
                <a:srgbClr val="3B3B3B"/>
              </a:solidFill>
              <a:effectLst/>
              <a:latin typeface="Fira Code" panose="020B0809050000020004" pitchFamily="49" charset="0"/>
            </a:endParaRPr>
          </a:p>
          <a:p>
            <a:pPr lvl="1"/>
            <a:r>
              <a:rPr lang="en" altLang="zh-TW" sz="1600" b="0" dirty="0">
                <a:solidFill>
                  <a:srgbClr val="795E26"/>
                </a:solidFill>
                <a:effectLst/>
                <a:latin typeface="Fira Code" panose="020B0809050000020004" pitchFamily="49" charset="0"/>
              </a:rPr>
              <a:t>	display</a:t>
            </a:r>
            <a:r>
              <a:rPr lang="en" altLang="zh-TW" sz="1600" b="0" dirty="0">
                <a:solidFill>
                  <a:srgbClr val="3B3B3B"/>
                </a:solidFill>
                <a:effectLst/>
                <a:latin typeface="Fira Code" panose="020B0809050000020004" pitchFamily="49" charset="0"/>
              </a:rPr>
              <a:t>(</a:t>
            </a:r>
            <a:r>
              <a:rPr lang="en" altLang="zh-TW" sz="1600" b="0" dirty="0">
                <a:solidFill>
                  <a:srgbClr val="267F99"/>
                </a:solidFill>
                <a:effectLst/>
                <a:latin typeface="Fira Code" panose="020B0809050000020004" pitchFamily="49" charset="0"/>
              </a:rPr>
              <a:t>Markdown</a:t>
            </a:r>
            <a:r>
              <a:rPr lang="en" altLang="zh-TW" sz="1600" b="0" dirty="0">
                <a:solidFill>
                  <a:srgbClr val="3B3B3B"/>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sentence</a:t>
            </a:r>
            <a:r>
              <a:rPr lang="en" altLang="zh-TW" sz="1600" b="0" dirty="0">
                <a:solidFill>
                  <a:srgbClr val="3B3B3B"/>
                </a:solidFill>
                <a:effectLst/>
                <a:latin typeface="Fira Code" panose="020B0809050000020004" pitchFamily="49" charset="0"/>
              </a:rPr>
              <a:t>))</a:t>
            </a:r>
          </a:p>
        </p:txBody>
      </p:sp>
    </p:spTree>
    <p:extLst>
      <p:ext uri="{BB962C8B-B14F-4D97-AF65-F5344CB8AC3E}">
        <p14:creationId xmlns:p14="http://schemas.microsoft.com/office/powerpoint/2010/main" val="367183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5CC0B4-F62F-78B4-DCB9-CFF8DCBF0EC6}"/>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 - </a:t>
            </a:r>
            <a:r>
              <a:rPr kumimoji="1" lang="en-US" altLang="zh-TW" dirty="0" err="1"/>
              <a:t>spaCy</a:t>
            </a:r>
            <a:endParaRPr kumimoji="1" lang="zh-TW" altLang="en-US" dirty="0"/>
          </a:p>
        </p:txBody>
      </p:sp>
      <p:sp>
        <p:nvSpPr>
          <p:cNvPr id="3" name="內容版面配置區 2">
            <a:extLst>
              <a:ext uri="{FF2B5EF4-FFF2-40B4-BE49-F238E27FC236}">
                <a16:creationId xmlns:a16="http://schemas.microsoft.com/office/drawing/2014/main" id="{BFD72726-8833-A0FD-7476-2330B6227EA2}"/>
              </a:ext>
            </a:extLst>
          </p:cNvPr>
          <p:cNvSpPr>
            <a:spLocks noGrp="1"/>
          </p:cNvSpPr>
          <p:nvPr>
            <p:ph idx="1"/>
          </p:nvPr>
        </p:nvSpPr>
        <p:spPr/>
        <p:txBody>
          <a:bodyPr/>
          <a:lstStyle/>
          <a:p>
            <a:r>
              <a:rPr kumimoji="1" lang="zh-TW" altLang="en-US" dirty="0"/>
              <a:t>分析相依關係</a:t>
            </a:r>
            <a:endParaRPr kumimoji="1" lang="en-US" altLang="zh-TW" dirty="0"/>
          </a:p>
          <a:p>
            <a:pPr lvl="1"/>
            <a:r>
              <a:rPr kumimoji="1" lang="zh-TW" altLang="en-US" dirty="0"/>
              <a:t>使用</a:t>
            </a:r>
            <a:r>
              <a:rPr kumimoji="1" lang="en" altLang="zh-TW" dirty="0"/>
              <a:t>spacy</a:t>
            </a:r>
            <a:r>
              <a:rPr kumimoji="1" lang="zh-TW" altLang="en-US" dirty="0"/>
              <a:t>套件中的</a:t>
            </a:r>
            <a:r>
              <a:rPr kumimoji="1" lang="en" altLang="zh-TW" dirty="0" err="1"/>
              <a:t>displacy</a:t>
            </a:r>
            <a:r>
              <a:rPr kumimoji="1" lang="zh-TW" altLang="en-US" dirty="0"/>
              <a:t>來呈現詞之間的關係。</a:t>
            </a:r>
          </a:p>
          <a:p>
            <a:r>
              <a:rPr kumimoji="1" lang="en" altLang="zh-TW" dirty="0" err="1"/>
              <a:t>Displacy</a:t>
            </a:r>
            <a:r>
              <a:rPr kumimoji="1" lang="zh-TW" altLang="en-US" dirty="0"/>
              <a:t>用於在</a:t>
            </a:r>
            <a:r>
              <a:rPr kumimoji="1" lang="en" altLang="zh-TW" dirty="0" err="1"/>
              <a:t>Jupyter</a:t>
            </a:r>
            <a:r>
              <a:rPr kumimoji="1" lang="en" altLang="zh-TW" dirty="0"/>
              <a:t> Notebook</a:t>
            </a:r>
            <a:r>
              <a:rPr kumimoji="1" lang="zh-TW" altLang="en-US" dirty="0"/>
              <a:t>或瀏覽器中顯示自然語言處理（</a:t>
            </a:r>
            <a:r>
              <a:rPr kumimoji="1" lang="en" altLang="zh-TW" dirty="0"/>
              <a:t>NLP</a:t>
            </a:r>
            <a:r>
              <a:rPr kumimoji="1" lang="zh-TW" altLang="en" dirty="0"/>
              <a:t>）</a:t>
            </a:r>
            <a:r>
              <a:rPr kumimoji="1" lang="zh-TW" altLang="en-US" dirty="0"/>
              <a:t>模型的分析結果</a:t>
            </a:r>
            <a:endParaRPr kumimoji="1" lang="en-US" altLang="zh-TW" dirty="0"/>
          </a:p>
          <a:p>
            <a:pPr lvl="1"/>
            <a:r>
              <a:rPr kumimoji="1" lang="zh-TW" altLang="en-US" dirty="0"/>
              <a:t>使用</a:t>
            </a:r>
            <a:r>
              <a:rPr kumimoji="1" lang="en" altLang="zh-TW" dirty="0" err="1"/>
              <a:t>spaCy</a:t>
            </a:r>
            <a:r>
              <a:rPr kumimoji="1" lang="zh-TW" altLang="en-US" dirty="0"/>
              <a:t>庫生成的分析結果，提供視覺化效果</a:t>
            </a:r>
            <a:endParaRPr kumimoji="1" lang="en-US" altLang="zh-TW" dirty="0"/>
          </a:p>
          <a:p>
            <a:pPr lvl="1"/>
            <a:r>
              <a:rPr kumimoji="1" lang="zh-TW" altLang="en-US" dirty="0"/>
              <a:t>透過視覺化可以觀察一下那些詞應該具有依賴性，哪些詞需要拆開</a:t>
            </a:r>
            <a:endParaRPr kumimoji="1" lang="en-US" altLang="zh-TW" dirty="0"/>
          </a:p>
        </p:txBody>
      </p:sp>
      <p:sp>
        <p:nvSpPr>
          <p:cNvPr id="7" name="文字方塊 6">
            <a:extLst>
              <a:ext uri="{FF2B5EF4-FFF2-40B4-BE49-F238E27FC236}">
                <a16:creationId xmlns:a16="http://schemas.microsoft.com/office/drawing/2014/main" id="{8426C1FF-4C63-476C-11D9-5FA6F5C97FC1}"/>
              </a:ext>
            </a:extLst>
          </p:cNvPr>
          <p:cNvSpPr txBox="1"/>
          <p:nvPr/>
        </p:nvSpPr>
        <p:spPr>
          <a:xfrm>
            <a:off x="574286" y="4433788"/>
            <a:ext cx="11279459" cy="923330"/>
          </a:xfrm>
          <a:prstGeom prst="rect">
            <a:avLst/>
          </a:prstGeom>
          <a:noFill/>
          <a:ln>
            <a:solidFill>
              <a:schemeClr val="tx1"/>
            </a:solidFill>
          </a:ln>
        </p:spPr>
        <p:txBody>
          <a:bodyPr wrap="square">
            <a:spAutoFit/>
          </a:bodyPr>
          <a:lstStyle/>
          <a:p>
            <a:r>
              <a:rPr lang="en" altLang="zh-TW" b="0" dirty="0">
                <a:solidFill>
                  <a:srgbClr val="001080"/>
                </a:solidFill>
                <a:effectLst/>
                <a:latin typeface="Fira Code" panose="020B0809050000020004" pitchFamily="49" charset="0"/>
              </a:rPr>
              <a:t>options</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"compact"</a:t>
            </a:r>
            <a:r>
              <a:rPr lang="en" altLang="zh-TW" b="0" dirty="0">
                <a:solidFill>
                  <a:srgbClr val="3B3B3B"/>
                </a:solidFill>
                <a:effectLst/>
                <a:latin typeface="Fira Code" panose="020B0809050000020004" pitchFamily="49" charset="0"/>
              </a:rPr>
              <a:t>: </a:t>
            </a:r>
            <a:r>
              <a:rPr lang="en" altLang="zh-TW" b="0" dirty="0">
                <a:solidFill>
                  <a:srgbClr val="0070C1"/>
                </a:solidFill>
                <a:effectLst/>
                <a:latin typeface="Fira Code" panose="020B0809050000020004" pitchFamily="49" charset="0"/>
              </a:rPr>
              <a:t>True</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en" altLang="zh-TW" b="0" dirty="0" err="1">
                <a:solidFill>
                  <a:srgbClr val="A31515"/>
                </a:solidFill>
                <a:effectLst/>
                <a:latin typeface="Fira Code" panose="020B0809050000020004" pitchFamily="49" charset="0"/>
              </a:rPr>
              <a:t>bg</a:t>
            </a:r>
            <a:r>
              <a:rPr lang="en" altLang="zh-TW" b="0" dirty="0">
                <a:solidFill>
                  <a:srgbClr val="A31515"/>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a:t>
            </a:r>
            <a:r>
              <a:rPr lang="en" altLang="zh-TW" b="0" dirty="0" err="1">
                <a:solidFill>
                  <a:srgbClr val="A31515"/>
                </a:solidFill>
                <a:effectLst/>
                <a:latin typeface="Fira Code" panose="020B0809050000020004" pitchFamily="49" charset="0"/>
              </a:rPr>
              <a:t>black"</a:t>
            </a:r>
            <a:r>
              <a:rPr lang="en" altLang="zh-TW" b="0" dirty="0" err="1">
                <a:solidFill>
                  <a:srgbClr val="3B3B3B"/>
                </a:solidFill>
                <a:effectLst/>
                <a:latin typeface="Fira Code" panose="020B0809050000020004" pitchFamily="49" charset="0"/>
              </a:rPr>
              <a:t>,</a:t>
            </a:r>
            <a:r>
              <a:rPr lang="en" altLang="zh-TW" b="0" dirty="0" err="1">
                <a:solidFill>
                  <a:srgbClr val="A31515"/>
                </a:solidFill>
                <a:effectLst/>
                <a:latin typeface="Fira Code" panose="020B0809050000020004" pitchFamily="49" charset="0"/>
              </a:rPr>
              <a:t>"color</a:t>
            </a:r>
            <a:r>
              <a:rPr lang="en" altLang="zh-TW" b="0" dirty="0">
                <a:solidFill>
                  <a:srgbClr val="A31515"/>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"white"</a:t>
            </a:r>
            <a:r>
              <a:rPr lang="en" altLang="zh-TW" b="0" dirty="0">
                <a:solidFill>
                  <a:srgbClr val="3B3B3B"/>
                </a:solidFill>
                <a:effectLst/>
                <a:latin typeface="Fira Code" panose="020B0809050000020004" pitchFamily="49" charset="0"/>
              </a:rPr>
              <a:t>, </a:t>
            </a:r>
            <a:r>
              <a:rPr lang="en" altLang="zh-TW" b="0" dirty="0">
                <a:solidFill>
                  <a:srgbClr val="A31515"/>
                </a:solidFill>
                <a:effectLst/>
                <a:latin typeface="Fira Code" panose="020B0809050000020004" pitchFamily="49" charset="0"/>
              </a:rPr>
              <a:t>"distance"</a:t>
            </a:r>
            <a:r>
              <a:rPr lang="en" altLang="zh-TW" b="0" dirty="0">
                <a:solidFill>
                  <a:srgbClr val="3B3B3B"/>
                </a:solidFill>
                <a:effectLst/>
                <a:latin typeface="Fira Code" panose="020B0809050000020004" pitchFamily="49" charset="0"/>
              </a:rPr>
              <a:t>: </a:t>
            </a:r>
            <a:r>
              <a:rPr lang="en" altLang="zh-TW" b="0" dirty="0">
                <a:solidFill>
                  <a:srgbClr val="098658"/>
                </a:solidFill>
                <a:effectLst/>
                <a:latin typeface="Fira Code" panose="020B0809050000020004" pitchFamily="49" charset="0"/>
              </a:rPr>
              <a:t>60</a:t>
            </a:r>
            <a:r>
              <a:rPr lang="en" altLang="zh-TW" b="0" dirty="0">
                <a:solidFill>
                  <a:srgbClr val="3B3B3B"/>
                </a:solidFill>
                <a:effectLst/>
                <a:latin typeface="Fira Code" panose="020B0809050000020004" pitchFamily="49" charset="0"/>
              </a:rPr>
              <a:t> }</a:t>
            </a:r>
          </a:p>
          <a:p>
            <a:r>
              <a:rPr lang="en" altLang="zh-TW" b="0" dirty="0">
                <a:solidFill>
                  <a:srgbClr val="008000"/>
                </a:solidFill>
                <a:effectLst/>
                <a:latin typeface="Fira Code" panose="020B0809050000020004" pitchFamily="49" charset="0"/>
              </a:rPr>
              <a:t># doc= </a:t>
            </a:r>
            <a:r>
              <a:rPr lang="en" altLang="zh-TW" b="0" dirty="0" err="1">
                <a:solidFill>
                  <a:srgbClr val="008000"/>
                </a:solidFill>
                <a:effectLst/>
                <a:latin typeface="Fira Code" panose="020B0809050000020004" pitchFamily="49" charset="0"/>
              </a:rPr>
              <a:t>nlp</a:t>
            </a:r>
            <a:r>
              <a:rPr lang="en" altLang="zh-TW" b="0" dirty="0">
                <a:solidFill>
                  <a:srgbClr val="008000"/>
                </a:solidFill>
                <a:effectLst/>
                <a:latin typeface="Fira Code" panose="020B0809050000020004" pitchFamily="49" charset="0"/>
              </a:rPr>
              <a:t>('</a:t>
            </a:r>
            <a:r>
              <a:rPr lang="zh-TW" altLang="en-US" b="0" dirty="0">
                <a:solidFill>
                  <a:srgbClr val="008000"/>
                </a:solidFill>
                <a:effectLst/>
                <a:latin typeface="Fira Code" panose="020B0809050000020004" pitchFamily="49" charset="0"/>
              </a:rPr>
              <a:t>新冠疫情趨緩，但近來其他疾病如腸病毒、流感等多種傳染病卻呈現流行趨勢</a:t>
            </a:r>
            <a:r>
              <a:rPr lang="en-US" altLang="zh-TW" b="0" dirty="0">
                <a:solidFill>
                  <a:srgbClr val="008000"/>
                </a:solidFill>
                <a:effectLst/>
                <a:latin typeface="Fira Code" panose="020B0809050000020004" pitchFamily="49" charset="0"/>
              </a:rPr>
              <a:t>')</a:t>
            </a:r>
            <a:endParaRPr lang="zh-TW" altLang="en-US" b="0" dirty="0">
              <a:solidFill>
                <a:srgbClr val="3B3B3B"/>
              </a:solidFill>
              <a:effectLst/>
              <a:latin typeface="Fira Code" panose="020B0809050000020004" pitchFamily="49" charset="0"/>
            </a:endParaRPr>
          </a:p>
          <a:p>
            <a:r>
              <a:rPr lang="en" altLang="zh-TW" b="0" dirty="0" err="1">
                <a:solidFill>
                  <a:srgbClr val="267F99"/>
                </a:solidFill>
                <a:effectLst/>
                <a:latin typeface="Fira Code" panose="020B0809050000020004" pitchFamily="49" charset="0"/>
              </a:rPr>
              <a:t>displacy</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render</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doc</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style</a:t>
            </a:r>
            <a:r>
              <a:rPr lang="en" altLang="zh-TW" b="0" dirty="0">
                <a:solidFill>
                  <a:srgbClr val="000000"/>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"dep"</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options</a:t>
            </a:r>
            <a:r>
              <a:rPr lang="en" altLang="zh-TW" b="0" dirty="0">
                <a:solidFill>
                  <a:srgbClr val="000000"/>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options</a:t>
            </a:r>
            <a:r>
              <a:rPr lang="en" altLang="zh-TW" b="0" dirty="0">
                <a:solidFill>
                  <a:srgbClr val="3B3B3B"/>
                </a:solidFill>
                <a:effectLst/>
                <a:latin typeface="Fira Code" panose="020B0809050000020004" pitchFamily="49" charset="0"/>
              </a:rPr>
              <a:t>)</a:t>
            </a:r>
          </a:p>
        </p:txBody>
      </p:sp>
      <p:pic>
        <p:nvPicPr>
          <p:cNvPr id="8" name="圖片 7">
            <a:extLst>
              <a:ext uri="{FF2B5EF4-FFF2-40B4-BE49-F238E27FC236}">
                <a16:creationId xmlns:a16="http://schemas.microsoft.com/office/drawing/2014/main" id="{539A15EA-2E2C-FD3B-5D53-F4E37F51E8E5}"/>
              </a:ext>
            </a:extLst>
          </p:cNvPr>
          <p:cNvPicPr>
            <a:picLocks noChangeAspect="1"/>
          </p:cNvPicPr>
          <p:nvPr/>
        </p:nvPicPr>
        <p:blipFill>
          <a:blip r:embed="rId2"/>
          <a:stretch>
            <a:fillRect/>
          </a:stretch>
        </p:blipFill>
        <p:spPr>
          <a:xfrm>
            <a:off x="1574181" y="5357118"/>
            <a:ext cx="7772400" cy="1402960"/>
          </a:xfrm>
          <a:prstGeom prst="rect">
            <a:avLst/>
          </a:prstGeom>
        </p:spPr>
      </p:pic>
      <p:sp>
        <p:nvSpPr>
          <p:cNvPr id="10" name="文字方塊 9">
            <a:extLst>
              <a:ext uri="{FF2B5EF4-FFF2-40B4-BE49-F238E27FC236}">
                <a16:creationId xmlns:a16="http://schemas.microsoft.com/office/drawing/2014/main" id="{00536685-C95E-A010-B983-25790A64E65A}"/>
              </a:ext>
            </a:extLst>
          </p:cNvPr>
          <p:cNvSpPr txBox="1"/>
          <p:nvPr/>
        </p:nvSpPr>
        <p:spPr>
          <a:xfrm>
            <a:off x="3440151" y="1825625"/>
            <a:ext cx="4064620" cy="369332"/>
          </a:xfrm>
          <a:prstGeom prst="rect">
            <a:avLst/>
          </a:prstGeom>
          <a:noFill/>
        </p:spPr>
        <p:txBody>
          <a:bodyPr wrap="square">
            <a:spAutoFit/>
          </a:bodyPr>
          <a:lstStyle/>
          <a:p>
            <a:r>
              <a:rPr lang="zh-TW" altLang="en-US" dirty="0">
                <a:hlinkClick r:id="rId3"/>
              </a:rPr>
              <a:t>https://spacy.io/api/top-level#displacy</a:t>
            </a:r>
            <a:endParaRPr lang="zh-TW" altLang="en-US" dirty="0"/>
          </a:p>
        </p:txBody>
      </p:sp>
    </p:spTree>
    <p:extLst>
      <p:ext uri="{BB962C8B-B14F-4D97-AF65-F5344CB8AC3E}">
        <p14:creationId xmlns:p14="http://schemas.microsoft.com/office/powerpoint/2010/main" val="1640896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23A5DD-D783-2384-0389-5ED028D2F517}"/>
              </a:ext>
            </a:extLst>
          </p:cNvPr>
          <p:cNvSpPr>
            <a:spLocks noGrp="1"/>
          </p:cNvSpPr>
          <p:nvPr>
            <p:ph type="title"/>
          </p:nvPr>
        </p:nvSpPr>
        <p:spPr/>
        <p:txBody>
          <a:bodyPr/>
          <a:lstStyle/>
          <a:p>
            <a:r>
              <a:rPr kumimoji="1" lang="en-US" altLang="zh-TW" dirty="0"/>
              <a:t>POS</a:t>
            </a:r>
            <a:r>
              <a:rPr kumimoji="1" lang="zh-TW" altLang="en-US" dirty="0"/>
              <a:t> </a:t>
            </a:r>
            <a:r>
              <a:rPr kumimoji="1" lang="en-US" altLang="zh-TW" dirty="0"/>
              <a:t>Tagging - </a:t>
            </a:r>
            <a:r>
              <a:rPr kumimoji="1" lang="en-US" altLang="zh-TW" dirty="0" err="1"/>
              <a:t>spaCy</a:t>
            </a:r>
            <a:endParaRPr kumimoji="1" lang="zh-TW" altLang="en-US" dirty="0"/>
          </a:p>
        </p:txBody>
      </p:sp>
      <p:sp>
        <p:nvSpPr>
          <p:cNvPr id="3" name="內容版面配置區 2">
            <a:extLst>
              <a:ext uri="{FF2B5EF4-FFF2-40B4-BE49-F238E27FC236}">
                <a16:creationId xmlns:a16="http://schemas.microsoft.com/office/drawing/2014/main" id="{D2778BD7-EC5E-B50D-33EA-5AA090317BD2}"/>
              </a:ext>
            </a:extLst>
          </p:cNvPr>
          <p:cNvSpPr>
            <a:spLocks noGrp="1"/>
          </p:cNvSpPr>
          <p:nvPr>
            <p:ph idx="1"/>
          </p:nvPr>
        </p:nvSpPr>
        <p:spPr/>
        <p:txBody>
          <a:bodyPr/>
          <a:lstStyle/>
          <a:p>
            <a:r>
              <a:rPr kumimoji="1" lang="en" altLang="zh-TW" dirty="0"/>
              <a:t>Named Entity Recognition (NER)	</a:t>
            </a:r>
          </a:p>
          <a:p>
            <a:r>
              <a:rPr kumimoji="1" lang="en-US" altLang="zh-TW" dirty="0"/>
              <a:t>NER</a:t>
            </a:r>
            <a:r>
              <a:rPr kumimoji="1" lang="zh-TW" altLang="en-US" dirty="0"/>
              <a:t>的種類包含：</a:t>
            </a:r>
            <a:r>
              <a:rPr kumimoji="1" lang="en" altLang="zh-TW" dirty="0"/>
              <a:t>CARDINAL, DATE, EVENT, FAC, GPE, LANGUAGE, LAW, LOC, MONEY, NORP, ORDINAL, ORG, PERCENT, PERSON, PRODUCT, QUANTITY, TIME, WORK_OF_ART</a:t>
            </a:r>
          </a:p>
          <a:p>
            <a:pPr lvl="1"/>
            <a:r>
              <a:rPr kumimoji="1" lang="en" altLang="zh-TW" dirty="0">
                <a:hlinkClick r:id="rId2"/>
              </a:rPr>
              <a:t>https://spacy.io/models/zh#zh_core_web_md</a:t>
            </a:r>
            <a:endParaRPr kumimoji="1" lang="en" altLang="zh-TW" dirty="0"/>
          </a:p>
          <a:p>
            <a:endParaRPr kumimoji="1" lang="zh-TW" altLang="en-US" dirty="0"/>
          </a:p>
        </p:txBody>
      </p:sp>
      <p:sp>
        <p:nvSpPr>
          <p:cNvPr id="5" name="文字方塊 4">
            <a:extLst>
              <a:ext uri="{FF2B5EF4-FFF2-40B4-BE49-F238E27FC236}">
                <a16:creationId xmlns:a16="http://schemas.microsoft.com/office/drawing/2014/main" id="{4D43B8CA-6FEF-AB50-8041-01BBD6FD331B}"/>
              </a:ext>
            </a:extLst>
          </p:cNvPr>
          <p:cNvSpPr txBox="1"/>
          <p:nvPr/>
        </p:nvSpPr>
        <p:spPr>
          <a:xfrm>
            <a:off x="838200" y="4179915"/>
            <a:ext cx="7502912" cy="1477328"/>
          </a:xfrm>
          <a:prstGeom prst="rect">
            <a:avLst/>
          </a:prstGeom>
          <a:noFill/>
          <a:ln>
            <a:solidFill>
              <a:schemeClr val="tx1"/>
            </a:solidFill>
          </a:ln>
        </p:spPr>
        <p:txBody>
          <a:bodyPr wrap="square">
            <a:spAutoFit/>
          </a:bodyPr>
          <a:lstStyle/>
          <a:p>
            <a:r>
              <a:rPr lang="en" altLang="zh-TW" b="0" dirty="0">
                <a:solidFill>
                  <a:srgbClr val="AF00DB"/>
                </a:solidFill>
                <a:effectLst/>
                <a:latin typeface="Fira Code" panose="020B0809050000020004" pitchFamily="49" charset="0"/>
              </a:rPr>
              <a:t>import</a:t>
            </a:r>
            <a:r>
              <a:rPr lang="en" altLang="zh-TW" b="0" dirty="0">
                <a:solidFill>
                  <a:srgbClr val="3B3B3B"/>
                </a:solidFill>
                <a:effectLst/>
                <a:latin typeface="Fira Code" panose="020B0809050000020004" pitchFamily="49" charset="0"/>
              </a:rPr>
              <a:t> </a:t>
            </a:r>
            <a:r>
              <a:rPr lang="en" altLang="zh-TW" b="0" dirty="0">
                <a:solidFill>
                  <a:srgbClr val="267F99"/>
                </a:solidFill>
                <a:effectLst/>
                <a:latin typeface="Fira Code" panose="020B0809050000020004" pitchFamily="49" charset="0"/>
              </a:rPr>
              <a:t>spacy</a:t>
            </a:r>
            <a:endParaRPr lang="en" altLang="zh-TW" b="0" dirty="0">
              <a:solidFill>
                <a:srgbClr val="3B3B3B"/>
              </a:solidFill>
              <a:effectLst/>
              <a:latin typeface="Fira Code" panose="020B0809050000020004" pitchFamily="49" charset="0"/>
            </a:endParaRPr>
          </a:p>
          <a:p>
            <a:r>
              <a:rPr lang="en" altLang="zh-TW" b="0" dirty="0" err="1">
                <a:solidFill>
                  <a:srgbClr val="001080"/>
                </a:solidFill>
                <a:effectLst/>
                <a:latin typeface="Fira Code" panose="020B0809050000020004" pitchFamily="49" charset="0"/>
              </a:rPr>
              <a:t>nlp</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spacy</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load</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en" altLang="zh-TW" b="0" dirty="0" err="1">
                <a:solidFill>
                  <a:srgbClr val="A31515"/>
                </a:solidFill>
                <a:effectLst/>
                <a:latin typeface="Fira Code" panose="020B0809050000020004" pitchFamily="49" charset="0"/>
              </a:rPr>
              <a:t>zh_core_web_md</a:t>
            </a:r>
            <a:r>
              <a:rPr lang="en" altLang="zh-TW" b="0" dirty="0">
                <a:solidFill>
                  <a:srgbClr val="A31515"/>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a:t>
            </a:r>
            <a:r>
              <a:rPr lang="en" altLang="zh-TW" b="0" dirty="0">
                <a:solidFill>
                  <a:srgbClr val="008000"/>
                </a:solidFill>
                <a:effectLst/>
                <a:latin typeface="Fira Code" panose="020B0809050000020004" pitchFamily="49" charset="0"/>
              </a:rPr>
              <a:t># </a:t>
            </a:r>
            <a:r>
              <a:rPr lang="zh-TW" altLang="en-US" b="0" dirty="0">
                <a:solidFill>
                  <a:srgbClr val="008000"/>
                </a:solidFill>
                <a:effectLst/>
                <a:latin typeface="Fira Code" panose="020B0809050000020004" pitchFamily="49" charset="0"/>
              </a:rPr>
              <a:t>對中文語句進行解析</a:t>
            </a:r>
            <a:endParaRPr lang="zh-TW" altLang="en-US" b="0" dirty="0">
              <a:solidFill>
                <a:srgbClr val="3B3B3B"/>
              </a:solidFill>
              <a:effectLst/>
              <a:latin typeface="Fira Code" panose="020B0809050000020004" pitchFamily="49" charset="0"/>
            </a:endParaRPr>
          </a:p>
          <a:p>
            <a:r>
              <a:rPr lang="en" altLang="zh-TW" b="0" dirty="0">
                <a:solidFill>
                  <a:srgbClr val="001080"/>
                </a:solidFill>
                <a:effectLst/>
                <a:latin typeface="Fira Code" panose="020B0809050000020004" pitchFamily="49" charset="0"/>
              </a:rPr>
              <a:t>doc</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nlp</a:t>
            </a:r>
            <a:r>
              <a:rPr lang="en" altLang="zh-TW" b="0" dirty="0">
                <a:solidFill>
                  <a:srgbClr val="3B3B3B"/>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zh-TW" altLang="en-US" b="0" dirty="0">
                <a:solidFill>
                  <a:srgbClr val="A31515"/>
                </a:solidFill>
                <a:effectLst/>
                <a:latin typeface="Fira Code" panose="020B0809050000020004" pitchFamily="49" charset="0"/>
              </a:rPr>
              <a:t>今天台灣北部的天氣不太好</a:t>
            </a:r>
            <a:r>
              <a:rPr lang="en-US" altLang="zh-TW" b="0" dirty="0">
                <a:solidFill>
                  <a:srgbClr val="A31515"/>
                </a:solidFill>
                <a:effectLst/>
                <a:latin typeface="Fira Code" panose="020B0809050000020004" pitchFamily="49" charset="0"/>
              </a:rPr>
              <a:t>'</a:t>
            </a:r>
            <a:r>
              <a:rPr lang="en-US" altLang="zh-TW" b="0" dirty="0">
                <a:solidFill>
                  <a:srgbClr val="3B3B3B"/>
                </a:solidFill>
                <a:effectLst/>
                <a:latin typeface="Fira Code" panose="020B0809050000020004" pitchFamily="49" charset="0"/>
              </a:rPr>
              <a:t>)</a:t>
            </a:r>
          </a:p>
          <a:p>
            <a:r>
              <a:rPr lang="en" altLang="zh-TW" b="0" dirty="0">
                <a:solidFill>
                  <a:srgbClr val="AF00DB"/>
                </a:solidFill>
                <a:effectLst/>
                <a:latin typeface="Fira Code" panose="020B0809050000020004" pitchFamily="49" charset="0"/>
              </a:rPr>
              <a:t>for</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e</a:t>
            </a:r>
            <a:r>
              <a:rPr lang="en" altLang="zh-TW" b="0" dirty="0">
                <a:solidFill>
                  <a:srgbClr val="3B3B3B"/>
                </a:solidFill>
                <a:effectLst/>
                <a:latin typeface="Fira Code" panose="020B0809050000020004" pitchFamily="49" charset="0"/>
              </a:rPr>
              <a:t> </a:t>
            </a:r>
            <a:r>
              <a:rPr lang="en" altLang="zh-TW" b="0" dirty="0">
                <a:solidFill>
                  <a:srgbClr val="AF00DB"/>
                </a:solidFill>
                <a:effectLst/>
                <a:latin typeface="Fira Code" panose="020B0809050000020004" pitchFamily="49" charset="0"/>
              </a:rPr>
              <a:t>in</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doc</a:t>
            </a:r>
            <a:r>
              <a:rPr lang="en" altLang="zh-TW" b="0" dirty="0" err="1">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ents</a:t>
            </a:r>
            <a:r>
              <a:rPr lang="en" altLang="zh-TW" b="0" dirty="0">
                <a:solidFill>
                  <a:srgbClr val="3B3B3B"/>
                </a:solidFill>
                <a:effectLst/>
                <a:latin typeface="Fira Code" panose="020B0809050000020004" pitchFamily="49" charset="0"/>
              </a:rPr>
              <a:t>:</a:t>
            </a:r>
          </a:p>
          <a:p>
            <a:r>
              <a:rPr lang="zh-TW" altLang="en-US" b="0" dirty="0">
                <a:solidFill>
                  <a:srgbClr val="795E26"/>
                </a:solidFill>
                <a:effectLst/>
                <a:latin typeface="Fira Code" panose="020B0809050000020004" pitchFamily="49" charset="0"/>
              </a:rPr>
              <a:t>    </a:t>
            </a:r>
            <a:r>
              <a:rPr lang="en" altLang="zh-TW" b="0" dirty="0">
                <a:solidFill>
                  <a:srgbClr val="795E26"/>
                </a:solidFill>
                <a:effectLst/>
                <a:latin typeface="Fira Code" panose="020B0809050000020004" pitchFamily="49" charset="0"/>
              </a:rPr>
              <a:t>print</a:t>
            </a:r>
            <a:r>
              <a:rPr lang="en" altLang="zh-TW" b="0" dirty="0">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e</a:t>
            </a:r>
            <a:r>
              <a:rPr lang="en" altLang="zh-TW" b="0" dirty="0" err="1">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text</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e</a:t>
            </a:r>
            <a:r>
              <a:rPr lang="en" altLang="zh-TW" b="0" dirty="0" err="1">
                <a:solidFill>
                  <a:srgbClr val="3B3B3B"/>
                </a:solidFill>
                <a:effectLst/>
                <a:latin typeface="Fira Code" panose="020B0809050000020004" pitchFamily="49" charset="0"/>
              </a:rPr>
              <a:t>.</a:t>
            </a:r>
            <a:r>
              <a:rPr lang="en" altLang="zh-TW" b="0" dirty="0" err="1">
                <a:solidFill>
                  <a:srgbClr val="001080"/>
                </a:solidFill>
                <a:effectLst/>
                <a:latin typeface="Fira Code" panose="020B0809050000020004" pitchFamily="49" charset="0"/>
              </a:rPr>
              <a:t>label</a:t>
            </a:r>
            <a:r>
              <a:rPr lang="en" altLang="zh-TW" b="0" dirty="0">
                <a:solidFill>
                  <a:srgbClr val="001080"/>
                </a:solidFill>
                <a:effectLst/>
                <a:latin typeface="Fira Code" panose="020B0809050000020004" pitchFamily="49" charset="0"/>
              </a:rPr>
              <a:t>_</a:t>
            </a:r>
            <a:r>
              <a:rPr lang="en" altLang="zh-TW" b="0" dirty="0">
                <a:solidFill>
                  <a:srgbClr val="3B3B3B"/>
                </a:solidFill>
                <a:effectLst/>
                <a:latin typeface="Fira Code" panose="020B0809050000020004" pitchFamily="49" charset="0"/>
              </a:rPr>
              <a:t>)</a:t>
            </a:r>
          </a:p>
        </p:txBody>
      </p:sp>
      <p:sp>
        <p:nvSpPr>
          <p:cNvPr id="9" name="文字方塊 8">
            <a:extLst>
              <a:ext uri="{FF2B5EF4-FFF2-40B4-BE49-F238E27FC236}">
                <a16:creationId xmlns:a16="http://schemas.microsoft.com/office/drawing/2014/main" id="{6A9D3721-13AE-17E9-3772-1EF19E5DFC30}"/>
              </a:ext>
            </a:extLst>
          </p:cNvPr>
          <p:cNvSpPr txBox="1"/>
          <p:nvPr/>
        </p:nvSpPr>
        <p:spPr>
          <a:xfrm>
            <a:off x="838201" y="5792180"/>
            <a:ext cx="7502912" cy="369332"/>
          </a:xfrm>
          <a:prstGeom prst="rect">
            <a:avLst/>
          </a:prstGeom>
          <a:noFill/>
          <a:ln>
            <a:solidFill>
              <a:schemeClr val="tx1"/>
            </a:solidFill>
          </a:ln>
        </p:spPr>
        <p:txBody>
          <a:bodyPr wrap="square">
            <a:spAutoFit/>
          </a:bodyPr>
          <a:lstStyle/>
          <a:p>
            <a:r>
              <a:rPr lang="en" altLang="zh-TW" b="0" dirty="0" err="1">
                <a:solidFill>
                  <a:srgbClr val="267F99"/>
                </a:solidFill>
                <a:effectLst/>
                <a:latin typeface="Fira Code" panose="020B0809050000020004" pitchFamily="49" charset="0"/>
              </a:rPr>
              <a:t>displacy</a:t>
            </a:r>
            <a:r>
              <a:rPr lang="en" altLang="zh-TW" b="0" dirty="0" err="1">
                <a:solidFill>
                  <a:srgbClr val="3B3B3B"/>
                </a:solidFill>
                <a:effectLst/>
                <a:latin typeface="Fira Code" panose="020B0809050000020004" pitchFamily="49" charset="0"/>
              </a:rPr>
              <a:t>.</a:t>
            </a:r>
            <a:r>
              <a:rPr lang="en" altLang="zh-TW" b="0" dirty="0" err="1">
                <a:solidFill>
                  <a:srgbClr val="795E26"/>
                </a:solidFill>
                <a:effectLst/>
                <a:latin typeface="Fira Code" panose="020B0809050000020004" pitchFamily="49" charset="0"/>
              </a:rPr>
              <a:t>render</a:t>
            </a:r>
            <a:r>
              <a:rPr lang="en" altLang="zh-TW" b="0" dirty="0">
                <a:solidFill>
                  <a:srgbClr val="3B3B3B"/>
                </a:solidFill>
                <a:effectLst/>
                <a:latin typeface="Fira Code" panose="020B0809050000020004" pitchFamily="49" charset="0"/>
              </a:rPr>
              <a:t>(</a:t>
            </a:r>
            <a:r>
              <a:rPr lang="en" altLang="zh-TW" b="0" dirty="0">
                <a:solidFill>
                  <a:srgbClr val="001080"/>
                </a:solidFill>
                <a:effectLst/>
                <a:latin typeface="Fira Code" panose="020B0809050000020004" pitchFamily="49" charset="0"/>
              </a:rPr>
              <a:t>doc</a:t>
            </a:r>
            <a:r>
              <a:rPr lang="en" altLang="zh-TW" b="0" dirty="0">
                <a:solidFill>
                  <a:srgbClr val="3B3B3B"/>
                </a:solidFill>
                <a:effectLst/>
                <a:latin typeface="Fira Code" panose="020B0809050000020004" pitchFamily="49" charset="0"/>
              </a:rPr>
              <a:t>, </a:t>
            </a:r>
            <a:r>
              <a:rPr lang="en" altLang="zh-TW" b="0" dirty="0">
                <a:solidFill>
                  <a:srgbClr val="001080"/>
                </a:solidFill>
                <a:effectLst/>
                <a:latin typeface="Fira Code" panose="020B0809050000020004" pitchFamily="49" charset="0"/>
              </a:rPr>
              <a:t>style</a:t>
            </a:r>
            <a:r>
              <a:rPr lang="en" altLang="zh-TW" b="0" dirty="0">
                <a:solidFill>
                  <a:srgbClr val="000000"/>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en" altLang="zh-TW" b="0" dirty="0" err="1">
                <a:solidFill>
                  <a:srgbClr val="A31515"/>
                </a:solidFill>
                <a:effectLst/>
                <a:latin typeface="Fira Code" panose="020B0809050000020004" pitchFamily="49" charset="0"/>
              </a:rPr>
              <a:t>ent</a:t>
            </a:r>
            <a:r>
              <a:rPr lang="en" altLang="zh-TW" b="0" dirty="0">
                <a:solidFill>
                  <a:srgbClr val="A31515"/>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001080"/>
                </a:solidFill>
                <a:effectLst/>
                <a:latin typeface="Fira Code" panose="020B0809050000020004" pitchFamily="49" charset="0"/>
              </a:rPr>
              <a:t>jupyter</a:t>
            </a:r>
            <a:r>
              <a:rPr lang="en" altLang="zh-TW" b="0" dirty="0">
                <a:solidFill>
                  <a:srgbClr val="000000"/>
                </a:solidFill>
                <a:effectLst/>
                <a:latin typeface="Fira Code" panose="020B0809050000020004" pitchFamily="49" charset="0"/>
              </a:rPr>
              <a:t>=</a:t>
            </a:r>
            <a:r>
              <a:rPr lang="en" altLang="zh-TW" b="0" dirty="0">
                <a:solidFill>
                  <a:srgbClr val="0070C1"/>
                </a:solidFill>
                <a:effectLst/>
                <a:latin typeface="Fira Code" panose="020B0809050000020004" pitchFamily="49" charset="0"/>
              </a:rPr>
              <a:t>True</a:t>
            </a:r>
            <a:r>
              <a:rPr lang="en" altLang="zh-TW" b="0" dirty="0">
                <a:solidFill>
                  <a:srgbClr val="3B3B3B"/>
                </a:solidFill>
                <a:effectLst/>
                <a:latin typeface="Fira Code" panose="020B0809050000020004" pitchFamily="49" charset="0"/>
              </a:rPr>
              <a:t>)</a:t>
            </a:r>
          </a:p>
        </p:txBody>
      </p:sp>
      <p:pic>
        <p:nvPicPr>
          <p:cNvPr id="10" name="圖片 9">
            <a:extLst>
              <a:ext uri="{FF2B5EF4-FFF2-40B4-BE49-F238E27FC236}">
                <a16:creationId xmlns:a16="http://schemas.microsoft.com/office/drawing/2014/main" id="{A62D8C58-FF97-04AF-2961-02D5A51D2B1F}"/>
              </a:ext>
            </a:extLst>
          </p:cNvPr>
          <p:cNvPicPr>
            <a:picLocks noChangeAspect="1"/>
          </p:cNvPicPr>
          <p:nvPr/>
        </p:nvPicPr>
        <p:blipFill>
          <a:blip r:embed="rId3"/>
          <a:stretch>
            <a:fillRect/>
          </a:stretch>
        </p:blipFill>
        <p:spPr>
          <a:xfrm>
            <a:off x="8497228" y="5792180"/>
            <a:ext cx="3101279" cy="422902"/>
          </a:xfrm>
          <a:prstGeom prst="rect">
            <a:avLst/>
          </a:prstGeom>
        </p:spPr>
      </p:pic>
      <p:sp>
        <p:nvSpPr>
          <p:cNvPr id="6" name="文字方塊 5">
            <a:extLst>
              <a:ext uri="{FF2B5EF4-FFF2-40B4-BE49-F238E27FC236}">
                <a16:creationId xmlns:a16="http://schemas.microsoft.com/office/drawing/2014/main" id="{7E0AA682-AC09-DDCA-7C42-03F8A74C273F}"/>
              </a:ext>
            </a:extLst>
          </p:cNvPr>
          <p:cNvSpPr txBox="1"/>
          <p:nvPr/>
        </p:nvSpPr>
        <p:spPr>
          <a:xfrm>
            <a:off x="6771938" y="696488"/>
            <a:ext cx="4190103" cy="646331"/>
          </a:xfrm>
          <a:prstGeom prst="rect">
            <a:avLst/>
          </a:prstGeom>
          <a:noFill/>
        </p:spPr>
        <p:txBody>
          <a:bodyPr wrap="square">
            <a:spAutoFit/>
          </a:bodyPr>
          <a:lstStyle/>
          <a:p>
            <a:r>
              <a:rPr lang="en-US" altLang="zh-TW" dirty="0"/>
              <a:t>explosion.ai</a:t>
            </a:r>
            <a:r>
              <a:rPr lang="zh-TW" altLang="en-US" dirty="0"/>
              <a:t>的線上</a:t>
            </a:r>
            <a:r>
              <a:rPr lang="en-US" altLang="zh-TW" dirty="0"/>
              <a:t>demo</a:t>
            </a:r>
            <a:endParaRPr lang="en-US" altLang="zh-TW" dirty="0">
              <a:hlinkClick r:id="rId4"/>
            </a:endParaRPr>
          </a:p>
          <a:p>
            <a:r>
              <a:rPr lang="zh-TW" altLang="en-US" dirty="0">
                <a:hlinkClick r:id="rId4"/>
              </a:rPr>
              <a:t>https://demos.explosion.ai/displacy-ent</a:t>
            </a:r>
            <a:endParaRPr lang="zh-TW" altLang="en-US" dirty="0"/>
          </a:p>
        </p:txBody>
      </p:sp>
    </p:spTree>
    <p:extLst>
      <p:ext uri="{BB962C8B-B14F-4D97-AF65-F5344CB8AC3E}">
        <p14:creationId xmlns:p14="http://schemas.microsoft.com/office/powerpoint/2010/main" val="39508826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CB2F27AC-9187-ACFB-4679-D66D2D02449D}"/>
              </a:ext>
            </a:extLst>
          </p:cNvPr>
          <p:cNvSpPr>
            <a:spLocks noGrp="1"/>
          </p:cNvSpPr>
          <p:nvPr>
            <p:ph type="title"/>
          </p:nvPr>
        </p:nvSpPr>
        <p:spPr/>
        <p:txBody>
          <a:bodyPr/>
          <a:lstStyle/>
          <a:p>
            <a:r>
              <a:rPr lang="en-US" altLang="zh-TW" dirty="0"/>
              <a:t>Named Entity Recognition (NER)</a:t>
            </a:r>
            <a:endParaRPr lang="zh-TW" altLang="en-US" dirty="0"/>
          </a:p>
        </p:txBody>
      </p:sp>
      <p:sp>
        <p:nvSpPr>
          <p:cNvPr id="5" name="文字版面配置區 4">
            <a:extLst>
              <a:ext uri="{FF2B5EF4-FFF2-40B4-BE49-F238E27FC236}">
                <a16:creationId xmlns:a16="http://schemas.microsoft.com/office/drawing/2014/main" id="{AD0B3E01-2998-98EF-9946-F83AF4E51551}"/>
              </a:ext>
            </a:extLst>
          </p:cNvPr>
          <p:cNvSpPr>
            <a:spLocks noGrp="1"/>
          </p:cNvSpPr>
          <p:nvPr>
            <p:ph type="body" idx="1"/>
          </p:nvPr>
        </p:nvSpPr>
        <p:spPr/>
        <p:txBody>
          <a:bodyPr/>
          <a:lstStyle/>
          <a:p>
            <a:r>
              <a:rPr lang="zh-TW" altLang="en-US" dirty="0"/>
              <a:t>命名實體辨別</a:t>
            </a:r>
          </a:p>
        </p:txBody>
      </p:sp>
    </p:spTree>
    <p:extLst>
      <p:ext uri="{BB962C8B-B14F-4D97-AF65-F5344CB8AC3E}">
        <p14:creationId xmlns:p14="http://schemas.microsoft.com/office/powerpoint/2010/main" val="1617013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EA9C90A6-12A2-0E40-2276-A2EE96489840}"/>
              </a:ext>
            </a:extLst>
          </p:cNvPr>
          <p:cNvSpPr>
            <a:spLocks noGrp="1"/>
          </p:cNvSpPr>
          <p:nvPr>
            <p:ph type="title"/>
          </p:nvPr>
        </p:nvSpPr>
        <p:spPr/>
        <p:txBody>
          <a:bodyPr/>
          <a:lstStyle/>
          <a:p>
            <a:r>
              <a:rPr lang="en-US" altLang="zh-TW" dirty="0"/>
              <a:t>NER</a:t>
            </a:r>
            <a:endParaRPr lang="zh-TW" altLang="en-US" dirty="0"/>
          </a:p>
        </p:txBody>
      </p:sp>
      <p:sp>
        <p:nvSpPr>
          <p:cNvPr id="5" name="內容版面配置區 4">
            <a:extLst>
              <a:ext uri="{FF2B5EF4-FFF2-40B4-BE49-F238E27FC236}">
                <a16:creationId xmlns:a16="http://schemas.microsoft.com/office/drawing/2014/main" id="{93C958B6-05BC-69BB-F4F1-1CDECBA0A8D2}"/>
              </a:ext>
            </a:extLst>
          </p:cNvPr>
          <p:cNvSpPr>
            <a:spLocks noGrp="1"/>
          </p:cNvSpPr>
          <p:nvPr>
            <p:ph idx="1"/>
          </p:nvPr>
        </p:nvSpPr>
        <p:spPr>
          <a:xfrm>
            <a:off x="838200" y="1825624"/>
            <a:ext cx="10515600" cy="4564417"/>
          </a:xfrm>
        </p:spPr>
        <p:txBody>
          <a:bodyPr>
            <a:normAutofit fontScale="70000" lnSpcReduction="20000"/>
          </a:bodyPr>
          <a:lstStyle/>
          <a:p>
            <a:pPr>
              <a:lnSpc>
                <a:spcPct val="120000"/>
              </a:lnSpc>
            </a:pPr>
            <a:r>
              <a:rPr lang="zh-TW" altLang="en-US" dirty="0"/>
              <a:t>命名實體一般指的是文本中具有特定意義或者指代性強的實體，通常包括人名、地名、組織機構名、日期時間、專有名詞等</a:t>
            </a:r>
          </a:p>
          <a:p>
            <a:pPr>
              <a:lnSpc>
                <a:spcPct val="120000"/>
              </a:lnSpc>
            </a:pPr>
            <a:r>
              <a:rPr lang="en" altLang="zh-TW" dirty="0"/>
              <a:t>NER</a:t>
            </a:r>
            <a:r>
              <a:rPr lang="zh-TW" altLang="en-US" dirty="0"/>
              <a:t>系統就是從非結構化的輸入文本中抽取出上述實體，並且可以按照業務需求識別出更多類別的實體，比如產品名稱、型號、價格等。</a:t>
            </a:r>
            <a:endParaRPr lang="en-US" altLang="zh-TW" dirty="0"/>
          </a:p>
          <a:p>
            <a:pPr>
              <a:lnSpc>
                <a:spcPct val="120000"/>
              </a:lnSpc>
            </a:pPr>
            <a:r>
              <a:rPr lang="en" altLang="zh-TW" dirty="0"/>
              <a:t>NER</a:t>
            </a:r>
            <a:r>
              <a:rPr lang="zh-TW" altLang="en-US" dirty="0"/>
              <a:t>被當作序列標註</a:t>
            </a:r>
            <a:r>
              <a:rPr lang="en-US" altLang="zh-TW" dirty="0"/>
              <a:t>(pos tagging)</a:t>
            </a:r>
            <a:r>
              <a:rPr lang="zh-TW" altLang="en-US" dirty="0"/>
              <a:t>問題，利用大規模語料來學習出標註模型，從而對句子的各個位置進行標註。</a:t>
            </a:r>
          </a:p>
          <a:p>
            <a:pPr>
              <a:lnSpc>
                <a:spcPct val="120000"/>
              </a:lnSpc>
            </a:pPr>
            <a:r>
              <a:rPr lang="en" altLang="zh-TW" dirty="0"/>
              <a:t>NER</a:t>
            </a:r>
            <a:r>
              <a:rPr lang="zh-TW" altLang="en-US" dirty="0"/>
              <a:t>任務中的常用模型包括生成式模型</a:t>
            </a:r>
            <a:r>
              <a:rPr lang="en" altLang="zh-TW" dirty="0"/>
              <a:t>HMM</a:t>
            </a:r>
            <a:r>
              <a:rPr lang="zh-TW" altLang="en" dirty="0"/>
              <a:t>、</a:t>
            </a:r>
            <a:r>
              <a:rPr lang="zh-TW" altLang="en-US" dirty="0"/>
              <a:t>判別式模型</a:t>
            </a:r>
            <a:r>
              <a:rPr lang="en" altLang="zh-TW" dirty="0"/>
              <a:t>CRF</a:t>
            </a:r>
            <a:r>
              <a:rPr lang="zh-TW" altLang="en-US" dirty="0"/>
              <a:t>等。</a:t>
            </a:r>
          </a:p>
          <a:p>
            <a:pPr>
              <a:lnSpc>
                <a:spcPct val="120000"/>
              </a:lnSpc>
            </a:pPr>
            <a:r>
              <a:rPr lang="zh-TW" altLang="en-US" dirty="0"/>
              <a:t>條件隨機場（</a:t>
            </a:r>
            <a:r>
              <a:rPr lang="en" altLang="zh-TW" dirty="0" err="1"/>
              <a:t>ConditionalRandom</a:t>
            </a:r>
            <a:r>
              <a:rPr lang="en" altLang="zh-TW" dirty="0"/>
              <a:t> Field</a:t>
            </a:r>
            <a:r>
              <a:rPr lang="zh-TW" altLang="en" dirty="0"/>
              <a:t>，</a:t>
            </a:r>
            <a:r>
              <a:rPr lang="en" altLang="zh-TW" dirty="0"/>
              <a:t>CRF</a:t>
            </a:r>
            <a:r>
              <a:rPr lang="zh-TW" altLang="en" dirty="0"/>
              <a:t>）</a:t>
            </a:r>
            <a:r>
              <a:rPr lang="zh-TW" altLang="en-US" dirty="0"/>
              <a:t>是</a:t>
            </a:r>
            <a:r>
              <a:rPr lang="en" altLang="zh-TW" dirty="0"/>
              <a:t>NER</a:t>
            </a:r>
            <a:r>
              <a:rPr lang="zh-TW" altLang="en-US" dirty="0"/>
              <a:t>目前的主流模型。</a:t>
            </a:r>
          </a:p>
          <a:p>
            <a:pPr lvl="1">
              <a:lnSpc>
                <a:spcPct val="120000"/>
              </a:lnSpc>
            </a:pPr>
            <a:r>
              <a:rPr lang="zh-TW" altLang="en-US" dirty="0"/>
              <a:t>它的目標函數不僅考慮輸入的狀態特徵函數，而且還包含了標籤轉移特徵函數。</a:t>
            </a:r>
            <a:endParaRPr lang="en-US" altLang="zh-TW" dirty="0"/>
          </a:p>
          <a:p>
            <a:pPr lvl="1">
              <a:lnSpc>
                <a:spcPct val="120000"/>
              </a:lnSpc>
            </a:pPr>
            <a:r>
              <a:rPr lang="zh-TW" altLang="en-US" dirty="0"/>
              <a:t>在已知模型時，給輸入序列求預測輸出序列即求使目標函數最大化的最優序列，是一個動態規劃問題，可以使用</a:t>
            </a:r>
            <a:r>
              <a:rPr lang="en" altLang="zh-TW" dirty="0"/>
              <a:t>Viterbi</a:t>
            </a:r>
            <a:r>
              <a:rPr lang="zh-TW" altLang="en-US" dirty="0"/>
              <a:t>算法解碼來得到最優標籤序列。</a:t>
            </a:r>
          </a:p>
          <a:p>
            <a:pPr>
              <a:lnSpc>
                <a:spcPct val="120000"/>
              </a:lnSpc>
            </a:pPr>
            <a:r>
              <a:rPr lang="en" altLang="zh-TW" dirty="0"/>
              <a:t>CRF</a:t>
            </a:r>
            <a:r>
              <a:rPr lang="zh-TW" altLang="en-US" dirty="0"/>
              <a:t>的優點在於其為一個位置進行標註的過程中可以利用豐富的內部及上下文特徵信息。</a:t>
            </a:r>
          </a:p>
        </p:txBody>
      </p:sp>
    </p:spTree>
    <p:extLst>
      <p:ext uri="{BB962C8B-B14F-4D97-AF65-F5344CB8AC3E}">
        <p14:creationId xmlns:p14="http://schemas.microsoft.com/office/powerpoint/2010/main" val="30680233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B1AD0E-9161-C8D7-2401-52E379DDF903}"/>
              </a:ext>
            </a:extLst>
          </p:cNvPr>
          <p:cNvSpPr>
            <a:spLocks noGrp="1"/>
          </p:cNvSpPr>
          <p:nvPr>
            <p:ph type="title"/>
          </p:nvPr>
        </p:nvSpPr>
        <p:spPr/>
        <p:txBody>
          <a:bodyPr/>
          <a:lstStyle/>
          <a:p>
            <a:r>
              <a:rPr lang="en-US" altLang="zh-TW" dirty="0"/>
              <a:t>NER</a:t>
            </a:r>
            <a:endParaRPr kumimoji="1" lang="zh-TW" altLang="en-US" dirty="0"/>
          </a:p>
        </p:txBody>
      </p:sp>
      <p:sp>
        <p:nvSpPr>
          <p:cNvPr id="3" name="內容版面配置區 2">
            <a:extLst>
              <a:ext uri="{FF2B5EF4-FFF2-40B4-BE49-F238E27FC236}">
                <a16:creationId xmlns:a16="http://schemas.microsoft.com/office/drawing/2014/main" id="{C0EB2097-D14A-08A2-8CC7-30E0FB19348C}"/>
              </a:ext>
            </a:extLst>
          </p:cNvPr>
          <p:cNvSpPr>
            <a:spLocks noGrp="1"/>
          </p:cNvSpPr>
          <p:nvPr>
            <p:ph idx="1"/>
          </p:nvPr>
        </p:nvSpPr>
        <p:spPr/>
        <p:txBody>
          <a:bodyPr>
            <a:normAutofit/>
          </a:bodyPr>
          <a:lstStyle/>
          <a:p>
            <a:r>
              <a:rPr kumimoji="1" lang="en" altLang="zh-TW" dirty="0"/>
              <a:t>NER </a:t>
            </a:r>
            <a:r>
              <a:rPr kumimoji="1" lang="zh-TW" altLang="en-US" dirty="0"/>
              <a:t>標注方式</a:t>
            </a:r>
          </a:p>
          <a:p>
            <a:pPr lvl="1"/>
            <a:r>
              <a:rPr kumimoji="1" lang="en" altLang="zh-TW" dirty="0"/>
              <a:t>IOB</a:t>
            </a:r>
            <a:r>
              <a:rPr kumimoji="1" lang="zh-TW" altLang="en-US" dirty="0"/>
              <a:t>標注法</a:t>
            </a:r>
            <a:endParaRPr kumimoji="1" lang="en-US" altLang="zh-TW" dirty="0"/>
          </a:p>
          <a:p>
            <a:pPr lvl="2"/>
            <a:r>
              <a:rPr kumimoji="1" lang="zh-TW" altLang="en-US" dirty="0"/>
              <a:t>是</a:t>
            </a:r>
            <a:r>
              <a:rPr kumimoji="1" lang="en" altLang="zh-TW" dirty="0" err="1"/>
              <a:t>CoNLL</a:t>
            </a:r>
            <a:r>
              <a:rPr kumimoji="1" lang="en" altLang="zh-TW" dirty="0"/>
              <a:t> 2003 </a:t>
            </a:r>
            <a:r>
              <a:rPr kumimoji="1" lang="zh-TW" altLang="en-US" dirty="0"/>
              <a:t>採用的標註法， </a:t>
            </a:r>
            <a:r>
              <a:rPr kumimoji="1" lang="en" altLang="zh-TW" dirty="0"/>
              <a:t>I </a:t>
            </a:r>
            <a:r>
              <a:rPr kumimoji="1" lang="zh-TW" altLang="en-US" dirty="0"/>
              <a:t>表示</a:t>
            </a:r>
            <a:r>
              <a:rPr kumimoji="1" lang="en" altLang="zh-TW" dirty="0"/>
              <a:t>inside, O </a:t>
            </a:r>
            <a:r>
              <a:rPr kumimoji="1" lang="zh-TW" altLang="en-US" dirty="0"/>
              <a:t>表示</a:t>
            </a:r>
            <a:r>
              <a:rPr kumimoji="1" lang="en" altLang="zh-TW" dirty="0"/>
              <a:t>Outside, B </a:t>
            </a:r>
            <a:r>
              <a:rPr kumimoji="1" lang="zh-TW" altLang="en-US" dirty="0"/>
              <a:t>表示</a:t>
            </a:r>
            <a:r>
              <a:rPr kumimoji="1" lang="en" altLang="zh-TW" dirty="0"/>
              <a:t>Begin</a:t>
            </a:r>
          </a:p>
          <a:p>
            <a:r>
              <a:rPr kumimoji="1" lang="en" altLang="zh-TW" dirty="0"/>
              <a:t>B</a:t>
            </a:r>
            <a:r>
              <a:rPr kumimoji="1" lang="en-US" altLang="zh-TW" dirty="0"/>
              <a:t>-XXX</a:t>
            </a:r>
            <a:r>
              <a:rPr kumimoji="1" lang="zh-TW" altLang="en-US" dirty="0"/>
              <a:t>用於標記某一個命名實體的開始</a:t>
            </a:r>
            <a:endParaRPr kumimoji="1" lang="en-US" altLang="zh-TW" dirty="0"/>
          </a:p>
          <a:p>
            <a:r>
              <a:rPr kumimoji="1" lang="zh-TW" altLang="en-US" dirty="0"/>
              <a:t>標註的</a:t>
            </a:r>
            <a:r>
              <a:rPr kumimoji="1" lang="en" altLang="zh-TW" dirty="0"/>
              <a:t>label</a:t>
            </a:r>
            <a:r>
              <a:rPr kumimoji="1" lang="zh-TW" altLang="en-US" dirty="0"/>
              <a:t>是</a:t>
            </a:r>
            <a:r>
              <a:rPr kumimoji="1" lang="en" altLang="zh-TW" dirty="0"/>
              <a:t>I-XXX </a:t>
            </a:r>
            <a:r>
              <a:rPr kumimoji="1" lang="zh-TW" altLang="en" dirty="0"/>
              <a:t>， </a:t>
            </a:r>
            <a:r>
              <a:rPr kumimoji="1" lang="zh-TW" altLang="en-US" dirty="0"/>
              <a:t>表示這個字符， 在</a:t>
            </a:r>
            <a:r>
              <a:rPr kumimoji="1" lang="en" altLang="zh-TW" dirty="0"/>
              <a:t>XXX</a:t>
            </a:r>
            <a:r>
              <a:rPr kumimoji="1" lang="zh-TW" altLang="en-US" dirty="0"/>
              <a:t>類命名實體的內部</a:t>
            </a:r>
            <a:r>
              <a:rPr kumimoji="1" lang="en-US" altLang="zh-TW" dirty="0"/>
              <a:t>(</a:t>
            </a:r>
            <a:r>
              <a:rPr kumimoji="1" lang="en" altLang="zh-TW" dirty="0"/>
              <a:t>inside)</a:t>
            </a:r>
            <a:endParaRPr kumimoji="1" lang="zh-TW" altLang="en-US" dirty="0"/>
          </a:p>
          <a:p>
            <a:r>
              <a:rPr kumimoji="1" lang="zh-TW" altLang="en-US" dirty="0"/>
              <a:t>比如：「</a:t>
            </a:r>
            <a:r>
              <a:rPr kumimoji="1" lang="en-US" altLang="zh-TW" dirty="0"/>
              <a:t>Tom</a:t>
            </a:r>
            <a:r>
              <a:rPr kumimoji="1" lang="zh-TW" altLang="en-US" dirty="0"/>
              <a:t> </a:t>
            </a:r>
            <a:r>
              <a:rPr kumimoji="1" lang="en-US" altLang="zh-TW" dirty="0"/>
              <a:t>Hanks</a:t>
            </a:r>
            <a:r>
              <a:rPr kumimoji="1" lang="zh-TW" altLang="en-US" dirty="0"/>
              <a:t> </a:t>
            </a:r>
            <a:r>
              <a:rPr kumimoji="1" lang="en-US" altLang="zh-TW" dirty="0"/>
              <a:t>is</a:t>
            </a:r>
            <a:r>
              <a:rPr kumimoji="1" lang="zh-TW" altLang="en-US" dirty="0"/>
              <a:t> </a:t>
            </a:r>
            <a:r>
              <a:rPr kumimoji="1" lang="en-US" altLang="zh-TW" dirty="0"/>
              <a:t>my</a:t>
            </a:r>
            <a:r>
              <a:rPr kumimoji="1" lang="zh-TW" altLang="en-US" dirty="0"/>
              <a:t> </a:t>
            </a:r>
            <a:r>
              <a:rPr kumimoji="1" lang="en-US" altLang="zh-TW" dirty="0"/>
              <a:t>name</a:t>
            </a:r>
            <a:r>
              <a:rPr kumimoji="1" lang="zh-TW" altLang="en-US" dirty="0"/>
              <a:t>」</a:t>
            </a:r>
            <a:endParaRPr kumimoji="1" lang="en-US" altLang="zh-TW" dirty="0"/>
          </a:p>
        </p:txBody>
      </p:sp>
      <p:graphicFrame>
        <p:nvGraphicFramePr>
          <p:cNvPr id="4" name="表格 3">
            <a:extLst>
              <a:ext uri="{FF2B5EF4-FFF2-40B4-BE49-F238E27FC236}">
                <a16:creationId xmlns:a16="http://schemas.microsoft.com/office/drawing/2014/main" id="{DB7204F0-CCDC-5798-ACEB-A45391376EAC}"/>
              </a:ext>
            </a:extLst>
          </p:cNvPr>
          <p:cNvGraphicFramePr>
            <a:graphicFrameLocks noGrp="1"/>
          </p:cNvGraphicFramePr>
          <p:nvPr>
            <p:extLst>
              <p:ext uri="{D42A27DB-BD31-4B8C-83A1-F6EECF244321}">
                <p14:modId xmlns:p14="http://schemas.microsoft.com/office/powerpoint/2010/main" val="2386362692"/>
              </p:ext>
            </p:extLst>
          </p:nvPr>
        </p:nvGraphicFramePr>
        <p:xfrm>
          <a:off x="2032000" y="5054998"/>
          <a:ext cx="81280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865327713"/>
                    </a:ext>
                  </a:extLst>
                </a:gridCol>
                <a:gridCol w="1625600">
                  <a:extLst>
                    <a:ext uri="{9D8B030D-6E8A-4147-A177-3AD203B41FA5}">
                      <a16:colId xmlns:a16="http://schemas.microsoft.com/office/drawing/2014/main" val="3742118537"/>
                    </a:ext>
                  </a:extLst>
                </a:gridCol>
                <a:gridCol w="1625600">
                  <a:extLst>
                    <a:ext uri="{9D8B030D-6E8A-4147-A177-3AD203B41FA5}">
                      <a16:colId xmlns:a16="http://schemas.microsoft.com/office/drawing/2014/main" val="1731206244"/>
                    </a:ext>
                  </a:extLst>
                </a:gridCol>
                <a:gridCol w="1625600">
                  <a:extLst>
                    <a:ext uri="{9D8B030D-6E8A-4147-A177-3AD203B41FA5}">
                      <a16:colId xmlns:a16="http://schemas.microsoft.com/office/drawing/2014/main" val="1787593061"/>
                    </a:ext>
                  </a:extLst>
                </a:gridCol>
                <a:gridCol w="1625600">
                  <a:extLst>
                    <a:ext uri="{9D8B030D-6E8A-4147-A177-3AD203B41FA5}">
                      <a16:colId xmlns:a16="http://schemas.microsoft.com/office/drawing/2014/main" val="1362883508"/>
                    </a:ext>
                  </a:extLst>
                </a:gridCol>
              </a:tblGrid>
              <a:tr h="370840">
                <a:tc>
                  <a:txBody>
                    <a:bodyPr/>
                    <a:lstStyle/>
                    <a:p>
                      <a:r>
                        <a:rPr lang="en-US" altLang="zh-TW" dirty="0"/>
                        <a:t>Tom</a:t>
                      </a:r>
                      <a:endParaRPr lang="zh-TW" altLang="en-US" dirty="0"/>
                    </a:p>
                  </a:txBody>
                  <a:tcPr/>
                </a:tc>
                <a:tc>
                  <a:txBody>
                    <a:bodyPr/>
                    <a:lstStyle/>
                    <a:p>
                      <a:r>
                        <a:rPr lang="en-US" altLang="zh-TW" dirty="0"/>
                        <a:t>Hanks</a:t>
                      </a:r>
                      <a:endParaRPr lang="zh-TW" altLang="en-US" dirty="0"/>
                    </a:p>
                  </a:txBody>
                  <a:tcPr/>
                </a:tc>
                <a:tc>
                  <a:txBody>
                    <a:bodyPr/>
                    <a:lstStyle/>
                    <a:p>
                      <a:r>
                        <a:rPr lang="en-US" altLang="zh-TW" dirty="0"/>
                        <a:t>is</a:t>
                      </a:r>
                      <a:endParaRPr lang="zh-TW" altLang="en-US" dirty="0"/>
                    </a:p>
                  </a:txBody>
                  <a:tcPr/>
                </a:tc>
                <a:tc>
                  <a:txBody>
                    <a:bodyPr/>
                    <a:lstStyle/>
                    <a:p>
                      <a:r>
                        <a:rPr lang="en-US" altLang="zh-TW" dirty="0"/>
                        <a:t>my</a:t>
                      </a:r>
                      <a:endParaRPr lang="zh-TW" altLang="en-US" dirty="0"/>
                    </a:p>
                  </a:txBody>
                  <a:tcPr/>
                </a:tc>
                <a:tc>
                  <a:txBody>
                    <a:bodyPr/>
                    <a:lstStyle/>
                    <a:p>
                      <a:r>
                        <a:rPr lang="en-US" altLang="zh-TW" dirty="0"/>
                        <a:t>name</a:t>
                      </a:r>
                      <a:endParaRPr lang="zh-TW" altLang="en-US" dirty="0"/>
                    </a:p>
                  </a:txBody>
                  <a:tcPr/>
                </a:tc>
                <a:extLst>
                  <a:ext uri="{0D108BD9-81ED-4DB2-BD59-A6C34878D82A}">
                    <a16:rowId xmlns:a16="http://schemas.microsoft.com/office/drawing/2014/main" val="101707516"/>
                  </a:ext>
                </a:extLst>
              </a:tr>
              <a:tr h="370840">
                <a:tc>
                  <a:txBody>
                    <a:bodyPr/>
                    <a:lstStyle/>
                    <a:p>
                      <a:r>
                        <a:rPr lang="en-US" altLang="zh-TW" dirty="0"/>
                        <a:t>B-PER</a:t>
                      </a:r>
                      <a:endParaRPr lang="zh-TW" altLang="en-US" dirty="0"/>
                    </a:p>
                  </a:txBody>
                  <a:tcPr/>
                </a:tc>
                <a:tc>
                  <a:txBody>
                    <a:bodyPr/>
                    <a:lstStyle/>
                    <a:p>
                      <a:r>
                        <a:rPr lang="en-US" altLang="zh-TW" dirty="0"/>
                        <a:t>I-PER</a:t>
                      </a:r>
                      <a:endParaRPr lang="zh-TW" altLang="en-US" dirty="0"/>
                    </a:p>
                  </a:txBody>
                  <a:tcPr/>
                </a:tc>
                <a:tc>
                  <a:txBody>
                    <a:bodyPr/>
                    <a:lstStyle/>
                    <a:p>
                      <a:r>
                        <a:rPr lang="en-US" altLang="zh-TW" dirty="0"/>
                        <a:t>O</a:t>
                      </a:r>
                      <a:endParaRPr lang="zh-TW" altLang="en-US" dirty="0"/>
                    </a:p>
                  </a:txBody>
                  <a:tcPr/>
                </a:tc>
                <a:tc>
                  <a:txBody>
                    <a:bodyPr/>
                    <a:lstStyle/>
                    <a:p>
                      <a:r>
                        <a:rPr lang="en-US" altLang="zh-TW" dirty="0"/>
                        <a:t>O</a:t>
                      </a:r>
                      <a:endParaRPr lang="zh-TW" altLang="en-US" dirty="0"/>
                    </a:p>
                  </a:txBody>
                  <a:tcPr/>
                </a:tc>
                <a:tc>
                  <a:txBody>
                    <a:bodyPr/>
                    <a:lstStyle/>
                    <a:p>
                      <a:r>
                        <a:rPr lang="en-US" altLang="zh-TW" dirty="0"/>
                        <a:t>O</a:t>
                      </a:r>
                      <a:endParaRPr lang="zh-TW" altLang="en-US" dirty="0"/>
                    </a:p>
                  </a:txBody>
                  <a:tcPr/>
                </a:tc>
                <a:extLst>
                  <a:ext uri="{0D108BD9-81ED-4DB2-BD59-A6C34878D82A}">
                    <a16:rowId xmlns:a16="http://schemas.microsoft.com/office/drawing/2014/main" val="836228947"/>
                  </a:ext>
                </a:extLst>
              </a:tr>
            </a:tbl>
          </a:graphicData>
        </a:graphic>
      </p:graphicFrame>
    </p:spTree>
    <p:extLst>
      <p:ext uri="{BB962C8B-B14F-4D97-AF65-F5344CB8AC3E}">
        <p14:creationId xmlns:p14="http://schemas.microsoft.com/office/powerpoint/2010/main" val="3417841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0968C3-F8B2-3801-150B-5E4B8AC8F4CB}"/>
              </a:ext>
            </a:extLst>
          </p:cNvPr>
          <p:cNvSpPr>
            <a:spLocks noGrp="1"/>
          </p:cNvSpPr>
          <p:nvPr>
            <p:ph type="title"/>
          </p:nvPr>
        </p:nvSpPr>
        <p:spPr/>
        <p:txBody>
          <a:bodyPr/>
          <a:lstStyle/>
          <a:p>
            <a:r>
              <a:rPr kumimoji="1" lang="en-US" altLang="zh-TW" dirty="0"/>
              <a:t>CoNLL2003</a:t>
            </a:r>
            <a:endParaRPr kumimoji="1" lang="zh-TW" altLang="en-US" dirty="0"/>
          </a:p>
        </p:txBody>
      </p:sp>
      <p:sp>
        <p:nvSpPr>
          <p:cNvPr id="3" name="內容版面配置區 2">
            <a:extLst>
              <a:ext uri="{FF2B5EF4-FFF2-40B4-BE49-F238E27FC236}">
                <a16:creationId xmlns:a16="http://schemas.microsoft.com/office/drawing/2014/main" id="{A2C9103A-7300-4B21-1E8C-7F3991ABE376}"/>
              </a:ext>
            </a:extLst>
          </p:cNvPr>
          <p:cNvSpPr>
            <a:spLocks noGrp="1"/>
          </p:cNvSpPr>
          <p:nvPr>
            <p:ph idx="1"/>
          </p:nvPr>
        </p:nvSpPr>
        <p:spPr>
          <a:xfrm>
            <a:off x="838200" y="1825625"/>
            <a:ext cx="10515600" cy="4667250"/>
          </a:xfrm>
        </p:spPr>
        <p:txBody>
          <a:bodyPr>
            <a:normAutofit fontScale="77500" lnSpcReduction="20000"/>
          </a:bodyPr>
          <a:lstStyle/>
          <a:p>
            <a:pPr>
              <a:lnSpc>
                <a:spcPct val="120000"/>
              </a:lnSpc>
            </a:pPr>
            <a:r>
              <a:rPr kumimoji="1" lang="en" altLang="zh-TW" dirty="0"/>
              <a:t>CoNLL-2003</a:t>
            </a:r>
            <a:r>
              <a:rPr kumimoji="1" lang="zh-TW" altLang="en-US" dirty="0"/>
              <a:t>是一個命名實體識別資料集，作為 </a:t>
            </a:r>
            <a:r>
              <a:rPr kumimoji="1" lang="en" altLang="zh-TW" dirty="0"/>
              <a:t>CoNLL-2003 </a:t>
            </a:r>
            <a:r>
              <a:rPr kumimoji="1" lang="zh-TW" altLang="en-US" dirty="0"/>
              <a:t>共享任務的一部分發布</a:t>
            </a:r>
            <a:endParaRPr kumimoji="1" lang="en-US" altLang="zh-TW" dirty="0"/>
          </a:p>
          <a:p>
            <a:pPr lvl="1">
              <a:lnSpc>
                <a:spcPct val="120000"/>
              </a:lnSpc>
            </a:pPr>
            <a:r>
              <a:rPr kumimoji="1" lang="zh-TW" altLang="en-US" dirty="0"/>
              <a:t>與語言無關的命名實體識別。</a:t>
            </a:r>
            <a:endParaRPr kumimoji="1" lang="en-US" altLang="zh-TW" dirty="0"/>
          </a:p>
          <a:p>
            <a:pPr lvl="1">
              <a:lnSpc>
                <a:spcPct val="120000"/>
              </a:lnSpc>
            </a:pPr>
            <a:r>
              <a:rPr kumimoji="1" lang="zh-TW" altLang="en-US" dirty="0"/>
              <a:t>這些數據由八個文件組成，涵蓋兩種語言：英語和德語。</a:t>
            </a:r>
            <a:endParaRPr kumimoji="1" lang="en-US" altLang="zh-TW" dirty="0"/>
          </a:p>
          <a:p>
            <a:pPr lvl="1">
              <a:lnSpc>
                <a:spcPct val="120000"/>
              </a:lnSpc>
            </a:pPr>
            <a:r>
              <a:rPr kumimoji="1" lang="zh-TW" altLang="en-US" dirty="0"/>
              <a:t>對於每種語言，都有一個訓練文件、一個開發文件、一個測試文件和一個包含未註釋資料的大文件。</a:t>
            </a:r>
          </a:p>
          <a:p>
            <a:pPr>
              <a:lnSpc>
                <a:spcPct val="120000"/>
              </a:lnSpc>
            </a:pPr>
            <a:r>
              <a:rPr kumimoji="1" lang="zh-TW" altLang="en-US" dirty="0"/>
              <a:t>英文資料取自路透社語料庫。</a:t>
            </a:r>
            <a:endParaRPr kumimoji="1" lang="en-US" altLang="zh-TW" dirty="0"/>
          </a:p>
          <a:p>
            <a:pPr lvl="1">
              <a:lnSpc>
                <a:spcPct val="120000"/>
              </a:lnSpc>
            </a:pPr>
            <a:r>
              <a:rPr kumimoji="1" lang="zh-TW" altLang="en-US" dirty="0"/>
              <a:t>該語料庫由</a:t>
            </a:r>
            <a:r>
              <a:rPr kumimoji="1" lang="en-US" altLang="zh-TW" dirty="0"/>
              <a:t>1996 </a:t>
            </a:r>
            <a:r>
              <a:rPr kumimoji="1" lang="zh-TW" altLang="en-US" dirty="0"/>
              <a:t>年</a:t>
            </a:r>
            <a:r>
              <a:rPr kumimoji="1" lang="en-US" altLang="zh-TW" dirty="0"/>
              <a:t>8 </a:t>
            </a:r>
            <a:r>
              <a:rPr kumimoji="1" lang="zh-TW" altLang="en-US" dirty="0"/>
              <a:t>月至</a:t>
            </a:r>
            <a:r>
              <a:rPr kumimoji="1" lang="en-US" altLang="zh-TW" dirty="0"/>
              <a:t>1997 </a:t>
            </a:r>
            <a:r>
              <a:rPr kumimoji="1" lang="zh-TW" altLang="en-US" dirty="0"/>
              <a:t>年</a:t>
            </a:r>
            <a:r>
              <a:rPr kumimoji="1" lang="en-US" altLang="zh-TW" dirty="0"/>
              <a:t>8 </a:t>
            </a:r>
            <a:r>
              <a:rPr kumimoji="1" lang="zh-TW" altLang="en-US" dirty="0"/>
              <a:t>月期間的路透社新聞報導組成。</a:t>
            </a:r>
            <a:endParaRPr kumimoji="1" lang="en-US" altLang="zh-TW" dirty="0"/>
          </a:p>
          <a:p>
            <a:pPr lvl="1">
              <a:lnSpc>
                <a:spcPct val="120000"/>
              </a:lnSpc>
            </a:pPr>
            <a:r>
              <a:rPr kumimoji="1" lang="zh-TW" altLang="en-US" dirty="0"/>
              <a:t>對於訓練和開發集，從代表</a:t>
            </a:r>
            <a:r>
              <a:rPr kumimoji="1" lang="en-US" altLang="zh-TW" dirty="0"/>
              <a:t>1996 </a:t>
            </a:r>
            <a:r>
              <a:rPr kumimoji="1" lang="zh-TW" altLang="en-US" dirty="0"/>
              <a:t>年</a:t>
            </a:r>
            <a:r>
              <a:rPr kumimoji="1" lang="en-US" altLang="zh-TW" dirty="0"/>
              <a:t>8 </a:t>
            </a:r>
            <a:r>
              <a:rPr kumimoji="1" lang="zh-TW" altLang="en-US" dirty="0"/>
              <a:t>月底的文件中獲取了十天的數據。對於測試集，文本來自</a:t>
            </a:r>
            <a:r>
              <a:rPr kumimoji="1" lang="en-US" altLang="zh-TW" dirty="0"/>
              <a:t>1996 </a:t>
            </a:r>
            <a:r>
              <a:rPr kumimoji="1" lang="zh-TW" altLang="en-US" dirty="0"/>
              <a:t>年</a:t>
            </a:r>
            <a:r>
              <a:rPr kumimoji="1" lang="en-US" altLang="zh-TW" dirty="0"/>
              <a:t>12 </a:t>
            </a:r>
            <a:r>
              <a:rPr kumimoji="1" lang="zh-TW" altLang="en-US" dirty="0"/>
              <a:t>月。預處理後的原始資料涵蓋 </a:t>
            </a:r>
            <a:r>
              <a:rPr kumimoji="1" lang="en-US" altLang="zh-TW" dirty="0"/>
              <a:t>1996 </a:t>
            </a:r>
            <a:r>
              <a:rPr kumimoji="1" lang="zh-TW" altLang="en-US" dirty="0"/>
              <a:t>年 </a:t>
            </a:r>
            <a:r>
              <a:rPr kumimoji="1" lang="en-US" altLang="zh-TW" dirty="0"/>
              <a:t>9 </a:t>
            </a:r>
            <a:r>
              <a:rPr kumimoji="1" lang="zh-TW" altLang="en-US" dirty="0"/>
              <a:t>月。</a:t>
            </a:r>
          </a:p>
          <a:p>
            <a:pPr>
              <a:lnSpc>
                <a:spcPct val="120000"/>
              </a:lnSpc>
            </a:pPr>
            <a:r>
              <a:rPr kumimoji="1" lang="zh-TW" altLang="en-US" dirty="0"/>
              <a:t>德語資料的文字取自 </a:t>
            </a:r>
            <a:r>
              <a:rPr kumimoji="1" lang="en" altLang="zh-TW" dirty="0"/>
              <a:t>ECI </a:t>
            </a:r>
            <a:r>
              <a:rPr kumimoji="1" lang="zh-TW" altLang="en-US" dirty="0"/>
              <a:t>多語言文本語料庫。</a:t>
            </a:r>
            <a:endParaRPr kumimoji="1" lang="en-US" altLang="zh-TW" dirty="0"/>
          </a:p>
          <a:p>
            <a:pPr lvl="1">
              <a:lnSpc>
                <a:spcPct val="120000"/>
              </a:lnSpc>
            </a:pPr>
            <a:r>
              <a:rPr kumimoji="1" lang="zh-TW" altLang="en-US" dirty="0"/>
              <a:t>該語料庫由多種語言的文本組成。用於此任務的部分數據是從德國報紙</a:t>
            </a:r>
            <a:r>
              <a:rPr kumimoji="1" lang="en-US" altLang="zh-TW" dirty="0"/>
              <a:t>《</a:t>
            </a:r>
            <a:r>
              <a:rPr kumimoji="1" lang="zh-TW" altLang="en-US" dirty="0"/>
              <a:t>法蘭克福評論報</a:t>
            </a:r>
            <a:r>
              <a:rPr kumimoji="1" lang="en-US" altLang="zh-TW" dirty="0"/>
              <a:t>》</a:t>
            </a:r>
            <a:r>
              <a:rPr kumimoji="1" lang="zh-TW" altLang="en-US" dirty="0"/>
              <a:t>中提取的。所有三個訓練集、開發集和測試集均取自 </a:t>
            </a:r>
            <a:r>
              <a:rPr kumimoji="1" lang="en-US" altLang="zh-TW" dirty="0"/>
              <a:t>1992 </a:t>
            </a:r>
            <a:r>
              <a:rPr kumimoji="1" lang="zh-TW" altLang="en-US" dirty="0"/>
              <a:t>年 </a:t>
            </a:r>
            <a:r>
              <a:rPr kumimoji="1" lang="en-US" altLang="zh-TW" dirty="0"/>
              <a:t>8 </a:t>
            </a:r>
            <a:r>
              <a:rPr kumimoji="1" lang="zh-TW" altLang="en-US" dirty="0"/>
              <a:t>月底一周內撰寫的文章。原始資料取自 </a:t>
            </a:r>
            <a:r>
              <a:rPr kumimoji="1" lang="en-US" altLang="zh-TW" dirty="0"/>
              <a:t>1992 </a:t>
            </a:r>
            <a:r>
              <a:rPr kumimoji="1" lang="zh-TW" altLang="en-US" dirty="0"/>
              <a:t>年 </a:t>
            </a:r>
            <a:r>
              <a:rPr kumimoji="1" lang="en-US" altLang="zh-TW" dirty="0"/>
              <a:t>9 </a:t>
            </a:r>
            <a:r>
              <a:rPr kumimoji="1" lang="zh-TW" altLang="en-US" dirty="0"/>
              <a:t>月至 </a:t>
            </a:r>
            <a:r>
              <a:rPr kumimoji="1" lang="en-US" altLang="zh-TW" dirty="0"/>
              <a:t>12 </a:t>
            </a:r>
            <a:r>
              <a:rPr kumimoji="1" lang="zh-TW" altLang="en-US" dirty="0"/>
              <a:t>月。</a:t>
            </a:r>
          </a:p>
        </p:txBody>
      </p:sp>
    </p:spTree>
    <p:extLst>
      <p:ext uri="{BB962C8B-B14F-4D97-AF65-F5344CB8AC3E}">
        <p14:creationId xmlns:p14="http://schemas.microsoft.com/office/powerpoint/2010/main" val="1831775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E7466F-9AE9-015E-B4EF-828E98C74F44}"/>
              </a:ext>
            </a:extLst>
          </p:cNvPr>
          <p:cNvSpPr>
            <a:spLocks noGrp="1"/>
          </p:cNvSpPr>
          <p:nvPr>
            <p:ph type="title"/>
          </p:nvPr>
        </p:nvSpPr>
        <p:spPr/>
        <p:txBody>
          <a:bodyPr/>
          <a:lstStyle/>
          <a:p>
            <a:r>
              <a:rPr kumimoji="1" lang="en-US" altLang="zh-TW" dirty="0"/>
              <a:t>CoNLL2003</a:t>
            </a:r>
            <a:endParaRPr kumimoji="1" lang="zh-TW" altLang="en-US" dirty="0"/>
          </a:p>
        </p:txBody>
      </p:sp>
      <p:sp>
        <p:nvSpPr>
          <p:cNvPr id="3" name="內容版面配置區 2">
            <a:extLst>
              <a:ext uri="{FF2B5EF4-FFF2-40B4-BE49-F238E27FC236}">
                <a16:creationId xmlns:a16="http://schemas.microsoft.com/office/drawing/2014/main" id="{C61F32CB-C495-BE4D-0697-2E4223E9D3C1}"/>
              </a:ext>
            </a:extLst>
          </p:cNvPr>
          <p:cNvSpPr>
            <a:spLocks noGrp="1"/>
          </p:cNvSpPr>
          <p:nvPr>
            <p:ph idx="1"/>
          </p:nvPr>
        </p:nvSpPr>
        <p:spPr/>
        <p:txBody>
          <a:bodyPr/>
          <a:lstStyle/>
          <a:p>
            <a:r>
              <a:rPr lang="zh-TW" altLang="en-US" dirty="0">
                <a:hlinkClick r:id="rId2"/>
              </a:rPr>
              <a:t>https://www.clips.uantwerpen.be/conll2003/ner/</a:t>
            </a:r>
            <a:endParaRPr kumimoji="1" lang="en-US" altLang="zh-TW" dirty="0"/>
          </a:p>
          <a:p>
            <a:r>
              <a:rPr kumimoji="1" lang="zh-TW" altLang="en-US" dirty="0"/>
              <a:t>重點放在四種類型的命名實體</a:t>
            </a:r>
            <a:endParaRPr kumimoji="1" lang="en-US" altLang="zh-TW" dirty="0"/>
          </a:p>
          <a:p>
            <a:pPr lvl="1"/>
            <a:r>
              <a:rPr kumimoji="1" lang="en" altLang="zh-TW" dirty="0"/>
              <a:t>Persons</a:t>
            </a:r>
          </a:p>
          <a:p>
            <a:pPr lvl="1"/>
            <a:r>
              <a:rPr kumimoji="1" lang="en" altLang="zh-TW" dirty="0"/>
              <a:t>Locations</a:t>
            </a:r>
          </a:p>
          <a:p>
            <a:pPr lvl="1"/>
            <a:r>
              <a:rPr kumimoji="1" lang="en" altLang="zh-TW" dirty="0"/>
              <a:t>Organizations</a:t>
            </a:r>
          </a:p>
          <a:p>
            <a:pPr lvl="1"/>
            <a:r>
              <a:rPr kumimoji="1" lang="en" altLang="zh-TW" dirty="0"/>
              <a:t>names of miscellaneous entities</a:t>
            </a:r>
            <a:r>
              <a:rPr kumimoji="1" lang="zh-TW" altLang="en-US" dirty="0"/>
              <a:t> </a:t>
            </a:r>
            <a:r>
              <a:rPr kumimoji="1" lang="en-US" altLang="zh-TW" dirty="0"/>
              <a:t>(</a:t>
            </a:r>
            <a:r>
              <a:rPr kumimoji="1" lang="zh-TW" altLang="en-US" dirty="0"/>
              <a:t>就是其它的意思</a:t>
            </a:r>
            <a:r>
              <a:rPr kumimoji="1" lang="en-US" altLang="zh-TW" dirty="0"/>
              <a:t>)</a:t>
            </a:r>
            <a:endParaRPr kumimoji="1" lang="zh-TW" altLang="en-US" dirty="0"/>
          </a:p>
        </p:txBody>
      </p:sp>
      <p:pic>
        <p:nvPicPr>
          <p:cNvPr id="4" name="圖片 3">
            <a:extLst>
              <a:ext uri="{FF2B5EF4-FFF2-40B4-BE49-F238E27FC236}">
                <a16:creationId xmlns:a16="http://schemas.microsoft.com/office/drawing/2014/main" id="{CD9E367E-E735-C16B-AB1E-A63E083B04BC}"/>
              </a:ext>
            </a:extLst>
          </p:cNvPr>
          <p:cNvPicPr>
            <a:picLocks noChangeAspect="1"/>
          </p:cNvPicPr>
          <p:nvPr/>
        </p:nvPicPr>
        <p:blipFill>
          <a:blip r:embed="rId3"/>
          <a:stretch>
            <a:fillRect/>
          </a:stretch>
        </p:blipFill>
        <p:spPr>
          <a:xfrm>
            <a:off x="3770630" y="4602163"/>
            <a:ext cx="3187700" cy="1574800"/>
          </a:xfrm>
          <a:prstGeom prst="rect">
            <a:avLst/>
          </a:prstGeom>
          <a:ln>
            <a:solidFill>
              <a:schemeClr val="tx1"/>
            </a:solidFill>
          </a:ln>
        </p:spPr>
      </p:pic>
    </p:spTree>
    <p:extLst>
      <p:ext uri="{BB962C8B-B14F-4D97-AF65-F5344CB8AC3E}">
        <p14:creationId xmlns:p14="http://schemas.microsoft.com/office/powerpoint/2010/main" val="3995415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B1D191-E657-D6A5-8179-B2A6C1BC445D}"/>
              </a:ext>
            </a:extLst>
          </p:cNvPr>
          <p:cNvSpPr>
            <a:spLocks noGrp="1"/>
          </p:cNvSpPr>
          <p:nvPr>
            <p:ph type="title"/>
          </p:nvPr>
        </p:nvSpPr>
        <p:spPr/>
        <p:txBody>
          <a:bodyPr/>
          <a:lstStyle/>
          <a:p>
            <a:r>
              <a:rPr lang="en-US" altLang="zh-TW" dirty="0"/>
              <a:t>CoNLL2003</a:t>
            </a:r>
            <a:endParaRPr kumimoji="1" lang="zh-TW" altLang="en-US" dirty="0"/>
          </a:p>
        </p:txBody>
      </p:sp>
      <p:sp>
        <p:nvSpPr>
          <p:cNvPr id="3" name="內容版面配置區 2">
            <a:extLst>
              <a:ext uri="{FF2B5EF4-FFF2-40B4-BE49-F238E27FC236}">
                <a16:creationId xmlns:a16="http://schemas.microsoft.com/office/drawing/2014/main" id="{93B14D0B-549E-8285-5DD6-2C2F669D8805}"/>
              </a:ext>
            </a:extLst>
          </p:cNvPr>
          <p:cNvSpPr>
            <a:spLocks noGrp="1"/>
          </p:cNvSpPr>
          <p:nvPr>
            <p:ph idx="1"/>
          </p:nvPr>
        </p:nvSpPr>
        <p:spPr/>
        <p:txBody>
          <a:bodyPr/>
          <a:lstStyle/>
          <a:p>
            <a:r>
              <a:rPr kumimoji="1" lang="zh-TW" altLang="en-US" dirty="0"/>
              <a:t>數據成果</a:t>
            </a:r>
          </a:p>
        </p:txBody>
      </p:sp>
      <p:pic>
        <p:nvPicPr>
          <p:cNvPr id="4" name="Picture 2">
            <a:extLst>
              <a:ext uri="{FF2B5EF4-FFF2-40B4-BE49-F238E27FC236}">
                <a16:creationId xmlns:a16="http://schemas.microsoft.com/office/drawing/2014/main" id="{4FDF565E-1BDD-A6C1-E015-5DE4BAD3B8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2576"/>
            <a:ext cx="12192000" cy="3297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575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F9CBB9-BD0B-B86C-1D5D-DEBF8535A252}"/>
              </a:ext>
            </a:extLst>
          </p:cNvPr>
          <p:cNvSpPr>
            <a:spLocks noGrp="1"/>
          </p:cNvSpPr>
          <p:nvPr>
            <p:ph type="title"/>
          </p:nvPr>
        </p:nvSpPr>
        <p:spPr/>
        <p:txBody>
          <a:bodyPr/>
          <a:lstStyle/>
          <a:p>
            <a:r>
              <a:rPr kumimoji="1" lang="en-US" altLang="zh-TW" dirty="0"/>
              <a:t>CoNLL2003</a:t>
            </a:r>
            <a:endParaRPr kumimoji="1" lang="zh-TW" altLang="en-US" dirty="0"/>
          </a:p>
        </p:txBody>
      </p:sp>
      <p:sp>
        <p:nvSpPr>
          <p:cNvPr id="3" name="內容版面配置區 2">
            <a:extLst>
              <a:ext uri="{FF2B5EF4-FFF2-40B4-BE49-F238E27FC236}">
                <a16:creationId xmlns:a16="http://schemas.microsoft.com/office/drawing/2014/main" id="{B4051D80-D9B4-EFCB-4E92-D962CB7A965C}"/>
              </a:ext>
            </a:extLst>
          </p:cNvPr>
          <p:cNvSpPr>
            <a:spLocks noGrp="1"/>
          </p:cNvSpPr>
          <p:nvPr>
            <p:ph idx="1"/>
          </p:nvPr>
        </p:nvSpPr>
        <p:spPr/>
        <p:txBody>
          <a:bodyPr/>
          <a:lstStyle/>
          <a:p>
            <a:r>
              <a:rPr kumimoji="1" lang="en-US" altLang="zh-TW" dirty="0" err="1"/>
              <a:t>PaperwithCode</a:t>
            </a:r>
            <a:r>
              <a:rPr kumimoji="1" lang="zh-TW" altLang="en-US" dirty="0"/>
              <a:t>上面的成果</a:t>
            </a:r>
            <a:endParaRPr kumimoji="1" lang="en-US" altLang="zh-TW" dirty="0"/>
          </a:p>
          <a:p>
            <a:pPr lvl="1"/>
            <a:r>
              <a:rPr kumimoji="1" lang="en" altLang="zh-TW" dirty="0">
                <a:hlinkClick r:id="rId2"/>
              </a:rPr>
              <a:t>https://paperswithcode.com/sota/named-entity-recognition-ner-on-conll-2003</a:t>
            </a:r>
            <a:endParaRPr kumimoji="1" lang="zh-TW" altLang="en-US" dirty="0"/>
          </a:p>
        </p:txBody>
      </p:sp>
      <p:pic>
        <p:nvPicPr>
          <p:cNvPr id="4" name="圖片 3">
            <a:extLst>
              <a:ext uri="{FF2B5EF4-FFF2-40B4-BE49-F238E27FC236}">
                <a16:creationId xmlns:a16="http://schemas.microsoft.com/office/drawing/2014/main" id="{E3E8507C-772E-6DFC-3F1E-867C6BD2634E}"/>
              </a:ext>
            </a:extLst>
          </p:cNvPr>
          <p:cNvPicPr>
            <a:picLocks noChangeAspect="1"/>
          </p:cNvPicPr>
          <p:nvPr/>
        </p:nvPicPr>
        <p:blipFill>
          <a:blip r:embed="rId3"/>
          <a:stretch>
            <a:fillRect/>
          </a:stretch>
        </p:blipFill>
        <p:spPr>
          <a:xfrm>
            <a:off x="2134496" y="3195203"/>
            <a:ext cx="7772400" cy="2981760"/>
          </a:xfrm>
          <a:prstGeom prst="rect">
            <a:avLst/>
          </a:prstGeom>
          <a:ln>
            <a:solidFill>
              <a:schemeClr val="tx1"/>
            </a:solidFill>
          </a:ln>
        </p:spPr>
      </p:pic>
    </p:spTree>
    <p:extLst>
      <p:ext uri="{BB962C8B-B14F-4D97-AF65-F5344CB8AC3E}">
        <p14:creationId xmlns:p14="http://schemas.microsoft.com/office/powerpoint/2010/main" val="30669782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B5C168-AB20-884B-B674-B78401D7F760}"/>
              </a:ext>
            </a:extLst>
          </p:cNvPr>
          <p:cNvSpPr>
            <a:spLocks noGrp="1"/>
          </p:cNvSpPr>
          <p:nvPr>
            <p:ph type="title"/>
          </p:nvPr>
        </p:nvSpPr>
        <p:spPr/>
        <p:txBody>
          <a:bodyPr>
            <a:normAutofit/>
          </a:bodyPr>
          <a:lstStyle/>
          <a:p>
            <a:r>
              <a:rPr lang="zh-TW" altLang="en-US" dirty="0"/>
              <a:t>混洧矩陣</a:t>
            </a:r>
            <a:endParaRPr kumimoji="1" lang="zh-TW" altLang="en-US" dirty="0"/>
          </a:p>
        </p:txBody>
      </p:sp>
      <p:sp>
        <p:nvSpPr>
          <p:cNvPr id="3" name="內容版面配置區 2">
            <a:extLst>
              <a:ext uri="{FF2B5EF4-FFF2-40B4-BE49-F238E27FC236}">
                <a16:creationId xmlns:a16="http://schemas.microsoft.com/office/drawing/2014/main" id="{7B2E02C2-60EE-4244-9613-55332EC1F8C8}"/>
              </a:ext>
            </a:extLst>
          </p:cNvPr>
          <p:cNvSpPr>
            <a:spLocks noGrp="1"/>
          </p:cNvSpPr>
          <p:nvPr>
            <p:ph idx="1"/>
          </p:nvPr>
        </p:nvSpPr>
        <p:spPr/>
        <p:txBody>
          <a:bodyPr/>
          <a:lstStyle/>
          <a:p>
            <a:pPr fontAlgn="base"/>
            <a:r>
              <a:rPr lang="zh-TW" altLang="en-US" dirty="0"/>
              <a:t>在機器學習中，最常見的就是分類模型，像是垃圾郵件分類、手寫數字判定等等</a:t>
            </a:r>
          </a:p>
          <a:p>
            <a:pPr fontAlgn="base"/>
            <a:r>
              <a:rPr lang="zh-TW" altLang="en-US" dirty="0"/>
              <a:t>那我們要怎麼去判定一個分類模型表現的到底好不好，基本上混淆矩陣</a:t>
            </a:r>
            <a:r>
              <a:rPr lang="en-US" altLang="zh-TW" dirty="0"/>
              <a:t>(</a:t>
            </a:r>
            <a:r>
              <a:rPr lang="en" altLang="zh-TW" dirty="0"/>
              <a:t>confusion matrix)</a:t>
            </a:r>
            <a:r>
              <a:rPr lang="zh-TW" altLang="en-US" dirty="0"/>
              <a:t>的各項指標會被拿來參考</a:t>
            </a:r>
          </a:p>
          <a:p>
            <a:endParaRPr kumimoji="1" lang="zh-TW" altLang="en-US" dirty="0"/>
          </a:p>
        </p:txBody>
      </p:sp>
      <p:graphicFrame>
        <p:nvGraphicFramePr>
          <p:cNvPr id="6" name="表格 6">
            <a:extLst>
              <a:ext uri="{FF2B5EF4-FFF2-40B4-BE49-F238E27FC236}">
                <a16:creationId xmlns:a16="http://schemas.microsoft.com/office/drawing/2014/main" id="{A7BBB78E-79C7-9541-941C-16F637B5E184}"/>
              </a:ext>
            </a:extLst>
          </p:cNvPr>
          <p:cNvGraphicFramePr>
            <a:graphicFrameLocks noGrp="1"/>
          </p:cNvGraphicFramePr>
          <p:nvPr/>
        </p:nvGraphicFramePr>
        <p:xfrm>
          <a:off x="1777357" y="4151978"/>
          <a:ext cx="8127999" cy="1836000"/>
        </p:xfrm>
        <a:graphic>
          <a:graphicData uri="http://schemas.openxmlformats.org/drawingml/2006/table">
            <a:tbl>
              <a:tblPr firstRow="1" bandRow="1">
                <a:tableStyleId>{74C1A8A3-306A-4EB7-A6B1-4F7E0EB9C5D6}</a:tableStyleId>
              </a:tblPr>
              <a:tblGrid>
                <a:gridCol w="2709333">
                  <a:extLst>
                    <a:ext uri="{9D8B030D-6E8A-4147-A177-3AD203B41FA5}">
                      <a16:colId xmlns:a16="http://schemas.microsoft.com/office/drawing/2014/main" val="2710440085"/>
                    </a:ext>
                  </a:extLst>
                </a:gridCol>
                <a:gridCol w="2709333">
                  <a:extLst>
                    <a:ext uri="{9D8B030D-6E8A-4147-A177-3AD203B41FA5}">
                      <a16:colId xmlns:a16="http://schemas.microsoft.com/office/drawing/2014/main" val="4143559584"/>
                    </a:ext>
                  </a:extLst>
                </a:gridCol>
                <a:gridCol w="2709333">
                  <a:extLst>
                    <a:ext uri="{9D8B030D-6E8A-4147-A177-3AD203B41FA5}">
                      <a16:colId xmlns:a16="http://schemas.microsoft.com/office/drawing/2014/main" val="1804081493"/>
                    </a:ext>
                  </a:extLst>
                </a:gridCol>
              </a:tblGrid>
              <a:tr h="612000">
                <a:tc>
                  <a:txBody>
                    <a:bodyPr/>
                    <a:lstStyle/>
                    <a:p>
                      <a:pPr algn="ctr" rtl="0" fontAlgn="ctr">
                        <a:spcBef>
                          <a:spcPts val="0"/>
                        </a:spcBef>
                        <a:spcAft>
                          <a:spcPts val="0"/>
                        </a:spcAft>
                      </a:pPr>
                      <a:r>
                        <a:rPr lang="en-US" altLang="zh-TW" sz="1800" b="0" u="none" strike="noStrike" dirty="0">
                          <a:solidFill>
                            <a:srgbClr val="000000"/>
                          </a:solidFill>
                          <a:effectLst/>
                        </a:rPr>
                        <a:t>\</a:t>
                      </a:r>
                      <a:endParaRPr lang="zh-TW" altLang="en-US" dirty="0">
                        <a:effectLst/>
                      </a:endParaRPr>
                    </a:p>
                  </a:txBody>
                  <a:tcPr marL="57150" marR="57150" marT="57150" marB="57150" anchor="ctr"/>
                </a:tc>
                <a:tc>
                  <a:txBody>
                    <a:bodyPr/>
                    <a:lstStyle/>
                    <a:p>
                      <a:pPr algn="ctr" rtl="0" fontAlgn="ctr">
                        <a:spcBef>
                          <a:spcPts val="0"/>
                        </a:spcBef>
                        <a:spcAft>
                          <a:spcPts val="0"/>
                        </a:spcAft>
                      </a:pPr>
                      <a:r>
                        <a:rPr lang="zh-TW" altLang="en-US" sz="1800" b="0" u="none" strike="noStrike">
                          <a:solidFill>
                            <a:srgbClr val="000000"/>
                          </a:solidFill>
                          <a:effectLst/>
                        </a:rPr>
                        <a:t>實際為真</a:t>
                      </a:r>
                      <a:endParaRPr lang="zh-TW" altLang="en-US">
                        <a:effectLst/>
                      </a:endParaRPr>
                    </a:p>
                  </a:txBody>
                  <a:tcPr marL="57150" marR="57150" marT="57150" marB="57150" anchor="ctr"/>
                </a:tc>
                <a:tc>
                  <a:txBody>
                    <a:bodyPr/>
                    <a:lstStyle/>
                    <a:p>
                      <a:pPr algn="ctr" rtl="0" fontAlgn="ctr">
                        <a:spcBef>
                          <a:spcPts val="0"/>
                        </a:spcBef>
                        <a:spcAft>
                          <a:spcPts val="0"/>
                        </a:spcAft>
                      </a:pPr>
                      <a:r>
                        <a:rPr lang="zh-TW" altLang="en-US" sz="1800" b="0" u="none" strike="noStrike">
                          <a:solidFill>
                            <a:srgbClr val="000000"/>
                          </a:solidFill>
                          <a:effectLst/>
                        </a:rPr>
                        <a:t>實際為假</a:t>
                      </a:r>
                      <a:endParaRPr lang="zh-TW" altLang="en-US">
                        <a:effectLst/>
                      </a:endParaRPr>
                    </a:p>
                  </a:txBody>
                  <a:tcPr marL="57150" marR="57150" marT="57150" marB="57150" anchor="ctr"/>
                </a:tc>
                <a:extLst>
                  <a:ext uri="{0D108BD9-81ED-4DB2-BD59-A6C34878D82A}">
                    <a16:rowId xmlns:a16="http://schemas.microsoft.com/office/drawing/2014/main" val="1779241566"/>
                  </a:ext>
                </a:extLst>
              </a:tr>
              <a:tr h="612000">
                <a:tc>
                  <a:txBody>
                    <a:bodyPr/>
                    <a:lstStyle/>
                    <a:p>
                      <a:pPr rtl="0" fontAlgn="ctr">
                        <a:spcBef>
                          <a:spcPts val="0"/>
                        </a:spcBef>
                        <a:spcAft>
                          <a:spcPts val="0"/>
                        </a:spcAft>
                      </a:pPr>
                      <a:r>
                        <a:rPr lang="zh-TW" altLang="en-US" sz="1800" b="1" u="none" strike="noStrike">
                          <a:solidFill>
                            <a:srgbClr val="000000"/>
                          </a:solidFill>
                          <a:effectLst/>
                        </a:rPr>
                        <a:t>預測為真</a:t>
                      </a:r>
                      <a:endParaRPr lang="zh-TW" altLang="en-US">
                        <a:effectLst/>
                      </a:endParaRPr>
                    </a:p>
                  </a:txBody>
                  <a:tcPr marL="57150" marR="57150" marT="57150" marB="57150" anchor="ctr"/>
                </a:tc>
                <a:tc>
                  <a:txBody>
                    <a:bodyPr/>
                    <a:lstStyle/>
                    <a:p>
                      <a:pPr rtl="0" fontAlgn="ctr">
                        <a:spcBef>
                          <a:spcPts val="0"/>
                        </a:spcBef>
                        <a:spcAft>
                          <a:spcPts val="0"/>
                        </a:spcAft>
                      </a:pPr>
                      <a:r>
                        <a:rPr lang="en" sz="1800" b="0" u="none" strike="noStrike" dirty="0">
                          <a:solidFill>
                            <a:srgbClr val="000000"/>
                          </a:solidFill>
                          <a:effectLst/>
                        </a:rPr>
                        <a:t>TP(</a:t>
                      </a:r>
                      <a:r>
                        <a:rPr lang="en" sz="1800" b="1" u="none" strike="noStrike" dirty="0">
                          <a:solidFill>
                            <a:srgbClr val="000000"/>
                          </a:solidFill>
                          <a:effectLst/>
                        </a:rPr>
                        <a:t>T</a:t>
                      </a:r>
                      <a:r>
                        <a:rPr lang="en" sz="1800" b="0" u="none" strike="noStrike" dirty="0">
                          <a:solidFill>
                            <a:srgbClr val="000000"/>
                          </a:solidFill>
                          <a:effectLst/>
                        </a:rPr>
                        <a:t>rue </a:t>
                      </a:r>
                      <a:r>
                        <a:rPr lang="en" sz="1800" b="1" u="none" strike="noStrike" dirty="0">
                          <a:solidFill>
                            <a:srgbClr val="000000"/>
                          </a:solidFill>
                          <a:effectLst/>
                        </a:rPr>
                        <a:t>P</a:t>
                      </a:r>
                      <a:r>
                        <a:rPr lang="en" sz="1800" b="0" u="none" strike="noStrike" dirty="0">
                          <a:solidFill>
                            <a:srgbClr val="000000"/>
                          </a:solidFill>
                          <a:effectLst/>
                        </a:rPr>
                        <a:t>ositive)</a:t>
                      </a:r>
                      <a:endParaRPr lang="en" dirty="0">
                        <a:effectLst/>
                      </a:endParaRPr>
                    </a:p>
                  </a:txBody>
                  <a:tcPr marL="57150" marR="57150" marT="57150" marB="57150" anchor="ctr"/>
                </a:tc>
                <a:tc>
                  <a:txBody>
                    <a:bodyPr/>
                    <a:lstStyle/>
                    <a:p>
                      <a:pPr rtl="0" fontAlgn="ctr">
                        <a:spcBef>
                          <a:spcPts val="0"/>
                        </a:spcBef>
                        <a:spcAft>
                          <a:spcPts val="0"/>
                        </a:spcAft>
                      </a:pPr>
                      <a:r>
                        <a:rPr lang="en" sz="1800" b="0" u="none" strike="noStrike">
                          <a:solidFill>
                            <a:srgbClr val="000000"/>
                          </a:solidFill>
                          <a:effectLst/>
                        </a:rPr>
                        <a:t>FP(</a:t>
                      </a:r>
                      <a:r>
                        <a:rPr lang="en" sz="1800" b="1" u="none" strike="noStrike">
                          <a:solidFill>
                            <a:srgbClr val="000000"/>
                          </a:solidFill>
                          <a:effectLst/>
                        </a:rPr>
                        <a:t>F</a:t>
                      </a:r>
                      <a:r>
                        <a:rPr lang="en" sz="1800" b="0" u="none" strike="noStrike">
                          <a:solidFill>
                            <a:srgbClr val="000000"/>
                          </a:solidFill>
                          <a:effectLst/>
                        </a:rPr>
                        <a:t>alse </a:t>
                      </a:r>
                      <a:r>
                        <a:rPr lang="en" sz="1800" b="1" u="none" strike="noStrike">
                          <a:solidFill>
                            <a:srgbClr val="000000"/>
                          </a:solidFill>
                          <a:effectLst/>
                        </a:rPr>
                        <a:t>P</a:t>
                      </a:r>
                      <a:r>
                        <a:rPr lang="en" sz="1800" b="0" u="none" strike="noStrike">
                          <a:solidFill>
                            <a:srgbClr val="000000"/>
                          </a:solidFill>
                          <a:effectLst/>
                        </a:rPr>
                        <a:t>ositive)</a:t>
                      </a:r>
                      <a:endParaRPr lang="en">
                        <a:effectLst/>
                      </a:endParaRPr>
                    </a:p>
                  </a:txBody>
                  <a:tcPr marL="57150" marR="57150" marT="57150" marB="57150" anchor="ctr"/>
                </a:tc>
                <a:extLst>
                  <a:ext uri="{0D108BD9-81ED-4DB2-BD59-A6C34878D82A}">
                    <a16:rowId xmlns:a16="http://schemas.microsoft.com/office/drawing/2014/main" val="4216971675"/>
                  </a:ext>
                </a:extLst>
              </a:tr>
              <a:tr h="612000">
                <a:tc>
                  <a:txBody>
                    <a:bodyPr/>
                    <a:lstStyle/>
                    <a:p>
                      <a:pPr rtl="0" fontAlgn="ctr">
                        <a:spcBef>
                          <a:spcPts val="0"/>
                        </a:spcBef>
                        <a:spcAft>
                          <a:spcPts val="0"/>
                        </a:spcAft>
                      </a:pPr>
                      <a:r>
                        <a:rPr lang="zh-TW" altLang="en-US" sz="1800" b="1" u="none" strike="noStrike">
                          <a:solidFill>
                            <a:srgbClr val="000000"/>
                          </a:solidFill>
                          <a:effectLst/>
                        </a:rPr>
                        <a:t>預測為假</a:t>
                      </a:r>
                      <a:endParaRPr lang="zh-TW" altLang="en-US">
                        <a:effectLst/>
                      </a:endParaRPr>
                    </a:p>
                  </a:txBody>
                  <a:tcPr marL="57150" marR="57150" marT="57150" marB="57150" anchor="ctr"/>
                </a:tc>
                <a:tc>
                  <a:txBody>
                    <a:bodyPr/>
                    <a:lstStyle/>
                    <a:p>
                      <a:pPr rtl="0" fontAlgn="ctr">
                        <a:spcBef>
                          <a:spcPts val="0"/>
                        </a:spcBef>
                        <a:spcAft>
                          <a:spcPts val="0"/>
                        </a:spcAft>
                      </a:pPr>
                      <a:r>
                        <a:rPr lang="en" sz="1800" b="0" u="none" strike="noStrike" dirty="0">
                          <a:solidFill>
                            <a:srgbClr val="000000"/>
                          </a:solidFill>
                          <a:effectLst/>
                        </a:rPr>
                        <a:t>FN(</a:t>
                      </a:r>
                      <a:r>
                        <a:rPr lang="en" sz="1800" b="1" u="none" strike="noStrike" dirty="0">
                          <a:solidFill>
                            <a:srgbClr val="000000"/>
                          </a:solidFill>
                          <a:effectLst/>
                        </a:rPr>
                        <a:t>F</a:t>
                      </a:r>
                      <a:r>
                        <a:rPr lang="en" sz="1800" b="0" u="none" strike="noStrike" dirty="0">
                          <a:solidFill>
                            <a:srgbClr val="000000"/>
                          </a:solidFill>
                          <a:effectLst/>
                        </a:rPr>
                        <a:t>alse </a:t>
                      </a:r>
                      <a:r>
                        <a:rPr lang="en" sz="1800" b="1" u="none" strike="noStrike" dirty="0">
                          <a:solidFill>
                            <a:srgbClr val="000000"/>
                          </a:solidFill>
                          <a:effectLst/>
                        </a:rPr>
                        <a:t>N</a:t>
                      </a:r>
                      <a:r>
                        <a:rPr lang="en" sz="1800" b="0" u="none" strike="noStrike" dirty="0">
                          <a:solidFill>
                            <a:srgbClr val="000000"/>
                          </a:solidFill>
                          <a:effectLst/>
                        </a:rPr>
                        <a:t>egative)</a:t>
                      </a:r>
                      <a:endParaRPr lang="en" dirty="0">
                        <a:effectLst/>
                      </a:endParaRPr>
                    </a:p>
                  </a:txBody>
                  <a:tcPr marL="57150" marR="57150" marT="57150" marB="57150" anchor="ctr"/>
                </a:tc>
                <a:tc>
                  <a:txBody>
                    <a:bodyPr/>
                    <a:lstStyle/>
                    <a:p>
                      <a:pPr rtl="0" fontAlgn="ctr">
                        <a:spcBef>
                          <a:spcPts val="0"/>
                        </a:spcBef>
                        <a:spcAft>
                          <a:spcPts val="0"/>
                        </a:spcAft>
                      </a:pPr>
                      <a:r>
                        <a:rPr lang="en" sz="1800" b="0" u="none" strike="noStrike" dirty="0">
                          <a:solidFill>
                            <a:srgbClr val="000000"/>
                          </a:solidFill>
                          <a:effectLst/>
                        </a:rPr>
                        <a:t>TN(</a:t>
                      </a:r>
                      <a:r>
                        <a:rPr lang="en" sz="1800" b="1" u="none" strike="noStrike" dirty="0">
                          <a:solidFill>
                            <a:srgbClr val="000000"/>
                          </a:solidFill>
                          <a:effectLst/>
                        </a:rPr>
                        <a:t>T</a:t>
                      </a:r>
                      <a:r>
                        <a:rPr lang="en" sz="1800" b="0" u="none" strike="noStrike" dirty="0">
                          <a:solidFill>
                            <a:srgbClr val="000000"/>
                          </a:solidFill>
                          <a:effectLst/>
                        </a:rPr>
                        <a:t>rue </a:t>
                      </a:r>
                      <a:r>
                        <a:rPr lang="en" sz="1800" b="1" u="none" strike="noStrike" dirty="0">
                          <a:solidFill>
                            <a:srgbClr val="000000"/>
                          </a:solidFill>
                          <a:effectLst/>
                        </a:rPr>
                        <a:t>N</a:t>
                      </a:r>
                      <a:r>
                        <a:rPr lang="en" sz="1800" b="0" u="none" strike="noStrike" dirty="0">
                          <a:solidFill>
                            <a:srgbClr val="000000"/>
                          </a:solidFill>
                          <a:effectLst/>
                        </a:rPr>
                        <a:t>egative)</a:t>
                      </a:r>
                      <a:endParaRPr lang="en" dirty="0">
                        <a:effectLst/>
                      </a:endParaRPr>
                    </a:p>
                  </a:txBody>
                  <a:tcPr marL="57150" marR="57150" marT="57150" marB="57150" anchor="ctr"/>
                </a:tc>
                <a:extLst>
                  <a:ext uri="{0D108BD9-81ED-4DB2-BD59-A6C34878D82A}">
                    <a16:rowId xmlns:a16="http://schemas.microsoft.com/office/drawing/2014/main" val="3365752279"/>
                  </a:ext>
                </a:extLst>
              </a:tr>
            </a:tbl>
          </a:graphicData>
        </a:graphic>
      </p:graphicFrame>
    </p:spTree>
    <p:extLst>
      <p:ext uri="{BB962C8B-B14F-4D97-AF65-F5344CB8AC3E}">
        <p14:creationId xmlns:p14="http://schemas.microsoft.com/office/powerpoint/2010/main" val="36616110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C7D2CE-7938-2ED0-38D8-D1955B3123AB}"/>
              </a:ext>
            </a:extLst>
          </p:cNvPr>
          <p:cNvSpPr>
            <a:spLocks noGrp="1"/>
          </p:cNvSpPr>
          <p:nvPr>
            <p:ph type="title"/>
          </p:nvPr>
        </p:nvSpPr>
        <p:spPr/>
        <p:txBody>
          <a:bodyPr/>
          <a:lstStyle/>
          <a:p>
            <a:r>
              <a:rPr kumimoji="1" lang="zh-TW" altLang="en-US" dirty="0"/>
              <a:t>條件隨機場</a:t>
            </a:r>
            <a:r>
              <a:rPr kumimoji="1" lang="en-US" altLang="zh-TW" dirty="0"/>
              <a:t>(</a:t>
            </a:r>
            <a:r>
              <a:rPr kumimoji="1" lang="en" altLang="zh-TW" dirty="0"/>
              <a:t>Conditional Random Fields, CRFs)</a:t>
            </a:r>
            <a:endParaRPr kumimoji="1" lang="zh-TW" altLang="en-US" dirty="0"/>
          </a:p>
        </p:txBody>
      </p:sp>
      <p:sp>
        <p:nvSpPr>
          <p:cNvPr id="3" name="內容版面配置區 2">
            <a:extLst>
              <a:ext uri="{FF2B5EF4-FFF2-40B4-BE49-F238E27FC236}">
                <a16:creationId xmlns:a16="http://schemas.microsoft.com/office/drawing/2014/main" id="{559CA117-859E-2DD2-2760-E7B19BBC7ABC}"/>
              </a:ext>
            </a:extLst>
          </p:cNvPr>
          <p:cNvSpPr>
            <a:spLocks noGrp="1"/>
          </p:cNvSpPr>
          <p:nvPr>
            <p:ph idx="1"/>
          </p:nvPr>
        </p:nvSpPr>
        <p:spPr>
          <a:xfrm>
            <a:off x="838200" y="1825625"/>
            <a:ext cx="10515600" cy="4667250"/>
          </a:xfrm>
        </p:spPr>
        <p:txBody>
          <a:bodyPr>
            <a:normAutofit/>
          </a:bodyPr>
          <a:lstStyle/>
          <a:p>
            <a:r>
              <a:rPr kumimoji="1" lang="zh-TW" altLang="en-US" dirty="0"/>
              <a:t>隱形馬可夫模型（</a:t>
            </a:r>
            <a:r>
              <a:rPr kumimoji="1" lang="en" altLang="zh-TW" dirty="0"/>
              <a:t>Hidden Markov Models</a:t>
            </a:r>
            <a:r>
              <a:rPr kumimoji="1" lang="zh-TW" altLang="en" dirty="0"/>
              <a:t>，</a:t>
            </a:r>
            <a:r>
              <a:rPr kumimoji="1" lang="en" altLang="zh-TW" dirty="0"/>
              <a:t>HMMs</a:t>
            </a:r>
            <a:r>
              <a:rPr kumimoji="1" lang="zh-TW" altLang="en" dirty="0"/>
              <a:t>）</a:t>
            </a:r>
          </a:p>
          <a:p>
            <a:pPr lvl="1"/>
            <a:r>
              <a:rPr kumimoji="1" lang="en" altLang="zh-TW" dirty="0"/>
              <a:t>HMMs</a:t>
            </a:r>
            <a:r>
              <a:rPr kumimoji="1" lang="zh-TW" altLang="en-US" dirty="0"/>
              <a:t>是建立狀態序列和觀測序列的一個生成模型</a:t>
            </a:r>
            <a:r>
              <a:rPr kumimoji="1" lang="en-US" altLang="zh-TW" dirty="0"/>
              <a:t>(</a:t>
            </a:r>
            <a:r>
              <a:rPr kumimoji="1" lang="en" altLang="zh-TW" dirty="0"/>
              <a:t>Generative Model)</a:t>
            </a:r>
            <a:r>
              <a:rPr kumimoji="1" lang="zh-TW" altLang="en" dirty="0"/>
              <a:t>。</a:t>
            </a:r>
            <a:r>
              <a:rPr kumimoji="1" lang="zh-TW" altLang="en-US" dirty="0"/>
              <a:t>因為是生成模型，所以它是建立在聯合機率下的模型</a:t>
            </a:r>
            <a:endParaRPr kumimoji="1" lang="en-US" altLang="zh-TW" dirty="0"/>
          </a:p>
          <a:p>
            <a:pPr lvl="2"/>
            <a:r>
              <a:rPr kumimoji="1" lang="en" altLang="zh-TW" dirty="0"/>
              <a:t>p(</a:t>
            </a:r>
            <a:r>
              <a:rPr kumimoji="1" lang="zh-TW" altLang="en-US" dirty="0"/>
              <a:t>觀測序列，狀態序列</a:t>
            </a:r>
            <a:r>
              <a:rPr kumimoji="1" lang="en-US" altLang="zh-TW" dirty="0"/>
              <a:t>)</a:t>
            </a:r>
            <a:r>
              <a:rPr kumimoji="1" lang="zh-TW" altLang="en-US" dirty="0"/>
              <a:t>。</a:t>
            </a:r>
          </a:p>
          <a:p>
            <a:endParaRPr kumimoji="1" lang="en-US" altLang="zh-TW" dirty="0"/>
          </a:p>
          <a:p>
            <a:endParaRPr kumimoji="1" lang="en-US" altLang="zh-TW" dirty="0"/>
          </a:p>
          <a:p>
            <a:endParaRPr kumimoji="1" lang="en-US" altLang="zh-TW" dirty="0"/>
          </a:p>
          <a:p>
            <a:endParaRPr kumimoji="1" lang="en-US" altLang="zh-TW" dirty="0"/>
          </a:p>
          <a:p>
            <a:endParaRPr kumimoji="1" lang="zh-TW" altLang="en-US" dirty="0"/>
          </a:p>
          <a:p>
            <a:r>
              <a:rPr kumimoji="1" lang="zh-TW" altLang="en-US" dirty="0"/>
              <a:t>但是，</a:t>
            </a:r>
            <a:r>
              <a:rPr kumimoji="1" lang="en" altLang="zh-TW" dirty="0"/>
              <a:t>HMMs</a:t>
            </a:r>
            <a:r>
              <a:rPr kumimoji="1" lang="zh-TW" altLang="en-US" dirty="0"/>
              <a:t>的某一個觀察值僅僅依賴於對應的狀態節點。</a:t>
            </a:r>
          </a:p>
          <a:p>
            <a:endParaRPr kumimoji="1" lang="zh-TW" altLang="en-US" dirty="0"/>
          </a:p>
        </p:txBody>
      </p:sp>
      <p:pic>
        <p:nvPicPr>
          <p:cNvPr id="3074" name="Picture 2">
            <a:extLst>
              <a:ext uri="{FF2B5EF4-FFF2-40B4-BE49-F238E27FC236}">
                <a16:creationId xmlns:a16="http://schemas.microsoft.com/office/drawing/2014/main" id="{3192CF8A-4FD7-39F7-FAC4-F7F5BEEA66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7890" y="3385075"/>
            <a:ext cx="4909073" cy="217840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FE8ED0BD-C1D0-629E-70D3-A8449A1B6CFC}"/>
              </a:ext>
            </a:extLst>
          </p:cNvPr>
          <p:cNvSpPr txBox="1"/>
          <p:nvPr/>
        </p:nvSpPr>
        <p:spPr>
          <a:xfrm>
            <a:off x="5832436" y="6443146"/>
            <a:ext cx="6099586" cy="369332"/>
          </a:xfrm>
          <a:prstGeom prst="rect">
            <a:avLst/>
          </a:prstGeom>
          <a:noFill/>
        </p:spPr>
        <p:txBody>
          <a:bodyPr wrap="square">
            <a:spAutoFit/>
          </a:bodyPr>
          <a:lstStyle/>
          <a:p>
            <a:r>
              <a:rPr lang="zh-TW" altLang="en-US" dirty="0"/>
              <a:t>https://link.springer.com/article/10.1007/s10772-015-9303-7</a:t>
            </a:r>
          </a:p>
        </p:txBody>
      </p:sp>
      <p:pic>
        <p:nvPicPr>
          <p:cNvPr id="6" name="圖片 5">
            <a:extLst>
              <a:ext uri="{FF2B5EF4-FFF2-40B4-BE49-F238E27FC236}">
                <a16:creationId xmlns:a16="http://schemas.microsoft.com/office/drawing/2014/main" id="{F05FD72B-00E5-56D0-6E70-D0241D63278F}"/>
              </a:ext>
            </a:extLst>
          </p:cNvPr>
          <p:cNvPicPr>
            <a:picLocks noChangeAspect="1"/>
          </p:cNvPicPr>
          <p:nvPr/>
        </p:nvPicPr>
        <p:blipFill>
          <a:blip r:embed="rId3"/>
          <a:stretch>
            <a:fillRect/>
          </a:stretch>
        </p:blipFill>
        <p:spPr>
          <a:xfrm>
            <a:off x="7196418" y="4023334"/>
            <a:ext cx="4038600" cy="495300"/>
          </a:xfrm>
          <a:prstGeom prst="rect">
            <a:avLst/>
          </a:prstGeom>
        </p:spPr>
      </p:pic>
    </p:spTree>
    <p:extLst>
      <p:ext uri="{BB962C8B-B14F-4D97-AF65-F5344CB8AC3E}">
        <p14:creationId xmlns:p14="http://schemas.microsoft.com/office/powerpoint/2010/main" val="26631381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A3FF83-9321-6E0D-9B48-8221836155B2}"/>
              </a:ext>
            </a:extLst>
          </p:cNvPr>
          <p:cNvSpPr>
            <a:spLocks noGrp="1"/>
          </p:cNvSpPr>
          <p:nvPr>
            <p:ph type="title"/>
          </p:nvPr>
        </p:nvSpPr>
        <p:spPr/>
        <p:txBody>
          <a:bodyPr/>
          <a:lstStyle/>
          <a:p>
            <a:r>
              <a:rPr kumimoji="1" lang="zh-TW" altLang="en-US" dirty="0"/>
              <a:t>條件隨機場</a:t>
            </a:r>
            <a:r>
              <a:rPr kumimoji="1" lang="en-US" altLang="zh-TW" dirty="0"/>
              <a:t>(</a:t>
            </a:r>
            <a:r>
              <a:rPr kumimoji="1" lang="en" altLang="zh-TW" dirty="0"/>
              <a:t>Conditional Random Fields, CRFs)</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829FF25-13E9-5A7A-8338-E94E964948AD}"/>
                  </a:ext>
                </a:extLst>
              </p:cNvPr>
              <p:cNvSpPr>
                <a:spLocks noGrp="1"/>
              </p:cNvSpPr>
              <p:nvPr>
                <p:ph idx="1"/>
              </p:nvPr>
            </p:nvSpPr>
            <p:spPr/>
            <p:txBody>
              <a:bodyPr>
                <a:normAutofit/>
              </a:bodyPr>
              <a:lstStyle/>
              <a:p>
                <a:r>
                  <a:rPr kumimoji="1" lang="zh-TW" altLang="en-US" dirty="0"/>
                  <a:t>但是，這樣的</a:t>
                </a:r>
                <a:r>
                  <a:rPr kumimoji="1" lang="en" altLang="zh-TW" dirty="0"/>
                  <a:t>HMMs</a:t>
                </a:r>
                <a:r>
                  <a:rPr kumimoji="1" lang="zh-TW" altLang="en-US" dirty="0"/>
                  <a:t>模型在實際應用中是存在不足的</a:t>
                </a:r>
                <a:endParaRPr kumimoji="1" lang="en-US" altLang="zh-TW" dirty="0"/>
              </a:p>
              <a:p>
                <a:r>
                  <a:rPr kumimoji="1" lang="zh-TW" altLang="en-US" dirty="0"/>
                  <a:t>以詞性標註為例。</a:t>
                </a:r>
              </a:p>
              <a:p>
                <a:pPr marL="971550" lvl="1" indent="-514350">
                  <a:buFont typeface="+mj-lt"/>
                  <a:buAutoNum type="arabicPeriod"/>
                </a:pPr>
                <a:r>
                  <a:rPr kumimoji="1" lang="zh-TW" altLang="en-US" dirty="0"/>
                  <a:t>詞性標註中，詞彙的詞性取決於上下文，甚至和“空白”與“標點符號”都存在關係。而</a:t>
                </a:r>
                <a:r>
                  <a:rPr kumimoji="1" lang="en" altLang="zh-TW" dirty="0"/>
                  <a:t>HMMs</a:t>
                </a:r>
                <a:r>
                  <a:rPr kumimoji="1" lang="zh-TW" altLang="en-US" dirty="0"/>
                  <a:t>無法滿足這樣的關係。</a:t>
                </a:r>
                <a:endParaRPr kumimoji="1" lang="en-US" altLang="zh-TW" dirty="0"/>
              </a:p>
              <a:p>
                <a:pPr marL="971550" lvl="1" indent="-514350">
                  <a:buFont typeface="+mj-lt"/>
                  <a:buAutoNum type="arabicPeriod"/>
                </a:pPr>
                <a:r>
                  <a:rPr kumimoji="1" lang="zh-TW" altLang="en-US" dirty="0"/>
                  <a:t>作為</a:t>
                </a:r>
                <a:r>
                  <a:rPr kumimoji="1" lang="en" altLang="zh-TW" dirty="0"/>
                  <a:t>generative model</a:t>
                </a:r>
                <a:r>
                  <a:rPr kumimoji="1" lang="zh-TW" altLang="en" dirty="0"/>
                  <a:t>，</a:t>
                </a:r>
                <a:r>
                  <a:rPr kumimoji="1" lang="zh-TW" altLang="en-US" dirty="0"/>
                  <a:t>他在</a:t>
                </a:r>
                <a:r>
                  <a:rPr kumimoji="1" lang="en" altLang="zh-TW" dirty="0"/>
                  <a:t>learning</a:t>
                </a:r>
                <a:r>
                  <a:rPr kumimoji="1" lang="zh-TW" altLang="en-US" dirty="0"/>
                  <a:t>階段的</a:t>
                </a:r>
                <a:r>
                  <a:rPr kumimoji="1" lang="en" altLang="zh-TW" dirty="0"/>
                  <a:t>objective function</a:t>
                </a:r>
                <a:r>
                  <a:rPr kumimoji="1" lang="zh-TW" altLang="en-US" dirty="0"/>
                  <a:t>為</a:t>
                </a:r>
                <a:r>
                  <a:rPr kumimoji="1" lang="en" altLang="zh-TW" dirty="0"/>
                  <a:t>p(W, T)</a:t>
                </a:r>
                <a:r>
                  <a:rPr kumimoji="1" lang="zh-TW" altLang="en" dirty="0"/>
                  <a:t>。</a:t>
                </a:r>
                <a:r>
                  <a:rPr kumimoji="1" lang="zh-TW" altLang="en-US" dirty="0"/>
                  <a:t>在</a:t>
                </a:r>
                <a:r>
                  <a:rPr kumimoji="1" lang="en" altLang="zh-TW" dirty="0"/>
                  <a:t>prediction</a:t>
                </a:r>
                <a:r>
                  <a:rPr kumimoji="1" lang="zh-TW" altLang="en-US" dirty="0"/>
                  <a:t>階段的</a:t>
                </a:r>
                <a:r>
                  <a:rPr kumimoji="1" lang="en" altLang="zh-TW" dirty="0"/>
                  <a:t>objective function</a:t>
                </a:r>
                <a:r>
                  <a:rPr kumimoji="1" lang="zh-TW" altLang="en-US" dirty="0"/>
                  <a:t>為</a:t>
                </a:r>
                <a:r>
                  <a:rPr kumimoji="1" lang="en" altLang="zh-TW" dirty="0"/>
                  <a:t>p(T|W)</a:t>
                </a:r>
                <a:r>
                  <a:rPr kumimoji="1" lang="zh-TW" altLang="en" dirty="0"/>
                  <a:t>。</a:t>
                </a:r>
                <a:endParaRPr kumimoji="1" lang="zh-TW" altLang="en-US" dirty="0"/>
              </a:p>
              <a:p>
                <a:r>
                  <a:rPr kumimoji="1" lang="zh-TW" altLang="en-US" dirty="0"/>
                  <a:t>因此有必要直接建模在</a:t>
                </a:r>
                <a:r>
                  <a:rPr kumimoji="1" lang="en" altLang="zh-TW" dirty="0"/>
                  <a:t>p(T|W)</a:t>
                </a:r>
                <a:r>
                  <a:rPr kumimoji="1" lang="zh-TW" altLang="en-US" dirty="0"/>
                  <a:t>上，且</a:t>
                </a:r>
                <a:r>
                  <a:rPr kumimoji="1" lang="en" altLang="zh-TW" dirty="0"/>
                  <a:t>W</a:t>
                </a:r>
                <a:r>
                  <a:rPr kumimoji="1" lang="zh-TW" altLang="en-US" dirty="0"/>
                  <a:t>可以與任意 </a:t>
                </a:r>
                <a14:m>
                  <m:oMath xmlns:m="http://schemas.openxmlformats.org/officeDocument/2006/math">
                    <m:sSub>
                      <m:sSubPr>
                        <m:ctrlPr>
                          <a:rPr kumimoji="1" lang="en-US" altLang="zh-TW" i="1" smtClean="0">
                            <a:latin typeface="Cambria Math" panose="02040503050406030204" pitchFamily="18" charset="0"/>
                          </a:rPr>
                        </m:ctrlPr>
                      </m:sSubPr>
                      <m:e>
                        <m:r>
                          <m:rPr>
                            <m:sty m:val="p"/>
                          </m:rPr>
                          <a:rPr kumimoji="1" lang="en-US" altLang="zh-TW" i="1">
                            <a:latin typeface="Cambria Math" panose="02040503050406030204" pitchFamily="18" charset="0"/>
                          </a:rPr>
                          <m:t>T</m:t>
                        </m:r>
                      </m:e>
                      <m:sub>
                        <m:r>
                          <m:rPr>
                            <m:sty m:val="p"/>
                          </m:rPr>
                          <a:rPr kumimoji="1" lang="en-US" altLang="zh-TW" i="1">
                            <a:latin typeface="Cambria Math" panose="02040503050406030204" pitchFamily="18" charset="0"/>
                          </a:rPr>
                          <m:t>i</m:t>
                        </m:r>
                      </m:sub>
                    </m:sSub>
                  </m:oMath>
                </a14:m>
                <a:r>
                  <a:rPr kumimoji="1" lang="zh-TW" altLang="en-US" dirty="0"/>
                  <a:t>之間存在關聯（條件機率關係）</a:t>
                </a:r>
                <a:endParaRPr kumimoji="1" lang="en-US" altLang="zh-TW" dirty="0"/>
              </a:p>
              <a:p>
                <a:r>
                  <a:rPr kumimoji="1" lang="zh-TW" altLang="en-US" dirty="0"/>
                  <a:t>引入了條件隨機場</a:t>
                </a:r>
                <a:r>
                  <a:rPr kumimoji="1" lang="en-US" altLang="zh-TW" dirty="0"/>
                  <a:t>(</a:t>
                </a:r>
                <a:r>
                  <a:rPr kumimoji="1" lang="en" altLang="zh-TW" dirty="0"/>
                  <a:t>Conditional Random Fields, CRFs)</a:t>
                </a:r>
                <a:r>
                  <a:rPr kumimoji="1" lang="zh-TW" altLang="en" dirty="0"/>
                  <a:t>。</a:t>
                </a:r>
                <a:endParaRPr kumimoji="1" lang="zh-TW" altLang="en-US" dirty="0"/>
              </a:p>
            </p:txBody>
          </p:sp>
        </mc:Choice>
        <mc:Fallback xmlns="">
          <p:sp>
            <p:nvSpPr>
              <p:cNvPr id="3" name="內容版面配置區 2">
                <a:extLst>
                  <a:ext uri="{FF2B5EF4-FFF2-40B4-BE49-F238E27FC236}">
                    <a16:creationId xmlns:a16="http://schemas.microsoft.com/office/drawing/2014/main" id="{8829FF25-13E9-5A7A-8338-E94E964948AD}"/>
                  </a:ext>
                </a:extLst>
              </p:cNvPr>
              <p:cNvSpPr>
                <a:spLocks noGrp="1" noRot="1" noChangeAspect="1" noMove="1" noResize="1" noEditPoints="1" noAdjustHandles="1" noChangeArrowheads="1" noChangeShapeType="1" noTextEdit="1"/>
              </p:cNvSpPr>
              <p:nvPr>
                <p:ph idx="1"/>
              </p:nvPr>
            </p:nvSpPr>
            <p:spPr>
              <a:blipFill>
                <a:blip r:embed="rId2"/>
                <a:stretch>
                  <a:fillRect l="-1086" t="-2616" r="-60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124514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B53A34-CE24-557E-D377-19EA5B2BA977}"/>
              </a:ext>
            </a:extLst>
          </p:cNvPr>
          <p:cNvSpPr>
            <a:spLocks noGrp="1"/>
          </p:cNvSpPr>
          <p:nvPr>
            <p:ph type="title"/>
          </p:nvPr>
        </p:nvSpPr>
        <p:spPr/>
        <p:txBody>
          <a:bodyPr/>
          <a:lstStyle/>
          <a:p>
            <a:r>
              <a:rPr kumimoji="1" lang="zh-TW" altLang="en-US" dirty="0"/>
              <a:t>條件隨機場</a:t>
            </a:r>
            <a:r>
              <a:rPr kumimoji="1" lang="en-US" altLang="zh-TW" dirty="0"/>
              <a:t>(</a:t>
            </a:r>
            <a:r>
              <a:rPr kumimoji="1" lang="en" altLang="zh-TW" dirty="0"/>
              <a:t>Conditional Random Fields, CRFs)</a:t>
            </a:r>
            <a:endParaRPr kumimoji="1" lang="zh-TW" altLang="en-US" dirty="0"/>
          </a:p>
        </p:txBody>
      </p:sp>
      <p:sp>
        <p:nvSpPr>
          <p:cNvPr id="3" name="內容版面配置區 2">
            <a:extLst>
              <a:ext uri="{FF2B5EF4-FFF2-40B4-BE49-F238E27FC236}">
                <a16:creationId xmlns:a16="http://schemas.microsoft.com/office/drawing/2014/main" id="{B771C53D-BC69-7683-43AA-A0E1AFFDCFC6}"/>
              </a:ext>
            </a:extLst>
          </p:cNvPr>
          <p:cNvSpPr>
            <a:spLocks noGrp="1"/>
          </p:cNvSpPr>
          <p:nvPr>
            <p:ph idx="1"/>
          </p:nvPr>
        </p:nvSpPr>
        <p:spPr/>
        <p:txBody>
          <a:bodyPr/>
          <a:lstStyle/>
          <a:p>
            <a:r>
              <a:rPr kumimoji="1" lang="en" altLang="zh-TW" dirty="0">
                <a:hlinkClick r:id="rId2"/>
              </a:rPr>
              <a:t>https://github.com/leonjyentub/practical-nlp-code/blob/master/Ch5/02_NERTraining.ipynb</a:t>
            </a:r>
            <a:endParaRPr kumimoji="1" lang="en" altLang="zh-TW" dirty="0"/>
          </a:p>
          <a:p>
            <a:r>
              <a:rPr kumimoji="1" lang="zh-TW" altLang="en" dirty="0"/>
              <a:t>條</a:t>
            </a:r>
            <a:r>
              <a:rPr kumimoji="1" lang="zh-TW" altLang="en-US" dirty="0"/>
              <a:t>件隨機場是流行的序列分類器訓練演算法之一</a:t>
            </a:r>
            <a:endParaRPr kumimoji="1" lang="en-US" altLang="zh-TW" dirty="0"/>
          </a:p>
          <a:p>
            <a:r>
              <a:rPr kumimoji="1" lang="zh-TW" altLang="en-US" dirty="0"/>
              <a:t>使用</a:t>
            </a:r>
            <a:r>
              <a:rPr kumimoji="1" lang="en-US" altLang="zh-TW" dirty="0"/>
              <a:t>CONLL-3</a:t>
            </a:r>
            <a:r>
              <a:rPr kumimoji="1" lang="zh-TW" altLang="en-US" dirty="0"/>
              <a:t>資料組</a:t>
            </a:r>
            <a:endParaRPr kumimoji="1" lang="en-US" altLang="zh-TW" dirty="0"/>
          </a:p>
          <a:p>
            <a:r>
              <a:rPr kumimoji="1" lang="zh-TW" altLang="en-US" dirty="0"/>
              <a:t>使用</a:t>
            </a:r>
            <a:r>
              <a:rPr kumimoji="1" lang="en-US" altLang="zh-TW" dirty="0" err="1"/>
              <a:t>sklearn-crfsuite</a:t>
            </a:r>
            <a:endParaRPr kumimoji="1" lang="en-US" altLang="zh-TW" dirty="0"/>
          </a:p>
          <a:p>
            <a:r>
              <a:rPr kumimoji="1" lang="zh-TW" altLang="en-US" dirty="0"/>
              <a:t>使用</a:t>
            </a:r>
            <a:r>
              <a:rPr kumimoji="1" lang="en-US" altLang="zh-TW" dirty="0"/>
              <a:t>BIO</a:t>
            </a:r>
            <a:r>
              <a:rPr kumimoji="1" lang="zh-TW" altLang="en-US" dirty="0"/>
              <a:t>標注</a:t>
            </a:r>
          </a:p>
        </p:txBody>
      </p:sp>
    </p:spTree>
    <p:extLst>
      <p:ext uri="{BB962C8B-B14F-4D97-AF65-F5344CB8AC3E}">
        <p14:creationId xmlns:p14="http://schemas.microsoft.com/office/powerpoint/2010/main" val="47583467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7082</TotalTime>
  <Words>4376</Words>
  <Application>Microsoft Macintosh PowerPoint</Application>
  <PresentationFormat>寬螢幕</PresentationFormat>
  <Paragraphs>443</Paragraphs>
  <Slides>35</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35</vt:i4>
      </vt:variant>
    </vt:vector>
  </HeadingPairs>
  <TitlesOfParts>
    <vt:vector size="41" baseType="lpstr">
      <vt:lpstr>Arial</vt:lpstr>
      <vt:lpstr>Calibri</vt:lpstr>
      <vt:lpstr>Calibri Light</vt:lpstr>
      <vt:lpstr>Cambria Math</vt:lpstr>
      <vt:lpstr>Fira Code</vt:lpstr>
      <vt:lpstr>Office 佈景主題</vt:lpstr>
      <vt:lpstr>自然語言處理中的詞性（POS）標注</vt:lpstr>
      <vt:lpstr>POS Tagging</vt:lpstr>
      <vt:lpstr>POS Tagging</vt:lpstr>
      <vt:lpstr>POS Tagging</vt:lpstr>
      <vt:lpstr>POS Tagging –相關應用：</vt:lpstr>
      <vt:lpstr>POS Tagging - NLTK</vt:lpstr>
      <vt:lpstr>POS Tagging - NLTK</vt:lpstr>
      <vt:lpstr>POS Tagging - NLTK</vt:lpstr>
      <vt:lpstr>POS Tagging - NLTK</vt:lpstr>
      <vt:lpstr>POS Tagging - NLTK</vt:lpstr>
      <vt:lpstr>POS Tagging - NLTK</vt:lpstr>
      <vt:lpstr>POS Tagging - NLTK</vt:lpstr>
      <vt:lpstr>POS Tagging - NLTK</vt:lpstr>
      <vt:lpstr>POS Tagging - NLTK</vt:lpstr>
      <vt:lpstr>POS Tagging - TextBlob</vt:lpstr>
      <vt:lpstr>POS Tagging - spaCy</vt:lpstr>
      <vt:lpstr>POS Tagging - spaCy</vt:lpstr>
      <vt:lpstr>POS Tagging - spaCy</vt:lpstr>
      <vt:lpstr>POS Tagging - spaCy</vt:lpstr>
      <vt:lpstr>POS Tagging - spaCy</vt:lpstr>
      <vt:lpstr>POS Tagging - spaCy</vt:lpstr>
      <vt:lpstr>POS Tagging - spaCy</vt:lpstr>
      <vt:lpstr>POS Tagging - spaCy</vt:lpstr>
      <vt:lpstr>POS Tagging - spaCy</vt:lpstr>
      <vt:lpstr>Named Entity Recognition (NER)</vt:lpstr>
      <vt:lpstr>NER</vt:lpstr>
      <vt:lpstr>NER</vt:lpstr>
      <vt:lpstr>CoNLL2003</vt:lpstr>
      <vt:lpstr>CoNLL2003</vt:lpstr>
      <vt:lpstr>CoNLL2003</vt:lpstr>
      <vt:lpstr>CoNLL2003</vt:lpstr>
      <vt:lpstr>混洧矩陣</vt:lpstr>
      <vt:lpstr>條件隨機場(Conditional Random Fields, CRFs)</vt:lpstr>
      <vt:lpstr>條件隨機場(Conditional Random Fields, CRFs)</vt:lpstr>
      <vt:lpstr>條件隨機場(Conditional Random Fields, CRFs)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自然語言處理中的詞性（POS）標記</dc:title>
  <dc:creator>林俊杰</dc:creator>
  <cp:lastModifiedBy>林俊杰</cp:lastModifiedBy>
  <cp:revision>1</cp:revision>
  <dcterms:created xsi:type="dcterms:W3CDTF">2024-03-12T14:05:08Z</dcterms:created>
  <dcterms:modified xsi:type="dcterms:W3CDTF">2025-12-19T09:19:49Z</dcterms:modified>
</cp:coreProperties>
</file>