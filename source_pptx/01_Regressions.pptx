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366" r:id="rId2"/>
    <p:sldId id="367" r:id="rId3"/>
    <p:sldId id="368" r:id="rId4"/>
    <p:sldId id="369" r:id="rId5"/>
    <p:sldId id="316" r:id="rId6"/>
    <p:sldId id="318" r:id="rId7"/>
    <p:sldId id="319" r:id="rId8"/>
    <p:sldId id="263" r:id="rId9"/>
    <p:sldId id="264" r:id="rId10"/>
    <p:sldId id="306" r:id="rId11"/>
    <p:sldId id="307" r:id="rId12"/>
    <p:sldId id="308" r:id="rId13"/>
    <p:sldId id="371" r:id="rId14"/>
    <p:sldId id="372" r:id="rId15"/>
    <p:sldId id="269" r:id="rId16"/>
    <p:sldId id="377" r:id="rId17"/>
    <p:sldId id="378" r:id="rId18"/>
    <p:sldId id="287" r:id="rId19"/>
    <p:sldId id="373" r:id="rId20"/>
    <p:sldId id="305" r:id="rId21"/>
    <p:sldId id="374" r:id="rId22"/>
    <p:sldId id="375" r:id="rId23"/>
    <p:sldId id="376" r:id="rId24"/>
    <p:sldId id="322" r:id="rId25"/>
    <p:sldId id="274" r:id="rId26"/>
    <p:sldId id="392" r:id="rId27"/>
    <p:sldId id="271" r:id="rId28"/>
    <p:sldId id="272" r:id="rId29"/>
    <p:sldId id="293" r:id="rId30"/>
    <p:sldId id="292" r:id="rId31"/>
    <p:sldId id="294" r:id="rId32"/>
    <p:sldId id="295" r:id="rId33"/>
    <p:sldId id="296" r:id="rId34"/>
    <p:sldId id="297" r:id="rId35"/>
    <p:sldId id="298" r:id="rId36"/>
    <p:sldId id="393" r:id="rId37"/>
    <p:sldId id="394" r:id="rId38"/>
    <p:sldId id="395" r:id="rId39"/>
    <p:sldId id="411" r:id="rId40"/>
    <p:sldId id="299" r:id="rId41"/>
    <p:sldId id="273" r:id="rId42"/>
    <p:sldId id="397" r:id="rId43"/>
    <p:sldId id="398" r:id="rId44"/>
    <p:sldId id="399" r:id="rId45"/>
    <p:sldId id="400" r:id="rId46"/>
    <p:sldId id="401" r:id="rId47"/>
    <p:sldId id="402" r:id="rId48"/>
    <p:sldId id="403" r:id="rId49"/>
    <p:sldId id="404" r:id="rId50"/>
    <p:sldId id="301" r:id="rId51"/>
    <p:sldId id="302" r:id="rId52"/>
    <p:sldId id="303" r:id="rId53"/>
    <p:sldId id="304" r:id="rId54"/>
    <p:sldId id="405" r:id="rId55"/>
    <p:sldId id="406" r:id="rId56"/>
    <p:sldId id="407" r:id="rId57"/>
    <p:sldId id="408" r:id="rId58"/>
    <p:sldId id="409" r:id="rId59"/>
    <p:sldId id="410" r:id="rId60"/>
    <p:sldId id="412" r:id="rId61"/>
    <p:sldId id="413" r:id="rId62"/>
    <p:sldId id="414" r:id="rId63"/>
    <p:sldId id="284" r:id="rId64"/>
    <p:sldId id="286" r:id="rId6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386" autoAdjust="0"/>
    <p:restoredTop sz="94660"/>
  </p:normalViewPr>
  <p:slideViewPr>
    <p:cSldViewPr snapToGrid="0">
      <p:cViewPr varScale="1">
        <p:scale>
          <a:sx n="69" d="100"/>
          <a:sy n="69" d="100"/>
        </p:scale>
        <p:origin x="208" y="1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C3260-20B9-9A47-B16D-EE3F6B74629D}" type="datetimeFigureOut">
              <a:rPr kumimoji="1" lang="zh-TW" altLang="en-US" smtClean="0"/>
              <a:t>2026/7/15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4533E2-F76F-C34D-940F-D0CBAA197F4C}" type="slidenum">
              <a:rPr kumimoji="1" lang="zh-TW" altLang="en-US" smtClean="0"/>
              <a:t>‹#›</a:t>
            </a:fld>
            <a:endParaRPr kumimoji="1" lang="zh-TW" altLang="en-US"/>
          </a:p>
        </p:txBody>
      </p:sp>
    </p:spTree>
    <p:extLst>
      <p:ext uri="{BB962C8B-B14F-4D97-AF65-F5344CB8AC3E}">
        <p14:creationId xmlns:p14="http://schemas.microsoft.com/office/powerpoint/2010/main" val="1287205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a:t>
            </a:fld>
            <a:endParaRPr kumimoji="1" lang="zh-TW" altLang="en-US"/>
          </a:p>
        </p:txBody>
      </p:sp>
    </p:spTree>
    <p:extLst>
      <p:ext uri="{BB962C8B-B14F-4D97-AF65-F5344CB8AC3E}">
        <p14:creationId xmlns:p14="http://schemas.microsoft.com/office/powerpoint/2010/main" val="4007933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a:t>
            </a:fld>
            <a:endParaRPr kumimoji="1" lang="zh-TW" altLang="en-US"/>
          </a:p>
        </p:txBody>
      </p:sp>
    </p:spTree>
    <p:extLst>
      <p:ext uri="{BB962C8B-B14F-4D97-AF65-F5344CB8AC3E}">
        <p14:creationId xmlns:p14="http://schemas.microsoft.com/office/powerpoint/2010/main" val="241429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a:t>
            </a:fld>
            <a:endParaRPr kumimoji="1" lang="zh-TW" altLang="en-US"/>
          </a:p>
        </p:txBody>
      </p:sp>
    </p:spTree>
    <p:extLst>
      <p:ext uri="{BB962C8B-B14F-4D97-AF65-F5344CB8AC3E}">
        <p14:creationId xmlns:p14="http://schemas.microsoft.com/office/powerpoint/2010/main" val="1609509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4</a:t>
            </a:fld>
            <a:endParaRPr kumimoji="1" lang="zh-TW" altLang="en-US"/>
          </a:p>
        </p:txBody>
      </p:sp>
    </p:spTree>
    <p:extLst>
      <p:ext uri="{BB962C8B-B14F-4D97-AF65-F5344CB8AC3E}">
        <p14:creationId xmlns:p14="http://schemas.microsoft.com/office/powerpoint/2010/main" val="63153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5</a:t>
            </a:fld>
            <a:endParaRPr kumimoji="1" lang="zh-TW" altLang="en-US"/>
          </a:p>
        </p:txBody>
      </p:sp>
    </p:spTree>
    <p:extLst>
      <p:ext uri="{BB962C8B-B14F-4D97-AF65-F5344CB8AC3E}">
        <p14:creationId xmlns:p14="http://schemas.microsoft.com/office/powerpoint/2010/main" val="4229144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6</a:t>
            </a:fld>
            <a:endParaRPr kumimoji="1" lang="zh-TW" altLang="en-US"/>
          </a:p>
        </p:txBody>
      </p:sp>
    </p:spTree>
    <p:extLst>
      <p:ext uri="{BB962C8B-B14F-4D97-AF65-F5344CB8AC3E}">
        <p14:creationId xmlns:p14="http://schemas.microsoft.com/office/powerpoint/2010/main" val="2343640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7</a:t>
            </a:fld>
            <a:endParaRPr kumimoji="1" lang="zh-TW" altLang="en-US"/>
          </a:p>
        </p:txBody>
      </p:sp>
    </p:spTree>
    <p:extLst>
      <p:ext uri="{BB962C8B-B14F-4D97-AF65-F5344CB8AC3E}">
        <p14:creationId xmlns:p14="http://schemas.microsoft.com/office/powerpoint/2010/main" val="380532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8</a:t>
            </a:fld>
            <a:endParaRPr kumimoji="1" lang="zh-TW" altLang="en-US"/>
          </a:p>
        </p:txBody>
      </p:sp>
    </p:spTree>
    <p:extLst>
      <p:ext uri="{BB962C8B-B14F-4D97-AF65-F5344CB8AC3E}">
        <p14:creationId xmlns:p14="http://schemas.microsoft.com/office/powerpoint/2010/main" val="2353968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9</a:t>
            </a:fld>
            <a:endParaRPr kumimoji="1" lang="zh-TW" altLang="en-US"/>
          </a:p>
        </p:txBody>
      </p:sp>
    </p:spTree>
    <p:extLst>
      <p:ext uri="{BB962C8B-B14F-4D97-AF65-F5344CB8AC3E}">
        <p14:creationId xmlns:p14="http://schemas.microsoft.com/office/powerpoint/2010/main" val="3703322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10</a:t>
            </a:fld>
            <a:endParaRPr kumimoji="1" lang="zh-TW" altLang="en-US"/>
          </a:p>
        </p:txBody>
      </p:sp>
    </p:spTree>
    <p:extLst>
      <p:ext uri="{BB962C8B-B14F-4D97-AF65-F5344CB8AC3E}">
        <p14:creationId xmlns:p14="http://schemas.microsoft.com/office/powerpoint/2010/main" val="2584889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11</a:t>
            </a:fld>
            <a:endParaRPr kumimoji="1" lang="zh-TW" altLang="en-US"/>
          </a:p>
        </p:txBody>
      </p:sp>
    </p:spTree>
    <p:extLst>
      <p:ext uri="{BB962C8B-B14F-4D97-AF65-F5344CB8AC3E}">
        <p14:creationId xmlns:p14="http://schemas.microsoft.com/office/powerpoint/2010/main" val="543290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12</a:t>
            </a:fld>
            <a:endParaRPr kumimoji="1" lang="zh-TW" altLang="en-US"/>
          </a:p>
        </p:txBody>
      </p:sp>
    </p:spTree>
    <p:extLst>
      <p:ext uri="{BB962C8B-B14F-4D97-AF65-F5344CB8AC3E}">
        <p14:creationId xmlns:p14="http://schemas.microsoft.com/office/powerpoint/2010/main" val="2095714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13</a:t>
            </a:fld>
            <a:endParaRPr kumimoji="1" lang="zh-TW" altLang="en-US"/>
          </a:p>
        </p:txBody>
      </p:sp>
    </p:spTree>
    <p:extLst>
      <p:ext uri="{BB962C8B-B14F-4D97-AF65-F5344CB8AC3E}">
        <p14:creationId xmlns:p14="http://schemas.microsoft.com/office/powerpoint/2010/main" val="31844127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14</a:t>
            </a:fld>
            <a:endParaRPr kumimoji="1" lang="zh-TW" altLang="en-US"/>
          </a:p>
        </p:txBody>
      </p:sp>
    </p:spTree>
    <p:extLst>
      <p:ext uri="{BB962C8B-B14F-4D97-AF65-F5344CB8AC3E}">
        <p14:creationId xmlns:p14="http://schemas.microsoft.com/office/powerpoint/2010/main" val="369920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15</a:t>
            </a:fld>
            <a:endParaRPr kumimoji="1" lang="zh-TW" altLang="en-US"/>
          </a:p>
        </p:txBody>
      </p:sp>
    </p:spTree>
    <p:extLst>
      <p:ext uri="{BB962C8B-B14F-4D97-AF65-F5344CB8AC3E}">
        <p14:creationId xmlns:p14="http://schemas.microsoft.com/office/powerpoint/2010/main" val="679837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16</a:t>
            </a:fld>
            <a:endParaRPr kumimoji="1" lang="zh-TW" altLang="en-US"/>
          </a:p>
        </p:txBody>
      </p:sp>
    </p:spTree>
    <p:extLst>
      <p:ext uri="{BB962C8B-B14F-4D97-AF65-F5344CB8AC3E}">
        <p14:creationId xmlns:p14="http://schemas.microsoft.com/office/powerpoint/2010/main" val="3868689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17</a:t>
            </a:fld>
            <a:endParaRPr kumimoji="1" lang="zh-TW" altLang="en-US"/>
          </a:p>
        </p:txBody>
      </p:sp>
    </p:spTree>
    <p:extLst>
      <p:ext uri="{BB962C8B-B14F-4D97-AF65-F5344CB8AC3E}">
        <p14:creationId xmlns:p14="http://schemas.microsoft.com/office/powerpoint/2010/main" val="10403971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18</a:t>
            </a:fld>
            <a:endParaRPr kumimoji="1" lang="zh-TW" altLang="en-US"/>
          </a:p>
        </p:txBody>
      </p:sp>
    </p:spTree>
    <p:extLst>
      <p:ext uri="{BB962C8B-B14F-4D97-AF65-F5344CB8AC3E}">
        <p14:creationId xmlns:p14="http://schemas.microsoft.com/office/powerpoint/2010/main" val="3255308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19</a:t>
            </a:fld>
            <a:endParaRPr kumimoji="1" lang="zh-TW" altLang="en-US"/>
          </a:p>
        </p:txBody>
      </p:sp>
    </p:spTree>
    <p:extLst>
      <p:ext uri="{BB962C8B-B14F-4D97-AF65-F5344CB8AC3E}">
        <p14:creationId xmlns:p14="http://schemas.microsoft.com/office/powerpoint/2010/main" val="309810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20</a:t>
            </a:fld>
            <a:endParaRPr kumimoji="1" lang="zh-TW" altLang="en-US"/>
          </a:p>
        </p:txBody>
      </p:sp>
    </p:spTree>
    <p:extLst>
      <p:ext uri="{BB962C8B-B14F-4D97-AF65-F5344CB8AC3E}">
        <p14:creationId xmlns:p14="http://schemas.microsoft.com/office/powerpoint/2010/main" val="39057431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21</a:t>
            </a:fld>
            <a:endParaRPr kumimoji="1" lang="zh-TW" altLang="en-US"/>
          </a:p>
        </p:txBody>
      </p:sp>
    </p:spTree>
    <p:extLst>
      <p:ext uri="{BB962C8B-B14F-4D97-AF65-F5344CB8AC3E}">
        <p14:creationId xmlns:p14="http://schemas.microsoft.com/office/powerpoint/2010/main" val="35157536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23</a:t>
            </a:fld>
            <a:endParaRPr kumimoji="1" lang="zh-TW" altLang="en-US"/>
          </a:p>
        </p:txBody>
      </p:sp>
    </p:spTree>
    <p:extLst>
      <p:ext uri="{BB962C8B-B14F-4D97-AF65-F5344CB8AC3E}">
        <p14:creationId xmlns:p14="http://schemas.microsoft.com/office/powerpoint/2010/main" val="371967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24</a:t>
            </a:fld>
            <a:endParaRPr kumimoji="1" lang="zh-TW" altLang="en-US"/>
          </a:p>
        </p:txBody>
      </p:sp>
    </p:spTree>
    <p:extLst>
      <p:ext uri="{BB962C8B-B14F-4D97-AF65-F5344CB8AC3E}">
        <p14:creationId xmlns:p14="http://schemas.microsoft.com/office/powerpoint/2010/main" val="3329863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25</a:t>
            </a:fld>
            <a:endParaRPr kumimoji="1" lang="zh-TW" altLang="en-US"/>
          </a:p>
        </p:txBody>
      </p:sp>
    </p:spTree>
    <p:extLst>
      <p:ext uri="{BB962C8B-B14F-4D97-AF65-F5344CB8AC3E}">
        <p14:creationId xmlns:p14="http://schemas.microsoft.com/office/powerpoint/2010/main" val="99593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27</a:t>
            </a:fld>
            <a:endParaRPr kumimoji="1" lang="zh-TW" altLang="en-US"/>
          </a:p>
        </p:txBody>
      </p:sp>
    </p:spTree>
    <p:extLst>
      <p:ext uri="{BB962C8B-B14F-4D97-AF65-F5344CB8AC3E}">
        <p14:creationId xmlns:p14="http://schemas.microsoft.com/office/powerpoint/2010/main" val="921599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28</a:t>
            </a:fld>
            <a:endParaRPr kumimoji="1" lang="zh-TW" altLang="en-US"/>
          </a:p>
        </p:txBody>
      </p:sp>
    </p:spTree>
    <p:extLst>
      <p:ext uri="{BB962C8B-B14F-4D97-AF65-F5344CB8AC3E}">
        <p14:creationId xmlns:p14="http://schemas.microsoft.com/office/powerpoint/2010/main" val="16243387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29</a:t>
            </a:fld>
            <a:endParaRPr kumimoji="1" lang="zh-TW" altLang="en-US"/>
          </a:p>
        </p:txBody>
      </p:sp>
    </p:spTree>
    <p:extLst>
      <p:ext uri="{BB962C8B-B14F-4D97-AF65-F5344CB8AC3E}">
        <p14:creationId xmlns:p14="http://schemas.microsoft.com/office/powerpoint/2010/main" val="42244550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30</a:t>
            </a:fld>
            <a:endParaRPr kumimoji="1" lang="zh-TW" altLang="en-US"/>
          </a:p>
        </p:txBody>
      </p:sp>
    </p:spTree>
    <p:extLst>
      <p:ext uri="{BB962C8B-B14F-4D97-AF65-F5344CB8AC3E}">
        <p14:creationId xmlns:p14="http://schemas.microsoft.com/office/powerpoint/2010/main" val="27935452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31</a:t>
            </a:fld>
            <a:endParaRPr kumimoji="1" lang="zh-TW" altLang="en-US"/>
          </a:p>
        </p:txBody>
      </p:sp>
    </p:spTree>
    <p:extLst>
      <p:ext uri="{BB962C8B-B14F-4D97-AF65-F5344CB8AC3E}">
        <p14:creationId xmlns:p14="http://schemas.microsoft.com/office/powerpoint/2010/main" val="673890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32</a:t>
            </a:fld>
            <a:endParaRPr kumimoji="1" lang="zh-TW" altLang="en-US"/>
          </a:p>
        </p:txBody>
      </p:sp>
    </p:spTree>
    <p:extLst>
      <p:ext uri="{BB962C8B-B14F-4D97-AF65-F5344CB8AC3E}">
        <p14:creationId xmlns:p14="http://schemas.microsoft.com/office/powerpoint/2010/main" val="17217548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33</a:t>
            </a:fld>
            <a:endParaRPr kumimoji="1" lang="zh-TW" altLang="en-US"/>
          </a:p>
        </p:txBody>
      </p:sp>
    </p:spTree>
    <p:extLst>
      <p:ext uri="{BB962C8B-B14F-4D97-AF65-F5344CB8AC3E}">
        <p14:creationId xmlns:p14="http://schemas.microsoft.com/office/powerpoint/2010/main" val="34150638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34</a:t>
            </a:fld>
            <a:endParaRPr kumimoji="1" lang="zh-TW" altLang="en-US"/>
          </a:p>
        </p:txBody>
      </p:sp>
    </p:spTree>
    <p:extLst>
      <p:ext uri="{BB962C8B-B14F-4D97-AF65-F5344CB8AC3E}">
        <p14:creationId xmlns:p14="http://schemas.microsoft.com/office/powerpoint/2010/main" val="23243980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35</a:t>
            </a:fld>
            <a:endParaRPr kumimoji="1" lang="zh-TW" altLang="en-US"/>
          </a:p>
        </p:txBody>
      </p:sp>
    </p:spTree>
    <p:extLst>
      <p:ext uri="{BB962C8B-B14F-4D97-AF65-F5344CB8AC3E}">
        <p14:creationId xmlns:p14="http://schemas.microsoft.com/office/powerpoint/2010/main" val="40437448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38</a:t>
            </a:fld>
            <a:endParaRPr kumimoji="1" lang="zh-TW" altLang="en-US"/>
          </a:p>
        </p:txBody>
      </p:sp>
    </p:spTree>
    <p:extLst>
      <p:ext uri="{BB962C8B-B14F-4D97-AF65-F5344CB8AC3E}">
        <p14:creationId xmlns:p14="http://schemas.microsoft.com/office/powerpoint/2010/main" val="32100487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40</a:t>
            </a:fld>
            <a:endParaRPr kumimoji="1" lang="zh-TW" altLang="en-US"/>
          </a:p>
        </p:txBody>
      </p:sp>
    </p:spTree>
    <p:extLst>
      <p:ext uri="{BB962C8B-B14F-4D97-AF65-F5344CB8AC3E}">
        <p14:creationId xmlns:p14="http://schemas.microsoft.com/office/powerpoint/2010/main" val="32926630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41</a:t>
            </a:fld>
            <a:endParaRPr kumimoji="1" lang="zh-TW" altLang="en-US"/>
          </a:p>
        </p:txBody>
      </p:sp>
    </p:spTree>
    <p:extLst>
      <p:ext uri="{BB962C8B-B14F-4D97-AF65-F5344CB8AC3E}">
        <p14:creationId xmlns:p14="http://schemas.microsoft.com/office/powerpoint/2010/main" val="20550297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50</a:t>
            </a:fld>
            <a:endParaRPr kumimoji="1" lang="zh-TW" altLang="en-US"/>
          </a:p>
        </p:txBody>
      </p:sp>
    </p:spTree>
    <p:extLst>
      <p:ext uri="{BB962C8B-B14F-4D97-AF65-F5344CB8AC3E}">
        <p14:creationId xmlns:p14="http://schemas.microsoft.com/office/powerpoint/2010/main" val="3595772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51</a:t>
            </a:fld>
            <a:endParaRPr kumimoji="1" lang="zh-TW" altLang="en-US"/>
          </a:p>
        </p:txBody>
      </p:sp>
    </p:spTree>
    <p:extLst>
      <p:ext uri="{BB962C8B-B14F-4D97-AF65-F5344CB8AC3E}">
        <p14:creationId xmlns:p14="http://schemas.microsoft.com/office/powerpoint/2010/main" val="42117814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52</a:t>
            </a:fld>
            <a:endParaRPr kumimoji="1" lang="zh-TW" altLang="en-US"/>
          </a:p>
        </p:txBody>
      </p:sp>
    </p:spTree>
    <p:extLst>
      <p:ext uri="{BB962C8B-B14F-4D97-AF65-F5344CB8AC3E}">
        <p14:creationId xmlns:p14="http://schemas.microsoft.com/office/powerpoint/2010/main" val="4437571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53</a:t>
            </a:fld>
            <a:endParaRPr kumimoji="1" lang="zh-TW" altLang="en-US"/>
          </a:p>
        </p:txBody>
      </p:sp>
    </p:spTree>
    <p:extLst>
      <p:ext uri="{BB962C8B-B14F-4D97-AF65-F5344CB8AC3E}">
        <p14:creationId xmlns:p14="http://schemas.microsoft.com/office/powerpoint/2010/main" val="6247986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63</a:t>
            </a:fld>
            <a:endParaRPr kumimoji="1" lang="zh-TW" altLang="en-US"/>
          </a:p>
        </p:txBody>
      </p:sp>
    </p:spTree>
    <p:extLst>
      <p:ext uri="{BB962C8B-B14F-4D97-AF65-F5344CB8AC3E}">
        <p14:creationId xmlns:p14="http://schemas.microsoft.com/office/powerpoint/2010/main" val="19595577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DDD45D79-463A-364A-977B-8E8D52F0B8DA}" type="slidenum">
              <a:rPr kumimoji="1" lang="zh-TW" altLang="en-US" smtClean="0"/>
              <a:t>64</a:t>
            </a:fld>
            <a:endParaRPr kumimoji="1" lang="zh-TW" altLang="en-US"/>
          </a:p>
        </p:txBody>
      </p:sp>
    </p:spTree>
    <p:extLst>
      <p:ext uri="{BB962C8B-B14F-4D97-AF65-F5344CB8AC3E}">
        <p14:creationId xmlns:p14="http://schemas.microsoft.com/office/powerpoint/2010/main" val="192489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E7DB66-CCA6-4C6A-9BC6-3C3289A1C55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8B92EBF-EC0D-4D82-932A-9FA8EFC241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54B4327-6B02-4F81-AE32-FD7619727BAB}"/>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5" name="頁尾版面配置區 4">
            <a:extLst>
              <a:ext uri="{FF2B5EF4-FFF2-40B4-BE49-F238E27FC236}">
                <a16:creationId xmlns:a16="http://schemas.microsoft.com/office/drawing/2014/main" id="{A9979BE7-9988-46B0-B166-0DA27BFA2FE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1032928-11A6-4E99-A3BE-72B9F8DEA4A8}"/>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265332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1A3899-A925-4D37-ACCE-C4EAE55E33A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43E88DB-CD42-438E-BDD3-194EA97020D9}"/>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4BDF9C8-2B0B-47E9-AD88-A8DF364BFB9F}"/>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5" name="頁尾版面配置區 4">
            <a:extLst>
              <a:ext uri="{FF2B5EF4-FFF2-40B4-BE49-F238E27FC236}">
                <a16:creationId xmlns:a16="http://schemas.microsoft.com/office/drawing/2014/main" id="{7D54FA90-6CF8-45E5-B84C-8906D87BA8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D21805C-CDC8-4D27-9317-95E332E2A150}"/>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3811968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37F7FF-9802-4928-ADDB-732A70DDE9B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899D73FF-2F16-4739-9BD6-C695A68039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7489F1BB-598F-42A0-8B12-03F68B7F8EC1}"/>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5" name="頁尾版面配置區 4">
            <a:extLst>
              <a:ext uri="{FF2B5EF4-FFF2-40B4-BE49-F238E27FC236}">
                <a16:creationId xmlns:a16="http://schemas.microsoft.com/office/drawing/2014/main" id="{AF80903D-8CB0-4351-B0D7-2A11B2822C7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D5F9730-CE85-4322-ADA8-8FF27E857D65}"/>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485564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790413-06AE-4715-A48F-24CA9B4CE4E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84C7441-DEAD-4A7D-97EE-EAF8F97D7807}"/>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57599C7-0739-47E3-A480-3E6DED474AEE}"/>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70EFDB9-5BD3-418C-9067-B0A74A5BDC1E}"/>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6" name="頁尾版面配置區 5">
            <a:extLst>
              <a:ext uri="{FF2B5EF4-FFF2-40B4-BE49-F238E27FC236}">
                <a16:creationId xmlns:a16="http://schemas.microsoft.com/office/drawing/2014/main" id="{F0B544DB-01CA-44FF-AC30-8B8F72C8EC0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DC42383-F1F5-4AB1-8082-F5A8B2075882}"/>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1612182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CC3DE-ACCF-45E8-A9EB-737A6FD180D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F1626A5-4EAC-4723-BD69-EFB0F8B77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EDA4226A-A650-463D-A397-410173D957D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ED20B27-C654-4A93-8924-3A6C835A25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F0DC62AF-0794-4811-92ED-CE345A2AEAA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5182561-7EED-484F-9305-38F7D1ADA5CA}"/>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8" name="頁尾版面配置區 7">
            <a:extLst>
              <a:ext uri="{FF2B5EF4-FFF2-40B4-BE49-F238E27FC236}">
                <a16:creationId xmlns:a16="http://schemas.microsoft.com/office/drawing/2014/main" id="{4F7DE7D3-A399-475D-8E4D-3922B91E9E6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317843D-57DF-4B68-BBB3-B31D08B0C8A7}"/>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180304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BD1CE6-F3DA-4BB5-B8A7-DDCC863CE364}"/>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C2034E61-4960-4A10-89F2-063058D002D2}"/>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4" name="頁尾版面配置區 3">
            <a:extLst>
              <a:ext uri="{FF2B5EF4-FFF2-40B4-BE49-F238E27FC236}">
                <a16:creationId xmlns:a16="http://schemas.microsoft.com/office/drawing/2014/main" id="{C387A5A0-8425-4BDA-A377-5F834410326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25335FFD-670E-4A87-842E-DE6D3A4AC924}"/>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1379686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A54B0F8-4D43-420E-BE8D-DCE490B5F1DE}"/>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3" name="頁尾版面配置區 2">
            <a:extLst>
              <a:ext uri="{FF2B5EF4-FFF2-40B4-BE49-F238E27FC236}">
                <a16:creationId xmlns:a16="http://schemas.microsoft.com/office/drawing/2014/main" id="{24B83E43-4483-4039-B5D3-FFF4167E2B0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A0476D3-7E12-40B6-8031-05FA09EFE455}"/>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1664734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5BE88-140A-42B6-884A-FF0FDAF79C9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0B38B41-15F9-4610-9C28-1C7F70E76D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B11CE891-9A5F-4BF1-96BD-A9480376CD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B864386A-EB01-4433-80B8-8C0F5ABA2007}"/>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6" name="頁尾版面配置區 5">
            <a:extLst>
              <a:ext uri="{FF2B5EF4-FFF2-40B4-BE49-F238E27FC236}">
                <a16:creationId xmlns:a16="http://schemas.microsoft.com/office/drawing/2014/main" id="{ADD2D993-DA04-4A09-AF25-DEA9D139A2F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E503A65-88D4-4342-BCB7-C675BC1463EA}"/>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950973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505EE3-D0F4-4738-8683-4333F17E63C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B85F0E5-D0F3-421D-8A9C-513348446A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FD50FF3-CE3A-464F-ABD2-E1E8007703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614D6A4-16A5-4363-8E97-00E2B7102156}"/>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6" name="頁尾版面配置區 5">
            <a:extLst>
              <a:ext uri="{FF2B5EF4-FFF2-40B4-BE49-F238E27FC236}">
                <a16:creationId xmlns:a16="http://schemas.microsoft.com/office/drawing/2014/main" id="{2AEDACD4-B952-4716-85D6-0CF8EABCE9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7783FE8-DEC9-482C-96EC-47B8359916B0}"/>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2336116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E1BC2E-B200-48AF-BD5F-0C9FF0183D4F}"/>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6EF018A-6955-48F0-A5D5-2DF6CE722553}"/>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2B41665-9C25-415D-A5B3-27F7CD371D2A}"/>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5" name="頁尾版面配置區 4">
            <a:extLst>
              <a:ext uri="{FF2B5EF4-FFF2-40B4-BE49-F238E27FC236}">
                <a16:creationId xmlns:a16="http://schemas.microsoft.com/office/drawing/2014/main" id="{124CE769-BE91-4374-9CF3-1249CEEC3AB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DF8D44C-BBCF-4ACF-A898-D9A65153434D}"/>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500166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C2FE701-C7AE-4874-9168-D2775656B17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BC09066C-95C8-4D31-8258-71E7A1D2F60A}"/>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0D6F161-37B9-4958-8675-CD6218C009CF}"/>
              </a:ext>
            </a:extLst>
          </p:cNvPr>
          <p:cNvSpPr>
            <a:spLocks noGrp="1"/>
          </p:cNvSpPr>
          <p:nvPr>
            <p:ph type="dt" sz="half" idx="10"/>
          </p:nvPr>
        </p:nvSpPr>
        <p:spPr/>
        <p:txBody>
          <a:bodyPr/>
          <a:lstStyle/>
          <a:p>
            <a:fld id="{C87F8E9E-1AAA-4E06-8C9B-8980570B9756}" type="datetimeFigureOut">
              <a:rPr lang="zh-TW" altLang="en-US" smtClean="0"/>
              <a:t>2026/7/15</a:t>
            </a:fld>
            <a:endParaRPr lang="zh-TW" altLang="en-US"/>
          </a:p>
        </p:txBody>
      </p:sp>
      <p:sp>
        <p:nvSpPr>
          <p:cNvPr id="5" name="頁尾版面配置區 4">
            <a:extLst>
              <a:ext uri="{FF2B5EF4-FFF2-40B4-BE49-F238E27FC236}">
                <a16:creationId xmlns:a16="http://schemas.microsoft.com/office/drawing/2014/main" id="{990427CE-C4BF-4BBF-9F40-C728153E37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A75C859-DF24-4493-BACC-4019DB2DF669}"/>
              </a:ext>
            </a:extLst>
          </p:cNvPr>
          <p:cNvSpPr>
            <a:spLocks noGrp="1"/>
          </p:cNvSpPr>
          <p:nvPr>
            <p:ph type="sldNum" sz="quarter" idx="12"/>
          </p:nvPr>
        </p:nvSpPr>
        <p:spPr/>
        <p:txBody>
          <a:bodyPr/>
          <a:lstStyle/>
          <a:p>
            <a:fld id="{887A1A92-C23F-4E1D-919E-954E1177927B}" type="slidenum">
              <a:rPr lang="zh-TW" altLang="en-US" smtClean="0"/>
              <a:t>‹#›</a:t>
            </a:fld>
            <a:endParaRPr lang="zh-TW" altLang="en-US"/>
          </a:p>
        </p:txBody>
      </p:sp>
    </p:spTree>
    <p:extLst>
      <p:ext uri="{BB962C8B-B14F-4D97-AF65-F5344CB8AC3E}">
        <p14:creationId xmlns:p14="http://schemas.microsoft.com/office/powerpoint/2010/main" val="1490407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08A3611-0A61-497B-B522-DB490B631E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7EC43FC-553D-4A05-A5AE-03B81DF6B9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61D7FF4-30B5-49A0-9C7E-3AC0F40B4C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JhengHei" panose="020B0604030504040204" pitchFamily="34" charset="-120"/>
                <a:ea typeface="Microsoft JhengHei" panose="020B0604030504040204" pitchFamily="34" charset="-120"/>
              </a:defRPr>
            </a:lvl1pPr>
          </a:lstStyle>
          <a:p>
            <a:fld id="{C87F8E9E-1AAA-4E06-8C9B-8980570B9756}" type="datetimeFigureOut">
              <a:rPr lang="zh-TW" altLang="en-US" smtClean="0"/>
              <a:pPr/>
              <a:t>2026/7/15</a:t>
            </a:fld>
            <a:endParaRPr lang="zh-TW" altLang="en-US"/>
          </a:p>
        </p:txBody>
      </p:sp>
      <p:sp>
        <p:nvSpPr>
          <p:cNvPr id="5" name="頁尾版面配置區 4">
            <a:extLst>
              <a:ext uri="{FF2B5EF4-FFF2-40B4-BE49-F238E27FC236}">
                <a16:creationId xmlns:a16="http://schemas.microsoft.com/office/drawing/2014/main" id="{C22BA33F-D2AD-430F-A2F2-A6280617AD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JhengHei" panose="020B0604030504040204" pitchFamily="34" charset="-120"/>
                <a:ea typeface="Microsoft JhengHei" panose="020B0604030504040204" pitchFamily="34" charset="-120"/>
              </a:defRPr>
            </a:lvl1pPr>
          </a:lstStyle>
          <a:p>
            <a:endParaRPr lang="zh-TW" altLang="en-US"/>
          </a:p>
        </p:txBody>
      </p:sp>
      <p:sp>
        <p:nvSpPr>
          <p:cNvPr id="6" name="投影片編號版面配置區 5">
            <a:extLst>
              <a:ext uri="{FF2B5EF4-FFF2-40B4-BE49-F238E27FC236}">
                <a16:creationId xmlns:a16="http://schemas.microsoft.com/office/drawing/2014/main" id="{39242994-0A2E-484E-BCED-47CFD07D09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JhengHei" panose="020B0604030504040204" pitchFamily="34" charset="-120"/>
                <a:ea typeface="Microsoft JhengHei" panose="020B0604030504040204" pitchFamily="34" charset="-120"/>
              </a:defRPr>
            </a:lvl1pPr>
          </a:lstStyle>
          <a:p>
            <a:fld id="{887A1A92-C23F-4E1D-919E-954E1177927B}" type="slidenum">
              <a:rPr lang="zh-TW" altLang="en-US" smtClean="0"/>
              <a:pPr/>
              <a:t>‹#›</a:t>
            </a:fld>
            <a:endParaRPr lang="zh-TW" altLang="en-US"/>
          </a:p>
        </p:txBody>
      </p:sp>
    </p:spTree>
    <p:extLst>
      <p:ext uri="{BB962C8B-B14F-4D97-AF65-F5344CB8AC3E}">
        <p14:creationId xmlns:p14="http://schemas.microsoft.com/office/powerpoint/2010/main" val="2403873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icrosoft JhengHei" panose="020B0604030504040204" pitchFamily="34" charset="-120"/>
          <a:ea typeface="Microsoft JhengHei" panose="020B0604030504040204" pitchFamily="34"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icrosoft JhengHei" panose="020B0604030504040204" pitchFamily="34" charset="-120"/>
          <a:ea typeface="Microsoft JhengHei"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icrosoft JhengHei" panose="020B0604030504040204" pitchFamily="34" charset="-120"/>
          <a:ea typeface="Microsoft JhengHei" panose="020B0604030504040204" pitchFamily="34" charset="-12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icrosoft JhengHei" panose="020B0604030504040204" pitchFamily="34" charset="-120"/>
          <a:ea typeface="Microsoft JhengHei" panose="020B0604030504040204" pitchFamily="34" charset="-12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JhengHei" panose="020B0604030504040204" pitchFamily="34" charset="-120"/>
          <a:ea typeface="Microsoft JhengHei" panose="020B0604030504040204" pitchFamily="34" charset="-12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icrosoft JhengHei" panose="020B0604030504040204" pitchFamily="34" charset="-120"/>
          <a:ea typeface="Microsoft JhengHei" panose="020B0604030504040204" pitchFamily="34"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mirichoi0218/insurance/dat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ruder.io/optimizing-gradient-descent/index.html#batchgradientdescent" TargetMode="Externa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50.png"/><Relationship Id="rId5" Type="http://schemas.openxmlformats.org/officeDocument/2006/relationships/image" Target="../media/image440.png"/><Relationship Id="rId4" Type="http://schemas.openxmlformats.org/officeDocument/2006/relationships/image" Target="../media/image420.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chih-sheng-huang821.medium.com/%E6%A9%9F%E5%99%A8-%E6%B7%B1%E5%BA%A6%E5%AD%B8%E7%BF%92-%E5%9F%BA%E7%A4%8E%E4%BB%8B%E7%B4%B9-%E6%90%8D%E5%A4%B1%E5%87%BD%E6%95%B8-loss-function-2dcac5ebb6cb"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70.png"/><Relationship Id="rId5" Type="http://schemas.openxmlformats.org/officeDocument/2006/relationships/image" Target="../media/image58.png"/><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60FA62-1B33-4AFA-9D7F-3FD2A81A06D6}"/>
              </a:ext>
            </a:extLst>
          </p:cNvPr>
          <p:cNvSpPr>
            <a:spLocks noGrp="1"/>
          </p:cNvSpPr>
          <p:nvPr>
            <p:ph type="ctrTitle"/>
          </p:nvPr>
        </p:nvSpPr>
        <p:spPr/>
        <p:txBody>
          <a:bodyPr/>
          <a:lstStyle/>
          <a:p>
            <a:r>
              <a:rPr lang="zh-TW" altLang="en-US" dirty="0"/>
              <a:t>迴歸</a:t>
            </a:r>
          </a:p>
        </p:txBody>
      </p:sp>
      <p:sp>
        <p:nvSpPr>
          <p:cNvPr id="3" name="副標題 2">
            <a:extLst>
              <a:ext uri="{FF2B5EF4-FFF2-40B4-BE49-F238E27FC236}">
                <a16:creationId xmlns:a16="http://schemas.microsoft.com/office/drawing/2014/main" id="{4C79FAFD-2C79-41C2-9874-F0F2C38A9F0A}"/>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563589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46CA54-B061-4689-AAC4-2E27A5F20D9B}"/>
              </a:ext>
            </a:extLst>
          </p:cNvPr>
          <p:cNvSpPr>
            <a:spLocks noGrp="1"/>
          </p:cNvSpPr>
          <p:nvPr>
            <p:ph type="title"/>
          </p:nvPr>
        </p:nvSpPr>
        <p:spPr/>
        <p:txBody>
          <a:bodyPr/>
          <a:lstStyle/>
          <a:p>
            <a:r>
              <a:rPr lang="zh-TW" altLang="en-US" dirty="0"/>
              <a:t>什麼是迴歸</a:t>
            </a:r>
          </a:p>
        </p:txBody>
      </p:sp>
      <p:sp>
        <p:nvSpPr>
          <p:cNvPr id="3" name="內容版面配置區 2">
            <a:extLst>
              <a:ext uri="{FF2B5EF4-FFF2-40B4-BE49-F238E27FC236}">
                <a16:creationId xmlns:a16="http://schemas.microsoft.com/office/drawing/2014/main" id="{EB830378-B7DC-4160-95EB-6C1FC96FA4BA}"/>
              </a:ext>
            </a:extLst>
          </p:cNvPr>
          <p:cNvSpPr>
            <a:spLocks noGrp="1"/>
          </p:cNvSpPr>
          <p:nvPr>
            <p:ph idx="1"/>
          </p:nvPr>
        </p:nvSpPr>
        <p:spPr/>
        <p:txBody>
          <a:bodyPr/>
          <a:lstStyle/>
          <a:p>
            <a:r>
              <a:rPr lang="zh-TW" altLang="en-US" dirty="0"/>
              <a:t>線性迴歸（</a:t>
            </a:r>
            <a:r>
              <a:rPr lang="en-US" altLang="zh-TW" dirty="0"/>
              <a:t>Linear regression</a:t>
            </a:r>
            <a:r>
              <a:rPr lang="zh-TW" altLang="en-US" dirty="0"/>
              <a:t>）是統計上在找多個自變數</a:t>
            </a:r>
            <a:r>
              <a:rPr lang="en-US" altLang="zh-TW" dirty="0"/>
              <a:t>(independent variable)</a:t>
            </a:r>
            <a:r>
              <a:rPr lang="zh-TW" altLang="en-US" dirty="0"/>
              <a:t>和依變數</a:t>
            </a:r>
            <a:r>
              <a:rPr lang="en-US" altLang="zh-TW" dirty="0"/>
              <a:t>(dependent variable)</a:t>
            </a:r>
            <a:r>
              <a:rPr lang="zh-TW" altLang="en-US" dirty="0"/>
              <a:t>之間的關係建出來的模型。</a:t>
            </a:r>
            <a:endParaRPr lang="en-US" altLang="zh-TW" dirty="0"/>
          </a:p>
          <a:p>
            <a:r>
              <a:rPr lang="zh-TW" altLang="en-US" dirty="0"/>
              <a:t>只有一個自變數和一個依變數的情形稱為簡單線性迴歸</a:t>
            </a:r>
            <a:r>
              <a:rPr lang="en-US" altLang="zh-TW" dirty="0"/>
              <a:t>(Simple linear regression)</a:t>
            </a:r>
            <a:r>
              <a:rPr lang="zh-TW" altLang="en-US" dirty="0"/>
              <a:t>，大於一個自變數的情形稱為多元迴歸</a:t>
            </a:r>
            <a:r>
              <a:rPr lang="en-US" altLang="zh-TW" dirty="0"/>
              <a:t>(multiple regression)</a:t>
            </a:r>
            <a:r>
              <a:rPr lang="zh-TW" altLang="en-US" dirty="0"/>
              <a:t>。</a:t>
            </a:r>
          </a:p>
        </p:txBody>
      </p:sp>
    </p:spTree>
    <p:extLst>
      <p:ext uri="{BB962C8B-B14F-4D97-AF65-F5344CB8AC3E}">
        <p14:creationId xmlns:p14="http://schemas.microsoft.com/office/powerpoint/2010/main" val="362688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C349F-6AE4-4700-A9F1-8124D576AF80}"/>
              </a:ext>
            </a:extLst>
          </p:cNvPr>
          <p:cNvSpPr>
            <a:spLocks noGrp="1"/>
          </p:cNvSpPr>
          <p:nvPr>
            <p:ph type="title"/>
          </p:nvPr>
        </p:nvSpPr>
        <p:spPr/>
        <p:txBody>
          <a:bodyPr/>
          <a:lstStyle/>
          <a:p>
            <a:r>
              <a:rPr lang="zh-TW" altLang="en-US" dirty="0"/>
              <a:t>簡單線性迴歸</a:t>
            </a:r>
          </a:p>
        </p:txBody>
      </p:sp>
      <p:sp>
        <p:nvSpPr>
          <p:cNvPr id="3" name="內容版面配置區 2">
            <a:extLst>
              <a:ext uri="{FF2B5EF4-FFF2-40B4-BE49-F238E27FC236}">
                <a16:creationId xmlns:a16="http://schemas.microsoft.com/office/drawing/2014/main" id="{FB963C18-6C99-4B04-A200-5AC0B8F0BDFB}"/>
              </a:ext>
            </a:extLst>
          </p:cNvPr>
          <p:cNvSpPr>
            <a:spLocks noGrp="1"/>
          </p:cNvSpPr>
          <p:nvPr>
            <p:ph idx="1"/>
          </p:nvPr>
        </p:nvSpPr>
        <p:spPr>
          <a:xfrm>
            <a:off x="838200" y="2104291"/>
            <a:ext cx="10515600" cy="4072671"/>
          </a:xfrm>
        </p:spPr>
        <p:txBody>
          <a:bodyPr/>
          <a:lstStyle/>
          <a:p>
            <a:r>
              <a:rPr lang="zh-TW" altLang="en-US" dirty="0"/>
              <a:t>例如：年齡與醫療費用可能有單調關係</a:t>
            </a:r>
            <a:endParaRPr lang="en-US" altLang="zh-TW" dirty="0"/>
          </a:p>
          <a:p>
            <a:pPr lvl="1"/>
            <a:r>
              <a:rPr lang="en-US" altLang="zh-TW" dirty="0"/>
              <a:t>(</a:t>
            </a:r>
            <a:r>
              <a:rPr lang="en-US" altLang="zh-TW" dirty="0">
                <a:hlinkClick r:id="rId3"/>
              </a:rPr>
              <a:t>https://www.kaggle.com/datasets/mirichoi0218/insurance/data</a:t>
            </a:r>
            <a:r>
              <a:rPr lang="en-US" altLang="zh-TW" dirty="0"/>
              <a:t> )</a:t>
            </a:r>
          </a:p>
          <a:p>
            <a:r>
              <a:rPr lang="zh-TW" altLang="en-US" dirty="0"/>
              <a:t>可以使用簡單線性回歸</a:t>
            </a:r>
            <a:r>
              <a:rPr lang="en-US" altLang="zh-TW" dirty="0"/>
              <a:t>: y=β</a:t>
            </a:r>
            <a:r>
              <a:rPr lang="en-US" altLang="zh-TW" baseline="-25000" dirty="0"/>
              <a:t>0</a:t>
            </a:r>
            <a:r>
              <a:rPr lang="en-US" altLang="zh-TW" dirty="0"/>
              <a:t>+β</a:t>
            </a:r>
            <a:r>
              <a:rPr lang="en-US" altLang="zh-TW" baseline="-25000" dirty="0"/>
              <a:t>1</a:t>
            </a:r>
            <a:r>
              <a:rPr lang="en-US" altLang="zh-TW" dirty="0"/>
              <a:t>x</a:t>
            </a:r>
          </a:p>
          <a:p>
            <a:r>
              <a:rPr lang="en-US" altLang="zh-TW" dirty="0"/>
              <a:t>β</a:t>
            </a:r>
            <a:r>
              <a:rPr lang="en-US" altLang="zh-TW" baseline="-25000" dirty="0"/>
              <a:t>0</a:t>
            </a:r>
            <a:r>
              <a:rPr lang="zh-TW" altLang="en-US" dirty="0"/>
              <a:t>：截距</a:t>
            </a:r>
            <a:r>
              <a:rPr lang="en-US" altLang="zh-TW" dirty="0"/>
              <a:t>(Intercept)</a:t>
            </a:r>
            <a:r>
              <a:rPr lang="zh-TW" altLang="en-US" dirty="0"/>
              <a:t>，</a:t>
            </a:r>
            <a:r>
              <a:rPr lang="en-US" altLang="zh-TW" dirty="0"/>
              <a:t>β</a:t>
            </a:r>
            <a:r>
              <a:rPr lang="en-US" altLang="zh-TW" baseline="-25000" dirty="0"/>
              <a:t>1</a:t>
            </a:r>
            <a:r>
              <a:rPr lang="zh-TW" altLang="en-US" dirty="0"/>
              <a:t>：斜率</a:t>
            </a:r>
            <a:r>
              <a:rPr lang="en-US" altLang="zh-TW" dirty="0"/>
              <a:t>(Slope)</a:t>
            </a:r>
            <a:r>
              <a:rPr lang="zh-TW" altLang="en-US" dirty="0"/>
              <a:t>為 </a:t>
            </a:r>
            <a:r>
              <a:rPr lang="en-US" altLang="zh-TW" dirty="0"/>
              <a:t>x</a:t>
            </a:r>
            <a:r>
              <a:rPr lang="zh-TW" altLang="en-US" dirty="0"/>
              <a:t>變動一個單位</a:t>
            </a:r>
            <a:r>
              <a:rPr lang="en-US" altLang="zh-TW" dirty="0"/>
              <a:t>y</a:t>
            </a:r>
            <a:r>
              <a:rPr lang="zh-TW" altLang="en-US" dirty="0"/>
              <a:t>變動的量</a:t>
            </a:r>
          </a:p>
        </p:txBody>
      </p:sp>
      <p:pic>
        <p:nvPicPr>
          <p:cNvPr id="1026" name="Picture 2" descr="https://miro.medium.com/max/963/1*n49Ks_IUMW4ZDXlMxJmjnw.png">
            <a:extLst>
              <a:ext uri="{FF2B5EF4-FFF2-40B4-BE49-F238E27FC236}">
                <a16:creationId xmlns:a16="http://schemas.microsoft.com/office/drawing/2014/main" id="{BD0A3DBB-9044-4B44-A244-0ECB5CA64F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1245" y="4331338"/>
            <a:ext cx="3765116" cy="21615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miro.medium.com/max/963/1*F8xLapWs4stL93NEO5NPeQ.png">
            <a:extLst>
              <a:ext uri="{FF2B5EF4-FFF2-40B4-BE49-F238E27FC236}">
                <a16:creationId xmlns:a16="http://schemas.microsoft.com/office/drawing/2014/main" id="{CD9B6F5D-1047-8BC3-2B13-CB652AC018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35799" y="4140626"/>
            <a:ext cx="4318563" cy="2674458"/>
          </a:xfrm>
          <a:prstGeom prst="rect">
            <a:avLst/>
          </a:prstGeom>
          <a:noFill/>
          <a:extLst>
            <a:ext uri="{909E8E84-426E-40DD-AFC4-6F175D3DCCD1}">
              <a14:hiddenFill xmlns:a14="http://schemas.microsoft.com/office/drawing/2010/main">
                <a:solidFill>
                  <a:srgbClr val="FFFFFF"/>
                </a:solidFill>
              </a14:hiddenFill>
            </a:ext>
          </a:extLst>
        </p:spPr>
      </p:pic>
      <p:pic>
        <p:nvPicPr>
          <p:cNvPr id="10" name="圖片 9">
            <a:extLst>
              <a:ext uri="{FF2B5EF4-FFF2-40B4-BE49-F238E27FC236}">
                <a16:creationId xmlns:a16="http://schemas.microsoft.com/office/drawing/2014/main" id="{4EA81314-5DEC-8291-6DB8-483C71408055}"/>
              </a:ext>
            </a:extLst>
          </p:cNvPr>
          <p:cNvPicPr>
            <a:picLocks noChangeAspect="1"/>
          </p:cNvPicPr>
          <p:nvPr/>
        </p:nvPicPr>
        <p:blipFill>
          <a:blip r:embed="rId6"/>
          <a:stretch>
            <a:fillRect/>
          </a:stretch>
        </p:blipFill>
        <p:spPr>
          <a:xfrm>
            <a:off x="7338927" y="0"/>
            <a:ext cx="3288041" cy="2539998"/>
          </a:xfrm>
          <a:prstGeom prst="rect">
            <a:avLst/>
          </a:prstGeom>
        </p:spPr>
      </p:pic>
    </p:spTree>
    <p:extLst>
      <p:ext uri="{BB962C8B-B14F-4D97-AF65-F5344CB8AC3E}">
        <p14:creationId xmlns:p14="http://schemas.microsoft.com/office/powerpoint/2010/main" val="2477678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5C5F23-AE2C-40DC-8327-817ACB8027DA}"/>
              </a:ext>
            </a:extLst>
          </p:cNvPr>
          <p:cNvSpPr>
            <a:spLocks noGrp="1"/>
          </p:cNvSpPr>
          <p:nvPr>
            <p:ph type="title"/>
          </p:nvPr>
        </p:nvSpPr>
        <p:spPr/>
        <p:txBody>
          <a:bodyPr/>
          <a:lstStyle/>
          <a:p>
            <a:r>
              <a:rPr lang="zh-TW" altLang="en-US" dirty="0"/>
              <a:t>定義誤差</a:t>
            </a:r>
          </a:p>
        </p:txBody>
      </p:sp>
      <p:sp>
        <p:nvSpPr>
          <p:cNvPr id="3" name="內容版面配置區 2">
            <a:extLst>
              <a:ext uri="{FF2B5EF4-FFF2-40B4-BE49-F238E27FC236}">
                <a16:creationId xmlns:a16="http://schemas.microsoft.com/office/drawing/2014/main" id="{B382FC00-A8D2-4522-95A5-1C9AD355C242}"/>
              </a:ext>
            </a:extLst>
          </p:cNvPr>
          <p:cNvSpPr>
            <a:spLocks noGrp="1"/>
          </p:cNvSpPr>
          <p:nvPr>
            <p:ph idx="1"/>
          </p:nvPr>
        </p:nvSpPr>
        <p:spPr/>
        <p:txBody>
          <a:bodyPr/>
          <a:lstStyle/>
          <a:p>
            <a:r>
              <a:rPr lang="zh-TW" altLang="en-US" dirty="0"/>
              <a:t>損失函數</a:t>
            </a:r>
            <a:endParaRPr lang="en-US" altLang="zh-TW" dirty="0"/>
          </a:p>
          <a:p>
            <a:pPr lvl="1"/>
            <a:r>
              <a:rPr lang="zh-TW" altLang="en-US" dirty="0"/>
              <a:t>所以回歸分析的目標函數</a:t>
            </a:r>
            <a:r>
              <a:rPr lang="en-US" altLang="zh-TW" dirty="0"/>
              <a:t>/</a:t>
            </a:r>
            <a:r>
              <a:rPr lang="zh-TW" altLang="en-US" dirty="0"/>
              <a:t>損失函數</a:t>
            </a:r>
            <a:r>
              <a:rPr lang="en-US" altLang="zh-TW" dirty="0"/>
              <a:t>(loss function)</a:t>
            </a:r>
            <a:r>
              <a:rPr lang="zh-TW" altLang="en-US" dirty="0"/>
              <a:t>就是希望找到的模型最終的殘差</a:t>
            </a:r>
            <a:r>
              <a:rPr lang="zh-TW" altLang="en-US" u="sng" dirty="0">
                <a:solidFill>
                  <a:srgbClr val="FF0000"/>
                </a:solidFill>
              </a:rPr>
              <a:t>越小</a:t>
            </a:r>
            <a:r>
              <a:rPr lang="zh-TW" altLang="en-US" dirty="0"/>
              <a:t>越好</a:t>
            </a:r>
            <a:r>
              <a:rPr lang="en-US" altLang="zh-TW" dirty="0"/>
              <a:t>(</a:t>
            </a:r>
            <a:r>
              <a:rPr lang="zh-TW" altLang="en-US" dirty="0"/>
              <a:t>叫做</a:t>
            </a:r>
            <a:r>
              <a:rPr lang="en-US" altLang="zh-TW" dirty="0"/>
              <a:t>SSE, sum of squares error)</a:t>
            </a:r>
          </a:p>
          <a:p>
            <a:pPr lvl="1"/>
            <a:endParaRPr lang="en-US" altLang="zh-TW" dirty="0"/>
          </a:p>
          <a:p>
            <a:pPr lvl="1"/>
            <a:endParaRPr lang="en-US" altLang="zh-TW" dirty="0"/>
          </a:p>
          <a:p>
            <a:pPr lvl="1"/>
            <a:endParaRPr lang="en-US" altLang="zh-TW" dirty="0"/>
          </a:p>
          <a:p>
            <a:pPr lvl="1"/>
            <a:endParaRPr lang="en-US" altLang="zh-TW" dirty="0"/>
          </a:p>
          <a:p>
            <a:pPr lvl="1"/>
            <a:r>
              <a:rPr lang="zh-TW" altLang="en-US" dirty="0"/>
              <a:t>可以使用正規方程式、最小平方法</a:t>
            </a:r>
            <a:r>
              <a:rPr lang="en-US" altLang="zh-TW" dirty="0"/>
              <a:t>(Least Square)</a:t>
            </a:r>
            <a:r>
              <a:rPr lang="zh-TW" altLang="en-US" dirty="0"/>
              <a:t>來找參數</a:t>
            </a:r>
            <a:r>
              <a:rPr lang="en-US" altLang="zh-TW" dirty="0"/>
              <a:t>(</a:t>
            </a:r>
            <a:r>
              <a:rPr lang="el-GR" altLang="zh-TW" dirty="0"/>
              <a:t>β</a:t>
            </a:r>
            <a:r>
              <a:rPr lang="el-GR" altLang="zh-TW" baseline="-25000" dirty="0"/>
              <a:t>0</a:t>
            </a:r>
            <a:r>
              <a:rPr lang="zh-TW" altLang="en-US" dirty="0"/>
              <a:t>和</a:t>
            </a:r>
            <a:r>
              <a:rPr lang="el-GR" altLang="zh-TW" dirty="0"/>
              <a:t>β</a:t>
            </a:r>
            <a:r>
              <a:rPr lang="el-GR" altLang="zh-TW" baseline="-25000" dirty="0"/>
              <a:t>1</a:t>
            </a:r>
            <a:r>
              <a:rPr lang="el-GR" altLang="zh-TW" dirty="0"/>
              <a:t>)</a:t>
            </a:r>
            <a:r>
              <a:rPr lang="zh-TW" altLang="el-GR" dirty="0"/>
              <a:t>。</a:t>
            </a:r>
            <a:endParaRPr lang="en-US" altLang="zh-TW" dirty="0"/>
          </a:p>
          <a:p>
            <a:pPr lvl="1"/>
            <a:r>
              <a:rPr lang="zh-TW" altLang="en-US" dirty="0"/>
              <a:t>「機器學習」使用「學習」的方式去逼近這個解（</a:t>
            </a:r>
            <a:r>
              <a:rPr lang="en-US" altLang="zh-TW" dirty="0"/>
              <a:t>Gradient Descent</a:t>
            </a:r>
            <a:r>
              <a:rPr lang="zh-TW" altLang="en-US" dirty="0"/>
              <a:t>）</a:t>
            </a:r>
          </a:p>
        </p:txBody>
      </p:sp>
      <p:pic>
        <p:nvPicPr>
          <p:cNvPr id="3074" name="Picture 2" descr="https://miro.medium.com/max/826/1*i-uMbBmoPNL8f3kzyZfxRw.png">
            <a:extLst>
              <a:ext uri="{FF2B5EF4-FFF2-40B4-BE49-F238E27FC236}">
                <a16:creationId xmlns:a16="http://schemas.microsoft.com/office/drawing/2014/main" id="{B51A121B-25EF-486E-86B5-E31AED23BB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0865" y="3100532"/>
            <a:ext cx="6678613" cy="111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924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55C32B-3CF5-4C6A-B21F-B25FAF590421}"/>
              </a:ext>
            </a:extLst>
          </p:cNvPr>
          <p:cNvSpPr>
            <a:spLocks noGrp="1"/>
          </p:cNvSpPr>
          <p:nvPr>
            <p:ph type="title"/>
          </p:nvPr>
        </p:nvSpPr>
        <p:spPr/>
        <p:txBody>
          <a:bodyPr/>
          <a:lstStyle/>
          <a:p>
            <a:r>
              <a:rPr lang="zh-TW" altLang="en-US" dirty="0"/>
              <a:t>求解</a:t>
            </a:r>
            <a:r>
              <a:rPr lang="en-US" altLang="zh-TW" dirty="0"/>
              <a:t>(</a:t>
            </a:r>
            <a:r>
              <a:rPr lang="zh-TW" altLang="en-US" dirty="0"/>
              <a:t>換個變數，</a:t>
            </a:r>
            <a:r>
              <a:rPr lang="en-US" altLang="zh-TW" dirty="0"/>
              <a:t>y=w*</a:t>
            </a:r>
            <a:r>
              <a:rPr lang="en-US" altLang="zh-TW" dirty="0" err="1"/>
              <a:t>x+b</a:t>
            </a:r>
            <a:r>
              <a:rPr lang="en-US" altLang="zh-TW" dirty="0"/>
              <a: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A037B5C-F128-4B2A-BF7B-00D27C2D5B85}"/>
                  </a:ext>
                </a:extLst>
              </p:cNvPr>
              <p:cNvSpPr>
                <a:spLocks noGrp="1"/>
              </p:cNvSpPr>
              <p:nvPr>
                <p:ph idx="1"/>
              </p:nvPr>
            </p:nvSpPr>
            <p:spPr>
              <a:xfrm>
                <a:off x="838200" y="1825624"/>
                <a:ext cx="10515600" cy="4753145"/>
              </a:xfrm>
            </p:spPr>
            <p:txBody>
              <a:bodyPr/>
              <a:lstStyle/>
              <a:p>
                <a14:m>
                  <m:oMath xmlns:m="http://schemas.openxmlformats.org/officeDocument/2006/math">
                    <m:r>
                      <a:rPr lang="en-US" altLang="zh-TW" b="0" i="1" smtClean="0">
                        <a:latin typeface="Cambria Math" panose="02040503050406030204" pitchFamily="18" charset="0"/>
                      </a:rPr>
                      <m:t>𝑆𝑆𝐸</m:t>
                    </m:r>
                    <m:r>
                      <a:rPr lang="en-US" altLang="zh-TW" b="0" i="1" smtClean="0">
                        <a:latin typeface="Cambria Math" panose="02040503050406030204" pitchFamily="18" charset="0"/>
                      </a:rPr>
                      <m:t>=</m:t>
                    </m:r>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𝑦</m:t>
                                </m:r>
                              </m:e>
                            </m:acc>
                            <m:r>
                              <a:rPr lang="en-US" altLang="zh-TW" b="0" i="1" smtClean="0">
                                <a:latin typeface="Cambria Math" panose="02040503050406030204" pitchFamily="18" charset="0"/>
                              </a:rPr>
                              <m:t>)</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e>
                    </m:nary>
                    <m:nary>
                      <m:naryPr>
                        <m:chr m:val="∑"/>
                        <m:subHide m:val="on"/>
                        <m:supHide m:val="on"/>
                        <m:ctrlPr>
                          <a:rPr lang="en-US" altLang="zh-TW" i="1">
                            <a:latin typeface="Cambria Math" panose="02040503050406030204" pitchFamily="18" charset="0"/>
                          </a:rPr>
                        </m:ctrlPr>
                      </m:naryPr>
                      <m:sub/>
                      <m:sup/>
                      <m:e>
                        <m:sSup>
                          <m:sSupPr>
                            <m:ctrlPr>
                              <a:rPr lang="en-US" altLang="zh-TW" i="1">
                                <a:latin typeface="Cambria Math" panose="02040503050406030204" pitchFamily="18" charset="0"/>
                              </a:rPr>
                            </m:ctrlPr>
                          </m:sSupPr>
                          <m:e>
                            <m:r>
                              <a:rPr lang="en-US" altLang="zh-TW" i="1">
                                <a:latin typeface="Cambria Math" panose="02040503050406030204" pitchFamily="18" charset="0"/>
                              </a:rPr>
                              <m:t>(</m:t>
                            </m:r>
                            <m:r>
                              <a:rPr lang="en-US" altLang="zh-TW" i="1">
                                <a:latin typeface="Cambria Math" panose="02040503050406030204" pitchFamily="18" charset="0"/>
                              </a:rPr>
                              <m:t>𝑦</m:t>
                            </m:r>
                            <m:r>
                              <a:rPr lang="en-US" altLang="zh-TW" i="1">
                                <a:latin typeface="Cambria Math" panose="02040503050406030204" pitchFamily="18" charset="0"/>
                              </a:rPr>
                              <m:t>−</m:t>
                            </m:r>
                            <m:r>
                              <a:rPr lang="en-US" altLang="zh-TW" b="0" i="1" smtClean="0">
                                <a:latin typeface="Cambria Math" panose="02040503050406030204" pitchFamily="18" charset="0"/>
                              </a:rPr>
                              <m:t>𝑤𝑥</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i="1">
                                <a:latin typeface="Cambria Math" panose="02040503050406030204" pitchFamily="18" charset="0"/>
                              </a:rPr>
                              <m:t>)</m:t>
                            </m:r>
                          </m:e>
                          <m:sup>
                            <m:r>
                              <a:rPr lang="en-US" altLang="zh-TW" i="1">
                                <a:latin typeface="Cambria Math" panose="02040503050406030204" pitchFamily="18" charset="0"/>
                              </a:rPr>
                              <m:t>2</m:t>
                            </m:r>
                          </m:sup>
                        </m:sSup>
                      </m:e>
                    </m:nary>
                  </m:oMath>
                </a14:m>
                <a:endParaRPr lang="en-US" altLang="zh-TW" dirty="0"/>
              </a:p>
              <a:p>
                <a:pPr marL="0" indent="0">
                  <a:buNone/>
                </a:pPr>
                <a:r>
                  <a:rPr lang="en-US" altLang="zh-TW" dirty="0"/>
                  <a:t>1. </a:t>
                </a:r>
                <a:r>
                  <a:rPr lang="zh-TW" altLang="en-US" dirty="0"/>
                  <a:t>對</a:t>
                </a:r>
                <a:r>
                  <a:rPr lang="en-US" altLang="zh-TW" dirty="0"/>
                  <a:t>b</a:t>
                </a:r>
                <a:r>
                  <a:rPr lang="zh-TW" altLang="en-US" dirty="0"/>
                  <a:t>偏微</a:t>
                </a:r>
                <a:endParaRPr lang="en-US" altLang="zh-TW" dirty="0"/>
              </a:p>
              <a:p>
                <a:pPr marL="0" indent="0">
                  <a:buNone/>
                </a:pPr>
                <a:r>
                  <a:rPr lang="zh-TW" altLang="en-US" dirty="0"/>
                  <a:t>令 </a:t>
                </a:r>
                <a14:m>
                  <m:oMath xmlns:m="http://schemas.openxmlformats.org/officeDocument/2006/math">
                    <m:f>
                      <m:fPr>
                        <m:ctrlPr>
                          <a:rPr lang="en-US" altLang="zh-TW" i="1" smtClean="0">
                            <a:latin typeface="Cambria Math" panose="02040503050406030204" pitchFamily="18" charset="0"/>
                          </a:rPr>
                        </m:ctrlPr>
                      </m:fPr>
                      <m:num>
                        <m:r>
                          <a:rPr lang="zh-TW" altLang="en-US" i="1" smtClean="0">
                            <a:latin typeface="Cambria Math" panose="02040503050406030204" pitchFamily="18" charset="0"/>
                          </a:rPr>
                          <m:t>𝜕</m:t>
                        </m:r>
                        <m:r>
                          <a:rPr lang="en-US" altLang="zh-TW" b="0" i="1" smtClean="0">
                            <a:latin typeface="Cambria Math" panose="02040503050406030204" pitchFamily="18" charset="0"/>
                          </a:rPr>
                          <m:t>𝑆𝑆𝐸</m:t>
                        </m:r>
                      </m:num>
                      <m:den>
                        <m:r>
                          <a:rPr lang="zh-TW" altLang="en-US" b="0" i="1" smtClean="0">
                            <a:latin typeface="Cambria Math" panose="02040503050406030204" pitchFamily="18" charset="0"/>
                          </a:rPr>
                          <m:t>𝜕</m:t>
                        </m:r>
                        <m:r>
                          <a:rPr lang="en-US" altLang="zh-TW" b="0" i="1" smtClean="0">
                            <a:latin typeface="Cambria Math" panose="02040503050406030204" pitchFamily="18" charset="0"/>
                          </a:rPr>
                          <m:t>𝑏</m:t>
                        </m:r>
                      </m:den>
                    </m:f>
                    <m:r>
                      <a:rPr lang="en-US" altLang="zh-TW" b="0" i="1" smtClean="0">
                        <a:latin typeface="Cambria Math" panose="02040503050406030204" pitchFamily="18" charset="0"/>
                      </a:rPr>
                      <m:t>=2</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r>
                          <a:rPr lang="en-US" altLang="zh-TW" i="1">
                            <a:latin typeface="Cambria Math" panose="02040503050406030204" pitchFamily="18" charset="0"/>
                          </a:rPr>
                          <m:t>(</m:t>
                        </m:r>
                        <m:r>
                          <a:rPr lang="en-US" altLang="zh-TW" i="1">
                            <a:latin typeface="Cambria Math" panose="02040503050406030204" pitchFamily="18" charset="0"/>
                          </a:rPr>
                          <m:t>𝑦</m:t>
                        </m:r>
                        <m:r>
                          <a:rPr lang="en-US" altLang="zh-TW" i="1">
                            <a:latin typeface="Cambria Math" panose="02040503050406030204" pitchFamily="18" charset="0"/>
                          </a:rPr>
                          <m:t>−</m:t>
                        </m:r>
                        <m:r>
                          <a:rPr lang="en-US" altLang="zh-TW" i="1">
                            <a:latin typeface="Cambria Math" panose="02040503050406030204" pitchFamily="18" charset="0"/>
                          </a:rPr>
                          <m:t>𝑤𝑥</m:t>
                        </m:r>
                        <m:r>
                          <a:rPr lang="en-US" altLang="zh-TW" i="1">
                            <a:latin typeface="Cambria Math" panose="02040503050406030204" pitchFamily="18" charset="0"/>
                          </a:rPr>
                          <m:t>−</m:t>
                        </m:r>
                        <m:r>
                          <a:rPr lang="en-US" altLang="zh-TW" i="1">
                            <a:latin typeface="Cambria Math" panose="02040503050406030204" pitchFamily="18" charset="0"/>
                          </a:rPr>
                          <m:t>𝑏</m:t>
                        </m:r>
                        <m:r>
                          <a:rPr lang="en-US" altLang="zh-TW" i="1">
                            <a:latin typeface="Cambria Math" panose="02040503050406030204" pitchFamily="18" charset="0"/>
                          </a:rPr>
                          <m:t>)</m:t>
                        </m:r>
                      </m:e>
                    </m:nary>
                    <m:r>
                      <a:rPr lang="en-US" altLang="zh-TW" b="0" i="1" smtClean="0">
                        <a:latin typeface="Cambria Math" panose="02040503050406030204" pitchFamily="18" charset="0"/>
                      </a:rPr>
                      <m:t>=0</m:t>
                    </m:r>
                  </m:oMath>
                </a14:m>
                <a:endParaRPr lang="en-US" altLang="zh-TW" dirty="0"/>
              </a:p>
              <a:p>
                <a:pPr marL="0" indent="0">
                  <a:buNone/>
                </a:pPr>
                <a:r>
                  <a:rPr lang="en-US" altLang="zh-TW" dirty="0"/>
                  <a:t>-&gt;</a:t>
                </a:r>
                <a:r>
                  <a:rPr lang="en-US" altLang="zh-TW" b="0" dirty="0"/>
                  <a:t> </a:t>
                </a:r>
                <a14:m>
                  <m:oMath xmlns:m="http://schemas.openxmlformats.org/officeDocument/2006/math">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r>
                          <a:rPr lang="en-US" altLang="zh-TW" i="1">
                            <a:latin typeface="Cambria Math" panose="02040503050406030204" pitchFamily="18" charset="0"/>
                          </a:rPr>
                          <m:t>(</m:t>
                        </m:r>
                        <m:r>
                          <a:rPr lang="en-US" altLang="zh-TW" i="1">
                            <a:latin typeface="Cambria Math" panose="02040503050406030204" pitchFamily="18" charset="0"/>
                          </a:rPr>
                          <m:t>𝑦</m:t>
                        </m:r>
                        <m:r>
                          <a:rPr lang="en-US" altLang="zh-TW" i="1">
                            <a:latin typeface="Cambria Math" panose="02040503050406030204" pitchFamily="18" charset="0"/>
                          </a:rPr>
                          <m:t>−</m:t>
                        </m:r>
                        <m:r>
                          <a:rPr lang="en-US" altLang="zh-TW" i="1">
                            <a:latin typeface="Cambria Math" panose="02040503050406030204" pitchFamily="18" charset="0"/>
                          </a:rPr>
                          <m:t>𝑤𝑥</m:t>
                        </m:r>
                        <m:r>
                          <a:rPr lang="en-US" altLang="zh-TW" i="1">
                            <a:latin typeface="Cambria Math" panose="02040503050406030204" pitchFamily="18" charset="0"/>
                          </a:rPr>
                          <m:t>−</m:t>
                        </m:r>
                        <m:r>
                          <a:rPr lang="en-US" altLang="zh-TW" i="1">
                            <a:latin typeface="Cambria Math" panose="02040503050406030204" pitchFamily="18" charset="0"/>
                          </a:rPr>
                          <m:t>𝑏</m:t>
                        </m:r>
                        <m:r>
                          <a:rPr lang="en-US" altLang="zh-TW" i="1">
                            <a:latin typeface="Cambria Math" panose="02040503050406030204" pitchFamily="18" charset="0"/>
                          </a:rPr>
                          <m:t>)</m:t>
                        </m:r>
                      </m:e>
                    </m:nary>
                    <m:r>
                      <a:rPr lang="en-US" altLang="zh-TW" b="0" i="1" smtClean="0">
                        <a:latin typeface="Cambria Math" panose="02040503050406030204" pitchFamily="18" charset="0"/>
                      </a:rPr>
                      <m:t>=0</m:t>
                    </m:r>
                  </m:oMath>
                </a14:m>
                <a:endParaRPr lang="en-US" altLang="zh-TW" dirty="0"/>
              </a:p>
              <a:p>
                <a:pPr marL="0" indent="0">
                  <a:buNone/>
                </a:pPr>
                <a:r>
                  <a:rPr lang="en-US" altLang="zh-TW" dirty="0"/>
                  <a:t>-&gt;</a:t>
                </a: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r>
                          <a:rPr lang="en-US" altLang="zh-TW" b="0" i="1" smtClean="0">
                            <a:latin typeface="Cambria Math" panose="02040503050406030204" pitchFamily="18" charset="0"/>
                          </a:rPr>
                          <m:t>𝑦</m:t>
                        </m:r>
                      </m:e>
                    </m:nary>
                    <m:r>
                      <a:rPr lang="en-US" altLang="zh-TW" b="0" i="1" smtClean="0">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b="0" i="1" smtClean="0">
                            <a:latin typeface="Cambria Math" panose="02040503050406030204" pitchFamily="18" charset="0"/>
                          </a:rPr>
                          <m:t>𝑤𝑥</m:t>
                        </m:r>
                      </m:e>
                    </m:nary>
                    <m:r>
                      <a:rPr lang="en-US" altLang="zh-TW" b="0" i="1" smtClean="0">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b="0" i="1" smtClean="0">
                            <a:latin typeface="Cambria Math" panose="02040503050406030204" pitchFamily="18" charset="0"/>
                          </a:rPr>
                          <m:t>𝑏</m:t>
                        </m:r>
                      </m:e>
                    </m:nary>
                  </m:oMath>
                </a14:m>
                <a:r>
                  <a:rPr lang="en-US" altLang="zh-TW" dirty="0"/>
                  <a:t>=0</a:t>
                </a:r>
              </a:p>
              <a:p>
                <a:pPr marL="0" indent="0">
                  <a:buNone/>
                </a:pPr>
                <a:r>
                  <a:rPr lang="en-US" altLang="zh-TW" dirty="0"/>
                  <a:t>-&gt;</a:t>
                </a:r>
                <a:r>
                  <a:rPr lang="zh-TW" altLang="en-US" dirty="0">
                    <a:solidFill>
                      <a:srgbClr val="FF0000"/>
                    </a:solidFill>
                  </a:rPr>
                  <a:t>兩邊同時除以</a:t>
                </a:r>
                <a:r>
                  <a:rPr lang="en-US" altLang="zh-TW" dirty="0">
                    <a:solidFill>
                      <a:srgbClr val="FF0000"/>
                    </a:solidFill>
                  </a:rPr>
                  <a:t>n</a:t>
                </a:r>
                <a:r>
                  <a:rPr lang="zh-TW" altLang="en-US" dirty="0">
                    <a:solidFill>
                      <a:srgbClr val="FF0000"/>
                    </a:solidFill>
                  </a:rPr>
                  <a:t>後，變成平均數</a:t>
                </a:r>
                <a:endParaRPr lang="en-US" altLang="zh-TW" dirty="0">
                  <a:solidFill>
                    <a:srgbClr val="FF0000"/>
                  </a:solidFill>
                </a:endParaRPr>
              </a:p>
              <a:p>
                <a:pPr marL="0" indent="0">
                  <a:buNone/>
                </a:pPr>
                <a:r>
                  <a:rPr lang="en-US" altLang="zh-TW" dirty="0"/>
                  <a:t>-&gt;</a:t>
                </a:r>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𝑦</m:t>
                        </m:r>
                      </m:e>
                    </m:acc>
                    <m:r>
                      <a:rPr lang="en-US" altLang="zh-TW" b="0" i="1" smtClean="0">
                        <a:latin typeface="Cambria Math" panose="02040503050406030204" pitchFamily="18" charset="0"/>
                      </a:rPr>
                      <m:t>−</m:t>
                    </m:r>
                    <m:r>
                      <a:rPr lang="en-US" altLang="zh-TW" b="0" i="1" smtClean="0">
                        <a:latin typeface="Cambria Math" panose="02040503050406030204" pitchFamily="18" charset="0"/>
                      </a:rPr>
                      <m:t>𝑤</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𝑥</m:t>
                        </m:r>
                      </m:e>
                    </m:acc>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b="0" i="1" smtClean="0">
                        <a:latin typeface="Cambria Math" panose="02040503050406030204" pitchFamily="18" charset="0"/>
                      </a:rPr>
                      <m:t>=0</m:t>
                    </m:r>
                  </m:oMath>
                </a14:m>
                <a:r>
                  <a:rPr lang="en-US" altLang="zh-TW" dirty="0"/>
                  <a:t> →</a:t>
                </a:r>
                <a14:m>
                  <m:oMath xmlns:m="http://schemas.openxmlformats.org/officeDocument/2006/math">
                    <m:r>
                      <a:rPr lang="en-US" altLang="zh-TW" b="0" i="1" smtClean="0">
                        <a:latin typeface="Cambria Math" panose="02040503050406030204" pitchFamily="18" charset="0"/>
                      </a:rPr>
                      <m:t>𝑏</m:t>
                    </m:r>
                    <m:r>
                      <a:rPr lang="en-US" altLang="zh-TW" b="0" i="1" smtClean="0">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r>
                      <a:rPr lang="en-US" altLang="zh-TW" i="1">
                        <a:latin typeface="Cambria Math" panose="02040503050406030204" pitchFamily="18" charset="0"/>
                      </a:rPr>
                      <m:t>−</m:t>
                    </m:r>
                    <m:r>
                      <a:rPr lang="en-US" altLang="zh-TW" i="1">
                        <a:latin typeface="Cambria Math" panose="02040503050406030204" pitchFamily="18" charset="0"/>
                      </a:rPr>
                      <m:t>𝑤</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oMath>
                </a14:m>
                <a:endParaRPr lang="en-US" altLang="zh-TW" dirty="0"/>
              </a:p>
            </p:txBody>
          </p:sp>
        </mc:Choice>
        <mc:Fallback xmlns="">
          <p:sp>
            <p:nvSpPr>
              <p:cNvPr id="3" name="內容版面配置區 2">
                <a:extLst>
                  <a:ext uri="{FF2B5EF4-FFF2-40B4-BE49-F238E27FC236}">
                    <a16:creationId xmlns:a16="http://schemas.microsoft.com/office/drawing/2014/main" id="{0A037B5C-F128-4B2A-BF7B-00D27C2D5B85}"/>
                  </a:ext>
                </a:extLst>
              </p:cNvPr>
              <p:cNvSpPr>
                <a:spLocks noGrp="1" noRot="1" noChangeAspect="1" noMove="1" noResize="1" noEditPoints="1" noAdjustHandles="1" noChangeArrowheads="1" noChangeShapeType="1" noTextEdit="1"/>
              </p:cNvSpPr>
              <p:nvPr>
                <p:ph idx="1"/>
              </p:nvPr>
            </p:nvSpPr>
            <p:spPr>
              <a:xfrm>
                <a:off x="838200" y="1825624"/>
                <a:ext cx="10515600" cy="4753145"/>
              </a:xfrm>
              <a:blipFill>
                <a:blip r:embed="rId3"/>
                <a:stretch>
                  <a:fillRect l="-12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0796C669-4807-1B06-A563-01D35DC1B9C4}"/>
                  </a:ext>
                </a:extLst>
              </p:cNvPr>
              <p:cNvSpPr txBox="1"/>
              <p:nvPr/>
            </p:nvSpPr>
            <p:spPr>
              <a:xfrm>
                <a:off x="6746630" y="6067374"/>
                <a:ext cx="5703278" cy="646331"/>
              </a:xfrm>
              <a:prstGeom prst="rect">
                <a:avLst/>
              </a:prstGeom>
              <a:noFill/>
            </p:spPr>
            <p:txBody>
              <a:bodyPr wrap="square">
                <a:spAutoFit/>
              </a:bodyPr>
              <a:lstStyle/>
              <a:p>
                <a:r>
                  <a:rPr lang="zh-TW" altLang="en-US" dirty="0"/>
                  <a:t>微分公式：假</a:t>
                </a:r>
                <a14:m>
                  <m:oMath xmlns:m="http://schemas.openxmlformats.org/officeDocument/2006/math">
                    <m:r>
                      <a:rPr lang="zh-TW" altLang="en-US" b="0" i="1" dirty="0" smtClean="0">
                        <a:latin typeface="Cambria Math" panose="02040503050406030204" pitchFamily="18" charset="0"/>
                      </a:rPr>
                      <m:t>設</m:t>
                    </m:r>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𝑔</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𝑔</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oMath>
                </a14:m>
                <a:endParaRPr lang="en-US" altLang="zh-TW" b="0" dirty="0"/>
              </a:p>
              <a:p>
                <a:r>
                  <a:rPr lang="zh-TW" altLang="en-US" dirty="0"/>
                  <a:t>則</a:t>
                </a:r>
                <a14:m>
                  <m:oMath xmlns:m="http://schemas.openxmlformats.org/officeDocument/2006/math">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𝑓</m:t>
                        </m:r>
                      </m:e>
                      <m:sup>
                        <m:r>
                          <a:rPr lang="en-US" altLang="zh-TW" b="0" i="1" dirty="0" smtClean="0">
                            <a:latin typeface="Cambria Math" panose="02040503050406030204" pitchFamily="18" charset="0"/>
                          </a:rPr>
                          <m:t>′</m:t>
                        </m:r>
                      </m:sup>
                    </m:sSup>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𝑥</m:t>
                        </m:r>
                      </m:e>
                    </m:d>
                    <m:r>
                      <a:rPr lang="en-US" altLang="zh-TW" b="0" i="1"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𝑔</m:t>
                        </m:r>
                      </m:e>
                      <m:sup>
                        <m:r>
                          <a:rPr lang="en-US" altLang="zh-TW" b="0" i="1" dirty="0" smtClean="0">
                            <a:latin typeface="Cambria Math" panose="02040503050406030204" pitchFamily="18" charset="0"/>
                          </a:rPr>
                          <m:t>′</m:t>
                        </m:r>
                      </m:sup>
                    </m:sSup>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𝑥</m:t>
                        </m:r>
                      </m:e>
                    </m:d>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𝑔</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𝑥</m:t>
                        </m:r>
                      </m:e>
                    </m:d>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𝑔</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𝑥</m:t>
                        </m:r>
                      </m:e>
                    </m:d>
                    <m:r>
                      <a:rPr lang="en-US" altLang="zh-TW" b="0" i="1"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𝑔</m:t>
                        </m:r>
                      </m:e>
                      <m:sup>
                        <m:r>
                          <a:rPr lang="en-US" altLang="zh-TW" b="0" i="1" dirty="0" smtClean="0">
                            <a:latin typeface="Cambria Math" panose="02040503050406030204" pitchFamily="18" charset="0"/>
                          </a:rPr>
                          <m:t>′</m:t>
                        </m:r>
                      </m:sup>
                    </m:sSup>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𝑥</m:t>
                        </m:r>
                      </m:e>
                    </m:d>
                    <m:r>
                      <a:rPr lang="en-US" altLang="zh-TW" b="0" i="1" dirty="0" smtClean="0">
                        <a:latin typeface="Cambria Math" panose="02040503050406030204" pitchFamily="18" charset="0"/>
                      </a:rPr>
                      <m:t>=2</m:t>
                    </m:r>
                    <m:r>
                      <a:rPr lang="en-US" altLang="zh-TW" b="0" i="1" dirty="0" smtClean="0">
                        <a:latin typeface="Cambria Math" panose="02040503050406030204" pitchFamily="18" charset="0"/>
                      </a:rPr>
                      <m:t>𝑔</m:t>
                    </m:r>
                    <m:d>
                      <m:dPr>
                        <m:ctrlPr>
                          <a:rPr lang="en-US" altLang="zh-TW" b="0" i="1" dirty="0" smtClean="0">
                            <a:latin typeface="Cambria Math" panose="02040503050406030204" pitchFamily="18" charset="0"/>
                          </a:rPr>
                        </m:ctrlPr>
                      </m:dPr>
                      <m:e>
                        <m:r>
                          <a:rPr lang="en-US" altLang="zh-TW" b="0" i="1" dirty="0" smtClean="0">
                            <a:latin typeface="Cambria Math" panose="02040503050406030204" pitchFamily="18" charset="0"/>
                          </a:rPr>
                          <m:t>𝑥</m:t>
                        </m:r>
                      </m:e>
                    </m:d>
                    <m:r>
                      <a:rPr lang="en-US" altLang="zh-TW" b="0" i="1" dirty="0" smtClean="0">
                        <a:latin typeface="Cambria Math" panose="02040503050406030204" pitchFamily="18" charset="0"/>
                      </a:rPr>
                      <m:t>𝑔</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rPr>
                      <m:t>𝑥</m:t>
                    </m:r>
                    <m:r>
                      <a:rPr lang="en-US" altLang="zh-TW" b="0" i="1" dirty="0" smtClean="0">
                        <a:latin typeface="Cambria Math" panose="02040503050406030204" pitchFamily="18" charset="0"/>
                      </a:rPr>
                      <m:t>)</m:t>
                    </m:r>
                  </m:oMath>
                </a14:m>
                <a:endParaRPr lang="en-US" altLang="zh-TW" b="0" dirty="0"/>
              </a:p>
            </p:txBody>
          </p:sp>
        </mc:Choice>
        <mc:Fallback xmlns="">
          <p:sp>
            <p:nvSpPr>
              <p:cNvPr id="5" name="文字方塊 4">
                <a:extLst>
                  <a:ext uri="{FF2B5EF4-FFF2-40B4-BE49-F238E27FC236}">
                    <a16:creationId xmlns:a16="http://schemas.microsoft.com/office/drawing/2014/main" id="{0796C669-4807-1B06-A563-01D35DC1B9C4}"/>
                  </a:ext>
                </a:extLst>
              </p:cNvPr>
              <p:cNvSpPr txBox="1">
                <a:spLocks noRot="1" noChangeAspect="1" noMove="1" noResize="1" noEditPoints="1" noAdjustHandles="1" noChangeArrowheads="1" noChangeShapeType="1" noTextEdit="1"/>
              </p:cNvSpPr>
              <p:nvPr/>
            </p:nvSpPr>
            <p:spPr>
              <a:xfrm>
                <a:off x="6746630" y="6067374"/>
                <a:ext cx="5703278" cy="646331"/>
              </a:xfrm>
              <a:prstGeom prst="rect">
                <a:avLst/>
              </a:prstGeom>
              <a:blipFill>
                <a:blip r:embed="rId4"/>
                <a:stretch>
                  <a:fillRect l="-963" t="-4717" b="-14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92910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424BAD-5510-428F-9267-FA6436CB5E97}"/>
              </a:ext>
            </a:extLst>
          </p:cNvPr>
          <p:cNvSpPr>
            <a:spLocks noGrp="1"/>
          </p:cNvSpPr>
          <p:nvPr>
            <p:ph type="title"/>
          </p:nvPr>
        </p:nvSpPr>
        <p:spPr/>
        <p:txBody>
          <a:bodyPr/>
          <a:lstStyle/>
          <a:p>
            <a:r>
              <a:rPr lang="zh-TW" altLang="en-US" dirty="0"/>
              <a:t>求解</a:t>
            </a:r>
            <a:r>
              <a:rPr lang="en-US" altLang="zh-TW" dirty="0"/>
              <a:t>(</a:t>
            </a:r>
            <a:r>
              <a:rPr lang="zh-TW" altLang="en-US" dirty="0"/>
              <a:t>換個變數，</a:t>
            </a:r>
            <a:r>
              <a:rPr lang="en-US" altLang="zh-TW" dirty="0"/>
              <a:t>y=w*</a:t>
            </a:r>
            <a:r>
              <a:rPr lang="en-US" altLang="zh-TW" dirty="0" err="1"/>
              <a:t>x+b</a:t>
            </a:r>
            <a:r>
              <a:rPr lang="en-US" altLang="zh-TW" dirty="0"/>
              <a: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B8FB327-109E-4EFD-8EBD-19711712D7F2}"/>
                  </a:ext>
                </a:extLst>
              </p:cNvPr>
              <p:cNvSpPr>
                <a:spLocks noGrp="1"/>
              </p:cNvSpPr>
              <p:nvPr>
                <p:ph idx="1"/>
              </p:nvPr>
            </p:nvSpPr>
            <p:spPr>
              <a:xfrm>
                <a:off x="838200" y="1825624"/>
                <a:ext cx="10515600" cy="4869815"/>
              </a:xfrm>
            </p:spPr>
            <p:txBody>
              <a:bodyPr/>
              <a:lstStyle/>
              <a:p>
                <a:pPr marL="0" indent="0">
                  <a:buNone/>
                </a:pPr>
                <a:r>
                  <a:rPr lang="en-US" altLang="zh-TW" dirty="0"/>
                  <a:t>2. </a:t>
                </a:r>
                <a:r>
                  <a:rPr lang="zh-TW" altLang="en-US" dirty="0"/>
                  <a:t>對</a:t>
                </a:r>
                <a:r>
                  <a:rPr lang="en-US" altLang="zh-TW" dirty="0"/>
                  <a:t>w</a:t>
                </a:r>
                <a:r>
                  <a:rPr lang="zh-TW" altLang="en-US" dirty="0"/>
                  <a:t>偏微分，</a:t>
                </a:r>
                <a14:m>
                  <m:oMath xmlns:m="http://schemas.openxmlformats.org/officeDocument/2006/math">
                    <m:r>
                      <a:rPr lang="en-US" altLang="zh-TW" b="0" i="1" smtClean="0">
                        <a:latin typeface="Cambria Math" panose="02040503050406030204" pitchFamily="18" charset="0"/>
                      </a:rPr>
                      <m:t>𝑆𝑆𝐸</m:t>
                    </m:r>
                    <m:r>
                      <a:rPr lang="en-US" altLang="zh-TW" b="0" i="1" smtClean="0">
                        <a:latin typeface="Cambria Math" panose="02040503050406030204" pitchFamily="18" charset="0"/>
                      </a:rPr>
                      <m:t>=</m:t>
                    </m:r>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m:t>
                            </m:r>
                            <m:r>
                              <a:rPr lang="en-US" altLang="zh-TW" b="0" i="1" smtClean="0">
                                <a:latin typeface="Cambria Math" panose="02040503050406030204" pitchFamily="18" charset="0"/>
                              </a:rPr>
                              <m:t>𝑦</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𝑦</m:t>
                                </m:r>
                              </m:e>
                            </m:acc>
                            <m:r>
                              <a:rPr lang="en-US" altLang="zh-TW" b="0" i="1" smtClean="0">
                                <a:latin typeface="Cambria Math" panose="02040503050406030204" pitchFamily="18" charset="0"/>
                              </a:rPr>
                              <m:t>)</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e>
                    </m:nary>
                    <m:nary>
                      <m:naryPr>
                        <m:chr m:val="∑"/>
                        <m:subHide m:val="on"/>
                        <m:supHide m:val="on"/>
                        <m:ctrlPr>
                          <a:rPr lang="en-US" altLang="zh-TW" i="1">
                            <a:latin typeface="Cambria Math" panose="02040503050406030204" pitchFamily="18" charset="0"/>
                          </a:rPr>
                        </m:ctrlPr>
                      </m:naryPr>
                      <m:sub/>
                      <m:sup/>
                      <m:e>
                        <m:sSup>
                          <m:sSupPr>
                            <m:ctrlPr>
                              <a:rPr lang="en-US" altLang="zh-TW" i="1">
                                <a:latin typeface="Cambria Math" panose="02040503050406030204" pitchFamily="18" charset="0"/>
                              </a:rPr>
                            </m:ctrlPr>
                          </m:sSupPr>
                          <m:e>
                            <m:r>
                              <a:rPr lang="en-US" altLang="zh-TW" i="1">
                                <a:latin typeface="Cambria Math" panose="02040503050406030204" pitchFamily="18" charset="0"/>
                              </a:rPr>
                              <m:t>(</m:t>
                            </m:r>
                            <m:r>
                              <a:rPr lang="en-US" altLang="zh-TW" i="1">
                                <a:latin typeface="Cambria Math" panose="02040503050406030204" pitchFamily="18" charset="0"/>
                              </a:rPr>
                              <m:t>𝑦</m:t>
                            </m:r>
                            <m:r>
                              <a:rPr lang="en-US" altLang="zh-TW" i="1">
                                <a:latin typeface="Cambria Math" panose="02040503050406030204" pitchFamily="18" charset="0"/>
                              </a:rPr>
                              <m:t>−</m:t>
                            </m:r>
                            <m:r>
                              <a:rPr lang="en-US" altLang="zh-TW" b="0" i="1" smtClean="0">
                                <a:latin typeface="Cambria Math" panose="02040503050406030204" pitchFamily="18" charset="0"/>
                              </a:rPr>
                              <m:t>𝑤𝑥</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i="1">
                                <a:latin typeface="Cambria Math" panose="02040503050406030204" pitchFamily="18" charset="0"/>
                              </a:rPr>
                              <m:t>)</m:t>
                            </m:r>
                          </m:e>
                          <m:sup>
                            <m:r>
                              <a:rPr lang="en-US" altLang="zh-TW" i="1">
                                <a:latin typeface="Cambria Math" panose="02040503050406030204" pitchFamily="18" charset="0"/>
                              </a:rPr>
                              <m:t>2</m:t>
                            </m:r>
                          </m:sup>
                        </m:sSup>
                      </m:e>
                    </m:nary>
                  </m:oMath>
                </a14:m>
                <a:endParaRPr lang="en-US" altLang="zh-TW" dirty="0"/>
              </a:p>
              <a:p>
                <a:pPr marL="0" indent="0">
                  <a:buNone/>
                </a:pPr>
                <a:r>
                  <a:rPr lang="zh-TW" altLang="en-US" dirty="0"/>
                  <a:t>令 </a:t>
                </a:r>
                <a14:m>
                  <m:oMath xmlns:m="http://schemas.openxmlformats.org/officeDocument/2006/math">
                    <m:f>
                      <m:fPr>
                        <m:ctrlPr>
                          <a:rPr lang="en-US" altLang="zh-TW" i="1" smtClean="0">
                            <a:latin typeface="Cambria Math" panose="02040503050406030204" pitchFamily="18" charset="0"/>
                          </a:rPr>
                        </m:ctrlPr>
                      </m:fPr>
                      <m:num>
                        <m:r>
                          <a:rPr lang="zh-TW" altLang="en-US" i="1" smtClean="0">
                            <a:latin typeface="Cambria Math" panose="02040503050406030204" pitchFamily="18" charset="0"/>
                          </a:rPr>
                          <m:t>𝜕</m:t>
                        </m:r>
                        <m:r>
                          <a:rPr lang="en-US" altLang="zh-TW" b="0" i="1" smtClean="0">
                            <a:latin typeface="Cambria Math" panose="02040503050406030204" pitchFamily="18" charset="0"/>
                          </a:rPr>
                          <m:t>𝑆𝑆𝐸</m:t>
                        </m:r>
                      </m:num>
                      <m:den>
                        <m:r>
                          <a:rPr lang="zh-TW" altLang="en-US" b="0" i="1" smtClean="0">
                            <a:latin typeface="Cambria Math" panose="02040503050406030204" pitchFamily="18" charset="0"/>
                          </a:rPr>
                          <m:t>𝜕</m:t>
                        </m:r>
                        <m:r>
                          <a:rPr lang="en-US" altLang="zh-TW" b="0" i="1" smtClean="0">
                            <a:latin typeface="Cambria Math" panose="02040503050406030204" pitchFamily="18" charset="0"/>
                          </a:rPr>
                          <m:t>𝑤</m:t>
                        </m:r>
                      </m:den>
                    </m:f>
                    <m:r>
                      <a:rPr lang="en-US" altLang="zh-TW" b="0" i="1" smtClean="0">
                        <a:latin typeface="Cambria Math" panose="02040503050406030204" pitchFamily="18" charset="0"/>
                      </a:rPr>
                      <m:t>=2</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d>
                          <m:dPr>
                            <m:ctrlPr>
                              <a:rPr lang="en-US" altLang="zh-TW" i="1">
                                <a:latin typeface="Cambria Math" panose="02040503050406030204" pitchFamily="18" charset="0"/>
                              </a:rPr>
                            </m:ctrlPr>
                          </m:dPr>
                          <m:e>
                            <m:r>
                              <a:rPr lang="en-US" altLang="zh-TW" i="1">
                                <a:latin typeface="Cambria Math" panose="02040503050406030204" pitchFamily="18" charset="0"/>
                              </a:rPr>
                              <m:t>𝑦</m:t>
                            </m:r>
                            <m:r>
                              <a:rPr lang="en-US" altLang="zh-TW" i="1">
                                <a:latin typeface="Cambria Math" panose="02040503050406030204" pitchFamily="18" charset="0"/>
                              </a:rPr>
                              <m:t>−</m:t>
                            </m:r>
                            <m:r>
                              <a:rPr lang="en-US" altLang="zh-TW" i="1">
                                <a:latin typeface="Cambria Math" panose="02040503050406030204" pitchFamily="18" charset="0"/>
                              </a:rPr>
                              <m:t>𝑤𝑥</m:t>
                            </m:r>
                            <m:r>
                              <a:rPr lang="en-US" altLang="zh-TW" i="1">
                                <a:latin typeface="Cambria Math" panose="02040503050406030204" pitchFamily="18" charset="0"/>
                              </a:rPr>
                              <m:t>−</m:t>
                            </m:r>
                            <m:r>
                              <a:rPr lang="en-US" altLang="zh-TW" i="1">
                                <a:latin typeface="Cambria Math" panose="02040503050406030204" pitchFamily="18" charset="0"/>
                              </a:rPr>
                              <m:t>𝑏</m:t>
                            </m:r>
                          </m:e>
                        </m:d>
                      </m:e>
                    </m:nary>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m:t>
                        </m:r>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r>
                      <a:rPr lang="en-US" altLang="zh-TW" i="1">
                        <a:latin typeface="Cambria Math" panose="02040503050406030204" pitchFamily="18" charset="0"/>
                      </a:rPr>
                      <m:t>2</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d>
                          <m:dPr>
                            <m:ctrlPr>
                              <a:rPr lang="en-US" altLang="zh-TW" i="1">
                                <a:latin typeface="Cambria Math" panose="02040503050406030204" pitchFamily="18" charset="0"/>
                              </a:rPr>
                            </m:ctrlPr>
                          </m:dPr>
                          <m:e>
                            <m:r>
                              <a:rPr lang="en-US" altLang="zh-TW" i="1">
                                <a:latin typeface="Cambria Math" panose="02040503050406030204" pitchFamily="18" charset="0"/>
                              </a:rPr>
                              <m:t>𝑦</m:t>
                            </m:r>
                            <m:r>
                              <a:rPr lang="en-US" altLang="zh-TW" i="1">
                                <a:latin typeface="Cambria Math" panose="02040503050406030204" pitchFamily="18" charset="0"/>
                              </a:rPr>
                              <m:t>−</m:t>
                            </m:r>
                            <m:r>
                              <a:rPr lang="en-US" altLang="zh-TW" i="1">
                                <a:latin typeface="Cambria Math" panose="02040503050406030204" pitchFamily="18" charset="0"/>
                              </a:rPr>
                              <m:t>𝑤𝑥</m:t>
                            </m:r>
                            <m:r>
                              <a:rPr lang="en-US" altLang="zh-TW" i="1">
                                <a:latin typeface="Cambria Math" panose="02040503050406030204" pitchFamily="18" charset="0"/>
                              </a:rPr>
                              <m:t>−</m:t>
                            </m:r>
                            <m:r>
                              <a:rPr lang="en-US" altLang="zh-TW" i="1">
                                <a:latin typeface="Cambria Math" panose="02040503050406030204" pitchFamily="18" charset="0"/>
                              </a:rPr>
                              <m:t>𝑏</m:t>
                            </m:r>
                          </m:e>
                        </m:d>
                      </m:e>
                    </m:nary>
                    <m:r>
                      <a:rPr lang="en-US" altLang="zh-TW" i="1">
                        <a:latin typeface="Cambria Math" panose="02040503050406030204" pitchFamily="18" charset="0"/>
                      </a:rPr>
                      <m:t>𝑥</m:t>
                    </m:r>
                    <m:r>
                      <a:rPr lang="en-US" altLang="zh-TW" b="0" i="1" smtClean="0">
                        <a:latin typeface="Cambria Math" panose="02040503050406030204" pitchFamily="18" charset="0"/>
                      </a:rPr>
                      <m:t>=</m:t>
                    </m:r>
                    <m:r>
                      <a:rPr lang="en-US" altLang="zh-TW" i="1">
                        <a:latin typeface="Cambria Math" panose="02040503050406030204" pitchFamily="18" charset="0"/>
                      </a:rPr>
                      <m:t>0</m:t>
                    </m:r>
                  </m:oMath>
                </a14:m>
                <a:endParaRPr lang="en-US" altLang="zh-TW" dirty="0"/>
              </a:p>
              <a:p>
                <a:pPr marL="0" indent="0">
                  <a:buNone/>
                </a:pPr>
                <a:r>
                  <a:rPr lang="en-US" altLang="zh-TW" dirty="0"/>
                  <a:t>-&gt;</a:t>
                </a: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d>
                          <m:dPr>
                            <m:ctrlPr>
                              <a:rPr lang="en-US" altLang="zh-TW" i="1">
                                <a:latin typeface="Cambria Math" panose="02040503050406030204" pitchFamily="18" charset="0"/>
                              </a:rPr>
                            </m:ctrlPr>
                          </m:dPr>
                          <m:e>
                            <m:r>
                              <a:rPr lang="en-US" altLang="zh-TW" i="1">
                                <a:latin typeface="Cambria Math" panose="02040503050406030204" pitchFamily="18" charset="0"/>
                              </a:rPr>
                              <m:t>𝑦</m:t>
                            </m:r>
                            <m:r>
                              <a:rPr lang="en-US" altLang="zh-TW" i="1">
                                <a:latin typeface="Cambria Math" panose="02040503050406030204" pitchFamily="18" charset="0"/>
                              </a:rPr>
                              <m:t>−</m:t>
                            </m:r>
                            <m:r>
                              <a:rPr lang="en-US" altLang="zh-TW" i="1">
                                <a:latin typeface="Cambria Math" panose="02040503050406030204" pitchFamily="18" charset="0"/>
                              </a:rPr>
                              <m:t>𝑤𝑥</m:t>
                            </m:r>
                            <m:r>
                              <a:rPr lang="en-US" altLang="zh-TW" i="1">
                                <a:latin typeface="Cambria Math" panose="02040503050406030204" pitchFamily="18" charset="0"/>
                              </a:rPr>
                              <m:t>−</m:t>
                            </m:r>
                            <m:r>
                              <a:rPr lang="en-US" altLang="zh-TW" i="1">
                                <a:latin typeface="Cambria Math" panose="02040503050406030204" pitchFamily="18" charset="0"/>
                              </a:rPr>
                              <m:t>𝑏</m:t>
                            </m:r>
                          </m:e>
                        </m:d>
                      </m:e>
                    </m:nary>
                    <m:r>
                      <a:rPr lang="en-US" altLang="zh-TW" i="1">
                        <a:latin typeface="Cambria Math" panose="02040503050406030204" pitchFamily="18" charset="0"/>
                      </a:rPr>
                      <m:t>𝑥</m:t>
                    </m:r>
                    <m:r>
                      <a:rPr lang="en-US" altLang="zh-TW" b="0" i="1" smtClean="0">
                        <a:latin typeface="Cambria Math" panose="02040503050406030204" pitchFamily="18" charset="0"/>
                      </a:rPr>
                      <m:t>=</m:t>
                    </m:r>
                    <m:r>
                      <a:rPr lang="en-US" altLang="zh-TW" i="1">
                        <a:latin typeface="Cambria Math" panose="02040503050406030204" pitchFamily="18" charset="0"/>
                      </a:rPr>
                      <m:t>0</m:t>
                    </m:r>
                  </m:oMath>
                </a14:m>
                <a:r>
                  <a:rPr lang="en-US" altLang="zh-TW" dirty="0"/>
                  <a:t> (</a:t>
                </a:r>
                <a:r>
                  <a:rPr lang="zh-TW" altLang="en-US" dirty="0"/>
                  <a:t>同除</a:t>
                </a:r>
                <a:r>
                  <a:rPr lang="en-US" altLang="zh-TW" dirty="0"/>
                  <a:t>-2)</a:t>
                </a:r>
              </a:p>
              <a:p>
                <a:pPr marL="0" indent="0">
                  <a:buNone/>
                </a:pPr>
                <a:r>
                  <a:rPr lang="en-US" altLang="zh-TW" dirty="0"/>
                  <a:t>-&gt;</a:t>
                </a: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m:t>
                        </m:r>
                        <m:r>
                          <m:rPr>
                            <m:brk m:alnAt="23"/>
                          </m:rP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r>
                          <a:rPr lang="en-US" altLang="zh-TW" b="0" i="1" smtClean="0">
                            <a:latin typeface="Cambria Math" panose="02040503050406030204" pitchFamily="18" charset="0"/>
                          </a:rPr>
                          <m:t>𝑦𝑥</m:t>
                        </m:r>
                      </m:e>
                    </m:nary>
                    <m:r>
                      <a:rPr lang="en-US" altLang="zh-TW" b="0" i="1" smtClean="0">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b="0" i="1" smtClean="0">
                            <a:latin typeface="Cambria Math" panose="02040503050406030204" pitchFamily="18" charset="0"/>
                          </a:rPr>
                          <m:t>𝑤</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e>
                    </m:nary>
                    <m:r>
                      <a:rPr lang="en-US" altLang="zh-TW" b="0" i="1" smtClean="0">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b="0" i="1" smtClean="0">
                            <a:latin typeface="Cambria Math" panose="02040503050406030204" pitchFamily="18" charset="0"/>
                          </a:rPr>
                          <m:t>𝑏𝑥</m:t>
                        </m:r>
                      </m:e>
                    </m:nary>
                  </m:oMath>
                </a14:m>
                <a:r>
                  <a:rPr lang="en-US" altLang="zh-TW" dirty="0"/>
                  <a:t>=0</a:t>
                </a:r>
                <a:r>
                  <a:rPr lang="zh-TW" altLang="en-US" dirty="0"/>
                  <a:t>，因</a:t>
                </a:r>
                <a14:m>
                  <m:oMath xmlns:m="http://schemas.openxmlformats.org/officeDocument/2006/math">
                    <m:r>
                      <a:rPr lang="en-US" altLang="zh-TW" i="1">
                        <a:latin typeface="Cambria Math" panose="02040503050406030204" pitchFamily="18" charset="0"/>
                      </a:rPr>
                      <m:t>𝑏</m:t>
                    </m:r>
                    <m:r>
                      <a:rPr lang="en-US" altLang="zh-TW" i="1">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r>
                      <a:rPr lang="en-US" altLang="zh-TW" i="1">
                        <a:latin typeface="Cambria Math" panose="02040503050406030204" pitchFamily="18" charset="0"/>
                      </a:rPr>
                      <m:t>−</m:t>
                    </m:r>
                    <m:r>
                      <a:rPr lang="en-US" altLang="zh-TW" i="1">
                        <a:latin typeface="Cambria Math" panose="02040503050406030204" pitchFamily="18" charset="0"/>
                      </a:rPr>
                      <m:t>𝑤</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r>
                      <a:rPr lang="zh-TW" altLang="en-US" i="1">
                        <a:latin typeface="Cambria Math" panose="02040503050406030204" pitchFamily="18" charset="0"/>
                      </a:rPr>
                      <m:t>代入</m:t>
                    </m:r>
                  </m:oMath>
                </a14:m>
                <a:endParaRPr lang="en-US" altLang="zh-TW" dirty="0"/>
              </a:p>
              <a:p>
                <a:pPr marL="0" indent="0">
                  <a:buNone/>
                </a:pPr>
                <a:r>
                  <a:rPr lang="en-US" altLang="zh-TW" dirty="0"/>
                  <a:t>-&gt; </a:t>
                </a: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m:t>
                        </m:r>
                        <m:r>
                          <m:rPr>
                            <m:brk m:alnAt="23"/>
                          </m:rP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r>
                          <a:rPr lang="en-US" altLang="zh-TW" b="0" i="1" smtClean="0">
                            <a:latin typeface="Cambria Math" panose="02040503050406030204" pitchFamily="18" charset="0"/>
                          </a:rPr>
                          <m:t>𝑦𝑥</m:t>
                        </m:r>
                      </m:e>
                    </m:nary>
                    <m:r>
                      <a:rPr lang="en-US" altLang="zh-TW" b="0" i="1" smtClean="0">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b="0" i="1" smtClean="0">
                            <a:latin typeface="Cambria Math" panose="02040503050406030204" pitchFamily="18" charset="0"/>
                          </a:rPr>
                          <m:t>𝑤</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e>
                    </m:nary>
                    <m:r>
                      <a:rPr lang="en-US" altLang="zh-TW" b="0" i="1" smtClean="0">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d>
                          <m:dPr>
                            <m:ctrlPr>
                              <a:rPr lang="en-US" altLang="zh-TW" b="0" i="1" smtClean="0">
                                <a:latin typeface="Cambria Math" panose="02040503050406030204" pitchFamily="18" charset="0"/>
                              </a:rPr>
                            </m:ctrlPr>
                          </m:d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r>
                              <a:rPr lang="en-US" altLang="zh-TW" i="1">
                                <a:latin typeface="Cambria Math" panose="02040503050406030204" pitchFamily="18" charset="0"/>
                              </a:rPr>
                              <m:t>−</m:t>
                            </m:r>
                            <m:r>
                              <a:rPr lang="en-US" altLang="zh-TW" i="1">
                                <a:latin typeface="Cambria Math" panose="02040503050406030204" pitchFamily="18" charset="0"/>
                              </a:rPr>
                              <m:t>𝑤</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e>
                        </m:d>
                        <m:r>
                          <a:rPr lang="en-US" altLang="zh-TW" b="0" i="1" smtClean="0">
                            <a:latin typeface="Cambria Math" panose="02040503050406030204" pitchFamily="18" charset="0"/>
                          </a:rPr>
                          <m:t>𝑥</m:t>
                        </m:r>
                      </m:e>
                    </m:nary>
                    <m:r>
                      <a:rPr lang="en-US" altLang="zh-TW" b="0" i="1" smtClean="0">
                        <a:latin typeface="Cambria Math" panose="02040503050406030204" pitchFamily="18" charset="0"/>
                      </a:rPr>
                      <m:t>=0</m:t>
                    </m:r>
                  </m:oMath>
                </a14:m>
                <a:endParaRPr lang="en-US" altLang="zh-TW" dirty="0"/>
              </a:p>
              <a:p>
                <a:pPr marL="0" indent="0">
                  <a:buNone/>
                </a:pPr>
                <a:r>
                  <a:rPr lang="en-US" altLang="zh-TW" dirty="0"/>
                  <a:t>-&gt;</a:t>
                </a: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m:t>
                        </m:r>
                        <m:r>
                          <m:rPr>
                            <m:brk m:alnAt="23"/>
                          </m:rP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r>
                          <a:rPr lang="en-US" altLang="zh-TW" b="0" i="1" smtClean="0">
                            <a:latin typeface="Cambria Math" panose="02040503050406030204" pitchFamily="18" charset="0"/>
                          </a:rPr>
                          <m:t>𝑦𝑥</m:t>
                        </m:r>
                      </m:e>
                    </m:nary>
                    <m:r>
                      <a:rPr lang="en-US" altLang="zh-TW" b="0" i="1" smtClean="0">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b="0" i="1" smtClean="0">
                            <a:latin typeface="Cambria Math" panose="02040503050406030204" pitchFamily="18" charset="0"/>
                          </a:rPr>
                          <m:t>𝑤</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e>
                    </m:nary>
                    <m:r>
                      <a:rPr lang="en-US" altLang="zh-TW" b="0" i="1" smtClean="0">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b="0" i="1" smtClean="0">
                            <a:latin typeface="Cambria Math" panose="02040503050406030204" pitchFamily="18" charset="0"/>
                          </a:rPr>
                          <m:t>𝑥</m:t>
                        </m:r>
                      </m:e>
                    </m:acc>
                    <m:r>
                      <a:rPr lang="en-US" altLang="zh-TW" b="0" i="1" smtClean="0">
                        <a:latin typeface="Cambria Math" panose="02040503050406030204" pitchFamily="18" charset="0"/>
                      </a:rPr>
                      <m:t>+</m:t>
                    </m:r>
                    <m:r>
                      <a:rPr lang="en-US" altLang="zh-TW" i="1">
                        <a:latin typeface="Cambria Math" panose="02040503050406030204" pitchFamily="18" charset="0"/>
                      </a:rPr>
                      <m:t>𝑤</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r>
                      <a:rPr lang="en-US" altLang="zh-TW" b="0" i="1" smtClean="0">
                        <a:latin typeface="Cambria Math" panose="02040503050406030204" pitchFamily="18" charset="0"/>
                      </a:rPr>
                      <m:t>∗</m:t>
                    </m:r>
                    <m:r>
                      <a:rPr lang="en-US" altLang="zh-TW" i="1">
                        <a:latin typeface="Cambria Math" panose="02040503050406030204" pitchFamily="18" charset="0"/>
                      </a:rPr>
                      <m:t>𝑛</m:t>
                    </m:r>
                    <m:r>
                      <a:rPr lang="en-US" altLang="zh-TW" i="1">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r>
                      <a:rPr lang="en-US" altLang="zh-TW" b="0" i="1" smtClean="0">
                        <a:latin typeface="Cambria Math" panose="02040503050406030204" pitchFamily="18" charset="0"/>
                      </a:rPr>
                      <m:t>=0</m:t>
                    </m:r>
                  </m:oMath>
                </a14:m>
                <a:endParaRPr lang="en-US" altLang="zh-TW" dirty="0"/>
              </a:p>
              <a:p>
                <a:pPr marL="0" indent="0">
                  <a:buNone/>
                </a:pPr>
                <a:r>
                  <a:rPr lang="en-US" altLang="zh-TW" dirty="0"/>
                  <a:t>-&gt;</a:t>
                </a:r>
                <a14:m>
                  <m:oMath xmlns:m="http://schemas.openxmlformats.org/officeDocument/2006/math">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m:t>
                        </m:r>
                        <m:r>
                          <m:rPr>
                            <m:brk m:alnAt="23"/>
                          </m:rP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r>
                          <a:rPr lang="en-US" altLang="zh-TW" b="0" i="1" smtClean="0">
                            <a:latin typeface="Cambria Math" panose="02040503050406030204" pitchFamily="18" charset="0"/>
                          </a:rPr>
                          <m:t>𝑦𝑥</m:t>
                        </m:r>
                      </m:e>
                    </m:nary>
                    <m:r>
                      <a:rPr lang="en-US" altLang="zh-TW" i="1">
                        <a:latin typeface="Cambria Math" panose="02040503050406030204" pitchFamily="18" charset="0"/>
                      </a:rPr>
                      <m:t>−</m:t>
                    </m:r>
                    <m:r>
                      <a:rPr lang="en-US" altLang="zh-TW" b="0" i="1" smtClean="0">
                        <a:latin typeface="Cambria Math" panose="02040503050406030204" pitchFamily="18" charset="0"/>
                      </a:rPr>
                      <m:t>𝑛</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e>
                    </m:nary>
                    <m:r>
                      <a:rPr lang="en-US" altLang="zh-TW" b="0" i="1" smtClean="0">
                        <a:latin typeface="Cambria Math" panose="02040503050406030204" pitchFamily="18" charset="0"/>
                      </a:rPr>
                      <m:t>−</m:t>
                    </m:r>
                    <m:r>
                      <a:rPr lang="en-US" altLang="zh-TW" i="1">
                        <a:latin typeface="Cambria Math" panose="02040503050406030204" pitchFamily="18" charset="0"/>
                      </a:rPr>
                      <m:t>𝑛</m:t>
                    </m:r>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r>
                          <a:rPr lang="en-US" altLang="zh-TW" b="0" i="1" smtClean="0">
                            <a:latin typeface="Cambria Math" panose="02040503050406030204" pitchFamily="18" charset="0"/>
                          </a:rPr>
                          <m:t>)</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)=0</m:t>
                    </m:r>
                  </m:oMath>
                </a14:m>
                <a:endParaRPr lang="en-US" altLang="zh-TW" dirty="0"/>
              </a:p>
              <a:p>
                <a:pPr marL="0" indent="0">
                  <a:buNone/>
                </a:pPr>
                <a:r>
                  <a:rPr lang="en-US" altLang="zh-TW" dirty="0"/>
                  <a:t>-&gt;</a:t>
                </a:r>
                <a14:m>
                  <m:oMath xmlns:m="http://schemas.openxmlformats.org/officeDocument/2006/math">
                    <m:r>
                      <a:rPr lang="en-US" altLang="zh-TW" b="0" i="1" smtClean="0">
                        <a:latin typeface="Cambria Math" panose="02040503050406030204" pitchFamily="18" charset="0"/>
                      </a:rPr>
                      <m:t>𝑤</m:t>
                    </m:r>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r>
                              <a:rPr lang="en-US" altLang="zh-TW" i="1">
                                <a:latin typeface="Cambria Math" panose="02040503050406030204" pitchFamily="18" charset="0"/>
                              </a:rPr>
                              <m:t>𝑦𝑥</m:t>
                            </m:r>
                          </m:e>
                        </m:nary>
                        <m:r>
                          <a:rPr lang="en-US" altLang="zh-TW" i="1">
                            <a:latin typeface="Cambria Math" panose="02040503050406030204" pitchFamily="18" charset="0"/>
                          </a:rPr>
                          <m:t>−</m:t>
                        </m:r>
                        <m:r>
                          <a:rPr lang="en-US" altLang="zh-TW" i="1">
                            <a:latin typeface="Cambria Math" panose="02040503050406030204" pitchFamily="18" charset="0"/>
                          </a:rPr>
                          <m:t>𝑛</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num>
                      <m:den>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m:t>
                            </m:r>
                            <m:r>
                              <m:rPr>
                                <m:brk m:alnAt="23"/>
                              </m:rPr>
                              <a:rPr lang="en-US" altLang="zh-TW" i="1">
                                <a:latin typeface="Cambria Math" panose="02040503050406030204" pitchFamily="18" charset="0"/>
                              </a:rPr>
                              <m:t>1</m:t>
                            </m:r>
                          </m:sub>
                          <m:sup>
                            <m:r>
                              <a:rPr lang="en-US" altLang="zh-TW" i="1">
                                <a:latin typeface="Cambria Math" panose="02040503050406030204" pitchFamily="18" charset="0"/>
                              </a:rPr>
                              <m:t>𝑛</m:t>
                            </m:r>
                          </m:sup>
                          <m:e>
                            <m:sSup>
                              <m:sSupPr>
                                <m:ctrlPr>
                                  <a:rPr lang="en-US" altLang="zh-TW" i="1">
                                    <a:latin typeface="Cambria Math" panose="02040503050406030204" pitchFamily="18" charset="0"/>
                                  </a:rPr>
                                </m:ctrlPr>
                              </m:sSupPr>
                              <m:e>
                                <m:r>
                                  <a:rPr lang="en-US" altLang="zh-TW" i="1">
                                    <a:latin typeface="Cambria Math" panose="02040503050406030204" pitchFamily="18" charset="0"/>
                                  </a:rPr>
                                  <m:t>𝑥</m:t>
                                </m:r>
                              </m:e>
                              <m:sup>
                                <m:r>
                                  <a:rPr lang="en-US" altLang="zh-TW" i="1">
                                    <a:latin typeface="Cambria Math" panose="02040503050406030204" pitchFamily="18" charset="0"/>
                                  </a:rPr>
                                  <m:t>2</m:t>
                                </m:r>
                              </m:sup>
                            </m:sSup>
                          </m:e>
                        </m:nary>
                        <m:r>
                          <a:rPr lang="en-US" altLang="zh-TW" i="1">
                            <a:latin typeface="Cambria Math" panose="02040503050406030204" pitchFamily="18" charset="0"/>
                          </a:rPr>
                          <m:t>−</m:t>
                        </m:r>
                        <m:r>
                          <a:rPr lang="en-US" altLang="zh-TW" i="1">
                            <a:latin typeface="Cambria Math" panose="02040503050406030204" pitchFamily="18" charset="0"/>
                          </a:rPr>
                          <m:t>𝑛</m:t>
                        </m:r>
                        <m:sSup>
                          <m:sSupPr>
                            <m:ctrlPr>
                              <a:rPr lang="en-US" altLang="zh-TW" i="1">
                                <a:latin typeface="Cambria Math" panose="02040503050406030204" pitchFamily="18" charset="0"/>
                              </a:rPr>
                            </m:ctrlPr>
                          </m:sSupPr>
                          <m:e>
                            <m:r>
                              <a:rPr lang="en-US" altLang="zh-TW" i="1">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r>
                              <a:rPr lang="en-US" altLang="zh-TW" i="1">
                                <a:latin typeface="Cambria Math" panose="02040503050406030204" pitchFamily="18" charset="0"/>
                              </a:rPr>
                              <m:t>)</m:t>
                            </m:r>
                          </m:e>
                          <m:sup>
                            <m:r>
                              <a:rPr lang="en-US" altLang="zh-TW" i="1">
                                <a:latin typeface="Cambria Math" panose="02040503050406030204" pitchFamily="18" charset="0"/>
                              </a:rPr>
                              <m:t>2</m:t>
                            </m:r>
                          </m:sup>
                        </m:sSup>
                      </m:den>
                    </m:f>
                  </m:oMath>
                </a14:m>
                <a:endParaRPr lang="en-US" altLang="zh-TW" dirty="0"/>
              </a:p>
            </p:txBody>
          </p:sp>
        </mc:Choice>
        <mc:Fallback xmlns="">
          <p:sp>
            <p:nvSpPr>
              <p:cNvPr id="3" name="內容版面配置區 2">
                <a:extLst>
                  <a:ext uri="{FF2B5EF4-FFF2-40B4-BE49-F238E27FC236}">
                    <a16:creationId xmlns:a16="http://schemas.microsoft.com/office/drawing/2014/main" id="{3B8FB327-109E-4EFD-8EBD-19711712D7F2}"/>
                  </a:ext>
                </a:extLst>
              </p:cNvPr>
              <p:cNvSpPr>
                <a:spLocks noGrp="1" noRot="1" noChangeAspect="1" noMove="1" noResize="1" noEditPoints="1" noAdjustHandles="1" noChangeArrowheads="1" noChangeShapeType="1" noTextEdit="1"/>
              </p:cNvSpPr>
              <p:nvPr>
                <p:ph idx="1"/>
              </p:nvPr>
            </p:nvSpPr>
            <p:spPr>
              <a:xfrm>
                <a:off x="838200" y="1825624"/>
                <a:ext cx="10515600" cy="4869815"/>
              </a:xfrm>
              <a:blipFill>
                <a:blip r:embed="rId3"/>
                <a:stretch>
                  <a:fillRect l="-1327" t="-14545" b="-8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85243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D5E813-D0B4-4706-AB68-10F189A38F68}"/>
              </a:ext>
            </a:extLst>
          </p:cNvPr>
          <p:cNvSpPr>
            <a:spLocks noGrp="1"/>
          </p:cNvSpPr>
          <p:nvPr>
            <p:ph type="title"/>
          </p:nvPr>
        </p:nvSpPr>
        <p:spPr>
          <a:xfrm>
            <a:off x="838200" y="365125"/>
            <a:ext cx="10515600" cy="1325563"/>
          </a:xfrm>
        </p:spPr>
        <p:txBody>
          <a:bodyPr/>
          <a:lstStyle/>
          <a:p>
            <a:r>
              <a:rPr lang="zh-TW" altLang="en-US" dirty="0"/>
              <a:t>求解</a:t>
            </a:r>
            <a:r>
              <a:rPr lang="en-US" altLang="zh-TW" dirty="0"/>
              <a:t>(</a:t>
            </a:r>
            <a:r>
              <a:rPr lang="zh-TW" altLang="en-US" dirty="0"/>
              <a:t>換個變數，</a:t>
            </a:r>
            <a:r>
              <a:rPr lang="en-US" altLang="zh-TW" dirty="0"/>
              <a:t>y=w*</a:t>
            </a:r>
            <a:r>
              <a:rPr lang="en-US" altLang="zh-TW" dirty="0" err="1"/>
              <a:t>x+b</a:t>
            </a:r>
            <a:r>
              <a:rPr lang="en-US" altLang="zh-TW" dirty="0"/>
              <a: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BA83A68-1299-4430-9E4E-44FF060F905A}"/>
                  </a:ext>
                </a:extLst>
              </p:cNvPr>
              <p:cNvSpPr>
                <a:spLocks noGrp="1"/>
              </p:cNvSpPr>
              <p:nvPr>
                <p:ph idx="1"/>
              </p:nvPr>
            </p:nvSpPr>
            <p:spPr>
              <a:xfrm>
                <a:off x="838200" y="1825625"/>
                <a:ext cx="10515600" cy="4351338"/>
              </a:xfrm>
            </p:spPr>
            <p:txBody>
              <a:bodyPr>
                <a:normAutofit/>
              </a:bodyPr>
              <a:lstStyle/>
              <a:p>
                <a:r>
                  <a:rPr lang="zh-TW" altLang="en-US" dirty="0"/>
                  <a:t>目前</a:t>
                </a:r>
                <a14:m>
                  <m:oMath xmlns:m="http://schemas.openxmlformats.org/officeDocument/2006/math">
                    <m:r>
                      <a:rPr lang="zh-TW" altLang="en-US" dirty="0">
                        <a:latin typeface="Cambria Math" panose="02040503050406030204" pitchFamily="18" charset="0"/>
                      </a:rPr>
                      <m:t>：</m:t>
                    </m:r>
                    <m:r>
                      <a:rPr lang="en-US" altLang="zh-TW" smtClean="0">
                        <a:latin typeface="Cambria Math" panose="02040503050406030204" pitchFamily="18" charset="0"/>
                      </a:rPr>
                      <m:t>𝑤</m:t>
                    </m:r>
                    <m:r>
                      <a:rPr lang="en-US" altLang="zh-TW" smtClean="0">
                        <a:latin typeface="Cambria Math" panose="02040503050406030204" pitchFamily="18" charset="0"/>
                      </a:rPr>
                      <m:t>=</m:t>
                    </m:r>
                    <m:f>
                      <m:fPr>
                        <m:ctrlPr>
                          <a:rPr lang="en-US" altLang="zh-TW" i="1" smtClean="0">
                            <a:latin typeface="Cambria Math" panose="02040503050406030204" pitchFamily="18" charset="0"/>
                          </a:rPr>
                        </m:ctrlPr>
                      </m:fPr>
                      <m:num>
                        <m:nary>
                          <m:naryPr>
                            <m:chr m:val="∑"/>
                            <m:ctrlPr>
                              <a:rPr lang="en-US" altLang="zh-TW" i="1">
                                <a:latin typeface="Cambria Math" panose="02040503050406030204" pitchFamily="18" charset="0"/>
                              </a:rPr>
                            </m:ctrlPr>
                          </m:naryPr>
                          <m:sub>
                            <m:r>
                              <m:rPr>
                                <m:brk m:alnAt="23"/>
                              </m:rPr>
                              <a:rPr lang="en-US" altLang="zh-TW">
                                <a:latin typeface="Cambria Math" panose="02040503050406030204" pitchFamily="18" charset="0"/>
                              </a:rPr>
                              <m:t>𝑖</m:t>
                            </m:r>
                            <m:r>
                              <a:rPr lang="en-US" altLang="zh-TW">
                                <a:latin typeface="Cambria Math" panose="02040503050406030204" pitchFamily="18" charset="0"/>
                              </a:rPr>
                              <m:t>=</m:t>
                            </m:r>
                            <m:r>
                              <m:rPr>
                                <m:brk m:alnAt="23"/>
                              </m:rPr>
                              <a:rPr lang="en-US" altLang="zh-TW">
                                <a:latin typeface="Cambria Math" panose="02040503050406030204" pitchFamily="18" charset="0"/>
                              </a:rPr>
                              <m:t>1</m:t>
                            </m:r>
                          </m:sub>
                          <m:sup>
                            <m:r>
                              <a:rPr lang="en-US" altLang="zh-TW">
                                <a:latin typeface="Cambria Math" panose="02040503050406030204" pitchFamily="18" charset="0"/>
                              </a:rPr>
                              <m:t>𝑛</m:t>
                            </m:r>
                          </m:sup>
                          <m:e>
                            <m:r>
                              <a:rPr lang="en-US" altLang="zh-TW">
                                <a:latin typeface="Cambria Math" panose="02040503050406030204" pitchFamily="18" charset="0"/>
                              </a:rPr>
                              <m:t>𝑥</m:t>
                            </m:r>
                            <m:r>
                              <a:rPr lang="en-US" altLang="zh-TW" smtClean="0">
                                <a:latin typeface="Cambria Math" panose="02040503050406030204" pitchFamily="18" charset="0"/>
                              </a:rPr>
                              <m:t>𝑦</m:t>
                            </m:r>
                          </m:e>
                        </m:nary>
                        <m:r>
                          <a:rPr lang="en-US" altLang="zh-TW">
                            <a:latin typeface="Cambria Math" panose="02040503050406030204" pitchFamily="18" charset="0"/>
                          </a:rPr>
                          <m:t>−</m:t>
                        </m:r>
                        <m:r>
                          <a:rPr lang="en-US" altLang="zh-TW">
                            <a:latin typeface="Cambria Math" panose="02040503050406030204" pitchFamily="18" charset="0"/>
                          </a:rPr>
                          <m:t>𝑛</m:t>
                        </m:r>
                        <m:acc>
                          <m:accPr>
                            <m:chr m:val="̅"/>
                            <m:ctrlPr>
                              <a:rPr lang="en-US" altLang="zh-TW" i="1">
                                <a:latin typeface="Cambria Math" panose="02040503050406030204" pitchFamily="18" charset="0"/>
                              </a:rPr>
                            </m:ctrlPr>
                          </m:accPr>
                          <m:e>
                            <m:r>
                              <a:rPr lang="en-US" altLang="zh-TW">
                                <a:latin typeface="Cambria Math" panose="02040503050406030204" pitchFamily="18" charset="0"/>
                              </a:rPr>
                              <m:t>𝑥</m:t>
                            </m:r>
                          </m:e>
                        </m:acc>
                        <m:acc>
                          <m:accPr>
                            <m:chr m:val="̅"/>
                            <m:ctrlPr>
                              <a:rPr lang="en-US" altLang="zh-TW" i="1">
                                <a:latin typeface="Cambria Math" panose="02040503050406030204" pitchFamily="18" charset="0"/>
                              </a:rPr>
                            </m:ctrlPr>
                          </m:accPr>
                          <m:e>
                            <m:r>
                              <a:rPr lang="en-US" altLang="zh-TW">
                                <a:latin typeface="Cambria Math" panose="02040503050406030204" pitchFamily="18" charset="0"/>
                              </a:rPr>
                              <m:t>𝑦</m:t>
                            </m:r>
                          </m:e>
                        </m:acc>
                      </m:num>
                      <m:den>
                        <m:nary>
                          <m:naryPr>
                            <m:chr m:val="∑"/>
                            <m:ctrlPr>
                              <a:rPr lang="en-US" altLang="zh-TW" i="1">
                                <a:latin typeface="Cambria Math" panose="02040503050406030204" pitchFamily="18" charset="0"/>
                              </a:rPr>
                            </m:ctrlPr>
                          </m:naryPr>
                          <m:sub>
                            <m:r>
                              <m:rPr>
                                <m:brk m:alnAt="23"/>
                              </m:rPr>
                              <a:rPr lang="en-US" altLang="zh-TW">
                                <a:latin typeface="Cambria Math" panose="02040503050406030204" pitchFamily="18" charset="0"/>
                              </a:rPr>
                              <m:t>𝑖</m:t>
                            </m:r>
                            <m:r>
                              <a:rPr lang="en-US" altLang="zh-TW">
                                <a:latin typeface="Cambria Math" panose="02040503050406030204" pitchFamily="18" charset="0"/>
                              </a:rPr>
                              <m:t>=</m:t>
                            </m:r>
                            <m:r>
                              <m:rPr>
                                <m:brk m:alnAt="23"/>
                              </m:rPr>
                              <a:rPr lang="en-US" altLang="zh-TW">
                                <a:latin typeface="Cambria Math" panose="02040503050406030204" pitchFamily="18" charset="0"/>
                              </a:rPr>
                              <m:t>1</m:t>
                            </m:r>
                          </m:sub>
                          <m:sup>
                            <m:r>
                              <a:rPr lang="en-US" altLang="zh-TW">
                                <a:latin typeface="Cambria Math" panose="02040503050406030204" pitchFamily="18" charset="0"/>
                              </a:rPr>
                              <m:t>𝑛</m:t>
                            </m:r>
                          </m:sup>
                          <m:e>
                            <m:sSup>
                              <m:sSupPr>
                                <m:ctrlPr>
                                  <a:rPr lang="en-US" altLang="zh-TW" i="1">
                                    <a:latin typeface="Cambria Math" panose="02040503050406030204" pitchFamily="18" charset="0"/>
                                  </a:rPr>
                                </m:ctrlPr>
                              </m:sSupPr>
                              <m:e>
                                <m:r>
                                  <a:rPr lang="en-US" altLang="zh-TW">
                                    <a:latin typeface="Cambria Math" panose="02040503050406030204" pitchFamily="18" charset="0"/>
                                  </a:rPr>
                                  <m:t>𝑥</m:t>
                                </m:r>
                              </m:e>
                              <m:sup>
                                <m:r>
                                  <a:rPr lang="en-US" altLang="zh-TW">
                                    <a:latin typeface="Cambria Math" panose="02040503050406030204" pitchFamily="18" charset="0"/>
                                  </a:rPr>
                                  <m:t>2</m:t>
                                </m:r>
                              </m:sup>
                            </m:sSup>
                          </m:e>
                        </m:nary>
                        <m:r>
                          <a:rPr lang="en-US" altLang="zh-TW">
                            <a:latin typeface="Cambria Math" panose="02040503050406030204" pitchFamily="18" charset="0"/>
                          </a:rPr>
                          <m:t>−</m:t>
                        </m:r>
                        <m:r>
                          <a:rPr lang="en-US" altLang="zh-TW">
                            <a:latin typeface="Cambria Math" panose="02040503050406030204" pitchFamily="18" charset="0"/>
                          </a:rPr>
                          <m:t>𝑛</m:t>
                        </m:r>
                        <m:sSup>
                          <m:sSupPr>
                            <m:ctrlPr>
                              <a:rPr lang="en-US" altLang="zh-TW" i="1">
                                <a:latin typeface="Cambria Math" panose="02040503050406030204" pitchFamily="18" charset="0"/>
                              </a:rPr>
                            </m:ctrlPr>
                          </m:sSupPr>
                          <m:e>
                            <m:r>
                              <a:rPr lang="en-US" altLang="zh-TW">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a:latin typeface="Cambria Math" panose="02040503050406030204" pitchFamily="18" charset="0"/>
                                  </a:rPr>
                                  <m:t>𝑥</m:t>
                                </m:r>
                              </m:e>
                            </m:acc>
                            <m:r>
                              <a:rPr lang="en-US" altLang="zh-TW">
                                <a:latin typeface="Cambria Math" panose="02040503050406030204" pitchFamily="18" charset="0"/>
                              </a:rPr>
                              <m:t>)</m:t>
                            </m:r>
                          </m:e>
                          <m:sup>
                            <m:r>
                              <a:rPr lang="en-US" altLang="zh-TW">
                                <a:latin typeface="Cambria Math" panose="02040503050406030204" pitchFamily="18" charset="0"/>
                              </a:rPr>
                              <m:t>2</m:t>
                            </m:r>
                          </m:sup>
                        </m:sSup>
                      </m:den>
                    </m:f>
                  </m:oMath>
                </a14:m>
                <a:endParaRPr lang="en-US" altLang="zh-TW" dirty="0"/>
              </a:p>
              <a:p>
                <a:r>
                  <a:rPr lang="zh-TW" altLang="en-US" dirty="0"/>
                  <a:t>又因為</a:t>
                </a:r>
                <a:endParaRPr lang="en-US" altLang="zh-TW" dirty="0"/>
              </a:p>
              <a:p>
                <a:endParaRPr lang="en-US" altLang="zh-TW" dirty="0"/>
              </a:p>
            </p:txBody>
          </p:sp>
        </mc:Choice>
        <mc:Fallback xmlns="">
          <p:sp>
            <p:nvSpPr>
              <p:cNvPr id="3" name="內容版面配置區 2">
                <a:extLst>
                  <a:ext uri="{FF2B5EF4-FFF2-40B4-BE49-F238E27FC236}">
                    <a16:creationId xmlns:a16="http://schemas.microsoft.com/office/drawing/2014/main" id="{5BA83A68-1299-4430-9E4E-44FF060F905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D1F96C0E-6387-31B4-D652-EFE41D5F2787}"/>
                  </a:ext>
                </a:extLst>
              </p:cNvPr>
              <p:cNvSpPr txBox="1"/>
              <p:nvPr/>
            </p:nvSpPr>
            <p:spPr>
              <a:xfrm>
                <a:off x="446314" y="3262567"/>
                <a:ext cx="5709557" cy="28148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lnSpc>
                    <a:spcPct val="120000"/>
                  </a:lnSpc>
                  <a:buNone/>
                </a:pPr>
                <a14:m>
                  <m:oMathPara xmlns:m="http://schemas.openxmlformats.org/officeDocument/2006/math">
                    <m:oMathParaPr>
                      <m:jc m:val="centerGroup"/>
                    </m:oMathParaPr>
                    <m:oMath xmlns:m="http://schemas.openxmlformats.org/officeDocument/2006/math">
                      <m:nary>
                        <m:naryPr>
                          <m:chr m:val="∑"/>
                          <m:ctrlPr>
                            <a:rPr lang="zh-TW" altLang="en-US"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𝑥</m:t>
                                  </m:r>
                                </m:e>
                              </m:acc>
                            </m:e>
                          </m:d>
                          <m:d>
                            <m:dPr>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i="1">
                                      <a:latin typeface="Cambria Math" panose="02040503050406030204" pitchFamily="18" charset="0"/>
                                    </a:rPr>
                                    <m:t>𝑖</m:t>
                                  </m:r>
                                </m:sub>
                              </m:sSub>
                              <m:r>
                                <a:rPr lang="en-US" altLang="zh-TW" i="1">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b="0" i="1" smtClean="0">
                                      <a:latin typeface="Cambria Math" panose="02040503050406030204" pitchFamily="18" charset="0"/>
                                    </a:rPr>
                                    <m:t>𝑦</m:t>
                                  </m:r>
                                </m:e>
                              </m:acc>
                            </m:e>
                          </m:d>
                          <m:r>
                            <m:rPr>
                              <m:brk m:alnAt="23"/>
                            </m:rPr>
                            <a:rPr lang="en-US" altLang="zh-TW" b="0" i="1" smtClean="0">
                              <a:latin typeface="Cambria Math" panose="02040503050406030204" pitchFamily="18" charset="0"/>
                            </a:rPr>
                            <m:t>=</m:t>
                          </m:r>
                          <m:nary>
                            <m:naryPr>
                              <m:chr m:val="∑"/>
                              <m:ctrlPr>
                                <a:rPr lang="zh-TW" altLang="en-US"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i="1">
                                          <a:latin typeface="Cambria Math" panose="02040503050406030204" pitchFamily="18" charset="0"/>
                                        </a:rPr>
                                        <m:t>𝑖</m:t>
                                      </m:r>
                                    </m:sub>
                                  </m:sSub>
                                  <m:r>
                                    <a:rPr lang="en-US" altLang="zh-TW" i="1">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i="1">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r>
                                    <a:rPr lang="en-US" altLang="zh-TW" b="0" i="1" smtClean="0">
                                      <a:latin typeface="Cambria Math" panose="02040503050406030204" pitchFamily="18" charset="0"/>
                                    </a:rPr>
                                    <m:t>+</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d>
                            </m:e>
                          </m:nary>
                        </m:e>
                      </m:nary>
                    </m:oMath>
                  </m:oMathPara>
                </a14:m>
                <a:endParaRPr lang="en-US" altLang="zh-TW" i="1" dirty="0">
                  <a:latin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i="1">
                                  <a:latin typeface="Cambria Math" panose="02040503050406030204" pitchFamily="18" charset="0"/>
                                </a:rPr>
                                <m:t>𝑖</m:t>
                              </m:r>
                            </m:sub>
                          </m:sSub>
                          <m:r>
                            <a:rPr lang="en-US" altLang="zh-TW" i="1">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i="1">
                                      <a:latin typeface="Cambria Math" panose="02040503050406030204" pitchFamily="18" charset="0"/>
                                    </a:rPr>
                                    <m:t>𝑖</m:t>
                                  </m:r>
                                </m:sub>
                              </m:sSub>
                            </m:e>
                          </m:nary>
                          <m:r>
                            <a:rPr lang="en-US" altLang="zh-TW" i="1">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nary>
                          <m:r>
                            <a:rPr lang="en-US" altLang="zh-TW" i="1">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nary>
                        </m:e>
                      </m:nary>
                    </m:oMath>
                  </m:oMathPara>
                </a14:m>
                <a:endParaRPr lang="en-US" altLang="zh-TW" i="1" dirty="0">
                  <a:latin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i="1">
                                  <a:latin typeface="Cambria Math" panose="02040503050406030204" pitchFamily="18" charset="0"/>
                                </a:rPr>
                                <m:t>𝑖</m:t>
                              </m:r>
                            </m:sub>
                          </m:sSub>
                          <m:r>
                            <a:rPr lang="en-US" altLang="zh-TW" i="1">
                              <a:latin typeface="Cambria Math" panose="02040503050406030204" pitchFamily="18" charset="0"/>
                            </a:rPr>
                            <m:t>−</m:t>
                          </m:r>
                          <m:r>
                            <a:rPr lang="en-US" altLang="zh-TW" b="0" i="1" smtClean="0">
                              <a:latin typeface="Cambria Math" panose="02040503050406030204" pitchFamily="18" charset="0"/>
                            </a:rPr>
                            <m:t>𝑛</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r>
                            <a:rPr lang="en-US" altLang="zh-TW" i="1" smtClean="0">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𝑛</m:t>
                          </m:r>
                          <m:acc>
                            <m:accPr>
                              <m:chr m:val="̅"/>
                              <m:ctrlPr>
                                <a:rPr lang="en-US" altLang="zh-TW" i="1">
                                  <a:solidFill>
                                    <a:srgbClr val="FF0000"/>
                                  </a:solidFill>
                                  <a:latin typeface="Cambria Math" panose="02040503050406030204" pitchFamily="18" charset="0"/>
                                </a:rPr>
                              </m:ctrlPr>
                            </m:accPr>
                            <m:e>
                              <m:r>
                                <a:rPr lang="en-US" altLang="zh-TW" i="1">
                                  <a:solidFill>
                                    <a:srgbClr val="FF0000"/>
                                  </a:solidFill>
                                  <a:latin typeface="Cambria Math" panose="02040503050406030204" pitchFamily="18" charset="0"/>
                                </a:rPr>
                                <m:t>𝑥</m:t>
                              </m:r>
                            </m:e>
                          </m:acc>
                          <m:acc>
                            <m:accPr>
                              <m:chr m:val="̅"/>
                              <m:ctrlPr>
                                <a:rPr lang="en-US" altLang="zh-TW" i="1">
                                  <a:solidFill>
                                    <a:srgbClr val="FF0000"/>
                                  </a:solidFill>
                                  <a:latin typeface="Cambria Math" panose="02040503050406030204" pitchFamily="18" charset="0"/>
                                </a:rPr>
                              </m:ctrlPr>
                            </m:accPr>
                            <m:e>
                              <m:r>
                                <a:rPr lang="en-US" altLang="zh-TW" i="1">
                                  <a:solidFill>
                                    <a:srgbClr val="FF0000"/>
                                  </a:solidFill>
                                  <a:latin typeface="Cambria Math" panose="02040503050406030204" pitchFamily="18" charset="0"/>
                                </a:rPr>
                                <m:t>𝑦</m:t>
                              </m:r>
                            </m:e>
                          </m:acc>
                          <m:r>
                            <a:rPr lang="en-US" altLang="zh-TW" i="1">
                              <a:solidFill>
                                <a:srgbClr val="FF0000"/>
                              </a:solidFill>
                              <a:latin typeface="Cambria Math" panose="02040503050406030204" pitchFamily="18" charset="0"/>
                            </a:rPr>
                            <m:t>+</m:t>
                          </m:r>
                          <m:r>
                            <a:rPr lang="en-US" altLang="zh-TW" i="1">
                              <a:solidFill>
                                <a:srgbClr val="FF0000"/>
                              </a:solidFill>
                              <a:latin typeface="Cambria Math" panose="02040503050406030204" pitchFamily="18" charset="0"/>
                            </a:rPr>
                            <m:t>𝑛</m:t>
                          </m:r>
                          <m:acc>
                            <m:accPr>
                              <m:chr m:val="̅"/>
                              <m:ctrlPr>
                                <a:rPr lang="en-US" altLang="zh-TW" i="1">
                                  <a:solidFill>
                                    <a:srgbClr val="FF0000"/>
                                  </a:solidFill>
                                  <a:latin typeface="Cambria Math" panose="02040503050406030204" pitchFamily="18" charset="0"/>
                                </a:rPr>
                              </m:ctrlPr>
                            </m:accPr>
                            <m:e>
                              <m:r>
                                <a:rPr lang="en-US" altLang="zh-TW" i="1">
                                  <a:solidFill>
                                    <a:srgbClr val="FF0000"/>
                                  </a:solidFill>
                                  <a:latin typeface="Cambria Math" panose="02040503050406030204" pitchFamily="18" charset="0"/>
                                </a:rPr>
                                <m:t>𝑥</m:t>
                              </m:r>
                            </m:e>
                          </m:acc>
                          <m:acc>
                            <m:accPr>
                              <m:chr m:val="̅"/>
                              <m:ctrlPr>
                                <a:rPr lang="en-US" altLang="zh-TW" i="1">
                                  <a:solidFill>
                                    <a:srgbClr val="FF0000"/>
                                  </a:solidFill>
                                  <a:latin typeface="Cambria Math" panose="02040503050406030204" pitchFamily="18" charset="0"/>
                                </a:rPr>
                              </m:ctrlPr>
                            </m:accPr>
                            <m:e>
                              <m:r>
                                <a:rPr lang="en-US" altLang="zh-TW" i="1">
                                  <a:solidFill>
                                    <a:srgbClr val="FF0000"/>
                                  </a:solidFill>
                                  <a:latin typeface="Cambria Math" panose="02040503050406030204" pitchFamily="18" charset="0"/>
                                </a:rPr>
                                <m:t>𝑦</m:t>
                              </m:r>
                            </m:e>
                          </m:acc>
                          <m:r>
                            <a:rPr lang="en-US" altLang="zh-TW" b="0" i="1" smtClean="0">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𝑖</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i="1">
                                      <a:latin typeface="Cambria Math" panose="02040503050406030204" pitchFamily="18" charset="0"/>
                                    </a:rPr>
                                    <m:t>𝑖</m:t>
                                  </m:r>
                                </m:sub>
                              </m:sSub>
                              <m:r>
                                <a:rPr lang="en-US" altLang="zh-TW" i="1">
                                  <a:latin typeface="Cambria Math" panose="02040503050406030204" pitchFamily="18" charset="0"/>
                                </a:rPr>
                                <m:t>−</m:t>
                              </m:r>
                              <m:r>
                                <a:rPr lang="en-US" altLang="zh-TW" i="1">
                                  <a:latin typeface="Cambria Math" panose="02040503050406030204" pitchFamily="18" charset="0"/>
                                </a:rPr>
                                <m:t>𝑛</m:t>
                              </m:r>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nary>
                        </m:e>
                      </m:nary>
                    </m:oMath>
                  </m:oMathPara>
                </a14:m>
                <a:endParaRPr lang="zh-TW" altLang="en-US" dirty="0"/>
              </a:p>
            </p:txBody>
          </p:sp>
        </mc:Choice>
        <mc:Fallback xmlns="">
          <p:sp>
            <p:nvSpPr>
              <p:cNvPr id="8" name="文字方塊 7">
                <a:extLst>
                  <a:ext uri="{FF2B5EF4-FFF2-40B4-BE49-F238E27FC236}">
                    <a16:creationId xmlns:a16="http://schemas.microsoft.com/office/drawing/2014/main" id="{D1F96C0E-6387-31B4-D652-EFE41D5F2787}"/>
                  </a:ext>
                </a:extLst>
              </p:cNvPr>
              <p:cNvSpPr txBox="1">
                <a:spLocks noRot="1" noChangeAspect="1" noMove="1" noResize="1" noEditPoints="1" noAdjustHandles="1" noChangeArrowheads="1" noChangeShapeType="1" noTextEdit="1"/>
              </p:cNvSpPr>
              <p:nvPr/>
            </p:nvSpPr>
            <p:spPr>
              <a:xfrm>
                <a:off x="446314" y="3262567"/>
                <a:ext cx="5709557" cy="281481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A612D064-6258-446B-2992-FD983E2E09D4}"/>
                  </a:ext>
                </a:extLst>
              </p:cNvPr>
              <p:cNvSpPr txBox="1"/>
              <p:nvPr/>
            </p:nvSpPr>
            <p:spPr>
              <a:xfrm>
                <a:off x="6465254" y="3262567"/>
                <a:ext cx="4579162" cy="19073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lnSpc>
                    <a:spcPct val="120000"/>
                  </a:lnSpc>
                  <a:buNone/>
                </a:pPr>
                <a14:m>
                  <m:oMathPara xmlns:m="http://schemas.openxmlformats.org/officeDocument/2006/math">
                    <m:oMathParaPr>
                      <m:jc m:val="centerGroup"/>
                    </m:oMathParaPr>
                    <m:oMath xmlns:m="http://schemas.openxmlformats.org/officeDocument/2006/math">
                      <m:nary>
                        <m:naryPr>
                          <m:chr m:val="∑"/>
                          <m:ctrlPr>
                            <a:rPr lang="zh-TW" altLang="en-US" sz="1800" i="1" smtClean="0">
                              <a:latin typeface="Cambria Math" panose="02040503050406030204" pitchFamily="18" charset="0"/>
                            </a:rPr>
                          </m:ctrlPr>
                        </m:naryPr>
                        <m:sub>
                          <m:r>
                            <m:rPr>
                              <m:brk m:alnAt="23"/>
                            </m:rPr>
                            <a:rPr lang="en-US" altLang="zh-TW" sz="1800" b="0" i="1" smtClean="0">
                              <a:latin typeface="Cambria Math" panose="02040503050406030204" pitchFamily="18" charset="0"/>
                            </a:rPr>
                            <m:t>𝑖</m:t>
                          </m:r>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𝑛</m:t>
                          </m:r>
                        </m:sup>
                        <m:e>
                          <m:sSup>
                            <m:sSupPr>
                              <m:ctrlPr>
                                <a:rPr lang="en-US" altLang="zh-TW" sz="1800" i="1" smtClean="0">
                                  <a:latin typeface="Cambria Math" panose="02040503050406030204" pitchFamily="18" charset="0"/>
                                </a:rPr>
                              </m:ctrlPr>
                            </m:sSupPr>
                            <m:e>
                              <m:d>
                                <m:dPr>
                                  <m:ctrlPr>
                                    <a:rPr lang="en-US" altLang="zh-TW" sz="1800" i="1">
                                      <a:latin typeface="Cambria Math" panose="02040503050406030204" pitchFamily="18" charset="0"/>
                                    </a:rPr>
                                  </m:ctrlPr>
                                </m:dPr>
                                <m:e>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𝑥</m:t>
                                      </m:r>
                                    </m:e>
                                    <m:sub>
                                      <m:r>
                                        <a:rPr lang="en-US" altLang="zh-TW" sz="1800" i="1">
                                          <a:latin typeface="Cambria Math" panose="02040503050406030204" pitchFamily="18" charset="0"/>
                                        </a:rPr>
                                        <m:t>𝑖</m:t>
                                      </m:r>
                                    </m:sub>
                                  </m:sSub>
                                  <m:r>
                                    <a:rPr lang="en-US" altLang="zh-TW" sz="1800" i="1">
                                      <a:latin typeface="Cambria Math" panose="02040503050406030204" pitchFamily="18" charset="0"/>
                                    </a:rPr>
                                    <m:t>−</m:t>
                                  </m:r>
                                  <m:acc>
                                    <m:accPr>
                                      <m:chr m:val="̅"/>
                                      <m:ctrlPr>
                                        <a:rPr lang="en-US" altLang="zh-TW" sz="1800" i="1">
                                          <a:latin typeface="Cambria Math" panose="02040503050406030204" pitchFamily="18" charset="0"/>
                                        </a:rPr>
                                      </m:ctrlPr>
                                    </m:accPr>
                                    <m:e>
                                      <m:r>
                                        <a:rPr lang="en-US" altLang="zh-TW" sz="1800" i="1">
                                          <a:latin typeface="Cambria Math" panose="02040503050406030204" pitchFamily="18" charset="0"/>
                                        </a:rPr>
                                        <m:t>𝑥</m:t>
                                      </m:r>
                                    </m:e>
                                  </m:acc>
                                </m:e>
                              </m:d>
                            </m:e>
                            <m:sup>
                              <m:r>
                                <a:rPr lang="en-US" altLang="zh-TW" sz="1800" b="0" i="1" smtClean="0">
                                  <a:latin typeface="Cambria Math" panose="02040503050406030204" pitchFamily="18" charset="0"/>
                                </a:rPr>
                                <m:t>2</m:t>
                              </m:r>
                            </m:sup>
                          </m:sSup>
                          <m:r>
                            <m:rPr>
                              <m:brk m:alnAt="23"/>
                            </m:rPr>
                            <a:rPr lang="en-US" altLang="zh-TW" sz="1800" b="0" i="1" smtClean="0">
                              <a:latin typeface="Cambria Math" panose="02040503050406030204" pitchFamily="18" charset="0"/>
                            </a:rPr>
                            <m:t>=</m:t>
                          </m:r>
                          <m:nary>
                            <m:naryPr>
                              <m:chr m:val="∑"/>
                              <m:ctrlPr>
                                <a:rPr lang="zh-TW" altLang="en-US" sz="1800" i="1">
                                  <a:latin typeface="Cambria Math" panose="02040503050406030204" pitchFamily="18" charset="0"/>
                                </a:rPr>
                              </m:ctrlPr>
                            </m:naryPr>
                            <m:sub>
                              <m:r>
                                <m:rPr>
                                  <m:brk m:alnAt="23"/>
                                </m:rPr>
                                <a:rPr lang="en-US" altLang="zh-TW" sz="1800" i="1">
                                  <a:latin typeface="Cambria Math" panose="02040503050406030204" pitchFamily="18" charset="0"/>
                                </a:rPr>
                                <m:t>𝑖</m:t>
                              </m:r>
                              <m:r>
                                <a:rPr lang="en-US" altLang="zh-TW" sz="1800" i="1">
                                  <a:latin typeface="Cambria Math" panose="02040503050406030204" pitchFamily="18" charset="0"/>
                                </a:rPr>
                                <m:t>=1</m:t>
                              </m:r>
                            </m:sub>
                            <m:sup>
                              <m:r>
                                <a:rPr lang="en-US" altLang="zh-TW" sz="1800" i="1">
                                  <a:latin typeface="Cambria Math" panose="02040503050406030204" pitchFamily="18" charset="0"/>
                                </a:rPr>
                                <m:t>𝑛</m:t>
                              </m:r>
                            </m:sup>
                            <m:e>
                              <m:d>
                                <m:dPr>
                                  <m:ctrlPr>
                                    <a:rPr lang="en-US" altLang="zh-TW" sz="1800" i="1">
                                      <a:latin typeface="Cambria Math" panose="02040503050406030204" pitchFamily="18" charset="0"/>
                                    </a:rPr>
                                  </m:ctrlPr>
                                </m:dPr>
                                <m:e>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𝑥</m:t>
                                      </m:r>
                                    </m:e>
                                    <m:sub>
                                      <m:r>
                                        <a:rPr lang="en-US" altLang="zh-TW" sz="1800" i="1">
                                          <a:latin typeface="Cambria Math" panose="02040503050406030204" pitchFamily="18" charset="0"/>
                                        </a:rPr>
                                        <m:t>𝑖</m:t>
                                      </m:r>
                                    </m:sub>
                                    <m:sup>
                                      <m:r>
                                        <a:rPr lang="en-US" altLang="zh-TW" sz="1800" i="1">
                                          <a:latin typeface="Cambria Math" panose="02040503050406030204" pitchFamily="18" charset="0"/>
                                        </a:rPr>
                                        <m:t>2</m:t>
                                      </m:r>
                                    </m:sup>
                                  </m:sSubSup>
                                  <m:r>
                                    <a:rPr lang="en-US" altLang="zh-TW" sz="1800" i="1">
                                      <a:latin typeface="Cambria Math" panose="02040503050406030204" pitchFamily="18" charset="0"/>
                                    </a:rPr>
                                    <m:t>−</m:t>
                                  </m:r>
                                  <m:r>
                                    <a:rPr lang="en-US" altLang="zh-TW" sz="1800" b="0" i="1" smtClean="0">
                                      <a:latin typeface="Cambria Math" panose="02040503050406030204" pitchFamily="18" charset="0"/>
                                    </a:rPr>
                                    <m:t>2</m:t>
                                  </m:r>
                                  <m:acc>
                                    <m:accPr>
                                      <m:chr m:val="̅"/>
                                      <m:ctrlPr>
                                        <a:rPr lang="en-US" altLang="zh-TW" sz="1800" i="1">
                                          <a:latin typeface="Cambria Math" panose="02040503050406030204" pitchFamily="18" charset="0"/>
                                        </a:rPr>
                                      </m:ctrlPr>
                                    </m:accPr>
                                    <m:e>
                                      <m:r>
                                        <a:rPr lang="en-US" altLang="zh-TW" sz="1800" i="1">
                                          <a:latin typeface="Cambria Math" panose="02040503050406030204" pitchFamily="18" charset="0"/>
                                        </a:rPr>
                                        <m:t>𝑥</m:t>
                                      </m:r>
                                    </m:e>
                                  </m:acc>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i="1">
                                          <a:latin typeface="Cambria Math" panose="02040503050406030204" pitchFamily="18" charset="0"/>
                                        </a:rPr>
                                        <m:t>𝑖</m:t>
                                      </m:r>
                                    </m:sub>
                                  </m:sSub>
                                  <m:r>
                                    <a:rPr lang="en-US" altLang="zh-TW" sz="1800" b="0" i="1" smtClean="0">
                                      <a:latin typeface="Cambria Math" panose="02040503050406030204" pitchFamily="18" charset="0"/>
                                    </a:rPr>
                                    <m:t>+</m:t>
                                  </m:r>
                                  <m:sSup>
                                    <m:sSupPr>
                                      <m:ctrlPr>
                                        <a:rPr lang="en-US" altLang="zh-TW" sz="1800" i="1">
                                          <a:latin typeface="Cambria Math" panose="02040503050406030204" pitchFamily="18" charset="0"/>
                                        </a:rPr>
                                      </m:ctrlPr>
                                    </m:sSupPr>
                                    <m:e>
                                      <m:acc>
                                        <m:accPr>
                                          <m:chr m:val="̅"/>
                                          <m:ctrlPr>
                                            <a:rPr lang="en-US" altLang="zh-TW" sz="1800" i="1">
                                              <a:latin typeface="Cambria Math" panose="02040503050406030204" pitchFamily="18" charset="0"/>
                                            </a:rPr>
                                          </m:ctrlPr>
                                        </m:accPr>
                                        <m:e>
                                          <m:r>
                                            <a:rPr lang="en-US" altLang="zh-TW" sz="1800" i="1">
                                              <a:latin typeface="Cambria Math" panose="02040503050406030204" pitchFamily="18" charset="0"/>
                                            </a:rPr>
                                            <m:t>𝑥</m:t>
                                          </m:r>
                                        </m:e>
                                      </m:acc>
                                    </m:e>
                                    <m:sup>
                                      <m:r>
                                        <a:rPr lang="en-US" altLang="zh-TW" sz="1800" i="1">
                                          <a:latin typeface="Cambria Math" panose="02040503050406030204" pitchFamily="18" charset="0"/>
                                        </a:rPr>
                                        <m:t>2</m:t>
                                      </m:r>
                                    </m:sup>
                                  </m:sSup>
                                </m:e>
                              </m:d>
                            </m:e>
                          </m:nary>
                        </m:e>
                      </m:nary>
                    </m:oMath>
                  </m:oMathPara>
                </a14:m>
                <a:endParaRPr lang="en-US" altLang="zh-TW" sz="1800" i="1" dirty="0">
                  <a:latin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rPr>
                        <m:t>=</m:t>
                      </m:r>
                      <m:nary>
                        <m:naryPr>
                          <m:chr m:val="∑"/>
                          <m:ctrlPr>
                            <a:rPr lang="en-US" altLang="zh-TW" sz="1800" i="1" smtClean="0">
                              <a:latin typeface="Cambria Math" panose="02040503050406030204" pitchFamily="18" charset="0"/>
                            </a:rPr>
                          </m:ctrlPr>
                        </m:naryPr>
                        <m:sub>
                          <m:r>
                            <m:rPr>
                              <m:brk m:alnAt="23"/>
                            </m:rPr>
                            <a:rPr lang="en-US" altLang="zh-TW" sz="1800" b="0" i="1" smtClean="0">
                              <a:latin typeface="Cambria Math" panose="02040503050406030204" pitchFamily="18" charset="0"/>
                            </a:rPr>
                            <m:t>𝑖</m:t>
                          </m:r>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𝑛</m:t>
                          </m:r>
                        </m:sup>
                        <m:e>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𝑖</m:t>
                              </m:r>
                            </m:sub>
                            <m:sup>
                              <m:r>
                                <a:rPr lang="en-US" altLang="zh-TW" sz="1800" b="0" i="1" smtClean="0">
                                  <a:latin typeface="Cambria Math" panose="02040503050406030204" pitchFamily="18" charset="0"/>
                                </a:rPr>
                                <m:t>2</m:t>
                              </m:r>
                            </m:sup>
                          </m:sSubSup>
                          <m:r>
                            <a:rPr lang="en-US" altLang="zh-TW" sz="1800" i="1">
                              <a:latin typeface="Cambria Math" panose="02040503050406030204" pitchFamily="18" charset="0"/>
                            </a:rPr>
                            <m:t>−</m:t>
                          </m:r>
                          <m:r>
                            <a:rPr lang="en-US" altLang="zh-TW" sz="1800" b="0" i="1" smtClean="0">
                              <a:solidFill>
                                <a:srgbClr val="FF0000"/>
                              </a:solidFill>
                              <a:latin typeface="Cambria Math" panose="02040503050406030204" pitchFamily="18" charset="0"/>
                            </a:rPr>
                            <m:t>2</m:t>
                          </m:r>
                          <m:r>
                            <a:rPr lang="en-US" altLang="zh-TW" sz="1800" b="0" i="1" smtClean="0">
                              <a:solidFill>
                                <a:srgbClr val="FF0000"/>
                              </a:solidFill>
                              <a:latin typeface="Cambria Math" panose="02040503050406030204" pitchFamily="18" charset="0"/>
                            </a:rPr>
                            <m:t>𝑛</m:t>
                          </m:r>
                          <m:sSup>
                            <m:sSupPr>
                              <m:ctrlPr>
                                <a:rPr lang="en-US" altLang="zh-TW" sz="1800" i="1">
                                  <a:solidFill>
                                    <a:srgbClr val="FF0000"/>
                                  </a:solidFill>
                                  <a:latin typeface="Cambria Math" panose="02040503050406030204" pitchFamily="18" charset="0"/>
                                </a:rPr>
                              </m:ctrlPr>
                            </m:sSupPr>
                            <m:e>
                              <m:acc>
                                <m:accPr>
                                  <m:chr m:val="̅"/>
                                  <m:ctrlPr>
                                    <a:rPr lang="en-US" altLang="zh-TW" sz="1800" i="1">
                                      <a:solidFill>
                                        <a:srgbClr val="FF0000"/>
                                      </a:solidFill>
                                      <a:latin typeface="Cambria Math" panose="02040503050406030204" pitchFamily="18" charset="0"/>
                                    </a:rPr>
                                  </m:ctrlPr>
                                </m:accPr>
                                <m:e>
                                  <m:r>
                                    <a:rPr lang="en-US" altLang="zh-TW" sz="1800" i="1">
                                      <a:solidFill>
                                        <a:srgbClr val="FF0000"/>
                                      </a:solidFill>
                                      <a:latin typeface="Cambria Math" panose="02040503050406030204" pitchFamily="18" charset="0"/>
                                    </a:rPr>
                                    <m:t>𝑥</m:t>
                                  </m:r>
                                </m:e>
                              </m:acc>
                            </m:e>
                            <m:sup>
                              <m:r>
                                <a:rPr lang="en-US" altLang="zh-TW" sz="1800" i="1">
                                  <a:solidFill>
                                    <a:srgbClr val="FF0000"/>
                                  </a:solidFill>
                                  <a:latin typeface="Cambria Math" panose="02040503050406030204" pitchFamily="18" charset="0"/>
                                </a:rPr>
                                <m:t>2</m:t>
                              </m:r>
                            </m:sup>
                          </m:sSup>
                          <m:r>
                            <a:rPr lang="en-US" altLang="zh-TW" sz="1800" i="1">
                              <a:solidFill>
                                <a:srgbClr val="FF0000"/>
                              </a:solidFill>
                              <a:latin typeface="Cambria Math" panose="02040503050406030204" pitchFamily="18" charset="0"/>
                            </a:rPr>
                            <m:t>+</m:t>
                          </m:r>
                          <m:r>
                            <a:rPr lang="en-US" altLang="zh-TW" sz="1800" b="0" i="1" smtClean="0">
                              <a:solidFill>
                                <a:srgbClr val="FF0000"/>
                              </a:solidFill>
                              <a:latin typeface="Cambria Math" panose="02040503050406030204" pitchFamily="18" charset="0"/>
                            </a:rPr>
                            <m:t>𝑛</m:t>
                          </m:r>
                          <m:sSup>
                            <m:sSupPr>
                              <m:ctrlPr>
                                <a:rPr lang="en-US" altLang="zh-TW" sz="1800" i="1">
                                  <a:solidFill>
                                    <a:srgbClr val="FF0000"/>
                                  </a:solidFill>
                                  <a:latin typeface="Cambria Math" panose="02040503050406030204" pitchFamily="18" charset="0"/>
                                </a:rPr>
                              </m:ctrlPr>
                            </m:sSupPr>
                            <m:e>
                              <m:acc>
                                <m:accPr>
                                  <m:chr m:val="̅"/>
                                  <m:ctrlPr>
                                    <a:rPr lang="en-US" altLang="zh-TW" sz="1800" i="1">
                                      <a:solidFill>
                                        <a:srgbClr val="FF0000"/>
                                      </a:solidFill>
                                      <a:latin typeface="Cambria Math" panose="02040503050406030204" pitchFamily="18" charset="0"/>
                                    </a:rPr>
                                  </m:ctrlPr>
                                </m:accPr>
                                <m:e>
                                  <m:r>
                                    <a:rPr lang="en-US" altLang="zh-TW" sz="1800" i="1">
                                      <a:solidFill>
                                        <a:srgbClr val="FF0000"/>
                                      </a:solidFill>
                                      <a:latin typeface="Cambria Math" panose="02040503050406030204" pitchFamily="18" charset="0"/>
                                    </a:rPr>
                                    <m:t>𝑥</m:t>
                                  </m:r>
                                </m:e>
                              </m:acc>
                            </m:e>
                            <m:sup>
                              <m:r>
                                <a:rPr lang="en-US" altLang="zh-TW" sz="1800" i="1">
                                  <a:solidFill>
                                    <a:srgbClr val="FF0000"/>
                                  </a:solidFill>
                                  <a:latin typeface="Cambria Math" panose="02040503050406030204" pitchFamily="18" charset="0"/>
                                </a:rPr>
                                <m:t>2</m:t>
                              </m:r>
                            </m:sup>
                          </m:sSup>
                        </m:e>
                      </m:nary>
                      <m:r>
                        <a:rPr lang="en-US" altLang="zh-TW" sz="1800" b="0" i="1" smtClean="0">
                          <a:latin typeface="Cambria Math" panose="02040503050406030204" pitchFamily="18" charset="0"/>
                        </a:rPr>
                        <m:t>=</m:t>
                      </m:r>
                      <m:nary>
                        <m:naryPr>
                          <m:chr m:val="∑"/>
                          <m:ctrlPr>
                            <a:rPr lang="en-US" altLang="zh-TW" sz="1800" i="1">
                              <a:latin typeface="Cambria Math" panose="02040503050406030204" pitchFamily="18" charset="0"/>
                            </a:rPr>
                          </m:ctrlPr>
                        </m:naryPr>
                        <m:sub>
                          <m:r>
                            <m:rPr>
                              <m:brk m:alnAt="23"/>
                            </m:rPr>
                            <a:rPr lang="en-US" altLang="zh-TW" sz="1800" i="1">
                              <a:latin typeface="Cambria Math" panose="02040503050406030204" pitchFamily="18" charset="0"/>
                            </a:rPr>
                            <m:t>𝑖</m:t>
                          </m:r>
                          <m:r>
                            <a:rPr lang="en-US" altLang="zh-TW" sz="1800" i="1">
                              <a:latin typeface="Cambria Math" panose="02040503050406030204" pitchFamily="18" charset="0"/>
                            </a:rPr>
                            <m:t>=1</m:t>
                          </m:r>
                        </m:sub>
                        <m:sup>
                          <m:r>
                            <a:rPr lang="en-US" altLang="zh-TW" sz="1800" i="1">
                              <a:latin typeface="Cambria Math" panose="02040503050406030204" pitchFamily="18" charset="0"/>
                            </a:rPr>
                            <m:t>𝑛</m:t>
                          </m:r>
                        </m:sup>
                        <m:e>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𝑥</m:t>
                              </m:r>
                            </m:e>
                            <m:sub>
                              <m:r>
                                <a:rPr lang="en-US" altLang="zh-TW" sz="1800" i="1">
                                  <a:latin typeface="Cambria Math" panose="02040503050406030204" pitchFamily="18" charset="0"/>
                                </a:rPr>
                                <m:t>𝑖</m:t>
                              </m:r>
                            </m:sub>
                            <m:sup>
                              <m:r>
                                <a:rPr lang="en-US" altLang="zh-TW" sz="1800" i="1">
                                  <a:latin typeface="Cambria Math" panose="02040503050406030204" pitchFamily="18" charset="0"/>
                                </a:rPr>
                                <m:t>2</m:t>
                              </m:r>
                            </m:sup>
                          </m:sSubSup>
                          <m:r>
                            <a:rPr lang="en-US" altLang="zh-TW" sz="1800" i="1">
                              <a:latin typeface="Cambria Math" panose="02040503050406030204" pitchFamily="18" charset="0"/>
                            </a:rPr>
                            <m:t>−</m:t>
                          </m:r>
                          <m:r>
                            <a:rPr lang="en-US" altLang="zh-TW" sz="1800" i="1">
                              <a:latin typeface="Cambria Math" panose="02040503050406030204" pitchFamily="18" charset="0"/>
                            </a:rPr>
                            <m:t>𝑛</m:t>
                          </m:r>
                          <m:sSup>
                            <m:sSupPr>
                              <m:ctrlPr>
                                <a:rPr lang="en-US" altLang="zh-TW" sz="1800" i="1">
                                  <a:latin typeface="Cambria Math" panose="02040503050406030204" pitchFamily="18" charset="0"/>
                                </a:rPr>
                              </m:ctrlPr>
                            </m:sSupPr>
                            <m:e>
                              <m:acc>
                                <m:accPr>
                                  <m:chr m:val="̅"/>
                                  <m:ctrlPr>
                                    <a:rPr lang="en-US" altLang="zh-TW" sz="1800" i="1">
                                      <a:latin typeface="Cambria Math" panose="02040503050406030204" pitchFamily="18" charset="0"/>
                                    </a:rPr>
                                  </m:ctrlPr>
                                </m:accPr>
                                <m:e>
                                  <m:r>
                                    <a:rPr lang="en-US" altLang="zh-TW" sz="1800" i="1">
                                      <a:latin typeface="Cambria Math" panose="02040503050406030204" pitchFamily="18" charset="0"/>
                                    </a:rPr>
                                    <m:t>𝑥</m:t>
                                  </m:r>
                                </m:e>
                              </m:acc>
                            </m:e>
                            <m:sup>
                              <m:r>
                                <a:rPr lang="en-US" altLang="zh-TW" sz="1800" i="1">
                                  <a:latin typeface="Cambria Math" panose="02040503050406030204" pitchFamily="18" charset="0"/>
                                </a:rPr>
                                <m:t>2</m:t>
                              </m:r>
                            </m:sup>
                          </m:sSup>
                        </m:e>
                      </m:nary>
                    </m:oMath>
                  </m:oMathPara>
                </a14:m>
                <a:endParaRPr lang="en-US" altLang="zh-TW" sz="1800" dirty="0"/>
              </a:p>
            </p:txBody>
          </p:sp>
        </mc:Choice>
        <mc:Fallback xmlns="">
          <p:sp>
            <p:nvSpPr>
              <p:cNvPr id="15" name="文字方塊 14">
                <a:extLst>
                  <a:ext uri="{FF2B5EF4-FFF2-40B4-BE49-F238E27FC236}">
                    <a16:creationId xmlns:a16="http://schemas.microsoft.com/office/drawing/2014/main" id="{A612D064-6258-446B-2992-FD983E2E09D4}"/>
                  </a:ext>
                </a:extLst>
              </p:cNvPr>
              <p:cNvSpPr txBox="1">
                <a:spLocks noRot="1" noChangeAspect="1" noMove="1" noResize="1" noEditPoints="1" noAdjustHandles="1" noChangeArrowheads="1" noChangeShapeType="1" noTextEdit="1"/>
              </p:cNvSpPr>
              <p:nvPr/>
            </p:nvSpPr>
            <p:spPr>
              <a:xfrm>
                <a:off x="6465254" y="3262567"/>
                <a:ext cx="4579162" cy="1907317"/>
              </a:xfrm>
              <a:prstGeom prst="rect">
                <a:avLst/>
              </a:prstGeom>
              <a:blipFill>
                <a:blip r:embed="rId5"/>
                <a:stretch>
                  <a:fillRect/>
                </a:stretch>
              </a:blipFill>
            </p:spPr>
            <p:txBody>
              <a:bodyPr/>
              <a:lstStyle/>
              <a:p>
                <a:r>
                  <a:rPr lang="zh-TW" altLang="en-US">
                    <a:noFill/>
                  </a:rPr>
                  <a:t> </a:t>
                </a:r>
              </a:p>
            </p:txBody>
          </p:sp>
        </mc:Fallback>
      </mc:AlternateContent>
      <p:grpSp>
        <p:nvGrpSpPr>
          <p:cNvPr id="18" name="群組 17">
            <a:extLst>
              <a:ext uri="{FF2B5EF4-FFF2-40B4-BE49-F238E27FC236}">
                <a16:creationId xmlns:a16="http://schemas.microsoft.com/office/drawing/2014/main" id="{A7B92052-303D-7B57-7F95-CC98DFD75B5F}"/>
              </a:ext>
            </a:extLst>
          </p:cNvPr>
          <p:cNvGrpSpPr/>
          <p:nvPr/>
        </p:nvGrpSpPr>
        <p:grpSpPr>
          <a:xfrm>
            <a:off x="5105399" y="1742950"/>
            <a:ext cx="4718958" cy="902555"/>
            <a:chOff x="5502728" y="1841266"/>
            <a:chExt cx="4718958" cy="902555"/>
          </a:xfrm>
        </p:grpSpPr>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68680AA-C4B7-F7C3-33F4-84F0ABDA974B}"/>
                    </a:ext>
                  </a:extLst>
                </p:cNvPr>
                <p:cNvSpPr txBox="1"/>
                <p:nvPr/>
              </p:nvSpPr>
              <p:spPr>
                <a:xfrm>
                  <a:off x="5524502" y="1841266"/>
                  <a:ext cx="4697184"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a:latin typeface="Cambria Math" panose="02040503050406030204" pitchFamily="18" charset="0"/>
                          </a:rPr>
                          <m:t>𝑤</m:t>
                        </m:r>
                        <m:r>
                          <a:rPr lang="en-US" altLang="zh-TW" sz="2400">
                            <a:latin typeface="Cambria Math" panose="02040503050406030204" pitchFamily="18" charset="0"/>
                          </a:rPr>
                          <m:t>=</m:t>
                        </m:r>
                        <m:f>
                          <m:fPr>
                            <m:ctrlPr>
                              <a:rPr lang="en-US" altLang="zh-TW" sz="2400" i="1" smtClean="0">
                                <a:latin typeface="Cambria Math" panose="02040503050406030204" pitchFamily="18" charset="0"/>
                              </a:rPr>
                            </m:ctrlPr>
                          </m:fPr>
                          <m:num>
                            <m:nary>
                              <m:naryPr>
                                <m:chr m:val="∑"/>
                                <m:ctrlPr>
                                  <a:rPr lang="zh-TW" altLang="en-US" sz="2400" i="1">
                                    <a:latin typeface="Cambria Math" panose="02040503050406030204" pitchFamily="18" charset="0"/>
                                  </a:rPr>
                                </m:ctrlPr>
                              </m:naryPr>
                              <m:sub>
                                <m:r>
                                  <m:rPr>
                                    <m:brk m:alnAt="23"/>
                                  </m:rPr>
                                  <a:rPr lang="en-US" altLang="zh-TW" sz="2400" i="1">
                                    <a:latin typeface="Cambria Math" panose="02040503050406030204" pitchFamily="18" charset="0"/>
                                  </a:rPr>
                                  <m:t>𝑖</m:t>
                                </m:r>
                                <m:r>
                                  <a:rPr lang="en-US" altLang="zh-TW" sz="2400" i="1">
                                    <a:latin typeface="Cambria Math" panose="02040503050406030204" pitchFamily="18" charset="0"/>
                                  </a:rPr>
                                  <m:t>=1</m:t>
                                </m:r>
                              </m:sub>
                              <m:sup>
                                <m:r>
                                  <a:rPr lang="en-US" altLang="zh-TW" sz="2400" i="1">
                                    <a:latin typeface="Cambria Math" panose="02040503050406030204" pitchFamily="18" charset="0"/>
                                  </a:rPr>
                                  <m:t>𝑛</m:t>
                                </m:r>
                              </m:sup>
                              <m:e>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𝑥</m:t>
                                        </m:r>
                                      </m:e>
                                    </m:acc>
                                  </m:e>
                                </m:d>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d>
                              </m:e>
                            </m:nary>
                          </m:num>
                          <m:den>
                            <m:nary>
                              <m:naryPr>
                                <m:chr m:val="∑"/>
                                <m:ctrlPr>
                                  <a:rPr lang="zh-TW" altLang="en-US" sz="2400" i="1">
                                    <a:latin typeface="Cambria Math" panose="02040503050406030204" pitchFamily="18" charset="0"/>
                                  </a:rPr>
                                </m:ctrlPr>
                              </m:naryPr>
                              <m:sub>
                                <m:r>
                                  <m:rPr>
                                    <m:brk m:alnAt="23"/>
                                  </m:rPr>
                                  <a:rPr lang="en-US" altLang="zh-TW" sz="2400" i="1">
                                    <a:latin typeface="Cambria Math" panose="02040503050406030204" pitchFamily="18" charset="0"/>
                                  </a:rPr>
                                  <m:t>𝑖</m:t>
                                </m:r>
                                <m:r>
                                  <a:rPr lang="en-US" altLang="zh-TW" sz="2400" i="1">
                                    <a:latin typeface="Cambria Math" panose="02040503050406030204" pitchFamily="18" charset="0"/>
                                  </a:rPr>
                                  <m:t>=1</m:t>
                                </m:r>
                              </m:sub>
                              <m:sup>
                                <m:r>
                                  <a:rPr lang="en-US" altLang="zh-TW" sz="2400" i="1">
                                    <a:latin typeface="Cambria Math" panose="02040503050406030204" pitchFamily="18" charset="0"/>
                                  </a:rPr>
                                  <m:t>𝑛</m:t>
                                </m:r>
                              </m:sup>
                              <m:e>
                                <m:sSup>
                                  <m:sSupPr>
                                    <m:ctrlPr>
                                      <a:rPr lang="en-US" altLang="zh-TW" sz="2400" i="1">
                                        <a:latin typeface="Cambria Math" panose="02040503050406030204" pitchFamily="18" charset="0"/>
                                      </a:rPr>
                                    </m:ctrlPr>
                                  </m:sSupPr>
                                  <m:e>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𝑥</m:t>
                                            </m:r>
                                          </m:e>
                                        </m:acc>
                                      </m:e>
                                    </m:d>
                                  </m:e>
                                  <m:sup>
                                    <m:r>
                                      <a:rPr lang="en-US" altLang="zh-TW" sz="2400" i="1">
                                        <a:latin typeface="Cambria Math" panose="02040503050406030204" pitchFamily="18" charset="0"/>
                                      </a:rPr>
                                      <m:t>2</m:t>
                                    </m:r>
                                  </m:sup>
                                </m:sSup>
                              </m:e>
                            </m:nary>
                          </m:den>
                        </m:f>
                      </m:oMath>
                    </m:oMathPara>
                  </a14:m>
                  <a:endParaRPr lang="zh-TW" altLang="en-US" sz="2000" dirty="0"/>
                </a:p>
              </p:txBody>
            </p:sp>
          </mc:Choice>
          <mc:Fallback xmlns="">
            <p:sp>
              <p:nvSpPr>
                <p:cNvPr id="16" name="文字方塊 15">
                  <a:extLst>
                    <a:ext uri="{FF2B5EF4-FFF2-40B4-BE49-F238E27FC236}">
                      <a16:creationId xmlns:a16="http://schemas.microsoft.com/office/drawing/2014/main" id="{368680AA-C4B7-F7C3-33F4-84F0ABDA974B}"/>
                    </a:ext>
                  </a:extLst>
                </p:cNvPr>
                <p:cNvSpPr txBox="1">
                  <a:spLocks noRot="1" noChangeAspect="1" noMove="1" noResize="1" noEditPoints="1" noAdjustHandles="1" noChangeArrowheads="1" noChangeShapeType="1" noTextEdit="1"/>
                </p:cNvSpPr>
                <p:nvPr/>
              </p:nvSpPr>
              <p:spPr>
                <a:xfrm>
                  <a:off x="5524502" y="1841266"/>
                  <a:ext cx="4697184" cy="902555"/>
                </a:xfrm>
                <a:prstGeom prst="rect">
                  <a:avLst/>
                </a:prstGeom>
                <a:blipFill>
                  <a:blip r:embed="rId6"/>
                  <a:stretch>
                    <a:fillRect/>
                  </a:stretch>
                </a:blipFill>
              </p:spPr>
              <p:txBody>
                <a:bodyPr/>
                <a:lstStyle/>
                <a:p>
                  <a:r>
                    <a:rPr lang="zh-TW" altLang="en-US">
                      <a:noFill/>
                    </a:rPr>
                    <a:t> </a:t>
                  </a:r>
                </a:p>
              </p:txBody>
            </p:sp>
          </mc:Fallback>
        </mc:AlternateContent>
        <p:sp>
          <p:nvSpPr>
            <p:cNvPr id="17" name="箭號: 向右 16">
              <a:extLst>
                <a:ext uri="{FF2B5EF4-FFF2-40B4-BE49-F238E27FC236}">
                  <a16:creationId xmlns:a16="http://schemas.microsoft.com/office/drawing/2014/main" id="{510CAB61-7193-830F-0370-7B0FA62A23A5}"/>
                </a:ext>
              </a:extLst>
            </p:cNvPr>
            <p:cNvSpPr/>
            <p:nvPr/>
          </p:nvSpPr>
          <p:spPr>
            <a:xfrm>
              <a:off x="5502728" y="2139170"/>
              <a:ext cx="593272" cy="3374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D2BDFB1B-9419-BCF5-6B62-1FAF7C0BCC9F}"/>
                  </a:ext>
                </a:extLst>
              </p:cNvPr>
              <p:cNvSpPr txBox="1"/>
              <p:nvPr/>
            </p:nvSpPr>
            <p:spPr>
              <a:xfrm>
                <a:off x="5486400" y="2625967"/>
                <a:ext cx="2345871" cy="46166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r>
                        <a:rPr lang="en-US" altLang="zh-TW" sz="2400" i="1">
                          <a:latin typeface="Cambria Math" panose="02040503050406030204" pitchFamily="18" charset="0"/>
                        </a:rPr>
                        <m:t>−</m:t>
                      </m:r>
                      <m:r>
                        <a:rPr lang="en-US" altLang="zh-TW" sz="2400" i="1">
                          <a:latin typeface="Cambria Math" panose="02040503050406030204" pitchFamily="18" charset="0"/>
                        </a:rPr>
                        <m:t>𝑤</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𝑥</m:t>
                          </m:r>
                        </m:e>
                      </m:acc>
                    </m:oMath>
                  </m:oMathPara>
                </a14:m>
                <a:endParaRPr lang="en-US" altLang="zh-TW" dirty="0"/>
              </a:p>
            </p:txBody>
          </p:sp>
        </mc:Choice>
        <mc:Fallback xmlns="">
          <p:sp>
            <p:nvSpPr>
              <p:cNvPr id="20" name="文字方塊 19">
                <a:extLst>
                  <a:ext uri="{FF2B5EF4-FFF2-40B4-BE49-F238E27FC236}">
                    <a16:creationId xmlns:a16="http://schemas.microsoft.com/office/drawing/2014/main" id="{D2BDFB1B-9419-BCF5-6B62-1FAF7C0BCC9F}"/>
                  </a:ext>
                </a:extLst>
              </p:cNvPr>
              <p:cNvSpPr txBox="1">
                <a:spLocks noRot="1" noChangeAspect="1" noMove="1" noResize="1" noEditPoints="1" noAdjustHandles="1" noChangeArrowheads="1" noChangeShapeType="1" noTextEdit="1"/>
              </p:cNvSpPr>
              <p:nvPr/>
            </p:nvSpPr>
            <p:spPr>
              <a:xfrm>
                <a:off x="5486400" y="2625967"/>
                <a:ext cx="2345871" cy="461665"/>
              </a:xfrm>
              <a:prstGeom prst="rect">
                <a:avLst/>
              </a:prstGeom>
              <a:blipFill>
                <a:blip r:embed="rId7"/>
                <a:stretch>
                  <a:fillRect r="-1558" b="-92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4510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84FA8F-FEB7-401F-807E-E9291A4B43DF}"/>
              </a:ext>
            </a:extLst>
          </p:cNvPr>
          <p:cNvSpPr>
            <a:spLocks noGrp="1"/>
          </p:cNvSpPr>
          <p:nvPr>
            <p:ph type="title"/>
          </p:nvPr>
        </p:nvSpPr>
        <p:spPr>
          <a:xfrm>
            <a:off x="838200" y="365125"/>
            <a:ext cx="10515600" cy="1325563"/>
          </a:xfrm>
        </p:spPr>
        <p:txBody>
          <a:bodyPr/>
          <a:lstStyle/>
          <a:p>
            <a:r>
              <a:rPr lang="zh-TW" altLang="en-US" dirty="0"/>
              <a:t>多元線性迴歸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2421692-EFD1-40A8-BE54-250FEFA82428}"/>
                  </a:ext>
                </a:extLst>
              </p:cNvPr>
              <p:cNvSpPr>
                <a:spLocks noGrp="1"/>
              </p:cNvSpPr>
              <p:nvPr>
                <p:ph idx="1"/>
              </p:nvPr>
            </p:nvSpPr>
            <p:spPr>
              <a:xfrm>
                <a:off x="838200" y="1825625"/>
                <a:ext cx="10515600" cy="4351338"/>
              </a:xfrm>
            </p:spPr>
            <p:txBody>
              <a:bodyPr>
                <a:normAutofit/>
              </a:bodyPr>
              <a:lstStyle/>
              <a:p>
                <a:r>
                  <a:rPr lang="zh-TW" altLang="en-US" dirty="0"/>
                  <a:t>就是所有屬性乘上權重的總和</a:t>
                </a:r>
                <a:endParaRPr lang="en-US" altLang="zh-TW" dirty="0"/>
              </a:p>
              <a:p>
                <a:endParaRPr lang="en-US" altLang="zh-TW" dirty="0"/>
              </a:p>
              <a:p>
                <a:r>
                  <a:rPr lang="zh-TW" altLang="en-US" dirty="0"/>
                  <a:t>使用矩陣的方式表示：</a:t>
                </a:r>
                <a:endParaRPr lang="en-US" altLang="zh-TW" dirty="0"/>
              </a:p>
              <a:p>
                <a:endParaRPr lang="en-US" altLang="zh-TW" dirty="0"/>
              </a:p>
              <a:p>
                <a:r>
                  <a:rPr lang="zh-TW" altLang="en-US" dirty="0"/>
                  <a:t>該如何計算出</a:t>
                </a:r>
                <a14:m>
                  <m:oMath xmlns:m="http://schemas.openxmlformats.org/officeDocument/2006/math">
                    <m:r>
                      <m:rPr>
                        <m:sty m:val="p"/>
                      </m:rPr>
                      <a:rPr lang="zh-TW" altLang="en-US" smtClean="0">
                        <a:latin typeface="Cambria Math" panose="02040503050406030204" pitchFamily="18" charset="0"/>
                      </a:rPr>
                      <m:t>β</m:t>
                    </m:r>
                  </m:oMath>
                </a14:m>
                <a:r>
                  <a:rPr lang="zh-TW" altLang="en-US" dirty="0"/>
                  <a:t> 值？</a:t>
                </a:r>
                <a:endParaRPr lang="en-US" altLang="zh-TW" dirty="0"/>
              </a:p>
              <a:p>
                <a:endParaRPr lang="en-US" altLang="zh-TW" dirty="0"/>
              </a:p>
            </p:txBody>
          </p:sp>
        </mc:Choice>
        <mc:Fallback xmlns="">
          <p:sp>
            <p:nvSpPr>
              <p:cNvPr id="3" name="內容版面配置區 2">
                <a:extLst>
                  <a:ext uri="{FF2B5EF4-FFF2-40B4-BE49-F238E27FC236}">
                    <a16:creationId xmlns:a16="http://schemas.microsoft.com/office/drawing/2014/main" id="{62421692-EFD1-40A8-BE54-250FEFA82428}"/>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43" t="-22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5C1BAD76-2840-45C7-A37A-0F1BA7212A98}"/>
                  </a:ext>
                </a:extLst>
              </p:cNvPr>
              <p:cNvSpPr txBox="1"/>
              <p:nvPr/>
            </p:nvSpPr>
            <p:spPr>
              <a:xfrm>
                <a:off x="3049731" y="2302142"/>
                <a:ext cx="5344970" cy="400110"/>
              </a:xfrm>
              <a:prstGeom prst="rect">
                <a:avLst/>
              </a:prstGeom>
              <a:noFill/>
            </p:spPr>
            <p:txBody>
              <a:bodyPr wrap="square">
                <a:spAutoFit/>
              </a:bodyPr>
              <a:lstStyle/>
              <a:p>
                <a14:m>
                  <m:oMath xmlns:m="http://schemas.openxmlformats.org/officeDocument/2006/math">
                    <m:acc>
                      <m:accPr>
                        <m:chr m:val="̂"/>
                        <m:ctrlPr>
                          <a:rPr lang="zh-TW" altLang="en-US" sz="2000" i="1" smtClean="0">
                            <a:solidFill>
                              <a:srgbClr val="836967"/>
                            </a:solidFill>
                            <a:latin typeface="Cambria Math" panose="02040503050406030204" pitchFamily="18" charset="0"/>
                          </a:rPr>
                        </m:ctrlPr>
                      </m:accPr>
                      <m:e>
                        <m:r>
                          <a:rPr lang="zh-TW" altLang="en-US" sz="2000" i="1">
                            <a:latin typeface="Cambria Math" panose="02040503050406030204" pitchFamily="18" charset="0"/>
                          </a:rPr>
                          <m:t>𝑦</m:t>
                        </m:r>
                      </m:e>
                    </m:acc>
                    <m:r>
                      <a:rPr lang="zh-TW" altLang="en-US" sz="2000" i="0">
                        <a:latin typeface="Cambria Math" panose="02040503050406030204" pitchFamily="18" charset="0"/>
                      </a:rPr>
                      <m:t>=</m:t>
                    </m:r>
                    <m:sSub>
                      <m:sSubPr>
                        <m:ctrlPr>
                          <a:rPr lang="zh-TW" altLang="en-US" sz="2000" i="1">
                            <a:solidFill>
                              <a:srgbClr val="836967"/>
                            </a:solidFill>
                            <a:latin typeface="Cambria Math" panose="02040503050406030204" pitchFamily="18" charset="0"/>
                          </a:rPr>
                        </m:ctrlPr>
                      </m:sSubPr>
                      <m:e>
                        <m:r>
                          <m:rPr>
                            <m:sty m:val="p"/>
                          </m:rPr>
                          <a:rPr lang="zh-TW" altLang="en-US" sz="2000" i="0">
                            <a:latin typeface="Cambria Math" panose="02040503050406030204" pitchFamily="18" charset="0"/>
                          </a:rPr>
                          <m:t>β</m:t>
                        </m:r>
                      </m:e>
                      <m:sub>
                        <m:r>
                          <a:rPr lang="zh-TW" altLang="en-US" sz="2000" i="0">
                            <a:latin typeface="Cambria Math" panose="02040503050406030204" pitchFamily="18" charset="0"/>
                          </a:rPr>
                          <m:t>0</m:t>
                        </m:r>
                      </m:sub>
                    </m:sSub>
                    <m:r>
                      <a:rPr lang="zh-TW" altLang="en-US" sz="2000" i="0">
                        <a:latin typeface="Cambria Math" panose="02040503050406030204" pitchFamily="18" charset="0"/>
                      </a:rPr>
                      <m:t>+</m:t>
                    </m:r>
                    <m:sSub>
                      <m:sSubPr>
                        <m:ctrlPr>
                          <a:rPr lang="zh-TW" altLang="en-US" sz="2000" i="1">
                            <a:solidFill>
                              <a:srgbClr val="836967"/>
                            </a:solidFill>
                            <a:latin typeface="Cambria Math" panose="02040503050406030204" pitchFamily="18" charset="0"/>
                          </a:rPr>
                        </m:ctrlPr>
                      </m:sSubPr>
                      <m:e>
                        <m:r>
                          <m:rPr>
                            <m:sty m:val="p"/>
                          </m:rPr>
                          <a:rPr lang="zh-TW" altLang="en-US" sz="2000" i="0">
                            <a:latin typeface="Cambria Math" panose="02040503050406030204" pitchFamily="18" charset="0"/>
                          </a:rPr>
                          <m:t>β</m:t>
                        </m:r>
                      </m:e>
                      <m:sub>
                        <m:r>
                          <a:rPr lang="zh-TW" altLang="en-US" sz="2000" i="0">
                            <a:latin typeface="Cambria Math" panose="02040503050406030204" pitchFamily="18" charset="0"/>
                          </a:rPr>
                          <m:t>1</m:t>
                        </m:r>
                      </m:sub>
                    </m:sSub>
                    <m:sSub>
                      <m:sSubPr>
                        <m:ctrlPr>
                          <a:rPr lang="zh-TW" altLang="en-US" sz="2000" i="1">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zh-TW" altLang="en-US" sz="2000" i="0">
                            <a:latin typeface="Cambria Math" panose="02040503050406030204" pitchFamily="18" charset="0"/>
                          </a:rPr>
                          <m:t>1</m:t>
                        </m:r>
                      </m:sub>
                    </m:sSub>
                    <m:r>
                      <a:rPr lang="zh-TW" altLang="en-US" sz="2000" i="0">
                        <a:latin typeface="Cambria Math" panose="02040503050406030204" pitchFamily="18" charset="0"/>
                      </a:rPr>
                      <m:t>+</m:t>
                    </m:r>
                    <m:sSub>
                      <m:sSubPr>
                        <m:ctrlPr>
                          <a:rPr lang="zh-TW" altLang="en-US" sz="2000" i="1">
                            <a:solidFill>
                              <a:srgbClr val="836967"/>
                            </a:solidFill>
                            <a:latin typeface="Cambria Math" panose="02040503050406030204" pitchFamily="18" charset="0"/>
                          </a:rPr>
                        </m:ctrlPr>
                      </m:sSubPr>
                      <m:e>
                        <m:r>
                          <m:rPr>
                            <m:sty m:val="p"/>
                          </m:rPr>
                          <a:rPr lang="zh-TW" altLang="en-US" sz="2000" i="0">
                            <a:latin typeface="Cambria Math" panose="02040503050406030204" pitchFamily="18" charset="0"/>
                          </a:rPr>
                          <m:t>β</m:t>
                        </m:r>
                      </m:e>
                      <m:sub>
                        <m:r>
                          <a:rPr lang="zh-TW" altLang="en-US" sz="2000" i="0">
                            <a:latin typeface="Cambria Math" panose="02040503050406030204" pitchFamily="18" charset="0"/>
                          </a:rPr>
                          <m:t>2</m:t>
                        </m:r>
                      </m:sub>
                    </m:sSub>
                    <m:sSub>
                      <m:sSubPr>
                        <m:ctrlPr>
                          <a:rPr lang="zh-TW" altLang="en-US" sz="2000" i="1">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zh-TW" altLang="en-US" sz="2000" i="0">
                            <a:latin typeface="Cambria Math" panose="02040503050406030204" pitchFamily="18" charset="0"/>
                          </a:rPr>
                          <m:t>2</m:t>
                        </m:r>
                      </m:sub>
                    </m:sSub>
                    <m:r>
                      <a:rPr lang="zh-TW" altLang="en-US" sz="2000" i="0">
                        <a:latin typeface="Cambria Math" panose="02040503050406030204" pitchFamily="18" charset="0"/>
                      </a:rPr>
                      <m:t>+⋯+</m:t>
                    </m:r>
                    <m:sSub>
                      <m:sSubPr>
                        <m:ctrlPr>
                          <a:rPr lang="zh-TW" altLang="en-US" sz="2000" i="1">
                            <a:solidFill>
                              <a:srgbClr val="836967"/>
                            </a:solidFill>
                            <a:latin typeface="Cambria Math" panose="02040503050406030204" pitchFamily="18" charset="0"/>
                          </a:rPr>
                        </m:ctrlPr>
                      </m:sSubPr>
                      <m:e>
                        <m:r>
                          <m:rPr>
                            <m:sty m:val="p"/>
                          </m:rPr>
                          <a:rPr lang="zh-TW" altLang="en-US" sz="2000" i="0">
                            <a:latin typeface="Cambria Math" panose="02040503050406030204" pitchFamily="18" charset="0"/>
                          </a:rPr>
                          <m:t>β</m:t>
                        </m:r>
                      </m:e>
                      <m:sub>
                        <m:r>
                          <a:rPr lang="zh-TW" altLang="en-US" sz="2000" i="1">
                            <a:latin typeface="Cambria Math" panose="02040503050406030204" pitchFamily="18" charset="0"/>
                          </a:rPr>
                          <m:t>𝑛</m:t>
                        </m:r>
                      </m:sub>
                    </m:sSub>
                    <m:sSub>
                      <m:sSubPr>
                        <m:ctrlPr>
                          <a:rPr lang="zh-TW" altLang="en-US" sz="2000" i="1">
                            <a:solidFill>
                              <a:srgbClr val="836967"/>
                            </a:solidFill>
                            <a:latin typeface="Cambria Math" panose="02040503050406030204" pitchFamily="18" charset="0"/>
                          </a:rPr>
                        </m:ctrlPr>
                      </m:sSubPr>
                      <m:e>
                        <m:r>
                          <a:rPr lang="zh-TW" altLang="en-US" sz="2000" i="1">
                            <a:latin typeface="Cambria Math" panose="02040503050406030204" pitchFamily="18" charset="0"/>
                          </a:rPr>
                          <m:t>𝑥</m:t>
                        </m:r>
                      </m:e>
                      <m:sub>
                        <m:r>
                          <a:rPr lang="zh-TW" altLang="en-US" sz="2000" i="1">
                            <a:latin typeface="Cambria Math" panose="02040503050406030204" pitchFamily="18" charset="0"/>
                          </a:rPr>
                          <m:t>𝑛</m:t>
                        </m:r>
                      </m:sub>
                    </m:sSub>
                  </m:oMath>
                </a14:m>
                <a:r>
                  <a:rPr lang="en-US" altLang="zh-TW" sz="2000" dirty="0"/>
                  <a:t>=</a:t>
                </a:r>
                <a14:m>
                  <m:oMath xmlns:m="http://schemas.openxmlformats.org/officeDocument/2006/math">
                    <m:sSup>
                      <m:sSupPr>
                        <m:ctrlPr>
                          <a:rPr lang="zh-TW" altLang="zh-TW" i="1">
                            <a:latin typeface="Cambria Math" panose="02040503050406030204" pitchFamily="18" charset="0"/>
                          </a:rPr>
                        </m:ctrlPr>
                      </m:sSupPr>
                      <m:e>
                        <m:r>
                          <m:rPr>
                            <m:sty m:val="p"/>
                          </m:rPr>
                          <a:rPr lang="en-US" altLang="zh-TW">
                            <a:latin typeface="Cambria Math" panose="02040503050406030204" pitchFamily="18" charset="0"/>
                          </a:rPr>
                          <m:t>β</m:t>
                        </m:r>
                      </m:e>
                      <m:sup>
                        <m:r>
                          <a:rPr lang="en-US" altLang="zh-TW" i="1">
                            <a:latin typeface="Cambria Math" panose="02040503050406030204" pitchFamily="18" charset="0"/>
                          </a:rPr>
                          <m:t>𝑇</m:t>
                        </m:r>
                      </m:sup>
                    </m:sSup>
                    <m:r>
                      <a:rPr lang="en-US" altLang="zh-TW" i="1">
                        <a:latin typeface="Cambria Math" panose="02040503050406030204" pitchFamily="18" charset="0"/>
                      </a:rPr>
                      <m:t>𝑋</m:t>
                    </m:r>
                  </m:oMath>
                </a14:m>
                <a:endParaRPr lang="zh-TW" altLang="en-US" sz="2000" dirty="0"/>
              </a:p>
            </p:txBody>
          </p:sp>
        </mc:Choice>
        <mc:Fallback xmlns="">
          <p:sp>
            <p:nvSpPr>
              <p:cNvPr id="8" name="文字方塊 7">
                <a:extLst>
                  <a:ext uri="{FF2B5EF4-FFF2-40B4-BE49-F238E27FC236}">
                    <a16:creationId xmlns:a16="http://schemas.microsoft.com/office/drawing/2014/main" id="{5C1BAD76-2840-45C7-A37A-0F1BA7212A98}"/>
                  </a:ext>
                </a:extLst>
              </p:cNvPr>
              <p:cNvSpPr txBox="1">
                <a:spLocks noRot="1" noChangeAspect="1" noMove="1" noResize="1" noEditPoints="1" noAdjustHandles="1" noChangeArrowheads="1" noChangeShapeType="1" noTextEdit="1"/>
              </p:cNvSpPr>
              <p:nvPr/>
            </p:nvSpPr>
            <p:spPr>
              <a:xfrm>
                <a:off x="3049731" y="2302142"/>
                <a:ext cx="5344970" cy="400110"/>
              </a:xfrm>
              <a:prstGeom prst="rect">
                <a:avLst/>
              </a:prstGeom>
              <a:blipFill>
                <a:blip r:embed="rId4"/>
                <a:stretch>
                  <a:fillRect t="-9231" b="-27692"/>
                </a:stretch>
              </a:blipFill>
            </p:spPr>
            <p:txBody>
              <a:bodyPr/>
              <a:lstStyle/>
              <a:p>
                <a:r>
                  <a:rPr lang="zh-TW" altLang="en-US">
                    <a:noFill/>
                  </a:rPr>
                  <a:t> </a:t>
                </a:r>
              </a:p>
            </p:txBody>
          </p:sp>
        </mc:Fallback>
      </mc:AlternateContent>
      <p:pic>
        <p:nvPicPr>
          <p:cNvPr id="12" name="圖片 11">
            <a:extLst>
              <a:ext uri="{FF2B5EF4-FFF2-40B4-BE49-F238E27FC236}">
                <a16:creationId xmlns:a16="http://schemas.microsoft.com/office/drawing/2014/main" id="{5B92DCA9-C863-42D9-A73D-EC4F69EDF26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365445" y="2879220"/>
            <a:ext cx="2625905" cy="1303227"/>
          </a:xfrm>
          <a:prstGeom prst="rect">
            <a:avLst/>
          </a:prstGeom>
        </p:spPr>
      </p:pic>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35BDE20B-4A2C-43BB-AC43-50095FB01CE2}"/>
                  </a:ext>
                </a:extLst>
              </p:cNvPr>
              <p:cNvSpPr txBox="1"/>
              <p:nvPr/>
            </p:nvSpPr>
            <p:spPr>
              <a:xfrm>
                <a:off x="1455016" y="4418647"/>
                <a:ext cx="8534400" cy="4598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mtClean="0">
                          <a:latin typeface="Cambria Math" panose="02040503050406030204" pitchFamily="18" charset="0"/>
                        </a:rPr>
                        <m:t>𝐿𝑜𝑠𝑠</m:t>
                      </m:r>
                      <m:d>
                        <m:dPr>
                          <m:ctrlPr>
                            <a:rPr lang="zh-TW" altLang="en-US" i="1">
                              <a:latin typeface="Cambria Math" panose="02040503050406030204" pitchFamily="18" charset="0"/>
                            </a:rPr>
                          </m:ctrlPr>
                        </m:dPr>
                        <m:e>
                          <m:r>
                            <m:rPr>
                              <m:sty m:val="p"/>
                            </m:rPr>
                            <a:rPr lang="zh-TW" altLang="en-US">
                              <a:latin typeface="Cambria Math" panose="02040503050406030204" pitchFamily="18" charset="0"/>
                            </a:rPr>
                            <m:t>β</m:t>
                          </m:r>
                        </m:e>
                      </m:d>
                      <m:r>
                        <a:rPr lang="zh-TW" altLang="en-US">
                          <a:latin typeface="Cambria Math" panose="02040503050406030204" pitchFamily="18" charset="0"/>
                        </a:rPr>
                        <m:t>=</m:t>
                      </m:r>
                      <m:sSup>
                        <m:sSupPr>
                          <m:ctrlPr>
                            <a:rPr lang="zh-TW" altLang="en-US" i="1">
                              <a:latin typeface="Cambria Math" panose="02040503050406030204" pitchFamily="18" charset="0"/>
                            </a:rPr>
                          </m:ctrlPr>
                        </m:sSupPr>
                        <m:e>
                          <m:d>
                            <m:dPr>
                              <m:ctrlPr>
                                <a:rPr lang="zh-TW" altLang="en-US" i="1">
                                  <a:latin typeface="Cambria Math" panose="02040503050406030204" pitchFamily="18" charset="0"/>
                                </a:rPr>
                              </m:ctrlPr>
                            </m:dPr>
                            <m:e>
                              <m:r>
                                <a:rPr lang="zh-TW" altLang="en-US">
                                  <a:latin typeface="Cambria Math" panose="02040503050406030204" pitchFamily="18" charset="0"/>
                                </a:rPr>
                                <m:t>𝑌</m:t>
                              </m:r>
                              <m:r>
                                <a:rPr lang="zh-TW" altLang="en-US">
                                  <a:latin typeface="Cambria Math" panose="02040503050406030204" pitchFamily="18" charset="0"/>
                                </a:rPr>
                                <m:t>−</m:t>
                              </m:r>
                              <m:acc>
                                <m:accPr>
                                  <m:chr m:val="̂"/>
                                  <m:ctrlPr>
                                    <a:rPr lang="zh-TW" altLang="en-US" i="1">
                                      <a:latin typeface="Cambria Math" panose="02040503050406030204" pitchFamily="18" charset="0"/>
                                    </a:rPr>
                                  </m:ctrlPr>
                                </m:accPr>
                                <m:e>
                                  <m:r>
                                    <a:rPr lang="zh-TW" altLang="en-US">
                                      <a:latin typeface="Cambria Math" panose="02040503050406030204" pitchFamily="18" charset="0"/>
                                    </a:rPr>
                                    <m:t>𝑌</m:t>
                                  </m:r>
                                </m:e>
                              </m:acc>
                            </m:e>
                          </m:d>
                        </m:e>
                        <m:sup>
                          <m:r>
                            <a:rPr lang="zh-TW" altLang="en-US">
                              <a:latin typeface="Cambria Math" panose="02040503050406030204" pitchFamily="18" charset="0"/>
                            </a:rPr>
                            <m:t>𝑇</m:t>
                          </m:r>
                        </m:sup>
                      </m:sSup>
                      <m:d>
                        <m:dPr>
                          <m:ctrlPr>
                            <a:rPr lang="zh-TW" altLang="en-US" i="1">
                              <a:latin typeface="Cambria Math" panose="02040503050406030204" pitchFamily="18" charset="0"/>
                            </a:rPr>
                          </m:ctrlPr>
                        </m:dPr>
                        <m:e>
                          <m:r>
                            <a:rPr lang="zh-TW" altLang="en-US">
                              <a:latin typeface="Cambria Math" panose="02040503050406030204" pitchFamily="18" charset="0"/>
                            </a:rPr>
                            <m:t>𝑌</m:t>
                          </m:r>
                          <m:r>
                            <a:rPr lang="zh-TW" altLang="en-US">
                              <a:latin typeface="Cambria Math" panose="02040503050406030204" pitchFamily="18" charset="0"/>
                            </a:rPr>
                            <m:t>−</m:t>
                          </m:r>
                          <m:acc>
                            <m:accPr>
                              <m:chr m:val="̂"/>
                              <m:ctrlPr>
                                <a:rPr lang="zh-TW" altLang="en-US" i="1">
                                  <a:latin typeface="Cambria Math" panose="02040503050406030204" pitchFamily="18" charset="0"/>
                                </a:rPr>
                              </m:ctrlPr>
                            </m:accPr>
                            <m:e>
                              <m:r>
                                <a:rPr lang="zh-TW" altLang="en-US">
                                  <a:latin typeface="Cambria Math" panose="02040503050406030204" pitchFamily="18" charset="0"/>
                                </a:rPr>
                                <m:t>𝑌</m:t>
                              </m:r>
                            </m:e>
                          </m:acc>
                        </m:e>
                      </m:d>
                      <m:r>
                        <a:rPr lang="zh-TW" altLang="en-US">
                          <a:latin typeface="Cambria Math" panose="02040503050406030204" pitchFamily="18" charset="0"/>
                        </a:rPr>
                        <m:t>=</m:t>
                      </m:r>
                      <m:sSup>
                        <m:sSupPr>
                          <m:ctrlPr>
                            <a:rPr lang="zh-TW" altLang="en-US" i="1">
                              <a:latin typeface="Cambria Math" panose="02040503050406030204" pitchFamily="18" charset="0"/>
                            </a:rPr>
                          </m:ctrlPr>
                        </m:sSupPr>
                        <m:e>
                          <m:d>
                            <m:dPr>
                              <m:ctrlPr>
                                <a:rPr lang="zh-TW" altLang="en-US" i="1">
                                  <a:latin typeface="Cambria Math" panose="02040503050406030204" pitchFamily="18" charset="0"/>
                                </a:rPr>
                              </m:ctrlPr>
                            </m:dPr>
                            <m:e>
                              <m:r>
                                <a:rPr lang="zh-TW" altLang="en-US">
                                  <a:latin typeface="Cambria Math" panose="02040503050406030204" pitchFamily="18" charset="0"/>
                                </a:rPr>
                                <m:t>𝑌</m:t>
                              </m:r>
                              <m:r>
                                <a:rPr lang="zh-TW" altLang="en-US">
                                  <a:latin typeface="Cambria Math" panose="02040503050406030204" pitchFamily="18" charset="0"/>
                                </a:rPr>
                                <m:t>−</m:t>
                              </m:r>
                              <m:sSup>
                                <m:sSupPr>
                                  <m:ctrlPr>
                                    <a:rPr lang="el-GR" altLang="zh-TW" i="1" smtClean="0">
                                      <a:latin typeface="Cambria Math" panose="02040503050406030204" pitchFamily="18" charset="0"/>
                                    </a:rPr>
                                  </m:ctrlPr>
                                </m:sSupPr>
                                <m:e>
                                  <m:r>
                                    <m:rPr>
                                      <m:sty m:val="p"/>
                                    </m:rPr>
                                    <a:rPr lang="el-GR" altLang="zh-TW">
                                      <a:latin typeface="Cambria Math" panose="02040503050406030204" pitchFamily="18" charset="0"/>
                                    </a:rPr>
                                    <m:t>β</m:t>
                                  </m:r>
                                </m:e>
                                <m:sup>
                                  <m:r>
                                    <a:rPr lang="en-US" altLang="zh-TW" b="0" i="1" smtClean="0">
                                      <a:latin typeface="Cambria Math" panose="02040503050406030204" pitchFamily="18" charset="0"/>
                                    </a:rPr>
                                    <m:t>𝑇</m:t>
                                  </m:r>
                                </m:sup>
                              </m:sSup>
                              <m:r>
                                <a:rPr lang="zh-TW" altLang="en-US">
                                  <a:latin typeface="Cambria Math" panose="02040503050406030204" pitchFamily="18" charset="0"/>
                                </a:rPr>
                                <m:t>𝑋</m:t>
                              </m:r>
                            </m:e>
                          </m:d>
                        </m:e>
                        <m:sup>
                          <m:r>
                            <a:rPr lang="zh-TW" altLang="en-US">
                              <a:latin typeface="Cambria Math" panose="02040503050406030204" pitchFamily="18" charset="0"/>
                            </a:rPr>
                            <m:t>𝑇</m:t>
                          </m:r>
                        </m:sup>
                      </m:sSup>
                      <m:d>
                        <m:dPr>
                          <m:ctrlPr>
                            <a:rPr lang="zh-TW" altLang="en-US" i="1">
                              <a:latin typeface="Cambria Math" panose="02040503050406030204" pitchFamily="18" charset="0"/>
                            </a:rPr>
                          </m:ctrlPr>
                        </m:dPr>
                        <m:e>
                          <m:r>
                            <a:rPr lang="zh-TW" altLang="en-US">
                              <a:latin typeface="Cambria Math" panose="02040503050406030204" pitchFamily="18" charset="0"/>
                            </a:rPr>
                            <m:t>𝑌</m:t>
                          </m:r>
                          <m:r>
                            <a:rPr lang="zh-TW" altLang="en-US">
                              <a:latin typeface="Cambria Math" panose="02040503050406030204" pitchFamily="18" charset="0"/>
                            </a:rPr>
                            <m:t>−</m:t>
                          </m:r>
                          <m:sSup>
                            <m:sSupPr>
                              <m:ctrlPr>
                                <a:rPr lang="el-GR" altLang="zh-TW" i="1">
                                  <a:latin typeface="Cambria Math" panose="02040503050406030204" pitchFamily="18" charset="0"/>
                                </a:rPr>
                              </m:ctrlPr>
                            </m:sSupPr>
                            <m:e>
                              <m:r>
                                <m:rPr>
                                  <m:sty m:val="p"/>
                                </m:rPr>
                                <a:rPr lang="el-GR" altLang="zh-TW">
                                  <a:latin typeface="Cambria Math" panose="02040503050406030204" pitchFamily="18" charset="0"/>
                                </a:rPr>
                                <m:t>β</m:t>
                              </m:r>
                            </m:e>
                            <m:sup>
                              <m:r>
                                <a:rPr lang="en-US" altLang="zh-TW" i="1">
                                  <a:latin typeface="Cambria Math" panose="02040503050406030204" pitchFamily="18" charset="0"/>
                                </a:rPr>
                                <m:t>𝑇</m:t>
                              </m:r>
                            </m:sup>
                          </m:sSup>
                          <m:r>
                            <a:rPr lang="zh-TW" altLang="en-US">
                              <a:latin typeface="Cambria Math" panose="02040503050406030204" pitchFamily="18" charset="0"/>
                            </a:rPr>
                            <m:t>𝑋</m:t>
                          </m:r>
                        </m:e>
                      </m:d>
                      <m:r>
                        <a:rPr lang="zh-TW" altLang="en-US">
                          <a:latin typeface="Cambria Math" panose="02040503050406030204" pitchFamily="18" charset="0"/>
                        </a:rPr>
                        <m:t>=</m:t>
                      </m:r>
                      <m:sSup>
                        <m:sSupPr>
                          <m:ctrlPr>
                            <a:rPr lang="zh-TW" altLang="en-US" i="1">
                              <a:latin typeface="Cambria Math" panose="02040503050406030204" pitchFamily="18" charset="0"/>
                            </a:rPr>
                          </m:ctrlPr>
                        </m:sSupPr>
                        <m:e>
                          <m:r>
                            <a:rPr lang="zh-TW" altLang="en-US">
                              <a:latin typeface="Cambria Math" panose="02040503050406030204" pitchFamily="18" charset="0"/>
                            </a:rPr>
                            <m:t>𝑌</m:t>
                          </m:r>
                        </m:e>
                        <m:sup>
                          <m:r>
                            <a:rPr lang="zh-TW" altLang="en-US">
                              <a:latin typeface="Cambria Math" panose="02040503050406030204" pitchFamily="18" charset="0"/>
                            </a:rPr>
                            <m:t>𝑇</m:t>
                          </m:r>
                        </m:sup>
                      </m:sSup>
                      <m:r>
                        <a:rPr lang="zh-TW" altLang="en-US">
                          <a:latin typeface="Cambria Math" panose="02040503050406030204" pitchFamily="18" charset="0"/>
                        </a:rPr>
                        <m:t>𝑌</m:t>
                      </m:r>
                      <m:r>
                        <a:rPr lang="zh-TW" altLang="en-US">
                          <a:latin typeface="Cambria Math" panose="02040503050406030204" pitchFamily="18" charset="0"/>
                        </a:rPr>
                        <m:t>+</m:t>
                      </m:r>
                      <m:sSup>
                        <m:sSupPr>
                          <m:ctrlPr>
                            <a:rPr lang="zh-TW" altLang="en-US" i="1">
                              <a:latin typeface="Cambria Math" panose="02040503050406030204" pitchFamily="18" charset="0"/>
                            </a:rPr>
                          </m:ctrlPr>
                        </m:sSupPr>
                        <m:e>
                          <m:r>
                            <a:rPr lang="zh-TW" altLang="en-US">
                              <a:latin typeface="Cambria Math" panose="02040503050406030204" pitchFamily="18" charset="0"/>
                            </a:rPr>
                            <m:t>𝑋</m:t>
                          </m:r>
                        </m:e>
                        <m:sup>
                          <m:r>
                            <a:rPr lang="zh-TW" altLang="en-US">
                              <a:latin typeface="Cambria Math" panose="02040503050406030204" pitchFamily="18" charset="0"/>
                            </a:rPr>
                            <m:t>𝑇</m:t>
                          </m:r>
                        </m:sup>
                      </m:sSup>
                      <m:r>
                        <m:rPr>
                          <m:sty m:val="p"/>
                        </m:rPr>
                        <a:rPr lang="el-GR" altLang="zh-TW">
                          <a:latin typeface="Cambria Math" panose="02040503050406030204" pitchFamily="18" charset="0"/>
                        </a:rPr>
                        <m:t>β</m:t>
                      </m:r>
                      <m:sSup>
                        <m:sSupPr>
                          <m:ctrlPr>
                            <a:rPr lang="el-GR" altLang="zh-TW" i="1">
                              <a:latin typeface="Cambria Math" panose="02040503050406030204" pitchFamily="18" charset="0"/>
                            </a:rPr>
                          </m:ctrlPr>
                        </m:sSupPr>
                        <m:e>
                          <m:r>
                            <m:rPr>
                              <m:sty m:val="p"/>
                            </m:rPr>
                            <a:rPr lang="el-GR" altLang="zh-TW" smtClean="0">
                              <a:latin typeface="Cambria Math" panose="02040503050406030204" pitchFamily="18" charset="0"/>
                            </a:rPr>
                            <m:t>β</m:t>
                          </m:r>
                        </m:e>
                        <m:sup>
                          <m:r>
                            <a:rPr lang="en-US" altLang="zh-TW" i="1">
                              <a:latin typeface="Cambria Math" panose="02040503050406030204" pitchFamily="18" charset="0"/>
                            </a:rPr>
                            <m:t>𝑇</m:t>
                          </m:r>
                        </m:sup>
                      </m:sSup>
                      <m:r>
                        <a:rPr lang="zh-TW" altLang="en-US">
                          <a:latin typeface="Cambria Math" panose="02040503050406030204" pitchFamily="18" charset="0"/>
                        </a:rPr>
                        <m:t>𝑋</m:t>
                      </m:r>
                      <m:r>
                        <a:rPr lang="zh-TW" altLang="en-US">
                          <a:latin typeface="Cambria Math" panose="02040503050406030204" pitchFamily="18" charset="0"/>
                        </a:rPr>
                        <m:t>−2</m:t>
                      </m:r>
                      <m:sSup>
                        <m:sSupPr>
                          <m:ctrlPr>
                            <a:rPr lang="zh-TW" altLang="en-US" i="1">
                              <a:latin typeface="Cambria Math" panose="02040503050406030204" pitchFamily="18" charset="0"/>
                            </a:rPr>
                          </m:ctrlPr>
                        </m:sSupPr>
                        <m:e>
                          <m:r>
                            <a:rPr lang="zh-TW" altLang="en-US">
                              <a:latin typeface="Cambria Math" panose="02040503050406030204" pitchFamily="18" charset="0"/>
                            </a:rPr>
                            <m:t>𝑋</m:t>
                          </m:r>
                        </m:e>
                        <m:sup>
                          <m:r>
                            <a:rPr lang="zh-TW" altLang="en-US">
                              <a:latin typeface="Cambria Math" panose="02040503050406030204" pitchFamily="18" charset="0"/>
                            </a:rPr>
                            <m:t>𝑇</m:t>
                          </m:r>
                        </m:sup>
                      </m:sSup>
                      <m:r>
                        <m:rPr>
                          <m:sty m:val="p"/>
                        </m:rPr>
                        <a:rPr lang="el-GR" altLang="zh-TW">
                          <a:latin typeface="Cambria Math" panose="02040503050406030204" pitchFamily="18" charset="0"/>
                        </a:rPr>
                        <m:t>β</m:t>
                      </m:r>
                      <m:r>
                        <a:rPr lang="zh-TW" altLang="en-US">
                          <a:latin typeface="Cambria Math" panose="02040503050406030204" pitchFamily="18" charset="0"/>
                        </a:rPr>
                        <m:t>𝑌</m:t>
                      </m:r>
                    </m:oMath>
                  </m:oMathPara>
                </a14:m>
                <a:endParaRPr lang="zh-TW" altLang="en-US" dirty="0">
                  <a:latin typeface="Cambria Math" panose="02040503050406030204" pitchFamily="18" charset="0"/>
                </a:endParaRPr>
              </a:p>
            </p:txBody>
          </p:sp>
        </mc:Choice>
        <mc:Fallback xmlns="">
          <p:sp>
            <p:nvSpPr>
              <p:cNvPr id="13" name="文字方塊 12">
                <a:extLst>
                  <a:ext uri="{FF2B5EF4-FFF2-40B4-BE49-F238E27FC236}">
                    <a16:creationId xmlns:a16="http://schemas.microsoft.com/office/drawing/2014/main" id="{35BDE20B-4A2C-43BB-AC43-50095FB01CE2}"/>
                  </a:ext>
                </a:extLst>
              </p:cNvPr>
              <p:cNvSpPr txBox="1">
                <a:spLocks noRot="1" noChangeAspect="1" noMove="1" noResize="1" noEditPoints="1" noAdjustHandles="1" noChangeArrowheads="1" noChangeShapeType="1" noTextEdit="1"/>
              </p:cNvSpPr>
              <p:nvPr/>
            </p:nvSpPr>
            <p:spPr>
              <a:xfrm>
                <a:off x="1455016" y="4418647"/>
                <a:ext cx="8534400" cy="459806"/>
              </a:xfrm>
              <a:prstGeom prst="rect">
                <a:avLst/>
              </a:prstGeom>
              <a:blipFill>
                <a:blip r:embed="rId6"/>
                <a:stretch>
                  <a:fillRect b="-8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D645641B-4B16-4E72-B4F4-4D8AF57DB525}"/>
                  </a:ext>
                </a:extLst>
              </p:cNvPr>
              <p:cNvSpPr txBox="1"/>
              <p:nvPr/>
            </p:nvSpPr>
            <p:spPr>
              <a:xfrm>
                <a:off x="1193800" y="4861056"/>
                <a:ext cx="5670550" cy="15077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TW" altLang="en-US" i="1" smtClean="0">
                              <a:solidFill>
                                <a:srgbClr val="836967"/>
                              </a:solidFill>
                              <a:latin typeface="Cambria Math" panose="02040503050406030204" pitchFamily="18" charset="0"/>
                            </a:rPr>
                          </m:ctrlPr>
                        </m:fPr>
                        <m:num>
                          <m:r>
                            <a:rPr lang="zh-TW" altLang="en-US">
                              <a:latin typeface="Cambria Math" panose="02040503050406030204" pitchFamily="18" charset="0"/>
                            </a:rPr>
                            <m:t>𝜕</m:t>
                          </m:r>
                          <m:r>
                            <a:rPr lang="zh-TW" altLang="en-US" i="1">
                              <a:latin typeface="Cambria Math" panose="02040503050406030204" pitchFamily="18" charset="0"/>
                            </a:rPr>
                            <m:t>𝐿𝑜𝑠𝑠</m:t>
                          </m:r>
                          <m:d>
                            <m:dPr>
                              <m:ctrlPr>
                                <a:rPr lang="zh-TW" altLang="en-US" i="1">
                                  <a:solidFill>
                                    <a:srgbClr val="836967"/>
                                  </a:solidFill>
                                  <a:latin typeface="Cambria Math" panose="02040503050406030204" pitchFamily="18" charset="0"/>
                                </a:rPr>
                              </m:ctrlPr>
                            </m:dPr>
                            <m:e>
                              <m:r>
                                <m:rPr>
                                  <m:sty m:val="p"/>
                                </m:rPr>
                                <a:rPr lang="zh-TW" altLang="en-US" i="0">
                                  <a:latin typeface="Cambria Math" panose="02040503050406030204" pitchFamily="18" charset="0"/>
                                </a:rPr>
                                <m:t>β</m:t>
                              </m:r>
                            </m:e>
                          </m:d>
                        </m:num>
                        <m:den>
                          <m:r>
                            <a:rPr lang="zh-TW" altLang="en-US" i="0">
                              <a:latin typeface="Cambria Math" panose="02040503050406030204" pitchFamily="18" charset="0"/>
                            </a:rPr>
                            <m:t>𝜕</m:t>
                          </m:r>
                          <m:r>
                            <m:rPr>
                              <m:sty m:val="p"/>
                            </m:rPr>
                            <a:rPr lang="zh-TW" altLang="en-US" i="0">
                              <a:latin typeface="Cambria Math" panose="02040503050406030204" pitchFamily="18" charset="0"/>
                            </a:rPr>
                            <m:t>β</m:t>
                          </m:r>
                        </m:den>
                      </m:f>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r>
                            <a:rPr lang="zh-TW" altLang="en-US" i="0">
                              <a:latin typeface="Cambria Math" panose="02040503050406030204" pitchFamily="18" charset="0"/>
                            </a:rPr>
                            <m:t>𝜕</m:t>
                          </m:r>
                        </m:num>
                        <m:den>
                          <m:r>
                            <a:rPr lang="zh-TW" altLang="en-US" i="0">
                              <a:latin typeface="Cambria Math" panose="02040503050406030204" pitchFamily="18" charset="0"/>
                            </a:rPr>
                            <m:t>𝜕</m:t>
                          </m:r>
                          <m:r>
                            <m:rPr>
                              <m:sty m:val="p"/>
                            </m:rPr>
                            <a:rPr lang="zh-TW" altLang="en-US" i="0">
                              <a:latin typeface="Cambria Math" panose="02040503050406030204" pitchFamily="18" charset="0"/>
                            </a:rPr>
                            <m:t>β</m:t>
                          </m:r>
                        </m:den>
                      </m:f>
                      <m:d>
                        <m:dPr>
                          <m:ctrlPr>
                            <a:rPr lang="zh-TW" altLang="en-US" i="1">
                              <a:solidFill>
                                <a:srgbClr val="836967"/>
                              </a:solidFill>
                              <a:latin typeface="Cambria Math" panose="02040503050406030204" pitchFamily="18" charset="0"/>
                            </a:rPr>
                          </m:ctrlPr>
                        </m:dPr>
                        <m:e>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𝑌</m:t>
                              </m:r>
                            </m:e>
                            <m:sup>
                              <m:r>
                                <a:rPr lang="zh-TW" altLang="en-US" i="1">
                                  <a:latin typeface="Cambria Math" panose="02040503050406030204" pitchFamily="18" charset="0"/>
                                </a:rPr>
                                <m:t>𝑇</m:t>
                              </m:r>
                            </m:sup>
                          </m:sSup>
                          <m:r>
                            <a:rPr lang="zh-TW" altLang="en-US" i="1">
                              <a:latin typeface="Cambria Math" panose="02040503050406030204" pitchFamily="18" charset="0"/>
                            </a:rPr>
                            <m:t>𝑌</m:t>
                          </m:r>
                          <m:r>
                            <a:rPr lang="zh-TW" altLang="en-US" i="0">
                              <a:latin typeface="Cambria Math" panose="02040503050406030204" pitchFamily="18" charset="0"/>
                            </a:rPr>
                            <m:t>+</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m:rPr>
                              <m:sty m:val="p"/>
                            </m:rPr>
                            <a:rPr lang="el-GR" altLang="zh-TW">
                              <a:latin typeface="Cambria Math" panose="02040503050406030204" pitchFamily="18" charset="0"/>
                            </a:rPr>
                            <m:t>β</m:t>
                          </m:r>
                          <m:sSup>
                            <m:sSupPr>
                              <m:ctrlPr>
                                <a:rPr lang="el-GR" altLang="zh-TW" i="1">
                                  <a:latin typeface="Cambria Math" panose="02040503050406030204" pitchFamily="18" charset="0"/>
                                </a:rPr>
                              </m:ctrlPr>
                            </m:sSupPr>
                            <m:e>
                              <m:r>
                                <m:rPr>
                                  <m:sty m:val="p"/>
                                </m:rPr>
                                <a:rPr lang="el-GR" altLang="zh-TW">
                                  <a:latin typeface="Cambria Math" panose="02040503050406030204" pitchFamily="18" charset="0"/>
                                </a:rPr>
                                <m:t>β</m:t>
                              </m:r>
                            </m:e>
                            <m:sup>
                              <m:r>
                                <a:rPr lang="en-US" altLang="zh-TW" i="1">
                                  <a:latin typeface="Cambria Math" panose="02040503050406030204" pitchFamily="18" charset="0"/>
                                </a:rPr>
                                <m:t>𝑇</m:t>
                              </m:r>
                            </m:sup>
                          </m:sSup>
                          <m:r>
                            <a:rPr lang="zh-TW" altLang="en-US" i="1">
                              <a:latin typeface="Cambria Math" panose="02040503050406030204" pitchFamily="18" charset="0"/>
                            </a:rPr>
                            <m:t>𝑋</m:t>
                          </m:r>
                          <m:r>
                            <a:rPr lang="zh-TW" altLang="en-US" i="0">
                              <a:latin typeface="Cambria Math" panose="02040503050406030204" pitchFamily="18" charset="0"/>
                            </a:rPr>
                            <m:t>−2</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m:rPr>
                              <m:sty m:val="p"/>
                            </m:rPr>
                            <a:rPr lang="el-GR" altLang="zh-TW">
                              <a:latin typeface="Cambria Math" panose="02040503050406030204" pitchFamily="18" charset="0"/>
                            </a:rPr>
                            <m:t>β</m:t>
                          </m:r>
                          <m:r>
                            <a:rPr lang="zh-TW" altLang="en-US" i="1">
                              <a:latin typeface="Cambria Math" panose="02040503050406030204" pitchFamily="18" charset="0"/>
                            </a:rPr>
                            <m:t>𝑌</m:t>
                          </m:r>
                        </m:e>
                      </m:d>
                      <m:r>
                        <a:rPr lang="zh-TW" altLang="en-US" i="0">
                          <a:latin typeface="Cambria Math" panose="02040503050406030204" pitchFamily="18" charset="0"/>
                        </a:rPr>
                        <m:t>=0</m:t>
                      </m:r>
                    </m:oMath>
                  </m:oMathPara>
                </a14:m>
                <a:endParaRPr lang="en-US" altLang="zh-TW"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rPr>
                        <m:t>⇒  2</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a:rPr lang="zh-TW" altLang="en-US" i="1">
                          <a:latin typeface="Cambria Math" panose="02040503050406030204" pitchFamily="18" charset="0"/>
                        </a:rPr>
                        <m:t>𝑋</m:t>
                      </m:r>
                      <m:r>
                        <m:rPr>
                          <m:sty m:val="p"/>
                        </m:rPr>
                        <a:rPr lang="el-GR" altLang="zh-TW">
                          <a:latin typeface="Cambria Math" panose="02040503050406030204" pitchFamily="18" charset="0"/>
                        </a:rPr>
                        <m:t>β</m:t>
                      </m:r>
                      <m:r>
                        <a:rPr lang="zh-TW" altLang="en-US" i="0">
                          <a:latin typeface="Cambria Math" panose="02040503050406030204" pitchFamily="18" charset="0"/>
                        </a:rPr>
                        <m:t>−2</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a:rPr lang="zh-TW" altLang="en-US" i="1">
                          <a:latin typeface="Cambria Math" panose="02040503050406030204" pitchFamily="18" charset="0"/>
                        </a:rPr>
                        <m:t>𝑌</m:t>
                      </m:r>
                      <m:r>
                        <a:rPr lang="zh-TW" altLang="en-US" i="0">
                          <a:latin typeface="Cambria Math" panose="02040503050406030204" pitchFamily="18" charset="0"/>
                        </a:rPr>
                        <m:t>=0  </m:t>
                      </m:r>
                    </m:oMath>
                  </m:oMathPara>
                </a14:m>
                <a:endParaRPr lang="en-US" altLang="zh-TW"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rPr>
                        <m:t>⇒  </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a:rPr lang="zh-TW" altLang="en-US" i="1">
                          <a:latin typeface="Cambria Math" panose="02040503050406030204" pitchFamily="18" charset="0"/>
                        </a:rPr>
                        <m:t>𝑋</m:t>
                      </m:r>
                      <m:r>
                        <m:rPr>
                          <m:sty m:val="p"/>
                        </m:rPr>
                        <a:rPr lang="el-GR" altLang="zh-TW">
                          <a:latin typeface="Cambria Math" panose="02040503050406030204" pitchFamily="18" charset="0"/>
                        </a:rPr>
                        <m:t>β</m:t>
                      </m:r>
                      <m:r>
                        <a:rPr lang="zh-TW" altLang="en-US" i="0">
                          <a:latin typeface="Cambria Math" panose="02040503050406030204" pitchFamily="18" charset="0"/>
                        </a:rPr>
                        <m:t>=</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a:rPr lang="zh-TW" altLang="en-US" i="1">
                          <a:latin typeface="Cambria Math" panose="02040503050406030204" pitchFamily="18" charset="0"/>
                        </a:rPr>
                        <m:t>𝑌</m:t>
                      </m:r>
                      <m:r>
                        <a:rPr lang="zh-TW" altLang="en-US" i="0">
                          <a:latin typeface="Cambria Math" panose="02040503050406030204" pitchFamily="18" charset="0"/>
                        </a:rPr>
                        <m:t>  </m:t>
                      </m:r>
                    </m:oMath>
                  </m:oMathPara>
                </a14:m>
                <a:endParaRPr lang="en-US" altLang="zh-TW"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TW" altLang="en-US" i="0">
                          <a:latin typeface="Cambria Math" panose="02040503050406030204" pitchFamily="18" charset="0"/>
                        </a:rPr>
                        <m:t>⇒  </m:t>
                      </m:r>
                      <m:r>
                        <m:rPr>
                          <m:sty m:val="p"/>
                        </m:rPr>
                        <a:rPr lang="el-GR" altLang="zh-TW">
                          <a:latin typeface="Cambria Math" panose="02040503050406030204" pitchFamily="18" charset="0"/>
                        </a:rPr>
                        <m:t>β</m:t>
                      </m:r>
                      <m:r>
                        <a:rPr lang="zh-TW" altLang="en-US" i="0">
                          <a:latin typeface="Cambria Math" panose="02040503050406030204" pitchFamily="18" charset="0"/>
                        </a:rPr>
                        <m:t>=</m:t>
                      </m:r>
                      <m:sSup>
                        <m:sSupPr>
                          <m:ctrlPr>
                            <a:rPr lang="zh-TW" altLang="en-US" i="1">
                              <a:solidFill>
                                <a:srgbClr val="836967"/>
                              </a:solidFill>
                              <a:latin typeface="Cambria Math" panose="02040503050406030204" pitchFamily="18" charset="0"/>
                            </a:rPr>
                          </m:ctrlPr>
                        </m:sSupPr>
                        <m:e>
                          <m:d>
                            <m:dPr>
                              <m:ctrlPr>
                                <a:rPr lang="zh-TW" altLang="en-US" i="1">
                                  <a:solidFill>
                                    <a:srgbClr val="836967"/>
                                  </a:solidFill>
                                  <a:latin typeface="Cambria Math" panose="02040503050406030204" pitchFamily="18" charset="0"/>
                                </a:rPr>
                              </m:ctrlPr>
                            </m:dPr>
                            <m:e>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a:rPr lang="zh-TW" altLang="en-US" i="1">
                                  <a:latin typeface="Cambria Math" panose="02040503050406030204" pitchFamily="18" charset="0"/>
                                </a:rPr>
                                <m:t>𝑋</m:t>
                              </m:r>
                            </m:e>
                          </m:d>
                        </m:e>
                        <m:sup>
                          <m:r>
                            <a:rPr lang="zh-TW" altLang="en-US" i="0">
                              <a:latin typeface="Cambria Math" panose="02040503050406030204" pitchFamily="18" charset="0"/>
                            </a:rPr>
                            <m:t>−1</m:t>
                          </m:r>
                        </m:sup>
                      </m:sSup>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𝑋</m:t>
                          </m:r>
                        </m:e>
                        <m:sup>
                          <m:r>
                            <a:rPr lang="zh-TW" altLang="en-US" i="1">
                              <a:latin typeface="Cambria Math" panose="02040503050406030204" pitchFamily="18" charset="0"/>
                            </a:rPr>
                            <m:t>𝑇</m:t>
                          </m:r>
                        </m:sup>
                      </m:sSup>
                      <m:r>
                        <a:rPr lang="zh-TW" altLang="en-US" i="1">
                          <a:latin typeface="Cambria Math" panose="02040503050406030204" pitchFamily="18" charset="0"/>
                        </a:rPr>
                        <m:t>𝑌</m:t>
                      </m:r>
                    </m:oMath>
                  </m:oMathPara>
                </a14:m>
                <a:endParaRPr lang="zh-TW" altLang="en-US" dirty="0"/>
              </a:p>
            </p:txBody>
          </p:sp>
        </mc:Choice>
        <mc:Fallback xmlns="">
          <p:sp>
            <p:nvSpPr>
              <p:cNvPr id="14" name="文字方塊 13">
                <a:extLst>
                  <a:ext uri="{FF2B5EF4-FFF2-40B4-BE49-F238E27FC236}">
                    <a16:creationId xmlns:a16="http://schemas.microsoft.com/office/drawing/2014/main" id="{D645641B-4B16-4E72-B4F4-4D8AF57DB525}"/>
                  </a:ext>
                </a:extLst>
              </p:cNvPr>
              <p:cNvSpPr txBox="1">
                <a:spLocks noRot="1" noChangeAspect="1" noMove="1" noResize="1" noEditPoints="1" noAdjustHandles="1" noChangeArrowheads="1" noChangeShapeType="1" noTextEdit="1"/>
              </p:cNvSpPr>
              <p:nvPr/>
            </p:nvSpPr>
            <p:spPr>
              <a:xfrm>
                <a:off x="1193800" y="4861056"/>
                <a:ext cx="5670550" cy="1507785"/>
              </a:xfrm>
              <a:prstGeom prst="rect">
                <a:avLst/>
              </a:prstGeom>
              <a:blipFill>
                <a:blip r:embed="rId7"/>
                <a:stretch>
                  <a:fillRect b="-24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96035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4ECA24-D21A-4E9B-BDBB-D1D5952575FF}"/>
              </a:ext>
            </a:extLst>
          </p:cNvPr>
          <p:cNvSpPr>
            <a:spLocks noGrp="1"/>
          </p:cNvSpPr>
          <p:nvPr>
            <p:ph type="title"/>
          </p:nvPr>
        </p:nvSpPr>
        <p:spPr/>
        <p:txBody>
          <a:bodyPr/>
          <a:lstStyle/>
          <a:p>
            <a:r>
              <a:rPr lang="en-US" altLang="zh-TW" dirty="0"/>
              <a:t>Gradient Descent</a:t>
            </a:r>
            <a:r>
              <a:rPr lang="zh-TW" altLang="en-US" dirty="0"/>
              <a:t>梯度下降法</a:t>
            </a:r>
          </a:p>
        </p:txBody>
      </p:sp>
      <p:sp>
        <p:nvSpPr>
          <p:cNvPr id="3" name="內容版面配置區 2">
            <a:extLst>
              <a:ext uri="{FF2B5EF4-FFF2-40B4-BE49-F238E27FC236}">
                <a16:creationId xmlns:a16="http://schemas.microsoft.com/office/drawing/2014/main" id="{E1D3AC74-C53F-469D-A167-511F1C741610}"/>
              </a:ext>
            </a:extLst>
          </p:cNvPr>
          <p:cNvSpPr>
            <a:spLocks noGrp="1"/>
          </p:cNvSpPr>
          <p:nvPr>
            <p:ph idx="1"/>
          </p:nvPr>
        </p:nvSpPr>
        <p:spPr>
          <a:xfrm>
            <a:off x="838200" y="1825625"/>
            <a:ext cx="10515600" cy="1063189"/>
          </a:xfrm>
        </p:spPr>
        <p:txBody>
          <a:bodyPr/>
          <a:lstStyle/>
          <a:p>
            <a:r>
              <a:rPr lang="zh-TW" altLang="en-US" dirty="0"/>
              <a:t>一個廣泛被使用的求解的方法</a:t>
            </a:r>
            <a:endParaRPr lang="en-US" altLang="zh-TW" dirty="0"/>
          </a:p>
          <a:p>
            <a:r>
              <a:rPr lang="zh-TW" altLang="en-US" dirty="0"/>
              <a:t>針對前面的</a:t>
            </a:r>
            <a:r>
              <a:rPr lang="en-US" altLang="zh-TW" dirty="0"/>
              <a:t>loss function</a:t>
            </a:r>
            <a:r>
              <a:rPr lang="zh-TW" altLang="en-US" dirty="0"/>
              <a:t>，「逐步」調整參數使得值最小</a:t>
            </a:r>
          </a:p>
        </p:txBody>
      </p:sp>
      <p:sp>
        <p:nvSpPr>
          <p:cNvPr id="5" name="內容版面配置區 2">
            <a:extLst>
              <a:ext uri="{FF2B5EF4-FFF2-40B4-BE49-F238E27FC236}">
                <a16:creationId xmlns:a16="http://schemas.microsoft.com/office/drawing/2014/main" id="{6300097A-E043-4F29-BFD8-71E6BE708531}"/>
              </a:ext>
            </a:extLst>
          </p:cNvPr>
          <p:cNvSpPr txBox="1">
            <a:spLocks/>
          </p:cNvSpPr>
          <p:nvPr/>
        </p:nvSpPr>
        <p:spPr>
          <a:xfrm>
            <a:off x="7741951" y="3023751"/>
            <a:ext cx="3401291" cy="2351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體" panose="020B0500000000000000" pitchFamily="34" charset="-120"/>
                <a:ea typeface="思源黑體" panose="020B0500000000000000"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體" panose="020B0500000000000000" pitchFamily="34" charset="-120"/>
                <a:ea typeface="思源黑體" panose="020B0500000000000000" pitchFamily="34" charset="-12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體" panose="020B0500000000000000" pitchFamily="34" charset="-120"/>
                <a:ea typeface="思源黑體" panose="020B0500000000000000" pitchFamily="34" charset="-12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體" panose="020B0500000000000000" pitchFamily="34" charset="-120"/>
                <a:ea typeface="思源黑體" panose="020B0500000000000000" pitchFamily="34" charset="-12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體" panose="020B0500000000000000" pitchFamily="34" charset="-120"/>
                <a:ea typeface="思源黑體" panose="020B0500000000000000" pitchFamily="34"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因為</a:t>
            </a:r>
            <a:r>
              <a:rPr lang="en-US" altLang="zh-TW" dirty="0"/>
              <a:t>Learning step</a:t>
            </a:r>
            <a:r>
              <a:rPr lang="zh-TW" altLang="en-US" dirty="0"/>
              <a:t>而出現的重要參數：</a:t>
            </a:r>
            <a:r>
              <a:rPr lang="en-US" altLang="zh-TW" dirty="0"/>
              <a:t>learning rate</a:t>
            </a:r>
          </a:p>
          <a:p>
            <a:r>
              <a:rPr lang="zh-TW" altLang="en-US" dirty="0"/>
              <a:t>決定每一步要跨多大步進行計算</a:t>
            </a:r>
          </a:p>
        </p:txBody>
      </p:sp>
      <p:pic>
        <p:nvPicPr>
          <p:cNvPr id="6" name="Picture 2">
            <a:extLst>
              <a:ext uri="{FF2B5EF4-FFF2-40B4-BE49-F238E27FC236}">
                <a16:creationId xmlns:a16="http://schemas.microsoft.com/office/drawing/2014/main" id="{E00D49BD-8B6A-4B25-9C9F-D7B7C8F4C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2888814"/>
            <a:ext cx="6140450" cy="3812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459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81ED77-BDFC-2422-3BB8-953D14820F91}"/>
              </a:ext>
            </a:extLst>
          </p:cNvPr>
          <p:cNvSpPr>
            <a:spLocks noGrp="1"/>
          </p:cNvSpPr>
          <p:nvPr>
            <p:ph type="title"/>
          </p:nvPr>
        </p:nvSpPr>
        <p:spPr/>
        <p:txBody>
          <a:bodyPr/>
          <a:lstStyle/>
          <a:p>
            <a:r>
              <a:rPr kumimoji="1" lang="zh-TW" altLang="en-US" dirty="0"/>
              <a:t>斜率的概念</a:t>
            </a:r>
          </a:p>
        </p:txBody>
      </p:sp>
      <p:sp>
        <p:nvSpPr>
          <p:cNvPr id="3" name="內容版面配置區 2">
            <a:extLst>
              <a:ext uri="{FF2B5EF4-FFF2-40B4-BE49-F238E27FC236}">
                <a16:creationId xmlns:a16="http://schemas.microsoft.com/office/drawing/2014/main" id="{D10D6B9C-DE22-2F6F-1780-3D46C27771EA}"/>
              </a:ext>
            </a:extLst>
          </p:cNvPr>
          <p:cNvSpPr>
            <a:spLocks noGrp="1"/>
          </p:cNvSpPr>
          <p:nvPr>
            <p:ph idx="1"/>
          </p:nvPr>
        </p:nvSpPr>
        <p:spPr/>
        <p:txBody>
          <a:bodyPr/>
          <a:lstStyle/>
          <a:p>
            <a:endParaRPr kumimoji="1" lang="zh-TW" altLang="en-US"/>
          </a:p>
        </p:txBody>
      </p:sp>
      <p:pic>
        <p:nvPicPr>
          <p:cNvPr id="1026" name="Picture 2">
            <a:extLst>
              <a:ext uri="{FF2B5EF4-FFF2-40B4-BE49-F238E27FC236}">
                <a16:creationId xmlns:a16="http://schemas.microsoft.com/office/drawing/2014/main" id="{183A9E6A-0A4F-1EEC-2EE5-F28D4540A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6391"/>
            <a:ext cx="10515600" cy="406657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A7D41DB8-BAE1-78F3-96CA-F31291E5E1C5}"/>
                  </a:ext>
                </a:extLst>
              </p:cNvPr>
              <p:cNvSpPr txBox="1"/>
              <p:nvPr/>
            </p:nvSpPr>
            <p:spPr>
              <a:xfrm>
                <a:off x="4215160" y="698873"/>
                <a:ext cx="3473604" cy="6580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𝑆𝑙𝑜𝑝𝑒</m:t>
                      </m:r>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r>
                            <m:rPr>
                              <m:sty m:val="p"/>
                            </m:rPr>
                            <a:rPr lang="zh-TW" altLang="en-US" i="0">
                              <a:latin typeface="Cambria Math" panose="02040503050406030204" pitchFamily="18" charset="0"/>
                            </a:rPr>
                            <m:t>Δ</m:t>
                          </m:r>
                          <m:r>
                            <a:rPr lang="zh-TW" altLang="en-US" i="1">
                              <a:latin typeface="Cambria Math" panose="02040503050406030204" pitchFamily="18" charset="0"/>
                            </a:rPr>
                            <m:t>𝑦</m:t>
                          </m:r>
                        </m:num>
                        <m:den>
                          <m:r>
                            <m:rPr>
                              <m:sty m:val="p"/>
                            </m:rPr>
                            <a:rPr lang="zh-TW" altLang="en-US" i="0">
                              <a:latin typeface="Cambria Math" panose="02040503050406030204" pitchFamily="18" charset="0"/>
                            </a:rPr>
                            <m:t>Δ</m:t>
                          </m:r>
                          <m:r>
                            <a:rPr lang="zh-TW" altLang="en-US" i="1">
                              <a:latin typeface="Cambria Math" panose="02040503050406030204" pitchFamily="18" charset="0"/>
                            </a:rPr>
                            <m:t>𝑥</m:t>
                          </m:r>
                        </m:den>
                      </m:f>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0">
                                  <a:latin typeface="Cambria Math" panose="02040503050406030204" pitchFamily="18" charset="0"/>
                                </a:rPr>
                                <m:t>1</m:t>
                              </m:r>
                            </m:sub>
                          </m:sSub>
                          <m:r>
                            <a:rPr lang="zh-TW" altLang="en-US" i="0">
                              <a:latin typeface="Cambria Math" panose="02040503050406030204" pitchFamily="18" charset="0"/>
                            </a:rPr>
                            <m:t>−</m:t>
                          </m:r>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0">
                                  <a:latin typeface="Cambria Math" panose="02040503050406030204" pitchFamily="18" charset="0"/>
                                </a:rPr>
                                <m:t>2</m:t>
                              </m:r>
                            </m:sub>
                          </m:sSub>
                        </m:num>
                        <m:den>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0">
                                  <a:latin typeface="Cambria Math" panose="02040503050406030204" pitchFamily="18" charset="0"/>
                                </a:rPr>
                                <m:t>1</m:t>
                              </m:r>
                            </m:sub>
                          </m:sSub>
                          <m:r>
                            <a:rPr lang="zh-TW" altLang="en-US" i="0">
                              <a:latin typeface="Cambria Math" panose="02040503050406030204" pitchFamily="18" charset="0"/>
                            </a:rPr>
                            <m:t>−</m:t>
                          </m:r>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0">
                                  <a:latin typeface="Cambria Math" panose="02040503050406030204" pitchFamily="18" charset="0"/>
                                </a:rPr>
                                <m:t>2</m:t>
                              </m:r>
                            </m:sub>
                          </m:sSub>
                        </m:den>
                      </m:f>
                    </m:oMath>
                  </m:oMathPara>
                </a14:m>
                <a:endParaRPr lang="zh-TW" altLang="en-US" dirty="0"/>
              </a:p>
            </p:txBody>
          </p:sp>
        </mc:Choice>
        <mc:Fallback xmlns="">
          <p:sp>
            <p:nvSpPr>
              <p:cNvPr id="7" name="文字方塊 6">
                <a:extLst>
                  <a:ext uri="{FF2B5EF4-FFF2-40B4-BE49-F238E27FC236}">
                    <a16:creationId xmlns:a16="http://schemas.microsoft.com/office/drawing/2014/main" id="{A7D41DB8-BAE1-78F3-96CA-F31291E5E1C5}"/>
                  </a:ext>
                </a:extLst>
              </p:cNvPr>
              <p:cNvSpPr txBox="1">
                <a:spLocks noRot="1" noChangeAspect="1" noMove="1" noResize="1" noEditPoints="1" noAdjustHandles="1" noChangeArrowheads="1" noChangeShapeType="1" noTextEdit="1"/>
              </p:cNvSpPr>
              <p:nvPr/>
            </p:nvSpPr>
            <p:spPr>
              <a:xfrm>
                <a:off x="4215160" y="698873"/>
                <a:ext cx="3473604" cy="658065"/>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75916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0B4337-7472-63BC-6971-2A836EF093C0}"/>
              </a:ext>
            </a:extLst>
          </p:cNvPr>
          <p:cNvSpPr>
            <a:spLocks noGrp="1"/>
          </p:cNvSpPr>
          <p:nvPr>
            <p:ph type="title"/>
          </p:nvPr>
        </p:nvSpPr>
        <p:spPr/>
        <p:txBody>
          <a:bodyPr/>
          <a:lstStyle/>
          <a:p>
            <a:r>
              <a:rPr kumimoji="1" lang="zh-TW" altLang="en-US" dirty="0"/>
              <a:t>推導到曲線呢？</a:t>
            </a:r>
          </a:p>
        </p:txBody>
      </p:sp>
      <p:pic>
        <p:nvPicPr>
          <p:cNvPr id="2050" name="Picture 2">
            <a:extLst>
              <a:ext uri="{FF2B5EF4-FFF2-40B4-BE49-F238E27FC236}">
                <a16:creationId xmlns:a16="http://schemas.microsoft.com/office/drawing/2014/main" id="{D2D76BAA-70AF-E598-D829-647F05BD04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65125"/>
            <a:ext cx="5867400" cy="40849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56556A7-130D-AA22-B201-33FFA9EEBB2C}"/>
                  </a:ext>
                </a:extLst>
              </p:cNvPr>
              <p:cNvSpPr>
                <a:spLocks noGrp="1"/>
              </p:cNvSpPr>
              <p:nvPr>
                <p:ph idx="1"/>
              </p:nvPr>
            </p:nvSpPr>
            <p:spPr>
              <a:xfrm>
                <a:off x="838199" y="1825625"/>
                <a:ext cx="5629507" cy="4351338"/>
              </a:xfrm>
            </p:spPr>
            <p:txBody>
              <a:bodyPr>
                <a:normAutofit fontScale="92500"/>
              </a:bodyPr>
              <a:lstStyle/>
              <a:p>
                <a:pPr>
                  <a:lnSpc>
                    <a:spcPct val="120000"/>
                  </a:lnSpc>
                  <a:spcBef>
                    <a:spcPts val="0"/>
                  </a:spcBef>
                </a:pPr>
                <a:r>
                  <a:rPr kumimoji="1" lang="zh-TW" altLang="en-US" dirty="0"/>
                  <a:t>紫色線為通過該點的割線，求切線斜率的概念便是將割線斜率中的</a:t>
                </a:r>
                <a14:m>
                  <m:oMath xmlns:m="http://schemas.openxmlformats.org/officeDocument/2006/math">
                    <m:r>
                      <m:rPr>
                        <m:sty m:val="p"/>
                      </m:rPr>
                      <a:rPr lang="en-US" altLang="zh-TW">
                        <a:latin typeface="Cambria Math" panose="02040503050406030204" pitchFamily="18" charset="0"/>
                      </a:rPr>
                      <m:t>Δ</m:t>
                    </m:r>
                    <m:r>
                      <a:rPr lang="en-US" altLang="zh-TW" i="1">
                        <a:latin typeface="Cambria Math" panose="02040503050406030204" pitchFamily="18" charset="0"/>
                      </a:rPr>
                      <m:t>𝑥</m:t>
                    </m:r>
                  </m:oMath>
                </a14:m>
                <a:r>
                  <a:rPr lang="zh-TW" altLang="zh-TW" dirty="0">
                    <a:effectLst/>
                  </a:rPr>
                  <a:t> </a:t>
                </a:r>
                <a:r>
                  <a:rPr kumimoji="1" lang="zh-TW" altLang="en-US" dirty="0"/>
                  <a:t>逼近於</a:t>
                </a:r>
                <a:r>
                  <a:rPr kumimoji="1" lang="en-US" altLang="zh-TW" dirty="0"/>
                  <a:t>0</a:t>
                </a:r>
              </a:p>
              <a:p>
                <a:pPr>
                  <a:lnSpc>
                    <a:spcPct val="120000"/>
                  </a:lnSpc>
                  <a:spcBef>
                    <a:spcPts val="0"/>
                  </a:spcBef>
                </a:pPr>
                <a:r>
                  <a:rPr kumimoji="1" lang="zh-TW" altLang="en-US" dirty="0"/>
                  <a:t>假設</a:t>
                </a:r>
                <a14:m>
                  <m:oMath xmlns:m="http://schemas.openxmlformats.org/officeDocument/2006/math">
                    <m:r>
                      <a:rPr lang="en-US" altLang="zh-TW" i="1">
                        <a:latin typeface="Cambria Math" panose="02040503050406030204" pitchFamily="18" charset="0"/>
                      </a:rPr>
                      <m:t>𝑓</m:t>
                    </m:r>
                    <m:r>
                      <a:rPr lang="en-US" altLang="zh-TW" i="1">
                        <a:latin typeface="Cambria Math" panose="02040503050406030204" pitchFamily="18" charset="0"/>
                      </a:rPr>
                      <m:t>(</m:t>
                    </m:r>
                    <m:r>
                      <a:rPr lang="en-US" altLang="zh-TW" i="1">
                        <a:latin typeface="Cambria Math" panose="02040503050406030204" pitchFamily="18" charset="0"/>
                      </a:rPr>
                      <m:t>𝑥</m:t>
                    </m:r>
                    <m:r>
                      <a:rPr lang="en-US" altLang="zh-TW" i="1">
                        <a:latin typeface="Cambria Math" panose="02040503050406030204" pitchFamily="18" charset="0"/>
                      </a:rPr>
                      <m:t>)</m:t>
                    </m:r>
                  </m:oMath>
                </a14:m>
                <a:r>
                  <a:rPr kumimoji="1" lang="zh-TW" altLang="en-US" dirty="0"/>
                  <a:t>為平面上一曲線方程式， </a:t>
                </a:r>
                <a14:m>
                  <m:oMath xmlns:m="http://schemas.openxmlformats.org/officeDocument/2006/math">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𝑓</m:t>
                        </m:r>
                      </m:e>
                      <m:sup>
                        <m:r>
                          <a:rPr kumimoji="1" lang="en-US" altLang="zh-TW" b="0" i="1" smtClean="0">
                            <a:latin typeface="Cambria Math" panose="02040503050406030204" pitchFamily="18" charset="0"/>
                          </a:rPr>
                          <m:t>′</m:t>
                        </m:r>
                      </m:sup>
                    </m:sSup>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𝑎</m:t>
                        </m:r>
                      </m:e>
                    </m:d>
                    <m:r>
                      <a:rPr kumimoji="1" lang="en-US" altLang="zh-TW" b="0" i="1" smtClean="0">
                        <a:latin typeface="Cambria Math" panose="02040503050406030204" pitchFamily="18" charset="0"/>
                      </a:rPr>
                      <m:t>=</m:t>
                    </m:r>
                    <m:func>
                      <m:funcPr>
                        <m:ctrlPr>
                          <a:rPr kumimoji="1" lang="en-US" altLang="zh-TW" b="0" i="1" smtClean="0">
                            <a:latin typeface="Cambria Math" panose="02040503050406030204" pitchFamily="18" charset="0"/>
                          </a:rPr>
                        </m:ctrlPr>
                      </m:funcPr>
                      <m:fName>
                        <m:limLow>
                          <m:limLowPr>
                            <m:ctrlPr>
                              <a:rPr kumimoji="1" lang="en-US" altLang="zh-TW" b="0" i="1" smtClean="0">
                                <a:latin typeface="Cambria Math" panose="02040503050406030204" pitchFamily="18" charset="0"/>
                              </a:rPr>
                            </m:ctrlPr>
                          </m:limLowPr>
                          <m:e>
                            <m:r>
                              <m:rPr>
                                <m:sty m:val="p"/>
                              </m:rPr>
                              <a:rPr kumimoji="1" lang="en-US" altLang="zh-TW" b="0" i="0" smtClean="0">
                                <a:latin typeface="Cambria Math" panose="02040503050406030204" pitchFamily="18" charset="0"/>
                              </a:rPr>
                              <m:t>lim</m:t>
                            </m:r>
                          </m:e>
                          <m:lim>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𝑎</m:t>
                            </m:r>
                          </m:lim>
                        </m:limLow>
                      </m:fName>
                      <m:e>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𝑓</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𝑥</m:t>
                                </m:r>
                              </m:e>
                            </m:d>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𝑓</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𝑎</m:t>
                            </m:r>
                            <m:r>
                              <a:rPr kumimoji="1" lang="en-US" altLang="zh-TW" b="0" i="1" smtClean="0">
                                <a:latin typeface="Cambria Math" panose="02040503050406030204" pitchFamily="18" charset="0"/>
                              </a:rPr>
                              <m:t>)</m:t>
                            </m:r>
                          </m:num>
                          <m:den>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𝑎</m:t>
                            </m:r>
                          </m:den>
                        </m:f>
                      </m:e>
                    </m:func>
                  </m:oMath>
                </a14:m>
                <a:r>
                  <a:rPr kumimoji="1" lang="zh-TW" altLang="en-US" dirty="0"/>
                  <a:t>在 </a:t>
                </a:r>
                <a:r>
                  <a:rPr kumimoji="1" lang="en" altLang="zh-TW" dirty="0"/>
                  <a:t>a</a:t>
                </a:r>
                <a:r>
                  <a:rPr kumimoji="1" lang="zh-TW" altLang="en-US" dirty="0"/>
                  <a:t>點的切線斜率，也就是在</a:t>
                </a:r>
                <a:r>
                  <a:rPr kumimoji="1" lang="en" altLang="zh-TW" dirty="0"/>
                  <a:t>a</a:t>
                </a:r>
                <a:r>
                  <a:rPr kumimoji="1" lang="zh-TW" altLang="en-US" dirty="0"/>
                  <a:t>點的陡峭程度</a:t>
                </a:r>
              </a:p>
              <a:p>
                <a:pPr>
                  <a:lnSpc>
                    <a:spcPct val="120000"/>
                  </a:lnSpc>
                  <a:spcBef>
                    <a:spcPts val="0"/>
                  </a:spcBef>
                </a:pPr>
                <a:r>
                  <a:rPr kumimoji="1" lang="zh-TW" altLang="en-US" dirty="0"/>
                  <a:t>導數的正負號也表現出整個圖形上升的方向。</a:t>
                </a:r>
              </a:p>
            </p:txBody>
          </p:sp>
        </mc:Choice>
        <mc:Fallback xmlns="">
          <p:sp>
            <p:nvSpPr>
              <p:cNvPr id="3" name="內容版面配置區 2">
                <a:extLst>
                  <a:ext uri="{FF2B5EF4-FFF2-40B4-BE49-F238E27FC236}">
                    <a16:creationId xmlns:a16="http://schemas.microsoft.com/office/drawing/2014/main" id="{556556A7-130D-AA22-B201-33FFA9EEBB2C}"/>
                  </a:ext>
                </a:extLst>
              </p:cNvPr>
              <p:cNvSpPr>
                <a:spLocks noGrp="1" noRot="1" noChangeAspect="1" noMove="1" noResize="1" noEditPoints="1" noAdjustHandles="1" noChangeArrowheads="1" noChangeShapeType="1" noTextEdit="1"/>
              </p:cNvSpPr>
              <p:nvPr>
                <p:ph idx="1"/>
              </p:nvPr>
            </p:nvSpPr>
            <p:spPr>
              <a:xfrm>
                <a:off x="838199" y="1825625"/>
                <a:ext cx="5629507" cy="4351338"/>
              </a:xfrm>
              <a:blipFill>
                <a:blip r:embed="rId4"/>
                <a:stretch>
                  <a:fillRect l="-1573" t="-29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35608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20F11A-63B4-6094-452F-2E7B076726D5}"/>
              </a:ext>
            </a:extLst>
          </p:cNvPr>
          <p:cNvSpPr>
            <a:spLocks noGrp="1"/>
          </p:cNvSpPr>
          <p:nvPr>
            <p:ph type="title"/>
          </p:nvPr>
        </p:nvSpPr>
        <p:spPr/>
        <p:txBody>
          <a:bodyPr/>
          <a:lstStyle/>
          <a:p>
            <a:r>
              <a:rPr lang="en-US" altLang="zh-TW" dirty="0"/>
              <a:t>Gradient Descent</a:t>
            </a:r>
            <a:r>
              <a:rPr lang="zh-TW" altLang="en-US" dirty="0"/>
              <a:t>梯度下降法</a:t>
            </a:r>
          </a:p>
        </p:txBody>
      </p:sp>
      <p:sp>
        <p:nvSpPr>
          <p:cNvPr id="3" name="內容版面配置區 2">
            <a:extLst>
              <a:ext uri="{FF2B5EF4-FFF2-40B4-BE49-F238E27FC236}">
                <a16:creationId xmlns:a16="http://schemas.microsoft.com/office/drawing/2014/main" id="{C33CF848-1E51-5AD5-52D4-6B7C519E9B68}"/>
              </a:ext>
            </a:extLst>
          </p:cNvPr>
          <p:cNvSpPr>
            <a:spLocks noGrp="1"/>
          </p:cNvSpPr>
          <p:nvPr>
            <p:ph idx="1"/>
          </p:nvPr>
        </p:nvSpPr>
        <p:spPr/>
        <p:txBody>
          <a:bodyPr>
            <a:normAutofit fontScale="92500"/>
          </a:bodyPr>
          <a:lstStyle/>
          <a:p>
            <a:r>
              <a:rPr lang="zh-TW" altLang="en-US" dirty="0"/>
              <a:t>梯度下降法的概念便是根據隨機選擇的初始點，不斷調整步伐以及方向，試圖找出最好的那個解。</a:t>
            </a:r>
          </a:p>
          <a:p>
            <a:r>
              <a:rPr lang="zh-TW" altLang="en-US" dirty="0"/>
              <a:t>如果我們可以初始一個在 </a:t>
            </a:r>
            <a:r>
              <a:rPr lang="en" altLang="zh-TW" dirty="0"/>
              <a:t>Loss function </a:t>
            </a:r>
            <a:r>
              <a:rPr lang="zh-TW" altLang="en-US" dirty="0"/>
              <a:t>上隨機的點，我們該如何迭代找出新的點不斷的往 </a:t>
            </a:r>
            <a:r>
              <a:rPr lang="en" altLang="zh-TW" dirty="0"/>
              <a:t>Loss function </a:t>
            </a:r>
            <a:r>
              <a:rPr lang="zh-TW" altLang="en-US" dirty="0"/>
              <a:t>上的最小值移動呢 </a:t>
            </a:r>
            <a:r>
              <a:rPr lang="en-US" altLang="zh-TW" dirty="0"/>
              <a:t>?</a:t>
            </a:r>
          </a:p>
          <a:p>
            <a:r>
              <a:rPr lang="zh-TW" altLang="en-US" dirty="0"/>
              <a:t>梯度下降法給了我們一個方式來不斷地找出新的點來往最小值處移動</a:t>
            </a:r>
          </a:p>
          <a:p>
            <a:endParaRPr lang="en-US" altLang="zh-TW" dirty="0"/>
          </a:p>
          <a:p>
            <a:r>
              <a:rPr lang="zh-TW" altLang="en-US" dirty="0"/>
              <a:t>新的點 </a:t>
            </a:r>
            <a:r>
              <a:rPr lang="en-US" altLang="zh-TW" dirty="0"/>
              <a:t>(</a:t>
            </a:r>
            <a:r>
              <a:rPr lang="en" altLang="zh-TW" dirty="0"/>
              <a:t>w</a:t>
            </a:r>
            <a:r>
              <a:rPr lang="en" altLang="zh-TW" baseline="30000" dirty="0"/>
              <a:t>t+1</a:t>
            </a:r>
            <a:r>
              <a:rPr lang="en" altLang="zh-TW" dirty="0"/>
              <a:t>)</a:t>
            </a:r>
            <a:r>
              <a:rPr lang="zh-TW" altLang="en" dirty="0"/>
              <a:t>，</a:t>
            </a:r>
            <a:r>
              <a:rPr lang="zh-TW" altLang="en-US" dirty="0"/>
              <a:t>是舊的點 </a:t>
            </a:r>
            <a:r>
              <a:rPr lang="en-US" altLang="zh-TW" dirty="0"/>
              <a:t>(</a:t>
            </a:r>
            <a:r>
              <a:rPr lang="en" altLang="zh-TW" dirty="0" err="1"/>
              <a:t>w</a:t>
            </a:r>
            <a:r>
              <a:rPr lang="en" altLang="zh-TW" baseline="30000" dirty="0" err="1"/>
              <a:t>t</a:t>
            </a:r>
            <a:r>
              <a:rPr lang="en" altLang="zh-TW" dirty="0"/>
              <a:t>)</a:t>
            </a:r>
            <a:r>
              <a:rPr lang="zh-TW" altLang="en" dirty="0"/>
              <a:t>，</a:t>
            </a:r>
            <a:r>
              <a:rPr lang="zh-TW" altLang="en-US" dirty="0"/>
              <a:t>根據梯度正負號的相反方向 </a:t>
            </a:r>
            <a:r>
              <a:rPr lang="en-US" altLang="zh-TW" dirty="0"/>
              <a:t>(−∇</a:t>
            </a:r>
            <a:r>
              <a:rPr lang="en" altLang="zh-TW" dirty="0"/>
              <a:t>L(</a:t>
            </a:r>
            <a:r>
              <a:rPr lang="en" altLang="zh-TW" dirty="0" err="1"/>
              <a:t>w</a:t>
            </a:r>
            <a:r>
              <a:rPr lang="en" altLang="zh-TW" baseline="30000" dirty="0" err="1"/>
              <a:t>t</a:t>
            </a:r>
            <a:r>
              <a:rPr lang="en" altLang="zh-TW" dirty="0"/>
              <a:t>)) </a:t>
            </a:r>
            <a:r>
              <a:rPr lang="zh-TW" altLang="en-US" dirty="0"/>
              <a:t>以及步伐大小 </a:t>
            </a:r>
            <a:r>
              <a:rPr lang="en-US" altLang="zh-TW" dirty="0"/>
              <a:t>(</a:t>
            </a:r>
            <a:r>
              <a:rPr lang="el-GR" altLang="zh-TW" dirty="0"/>
              <a:t>η) </a:t>
            </a:r>
            <a:r>
              <a:rPr lang="zh-TW" altLang="en-US" dirty="0"/>
              <a:t>所找出來的。</a:t>
            </a:r>
          </a:p>
          <a:p>
            <a:r>
              <a:rPr lang="zh-TW" altLang="en-US" dirty="0"/>
              <a:t>之所以要取 −∇</a:t>
            </a:r>
            <a:r>
              <a:rPr lang="en" altLang="zh-TW" dirty="0"/>
              <a:t>L(</a:t>
            </a:r>
            <a:r>
              <a:rPr lang="en" altLang="zh-TW" dirty="0" err="1"/>
              <a:t>w</a:t>
            </a:r>
            <a:r>
              <a:rPr lang="en" altLang="zh-TW" baseline="30000" dirty="0" err="1"/>
              <a:t>t</a:t>
            </a:r>
            <a:r>
              <a:rPr lang="en" altLang="zh-TW" dirty="0"/>
              <a:t>)</a:t>
            </a:r>
            <a:r>
              <a:rPr lang="zh-TW" altLang="en" dirty="0"/>
              <a:t>，</a:t>
            </a:r>
            <a:r>
              <a:rPr lang="zh-TW" altLang="en-US" dirty="0"/>
              <a:t>是因為原本梯度代表的是向上的方向，但我們這邊要找的是 </a:t>
            </a:r>
            <a:r>
              <a:rPr lang="en" altLang="zh-TW" dirty="0"/>
              <a:t>Loss </a:t>
            </a:r>
            <a:r>
              <a:rPr lang="zh-TW" altLang="en-US" dirty="0"/>
              <a:t>的最小值，所以要跟梯度不同號。</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751EF10B-A1E2-CC1F-B201-C88E48F86EA5}"/>
                  </a:ext>
                </a:extLst>
              </p:cNvPr>
              <p:cNvSpPr txBox="1"/>
              <p:nvPr/>
            </p:nvSpPr>
            <p:spPr>
              <a:xfrm>
                <a:off x="2890026" y="4003735"/>
                <a:ext cx="6099716"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TW" altLang="en-US" i="1" smtClean="0">
                              <a:solidFill>
                                <a:srgbClr val="836967"/>
                              </a:solidFill>
                              <a:latin typeface="Cambria Math" panose="02040503050406030204" pitchFamily="18" charset="0"/>
                            </a:rPr>
                          </m:ctrlPr>
                        </m:sSupPr>
                        <m:e>
                          <m:r>
                            <a:rPr lang="zh-TW" altLang="en-US" i="1">
                              <a:latin typeface="Cambria Math" panose="02040503050406030204" pitchFamily="18" charset="0"/>
                            </a:rPr>
                            <m:t>𝑤</m:t>
                          </m:r>
                        </m:e>
                        <m:sup>
                          <m:r>
                            <a:rPr lang="zh-TW" altLang="en-US" i="1">
                              <a:latin typeface="Cambria Math" panose="02040503050406030204" pitchFamily="18" charset="0"/>
                            </a:rPr>
                            <m:t>𝑡</m:t>
                          </m:r>
                          <m:r>
                            <a:rPr lang="zh-TW" altLang="en-US" i="0">
                              <a:latin typeface="Cambria Math" panose="02040503050406030204" pitchFamily="18" charset="0"/>
                            </a:rPr>
                            <m:t>+1</m:t>
                          </m:r>
                        </m:sup>
                      </m:sSup>
                      <m:r>
                        <a:rPr lang="zh-TW" altLang="en-US" i="0">
                          <a:latin typeface="Cambria Math" panose="02040503050406030204" pitchFamily="18" charset="0"/>
                        </a:rPr>
                        <m:t>=</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𝑤</m:t>
                          </m:r>
                        </m:e>
                        <m:sup>
                          <m:r>
                            <a:rPr lang="zh-TW" altLang="en-US" i="1">
                              <a:latin typeface="Cambria Math" panose="02040503050406030204" pitchFamily="18" charset="0"/>
                            </a:rPr>
                            <m:t>𝑡</m:t>
                          </m:r>
                        </m:sup>
                      </m:sSup>
                      <m:r>
                        <a:rPr lang="zh-TW" altLang="en-US" i="0">
                          <a:latin typeface="Cambria Math" panose="02040503050406030204" pitchFamily="18" charset="0"/>
                        </a:rPr>
                        <m:t>+</m:t>
                      </m:r>
                      <m:r>
                        <a:rPr lang="zh-TW" altLang="en-US" i="1">
                          <a:latin typeface="Cambria Math" panose="02040503050406030204" pitchFamily="18" charset="0"/>
                        </a:rPr>
                        <m:t>𝜂</m:t>
                      </m:r>
                      <m:r>
                        <a:rPr lang="zh-TW" altLang="en-US" i="0">
                          <a:latin typeface="Cambria Math" panose="02040503050406030204" pitchFamily="18" charset="0"/>
                        </a:rPr>
                        <m:t>⋅</m:t>
                      </m:r>
                      <m:d>
                        <m:dPr>
                          <m:ctrlPr>
                            <a:rPr lang="zh-TW" altLang="en-US" i="1">
                              <a:latin typeface="Cambria Math" panose="02040503050406030204" pitchFamily="18" charset="0"/>
                            </a:rPr>
                          </m:ctrlPr>
                        </m:dPr>
                        <m:e>
                          <m:r>
                            <a:rPr lang="zh-TW" altLang="en-US" i="0">
                              <a:latin typeface="Cambria Math" panose="02040503050406030204" pitchFamily="18" charset="0"/>
                            </a:rPr>
                            <m:t>−</m:t>
                          </m:r>
                          <m:r>
                            <m:rPr>
                              <m:sty m:val="p"/>
                            </m:rPr>
                            <a:rPr lang="zh-TW" altLang="en-US" i="0">
                              <a:latin typeface="Cambria Math" panose="02040503050406030204" pitchFamily="18" charset="0"/>
                            </a:rPr>
                            <m:t>∇</m:t>
                          </m:r>
                          <m:r>
                            <a:rPr lang="zh-TW" altLang="en-US" i="1">
                              <a:latin typeface="Cambria Math" panose="02040503050406030204" pitchFamily="18" charset="0"/>
                            </a:rPr>
                            <m:t>𝐿</m:t>
                          </m:r>
                          <m:d>
                            <m:dPr>
                              <m:ctrlPr>
                                <a:rPr lang="zh-TW" altLang="en-US" i="1">
                                  <a:latin typeface="Cambria Math" panose="02040503050406030204" pitchFamily="18" charset="0"/>
                                </a:rPr>
                              </m:ctrlPr>
                            </m:dPr>
                            <m:e>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𝑤</m:t>
                                  </m:r>
                                </m:e>
                                <m:sup>
                                  <m:r>
                                    <a:rPr lang="zh-TW" altLang="en-US" i="1">
                                      <a:latin typeface="Cambria Math" panose="02040503050406030204" pitchFamily="18" charset="0"/>
                                    </a:rPr>
                                    <m:t>𝑡</m:t>
                                  </m:r>
                                </m:sup>
                              </m:sSup>
                            </m:e>
                          </m:d>
                        </m:e>
                      </m:d>
                      <m:r>
                        <a:rPr lang="zh-TW" altLang="en-US" i="0">
                          <a:latin typeface="Cambria Math" panose="02040503050406030204" pitchFamily="18" charset="0"/>
                        </a:rPr>
                        <m:t>=</m:t>
                      </m:r>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𝑤</m:t>
                          </m:r>
                        </m:e>
                        <m:sup>
                          <m:r>
                            <a:rPr lang="zh-TW" altLang="en-US" i="1">
                              <a:latin typeface="Cambria Math" panose="02040503050406030204" pitchFamily="18" charset="0"/>
                            </a:rPr>
                            <m:t>𝑡</m:t>
                          </m:r>
                        </m:sup>
                      </m:sSup>
                      <m:r>
                        <a:rPr lang="zh-TW" altLang="en-US" i="0">
                          <a:latin typeface="Cambria Math" panose="02040503050406030204" pitchFamily="18" charset="0"/>
                        </a:rPr>
                        <m:t>−</m:t>
                      </m:r>
                      <m:r>
                        <a:rPr lang="zh-TW" altLang="en-US" i="1">
                          <a:latin typeface="Cambria Math" panose="02040503050406030204" pitchFamily="18" charset="0"/>
                        </a:rPr>
                        <m:t>𝜂</m:t>
                      </m:r>
                      <m:r>
                        <a:rPr lang="zh-TW" altLang="en-US" i="0">
                          <a:latin typeface="Cambria Math" panose="02040503050406030204" pitchFamily="18" charset="0"/>
                        </a:rPr>
                        <m:t>⋅</m:t>
                      </m:r>
                      <m:r>
                        <m:rPr>
                          <m:sty m:val="p"/>
                        </m:rPr>
                        <a:rPr lang="zh-TW" altLang="en-US" i="0">
                          <a:latin typeface="Cambria Math" panose="02040503050406030204" pitchFamily="18" charset="0"/>
                        </a:rPr>
                        <m:t>∇</m:t>
                      </m:r>
                      <m:r>
                        <a:rPr lang="zh-TW" altLang="en-US" i="1">
                          <a:latin typeface="Cambria Math" panose="02040503050406030204" pitchFamily="18" charset="0"/>
                        </a:rPr>
                        <m:t>𝐿</m:t>
                      </m:r>
                      <m:d>
                        <m:dPr>
                          <m:ctrlPr>
                            <a:rPr lang="zh-TW" altLang="en-US" i="1">
                              <a:latin typeface="Cambria Math" panose="02040503050406030204" pitchFamily="18" charset="0"/>
                            </a:rPr>
                          </m:ctrlPr>
                        </m:dPr>
                        <m:e>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𝑤</m:t>
                              </m:r>
                            </m:e>
                            <m:sup>
                              <m:r>
                                <a:rPr lang="zh-TW" altLang="en-US" i="1">
                                  <a:latin typeface="Cambria Math" panose="02040503050406030204" pitchFamily="18" charset="0"/>
                                </a:rPr>
                                <m:t>𝑡</m:t>
                              </m:r>
                            </m:sup>
                          </m:sSup>
                        </m:e>
                      </m:d>
                    </m:oMath>
                  </m:oMathPara>
                </a14:m>
                <a:endParaRPr lang="zh-TW" altLang="en-US" dirty="0"/>
              </a:p>
            </p:txBody>
          </p:sp>
        </mc:Choice>
        <mc:Fallback xmlns="">
          <p:sp>
            <p:nvSpPr>
              <p:cNvPr id="5" name="文字方塊 4">
                <a:extLst>
                  <a:ext uri="{FF2B5EF4-FFF2-40B4-BE49-F238E27FC236}">
                    <a16:creationId xmlns:a16="http://schemas.microsoft.com/office/drawing/2014/main" id="{751EF10B-A1E2-CC1F-B201-C88E48F86EA5}"/>
                  </a:ext>
                </a:extLst>
              </p:cNvPr>
              <p:cNvSpPr txBox="1">
                <a:spLocks noRot="1" noChangeAspect="1" noMove="1" noResize="1" noEditPoints="1" noAdjustHandles="1" noChangeArrowheads="1" noChangeShapeType="1" noTextEdit="1"/>
              </p:cNvSpPr>
              <p:nvPr/>
            </p:nvSpPr>
            <p:spPr>
              <a:xfrm>
                <a:off x="2890026" y="4003735"/>
                <a:ext cx="6099716" cy="404983"/>
              </a:xfrm>
              <a:prstGeom prst="rect">
                <a:avLst/>
              </a:prstGeom>
              <a:blipFill>
                <a:blip r:embed="rId3"/>
                <a:stretch>
                  <a:fillRect b="-30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3591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E234CB88-27F4-405F-94C8-3405D643087B}"/>
              </a:ext>
            </a:extLst>
          </p:cNvPr>
          <p:cNvPicPr>
            <a:picLocks noChangeAspect="1"/>
          </p:cNvPicPr>
          <p:nvPr/>
        </p:nvPicPr>
        <p:blipFill>
          <a:blip r:embed="rId3"/>
          <a:stretch>
            <a:fillRect/>
          </a:stretch>
        </p:blipFill>
        <p:spPr>
          <a:xfrm>
            <a:off x="4561971" y="4282895"/>
            <a:ext cx="6089764" cy="2347451"/>
          </a:xfrm>
          <a:prstGeom prst="rect">
            <a:avLst/>
          </a:prstGeom>
        </p:spPr>
      </p:pic>
      <p:sp>
        <p:nvSpPr>
          <p:cNvPr id="2" name="標題 1">
            <a:extLst>
              <a:ext uri="{FF2B5EF4-FFF2-40B4-BE49-F238E27FC236}">
                <a16:creationId xmlns:a16="http://schemas.microsoft.com/office/drawing/2014/main" id="{406E300A-2FB1-4ECB-B547-0E6FEDF89300}"/>
              </a:ext>
            </a:extLst>
          </p:cNvPr>
          <p:cNvSpPr>
            <a:spLocks noGrp="1"/>
          </p:cNvSpPr>
          <p:nvPr>
            <p:ph type="title"/>
          </p:nvPr>
        </p:nvSpPr>
        <p:spPr/>
        <p:txBody>
          <a:bodyPr/>
          <a:lstStyle/>
          <a:p>
            <a:r>
              <a:rPr lang="zh-TW" altLang="en-US" dirty="0"/>
              <a:t>對多元線性迴歸的話，如何求解？</a:t>
            </a:r>
          </a:p>
        </p:txBody>
      </p:sp>
      <p:sp>
        <p:nvSpPr>
          <p:cNvPr id="3" name="內容版面配置區 2">
            <a:extLst>
              <a:ext uri="{FF2B5EF4-FFF2-40B4-BE49-F238E27FC236}">
                <a16:creationId xmlns:a16="http://schemas.microsoft.com/office/drawing/2014/main" id="{AA80790B-101B-40DC-99C0-FA410E9C267A}"/>
              </a:ext>
            </a:extLst>
          </p:cNvPr>
          <p:cNvSpPr>
            <a:spLocks noGrp="1"/>
          </p:cNvSpPr>
          <p:nvPr>
            <p:ph idx="1"/>
          </p:nvPr>
        </p:nvSpPr>
        <p:spPr/>
        <p:txBody>
          <a:bodyPr/>
          <a:lstStyle/>
          <a:p>
            <a:r>
              <a:rPr lang="zh-TW" altLang="en-US" dirty="0"/>
              <a:t>對下面公式的做偏微分（偏導數）</a:t>
            </a:r>
            <a:endParaRPr lang="en-US" altLang="zh-TW" dirty="0"/>
          </a:p>
          <a:p>
            <a:endParaRPr lang="en-US" altLang="zh-TW" dirty="0"/>
          </a:p>
          <a:p>
            <a:endParaRPr lang="en-US" altLang="zh-TW" dirty="0"/>
          </a:p>
          <a:p>
            <a:endParaRPr lang="en-US" altLang="zh-TW" dirty="0"/>
          </a:p>
          <a:p>
            <a:pPr marL="0" indent="0">
              <a:buNone/>
            </a:pPr>
            <a:endParaRPr lang="en-US" altLang="zh-TW" sz="4000" dirty="0"/>
          </a:p>
          <a:p>
            <a:r>
              <a:rPr lang="zh-TW" altLang="en-US" dirty="0"/>
              <a:t>針對所有屬性的值的偏微就變成</a:t>
            </a:r>
          </a:p>
        </p:txBody>
      </p:sp>
      <p:pic>
        <p:nvPicPr>
          <p:cNvPr id="4" name="圖片 3">
            <a:extLst>
              <a:ext uri="{FF2B5EF4-FFF2-40B4-BE49-F238E27FC236}">
                <a16:creationId xmlns:a16="http://schemas.microsoft.com/office/drawing/2014/main" id="{AE22F10A-389F-42D8-992A-436BF44D13F9}"/>
              </a:ext>
            </a:extLst>
          </p:cNvPr>
          <p:cNvPicPr>
            <a:picLocks noChangeAspect="1"/>
          </p:cNvPicPr>
          <p:nvPr/>
        </p:nvPicPr>
        <p:blipFill>
          <a:blip r:embed="rId4"/>
          <a:stretch>
            <a:fillRect/>
          </a:stretch>
        </p:blipFill>
        <p:spPr>
          <a:xfrm>
            <a:off x="1567936" y="2396182"/>
            <a:ext cx="5306165" cy="1105054"/>
          </a:xfrm>
          <a:prstGeom prst="rect">
            <a:avLst/>
          </a:prstGeom>
        </p:spPr>
      </p:pic>
      <p:pic>
        <p:nvPicPr>
          <p:cNvPr id="5" name="圖片 4">
            <a:extLst>
              <a:ext uri="{FF2B5EF4-FFF2-40B4-BE49-F238E27FC236}">
                <a16:creationId xmlns:a16="http://schemas.microsoft.com/office/drawing/2014/main" id="{66B11496-0C77-43E6-B628-620E95C46D54}"/>
              </a:ext>
            </a:extLst>
          </p:cNvPr>
          <p:cNvPicPr>
            <a:picLocks noChangeAspect="1"/>
          </p:cNvPicPr>
          <p:nvPr/>
        </p:nvPicPr>
        <p:blipFill>
          <a:blip r:embed="rId5"/>
          <a:stretch>
            <a:fillRect/>
          </a:stretch>
        </p:blipFill>
        <p:spPr>
          <a:xfrm>
            <a:off x="1288070" y="3364348"/>
            <a:ext cx="5792008" cy="1124107"/>
          </a:xfrm>
          <a:prstGeom prst="rect">
            <a:avLst/>
          </a:prstGeom>
        </p:spPr>
      </p:pic>
    </p:spTree>
    <p:extLst>
      <p:ext uri="{BB962C8B-B14F-4D97-AF65-F5344CB8AC3E}">
        <p14:creationId xmlns:p14="http://schemas.microsoft.com/office/powerpoint/2010/main" val="2041535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CFDD45-37DE-4C83-9F21-7BF5D550EC60}"/>
              </a:ext>
            </a:extLst>
          </p:cNvPr>
          <p:cNvSpPr>
            <a:spLocks noGrp="1"/>
          </p:cNvSpPr>
          <p:nvPr>
            <p:ph type="title"/>
          </p:nvPr>
        </p:nvSpPr>
        <p:spPr/>
        <p:txBody>
          <a:bodyPr/>
          <a:lstStyle/>
          <a:p>
            <a:r>
              <a:rPr lang="zh-TW" altLang="en-US" dirty="0"/>
              <a:t>學習就是在調整參數</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0EEBC75-B802-4EF0-9480-653DFA79B7E7}"/>
                  </a:ext>
                </a:extLst>
              </p:cNvPr>
              <p:cNvSpPr>
                <a:spLocks noGrp="1"/>
              </p:cNvSpPr>
              <p:nvPr>
                <p:ph idx="1"/>
              </p:nvPr>
            </p:nvSpPr>
            <p:spPr/>
            <p:txBody>
              <a:bodyPr/>
              <a:lstStyle/>
              <a:p>
                <a:endParaRPr lang="en-US" altLang="zh-TW" dirty="0"/>
              </a:p>
              <a:p>
                <a:endParaRPr lang="en-US" altLang="zh-TW" dirty="0"/>
              </a:p>
              <a:p>
                <a14:m>
                  <m:oMath xmlns:m="http://schemas.openxmlformats.org/officeDocument/2006/math">
                    <m:r>
                      <a:rPr lang="zh-TW" altLang="en-US" i="1" smtClean="0">
                        <a:latin typeface="Cambria Math" panose="02040503050406030204" pitchFamily="18" charset="0"/>
                      </a:rPr>
                      <m:t>𝜂</m:t>
                    </m:r>
                    <m:r>
                      <a:rPr lang="zh-TW" altLang="en-US" i="1">
                        <a:latin typeface="Cambria Math" panose="02040503050406030204" pitchFamily="18" charset="0"/>
                      </a:rPr>
                      <m:t>指</m:t>
                    </m:r>
                  </m:oMath>
                </a14:m>
                <a:r>
                  <a:rPr lang="zh-TW" altLang="en-US" dirty="0"/>
                  <a:t>的就是學習速率， </a:t>
                </a:r>
                <a:r>
                  <a:rPr lang="en-US" altLang="zh-TW" dirty="0"/>
                  <a:t>learning rate</a:t>
                </a:r>
              </a:p>
              <a:p>
                <a:r>
                  <a:rPr lang="zh-TW" altLang="en-US" dirty="0"/>
                  <a:t>透過計算誤差，「逐步」的調整權重值</a:t>
                </a:r>
                <a:r>
                  <a:rPr lang="en-US" altLang="zh-TW" dirty="0"/>
                  <a:t>(theta)</a:t>
                </a:r>
                <a:r>
                  <a:rPr lang="zh-TW" altLang="en-US" dirty="0"/>
                  <a:t>，使得誤差儘可能的達到最小</a:t>
                </a:r>
                <a:endParaRPr lang="en-US" altLang="zh-TW" dirty="0"/>
              </a:p>
              <a:p>
                <a:r>
                  <a:rPr lang="zh-TW" altLang="en-US" dirty="0"/>
                  <a:t>這個做法被稱為</a:t>
                </a:r>
                <a:r>
                  <a:rPr lang="en-US" altLang="zh-TW" dirty="0"/>
                  <a:t>Batch Gradient Descent</a:t>
                </a:r>
                <a:r>
                  <a:rPr lang="zh-TW" altLang="en-US" dirty="0"/>
                  <a:t>（雖然是資料全部都上</a:t>
                </a:r>
                <a:r>
                  <a:rPr lang="en-US" altLang="zh-TW" dirty="0"/>
                  <a:t>…)</a:t>
                </a:r>
              </a:p>
              <a:p>
                <a:endParaRPr lang="zh-TW" altLang="en-US" dirty="0"/>
              </a:p>
            </p:txBody>
          </p:sp>
        </mc:Choice>
        <mc:Fallback xmlns="">
          <p:sp>
            <p:nvSpPr>
              <p:cNvPr id="3" name="內容版面配置區 2">
                <a:extLst>
                  <a:ext uri="{FF2B5EF4-FFF2-40B4-BE49-F238E27FC236}">
                    <a16:creationId xmlns:a16="http://schemas.microsoft.com/office/drawing/2014/main" id="{70EEBC75-B802-4EF0-9480-653DFA79B7E7}"/>
                  </a:ext>
                </a:extLst>
              </p:cNvPr>
              <p:cNvSpPr>
                <a:spLocks noGrp="1" noRot="1" noChangeAspect="1" noMove="1" noResize="1" noEditPoints="1" noAdjustHandles="1" noChangeArrowheads="1" noChangeShapeType="1" noTextEdit="1"/>
              </p:cNvSpPr>
              <p:nvPr>
                <p:ph idx="1"/>
              </p:nvPr>
            </p:nvSpPr>
            <p:spPr>
              <a:blipFill>
                <a:blip r:embed="rId3"/>
                <a:stretch>
                  <a:fillRect l="-1043"/>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E1AF5475-97A4-4672-B9A7-C86E204A00B5}"/>
              </a:ext>
            </a:extLst>
          </p:cNvPr>
          <p:cNvPicPr>
            <a:picLocks noChangeAspect="1"/>
          </p:cNvPicPr>
          <p:nvPr/>
        </p:nvPicPr>
        <p:blipFill>
          <a:blip r:embed="rId4"/>
          <a:stretch>
            <a:fillRect/>
          </a:stretch>
        </p:blipFill>
        <p:spPr>
          <a:xfrm>
            <a:off x="1242428" y="1825625"/>
            <a:ext cx="4239217" cy="676369"/>
          </a:xfrm>
          <a:prstGeom prst="rect">
            <a:avLst/>
          </a:prstGeom>
        </p:spPr>
      </p:pic>
      <p:sp>
        <p:nvSpPr>
          <p:cNvPr id="5" name="矩形 4">
            <a:extLst>
              <a:ext uri="{FF2B5EF4-FFF2-40B4-BE49-F238E27FC236}">
                <a16:creationId xmlns:a16="http://schemas.microsoft.com/office/drawing/2014/main" id="{707B0392-3728-4634-A2B1-6C80FA113EA1}"/>
              </a:ext>
            </a:extLst>
          </p:cNvPr>
          <p:cNvSpPr/>
          <p:nvPr/>
        </p:nvSpPr>
        <p:spPr>
          <a:xfrm>
            <a:off x="905164" y="5665569"/>
            <a:ext cx="10261600" cy="369332"/>
          </a:xfrm>
          <a:prstGeom prst="rect">
            <a:avLst/>
          </a:prstGeom>
        </p:spPr>
        <p:txBody>
          <a:bodyPr wrap="square">
            <a:spAutoFit/>
          </a:bodyPr>
          <a:lstStyle/>
          <a:p>
            <a:r>
              <a:rPr lang="zh-TW" altLang="en-US" dirty="0">
                <a:hlinkClick r:id="rId5"/>
              </a:rPr>
              <a:t>名作啊：</a:t>
            </a:r>
            <a:r>
              <a:rPr lang="en-US" altLang="zh-TW" dirty="0">
                <a:hlinkClick r:id="rId5"/>
              </a:rPr>
              <a:t>An overview of gradient descent optimization algorithms (ruder.io)</a:t>
            </a:r>
            <a:endParaRPr lang="zh-TW" altLang="en-US" dirty="0"/>
          </a:p>
        </p:txBody>
      </p:sp>
      <p:sp>
        <p:nvSpPr>
          <p:cNvPr id="7" name="文字方塊 6">
            <a:extLst>
              <a:ext uri="{FF2B5EF4-FFF2-40B4-BE49-F238E27FC236}">
                <a16:creationId xmlns:a16="http://schemas.microsoft.com/office/drawing/2014/main" id="{13E2222B-9068-C5AB-BF27-7F02C18BB56C}"/>
              </a:ext>
            </a:extLst>
          </p:cNvPr>
          <p:cNvSpPr txBox="1"/>
          <p:nvPr/>
        </p:nvSpPr>
        <p:spPr>
          <a:xfrm>
            <a:off x="5575610" y="1422462"/>
            <a:ext cx="6556354" cy="1077218"/>
          </a:xfrm>
          <a:prstGeom prst="rect">
            <a:avLst/>
          </a:prstGeom>
          <a:noFill/>
        </p:spPr>
        <p:txBody>
          <a:bodyPr wrap="square">
            <a:spAutoFit/>
          </a:bodyPr>
          <a:lstStyle/>
          <a:p>
            <a:r>
              <a:rPr lang="en" altLang="zh-TW" sz="1600" b="0" dirty="0">
                <a:solidFill>
                  <a:srgbClr val="0000FF"/>
                </a:solidFill>
                <a:effectLst/>
                <a:latin typeface="Fira Code" panose="020B0809050000020004" pitchFamily="49" charset="0"/>
              </a:rPr>
              <a:t>for</a:t>
            </a:r>
            <a:r>
              <a:rPr lang="en" altLang="zh-TW" sz="1600" b="0" dirty="0">
                <a:solidFill>
                  <a:srgbClr val="000000"/>
                </a:solidFill>
                <a:effectLst/>
                <a:latin typeface="Fira Code" panose="020B0809050000020004" pitchFamily="49" charset="0"/>
              </a:rPr>
              <a:t> _ </a:t>
            </a:r>
            <a:r>
              <a:rPr lang="en" altLang="zh-TW" sz="1600" b="0" dirty="0">
                <a:solidFill>
                  <a:srgbClr val="0000FF"/>
                </a:solidFill>
                <a:effectLst/>
                <a:latin typeface="Fira Code" panose="020B0809050000020004" pitchFamily="49" charset="0"/>
              </a:rPr>
              <a:t>in</a:t>
            </a:r>
            <a:r>
              <a:rPr lang="en" altLang="zh-TW" sz="1600" b="0" dirty="0">
                <a:solidFill>
                  <a:srgbClr val="000000"/>
                </a:solidFill>
                <a:effectLst/>
                <a:latin typeface="Fira Code" panose="020B0809050000020004" pitchFamily="49" charset="0"/>
              </a:rPr>
              <a:t> range(</a:t>
            </a:r>
            <a:r>
              <a:rPr lang="en" altLang="zh-TW" sz="1600" b="0" dirty="0" err="1">
                <a:solidFill>
                  <a:srgbClr val="000000"/>
                </a:solidFill>
                <a:effectLst/>
                <a:latin typeface="Fira Code" panose="020B0809050000020004" pitchFamily="49" charset="0"/>
              </a:rPr>
              <a:t>n_epochs</a:t>
            </a:r>
            <a:r>
              <a:rPr lang="en" altLang="zh-TW" sz="1600" b="0" dirty="0">
                <a:solidFill>
                  <a:srgbClr val="000000"/>
                </a:solidFill>
                <a:effectLst/>
                <a:latin typeface="Fira Code" panose="020B0809050000020004" pitchFamily="49" charset="0"/>
              </a:rPr>
              <a:t>):</a:t>
            </a:r>
          </a:p>
          <a:p>
            <a:pPr lvl="1"/>
            <a:r>
              <a:rPr lang="en" altLang="zh-TW" sz="1600" b="0" dirty="0">
                <a:solidFill>
                  <a:srgbClr val="000000"/>
                </a:solidFill>
                <a:effectLst/>
                <a:latin typeface="Fira Code" panose="020B0809050000020004" pitchFamily="49" charset="0"/>
              </a:rPr>
              <a:t>gradients = </a:t>
            </a:r>
            <a:r>
              <a:rPr lang="en" altLang="zh-TW" sz="1600" b="0" dirty="0">
                <a:solidFill>
                  <a:srgbClr val="098658"/>
                </a:solidFill>
                <a:effectLst/>
                <a:latin typeface="Fira Code" panose="020B0809050000020004" pitchFamily="49" charset="0"/>
              </a:rPr>
              <a:t>2</a:t>
            </a:r>
            <a:r>
              <a:rPr lang="en" altLang="zh-TW" sz="1600" b="0" dirty="0">
                <a:solidFill>
                  <a:srgbClr val="000000"/>
                </a:solidFill>
                <a:effectLst/>
                <a:latin typeface="Fira Code" panose="020B0809050000020004" pitchFamily="49" charset="0"/>
              </a:rPr>
              <a:t> / m * </a:t>
            </a:r>
            <a:r>
              <a:rPr lang="en" altLang="zh-TW" sz="1600" b="0" dirty="0" err="1">
                <a:solidFill>
                  <a:srgbClr val="000000"/>
                </a:solidFill>
                <a:effectLst/>
                <a:latin typeface="Fira Code" panose="020B0809050000020004" pitchFamily="49" charset="0"/>
              </a:rPr>
              <a:t>X_b.T</a:t>
            </a:r>
            <a:r>
              <a:rPr lang="en" altLang="zh-TW" sz="1600" b="0" dirty="0">
                <a:solidFill>
                  <a:srgbClr val="000000"/>
                </a:solidFill>
                <a:effectLst/>
                <a:latin typeface="Fira Code" panose="020B0809050000020004" pitchFamily="49" charset="0"/>
              </a:rPr>
              <a:t> @ (</a:t>
            </a:r>
            <a:r>
              <a:rPr lang="en" altLang="zh-TW" sz="1600" b="0" dirty="0" err="1">
                <a:solidFill>
                  <a:srgbClr val="000000"/>
                </a:solidFill>
                <a:effectLst/>
                <a:latin typeface="Fira Code" panose="020B0809050000020004" pitchFamily="49" charset="0"/>
              </a:rPr>
              <a:t>X_b</a:t>
            </a:r>
            <a:r>
              <a:rPr lang="en" altLang="zh-TW" sz="1600" b="0" dirty="0">
                <a:solidFill>
                  <a:srgbClr val="000000"/>
                </a:solidFill>
                <a:effectLst/>
                <a:latin typeface="Fira Code" panose="020B0809050000020004" pitchFamily="49" charset="0"/>
              </a:rPr>
              <a:t> @ theta - y)</a:t>
            </a:r>
          </a:p>
          <a:p>
            <a:pPr lvl="1"/>
            <a:r>
              <a:rPr lang="en" altLang="zh-TW" sz="1600" b="0" dirty="0">
                <a:solidFill>
                  <a:srgbClr val="000000"/>
                </a:solidFill>
                <a:effectLst/>
                <a:latin typeface="Fira Code" panose="020B0809050000020004" pitchFamily="49" charset="0"/>
              </a:rPr>
              <a:t>theta = theta - eta * gradients</a:t>
            </a:r>
          </a:p>
          <a:p>
            <a:pPr lvl="1"/>
            <a:r>
              <a:rPr lang="en" altLang="zh-TW" sz="1600" b="0" dirty="0" err="1">
                <a:solidFill>
                  <a:srgbClr val="000000"/>
                </a:solidFill>
                <a:effectLst/>
                <a:latin typeface="Fira Code" panose="020B0809050000020004" pitchFamily="49" charset="0"/>
              </a:rPr>
              <a:t>theta_path_bgd.append</a:t>
            </a:r>
            <a:r>
              <a:rPr lang="en" altLang="zh-TW" sz="1600" b="0" dirty="0">
                <a:solidFill>
                  <a:srgbClr val="000000"/>
                </a:solidFill>
                <a:effectLst/>
                <a:latin typeface="Fira Code" panose="020B0809050000020004" pitchFamily="49" charset="0"/>
              </a:rPr>
              <a:t>(theta)</a:t>
            </a:r>
          </a:p>
        </p:txBody>
      </p:sp>
    </p:spTree>
    <p:extLst>
      <p:ext uri="{BB962C8B-B14F-4D97-AF65-F5344CB8AC3E}">
        <p14:creationId xmlns:p14="http://schemas.microsoft.com/office/powerpoint/2010/main" val="3602143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E02F82-68DA-4083-8948-9B2BB2C040CD}"/>
              </a:ext>
            </a:extLst>
          </p:cNvPr>
          <p:cNvSpPr>
            <a:spLocks noGrp="1"/>
          </p:cNvSpPr>
          <p:nvPr>
            <p:ph type="title"/>
          </p:nvPr>
        </p:nvSpPr>
        <p:spPr/>
        <p:txBody>
          <a:bodyPr/>
          <a:lstStyle/>
          <a:p>
            <a:r>
              <a:rPr lang="en-US" altLang="zh-TW" dirty="0"/>
              <a:t>Stochastic (</a:t>
            </a:r>
            <a:r>
              <a:rPr lang="zh-TW" altLang="en-US" dirty="0"/>
              <a:t>隨機</a:t>
            </a:r>
            <a:r>
              <a:rPr lang="en-US" altLang="zh-TW" dirty="0"/>
              <a:t>) Gradient Descent</a:t>
            </a:r>
            <a:endParaRPr lang="zh-TW" altLang="en-US" dirty="0"/>
          </a:p>
        </p:txBody>
      </p:sp>
      <p:sp>
        <p:nvSpPr>
          <p:cNvPr id="3" name="內容版面配置區 2">
            <a:extLst>
              <a:ext uri="{FF2B5EF4-FFF2-40B4-BE49-F238E27FC236}">
                <a16:creationId xmlns:a16="http://schemas.microsoft.com/office/drawing/2014/main" id="{5A0A5377-021A-431A-A0BF-21F284846867}"/>
              </a:ext>
            </a:extLst>
          </p:cNvPr>
          <p:cNvSpPr>
            <a:spLocks noGrp="1"/>
          </p:cNvSpPr>
          <p:nvPr>
            <p:ph sz="half" idx="1"/>
          </p:nvPr>
        </p:nvSpPr>
        <p:spPr>
          <a:xfrm>
            <a:off x="838200" y="1825625"/>
            <a:ext cx="4261624" cy="4351338"/>
          </a:xfrm>
        </p:spPr>
        <p:txBody>
          <a:bodyPr/>
          <a:lstStyle/>
          <a:p>
            <a:r>
              <a:rPr lang="zh-TW" altLang="en-US" dirty="0"/>
              <a:t>前述的演算法會針對「所有」的資料進行計算，計算量非常的大</a:t>
            </a:r>
            <a:endParaRPr lang="en-US" altLang="zh-TW" dirty="0"/>
          </a:p>
          <a:p>
            <a:r>
              <a:rPr lang="zh-TW" altLang="en-US" dirty="0"/>
              <a:t>隨機梯度下降法：</a:t>
            </a:r>
            <a:endParaRPr lang="en-US" altLang="zh-TW" dirty="0"/>
          </a:p>
          <a:p>
            <a:pPr lvl="1"/>
            <a:r>
              <a:rPr lang="zh-TW" altLang="en-US" dirty="0"/>
              <a:t>隨機選擇「一個」資料點後進行計算</a:t>
            </a:r>
          </a:p>
        </p:txBody>
      </p:sp>
      <p:sp>
        <p:nvSpPr>
          <p:cNvPr id="5" name="文字方塊 4">
            <a:extLst>
              <a:ext uri="{FF2B5EF4-FFF2-40B4-BE49-F238E27FC236}">
                <a16:creationId xmlns:a16="http://schemas.microsoft.com/office/drawing/2014/main" id="{62F6A8DC-2443-629C-E498-76849377A159}"/>
              </a:ext>
            </a:extLst>
          </p:cNvPr>
          <p:cNvSpPr txBox="1"/>
          <p:nvPr/>
        </p:nvSpPr>
        <p:spPr>
          <a:xfrm>
            <a:off x="5099824" y="2521059"/>
            <a:ext cx="6696307" cy="1815882"/>
          </a:xfrm>
          <a:prstGeom prst="rect">
            <a:avLst/>
          </a:prstGeom>
          <a:noFill/>
        </p:spPr>
        <p:txBody>
          <a:bodyPr wrap="square">
            <a:spAutoFit/>
          </a:bodyPr>
          <a:lstStyle/>
          <a:p>
            <a:r>
              <a:rPr lang="en" altLang="zh-TW" sz="1600" b="0" dirty="0">
                <a:solidFill>
                  <a:srgbClr val="0000FF"/>
                </a:solidFill>
                <a:effectLst/>
                <a:latin typeface="Fira Code" panose="020B0809050000020004" pitchFamily="49" charset="0"/>
              </a:rPr>
              <a:t>for</a:t>
            </a:r>
            <a:r>
              <a:rPr lang="en" altLang="zh-TW" sz="1600" b="0" dirty="0">
                <a:solidFill>
                  <a:srgbClr val="000000"/>
                </a:solidFill>
                <a:effectLst/>
                <a:latin typeface="Fira Code" panose="020B0809050000020004" pitchFamily="49" charset="0"/>
              </a:rPr>
              <a:t> epoch </a:t>
            </a:r>
            <a:r>
              <a:rPr lang="en" altLang="zh-TW" sz="1600" b="0" dirty="0">
                <a:solidFill>
                  <a:srgbClr val="0000FF"/>
                </a:solidFill>
                <a:effectLst/>
                <a:latin typeface="Fira Code" panose="020B0809050000020004" pitchFamily="49" charset="0"/>
              </a:rPr>
              <a:t>in</a:t>
            </a:r>
            <a:r>
              <a:rPr lang="en" altLang="zh-TW" sz="1600" b="0" dirty="0">
                <a:solidFill>
                  <a:srgbClr val="000000"/>
                </a:solidFill>
                <a:effectLst/>
                <a:latin typeface="Fira Code" panose="020B0809050000020004" pitchFamily="49" charset="0"/>
              </a:rPr>
              <a:t> range(</a:t>
            </a:r>
            <a:r>
              <a:rPr lang="en" altLang="zh-TW" sz="1600" b="0" dirty="0" err="1">
                <a:solidFill>
                  <a:srgbClr val="000000"/>
                </a:solidFill>
                <a:effectLst/>
                <a:latin typeface="Fira Code" panose="020B0809050000020004" pitchFamily="49" charset="0"/>
              </a:rPr>
              <a:t>n_epochs</a:t>
            </a:r>
            <a:r>
              <a:rPr lang="en" altLang="zh-TW" sz="1600" b="0" dirty="0">
                <a:solidFill>
                  <a:srgbClr val="000000"/>
                </a:solidFill>
                <a:effectLst/>
                <a:latin typeface="Fira Code" panose="020B0809050000020004" pitchFamily="49" charset="0"/>
              </a:rPr>
              <a:t>):</a:t>
            </a:r>
          </a:p>
          <a:p>
            <a:pPr lvl="1"/>
            <a:r>
              <a:rPr lang="en" altLang="zh-TW" sz="1600" b="0" dirty="0">
                <a:solidFill>
                  <a:srgbClr val="0000FF"/>
                </a:solidFill>
                <a:effectLst/>
                <a:latin typeface="Fira Code" panose="020B0809050000020004" pitchFamily="49" charset="0"/>
              </a:rPr>
              <a:t>for</a:t>
            </a:r>
            <a:r>
              <a:rPr lang="en" altLang="zh-TW" sz="1600" b="0" dirty="0">
                <a:solidFill>
                  <a:srgbClr val="000000"/>
                </a:solidFill>
                <a:effectLst/>
                <a:latin typeface="Fira Code" panose="020B0809050000020004" pitchFamily="49" charset="0"/>
              </a:rPr>
              <a:t> iteration </a:t>
            </a:r>
            <a:r>
              <a:rPr lang="en" altLang="zh-TW" sz="1600" b="0" dirty="0">
                <a:solidFill>
                  <a:srgbClr val="0000FF"/>
                </a:solidFill>
                <a:effectLst/>
                <a:latin typeface="Fira Code" panose="020B0809050000020004" pitchFamily="49" charset="0"/>
              </a:rPr>
              <a:t>in</a:t>
            </a:r>
            <a:r>
              <a:rPr lang="en" altLang="zh-TW" sz="1600" b="0" dirty="0">
                <a:solidFill>
                  <a:srgbClr val="000000"/>
                </a:solidFill>
                <a:effectLst/>
                <a:latin typeface="Fira Code" panose="020B0809050000020004" pitchFamily="49" charset="0"/>
              </a:rPr>
              <a:t> range(m):</a:t>
            </a:r>
          </a:p>
          <a:p>
            <a:pPr lvl="2"/>
            <a:r>
              <a:rPr lang="en" altLang="zh-TW" sz="1600" b="0" dirty="0" err="1">
                <a:solidFill>
                  <a:srgbClr val="000000"/>
                </a:solidFill>
                <a:effectLst/>
                <a:latin typeface="Fira Code" panose="020B0809050000020004" pitchFamily="49" charset="0"/>
              </a:rPr>
              <a:t>random_index</a:t>
            </a:r>
            <a:r>
              <a:rPr lang="en" altLang="zh-TW" sz="1600" b="0" dirty="0">
                <a:solidFill>
                  <a:srgbClr val="000000"/>
                </a:solidFill>
                <a:effectLst/>
                <a:latin typeface="Fira Code" panose="020B0809050000020004" pitchFamily="49" charset="0"/>
              </a:rPr>
              <a:t> = </a:t>
            </a:r>
            <a:r>
              <a:rPr lang="en" altLang="zh-TW" sz="1600" b="0" dirty="0" err="1">
                <a:solidFill>
                  <a:srgbClr val="000000"/>
                </a:solidFill>
                <a:effectLst/>
                <a:latin typeface="Fira Code" panose="020B0809050000020004" pitchFamily="49" charset="0"/>
              </a:rPr>
              <a:t>np.random.randint</a:t>
            </a:r>
            <a:r>
              <a:rPr lang="en" altLang="zh-TW" sz="1600" b="0" dirty="0">
                <a:solidFill>
                  <a:srgbClr val="000000"/>
                </a:solidFill>
                <a:effectLst/>
                <a:latin typeface="Fira Code" panose="020B0809050000020004" pitchFamily="49" charset="0"/>
              </a:rPr>
              <a:t>(m)</a:t>
            </a:r>
          </a:p>
          <a:p>
            <a:pPr lvl="2"/>
            <a:r>
              <a:rPr lang="en" altLang="zh-TW" sz="1600" b="0" dirty="0">
                <a:solidFill>
                  <a:srgbClr val="000000"/>
                </a:solidFill>
                <a:effectLst/>
                <a:latin typeface="Fira Code" panose="020B0809050000020004" pitchFamily="49" charset="0"/>
              </a:rPr>
              <a:t>xi = </a:t>
            </a:r>
            <a:r>
              <a:rPr lang="en" altLang="zh-TW" sz="1600" b="0" dirty="0" err="1">
                <a:solidFill>
                  <a:srgbClr val="000000"/>
                </a:solidFill>
                <a:effectLst/>
                <a:latin typeface="Fira Code" panose="020B0809050000020004" pitchFamily="49" charset="0"/>
              </a:rPr>
              <a:t>X_b</a:t>
            </a:r>
            <a:r>
              <a:rPr lang="en" altLang="zh-TW" sz="1600" b="0" dirty="0">
                <a:solidFill>
                  <a:srgbClr val="000000"/>
                </a:solidFill>
                <a:effectLst/>
                <a:latin typeface="Fira Code" panose="020B0809050000020004" pitchFamily="49" charset="0"/>
              </a:rPr>
              <a:t>[</a:t>
            </a:r>
            <a:r>
              <a:rPr lang="en" altLang="zh-TW" sz="1600" b="0" dirty="0" err="1">
                <a:solidFill>
                  <a:srgbClr val="000000"/>
                </a:solidFill>
                <a:effectLst/>
                <a:latin typeface="Fira Code" panose="020B0809050000020004" pitchFamily="49" charset="0"/>
              </a:rPr>
              <a:t>random_index</a:t>
            </a:r>
            <a:r>
              <a:rPr lang="en" altLang="zh-TW" sz="1600" b="0" dirty="0">
                <a:solidFill>
                  <a:srgbClr val="000000"/>
                </a:solidFill>
                <a:effectLst/>
                <a:latin typeface="Fira Code" panose="020B0809050000020004" pitchFamily="49" charset="0"/>
              </a:rPr>
              <a:t> : </a:t>
            </a:r>
            <a:r>
              <a:rPr lang="en" altLang="zh-TW" sz="1600" b="0" dirty="0" err="1">
                <a:solidFill>
                  <a:srgbClr val="000000"/>
                </a:solidFill>
                <a:effectLst/>
                <a:latin typeface="Fira Code" panose="020B0809050000020004" pitchFamily="49" charset="0"/>
              </a:rPr>
              <a:t>random_index</a:t>
            </a:r>
            <a:r>
              <a:rPr lang="en" altLang="zh-TW" sz="1600" b="0" dirty="0">
                <a:solidFill>
                  <a:srgbClr val="000000"/>
                </a:solidFill>
                <a:effectLst/>
                <a:latin typeface="Fira Code" panose="020B0809050000020004" pitchFamily="49" charset="0"/>
              </a:rPr>
              <a:t> + </a:t>
            </a:r>
            <a:r>
              <a:rPr lang="en" altLang="zh-TW" sz="1600" b="0" dirty="0">
                <a:solidFill>
                  <a:srgbClr val="098658"/>
                </a:solidFill>
                <a:effectLst/>
                <a:latin typeface="Fira Code" panose="020B0809050000020004" pitchFamily="49" charset="0"/>
              </a:rPr>
              <a:t>1</a:t>
            </a:r>
            <a:r>
              <a:rPr lang="en" altLang="zh-TW" sz="1600" b="0" dirty="0">
                <a:solidFill>
                  <a:srgbClr val="000000"/>
                </a:solidFill>
                <a:effectLst/>
                <a:latin typeface="Fira Code" panose="020B0809050000020004" pitchFamily="49" charset="0"/>
              </a:rPr>
              <a:t>]</a:t>
            </a:r>
          </a:p>
          <a:p>
            <a:pPr lvl="2"/>
            <a:r>
              <a:rPr lang="en" altLang="zh-TW" sz="1600" b="0" dirty="0" err="1">
                <a:solidFill>
                  <a:srgbClr val="000000"/>
                </a:solidFill>
                <a:effectLst/>
                <a:latin typeface="Fira Code" panose="020B0809050000020004" pitchFamily="49" charset="0"/>
              </a:rPr>
              <a:t>yi</a:t>
            </a:r>
            <a:r>
              <a:rPr lang="en" altLang="zh-TW" sz="1600" b="0" dirty="0">
                <a:solidFill>
                  <a:srgbClr val="000000"/>
                </a:solidFill>
                <a:effectLst/>
                <a:latin typeface="Fira Code" panose="020B0809050000020004" pitchFamily="49" charset="0"/>
              </a:rPr>
              <a:t> = y[</a:t>
            </a:r>
            <a:r>
              <a:rPr lang="en" altLang="zh-TW" sz="1600" b="0" dirty="0" err="1">
                <a:solidFill>
                  <a:srgbClr val="000000"/>
                </a:solidFill>
                <a:effectLst/>
                <a:latin typeface="Fira Code" panose="020B0809050000020004" pitchFamily="49" charset="0"/>
              </a:rPr>
              <a:t>random_index</a:t>
            </a:r>
            <a:r>
              <a:rPr lang="en" altLang="zh-TW" sz="1600" b="0" dirty="0">
                <a:solidFill>
                  <a:srgbClr val="000000"/>
                </a:solidFill>
                <a:effectLst/>
                <a:latin typeface="Fira Code" panose="020B0809050000020004" pitchFamily="49" charset="0"/>
              </a:rPr>
              <a:t> : </a:t>
            </a:r>
            <a:r>
              <a:rPr lang="en" altLang="zh-TW" sz="1600" b="0" dirty="0" err="1">
                <a:solidFill>
                  <a:srgbClr val="000000"/>
                </a:solidFill>
                <a:effectLst/>
                <a:latin typeface="Fira Code" panose="020B0809050000020004" pitchFamily="49" charset="0"/>
              </a:rPr>
              <a:t>random_index</a:t>
            </a:r>
            <a:r>
              <a:rPr lang="en" altLang="zh-TW" sz="1600" b="0" dirty="0">
                <a:solidFill>
                  <a:srgbClr val="000000"/>
                </a:solidFill>
                <a:effectLst/>
                <a:latin typeface="Fira Code" panose="020B0809050000020004" pitchFamily="49" charset="0"/>
              </a:rPr>
              <a:t> + </a:t>
            </a:r>
            <a:r>
              <a:rPr lang="en" altLang="zh-TW" sz="1600" b="0" dirty="0">
                <a:solidFill>
                  <a:srgbClr val="098658"/>
                </a:solidFill>
                <a:effectLst/>
                <a:latin typeface="Fira Code" panose="020B0809050000020004" pitchFamily="49" charset="0"/>
              </a:rPr>
              <a:t>1</a:t>
            </a:r>
            <a:r>
              <a:rPr lang="en" altLang="zh-TW" sz="1600" b="0" dirty="0">
                <a:solidFill>
                  <a:srgbClr val="000000"/>
                </a:solidFill>
                <a:effectLst/>
                <a:latin typeface="Fira Code" panose="020B0809050000020004" pitchFamily="49" charset="0"/>
              </a:rPr>
              <a:t>]</a:t>
            </a:r>
          </a:p>
          <a:p>
            <a:pPr lvl="2"/>
            <a:r>
              <a:rPr lang="en" altLang="zh-TW" sz="1600" b="0" dirty="0">
                <a:solidFill>
                  <a:srgbClr val="000000"/>
                </a:solidFill>
                <a:effectLst/>
                <a:latin typeface="Fira Code" panose="020B0809050000020004" pitchFamily="49" charset="0"/>
              </a:rPr>
              <a:t>gradients = </a:t>
            </a:r>
            <a:r>
              <a:rPr lang="en" altLang="zh-TW" sz="1600" b="0" dirty="0">
                <a:solidFill>
                  <a:srgbClr val="098658"/>
                </a:solidFill>
                <a:effectLst/>
                <a:latin typeface="Fira Code" panose="020B0809050000020004" pitchFamily="49" charset="0"/>
              </a:rPr>
              <a:t>2</a:t>
            </a:r>
            <a:r>
              <a:rPr lang="en" altLang="zh-TW" sz="1600" b="0" dirty="0">
                <a:solidFill>
                  <a:srgbClr val="000000"/>
                </a:solidFill>
                <a:effectLst/>
                <a:latin typeface="Fira Code" panose="020B0809050000020004" pitchFamily="49" charset="0"/>
              </a:rPr>
              <a:t> * </a:t>
            </a:r>
            <a:r>
              <a:rPr lang="en" altLang="zh-TW" sz="1600" b="0" dirty="0" err="1">
                <a:solidFill>
                  <a:srgbClr val="000000"/>
                </a:solidFill>
                <a:effectLst/>
                <a:latin typeface="Fira Code" panose="020B0809050000020004" pitchFamily="49" charset="0"/>
              </a:rPr>
              <a:t>xi.T</a:t>
            </a:r>
            <a:r>
              <a:rPr lang="en" altLang="zh-TW" sz="1600" b="0" dirty="0">
                <a:solidFill>
                  <a:srgbClr val="000000"/>
                </a:solidFill>
                <a:effectLst/>
                <a:latin typeface="Fira Code" panose="020B0809050000020004" pitchFamily="49" charset="0"/>
              </a:rPr>
              <a:t> @ (xi @ theta - </a:t>
            </a:r>
            <a:r>
              <a:rPr lang="en" altLang="zh-TW" sz="1600" b="0" dirty="0" err="1">
                <a:solidFill>
                  <a:srgbClr val="000000"/>
                </a:solidFill>
                <a:effectLst/>
                <a:latin typeface="Fira Code" panose="020B0809050000020004" pitchFamily="49" charset="0"/>
              </a:rPr>
              <a:t>yi</a:t>
            </a:r>
            <a:r>
              <a:rPr lang="en" altLang="zh-TW" sz="1600" b="0" dirty="0">
                <a:solidFill>
                  <a:srgbClr val="000000"/>
                </a:solidFill>
                <a:effectLst/>
                <a:latin typeface="Fira Code" panose="020B0809050000020004" pitchFamily="49" charset="0"/>
              </a:rPr>
              <a:t>)</a:t>
            </a:r>
            <a:r>
              <a:rPr lang="en" altLang="zh-TW" sz="1600" b="0" dirty="0">
                <a:solidFill>
                  <a:srgbClr val="008000"/>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theta = theta - eta * gradients</a:t>
            </a:r>
          </a:p>
        </p:txBody>
      </p:sp>
    </p:spTree>
    <p:extLst>
      <p:ext uri="{BB962C8B-B14F-4D97-AF65-F5344CB8AC3E}">
        <p14:creationId xmlns:p14="http://schemas.microsoft.com/office/powerpoint/2010/main" val="1550203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3553D-39A1-4363-9797-7669B8B14907}"/>
              </a:ext>
            </a:extLst>
          </p:cNvPr>
          <p:cNvSpPr>
            <a:spLocks noGrp="1"/>
          </p:cNvSpPr>
          <p:nvPr>
            <p:ph type="title"/>
          </p:nvPr>
        </p:nvSpPr>
        <p:spPr/>
        <p:txBody>
          <a:bodyPr/>
          <a:lstStyle/>
          <a:p>
            <a:r>
              <a:rPr lang="en-US" altLang="zh-TW" dirty="0"/>
              <a:t>Mini-batch Gradient Descent</a:t>
            </a:r>
            <a:endParaRPr lang="zh-TW" altLang="en-US" dirty="0"/>
          </a:p>
        </p:txBody>
      </p:sp>
      <p:sp>
        <p:nvSpPr>
          <p:cNvPr id="3" name="內容版面配置區 2">
            <a:extLst>
              <a:ext uri="{FF2B5EF4-FFF2-40B4-BE49-F238E27FC236}">
                <a16:creationId xmlns:a16="http://schemas.microsoft.com/office/drawing/2014/main" id="{F87D4E0E-141F-4BC6-B797-71D43E52D46E}"/>
              </a:ext>
            </a:extLst>
          </p:cNvPr>
          <p:cNvSpPr>
            <a:spLocks noGrp="1"/>
          </p:cNvSpPr>
          <p:nvPr>
            <p:ph sz="half" idx="1"/>
          </p:nvPr>
        </p:nvSpPr>
        <p:spPr>
          <a:xfrm>
            <a:off x="838200" y="1825625"/>
            <a:ext cx="3860180" cy="4351338"/>
          </a:xfrm>
        </p:spPr>
        <p:txBody>
          <a:bodyPr>
            <a:normAutofit lnSpcReduction="10000"/>
          </a:bodyPr>
          <a:lstStyle/>
          <a:p>
            <a:r>
              <a:rPr lang="zh-TW" altLang="en-US" dirty="0"/>
              <a:t>每次都計算全部資料集，可能會計算量會太大跑很久</a:t>
            </a:r>
            <a:endParaRPr lang="en-US" altLang="zh-TW" dirty="0"/>
          </a:p>
          <a:p>
            <a:r>
              <a:rPr lang="zh-TW" altLang="en-US" dirty="0"/>
              <a:t>每次只隨機挑一筆資料來算</a:t>
            </a:r>
            <a:endParaRPr lang="en-US" altLang="zh-TW" dirty="0"/>
          </a:p>
          <a:p>
            <a:pPr lvl="1"/>
            <a:r>
              <a:rPr lang="zh-TW" altLang="en-US" dirty="0"/>
              <a:t>可能會找不到全域最佳</a:t>
            </a:r>
            <a:endParaRPr lang="en-US" altLang="zh-TW" dirty="0"/>
          </a:p>
          <a:p>
            <a:pPr lvl="1"/>
            <a:r>
              <a:rPr lang="zh-TW" altLang="en-US" dirty="0"/>
              <a:t>或是迴圈要多跑很多次</a:t>
            </a:r>
            <a:endParaRPr lang="en-US" altLang="zh-TW" dirty="0"/>
          </a:p>
          <a:p>
            <a:r>
              <a:rPr lang="zh-TW" altLang="en-US" dirty="0"/>
              <a:t>隨機批次選擇一定量的資料集進行計算</a:t>
            </a:r>
            <a:endParaRPr lang="en-US" altLang="zh-TW" dirty="0"/>
          </a:p>
          <a:p>
            <a:endParaRPr lang="zh-TW" altLang="en-US" dirty="0"/>
          </a:p>
        </p:txBody>
      </p:sp>
      <p:sp>
        <p:nvSpPr>
          <p:cNvPr id="6" name="文字方塊 5">
            <a:extLst>
              <a:ext uri="{FF2B5EF4-FFF2-40B4-BE49-F238E27FC236}">
                <a16:creationId xmlns:a16="http://schemas.microsoft.com/office/drawing/2014/main" id="{6786D10D-87E9-C623-DC02-958BA78A22F0}"/>
              </a:ext>
            </a:extLst>
          </p:cNvPr>
          <p:cNvSpPr txBox="1"/>
          <p:nvPr/>
        </p:nvSpPr>
        <p:spPr>
          <a:xfrm>
            <a:off x="4572000" y="2090172"/>
            <a:ext cx="7322634" cy="2462213"/>
          </a:xfrm>
          <a:prstGeom prst="rect">
            <a:avLst/>
          </a:prstGeom>
          <a:noFill/>
        </p:spPr>
        <p:txBody>
          <a:bodyPr wrap="square">
            <a:spAutoFit/>
          </a:bodyPr>
          <a:lstStyle/>
          <a:p>
            <a:r>
              <a:rPr lang="en" altLang="zh-TW" sz="1400" b="0" dirty="0">
                <a:solidFill>
                  <a:srgbClr val="0000FF"/>
                </a:solidFill>
                <a:effectLst/>
                <a:latin typeface="Fira Code" panose="020B0809050000020004" pitchFamily="49" charset="0"/>
              </a:rPr>
              <a:t>for</a:t>
            </a:r>
            <a:r>
              <a:rPr lang="en" altLang="zh-TW" sz="1400" b="0" dirty="0">
                <a:solidFill>
                  <a:srgbClr val="000000"/>
                </a:solidFill>
                <a:effectLst/>
                <a:latin typeface="Fira Code" panose="020B0809050000020004" pitchFamily="49" charset="0"/>
              </a:rPr>
              <a:t> epoch </a:t>
            </a:r>
            <a:r>
              <a:rPr lang="en" altLang="zh-TW" sz="1400" b="0" dirty="0">
                <a:solidFill>
                  <a:srgbClr val="0000FF"/>
                </a:solidFill>
                <a:effectLst/>
                <a:latin typeface="Fira Code" panose="020B0809050000020004" pitchFamily="49" charset="0"/>
              </a:rPr>
              <a:t>in</a:t>
            </a:r>
            <a:r>
              <a:rPr lang="en" altLang="zh-TW" sz="1400" b="0" dirty="0">
                <a:solidFill>
                  <a:srgbClr val="000000"/>
                </a:solidFill>
                <a:effectLst/>
                <a:latin typeface="Fira Code" panose="020B0809050000020004" pitchFamily="49" charset="0"/>
              </a:rPr>
              <a:t> range(</a:t>
            </a:r>
            <a:r>
              <a:rPr lang="en" altLang="zh-TW" sz="1400" b="0" dirty="0" err="1">
                <a:solidFill>
                  <a:srgbClr val="000000"/>
                </a:solidFill>
                <a:effectLst/>
                <a:latin typeface="Fira Code" panose="020B0809050000020004" pitchFamily="49" charset="0"/>
              </a:rPr>
              <a:t>n_epochs</a:t>
            </a:r>
            <a:r>
              <a:rPr lang="en" altLang="zh-TW" sz="1400" b="0" dirty="0">
                <a:solidFill>
                  <a:srgbClr val="000000"/>
                </a:solidFill>
                <a:effectLst/>
                <a:latin typeface="Fira Code" panose="020B0809050000020004" pitchFamily="49" charset="0"/>
              </a:rPr>
              <a:t>):</a:t>
            </a:r>
          </a:p>
          <a:p>
            <a:pPr lvl="1"/>
            <a:r>
              <a:rPr lang="en" altLang="zh-TW" sz="1400" b="0" dirty="0" err="1">
                <a:solidFill>
                  <a:srgbClr val="000000"/>
                </a:solidFill>
                <a:effectLst/>
                <a:latin typeface="Fira Code" panose="020B0809050000020004" pitchFamily="49" charset="0"/>
              </a:rPr>
              <a:t>shuffled_indices</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np.random.permutation</a:t>
            </a:r>
            <a:r>
              <a:rPr lang="en" altLang="zh-TW" sz="1400" b="0" dirty="0">
                <a:solidFill>
                  <a:srgbClr val="000000"/>
                </a:solidFill>
                <a:effectLst/>
                <a:latin typeface="Fira Code" panose="020B0809050000020004" pitchFamily="49" charset="0"/>
              </a:rPr>
              <a:t>(m)</a:t>
            </a:r>
          </a:p>
          <a:p>
            <a:pPr lvl="1"/>
            <a:r>
              <a:rPr lang="en" altLang="zh-TW" sz="1400" b="0" dirty="0" err="1">
                <a:solidFill>
                  <a:srgbClr val="000000"/>
                </a:solidFill>
                <a:effectLst/>
                <a:latin typeface="Fira Code" panose="020B0809050000020004" pitchFamily="49" charset="0"/>
              </a:rPr>
              <a:t>X_b_shuffled</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X_b</a:t>
            </a:r>
            <a:r>
              <a:rPr lang="en" altLang="zh-TW" sz="1400" b="0" dirty="0">
                <a:solidFill>
                  <a:srgbClr val="000000"/>
                </a:solidFill>
                <a:effectLst/>
                <a:latin typeface="Fira Code" panose="020B0809050000020004" pitchFamily="49" charset="0"/>
              </a:rPr>
              <a:t>[</a:t>
            </a:r>
            <a:r>
              <a:rPr lang="en" altLang="zh-TW" sz="1400" b="0" dirty="0" err="1">
                <a:solidFill>
                  <a:srgbClr val="000000"/>
                </a:solidFill>
                <a:effectLst/>
                <a:latin typeface="Fira Code" panose="020B0809050000020004" pitchFamily="49" charset="0"/>
              </a:rPr>
              <a:t>shuffled_indices</a:t>
            </a:r>
            <a:r>
              <a:rPr lang="en" altLang="zh-TW" sz="1400" b="0" dirty="0">
                <a:solidFill>
                  <a:srgbClr val="000000"/>
                </a:solidFill>
                <a:effectLst/>
                <a:latin typeface="Fira Code" panose="020B0809050000020004" pitchFamily="49" charset="0"/>
              </a:rPr>
              <a:t>]</a:t>
            </a:r>
          </a:p>
          <a:p>
            <a:pPr lvl="1"/>
            <a:r>
              <a:rPr lang="en" altLang="zh-TW" sz="1400" b="0" dirty="0" err="1">
                <a:solidFill>
                  <a:srgbClr val="000000"/>
                </a:solidFill>
                <a:effectLst/>
                <a:latin typeface="Fira Code" panose="020B0809050000020004" pitchFamily="49" charset="0"/>
              </a:rPr>
              <a:t>y_shuffled</a:t>
            </a:r>
            <a:r>
              <a:rPr lang="en" altLang="zh-TW" sz="1400" b="0" dirty="0">
                <a:solidFill>
                  <a:srgbClr val="000000"/>
                </a:solidFill>
                <a:effectLst/>
                <a:latin typeface="Fira Code" panose="020B0809050000020004" pitchFamily="49" charset="0"/>
              </a:rPr>
              <a:t> = y[</a:t>
            </a:r>
            <a:r>
              <a:rPr lang="en" altLang="zh-TW" sz="1400" b="0" dirty="0" err="1">
                <a:solidFill>
                  <a:srgbClr val="000000"/>
                </a:solidFill>
                <a:effectLst/>
                <a:latin typeface="Fira Code" panose="020B0809050000020004" pitchFamily="49" charset="0"/>
              </a:rPr>
              <a:t>shuffled_indices</a:t>
            </a:r>
            <a:r>
              <a:rPr lang="en" altLang="zh-TW" sz="1400" b="0" dirty="0">
                <a:solidFill>
                  <a:srgbClr val="000000"/>
                </a:solidFill>
                <a:effectLst/>
                <a:latin typeface="Fira Code" panose="020B0809050000020004" pitchFamily="49" charset="0"/>
              </a:rPr>
              <a:t>]</a:t>
            </a:r>
          </a:p>
          <a:p>
            <a:pPr lvl="1"/>
            <a:r>
              <a:rPr lang="en" altLang="zh-TW" sz="1400" b="0" dirty="0">
                <a:solidFill>
                  <a:srgbClr val="0000FF"/>
                </a:solidFill>
                <a:effectLst/>
                <a:latin typeface="Fira Code" panose="020B0809050000020004" pitchFamily="49" charset="0"/>
              </a:rPr>
              <a:t>for</a:t>
            </a:r>
            <a:r>
              <a:rPr lang="en" altLang="zh-TW" sz="1400" b="0" dirty="0">
                <a:solidFill>
                  <a:srgbClr val="000000"/>
                </a:solidFill>
                <a:effectLst/>
                <a:latin typeface="Fira Code" panose="020B0809050000020004" pitchFamily="49" charset="0"/>
              </a:rPr>
              <a:t> iteration </a:t>
            </a:r>
            <a:r>
              <a:rPr lang="en" altLang="zh-TW" sz="1400" b="0" dirty="0">
                <a:solidFill>
                  <a:srgbClr val="0000FF"/>
                </a:solidFill>
                <a:effectLst/>
                <a:latin typeface="Fira Code" panose="020B0809050000020004" pitchFamily="49" charset="0"/>
              </a:rPr>
              <a:t>in</a:t>
            </a:r>
            <a:r>
              <a:rPr lang="en" altLang="zh-TW" sz="1400" b="0" dirty="0">
                <a:solidFill>
                  <a:srgbClr val="000000"/>
                </a:solidFill>
                <a:effectLst/>
                <a:latin typeface="Fira Code" panose="020B0809050000020004" pitchFamily="49" charset="0"/>
              </a:rPr>
              <a:t> range(</a:t>
            </a:r>
            <a:r>
              <a:rPr lang="en" altLang="zh-TW" sz="1400" b="0" dirty="0">
                <a:solidFill>
                  <a:srgbClr val="098658"/>
                </a:solidFill>
                <a:effectLst/>
                <a:latin typeface="Fira Code" panose="020B0809050000020004" pitchFamily="49" charset="0"/>
              </a:rPr>
              <a:t>0</a:t>
            </a:r>
            <a:r>
              <a:rPr lang="en" altLang="zh-TW" sz="1400" b="0" dirty="0">
                <a:solidFill>
                  <a:srgbClr val="000000"/>
                </a:solidFill>
                <a:effectLst/>
                <a:latin typeface="Fira Code" panose="020B0809050000020004" pitchFamily="49" charset="0"/>
              </a:rPr>
              <a:t>, </a:t>
            </a:r>
            <a:r>
              <a:rPr lang="en" altLang="zh-TW" sz="1400" b="0" dirty="0" err="1">
                <a:solidFill>
                  <a:srgbClr val="000000"/>
                </a:solidFill>
                <a:effectLst/>
                <a:latin typeface="Fira Code" panose="020B0809050000020004" pitchFamily="49" charset="0"/>
              </a:rPr>
              <a:t>n_batches_per_epoch</a:t>
            </a:r>
            <a:r>
              <a:rPr lang="en" altLang="zh-TW" sz="1400" b="0" dirty="0">
                <a:solidFill>
                  <a:srgbClr val="000000"/>
                </a:solidFill>
                <a:effectLst/>
                <a:latin typeface="Fira Code" panose="020B0809050000020004" pitchFamily="49" charset="0"/>
              </a:rPr>
              <a:t>):</a:t>
            </a:r>
          </a:p>
          <a:p>
            <a:pPr lvl="2"/>
            <a:r>
              <a:rPr lang="en" altLang="zh-TW" sz="1400" b="0" dirty="0" err="1">
                <a:solidFill>
                  <a:srgbClr val="000000"/>
                </a:solidFill>
                <a:effectLst/>
                <a:latin typeface="Fira Code" panose="020B0809050000020004" pitchFamily="49" charset="0"/>
              </a:rPr>
              <a:t>idx</a:t>
            </a:r>
            <a:r>
              <a:rPr lang="en" altLang="zh-TW" sz="1400" b="0" dirty="0">
                <a:solidFill>
                  <a:srgbClr val="000000"/>
                </a:solidFill>
                <a:effectLst/>
                <a:latin typeface="Fira Code" panose="020B0809050000020004" pitchFamily="49" charset="0"/>
              </a:rPr>
              <a:t> = iteration * </a:t>
            </a:r>
            <a:r>
              <a:rPr lang="en" altLang="zh-TW" sz="1400" b="0" dirty="0" err="1">
                <a:solidFill>
                  <a:srgbClr val="000000"/>
                </a:solidFill>
                <a:effectLst/>
                <a:latin typeface="Fira Code" panose="020B0809050000020004" pitchFamily="49" charset="0"/>
              </a:rPr>
              <a:t>minibatch_size</a:t>
            </a:r>
            <a:endParaRPr lang="en" altLang="zh-TW" sz="1400" b="0" dirty="0">
              <a:solidFill>
                <a:srgbClr val="000000"/>
              </a:solidFill>
              <a:effectLst/>
              <a:latin typeface="Fira Code" panose="020B0809050000020004" pitchFamily="49" charset="0"/>
            </a:endParaRPr>
          </a:p>
          <a:p>
            <a:pPr lvl="2"/>
            <a:r>
              <a:rPr lang="en" altLang="zh-TW" sz="1400" b="0" dirty="0">
                <a:solidFill>
                  <a:srgbClr val="000000"/>
                </a:solidFill>
                <a:effectLst/>
                <a:latin typeface="Fira Code" panose="020B0809050000020004" pitchFamily="49" charset="0"/>
              </a:rPr>
              <a:t>xi = </a:t>
            </a:r>
            <a:r>
              <a:rPr lang="en" altLang="zh-TW" sz="1400" b="0" dirty="0" err="1">
                <a:solidFill>
                  <a:srgbClr val="000000"/>
                </a:solidFill>
                <a:effectLst/>
                <a:latin typeface="Fira Code" panose="020B0809050000020004" pitchFamily="49" charset="0"/>
              </a:rPr>
              <a:t>X_b_shuffled</a:t>
            </a:r>
            <a:r>
              <a:rPr lang="en" altLang="zh-TW" sz="1400" b="0" dirty="0">
                <a:solidFill>
                  <a:srgbClr val="000000"/>
                </a:solidFill>
                <a:effectLst/>
                <a:latin typeface="Fira Code" panose="020B0809050000020004" pitchFamily="49" charset="0"/>
              </a:rPr>
              <a:t>[</a:t>
            </a:r>
            <a:r>
              <a:rPr lang="en" altLang="zh-TW" sz="1400" b="0" dirty="0" err="1">
                <a:solidFill>
                  <a:srgbClr val="000000"/>
                </a:solidFill>
                <a:effectLst/>
                <a:latin typeface="Fira Code" panose="020B0809050000020004" pitchFamily="49" charset="0"/>
              </a:rPr>
              <a:t>idx</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idx</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minibatch_size</a:t>
            </a:r>
            <a:r>
              <a:rPr lang="en" altLang="zh-TW" sz="1400" b="0" dirty="0">
                <a:solidFill>
                  <a:srgbClr val="000000"/>
                </a:solidFill>
                <a:effectLst/>
                <a:latin typeface="Fira Code" panose="020B0809050000020004" pitchFamily="49" charset="0"/>
              </a:rPr>
              <a:t>]</a:t>
            </a:r>
          </a:p>
          <a:p>
            <a:pPr lvl="2"/>
            <a:r>
              <a:rPr lang="en" altLang="zh-TW" sz="1400" b="0" dirty="0" err="1">
                <a:solidFill>
                  <a:srgbClr val="000000"/>
                </a:solidFill>
                <a:effectLst/>
                <a:latin typeface="Fira Code" panose="020B0809050000020004" pitchFamily="49" charset="0"/>
              </a:rPr>
              <a:t>yi</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y_shuffled</a:t>
            </a:r>
            <a:r>
              <a:rPr lang="en" altLang="zh-TW" sz="1400" b="0" dirty="0">
                <a:solidFill>
                  <a:srgbClr val="000000"/>
                </a:solidFill>
                <a:effectLst/>
                <a:latin typeface="Fira Code" panose="020B0809050000020004" pitchFamily="49" charset="0"/>
              </a:rPr>
              <a:t>[</a:t>
            </a:r>
            <a:r>
              <a:rPr lang="en" altLang="zh-TW" sz="1400" b="0" dirty="0" err="1">
                <a:solidFill>
                  <a:srgbClr val="000000"/>
                </a:solidFill>
                <a:effectLst/>
                <a:latin typeface="Fira Code" panose="020B0809050000020004" pitchFamily="49" charset="0"/>
              </a:rPr>
              <a:t>idx</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idx</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minibatch_size</a:t>
            </a:r>
            <a:r>
              <a:rPr lang="en" altLang="zh-TW" sz="1400" b="0" dirty="0">
                <a:solidFill>
                  <a:srgbClr val="000000"/>
                </a:solidFill>
                <a:effectLst/>
                <a:latin typeface="Fira Code" panose="020B0809050000020004" pitchFamily="49" charset="0"/>
              </a:rPr>
              <a:t>]</a:t>
            </a:r>
          </a:p>
          <a:p>
            <a:pPr lvl="2"/>
            <a:r>
              <a:rPr lang="en" altLang="zh-TW" sz="1400" b="0" dirty="0">
                <a:solidFill>
                  <a:srgbClr val="000000"/>
                </a:solidFill>
                <a:effectLst/>
                <a:latin typeface="Fira Code" panose="020B0809050000020004" pitchFamily="49" charset="0"/>
              </a:rPr>
              <a:t>gradients = </a:t>
            </a:r>
            <a:r>
              <a:rPr lang="en" altLang="zh-TW" sz="1400" b="0" dirty="0">
                <a:solidFill>
                  <a:srgbClr val="098658"/>
                </a:solidFill>
                <a:effectLst/>
                <a:latin typeface="Fira Code" panose="020B0809050000020004" pitchFamily="49" charset="0"/>
              </a:rPr>
              <a:t>2</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minibatch_size</a:t>
            </a:r>
            <a:r>
              <a:rPr lang="en" altLang="zh-TW" sz="1400" b="0" dirty="0">
                <a:solidFill>
                  <a:srgbClr val="000000"/>
                </a:solidFill>
                <a:effectLst/>
                <a:latin typeface="Fira Code" panose="020B0809050000020004" pitchFamily="49" charset="0"/>
              </a:rPr>
              <a:t> * </a:t>
            </a:r>
            <a:r>
              <a:rPr lang="en" altLang="zh-TW" sz="1400" b="0" dirty="0" err="1">
                <a:solidFill>
                  <a:srgbClr val="000000"/>
                </a:solidFill>
                <a:effectLst/>
                <a:latin typeface="Fira Code" panose="020B0809050000020004" pitchFamily="49" charset="0"/>
              </a:rPr>
              <a:t>xi.T</a:t>
            </a:r>
            <a:r>
              <a:rPr lang="en" altLang="zh-TW" sz="1400" b="0" dirty="0">
                <a:solidFill>
                  <a:srgbClr val="000000"/>
                </a:solidFill>
                <a:effectLst/>
                <a:latin typeface="Fira Code" panose="020B0809050000020004" pitchFamily="49" charset="0"/>
              </a:rPr>
              <a:t> @ (xi @ theta - </a:t>
            </a:r>
            <a:r>
              <a:rPr lang="en" altLang="zh-TW" sz="1400" b="0" dirty="0" err="1">
                <a:solidFill>
                  <a:srgbClr val="000000"/>
                </a:solidFill>
                <a:effectLst/>
                <a:latin typeface="Fira Code" panose="020B0809050000020004" pitchFamily="49" charset="0"/>
              </a:rPr>
              <a:t>yi</a:t>
            </a:r>
            <a:r>
              <a:rPr lang="en" altLang="zh-TW" sz="1400" b="0" dirty="0">
                <a:solidFill>
                  <a:srgbClr val="000000"/>
                </a:solidFill>
                <a:effectLst/>
                <a:latin typeface="Fira Code" panose="020B0809050000020004" pitchFamily="49" charset="0"/>
              </a:rPr>
              <a:t>)</a:t>
            </a:r>
          </a:p>
          <a:p>
            <a:pPr lvl="2"/>
            <a:r>
              <a:rPr lang="en" altLang="zh-TW" sz="1400" b="0" dirty="0">
                <a:solidFill>
                  <a:srgbClr val="000000"/>
                </a:solidFill>
                <a:effectLst/>
                <a:latin typeface="Fira Code" panose="020B0809050000020004" pitchFamily="49" charset="0"/>
              </a:rPr>
              <a:t>eta = </a:t>
            </a:r>
            <a:r>
              <a:rPr lang="en" altLang="zh-TW" sz="1400" b="0" dirty="0" err="1">
                <a:solidFill>
                  <a:srgbClr val="000000"/>
                </a:solidFill>
                <a:effectLst/>
                <a:latin typeface="Fira Code" panose="020B0809050000020004" pitchFamily="49" charset="0"/>
              </a:rPr>
              <a:t>learning_schedule</a:t>
            </a:r>
            <a:r>
              <a:rPr lang="en" altLang="zh-TW" sz="1400" b="0" dirty="0">
                <a:solidFill>
                  <a:srgbClr val="000000"/>
                </a:solidFill>
                <a:effectLst/>
                <a:latin typeface="Fira Code" panose="020B0809050000020004" pitchFamily="49" charset="0"/>
              </a:rPr>
              <a:t>(iteration)</a:t>
            </a:r>
          </a:p>
          <a:p>
            <a:pPr lvl="2"/>
            <a:r>
              <a:rPr lang="en" altLang="zh-TW" sz="1400" b="0" dirty="0">
                <a:solidFill>
                  <a:srgbClr val="000000"/>
                </a:solidFill>
                <a:effectLst/>
                <a:latin typeface="Fira Code" panose="020B0809050000020004" pitchFamily="49" charset="0"/>
              </a:rPr>
              <a:t>theta = theta - eta * gradients</a:t>
            </a:r>
          </a:p>
        </p:txBody>
      </p:sp>
    </p:spTree>
    <p:extLst>
      <p:ext uri="{BB962C8B-B14F-4D97-AF65-F5344CB8AC3E}">
        <p14:creationId xmlns:p14="http://schemas.microsoft.com/office/powerpoint/2010/main" val="3336868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F66DEC-E922-6941-B124-99E1F1364C84}"/>
              </a:ext>
            </a:extLst>
          </p:cNvPr>
          <p:cNvSpPr>
            <a:spLocks noGrp="1"/>
          </p:cNvSpPr>
          <p:nvPr>
            <p:ph type="title"/>
          </p:nvPr>
        </p:nvSpPr>
        <p:spPr/>
        <p:txBody>
          <a:bodyPr/>
          <a:lstStyle/>
          <a:p>
            <a:r>
              <a:rPr kumimoji="1" lang="zh-TW" altLang="en-US" dirty="0"/>
              <a:t>比較一下</a:t>
            </a:r>
          </a:p>
        </p:txBody>
      </p:sp>
      <p:pic>
        <p:nvPicPr>
          <p:cNvPr id="5" name="圖片 4">
            <a:extLst>
              <a:ext uri="{FF2B5EF4-FFF2-40B4-BE49-F238E27FC236}">
                <a16:creationId xmlns:a16="http://schemas.microsoft.com/office/drawing/2014/main" id="{3192EECD-A20D-624D-BD68-CAE1C2DABE16}"/>
              </a:ext>
            </a:extLst>
          </p:cNvPr>
          <p:cNvPicPr>
            <a:picLocks noChangeAspect="1"/>
          </p:cNvPicPr>
          <p:nvPr/>
        </p:nvPicPr>
        <p:blipFill>
          <a:blip r:embed="rId3"/>
          <a:stretch>
            <a:fillRect/>
          </a:stretch>
        </p:blipFill>
        <p:spPr>
          <a:xfrm>
            <a:off x="1554726" y="1483572"/>
            <a:ext cx="9082548" cy="5374428"/>
          </a:xfrm>
          <a:prstGeom prst="rect">
            <a:avLst/>
          </a:prstGeom>
        </p:spPr>
      </p:pic>
    </p:spTree>
    <p:extLst>
      <p:ext uri="{BB962C8B-B14F-4D97-AF65-F5344CB8AC3E}">
        <p14:creationId xmlns:p14="http://schemas.microsoft.com/office/powerpoint/2010/main" val="4151465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120624-6E01-C44E-BAE3-4B0C6EAB5CB3}"/>
              </a:ext>
            </a:extLst>
          </p:cNvPr>
          <p:cNvSpPr>
            <a:spLocks noGrp="1"/>
          </p:cNvSpPr>
          <p:nvPr>
            <p:ph type="title"/>
          </p:nvPr>
        </p:nvSpPr>
        <p:spPr/>
        <p:txBody>
          <a:bodyPr/>
          <a:lstStyle/>
          <a:p>
            <a:r>
              <a:rPr kumimoji="1" lang="zh-TW" altLang="en-US" dirty="0"/>
              <a:t>比較一下</a:t>
            </a:r>
          </a:p>
        </p:txBody>
      </p:sp>
      <p:sp>
        <p:nvSpPr>
          <p:cNvPr id="3" name="內容版面配置區 2">
            <a:extLst>
              <a:ext uri="{FF2B5EF4-FFF2-40B4-BE49-F238E27FC236}">
                <a16:creationId xmlns:a16="http://schemas.microsoft.com/office/drawing/2014/main" id="{A3F9FD0B-6FB4-7B49-96C6-72A426335F14}"/>
              </a:ext>
            </a:extLst>
          </p:cNvPr>
          <p:cNvSpPr>
            <a:spLocks noGrp="1"/>
          </p:cNvSpPr>
          <p:nvPr>
            <p:ph idx="1"/>
          </p:nvPr>
        </p:nvSpPr>
        <p:spPr/>
        <p:txBody>
          <a:bodyPr/>
          <a:lstStyle/>
          <a:p>
            <a:endParaRPr kumimoji="1" lang="zh-TW" altLang="en-US"/>
          </a:p>
        </p:txBody>
      </p:sp>
      <p:pic>
        <p:nvPicPr>
          <p:cNvPr id="4" name="圖片 3">
            <a:extLst>
              <a:ext uri="{FF2B5EF4-FFF2-40B4-BE49-F238E27FC236}">
                <a16:creationId xmlns:a16="http://schemas.microsoft.com/office/drawing/2014/main" id="{F8A3F345-44E1-AB43-B53F-576F3400F79D}"/>
              </a:ext>
            </a:extLst>
          </p:cNvPr>
          <p:cNvPicPr>
            <a:picLocks noChangeAspect="1"/>
          </p:cNvPicPr>
          <p:nvPr/>
        </p:nvPicPr>
        <p:blipFill>
          <a:blip r:embed="rId3"/>
          <a:stretch>
            <a:fillRect/>
          </a:stretch>
        </p:blipFill>
        <p:spPr>
          <a:xfrm>
            <a:off x="359609" y="1999816"/>
            <a:ext cx="5920014" cy="3959126"/>
          </a:xfrm>
          <a:prstGeom prst="rect">
            <a:avLst/>
          </a:prstGeom>
        </p:spPr>
      </p:pic>
      <p:pic>
        <p:nvPicPr>
          <p:cNvPr id="5" name="圖片 4">
            <a:extLst>
              <a:ext uri="{FF2B5EF4-FFF2-40B4-BE49-F238E27FC236}">
                <a16:creationId xmlns:a16="http://schemas.microsoft.com/office/drawing/2014/main" id="{8468FA42-4AA5-F64E-9EF1-6D4613272B58}"/>
              </a:ext>
            </a:extLst>
          </p:cNvPr>
          <p:cNvPicPr>
            <a:picLocks noChangeAspect="1"/>
          </p:cNvPicPr>
          <p:nvPr/>
        </p:nvPicPr>
        <p:blipFill>
          <a:blip r:embed="rId4"/>
          <a:stretch>
            <a:fillRect/>
          </a:stretch>
        </p:blipFill>
        <p:spPr>
          <a:xfrm>
            <a:off x="6472023" y="2174007"/>
            <a:ext cx="5360368" cy="3610744"/>
          </a:xfrm>
          <a:prstGeom prst="rect">
            <a:avLst/>
          </a:prstGeom>
        </p:spPr>
      </p:pic>
    </p:spTree>
    <p:extLst>
      <p:ext uri="{BB962C8B-B14F-4D97-AF65-F5344CB8AC3E}">
        <p14:creationId xmlns:p14="http://schemas.microsoft.com/office/powerpoint/2010/main" val="4252944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A0045B70-424C-4787-B1DD-C3ECE2A58E0B}"/>
                  </a:ext>
                </a:extLst>
              </p:cNvPr>
              <p:cNvSpPr>
                <a:spLocks noGrp="1"/>
              </p:cNvSpPr>
              <p:nvPr>
                <p:ph type="title"/>
              </p:nvPr>
            </p:nvSpPr>
            <p:spPr/>
            <p:txBody>
              <a:bodyPr/>
              <a:lstStyle/>
              <a:p>
                <a:r>
                  <a:rPr lang="zh-TW" altLang="en-US" dirty="0"/>
                  <a:t>學習速率</a:t>
                </a:r>
                <a14:m>
                  <m:oMath xmlns:m="http://schemas.openxmlformats.org/officeDocument/2006/math">
                    <m:r>
                      <a:rPr lang="zh-TW" altLang="en-US" i="1">
                        <a:latin typeface="Cambria Math" panose="02040503050406030204" pitchFamily="18" charset="0"/>
                      </a:rPr>
                      <m:t>𝜂</m:t>
                    </m:r>
                  </m:oMath>
                </a14:m>
                <a:r>
                  <a:rPr lang="zh-TW" altLang="en-US" dirty="0"/>
                  <a:t>可能發生的問題</a:t>
                </a:r>
              </a:p>
            </p:txBody>
          </p:sp>
        </mc:Choice>
        <mc:Fallback xmlns="">
          <p:sp>
            <p:nvSpPr>
              <p:cNvPr id="2" name="標題 1">
                <a:extLst>
                  <a:ext uri="{FF2B5EF4-FFF2-40B4-BE49-F238E27FC236}">
                    <a16:creationId xmlns:a16="http://schemas.microsoft.com/office/drawing/2014/main" id="{A0045B70-424C-4787-B1DD-C3ECE2A58E0B}"/>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zh-TW" altLang="en-US">
                    <a:noFill/>
                  </a:rPr>
                  <a:t> </a:t>
                </a:r>
              </a:p>
            </p:txBody>
          </p:sp>
        </mc:Fallback>
      </mc:AlternateContent>
      <p:sp>
        <p:nvSpPr>
          <p:cNvPr id="3" name="內容版面配置區 2">
            <a:extLst>
              <a:ext uri="{FF2B5EF4-FFF2-40B4-BE49-F238E27FC236}">
                <a16:creationId xmlns:a16="http://schemas.microsoft.com/office/drawing/2014/main" id="{02E85009-CFF3-4A70-903F-27A8BF4152D2}"/>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69604A54-9A82-45A3-90ED-951F3816616D}"/>
              </a:ext>
            </a:extLst>
          </p:cNvPr>
          <p:cNvPicPr>
            <a:picLocks noChangeAspect="1"/>
          </p:cNvPicPr>
          <p:nvPr/>
        </p:nvPicPr>
        <p:blipFill>
          <a:blip r:embed="rId4"/>
          <a:stretch>
            <a:fillRect/>
          </a:stretch>
        </p:blipFill>
        <p:spPr>
          <a:xfrm>
            <a:off x="2013968" y="1470956"/>
            <a:ext cx="8164064" cy="4706007"/>
          </a:xfrm>
          <a:prstGeom prst="rect">
            <a:avLst/>
          </a:prstGeom>
        </p:spPr>
      </p:pic>
    </p:spTree>
    <p:extLst>
      <p:ext uri="{BB962C8B-B14F-4D97-AF65-F5344CB8AC3E}">
        <p14:creationId xmlns:p14="http://schemas.microsoft.com/office/powerpoint/2010/main" val="1298816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1FDA3811-B4D0-3FA6-F948-445E36CC919F}"/>
                  </a:ext>
                </a:extLst>
              </p:cNvPr>
              <p:cNvSpPr>
                <a:spLocks noGrp="1"/>
              </p:cNvSpPr>
              <p:nvPr>
                <p:ph type="title"/>
              </p:nvPr>
            </p:nvSpPr>
            <p:spPr/>
            <p:txBody>
              <a:bodyPr/>
              <a:lstStyle/>
              <a:p>
                <a:r>
                  <a:rPr lang="zh-TW" altLang="en-US" dirty="0"/>
                  <a:t>學習速率</a:t>
                </a:r>
                <a14:m>
                  <m:oMath xmlns:m="http://schemas.openxmlformats.org/officeDocument/2006/math">
                    <m:r>
                      <a:rPr lang="zh-TW" altLang="en-US" i="1">
                        <a:latin typeface="Cambria Math" panose="02040503050406030204" pitchFamily="18" charset="0"/>
                      </a:rPr>
                      <m:t>𝜂</m:t>
                    </m:r>
                  </m:oMath>
                </a14:m>
                <a:r>
                  <a:rPr lang="zh-TW" altLang="en-US" dirty="0"/>
                  <a:t>可能發生的問題</a:t>
                </a:r>
                <a:endParaRPr kumimoji="1" lang="zh-TW" altLang="en-US" dirty="0"/>
              </a:p>
            </p:txBody>
          </p:sp>
        </mc:Choice>
        <mc:Fallback xmlns="">
          <p:sp>
            <p:nvSpPr>
              <p:cNvPr id="2" name="標題 1">
                <a:extLst>
                  <a:ext uri="{FF2B5EF4-FFF2-40B4-BE49-F238E27FC236}">
                    <a16:creationId xmlns:a16="http://schemas.microsoft.com/office/drawing/2014/main" id="{1FDA3811-B4D0-3FA6-F948-445E36CC919F}"/>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zh-TW" altLang="en-US">
                    <a:noFill/>
                  </a:rPr>
                  <a:t> </a:t>
                </a:r>
              </a:p>
            </p:txBody>
          </p:sp>
        </mc:Fallback>
      </mc:AlternateContent>
      <p:sp>
        <p:nvSpPr>
          <p:cNvPr id="3" name="內容版面配置區 2">
            <a:extLst>
              <a:ext uri="{FF2B5EF4-FFF2-40B4-BE49-F238E27FC236}">
                <a16:creationId xmlns:a16="http://schemas.microsoft.com/office/drawing/2014/main" id="{C62E1E09-440D-8D67-A102-237523E99BE9}"/>
              </a:ext>
            </a:extLst>
          </p:cNvPr>
          <p:cNvSpPr>
            <a:spLocks noGrp="1"/>
          </p:cNvSpPr>
          <p:nvPr>
            <p:ph idx="1"/>
          </p:nvPr>
        </p:nvSpPr>
        <p:spPr/>
        <p:txBody>
          <a:bodyPr/>
          <a:lstStyle/>
          <a:p>
            <a:endParaRPr kumimoji="1" lang="zh-TW" altLang="en-US"/>
          </a:p>
        </p:txBody>
      </p:sp>
      <p:pic>
        <p:nvPicPr>
          <p:cNvPr id="3074" name="Picture 2">
            <a:extLst>
              <a:ext uri="{FF2B5EF4-FFF2-40B4-BE49-F238E27FC236}">
                <a16:creationId xmlns:a16="http://schemas.microsoft.com/office/drawing/2014/main" id="{C77E9B5E-77EA-85C7-7201-FF1E777DA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3300" y="1690688"/>
            <a:ext cx="10185400" cy="524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582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3FC66A-4E01-3742-9FEF-6378AF1FBD57}"/>
              </a:ext>
            </a:extLst>
          </p:cNvPr>
          <p:cNvSpPr>
            <a:spLocks noGrp="1"/>
          </p:cNvSpPr>
          <p:nvPr>
            <p:ph type="title"/>
          </p:nvPr>
        </p:nvSpPr>
        <p:spPr/>
        <p:txBody>
          <a:bodyPr/>
          <a:lstStyle/>
          <a:p>
            <a:r>
              <a:rPr kumimoji="1" lang="zh-TW" altLang="en-US" dirty="0"/>
              <a:t>不同的學習速度的影響</a:t>
            </a:r>
          </a:p>
        </p:txBody>
      </p:sp>
      <p:sp>
        <p:nvSpPr>
          <p:cNvPr id="3" name="內容版面配置區 2">
            <a:extLst>
              <a:ext uri="{FF2B5EF4-FFF2-40B4-BE49-F238E27FC236}">
                <a16:creationId xmlns:a16="http://schemas.microsoft.com/office/drawing/2014/main" id="{C7596E19-276D-FB47-9C24-FDF3B2AB74A5}"/>
              </a:ext>
            </a:extLst>
          </p:cNvPr>
          <p:cNvSpPr>
            <a:spLocks noGrp="1"/>
          </p:cNvSpPr>
          <p:nvPr>
            <p:ph idx="1"/>
          </p:nvPr>
        </p:nvSpPr>
        <p:spPr/>
        <p:txBody>
          <a:bodyPr/>
          <a:lstStyle/>
          <a:p>
            <a:endParaRPr kumimoji="1" lang="zh-TW" altLang="en-US"/>
          </a:p>
        </p:txBody>
      </p:sp>
      <p:pic>
        <p:nvPicPr>
          <p:cNvPr id="7" name="圖片 6">
            <a:extLst>
              <a:ext uri="{FF2B5EF4-FFF2-40B4-BE49-F238E27FC236}">
                <a16:creationId xmlns:a16="http://schemas.microsoft.com/office/drawing/2014/main" id="{C53E80BD-79E3-E84B-94CA-1EA88FEFF5FE}"/>
              </a:ext>
            </a:extLst>
          </p:cNvPr>
          <p:cNvPicPr>
            <a:picLocks noChangeAspect="1"/>
          </p:cNvPicPr>
          <p:nvPr/>
        </p:nvPicPr>
        <p:blipFill>
          <a:blip r:embed="rId3"/>
          <a:stretch>
            <a:fillRect/>
          </a:stretch>
        </p:blipFill>
        <p:spPr>
          <a:xfrm>
            <a:off x="838200" y="1825625"/>
            <a:ext cx="10223500" cy="4191000"/>
          </a:xfrm>
          <a:prstGeom prst="rect">
            <a:avLst/>
          </a:prstGeom>
        </p:spPr>
      </p:pic>
    </p:spTree>
    <p:extLst>
      <p:ext uri="{BB962C8B-B14F-4D97-AF65-F5344CB8AC3E}">
        <p14:creationId xmlns:p14="http://schemas.microsoft.com/office/powerpoint/2010/main" val="2190894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407CB83E-D84D-44AB-9601-FAA8DF8F335C}"/>
              </a:ext>
            </a:extLst>
          </p:cNvPr>
          <p:cNvPicPr>
            <a:picLocks noChangeAspect="1"/>
          </p:cNvPicPr>
          <p:nvPr/>
        </p:nvPicPr>
        <p:blipFill>
          <a:blip r:embed="rId2"/>
          <a:stretch>
            <a:fillRect/>
          </a:stretch>
        </p:blipFill>
        <p:spPr>
          <a:xfrm>
            <a:off x="3902414" y="1116208"/>
            <a:ext cx="7938402" cy="4874179"/>
          </a:xfrm>
          <a:prstGeom prst="rect">
            <a:avLst/>
          </a:prstGeom>
        </p:spPr>
      </p:pic>
      <p:sp>
        <p:nvSpPr>
          <p:cNvPr id="2" name="標題 1">
            <a:extLst>
              <a:ext uri="{FF2B5EF4-FFF2-40B4-BE49-F238E27FC236}">
                <a16:creationId xmlns:a16="http://schemas.microsoft.com/office/drawing/2014/main" id="{6D101A8F-D484-4917-A226-8AE5B222C53B}"/>
              </a:ext>
            </a:extLst>
          </p:cNvPr>
          <p:cNvSpPr>
            <a:spLocks noGrp="1"/>
          </p:cNvSpPr>
          <p:nvPr>
            <p:ph type="title"/>
          </p:nvPr>
        </p:nvSpPr>
        <p:spPr/>
        <p:txBody>
          <a:bodyPr/>
          <a:lstStyle/>
          <a:p>
            <a:r>
              <a:rPr lang="en-US" altLang="zh-TW" dirty="0"/>
              <a:t>y=</a:t>
            </a:r>
            <a:r>
              <a:rPr lang="en-US" altLang="zh-TW" dirty="0" err="1"/>
              <a:t>b+w</a:t>
            </a:r>
            <a:r>
              <a:rPr lang="en-US" altLang="zh-TW" dirty="0"/>
              <a:t>*x</a:t>
            </a:r>
            <a:endParaRPr lang="zh-TW" altLang="en-US" dirty="0"/>
          </a:p>
        </p:txBody>
      </p:sp>
      <p:sp>
        <p:nvSpPr>
          <p:cNvPr id="3" name="內容版面配置區 2">
            <a:extLst>
              <a:ext uri="{FF2B5EF4-FFF2-40B4-BE49-F238E27FC236}">
                <a16:creationId xmlns:a16="http://schemas.microsoft.com/office/drawing/2014/main" id="{78BFE234-3BC8-4CA9-A050-0A24BC7D7112}"/>
              </a:ext>
            </a:extLst>
          </p:cNvPr>
          <p:cNvSpPr>
            <a:spLocks noGrp="1"/>
          </p:cNvSpPr>
          <p:nvPr>
            <p:ph idx="1"/>
          </p:nvPr>
        </p:nvSpPr>
        <p:spPr>
          <a:xfrm>
            <a:off x="838200" y="1825625"/>
            <a:ext cx="3328764" cy="4351338"/>
          </a:xfrm>
        </p:spPr>
        <p:txBody>
          <a:bodyPr/>
          <a:lstStyle/>
          <a:p>
            <a:r>
              <a:rPr lang="zh-TW" altLang="en-US" dirty="0"/>
              <a:t>兩個係數，</a:t>
            </a:r>
            <a:r>
              <a:rPr lang="en-US" altLang="zh-TW" dirty="0"/>
              <a:t>w</a:t>
            </a:r>
            <a:r>
              <a:rPr lang="zh-TW" altLang="en-US" dirty="0"/>
              <a:t>跟</a:t>
            </a:r>
            <a:r>
              <a:rPr lang="en-US" altLang="zh-TW" dirty="0"/>
              <a:t>b</a:t>
            </a:r>
          </a:p>
          <a:p>
            <a:r>
              <a:rPr lang="zh-TW" altLang="en-US" dirty="0"/>
              <a:t>不同的</a:t>
            </a:r>
            <a:r>
              <a:rPr lang="en-US" altLang="zh-TW" dirty="0"/>
              <a:t>learning rate</a:t>
            </a:r>
            <a:r>
              <a:rPr lang="zh-TW" altLang="en-US" dirty="0"/>
              <a:t>學習的速率跟求解的過程會不一樣</a:t>
            </a:r>
          </a:p>
        </p:txBody>
      </p:sp>
    </p:spTree>
    <p:extLst>
      <p:ext uri="{BB962C8B-B14F-4D97-AF65-F5344CB8AC3E}">
        <p14:creationId xmlns:p14="http://schemas.microsoft.com/office/powerpoint/2010/main" val="4088529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67610E-2E9D-4BED-9920-30281147B67F}"/>
              </a:ext>
            </a:extLst>
          </p:cNvPr>
          <p:cNvSpPr>
            <a:spLocks noGrp="1"/>
          </p:cNvSpPr>
          <p:nvPr>
            <p:ph type="title"/>
          </p:nvPr>
        </p:nvSpPr>
        <p:spPr/>
        <p:txBody>
          <a:bodyPr/>
          <a:lstStyle/>
          <a:p>
            <a:r>
              <a:rPr lang="zh-TW" altLang="en-US" dirty="0"/>
              <a:t>要注意的事情</a:t>
            </a:r>
          </a:p>
        </p:txBody>
      </p:sp>
      <p:sp>
        <p:nvSpPr>
          <p:cNvPr id="3" name="內容版面配置區 2">
            <a:extLst>
              <a:ext uri="{FF2B5EF4-FFF2-40B4-BE49-F238E27FC236}">
                <a16:creationId xmlns:a16="http://schemas.microsoft.com/office/drawing/2014/main" id="{ECCCF913-BF1D-4043-8ADF-61482E082208}"/>
              </a:ext>
            </a:extLst>
          </p:cNvPr>
          <p:cNvSpPr>
            <a:spLocks noGrp="1"/>
          </p:cNvSpPr>
          <p:nvPr>
            <p:ph idx="1"/>
          </p:nvPr>
        </p:nvSpPr>
        <p:spPr/>
        <p:txBody>
          <a:bodyPr/>
          <a:lstStyle/>
          <a:p>
            <a:r>
              <a:rPr lang="zh-TW" altLang="en-US" dirty="0"/>
              <a:t>屬性</a:t>
            </a:r>
            <a:r>
              <a:rPr lang="en-US" altLang="zh-TW" dirty="0"/>
              <a:t>(</a:t>
            </a:r>
            <a:r>
              <a:rPr lang="zh-TW" altLang="en-US" dirty="0"/>
              <a:t>特徵）的值的差異不能太大（尺度要相近）</a:t>
            </a:r>
            <a:endParaRPr lang="en-US" altLang="zh-TW" dirty="0"/>
          </a:p>
          <a:p>
            <a:pPr lvl="1"/>
            <a:r>
              <a:rPr lang="zh-TW" altLang="en-US" dirty="0"/>
              <a:t>需要做正規化（</a:t>
            </a:r>
            <a:r>
              <a:rPr lang="en-US" altLang="zh-TW" dirty="0"/>
              <a:t>Scalar)</a:t>
            </a:r>
          </a:p>
          <a:p>
            <a:endParaRPr lang="zh-TW" altLang="en-US" dirty="0"/>
          </a:p>
        </p:txBody>
      </p:sp>
      <p:pic>
        <p:nvPicPr>
          <p:cNvPr id="4" name="圖片 3">
            <a:extLst>
              <a:ext uri="{FF2B5EF4-FFF2-40B4-BE49-F238E27FC236}">
                <a16:creationId xmlns:a16="http://schemas.microsoft.com/office/drawing/2014/main" id="{D2ADCD53-D948-4F5B-B260-ECFBDF2F0124}"/>
              </a:ext>
            </a:extLst>
          </p:cNvPr>
          <p:cNvPicPr>
            <a:picLocks noChangeAspect="1"/>
          </p:cNvPicPr>
          <p:nvPr/>
        </p:nvPicPr>
        <p:blipFill>
          <a:blip r:embed="rId3"/>
          <a:stretch>
            <a:fillRect/>
          </a:stretch>
        </p:blipFill>
        <p:spPr>
          <a:xfrm>
            <a:off x="1222237" y="3320607"/>
            <a:ext cx="8326012" cy="3172268"/>
          </a:xfrm>
          <a:prstGeom prst="rect">
            <a:avLst/>
          </a:prstGeom>
        </p:spPr>
      </p:pic>
    </p:spTree>
    <p:extLst>
      <p:ext uri="{BB962C8B-B14F-4D97-AF65-F5344CB8AC3E}">
        <p14:creationId xmlns:p14="http://schemas.microsoft.com/office/powerpoint/2010/main" val="1130471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51C195-1BCA-D3BD-A586-CEB83660E9AF}"/>
              </a:ext>
            </a:extLst>
          </p:cNvPr>
          <p:cNvSpPr>
            <a:spLocks noGrp="1"/>
          </p:cNvSpPr>
          <p:nvPr>
            <p:ph type="title"/>
          </p:nvPr>
        </p:nvSpPr>
        <p:spPr>
          <a:xfrm>
            <a:off x="838200" y="365125"/>
            <a:ext cx="10515600" cy="1325563"/>
          </a:xfrm>
        </p:spPr>
        <p:txBody>
          <a:bodyPr/>
          <a:lstStyle/>
          <a:p>
            <a:r>
              <a:rPr lang="zh-TW" altLang="en-US"/>
              <a:t>為什麼需要梯度下降法？</a:t>
            </a:r>
            <a:endParaRPr lang="zh-TW" altLang="en-US" dirty="0"/>
          </a:p>
        </p:txBody>
      </p:sp>
      <p:sp>
        <p:nvSpPr>
          <p:cNvPr id="3" name="內容版面配置區 2">
            <a:extLst>
              <a:ext uri="{FF2B5EF4-FFF2-40B4-BE49-F238E27FC236}">
                <a16:creationId xmlns:a16="http://schemas.microsoft.com/office/drawing/2014/main" id="{80AFE9B6-C063-15B1-708E-6A162DD075BF}"/>
              </a:ext>
            </a:extLst>
          </p:cNvPr>
          <p:cNvSpPr>
            <a:spLocks noGrp="1"/>
          </p:cNvSpPr>
          <p:nvPr>
            <p:ph idx="1"/>
          </p:nvPr>
        </p:nvSpPr>
        <p:spPr>
          <a:xfrm>
            <a:off x="838200" y="1825625"/>
            <a:ext cx="10515600" cy="4351338"/>
          </a:xfrm>
        </p:spPr>
        <p:txBody>
          <a:bodyPr>
            <a:normAutofit fontScale="92500" lnSpcReduction="10000"/>
          </a:bodyPr>
          <a:lstStyle/>
          <a:p>
            <a:pPr>
              <a:lnSpc>
                <a:spcPct val="120000"/>
              </a:lnSpc>
            </a:pPr>
            <a:r>
              <a:rPr lang="zh-TW" altLang="en-US" sz="1600" dirty="0"/>
              <a:t>多數非線性模型（如深度網路、一般化模型的變形、帶複雜正則或限制的模型）沒有可行的封閉解，或封閉解不易推導與數值穩定，這使通用的梯度法成為實務解法。</a:t>
            </a:r>
          </a:p>
          <a:p>
            <a:pPr>
              <a:lnSpc>
                <a:spcPct val="120000"/>
              </a:lnSpc>
            </a:pPr>
            <a:r>
              <a:rPr lang="zh-TW" altLang="en-US" sz="1600" dirty="0"/>
              <a:t>即使線性回歸存在「常態方程」封閉解，當特徵維度與資料規模很大時，計算與數值穩定性會成為瓶頸，使用迭代的演算法法（批次、迷你批次或隨機梯度）較有彈性且有效。</a:t>
            </a:r>
          </a:p>
          <a:p>
            <a:pPr>
              <a:lnSpc>
                <a:spcPct val="120000"/>
              </a:lnSpc>
            </a:pPr>
            <a:r>
              <a:rPr lang="zh-TW" altLang="en-US" sz="1600" dirty="0"/>
              <a:t>高維回歸的計算量差異</a:t>
            </a:r>
          </a:p>
          <a:p>
            <a:pPr lvl="1">
              <a:lnSpc>
                <a:spcPct val="120000"/>
              </a:lnSpc>
            </a:pPr>
            <a:r>
              <a:rPr lang="zh-TW" altLang="en-US" sz="1400" dirty="0"/>
              <a:t>封閉解需要形成並處理 </a:t>
            </a:r>
            <a:r>
              <a:rPr lang="en-US" altLang="zh-TW" sz="1400" dirty="0"/>
              <a:t>X</a:t>
            </a:r>
            <a:r>
              <a:rPr lang="en-US" altLang="zh-TW" sz="1400" baseline="30000" dirty="0"/>
              <a:t>⊤</a:t>
            </a:r>
            <a:r>
              <a:rPr lang="en-US" altLang="zh-TW" sz="1400" dirty="0"/>
              <a:t>X</a:t>
            </a:r>
            <a:r>
              <a:rPr lang="zh-TW" altLang="en-US" sz="1400" dirty="0"/>
              <a:t>（大小為 </a:t>
            </a:r>
            <a:r>
              <a:rPr lang="en-US" altLang="zh-TW" sz="1400" dirty="0" err="1"/>
              <a:t>d×d</a:t>
            </a:r>
            <a:r>
              <a:rPr lang="zh-TW" altLang="en-US" sz="1400" dirty="0"/>
              <a:t>），計算複雜度常表述為 </a:t>
            </a:r>
            <a:r>
              <a:rPr lang="en-US" altLang="zh-TW" sz="1400" dirty="0"/>
              <a:t>O(d</a:t>
            </a:r>
            <a:r>
              <a:rPr lang="en-US" altLang="zh-TW" sz="1400" baseline="30000" dirty="0"/>
              <a:t>2</a:t>
            </a:r>
            <a:r>
              <a:rPr lang="en-US" altLang="zh-TW" sz="1400" dirty="0"/>
              <a:t>N+d</a:t>
            </a:r>
            <a:r>
              <a:rPr lang="en-US" altLang="zh-TW" sz="1600" baseline="30000" dirty="0"/>
              <a:t>3</a:t>
            </a:r>
            <a:r>
              <a:rPr lang="en-US" altLang="zh-TW" sz="1400" dirty="0"/>
              <a:t>) </a:t>
            </a:r>
            <a:r>
              <a:rPr lang="zh-TW" altLang="en-US" sz="1400" dirty="0"/>
              <a:t>，計算繁重且耗費記憶體。</a:t>
            </a:r>
            <a:endParaRPr lang="en-US" altLang="zh-TW" sz="1400" dirty="0"/>
          </a:p>
          <a:p>
            <a:pPr lvl="1">
              <a:lnSpc>
                <a:spcPct val="120000"/>
              </a:lnSpc>
            </a:pPr>
            <a:r>
              <a:rPr lang="zh-TW" altLang="en-US" sz="1400" dirty="0"/>
              <a:t>梯度下降單步成本</a:t>
            </a:r>
            <a:r>
              <a:rPr lang="en-US" altLang="zh-TW" sz="1400" dirty="0"/>
              <a:t>(one</a:t>
            </a:r>
            <a:r>
              <a:rPr lang="zh-TW" altLang="en-US" sz="1400" dirty="0"/>
              <a:t> </a:t>
            </a:r>
            <a:r>
              <a:rPr lang="en-US" altLang="zh-TW" sz="1400" dirty="0"/>
              <a:t>step)</a:t>
            </a:r>
            <a:r>
              <a:rPr lang="zh-TW" altLang="en-US" sz="1400" dirty="0"/>
              <a:t>約可為 </a:t>
            </a:r>
            <a:r>
              <a:rPr lang="en-US" altLang="zh-TW" sz="1400" dirty="0"/>
              <a:t>O(</a:t>
            </a:r>
            <a:r>
              <a:rPr lang="en-US" altLang="zh-TW" sz="1400" dirty="0" err="1"/>
              <a:t>dN</a:t>
            </a:r>
            <a:r>
              <a:rPr lang="en-US" altLang="zh-TW" sz="1400" dirty="0"/>
              <a:t>)</a:t>
            </a:r>
            <a:r>
              <a:rPr lang="zh-TW" altLang="en-US" sz="1400" dirty="0"/>
              <a:t> 或 </a:t>
            </a:r>
            <a:r>
              <a:rPr lang="en-US" altLang="zh-TW" sz="1400" dirty="0"/>
              <a:t>O(d2N) </a:t>
            </a:r>
            <a:r>
              <a:rPr lang="zh-TW" altLang="en-US" sz="1400" dirty="0"/>
              <a:t> 視實作而定；若以小批量（</a:t>
            </a:r>
            <a:r>
              <a:rPr lang="en-US" altLang="zh-TW" sz="1400" dirty="0"/>
              <a:t>mini-batch</a:t>
            </a:r>
            <a:r>
              <a:rPr lang="zh-TW" altLang="en-US" sz="1400" dirty="0"/>
              <a:t>）更新，單步成本可顯著降低，總體只要在合理迭代數內收斂，即可</a:t>
            </a:r>
          </a:p>
          <a:p>
            <a:pPr>
              <a:lnSpc>
                <a:spcPct val="120000"/>
              </a:lnSpc>
            </a:pPr>
            <a:r>
              <a:rPr lang="zh-TW" altLang="en-US" sz="1600" dirty="0"/>
              <a:t>更廣的適用性</a:t>
            </a:r>
          </a:p>
          <a:p>
            <a:pPr lvl="1">
              <a:lnSpc>
                <a:spcPct val="120000"/>
              </a:lnSpc>
            </a:pPr>
            <a:r>
              <a:rPr lang="zh-TW" altLang="en-US" sz="1400" dirty="0"/>
              <a:t>梯度下降是通用優化器，對任意可微損失皆可用，包含正則化（</a:t>
            </a:r>
            <a:r>
              <a:rPr lang="en-US" altLang="zh-TW" sz="1400" dirty="0"/>
              <a:t>L1/L2</a:t>
            </a:r>
            <a:r>
              <a:rPr lang="zh-TW" altLang="en-US" sz="1400" dirty="0"/>
              <a:t>）、自定義損失、約束的松弛化、以及深度網路等非凸問題；這些場景多無封閉解可言。</a:t>
            </a:r>
          </a:p>
          <a:p>
            <a:pPr>
              <a:lnSpc>
                <a:spcPct val="120000"/>
              </a:lnSpc>
            </a:pPr>
            <a:r>
              <a:rPr lang="zh-TW" altLang="en-US" sz="1600" dirty="0"/>
              <a:t>自動微分讓實作更容易</a:t>
            </a:r>
          </a:p>
          <a:p>
            <a:pPr lvl="1">
              <a:lnSpc>
                <a:spcPct val="120000"/>
              </a:lnSpc>
            </a:pPr>
            <a:r>
              <a:rPr lang="zh-TW" altLang="en-US" sz="1400" dirty="0"/>
              <a:t>自動微分框架（</a:t>
            </a:r>
            <a:r>
              <a:rPr lang="en-US" altLang="zh-TW" sz="1400" dirty="0" err="1"/>
              <a:t>PyTorch</a:t>
            </a:r>
            <a:r>
              <a:rPr lang="zh-TW" altLang="en-US" sz="1400" dirty="0"/>
              <a:t>、</a:t>
            </a:r>
            <a:r>
              <a:rPr lang="en-US" altLang="zh-TW" sz="1400" dirty="0"/>
              <a:t>TensorFlow</a:t>
            </a:r>
            <a:r>
              <a:rPr lang="zh-TW" altLang="en-US" sz="1400" dirty="0"/>
              <a:t>、</a:t>
            </a:r>
            <a:r>
              <a:rPr lang="en-US" altLang="zh-TW" sz="1400" dirty="0"/>
              <a:t>JAX</a:t>
            </a:r>
            <a:r>
              <a:rPr lang="zh-TW" altLang="en-US" sz="1400" dirty="0"/>
              <a:t>、</a:t>
            </a:r>
            <a:r>
              <a:rPr lang="en-US" altLang="zh-TW" sz="1400" dirty="0" err="1"/>
              <a:t>MXNet</a:t>
            </a:r>
            <a:r>
              <a:rPr lang="en-US" altLang="zh-TW" sz="1400" dirty="0"/>
              <a:t> </a:t>
            </a:r>
            <a:r>
              <a:rPr lang="zh-TW" altLang="en-US" sz="1400" dirty="0"/>
              <a:t>等理念）讓使用者只需定義前向計算，系統即可高精度、低複雜度自動計算梯度，避免手動推導與數值差分的誤差。</a:t>
            </a:r>
          </a:p>
        </p:txBody>
      </p:sp>
    </p:spTree>
    <p:extLst>
      <p:ext uri="{BB962C8B-B14F-4D97-AF65-F5344CB8AC3E}">
        <p14:creationId xmlns:p14="http://schemas.microsoft.com/office/powerpoint/2010/main" val="3463477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565AD8A2-6925-4441-A8EC-1A04578AF7C6}"/>
              </a:ext>
            </a:extLst>
          </p:cNvPr>
          <p:cNvSpPr>
            <a:spLocks noGrp="1"/>
          </p:cNvSpPr>
          <p:nvPr>
            <p:ph type="title"/>
          </p:nvPr>
        </p:nvSpPr>
        <p:spPr/>
        <p:txBody>
          <a:bodyPr/>
          <a:lstStyle/>
          <a:p>
            <a:r>
              <a:rPr lang="en-US" altLang="zh-TW" dirty="0"/>
              <a:t>Logistic regression</a:t>
            </a:r>
            <a:endParaRPr lang="zh-TW" altLang="en-US" dirty="0"/>
          </a:p>
        </p:txBody>
      </p:sp>
      <p:sp>
        <p:nvSpPr>
          <p:cNvPr id="5" name="文字版面配置區 4">
            <a:extLst>
              <a:ext uri="{FF2B5EF4-FFF2-40B4-BE49-F238E27FC236}">
                <a16:creationId xmlns:a16="http://schemas.microsoft.com/office/drawing/2014/main" id="{E0E818F3-4B9C-4BA8-BBF7-41E67D3084FD}"/>
              </a:ext>
            </a:extLst>
          </p:cNvPr>
          <p:cNvSpPr>
            <a:spLocks noGrp="1"/>
          </p:cNvSpPr>
          <p:nvPr>
            <p:ph type="body" idx="1"/>
          </p:nvPr>
        </p:nvSpPr>
        <p:spPr/>
        <p:txBody>
          <a:bodyPr/>
          <a:lstStyle/>
          <a:p>
            <a:r>
              <a:rPr lang="zh-TW" altLang="en-US"/>
              <a:t>分類問題</a:t>
            </a:r>
          </a:p>
        </p:txBody>
      </p:sp>
    </p:spTree>
    <p:extLst>
      <p:ext uri="{BB962C8B-B14F-4D97-AF65-F5344CB8AC3E}">
        <p14:creationId xmlns:p14="http://schemas.microsoft.com/office/powerpoint/2010/main" val="3150561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6808F4-BB73-ECD4-15C3-7EE388905567}"/>
              </a:ext>
            </a:extLst>
          </p:cNvPr>
          <p:cNvSpPr>
            <a:spLocks noGrp="1"/>
          </p:cNvSpPr>
          <p:nvPr>
            <p:ph type="title"/>
          </p:nvPr>
        </p:nvSpPr>
        <p:spPr>
          <a:xfrm>
            <a:off x="838200" y="365125"/>
            <a:ext cx="10515600" cy="1325563"/>
          </a:xfrm>
        </p:spPr>
        <p:txBody>
          <a:bodyPr/>
          <a:lstStyle/>
          <a:p>
            <a:r>
              <a:rPr lang="zh-TW" altLang="en-US" dirty="0"/>
              <a:t>分類問題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2D68B2A-7B9C-6D2E-2512-B0382348F564}"/>
                  </a:ext>
                </a:extLst>
              </p:cNvPr>
              <p:cNvSpPr>
                <a:spLocks noGrp="1"/>
              </p:cNvSpPr>
              <p:nvPr>
                <p:ph idx="1"/>
              </p:nvPr>
            </p:nvSpPr>
            <p:spPr>
              <a:xfrm>
                <a:off x="838200" y="1825625"/>
                <a:ext cx="10515600" cy="4351338"/>
              </a:xfrm>
            </p:spPr>
            <p:txBody>
              <a:bodyPr>
                <a:normAutofit fontScale="85000" lnSpcReduction="10000"/>
              </a:bodyPr>
              <a:lstStyle/>
              <a:p>
                <a:r>
                  <a:rPr lang="zh-TW" altLang="en-US" dirty="0"/>
                  <a:t>針對分類問題的簡單的做法，稱為</a:t>
                </a:r>
                <a:r>
                  <a:rPr lang="en-US" altLang="zh-TW" dirty="0"/>
                  <a:t>logistic</a:t>
                </a:r>
                <a:r>
                  <a:rPr lang="zh-TW" altLang="en-US" dirty="0"/>
                  <a:t> </a:t>
                </a:r>
                <a:r>
                  <a:rPr lang="en-US" altLang="zh-TW" dirty="0"/>
                  <a:t>regression(</a:t>
                </a:r>
                <a:r>
                  <a:rPr lang="zh-TW" altLang="en-US" dirty="0"/>
                  <a:t>邏輯迴歸</a:t>
                </a:r>
                <a:r>
                  <a:rPr lang="en-US" altLang="zh-TW" dirty="0"/>
                  <a:t>)</a:t>
                </a:r>
              </a:p>
              <a:p>
                <a:r>
                  <a:rPr lang="zh-TW" altLang="en-US" dirty="0"/>
                  <a:t>為了解釋邏輯迴歸作為二元分類的機率模型的主要機制</a:t>
                </a:r>
                <a:endParaRPr lang="en-US" altLang="zh-TW" dirty="0"/>
              </a:p>
              <a:p>
                <a:pPr lvl="1"/>
                <a:r>
                  <a:rPr lang="zh-TW" altLang="en-US" dirty="0"/>
                  <a:t>何謂“概率</a:t>
                </a:r>
                <a:r>
                  <a:rPr lang="en-US" altLang="zh-TW" dirty="0"/>
                  <a:t>(odds)</a:t>
                </a:r>
                <a:r>
                  <a:rPr lang="zh-TW" altLang="en-US" dirty="0"/>
                  <a:t>”：有利於特定事件的機率。</a:t>
                </a:r>
                <a:endParaRPr lang="en-US" altLang="zh-TW" dirty="0"/>
              </a:p>
              <a:p>
                <a:r>
                  <a:rPr lang="zh-TW" altLang="en-US" dirty="0"/>
                  <a:t>概率可以表示為，其中</a:t>
                </a:r>
                <a:r>
                  <a:rPr lang="en-US" altLang="zh-TW" dirty="0"/>
                  <a:t>p</a:t>
                </a:r>
                <a:r>
                  <a:rPr lang="zh-TW" altLang="en-US" dirty="0"/>
                  <a:t>代表正事件的機率。</a:t>
                </a:r>
                <a:endParaRPr lang="en-US" altLang="zh-TW" dirty="0"/>
              </a:p>
              <a:p>
                <a:pPr lvl="1"/>
                <a:r>
                  <a:rPr lang="zh-TW" altLang="en-US" dirty="0"/>
                  <a:t>「正事件」這一術語不一定意味著“好”，而是指我們想要預測的事件，例如，患者在給定某些症狀的情況下患有某種疾病的概率；我們可以將正事件想象為類別標籤</a:t>
                </a:r>
                <a:r>
                  <a:rPr lang="en-US" altLang="zh-TW" dirty="0"/>
                  <a:t>y = 1</a:t>
                </a:r>
                <a:r>
                  <a:rPr lang="zh-TW" altLang="en-US" dirty="0"/>
                  <a:t>，而症狀則為特徵</a:t>
                </a:r>
                <a:r>
                  <a:rPr lang="en-US" altLang="zh-TW" dirty="0"/>
                  <a:t>x</a:t>
                </a:r>
                <a:r>
                  <a:rPr lang="zh-TW" altLang="en-US" dirty="0"/>
                  <a:t>。</a:t>
                </a:r>
                <a:endParaRPr lang="en-US" altLang="zh-TW" dirty="0"/>
              </a:p>
              <a:p>
                <a:pPr lvl="1"/>
                <a:r>
                  <a:rPr lang="zh-TW" altLang="en-US" dirty="0"/>
                  <a:t>為了簡潔起見，可以將概率</a:t>
                </a:r>
                <a:r>
                  <a:rPr lang="en-US" altLang="zh-TW" dirty="0"/>
                  <a:t>p</a:t>
                </a:r>
                <a:r>
                  <a:rPr lang="zh-TW" altLang="en-US" dirty="0"/>
                  <a:t>定義為</a:t>
                </a:r>
                <a:r>
                  <a:rPr lang="en-US" altLang="zh-TW" dirty="0"/>
                  <a:t>p := p(y = 1 | x)</a:t>
                </a:r>
                <a:r>
                  <a:rPr lang="zh-TW" altLang="en-US" dirty="0"/>
                  <a:t>，即特定示例屬於某個類別</a:t>
                </a:r>
                <a:r>
                  <a:rPr lang="en-US" altLang="zh-TW" dirty="0"/>
                  <a:t>1</a:t>
                </a:r>
                <a:r>
                  <a:rPr lang="zh-TW" altLang="en-US" dirty="0"/>
                  <a:t>的條件概率，給定其特徵</a:t>
                </a:r>
                <a:r>
                  <a:rPr lang="en-US" altLang="zh-TW" dirty="0"/>
                  <a:t>x</a:t>
                </a:r>
                <a:r>
                  <a:rPr lang="zh-TW" altLang="en-US" dirty="0"/>
                  <a:t>。</a:t>
                </a:r>
              </a:p>
              <a:p>
                <a:r>
                  <a:rPr lang="zh-TW" altLang="en-US" dirty="0"/>
                  <a:t>然後，我們可以進一步定義</a:t>
                </a:r>
                <a:r>
                  <a:rPr lang="en-US" altLang="zh-TW" dirty="0"/>
                  <a:t>logit</a:t>
                </a:r>
                <a:r>
                  <a:rPr lang="zh-TW" altLang="en-US" dirty="0"/>
                  <a:t>函數，它只是概率比（</a:t>
                </a:r>
                <a:r>
                  <a:rPr lang="en-US" altLang="zh-TW" dirty="0"/>
                  <a:t>log-odds</a:t>
                </a:r>
                <a:r>
                  <a:rPr lang="zh-TW" altLang="en-US" dirty="0"/>
                  <a:t>）的對數：</a:t>
                </a:r>
              </a:p>
              <a:p>
                <a:pPr lvl="1"/>
                <a14:m>
                  <m:oMath xmlns:m="http://schemas.openxmlformats.org/officeDocument/2006/math">
                    <m:r>
                      <a:rPr lang="en-US" altLang="zh-TW" smtClean="0">
                        <a:latin typeface="Cambria Math" panose="02040503050406030204" pitchFamily="18" charset="0"/>
                      </a:rPr>
                      <m:t>𝑙𝑜𝑔𝑖𝑡</m:t>
                    </m:r>
                    <m:d>
                      <m:dPr>
                        <m:ctrlPr>
                          <a:rPr lang="en-US" altLang="zh-TW" i="1" smtClean="0">
                            <a:latin typeface="Cambria Math" panose="02040503050406030204" pitchFamily="18" charset="0"/>
                          </a:rPr>
                        </m:ctrlPr>
                      </m:dPr>
                      <m:e>
                        <m:r>
                          <a:rPr lang="en-US" altLang="zh-TW" smtClean="0">
                            <a:latin typeface="Cambria Math" panose="02040503050406030204" pitchFamily="18" charset="0"/>
                          </a:rPr>
                          <m:t>𝑝</m:t>
                        </m:r>
                      </m:e>
                    </m:d>
                    <m:r>
                      <a:rPr lang="en-US" altLang="zh-TW" smtClean="0">
                        <a:latin typeface="Cambria Math" panose="02040503050406030204" pitchFamily="18" charset="0"/>
                      </a:rPr>
                      <m:t>=</m:t>
                    </m:r>
                    <m:r>
                      <a:rPr lang="en-US" altLang="zh-TW"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smtClean="0">
                            <a:latin typeface="Cambria Math" panose="02040503050406030204" pitchFamily="18" charset="0"/>
                          </a:rPr>
                          <m:t>𝑝</m:t>
                        </m:r>
                      </m:num>
                      <m:den>
                        <m:r>
                          <a:rPr lang="en-US" altLang="zh-TW" smtClean="0">
                            <a:latin typeface="Cambria Math" panose="02040503050406030204" pitchFamily="18" charset="0"/>
                          </a:rPr>
                          <m:t>1−</m:t>
                        </m:r>
                        <m:r>
                          <a:rPr lang="en-US" altLang="zh-TW" smtClean="0">
                            <a:latin typeface="Cambria Math" panose="02040503050406030204" pitchFamily="18" charset="0"/>
                          </a:rPr>
                          <m:t>𝑝</m:t>
                        </m:r>
                      </m:den>
                    </m:f>
                  </m:oMath>
                </a14:m>
                <a:endParaRPr lang="en-US" altLang="zh-TW" dirty="0"/>
              </a:p>
              <a:p>
                <a:pPr lvl="1"/>
                <a:r>
                  <a:rPr lang="zh-TW" altLang="en-US" dirty="0"/>
                  <a:t>請注意，</a:t>
                </a:r>
                <a:r>
                  <a:rPr lang="en-US" altLang="zh-TW" dirty="0"/>
                  <a:t>log</a:t>
                </a:r>
                <a:r>
                  <a:rPr lang="zh-TW" altLang="en-US" dirty="0"/>
                  <a:t>指的是自然對數，因為這是計算機科學中的常規慣例。 </a:t>
                </a:r>
                <a:r>
                  <a:rPr lang="en-US" altLang="zh-TW" dirty="0"/>
                  <a:t>logit</a:t>
                </a:r>
                <a:r>
                  <a:rPr lang="zh-TW" altLang="en-US" dirty="0"/>
                  <a:t>函數接受</a:t>
                </a:r>
                <a:r>
                  <a:rPr lang="en-US" altLang="zh-TW" dirty="0"/>
                  <a:t>0</a:t>
                </a:r>
                <a:r>
                  <a:rPr lang="zh-TW" altLang="en-US" dirty="0"/>
                  <a:t>到</a:t>
                </a:r>
                <a:r>
                  <a:rPr lang="en-US" altLang="zh-TW" dirty="0"/>
                  <a:t>1</a:t>
                </a:r>
                <a:r>
                  <a:rPr lang="zh-TW" altLang="en-US" dirty="0"/>
                  <a:t>範圍內的輸入值並將它們轉換為整個實數範圍內的值。</a:t>
                </a:r>
                <a:endParaRPr lang="en-US" altLang="zh-TW" dirty="0"/>
              </a:p>
            </p:txBody>
          </p:sp>
        </mc:Choice>
        <mc:Fallback xmlns="">
          <p:sp>
            <p:nvSpPr>
              <p:cNvPr id="3" name="內容版面配置區 2">
                <a:extLst>
                  <a:ext uri="{FF2B5EF4-FFF2-40B4-BE49-F238E27FC236}">
                    <a16:creationId xmlns:a16="http://schemas.microsoft.com/office/drawing/2014/main" id="{C2D68B2A-7B9C-6D2E-2512-B0382348F564}"/>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844" t="-2907" r="-2774" b="-145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92340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6F96A5-DB7F-42E0-A7C1-DDECECBA184E}"/>
              </a:ext>
            </a:extLst>
          </p:cNvPr>
          <p:cNvSpPr>
            <a:spLocks noGrp="1"/>
          </p:cNvSpPr>
          <p:nvPr>
            <p:ph type="title"/>
          </p:nvPr>
        </p:nvSpPr>
        <p:spPr/>
        <p:txBody>
          <a:bodyPr/>
          <a:lstStyle/>
          <a:p>
            <a:r>
              <a:rPr lang="en-US" altLang="zh-TW" dirty="0"/>
              <a:t>Logistic regression</a:t>
            </a:r>
            <a:endParaRPr lang="zh-TW" altLang="en-US" dirty="0"/>
          </a:p>
        </p:txBody>
      </p:sp>
      <p:sp>
        <p:nvSpPr>
          <p:cNvPr id="3" name="內容版面配置區 2">
            <a:extLst>
              <a:ext uri="{FF2B5EF4-FFF2-40B4-BE49-F238E27FC236}">
                <a16:creationId xmlns:a16="http://schemas.microsoft.com/office/drawing/2014/main" id="{EAFC1EA5-C9C8-4C73-BB2A-19133657A580}"/>
              </a:ext>
            </a:extLst>
          </p:cNvPr>
          <p:cNvSpPr>
            <a:spLocks noGrp="1"/>
          </p:cNvSpPr>
          <p:nvPr>
            <p:ph idx="1"/>
          </p:nvPr>
        </p:nvSpPr>
        <p:spPr/>
        <p:txBody>
          <a:bodyPr/>
          <a:lstStyle/>
          <a:p>
            <a:r>
              <a:rPr lang="zh-TW" altLang="en-US" dirty="0"/>
              <a:t>如果要預測的問題，只要預測是或否而已</a:t>
            </a:r>
            <a:r>
              <a:rPr lang="en-US" altLang="zh-TW" dirty="0"/>
              <a:t>(</a:t>
            </a:r>
            <a:r>
              <a:rPr lang="zh-TW" altLang="en-US" dirty="0"/>
              <a:t>分兩類的問題）</a:t>
            </a:r>
            <a:endParaRPr lang="en-US" altLang="zh-TW" dirty="0"/>
          </a:p>
          <a:p>
            <a:r>
              <a:rPr lang="zh-TW" altLang="en-US" dirty="0"/>
              <a:t>需要的不是預測出一個很大很數字，而是只需要預測出</a:t>
            </a:r>
            <a:r>
              <a:rPr lang="en-US" altLang="zh-TW" dirty="0"/>
              <a:t>0</a:t>
            </a:r>
            <a:r>
              <a:rPr lang="zh-TW" altLang="en-US" dirty="0"/>
              <a:t>或</a:t>
            </a:r>
            <a:r>
              <a:rPr lang="en-US" altLang="zh-TW" dirty="0"/>
              <a:t>1</a:t>
            </a:r>
            <a:r>
              <a:rPr lang="zh-TW" altLang="en-US" dirty="0"/>
              <a:t>，這時候可以用到</a:t>
            </a:r>
            <a:r>
              <a:rPr lang="en-US" altLang="zh-TW" dirty="0"/>
              <a:t>sigmoid function(</a:t>
            </a:r>
            <a:r>
              <a:rPr lang="zh-TW" altLang="en-US" dirty="0"/>
              <a:t>也叫</a:t>
            </a:r>
            <a:r>
              <a:rPr lang="en-US" altLang="zh-TW" dirty="0"/>
              <a:t>logistic function)</a:t>
            </a:r>
            <a:r>
              <a:rPr lang="zh-TW" altLang="en-US" dirty="0"/>
              <a:t>。</a:t>
            </a:r>
            <a:endParaRPr lang="en-US" altLang="zh-TW" dirty="0"/>
          </a:p>
          <a:p>
            <a:r>
              <a:rPr lang="zh-TW" altLang="en-US" dirty="0"/>
              <a:t>變成機率問題</a:t>
            </a:r>
            <a:r>
              <a:rPr lang="en-US" altLang="zh-TW" dirty="0"/>
              <a:t>(0+1=1, A</a:t>
            </a:r>
            <a:r>
              <a:rPr lang="zh-TW" altLang="en-US" dirty="0"/>
              <a:t>類的可能性是</a:t>
            </a:r>
            <a:r>
              <a:rPr lang="en-US" altLang="zh-TW" dirty="0"/>
              <a:t>0.8</a:t>
            </a:r>
            <a:r>
              <a:rPr lang="zh-TW" altLang="en-US" dirty="0"/>
              <a:t>，相對來講另一類就是</a:t>
            </a:r>
            <a:r>
              <a:rPr lang="en-US" altLang="zh-TW" dirty="0"/>
              <a:t>0.2)</a:t>
            </a:r>
          </a:p>
          <a:p>
            <a:endParaRPr lang="en-US" altLang="zh-TW" dirty="0"/>
          </a:p>
          <a:p>
            <a:pPr marL="0" indent="0">
              <a:buNone/>
            </a:pPr>
            <a:endParaRPr lang="en-US" altLang="zh-TW" dirty="0"/>
          </a:p>
          <a:p>
            <a:endParaRPr lang="zh-TW" altLang="en-US" dirty="0"/>
          </a:p>
        </p:txBody>
      </p:sp>
      <p:pic>
        <p:nvPicPr>
          <p:cNvPr id="1026" name="Picture 2" descr="https://i1.wp.com/clay-atlas.com/wp-content/uploads/2019/10/sigmoid.png?ssl=1">
            <a:extLst>
              <a:ext uri="{FF2B5EF4-FFF2-40B4-BE49-F238E27FC236}">
                <a16:creationId xmlns:a16="http://schemas.microsoft.com/office/drawing/2014/main" id="{1FD3FDA4-5DFA-4F34-98E5-C9FDF6182F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0509" y="4001294"/>
            <a:ext cx="5200073" cy="236912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A9472DC0-776A-C131-8063-69920EC1B19C}"/>
                  </a:ext>
                </a:extLst>
              </p:cNvPr>
              <p:cNvSpPr txBox="1"/>
              <p:nvPr/>
            </p:nvSpPr>
            <p:spPr>
              <a:xfrm>
                <a:off x="1395780" y="5760118"/>
                <a:ext cx="3853200" cy="41684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400" b="0" i="1" smtClean="0">
                          <a:latin typeface="Cambria Math" panose="02040503050406030204" pitchFamily="18" charset="0"/>
                        </a:rPr>
                        <m:t>𝑠𝑖𝑔𝑚𝑜𝑖𝑑</m:t>
                      </m:r>
                      <m:d>
                        <m:dPr>
                          <m:ctrlPr>
                            <a:rPr kumimoji="1" lang="en-US" altLang="zh-TW" sz="2400" b="0" i="1" smtClean="0">
                              <a:latin typeface="Cambria Math" panose="02040503050406030204" pitchFamily="18" charset="0"/>
                            </a:rPr>
                          </m:ctrlPr>
                        </m:dPr>
                        <m:e>
                          <m:r>
                            <a:rPr kumimoji="1" lang="en-US" altLang="zh-TW" sz="2400" b="0" i="1" smtClean="0">
                              <a:latin typeface="Cambria Math" panose="02040503050406030204" pitchFamily="18" charset="0"/>
                            </a:rPr>
                            <m:t>𝑙𝑜𝑔𝑖𝑡</m:t>
                          </m:r>
                          <m:d>
                            <m:dPr>
                              <m:ctrlPr>
                                <a:rPr kumimoji="1" lang="en-US" altLang="zh-TW" sz="2400" b="0" i="1" smtClean="0">
                                  <a:latin typeface="Cambria Math" panose="02040503050406030204" pitchFamily="18" charset="0"/>
                                </a:rPr>
                              </m:ctrlPr>
                            </m:dPr>
                            <m:e>
                              <m:r>
                                <a:rPr kumimoji="1" lang="en-US" altLang="zh-TW" sz="2400" b="0" i="1" smtClean="0">
                                  <a:latin typeface="Cambria Math" panose="02040503050406030204" pitchFamily="18" charset="0"/>
                                </a:rPr>
                                <m:t>𝑝</m:t>
                              </m:r>
                            </m:e>
                          </m:d>
                        </m:e>
                      </m:d>
                      <m:r>
                        <a:rPr kumimoji="1" lang="en-US" altLang="zh-TW" sz="2400" b="0" i="1" smtClean="0">
                          <a:latin typeface="Cambria Math" panose="02040503050406030204" pitchFamily="18" charset="0"/>
                        </a:rPr>
                        <m:t>=</m:t>
                      </m:r>
                      <m:r>
                        <a:rPr kumimoji="1" lang="en-US" altLang="zh-TW" sz="2400" b="0" i="1" smtClean="0">
                          <a:latin typeface="Cambria Math" panose="02040503050406030204" pitchFamily="18" charset="0"/>
                        </a:rPr>
                        <m:t>𝑝</m:t>
                      </m:r>
                    </m:oMath>
                  </m:oMathPara>
                </a14:m>
                <a:endParaRPr kumimoji="1" lang="zh-TW" altLang="en-US" sz="2400" dirty="0"/>
              </a:p>
            </p:txBody>
          </p:sp>
        </mc:Choice>
        <mc:Fallback xmlns="">
          <p:sp>
            <p:nvSpPr>
              <p:cNvPr id="5" name="文字方塊 4">
                <a:extLst>
                  <a:ext uri="{FF2B5EF4-FFF2-40B4-BE49-F238E27FC236}">
                    <a16:creationId xmlns:a16="http://schemas.microsoft.com/office/drawing/2014/main" id="{A9472DC0-776A-C131-8063-69920EC1B19C}"/>
                  </a:ext>
                </a:extLst>
              </p:cNvPr>
              <p:cNvSpPr txBox="1">
                <a:spLocks noRot="1" noChangeAspect="1" noMove="1" noResize="1" noEditPoints="1" noAdjustHandles="1" noChangeArrowheads="1" noChangeShapeType="1" noTextEdit="1"/>
              </p:cNvSpPr>
              <p:nvPr/>
            </p:nvSpPr>
            <p:spPr>
              <a:xfrm>
                <a:off x="1395780" y="5760118"/>
                <a:ext cx="3853200" cy="416845"/>
              </a:xfrm>
              <a:prstGeom prst="rect">
                <a:avLst/>
              </a:prstGeom>
              <a:blipFill>
                <a:blip r:embed="rId4"/>
                <a:stretch>
                  <a:fillRect b="-235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FF5065C6-2309-1A3D-AD93-12328C050994}"/>
                  </a:ext>
                </a:extLst>
              </p:cNvPr>
              <p:cNvSpPr txBox="1"/>
              <p:nvPr/>
            </p:nvSpPr>
            <p:spPr>
              <a:xfrm>
                <a:off x="1302328" y="4001294"/>
                <a:ext cx="3545206" cy="787075"/>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r>
                        <a:rPr lang="en-US" altLang="zh-TW" sz="2400" smtClean="0">
                          <a:latin typeface="Cambria Math" panose="02040503050406030204" pitchFamily="18" charset="0"/>
                        </a:rPr>
                        <m:t>𝑙𝑜𝑔𝑖𝑡</m:t>
                      </m:r>
                      <m:d>
                        <m:dPr>
                          <m:ctrlPr>
                            <a:rPr lang="en-US" altLang="zh-TW" sz="2400" i="1" smtClean="0">
                              <a:latin typeface="Cambria Math" panose="02040503050406030204" pitchFamily="18" charset="0"/>
                            </a:rPr>
                          </m:ctrlPr>
                        </m:dPr>
                        <m:e>
                          <m:r>
                            <a:rPr lang="en-US" altLang="zh-TW" sz="2400" smtClean="0">
                              <a:latin typeface="Cambria Math" panose="02040503050406030204" pitchFamily="18" charset="0"/>
                            </a:rPr>
                            <m:t>𝑝</m:t>
                          </m:r>
                        </m:e>
                      </m:d>
                      <m:r>
                        <a:rPr lang="en-US" altLang="zh-TW" sz="2400" smtClean="0">
                          <a:latin typeface="Cambria Math" panose="02040503050406030204" pitchFamily="18" charset="0"/>
                        </a:rPr>
                        <m:t>=</m:t>
                      </m:r>
                      <m:r>
                        <a:rPr lang="en-US" altLang="zh-TW" sz="2400" smtClean="0">
                          <a:latin typeface="Cambria Math" panose="02040503050406030204" pitchFamily="18" charset="0"/>
                        </a:rPr>
                        <m:t>𝑙𝑜𝑔</m:t>
                      </m:r>
                      <m:f>
                        <m:fPr>
                          <m:ctrlPr>
                            <a:rPr lang="en-US" altLang="zh-TW" sz="2400" i="1" smtClean="0">
                              <a:latin typeface="Cambria Math" panose="02040503050406030204" pitchFamily="18" charset="0"/>
                            </a:rPr>
                          </m:ctrlPr>
                        </m:fPr>
                        <m:num>
                          <m:r>
                            <a:rPr lang="en-US" altLang="zh-TW" sz="2400" smtClean="0">
                              <a:latin typeface="Cambria Math" panose="02040503050406030204" pitchFamily="18" charset="0"/>
                            </a:rPr>
                            <m:t>𝑝</m:t>
                          </m:r>
                        </m:num>
                        <m:den>
                          <m:r>
                            <a:rPr lang="en-US" altLang="zh-TW" sz="2400" smtClean="0">
                              <a:latin typeface="Cambria Math" panose="02040503050406030204" pitchFamily="18" charset="0"/>
                            </a:rPr>
                            <m:t>1−</m:t>
                          </m:r>
                          <m:r>
                            <a:rPr lang="en-US" altLang="zh-TW" sz="2400" smtClean="0">
                              <a:latin typeface="Cambria Math" panose="02040503050406030204" pitchFamily="18" charset="0"/>
                            </a:rPr>
                            <m:t>𝑝</m:t>
                          </m:r>
                        </m:den>
                      </m:f>
                    </m:oMath>
                  </m:oMathPara>
                </a14:m>
                <a:endParaRPr lang="en-US" altLang="zh-TW" sz="2400" dirty="0"/>
              </a:p>
            </p:txBody>
          </p:sp>
        </mc:Choice>
        <mc:Fallback xmlns="">
          <p:sp>
            <p:nvSpPr>
              <p:cNvPr id="7" name="文字方塊 6">
                <a:extLst>
                  <a:ext uri="{FF2B5EF4-FFF2-40B4-BE49-F238E27FC236}">
                    <a16:creationId xmlns:a16="http://schemas.microsoft.com/office/drawing/2014/main" id="{FF5065C6-2309-1A3D-AD93-12328C050994}"/>
                  </a:ext>
                </a:extLst>
              </p:cNvPr>
              <p:cNvSpPr txBox="1">
                <a:spLocks noRot="1" noChangeAspect="1" noMove="1" noResize="1" noEditPoints="1" noAdjustHandles="1" noChangeArrowheads="1" noChangeShapeType="1" noTextEdit="1"/>
              </p:cNvSpPr>
              <p:nvPr/>
            </p:nvSpPr>
            <p:spPr>
              <a:xfrm>
                <a:off x="1302328" y="4001294"/>
                <a:ext cx="3545206" cy="787075"/>
              </a:xfrm>
              <a:prstGeom prst="rect">
                <a:avLst/>
              </a:prstGeom>
              <a:blipFill>
                <a:blip r:embed="rId5"/>
                <a:stretch>
                  <a:fillRect b="-7937"/>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0B8AA9B6-083D-B537-10CC-2A6CA220D758}"/>
              </a:ext>
            </a:extLst>
          </p:cNvPr>
          <p:cNvSpPr txBox="1"/>
          <p:nvPr/>
        </p:nvSpPr>
        <p:spPr>
          <a:xfrm>
            <a:off x="5638800" y="2971800"/>
            <a:ext cx="65" cy="276999"/>
          </a:xfrm>
          <a:prstGeom prst="rect">
            <a:avLst/>
          </a:prstGeom>
          <a:noFill/>
        </p:spPr>
        <p:txBody>
          <a:bodyPr wrap="none" lIns="0" tIns="0" rIns="0" bIns="0" rtlCol="0">
            <a:spAutoFit/>
          </a:bodyPr>
          <a:lstStyle/>
          <a:p>
            <a:endParaRPr kumimoji="1" lang="zh-TW" altLang="en-US" dirty="0"/>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9C6A79AE-39DB-4AAA-C669-C96769864337}"/>
                  </a:ext>
                </a:extLst>
              </p:cNvPr>
              <p:cNvSpPr txBox="1"/>
              <p:nvPr/>
            </p:nvSpPr>
            <p:spPr>
              <a:xfrm>
                <a:off x="1785340" y="4801934"/>
                <a:ext cx="3042884" cy="7000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TW" sz="2400" i="1" smtClean="0">
                          <a:latin typeface="Cambria Math" panose="02040503050406030204" pitchFamily="18" charset="0"/>
                        </a:rPr>
                        <m:t>s</m:t>
                      </m:r>
                      <m:r>
                        <a:rPr kumimoji="1" lang="en-US" altLang="zh-TW" sz="2400" b="0" i="1" smtClean="0">
                          <a:latin typeface="Cambria Math" panose="02040503050406030204" pitchFamily="18" charset="0"/>
                        </a:rPr>
                        <m:t>𝑖𝑔𝑚𝑜𝑖𝑑</m:t>
                      </m:r>
                      <m:d>
                        <m:dPr>
                          <m:ctrlPr>
                            <a:rPr kumimoji="1" lang="en-US" altLang="zh-TW" sz="2400" b="0" i="1" smtClean="0">
                              <a:latin typeface="Cambria Math" panose="02040503050406030204" pitchFamily="18" charset="0"/>
                            </a:rPr>
                          </m:ctrlPr>
                        </m:dPr>
                        <m:e>
                          <m:r>
                            <a:rPr kumimoji="1" lang="en-US" altLang="zh-TW" sz="2400" b="0" i="1" smtClean="0">
                              <a:latin typeface="Cambria Math" panose="02040503050406030204" pitchFamily="18" charset="0"/>
                            </a:rPr>
                            <m:t>𝑥</m:t>
                          </m:r>
                        </m:e>
                      </m:d>
                      <m:r>
                        <a:rPr kumimoji="1" lang="en-US" altLang="zh-TW" sz="2400" b="0" i="1" smtClean="0">
                          <a:latin typeface="Cambria Math" panose="02040503050406030204" pitchFamily="18" charset="0"/>
                        </a:rPr>
                        <m:t>=</m:t>
                      </m:r>
                      <m:f>
                        <m:fPr>
                          <m:ctrlPr>
                            <a:rPr kumimoji="1" lang="en-US" altLang="zh-TW" sz="2400" b="0" i="1" smtClean="0">
                              <a:latin typeface="Cambria Math" panose="02040503050406030204" pitchFamily="18" charset="0"/>
                            </a:rPr>
                          </m:ctrlPr>
                        </m:fPr>
                        <m:num>
                          <m:r>
                            <a:rPr kumimoji="1" lang="en-US" altLang="zh-TW" sz="2400" b="0" i="1" smtClean="0">
                              <a:latin typeface="Cambria Math" panose="02040503050406030204" pitchFamily="18" charset="0"/>
                            </a:rPr>
                            <m:t>1</m:t>
                          </m:r>
                        </m:num>
                        <m:den>
                          <m:r>
                            <a:rPr kumimoji="1" lang="en-US" altLang="zh-TW" sz="2400" b="0" i="1" smtClean="0">
                              <a:latin typeface="Cambria Math" panose="02040503050406030204" pitchFamily="18" charset="0"/>
                            </a:rPr>
                            <m:t>1+</m:t>
                          </m:r>
                          <m:sSup>
                            <m:sSupPr>
                              <m:ctrlPr>
                                <a:rPr kumimoji="1" lang="en-US" altLang="zh-TW" sz="2400" b="0" i="1" smtClean="0">
                                  <a:latin typeface="Cambria Math" panose="02040503050406030204" pitchFamily="18" charset="0"/>
                                </a:rPr>
                              </m:ctrlPr>
                            </m:sSupPr>
                            <m:e>
                              <m:r>
                                <a:rPr kumimoji="1" lang="en-US" altLang="zh-TW" sz="2400" b="0" i="1" smtClean="0">
                                  <a:latin typeface="Cambria Math" panose="02040503050406030204" pitchFamily="18" charset="0"/>
                                </a:rPr>
                                <m:t>𝑒</m:t>
                              </m:r>
                            </m:e>
                            <m:sup>
                              <m:r>
                                <a:rPr kumimoji="1" lang="en-US" altLang="zh-TW" sz="2400" b="0" i="1" smtClean="0">
                                  <a:latin typeface="Cambria Math" panose="02040503050406030204" pitchFamily="18" charset="0"/>
                                </a:rPr>
                                <m:t>−</m:t>
                              </m:r>
                              <m:r>
                                <a:rPr kumimoji="1" lang="en-US" altLang="zh-TW" sz="2400" b="0" i="1" smtClean="0">
                                  <a:latin typeface="Cambria Math" panose="02040503050406030204" pitchFamily="18" charset="0"/>
                                </a:rPr>
                                <m:t>𝑥</m:t>
                              </m:r>
                            </m:sup>
                          </m:sSup>
                        </m:den>
                      </m:f>
                    </m:oMath>
                  </m:oMathPara>
                </a14:m>
                <a:endParaRPr kumimoji="1" lang="zh-TW" altLang="en-US" sz="2400" dirty="0"/>
              </a:p>
            </p:txBody>
          </p:sp>
        </mc:Choice>
        <mc:Fallback xmlns="">
          <p:sp>
            <p:nvSpPr>
              <p:cNvPr id="10" name="文字方塊 9">
                <a:extLst>
                  <a:ext uri="{FF2B5EF4-FFF2-40B4-BE49-F238E27FC236}">
                    <a16:creationId xmlns:a16="http://schemas.microsoft.com/office/drawing/2014/main" id="{9C6A79AE-39DB-4AAA-C669-C96769864337}"/>
                  </a:ext>
                </a:extLst>
              </p:cNvPr>
              <p:cNvSpPr txBox="1">
                <a:spLocks noRot="1" noChangeAspect="1" noMove="1" noResize="1" noEditPoints="1" noAdjustHandles="1" noChangeArrowheads="1" noChangeShapeType="1" noTextEdit="1"/>
              </p:cNvSpPr>
              <p:nvPr/>
            </p:nvSpPr>
            <p:spPr>
              <a:xfrm>
                <a:off x="1785340" y="4801934"/>
                <a:ext cx="3042884" cy="700063"/>
              </a:xfrm>
              <a:prstGeom prst="rect">
                <a:avLst/>
              </a:prstGeom>
              <a:blipFill>
                <a:blip r:embed="rId6"/>
                <a:stretch>
                  <a:fillRect l="-830" t="-1786" b="-1428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15996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769CCC-82D0-4FCA-9A35-3C2109A01F98}"/>
              </a:ext>
            </a:extLst>
          </p:cNvPr>
          <p:cNvSpPr>
            <a:spLocks noGrp="1"/>
          </p:cNvSpPr>
          <p:nvPr>
            <p:ph type="title"/>
          </p:nvPr>
        </p:nvSpPr>
        <p:spPr/>
        <p:txBody>
          <a:bodyPr/>
          <a:lstStyle/>
          <a:p>
            <a:r>
              <a:rPr lang="en-US" altLang="zh-TW" dirty="0"/>
              <a:t>Logistic regression</a:t>
            </a:r>
            <a:endParaRPr lang="zh-TW" altLang="en-US" dirty="0"/>
          </a:p>
        </p:txBody>
      </p:sp>
      <p:sp>
        <p:nvSpPr>
          <p:cNvPr id="3" name="內容版面配置區 2">
            <a:extLst>
              <a:ext uri="{FF2B5EF4-FFF2-40B4-BE49-F238E27FC236}">
                <a16:creationId xmlns:a16="http://schemas.microsoft.com/office/drawing/2014/main" id="{CE6B46E9-3A2E-4D11-960A-B2A373A1CE2B}"/>
              </a:ext>
            </a:extLst>
          </p:cNvPr>
          <p:cNvSpPr>
            <a:spLocks noGrp="1"/>
          </p:cNvSpPr>
          <p:nvPr>
            <p:ph idx="1"/>
          </p:nvPr>
        </p:nvSpPr>
        <p:spPr/>
        <p:txBody>
          <a:bodyPr/>
          <a:lstStyle/>
          <a:p>
            <a:r>
              <a:rPr lang="en-US" altLang="zh-TW" dirty="0"/>
              <a:t>Logistic Regression(</a:t>
            </a:r>
            <a:r>
              <a:rPr lang="zh-TW" altLang="en-US" dirty="0"/>
              <a:t>邏輯斯回歸</a:t>
            </a:r>
            <a:r>
              <a:rPr lang="en-US" altLang="zh-TW" dirty="0"/>
              <a:t>)</a:t>
            </a:r>
            <a:r>
              <a:rPr lang="zh-TW" altLang="en-US" dirty="0"/>
              <a:t> 是一個分類的模型</a:t>
            </a:r>
            <a:endParaRPr lang="en-US" altLang="zh-TW" dirty="0"/>
          </a:p>
          <a:p>
            <a:r>
              <a:rPr lang="en-US" altLang="zh-TW" dirty="0"/>
              <a:t>Logistic Regression</a:t>
            </a:r>
            <a:r>
              <a:rPr lang="zh-TW" altLang="en-US" dirty="0"/>
              <a:t>則是一個平滑的曲線</a:t>
            </a:r>
            <a:endParaRPr lang="en-US" altLang="zh-TW" dirty="0"/>
          </a:p>
          <a:p>
            <a:r>
              <a:rPr lang="zh-TW" altLang="en-US" dirty="0"/>
              <a:t>當</a:t>
            </a:r>
            <a:r>
              <a:rPr lang="en-US" altLang="zh-TW" dirty="0"/>
              <a:t>w0*x0+w1*x1+…+</a:t>
            </a:r>
            <a:r>
              <a:rPr lang="en-US" altLang="zh-TW" dirty="0" err="1"/>
              <a:t>wn</a:t>
            </a:r>
            <a:r>
              <a:rPr lang="en-US" altLang="zh-TW" dirty="0"/>
              <a:t>*</a:t>
            </a:r>
            <a:r>
              <a:rPr lang="en-US" altLang="zh-TW" dirty="0" err="1"/>
              <a:t>xn</a:t>
            </a:r>
            <a:r>
              <a:rPr lang="zh-TW" altLang="en-US" dirty="0"/>
              <a:t>越大時判斷成</a:t>
            </a:r>
            <a:r>
              <a:rPr lang="en-US" altLang="zh-TW" dirty="0"/>
              <a:t>A</a:t>
            </a:r>
            <a:r>
              <a:rPr lang="zh-TW" altLang="en-US" dirty="0"/>
              <a:t>類的機率越大</a:t>
            </a:r>
            <a:endParaRPr lang="en-US" altLang="zh-TW" dirty="0"/>
          </a:p>
          <a:p>
            <a:r>
              <a:rPr lang="zh-TW" altLang="en-US" dirty="0"/>
              <a:t>越小時判斷成</a:t>
            </a:r>
            <a:r>
              <a:rPr lang="en-US" altLang="zh-TW" dirty="0"/>
              <a:t>A</a:t>
            </a:r>
            <a:r>
              <a:rPr lang="zh-TW" altLang="en-US" dirty="0"/>
              <a:t>類的機率越小。</a:t>
            </a:r>
            <a:endParaRPr lang="en-US" altLang="zh-TW" dirty="0"/>
          </a:p>
          <a:p>
            <a:r>
              <a:rPr lang="zh-TW" altLang="en-US" dirty="0"/>
              <a:t>由於是二元分類，如果判斷成</a:t>
            </a:r>
            <a:r>
              <a:rPr lang="en-US" altLang="zh-TW" dirty="0"/>
              <a:t>A</a:t>
            </a:r>
            <a:r>
              <a:rPr lang="zh-TW" altLang="en-US" dirty="0"/>
              <a:t>類的機率越小，</a:t>
            </a:r>
            <a:r>
              <a:rPr lang="en-US" altLang="zh-TW" dirty="0"/>
              <a:t>B</a:t>
            </a:r>
            <a:r>
              <a:rPr lang="zh-TW" altLang="en-US" dirty="0"/>
              <a:t>類的機率越大</a:t>
            </a:r>
            <a:r>
              <a:rPr lang="en-US" altLang="zh-TW" dirty="0"/>
              <a:t>(</a:t>
            </a:r>
            <a:r>
              <a:rPr lang="zh-TW" altLang="en-US" dirty="0"/>
              <a:t>判斷成</a:t>
            </a:r>
            <a:r>
              <a:rPr lang="en-US" altLang="zh-TW" dirty="0"/>
              <a:t>B</a:t>
            </a:r>
            <a:r>
              <a:rPr lang="zh-TW" altLang="en-US" dirty="0"/>
              <a:t>類的機率 </a:t>
            </a:r>
            <a:r>
              <a:rPr lang="en-US" altLang="zh-TW" dirty="0"/>
              <a:t>= 1 - </a:t>
            </a:r>
            <a:r>
              <a:rPr lang="zh-TW" altLang="en-US" dirty="0"/>
              <a:t>判斷成</a:t>
            </a:r>
            <a:r>
              <a:rPr lang="en-US" altLang="zh-TW" dirty="0"/>
              <a:t>A</a:t>
            </a:r>
            <a:r>
              <a:rPr lang="zh-TW" altLang="en-US" dirty="0"/>
              <a:t>的機率</a:t>
            </a:r>
            <a:r>
              <a:rPr lang="en-US" altLang="zh-TW" dirty="0"/>
              <a:t>)</a:t>
            </a:r>
            <a:r>
              <a:rPr lang="zh-TW" altLang="en-US" dirty="0"/>
              <a:t>。</a:t>
            </a:r>
            <a:endParaRPr lang="en-US" altLang="zh-TW" dirty="0"/>
          </a:p>
          <a:p>
            <a:r>
              <a:rPr lang="zh-TW" altLang="en-US" dirty="0"/>
              <a:t>預測的部分可以是</a:t>
            </a:r>
          </a:p>
          <a:p>
            <a:endParaRPr lang="zh-TW" altLang="en-US" dirty="0"/>
          </a:p>
        </p:txBody>
      </p:sp>
      <p:pic>
        <p:nvPicPr>
          <p:cNvPr id="4" name="圖片 3">
            <a:extLst>
              <a:ext uri="{FF2B5EF4-FFF2-40B4-BE49-F238E27FC236}">
                <a16:creationId xmlns:a16="http://schemas.microsoft.com/office/drawing/2014/main" id="{364EACAD-50F7-3E41-AB27-55BF0713A2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9267" y="4720207"/>
            <a:ext cx="3846967" cy="1456756"/>
          </a:xfrm>
          <a:prstGeom prst="rect">
            <a:avLst/>
          </a:prstGeom>
        </p:spPr>
      </p:pic>
    </p:spTree>
    <p:extLst>
      <p:ext uri="{BB962C8B-B14F-4D97-AF65-F5344CB8AC3E}">
        <p14:creationId xmlns:p14="http://schemas.microsoft.com/office/powerpoint/2010/main" val="3269785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BD5C7E-0B54-4E46-AD12-1D602BA5CFD6}"/>
              </a:ext>
            </a:extLst>
          </p:cNvPr>
          <p:cNvSpPr>
            <a:spLocks noGrp="1"/>
          </p:cNvSpPr>
          <p:nvPr>
            <p:ph type="title"/>
          </p:nvPr>
        </p:nvSpPr>
        <p:spPr/>
        <p:txBody>
          <a:bodyPr/>
          <a:lstStyle/>
          <a:p>
            <a:r>
              <a:rPr kumimoji="1" lang="zh-TW" altLang="en-US" dirty="0"/>
              <a:t>分類問題</a:t>
            </a:r>
          </a:p>
        </p:txBody>
      </p:sp>
      <p:sp>
        <p:nvSpPr>
          <p:cNvPr id="3" name="內容版面配置區 2">
            <a:extLst>
              <a:ext uri="{FF2B5EF4-FFF2-40B4-BE49-F238E27FC236}">
                <a16:creationId xmlns:a16="http://schemas.microsoft.com/office/drawing/2014/main" id="{61329D13-9854-A341-8AAC-2A6E6B47CCA1}"/>
              </a:ext>
            </a:extLst>
          </p:cNvPr>
          <p:cNvSpPr>
            <a:spLocks noGrp="1"/>
          </p:cNvSpPr>
          <p:nvPr>
            <p:ph idx="1"/>
          </p:nvPr>
        </p:nvSpPr>
        <p:spPr/>
        <p:txBody>
          <a:bodyPr/>
          <a:lstStyle/>
          <a:p>
            <a:r>
              <a:rPr lang="zh-TW" altLang="en-US" dirty="0"/>
              <a:t>在分類的狀況下，通常是希望錯誤率越小越好，所以用</a:t>
            </a:r>
            <a:r>
              <a:rPr lang="zh-TW" altLang="en-US" u="sng" dirty="0"/>
              <a:t>錯誤率</a:t>
            </a:r>
            <a:r>
              <a:rPr lang="zh-TW" altLang="en-US" dirty="0"/>
              <a:t>當損失函數是一個選項，但實際上並不會直接拿分類錯誤率當作損失函數進行最佳化</a:t>
            </a:r>
            <a:endParaRPr kumimoji="1" lang="zh-TW" altLang="en-US" dirty="0"/>
          </a:p>
        </p:txBody>
      </p:sp>
      <p:pic>
        <p:nvPicPr>
          <p:cNvPr id="1026" name="Picture 2">
            <a:extLst>
              <a:ext uri="{FF2B5EF4-FFF2-40B4-BE49-F238E27FC236}">
                <a16:creationId xmlns:a16="http://schemas.microsoft.com/office/drawing/2014/main" id="{4188F6C2-89A6-C141-A856-3B0F52EB63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163529"/>
            <a:ext cx="9448800" cy="2272388"/>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1C491A24-F58F-554A-87D1-C1D0DC45F981}"/>
              </a:ext>
            </a:extLst>
          </p:cNvPr>
          <p:cNvSpPr txBox="1"/>
          <p:nvPr/>
        </p:nvSpPr>
        <p:spPr>
          <a:xfrm>
            <a:off x="2283542" y="5570854"/>
            <a:ext cx="7624916" cy="369332"/>
          </a:xfrm>
          <a:prstGeom prst="rect">
            <a:avLst/>
          </a:prstGeom>
          <a:noFill/>
        </p:spPr>
        <p:txBody>
          <a:bodyPr wrap="square" rtlCol="0">
            <a:spAutoFit/>
          </a:bodyPr>
          <a:lstStyle/>
          <a:p>
            <a:r>
              <a:rPr kumimoji="1" lang="zh-TW" altLang="en-US" dirty="0"/>
              <a:t>錯誤率是一樣的，可是你會覺得那一個模型才是比較好的那個？</a:t>
            </a:r>
          </a:p>
        </p:txBody>
      </p:sp>
      <p:sp>
        <p:nvSpPr>
          <p:cNvPr id="5" name="矩形 4">
            <a:extLst>
              <a:ext uri="{FF2B5EF4-FFF2-40B4-BE49-F238E27FC236}">
                <a16:creationId xmlns:a16="http://schemas.microsoft.com/office/drawing/2014/main" id="{FD01536F-EDA1-C74F-8D30-44E17E4D632C}"/>
              </a:ext>
            </a:extLst>
          </p:cNvPr>
          <p:cNvSpPr/>
          <p:nvPr/>
        </p:nvSpPr>
        <p:spPr>
          <a:xfrm>
            <a:off x="511277" y="6329372"/>
            <a:ext cx="8662219" cy="369332"/>
          </a:xfrm>
          <a:prstGeom prst="rect">
            <a:avLst/>
          </a:prstGeom>
        </p:spPr>
        <p:txBody>
          <a:bodyPr wrap="square">
            <a:spAutoFit/>
          </a:bodyPr>
          <a:lstStyle/>
          <a:p>
            <a:r>
              <a:rPr lang="zh-TW" altLang="en-US" dirty="0">
                <a:hlinkClick r:id="rId4"/>
              </a:rPr>
              <a:t>機器</a:t>
            </a:r>
            <a:r>
              <a:rPr lang="en-US" altLang="zh-TW" dirty="0">
                <a:hlinkClick r:id="rId4"/>
              </a:rPr>
              <a:t>/</a:t>
            </a:r>
            <a:r>
              <a:rPr lang="zh-TW" altLang="en-US" dirty="0">
                <a:hlinkClick r:id="rId4"/>
              </a:rPr>
              <a:t>深度學習</a:t>
            </a:r>
            <a:r>
              <a:rPr lang="en-US" altLang="zh-TW" dirty="0">
                <a:hlinkClick r:id="rId4"/>
              </a:rPr>
              <a:t>: </a:t>
            </a:r>
            <a:r>
              <a:rPr lang="zh-TW" altLang="en-US" dirty="0">
                <a:hlinkClick r:id="rId4"/>
              </a:rPr>
              <a:t>基礎介紹</a:t>
            </a:r>
            <a:r>
              <a:rPr lang="en-US" altLang="zh-TW" dirty="0">
                <a:hlinkClick r:id="rId4"/>
              </a:rPr>
              <a:t>-</a:t>
            </a:r>
            <a:r>
              <a:rPr lang="zh-TW" altLang="en-US" dirty="0">
                <a:hlinkClick r:id="rId4"/>
              </a:rPr>
              <a:t>損失函數</a:t>
            </a:r>
            <a:r>
              <a:rPr lang="en-US" altLang="zh-TW" dirty="0">
                <a:hlinkClick r:id="rId4"/>
              </a:rPr>
              <a:t>(</a:t>
            </a:r>
            <a:r>
              <a:rPr lang="en" altLang="zh-TW" dirty="0">
                <a:hlinkClick r:id="rId4"/>
              </a:rPr>
              <a:t>loss function) | by Tommy Huang | Medium</a:t>
            </a:r>
            <a:endParaRPr lang="zh-TW" altLang="en-US" dirty="0"/>
          </a:p>
        </p:txBody>
      </p:sp>
    </p:spTree>
    <p:extLst>
      <p:ext uri="{BB962C8B-B14F-4D97-AF65-F5344CB8AC3E}">
        <p14:creationId xmlns:p14="http://schemas.microsoft.com/office/powerpoint/2010/main" val="38356149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14578A-BBCC-6C4A-A3DE-4286E246ECF1}"/>
              </a:ext>
            </a:extLst>
          </p:cNvPr>
          <p:cNvSpPr>
            <a:spLocks noGrp="1"/>
          </p:cNvSpPr>
          <p:nvPr>
            <p:ph type="title"/>
          </p:nvPr>
        </p:nvSpPr>
        <p:spPr/>
        <p:txBody>
          <a:bodyPr/>
          <a:lstStyle/>
          <a:p>
            <a:r>
              <a:rPr kumimoji="1" lang="en-US" altLang="zh-TW" dirty="0"/>
              <a:t>Entropy</a:t>
            </a:r>
            <a:r>
              <a:rPr kumimoji="1" lang="zh-TW" altLang="en-US" dirty="0"/>
              <a:t>公式</a:t>
            </a:r>
          </a:p>
        </p:txBody>
      </p:sp>
      <p:sp>
        <p:nvSpPr>
          <p:cNvPr id="8" name="內容版面配置區 7">
            <a:extLst>
              <a:ext uri="{FF2B5EF4-FFF2-40B4-BE49-F238E27FC236}">
                <a16:creationId xmlns:a16="http://schemas.microsoft.com/office/drawing/2014/main" id="{5B86809F-30B7-1D4A-BAD7-3A3424A2043F}"/>
              </a:ext>
            </a:extLst>
          </p:cNvPr>
          <p:cNvSpPr>
            <a:spLocks noGrp="1"/>
          </p:cNvSpPr>
          <p:nvPr>
            <p:ph idx="1"/>
          </p:nvPr>
        </p:nvSpPr>
        <p:spPr/>
        <p:txBody>
          <a:bodyPr>
            <a:normAutofit/>
          </a:bodyPr>
          <a:lstStyle/>
          <a:p>
            <a:pPr>
              <a:lnSpc>
                <a:spcPct val="100000"/>
              </a:lnSpc>
            </a:pPr>
            <a:r>
              <a:rPr lang="en-US" altLang="zh-TW" sz="3200" dirty="0"/>
              <a:t>Information gain</a:t>
            </a:r>
          </a:p>
          <a:p>
            <a:pPr>
              <a:lnSpc>
                <a:spcPct val="100000"/>
              </a:lnSpc>
            </a:pPr>
            <a:r>
              <a:rPr lang="zh-TW" altLang="en-US" sz="3200" dirty="0"/>
              <a:t>假設</a:t>
            </a:r>
            <a:r>
              <a:rPr lang="en" altLang="zh-TW" sz="3200" dirty="0"/>
              <a:t>A</a:t>
            </a:r>
            <a:r>
              <a:rPr lang="zh-TW" altLang="en-US" sz="3200" dirty="0"/>
              <a:t>考試都</a:t>
            </a:r>
            <a:r>
              <a:rPr lang="en-US" altLang="zh-TW" sz="3200" dirty="0"/>
              <a:t>50</a:t>
            </a:r>
            <a:r>
              <a:rPr lang="zh-TW" altLang="en-US" sz="3200" dirty="0"/>
              <a:t>分，</a:t>
            </a:r>
            <a:r>
              <a:rPr lang="en" altLang="zh-TW" sz="3200" dirty="0"/>
              <a:t>B</a:t>
            </a:r>
            <a:r>
              <a:rPr lang="zh-TW" altLang="en-US" sz="3200" dirty="0"/>
              <a:t>很聰明考試都滿分。</a:t>
            </a:r>
            <a:endParaRPr lang="en-US" altLang="zh-TW" sz="3200" dirty="0"/>
          </a:p>
          <a:p>
            <a:pPr>
              <a:lnSpc>
                <a:spcPct val="100000"/>
              </a:lnSpc>
            </a:pPr>
            <a:r>
              <a:rPr lang="zh-TW" altLang="en-US" sz="3200" dirty="0"/>
              <a:t>這時候可以假設</a:t>
            </a:r>
            <a:endParaRPr lang="en-US" altLang="zh-TW" sz="3200" dirty="0"/>
          </a:p>
          <a:p>
            <a:pPr lvl="1">
              <a:lnSpc>
                <a:spcPct val="100000"/>
              </a:lnSpc>
            </a:pPr>
            <a:r>
              <a:rPr lang="en" altLang="zh-TW" sz="2800" dirty="0"/>
              <a:t>A</a:t>
            </a:r>
            <a:r>
              <a:rPr lang="zh-TW" altLang="en-US" sz="2800" dirty="0"/>
              <a:t>考試及格的機率是</a:t>
            </a:r>
            <a:r>
              <a:rPr lang="en" altLang="zh-TW" sz="2800" i="1" dirty="0"/>
              <a:t>p</a:t>
            </a:r>
            <a:r>
              <a:rPr lang="en" altLang="zh-TW" sz="2800" dirty="0"/>
              <a:t>(</a:t>
            </a:r>
            <a:r>
              <a:rPr lang="en" altLang="zh-TW" sz="2800" i="1" dirty="0" err="1"/>
              <a:t>xA</a:t>
            </a:r>
            <a:r>
              <a:rPr lang="en" altLang="zh-TW" sz="2800" dirty="0"/>
              <a:t>)=0.4</a:t>
            </a:r>
            <a:endParaRPr lang="en-US" altLang="zh-TW" sz="2800" dirty="0"/>
          </a:p>
          <a:p>
            <a:pPr lvl="1">
              <a:lnSpc>
                <a:spcPct val="100000"/>
              </a:lnSpc>
            </a:pPr>
            <a:r>
              <a:rPr lang="en" altLang="zh-TW" sz="2800" dirty="0"/>
              <a:t>B</a:t>
            </a:r>
            <a:r>
              <a:rPr lang="zh-TW" altLang="en-US" sz="2800" dirty="0"/>
              <a:t>考試及格的機率是</a:t>
            </a:r>
            <a:r>
              <a:rPr lang="en" altLang="zh-TW" sz="2800" i="1" dirty="0"/>
              <a:t>p</a:t>
            </a:r>
            <a:r>
              <a:rPr lang="en" altLang="zh-TW" sz="2800" dirty="0"/>
              <a:t>(</a:t>
            </a:r>
            <a:r>
              <a:rPr lang="en" altLang="zh-TW" sz="2800" i="1" dirty="0" err="1"/>
              <a:t>xB</a:t>
            </a:r>
            <a:r>
              <a:rPr lang="en" altLang="zh-TW" sz="2800" dirty="0"/>
              <a:t>)=0.99</a:t>
            </a:r>
            <a:r>
              <a:rPr lang="zh-TW" altLang="en" sz="2800" dirty="0"/>
              <a:t>。</a:t>
            </a:r>
            <a:br>
              <a:rPr lang="zh-TW" altLang="en" sz="2800" dirty="0"/>
            </a:br>
            <a:r>
              <a:rPr lang="zh-TW" altLang="en-US" sz="2800" dirty="0"/>
              <a:t>這時候</a:t>
            </a:r>
            <a:r>
              <a:rPr lang="en" altLang="zh-TW" sz="2800" i="1" dirty="0"/>
              <a:t>I</a:t>
            </a:r>
            <a:r>
              <a:rPr lang="en" altLang="zh-TW" sz="2800" dirty="0"/>
              <a:t>(</a:t>
            </a:r>
            <a:r>
              <a:rPr lang="en" altLang="zh-TW" sz="2800" i="1" dirty="0" err="1"/>
              <a:t>xA</a:t>
            </a:r>
            <a:r>
              <a:rPr lang="en" altLang="zh-TW" sz="2800" dirty="0"/>
              <a:t>)=-log(0.4)= 1.322</a:t>
            </a:r>
            <a:r>
              <a:rPr lang="zh-TW" altLang="en" sz="2800" dirty="0"/>
              <a:t>，</a:t>
            </a:r>
            <a:r>
              <a:rPr lang="en" altLang="zh-TW" sz="2800" i="1" dirty="0"/>
              <a:t>I</a:t>
            </a:r>
            <a:r>
              <a:rPr lang="en" altLang="zh-TW" sz="2800" dirty="0"/>
              <a:t>(</a:t>
            </a:r>
            <a:r>
              <a:rPr lang="en" altLang="zh-TW" sz="2800" i="1" dirty="0" err="1"/>
              <a:t>xB</a:t>
            </a:r>
            <a:r>
              <a:rPr lang="en" altLang="zh-TW" sz="2800" dirty="0"/>
              <a:t>)=-log(0.99)= 0.014</a:t>
            </a:r>
          </a:p>
        </p:txBody>
      </p:sp>
      <p:pic>
        <p:nvPicPr>
          <p:cNvPr id="2050" name="Picture 2">
            <a:extLst>
              <a:ext uri="{FF2B5EF4-FFF2-40B4-BE49-F238E27FC236}">
                <a16:creationId xmlns:a16="http://schemas.microsoft.com/office/drawing/2014/main" id="{501AEDE6-F967-0E42-8EBA-13E0FE67C5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7086" y="1825625"/>
            <a:ext cx="2754876" cy="558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2116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06A83-147E-A745-BF82-7093F0AC9329}"/>
              </a:ext>
            </a:extLst>
          </p:cNvPr>
          <p:cNvSpPr>
            <a:spLocks noGrp="1"/>
          </p:cNvSpPr>
          <p:nvPr>
            <p:ph type="title"/>
          </p:nvPr>
        </p:nvSpPr>
        <p:spPr/>
        <p:txBody>
          <a:bodyPr/>
          <a:lstStyle/>
          <a:p>
            <a:r>
              <a:rPr kumimoji="1" lang="en-US" altLang="zh-TW" dirty="0"/>
              <a:t>Entropy</a:t>
            </a:r>
            <a:r>
              <a:rPr kumimoji="1" lang="zh-TW" altLang="en-US" dirty="0"/>
              <a:t>公式</a:t>
            </a:r>
          </a:p>
        </p:txBody>
      </p:sp>
      <p:sp>
        <p:nvSpPr>
          <p:cNvPr id="3" name="內容版面配置區 2">
            <a:extLst>
              <a:ext uri="{FF2B5EF4-FFF2-40B4-BE49-F238E27FC236}">
                <a16:creationId xmlns:a16="http://schemas.microsoft.com/office/drawing/2014/main" id="{27344E56-43D3-7C4D-8B37-F1624543D97B}"/>
              </a:ext>
            </a:extLst>
          </p:cNvPr>
          <p:cNvSpPr>
            <a:spLocks noGrp="1"/>
          </p:cNvSpPr>
          <p:nvPr>
            <p:ph idx="1"/>
          </p:nvPr>
        </p:nvSpPr>
        <p:spPr/>
        <p:txBody>
          <a:bodyPr/>
          <a:lstStyle/>
          <a:p>
            <a:pPr>
              <a:lnSpc>
                <a:spcPct val="100000"/>
              </a:lnSpc>
            </a:pPr>
            <a:r>
              <a:rPr lang="en" altLang="zh-TW" dirty="0"/>
              <a:t>A</a:t>
            </a:r>
            <a:r>
              <a:rPr lang="zh-TW" altLang="en-US" dirty="0"/>
              <a:t>的訊息量比</a:t>
            </a:r>
            <a:r>
              <a:rPr lang="en" altLang="zh-TW" dirty="0"/>
              <a:t>B</a:t>
            </a:r>
            <a:r>
              <a:rPr lang="zh-TW" altLang="en-US" dirty="0"/>
              <a:t>還大</a:t>
            </a:r>
            <a:endParaRPr lang="en-US" altLang="zh-TW" dirty="0"/>
          </a:p>
          <a:p>
            <a:pPr lvl="1">
              <a:lnSpc>
                <a:spcPct val="100000"/>
              </a:lnSpc>
            </a:pPr>
            <a:r>
              <a:rPr lang="en" altLang="zh-TW" dirty="0"/>
              <a:t>A</a:t>
            </a:r>
            <a:r>
              <a:rPr lang="zh-TW" altLang="en-US" dirty="0"/>
              <a:t>及格的機率很低，如果</a:t>
            </a:r>
            <a:r>
              <a:rPr lang="en" altLang="zh-TW" dirty="0"/>
              <a:t>A</a:t>
            </a:r>
            <a:r>
              <a:rPr lang="zh-TW" altLang="en-US" dirty="0"/>
              <a:t>忽然及格了，會引起大家的注意，所以相對的訊息量較大，但</a:t>
            </a:r>
            <a:r>
              <a:rPr lang="en" altLang="zh-TW" dirty="0"/>
              <a:t>B</a:t>
            </a:r>
            <a:r>
              <a:rPr lang="zh-TW" altLang="en-US" dirty="0"/>
              <a:t>因為幾乎都滿分，大家對</a:t>
            </a:r>
            <a:r>
              <a:rPr lang="en" altLang="zh-TW" dirty="0"/>
              <a:t>B</a:t>
            </a:r>
            <a:r>
              <a:rPr lang="zh-TW" altLang="en-US" dirty="0"/>
              <a:t>及格習以為常，</a:t>
            </a:r>
            <a:r>
              <a:rPr lang="en" altLang="zh-TW" dirty="0"/>
              <a:t>B</a:t>
            </a:r>
            <a:r>
              <a:rPr lang="zh-TW" altLang="en-US" dirty="0"/>
              <a:t>考及格大家都不是很在意，所以訊息量較小。</a:t>
            </a:r>
          </a:p>
          <a:p>
            <a:pPr>
              <a:lnSpc>
                <a:spcPct val="100000"/>
              </a:lnSpc>
            </a:pPr>
            <a:r>
              <a:rPr lang="zh-TW" altLang="en-US" dirty="0"/>
              <a:t>訊息量在什麼時候會比較大</a:t>
            </a:r>
            <a:r>
              <a:rPr lang="en-US" altLang="zh-TW" dirty="0"/>
              <a:t>?</a:t>
            </a:r>
          </a:p>
          <a:p>
            <a:pPr lvl="1">
              <a:lnSpc>
                <a:spcPct val="100000"/>
              </a:lnSpc>
            </a:pPr>
            <a:r>
              <a:rPr lang="zh-TW" altLang="en-US" dirty="0"/>
              <a:t>機率越隨機</a:t>
            </a:r>
            <a:r>
              <a:rPr lang="en-US" altLang="zh-TW" dirty="0"/>
              <a:t>(</a:t>
            </a:r>
            <a:r>
              <a:rPr lang="zh-TW" altLang="en-US" dirty="0"/>
              <a:t>可能一下成績高一下成績低</a:t>
            </a:r>
            <a:r>
              <a:rPr lang="en-US" altLang="zh-TW" dirty="0"/>
              <a:t>)</a:t>
            </a:r>
            <a:r>
              <a:rPr lang="zh-TW" altLang="en-US" dirty="0"/>
              <a:t>的情況，訊息量比較大。</a:t>
            </a:r>
          </a:p>
        </p:txBody>
      </p:sp>
    </p:spTree>
    <p:extLst>
      <p:ext uri="{BB962C8B-B14F-4D97-AF65-F5344CB8AC3E}">
        <p14:creationId xmlns:p14="http://schemas.microsoft.com/office/powerpoint/2010/main" val="1398746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3D095AE3-4C40-DA48-A40A-0948A9A271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5309" y="2231359"/>
            <a:ext cx="3098800" cy="952500"/>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35D4CC9A-5779-6F4D-9E04-72C1C3628FEA}"/>
              </a:ext>
            </a:extLst>
          </p:cNvPr>
          <p:cNvSpPr>
            <a:spLocks noGrp="1"/>
          </p:cNvSpPr>
          <p:nvPr>
            <p:ph type="title"/>
          </p:nvPr>
        </p:nvSpPr>
        <p:spPr/>
        <p:txBody>
          <a:bodyPr/>
          <a:lstStyle/>
          <a:p>
            <a:r>
              <a:rPr kumimoji="1" lang="en-US" altLang="zh-TW" dirty="0"/>
              <a:t>Entropy</a:t>
            </a:r>
            <a:r>
              <a:rPr kumimoji="1" lang="zh-TW" altLang="en-US" dirty="0"/>
              <a:t>公式</a:t>
            </a:r>
          </a:p>
        </p:txBody>
      </p:sp>
      <p:sp>
        <p:nvSpPr>
          <p:cNvPr id="3" name="內容版面配置區 2">
            <a:extLst>
              <a:ext uri="{FF2B5EF4-FFF2-40B4-BE49-F238E27FC236}">
                <a16:creationId xmlns:a16="http://schemas.microsoft.com/office/drawing/2014/main" id="{98F196E2-0A2D-5F4F-A74C-2E860BAE5379}"/>
              </a:ext>
            </a:extLst>
          </p:cNvPr>
          <p:cNvSpPr>
            <a:spLocks noGrp="1"/>
          </p:cNvSpPr>
          <p:nvPr>
            <p:ph idx="1"/>
          </p:nvPr>
        </p:nvSpPr>
        <p:spPr>
          <a:xfrm>
            <a:off x="838200" y="1563329"/>
            <a:ext cx="10515600" cy="4613634"/>
          </a:xfrm>
        </p:spPr>
        <p:txBody>
          <a:bodyPr>
            <a:normAutofit fontScale="85000" lnSpcReduction="20000"/>
          </a:bodyPr>
          <a:lstStyle/>
          <a:p>
            <a:pPr>
              <a:lnSpc>
                <a:spcPct val="110000"/>
              </a:lnSpc>
            </a:pPr>
            <a:r>
              <a:rPr lang="en" altLang="zh-TW" dirty="0"/>
              <a:t>Entropy</a:t>
            </a:r>
            <a:r>
              <a:rPr lang="zh-TW" altLang="en-US" dirty="0"/>
              <a:t>是接收的所有訊息中所包含的資訊的平均量，也可以解釋</a:t>
            </a:r>
            <a:r>
              <a:rPr lang="en" altLang="zh-TW" dirty="0"/>
              <a:t>entropy</a:t>
            </a:r>
            <a:r>
              <a:rPr lang="zh-TW" altLang="en-US" dirty="0"/>
              <a:t>是看資料的亂度或是資料的不確定性</a:t>
            </a:r>
            <a:endParaRPr lang="en-US" altLang="zh-TW" dirty="0"/>
          </a:p>
          <a:p>
            <a:pPr>
              <a:lnSpc>
                <a:spcPct val="110000"/>
              </a:lnSpc>
            </a:pPr>
            <a:endParaRPr kumimoji="1" lang="en-US" altLang="zh-TW" dirty="0"/>
          </a:p>
          <a:p>
            <a:pPr>
              <a:lnSpc>
                <a:spcPct val="110000"/>
              </a:lnSpc>
            </a:pPr>
            <a:endParaRPr kumimoji="1" lang="en-US" altLang="zh-TW" dirty="0"/>
          </a:p>
          <a:p>
            <a:pPr>
              <a:lnSpc>
                <a:spcPct val="110000"/>
              </a:lnSpc>
            </a:pPr>
            <a:r>
              <a:rPr lang="zh-TW" altLang="en-US" dirty="0"/>
              <a:t>所有的事件只有考試及格和不及格兩種狀況</a:t>
            </a:r>
          </a:p>
          <a:p>
            <a:pPr>
              <a:lnSpc>
                <a:spcPct val="110000"/>
              </a:lnSpc>
            </a:pPr>
            <a:r>
              <a:rPr lang="en" altLang="zh-TW" dirty="0"/>
              <a:t>A</a:t>
            </a:r>
            <a:r>
              <a:rPr lang="zh-TW" altLang="en-US" dirty="0"/>
              <a:t>考試及格的機率是</a:t>
            </a:r>
            <a:r>
              <a:rPr lang="en" altLang="zh-TW" i="1" dirty="0"/>
              <a:t>p</a:t>
            </a:r>
            <a:r>
              <a:rPr lang="en" altLang="zh-TW" dirty="0"/>
              <a:t>(</a:t>
            </a:r>
            <a:r>
              <a:rPr lang="en" altLang="zh-TW" i="1" dirty="0" err="1"/>
              <a:t>xA</a:t>
            </a:r>
            <a:r>
              <a:rPr lang="en" altLang="zh-TW" i="1" dirty="0"/>
              <a:t>=</a:t>
            </a:r>
            <a:r>
              <a:rPr lang="zh-TW" altLang="en-US" dirty="0"/>
              <a:t>及格</a:t>
            </a:r>
            <a:r>
              <a:rPr lang="en-US" altLang="zh-TW" dirty="0"/>
              <a:t>)=0.4</a:t>
            </a:r>
            <a:r>
              <a:rPr lang="zh-TW" altLang="en-US" dirty="0"/>
              <a:t>，所以不及格機率是</a:t>
            </a:r>
            <a:r>
              <a:rPr lang="en" altLang="zh-TW" i="1" dirty="0"/>
              <a:t>p</a:t>
            </a:r>
            <a:r>
              <a:rPr lang="en" altLang="zh-TW" dirty="0"/>
              <a:t>(</a:t>
            </a:r>
            <a:r>
              <a:rPr lang="en" altLang="zh-TW" i="1" dirty="0" err="1"/>
              <a:t>xA</a:t>
            </a:r>
            <a:r>
              <a:rPr lang="en" altLang="zh-TW" i="1" dirty="0"/>
              <a:t>=</a:t>
            </a:r>
            <a:r>
              <a:rPr lang="zh-TW" altLang="en-US" dirty="0"/>
              <a:t>不及格</a:t>
            </a:r>
            <a:r>
              <a:rPr lang="en-US" altLang="zh-TW" dirty="0"/>
              <a:t>)=1–0.4=0.6</a:t>
            </a:r>
            <a:br>
              <a:rPr lang="en-US" altLang="zh-TW" dirty="0"/>
            </a:br>
            <a:r>
              <a:rPr lang="en" altLang="zh-TW" dirty="0"/>
              <a:t>Entropy: H(A)=-0.4log(0.4)-0.6 log(0.6)= 0.971</a:t>
            </a:r>
          </a:p>
          <a:p>
            <a:pPr>
              <a:lnSpc>
                <a:spcPct val="110000"/>
              </a:lnSpc>
            </a:pPr>
            <a:r>
              <a:rPr lang="en" altLang="zh-TW" dirty="0"/>
              <a:t>B</a:t>
            </a:r>
            <a:r>
              <a:rPr lang="zh-TW" altLang="en-US" dirty="0"/>
              <a:t>考試及格的機率是</a:t>
            </a:r>
            <a:r>
              <a:rPr lang="en" altLang="zh-TW" i="1" dirty="0"/>
              <a:t>p</a:t>
            </a:r>
            <a:r>
              <a:rPr lang="en" altLang="zh-TW" dirty="0"/>
              <a:t>(</a:t>
            </a:r>
            <a:r>
              <a:rPr lang="en" altLang="zh-TW" i="1" dirty="0" err="1"/>
              <a:t>xB</a:t>
            </a:r>
            <a:r>
              <a:rPr lang="en" altLang="zh-TW" i="1" dirty="0"/>
              <a:t>=</a:t>
            </a:r>
            <a:r>
              <a:rPr lang="zh-TW" altLang="en-US" dirty="0"/>
              <a:t>及格</a:t>
            </a:r>
            <a:r>
              <a:rPr lang="en-US" altLang="zh-TW" dirty="0"/>
              <a:t>)=0.99</a:t>
            </a:r>
            <a:r>
              <a:rPr lang="zh-TW" altLang="en-US" dirty="0"/>
              <a:t>，所以不及格機率是</a:t>
            </a:r>
            <a:r>
              <a:rPr lang="en" altLang="zh-TW" i="1" dirty="0"/>
              <a:t>p</a:t>
            </a:r>
            <a:r>
              <a:rPr lang="en" altLang="zh-TW" dirty="0"/>
              <a:t>(</a:t>
            </a:r>
            <a:r>
              <a:rPr lang="en" altLang="zh-TW" i="1" dirty="0" err="1"/>
              <a:t>xB</a:t>
            </a:r>
            <a:r>
              <a:rPr lang="en" altLang="zh-TW" i="1" dirty="0"/>
              <a:t>=</a:t>
            </a:r>
            <a:r>
              <a:rPr lang="zh-TW" altLang="en-US" dirty="0"/>
              <a:t>不及格</a:t>
            </a:r>
            <a:r>
              <a:rPr lang="en-US" altLang="zh-TW" dirty="0"/>
              <a:t>)=1–0.99=0.01</a:t>
            </a:r>
            <a:br>
              <a:rPr lang="en-US" altLang="zh-TW" dirty="0"/>
            </a:br>
            <a:r>
              <a:rPr lang="en" altLang="zh-TW" dirty="0"/>
              <a:t>Entropy: H(B)=-0.99log(0.99)-0.01 log(0.01)= 0.081</a:t>
            </a:r>
          </a:p>
          <a:p>
            <a:pPr marL="0" indent="0">
              <a:lnSpc>
                <a:spcPct val="110000"/>
              </a:lnSpc>
              <a:buNone/>
            </a:pPr>
            <a:endParaRPr kumimoji="1" lang="zh-TW" altLang="en-US" dirty="0"/>
          </a:p>
        </p:txBody>
      </p:sp>
      <p:sp>
        <p:nvSpPr>
          <p:cNvPr id="4" name="文字方塊 3">
            <a:extLst>
              <a:ext uri="{FF2B5EF4-FFF2-40B4-BE49-F238E27FC236}">
                <a16:creationId xmlns:a16="http://schemas.microsoft.com/office/drawing/2014/main" id="{7A541807-8741-3547-8DCC-9A0B54890F2B}"/>
              </a:ext>
            </a:extLst>
          </p:cNvPr>
          <p:cNvSpPr txBox="1"/>
          <p:nvPr/>
        </p:nvSpPr>
        <p:spPr>
          <a:xfrm>
            <a:off x="3480619" y="5987845"/>
            <a:ext cx="3244646" cy="400110"/>
          </a:xfrm>
          <a:prstGeom prst="rect">
            <a:avLst/>
          </a:prstGeom>
          <a:noFill/>
        </p:spPr>
        <p:txBody>
          <a:bodyPr wrap="square" rtlCol="0">
            <a:spAutoFit/>
          </a:bodyPr>
          <a:lstStyle/>
          <a:p>
            <a:r>
              <a:rPr kumimoji="1" lang="en-US" altLang="zh-TW" sz="2000" dirty="0" err="1"/>
              <a:t>Entroy</a:t>
            </a:r>
            <a:r>
              <a:rPr kumimoji="1" lang="zh-TW" altLang="en-US" sz="2000" dirty="0"/>
              <a:t>低，確定性越高</a:t>
            </a:r>
          </a:p>
        </p:txBody>
      </p:sp>
    </p:spTree>
    <p:extLst>
      <p:ext uri="{BB962C8B-B14F-4D97-AF65-F5344CB8AC3E}">
        <p14:creationId xmlns:p14="http://schemas.microsoft.com/office/powerpoint/2010/main" val="2729576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834B73-8299-4F45-B598-E04F88C60004}"/>
              </a:ext>
            </a:extLst>
          </p:cNvPr>
          <p:cNvSpPr>
            <a:spLocks noGrp="1"/>
          </p:cNvSpPr>
          <p:nvPr>
            <p:ph type="title"/>
          </p:nvPr>
        </p:nvSpPr>
        <p:spPr/>
        <p:txBody>
          <a:bodyPr/>
          <a:lstStyle/>
          <a:p>
            <a:r>
              <a:rPr kumimoji="1" lang="zh-TW" altLang="en-US" dirty="0"/>
              <a:t>那</a:t>
            </a:r>
            <a:r>
              <a:rPr kumimoji="1" lang="en-US" altLang="zh-TW" dirty="0"/>
              <a:t>cross-entropy</a:t>
            </a:r>
            <a:r>
              <a:rPr kumimoji="1" lang="zh-TW" altLang="en-US" dirty="0"/>
              <a:t>？</a:t>
            </a:r>
          </a:p>
        </p:txBody>
      </p:sp>
      <p:sp>
        <p:nvSpPr>
          <p:cNvPr id="3" name="內容版面配置區 2">
            <a:extLst>
              <a:ext uri="{FF2B5EF4-FFF2-40B4-BE49-F238E27FC236}">
                <a16:creationId xmlns:a16="http://schemas.microsoft.com/office/drawing/2014/main" id="{46D18E19-E3C9-054F-8063-DE04864C4543}"/>
              </a:ext>
            </a:extLst>
          </p:cNvPr>
          <p:cNvSpPr>
            <a:spLocks noGrp="1"/>
          </p:cNvSpPr>
          <p:nvPr>
            <p:ph idx="1"/>
          </p:nvPr>
        </p:nvSpPr>
        <p:spPr/>
        <p:txBody>
          <a:bodyPr/>
          <a:lstStyle/>
          <a:p>
            <a:r>
              <a:rPr kumimoji="1" lang="zh-TW" altLang="en-US" dirty="0"/>
              <a:t>把真實情形跟預測情形進行</a:t>
            </a:r>
            <a:r>
              <a:rPr kumimoji="1" lang="en-US" altLang="zh-TW" dirty="0"/>
              <a:t>entropy</a:t>
            </a:r>
            <a:r>
              <a:rPr kumimoji="1" lang="zh-TW" altLang="en-US" dirty="0"/>
              <a:t>的加總計算</a:t>
            </a:r>
            <a:endParaRPr kumimoji="1" lang="en-US" altLang="zh-TW" dirty="0"/>
          </a:p>
          <a:p>
            <a:r>
              <a:rPr lang="en" altLang="zh-TW" dirty="0"/>
              <a:t>cross-entropy</a:t>
            </a:r>
            <a:r>
              <a:rPr lang="zh-TW" altLang="en-US" dirty="0"/>
              <a:t>的公式如下</a:t>
            </a:r>
            <a:r>
              <a:rPr lang="en-US" altLang="zh-TW" dirty="0"/>
              <a:t>:</a:t>
            </a:r>
          </a:p>
          <a:p>
            <a:endParaRPr lang="en-US" altLang="zh-TW" dirty="0"/>
          </a:p>
          <a:p>
            <a:endParaRPr lang="en-US" altLang="zh-TW" dirty="0"/>
          </a:p>
          <a:p>
            <a:endParaRPr lang="en-US" altLang="zh-TW" dirty="0"/>
          </a:p>
          <a:p>
            <a:r>
              <a:rPr lang="en" altLang="zh-TW" dirty="0"/>
              <a:t>C</a:t>
            </a:r>
            <a:r>
              <a:rPr lang="zh-TW" altLang="en-US" dirty="0"/>
              <a:t>是類別數</a:t>
            </a:r>
            <a:r>
              <a:rPr lang="en-US" altLang="zh-TW" dirty="0"/>
              <a:t>(</a:t>
            </a:r>
            <a:r>
              <a:rPr lang="zh-TW" altLang="en-US" dirty="0"/>
              <a:t>比如男生、女生、其他三類</a:t>
            </a:r>
            <a:r>
              <a:rPr lang="en-US" altLang="zh-TW" dirty="0"/>
              <a:t>)</a:t>
            </a:r>
            <a:r>
              <a:rPr lang="zh-TW" altLang="en-US" dirty="0"/>
              <a:t>，</a:t>
            </a:r>
            <a:r>
              <a:rPr lang="en" altLang="zh-TW" dirty="0"/>
              <a:t>n</a:t>
            </a:r>
            <a:r>
              <a:rPr lang="zh-TW" altLang="en-US" dirty="0"/>
              <a:t>是所有的資料數。</a:t>
            </a:r>
            <a:br>
              <a:rPr lang="zh-TW" altLang="en-US" dirty="0"/>
            </a:br>
            <a:r>
              <a:rPr lang="en" altLang="zh-TW" i="1" dirty="0" err="1"/>
              <a:t>y</a:t>
            </a:r>
            <a:r>
              <a:rPr lang="en" altLang="zh-TW" i="1" baseline="-25000" dirty="0" err="1"/>
              <a:t>c,i</a:t>
            </a:r>
            <a:r>
              <a:rPr lang="zh-TW" altLang="en-US" dirty="0"/>
              <a:t>是</a:t>
            </a:r>
            <a:r>
              <a:rPr lang="en" altLang="zh-TW" dirty="0"/>
              <a:t>binary indicator (0 or 1) from one hot encode (</a:t>
            </a:r>
            <a:r>
              <a:rPr lang="zh-TW" altLang="en-US" dirty="0"/>
              <a:t>第</a:t>
            </a:r>
            <a:r>
              <a:rPr lang="en" altLang="zh-TW" dirty="0" err="1"/>
              <a:t>i</a:t>
            </a:r>
            <a:r>
              <a:rPr lang="zh-TW" altLang="en-US" dirty="0"/>
              <a:t>筆資料屬於第</a:t>
            </a:r>
            <a:r>
              <a:rPr lang="en" altLang="zh-TW" dirty="0"/>
              <a:t>c</a:t>
            </a:r>
            <a:r>
              <a:rPr lang="zh-TW" altLang="en-US" dirty="0"/>
              <a:t>類真實類別</a:t>
            </a:r>
            <a:r>
              <a:rPr lang="en-US" altLang="zh-TW" dirty="0"/>
              <a:t>)</a:t>
            </a:r>
            <a:r>
              <a:rPr lang="zh-TW" altLang="en-US" dirty="0"/>
              <a:t>。</a:t>
            </a:r>
            <a:br>
              <a:rPr lang="zh-TW" altLang="en-US" dirty="0"/>
            </a:br>
            <a:r>
              <a:rPr lang="en" altLang="zh-TW" i="1" dirty="0" err="1"/>
              <a:t>p</a:t>
            </a:r>
            <a:r>
              <a:rPr lang="en" altLang="zh-TW" i="1" baseline="-25000" dirty="0" err="1"/>
              <a:t>c,i</a:t>
            </a:r>
            <a:r>
              <a:rPr lang="zh-TW" altLang="en-US" dirty="0"/>
              <a:t>是第</a:t>
            </a:r>
            <a:r>
              <a:rPr lang="en" altLang="zh-TW" dirty="0" err="1"/>
              <a:t>i</a:t>
            </a:r>
            <a:r>
              <a:rPr lang="zh-TW" altLang="en-US" dirty="0"/>
              <a:t>筆資料屬於第</a:t>
            </a:r>
            <a:r>
              <a:rPr lang="en" altLang="zh-TW" dirty="0"/>
              <a:t>c</a:t>
            </a:r>
            <a:r>
              <a:rPr lang="zh-TW" altLang="en-US" dirty="0"/>
              <a:t>類預測出來的機率。</a:t>
            </a:r>
            <a:endParaRPr lang="en-US" altLang="zh-TW" dirty="0"/>
          </a:p>
          <a:p>
            <a:endParaRPr kumimoji="1" lang="en-US" altLang="zh-TW" dirty="0"/>
          </a:p>
          <a:p>
            <a:endParaRPr kumimoji="1" lang="en-US" altLang="zh-TW" dirty="0"/>
          </a:p>
          <a:p>
            <a:endParaRPr kumimoji="1" lang="en-US" altLang="zh-TW" dirty="0"/>
          </a:p>
          <a:p>
            <a:endParaRPr kumimoji="1" lang="en-US" altLang="zh-TW" dirty="0"/>
          </a:p>
        </p:txBody>
      </p:sp>
      <p:pic>
        <p:nvPicPr>
          <p:cNvPr id="4098" name="Picture 2">
            <a:extLst>
              <a:ext uri="{FF2B5EF4-FFF2-40B4-BE49-F238E27FC236}">
                <a16:creationId xmlns:a16="http://schemas.microsoft.com/office/drawing/2014/main" id="{113C7DF1-E2FB-844F-9513-EA05D2E2D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380" y="2952750"/>
            <a:ext cx="4038503" cy="1147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143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013E9103-8243-1041-BF09-BBA4D7A4F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206" y="365125"/>
            <a:ext cx="9121587" cy="649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755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84EE6F-FF61-D945-8944-388909F0B2BB}"/>
              </a:ext>
            </a:extLst>
          </p:cNvPr>
          <p:cNvSpPr>
            <a:spLocks noGrp="1"/>
          </p:cNvSpPr>
          <p:nvPr>
            <p:ph type="title"/>
          </p:nvPr>
        </p:nvSpPr>
        <p:spPr/>
        <p:txBody>
          <a:bodyPr/>
          <a:lstStyle/>
          <a:p>
            <a:r>
              <a:rPr kumimoji="1" lang="en-US" altLang="zh-TW" dirty="0"/>
              <a:t>cross-entropy</a:t>
            </a:r>
            <a:endParaRPr kumimoji="1" lang="zh-TW" altLang="en-US" dirty="0"/>
          </a:p>
        </p:txBody>
      </p:sp>
      <p:sp>
        <p:nvSpPr>
          <p:cNvPr id="3" name="內容版面配置區 2">
            <a:extLst>
              <a:ext uri="{FF2B5EF4-FFF2-40B4-BE49-F238E27FC236}">
                <a16:creationId xmlns:a16="http://schemas.microsoft.com/office/drawing/2014/main" id="{61F48135-7560-B941-804D-0C7CE169A091}"/>
              </a:ext>
            </a:extLst>
          </p:cNvPr>
          <p:cNvSpPr>
            <a:spLocks noGrp="1"/>
          </p:cNvSpPr>
          <p:nvPr>
            <p:ph idx="1"/>
          </p:nvPr>
        </p:nvSpPr>
        <p:spPr>
          <a:xfrm>
            <a:off x="838200" y="1825625"/>
            <a:ext cx="10515600" cy="4545678"/>
          </a:xfrm>
        </p:spPr>
        <p:txBody>
          <a:bodyPr>
            <a:normAutofit fontScale="92500"/>
          </a:bodyPr>
          <a:lstStyle/>
          <a:p>
            <a:r>
              <a:rPr kumimoji="1" lang="en-US" altLang="zh-TW" dirty="0"/>
              <a:t>Model1</a:t>
            </a:r>
            <a:r>
              <a:rPr kumimoji="1" lang="zh-TW" altLang="en-US" dirty="0"/>
              <a:t>的</a:t>
            </a:r>
            <a:r>
              <a:rPr kumimoji="1" lang="en-US" altLang="zh-TW" dirty="0"/>
              <a:t>cross entropy</a:t>
            </a:r>
            <a:r>
              <a:rPr kumimoji="1" lang="zh-TW" altLang="en-US" dirty="0"/>
              <a:t>怎麼來的？</a:t>
            </a:r>
            <a:endParaRPr kumimoji="1" lang="en-US" altLang="zh-TW" dirty="0"/>
          </a:p>
          <a:p>
            <a:r>
              <a:rPr lang="zh-TW" altLang="en-US" dirty="0"/>
              <a:t>模型一</a:t>
            </a:r>
            <a:br>
              <a:rPr lang="zh-TW" altLang="en-US" b="1" dirty="0"/>
            </a:br>
            <a:r>
              <a:rPr lang="zh-TW" altLang="en-US" i="1" dirty="0"/>
              <a:t>男生的</a:t>
            </a:r>
            <a:r>
              <a:rPr lang="en" altLang="zh-TW" i="1" dirty="0"/>
              <a:t>cross-entropy:</a:t>
            </a:r>
            <a:br>
              <a:rPr lang="en" altLang="zh-TW" i="1" dirty="0"/>
            </a:br>
            <a:r>
              <a:rPr lang="en" altLang="zh-TW" i="1" dirty="0"/>
              <a:t>-(1 × log(0.4)+0 × log(0.3)+1 × log(0.5)+0 × log(0.8))=2.322</a:t>
            </a:r>
            <a:br>
              <a:rPr lang="en" altLang="zh-TW" i="1" dirty="0"/>
            </a:br>
            <a:r>
              <a:rPr lang="zh-TW" altLang="en-US" i="1" dirty="0"/>
              <a:t>女生的</a:t>
            </a:r>
            <a:r>
              <a:rPr lang="en" altLang="zh-TW" i="1" dirty="0"/>
              <a:t>cross-entropy:</a:t>
            </a:r>
            <a:br>
              <a:rPr lang="en" altLang="zh-TW" i="1" dirty="0"/>
            </a:br>
            <a:r>
              <a:rPr lang="en" altLang="zh-TW" i="1" dirty="0"/>
              <a:t>-(0 × log(0.3)+1 × log(0.4)+0 × log(0.2)+0 × log(0.1))= 1.322</a:t>
            </a:r>
            <a:br>
              <a:rPr lang="en" altLang="zh-TW" i="1" dirty="0"/>
            </a:br>
            <a:r>
              <a:rPr lang="zh-TW" altLang="en-US" i="1" dirty="0"/>
              <a:t>其他的</a:t>
            </a:r>
            <a:r>
              <a:rPr lang="en" altLang="zh-TW" i="1" dirty="0"/>
              <a:t>cross-entropy:</a:t>
            </a:r>
            <a:br>
              <a:rPr lang="en" altLang="zh-TW" i="1" dirty="0"/>
            </a:br>
            <a:r>
              <a:rPr lang="en" altLang="zh-TW" i="1" dirty="0"/>
              <a:t>-(0 × log(0.4)+0 × log(0.3)+0 × log(0.3)+ 1 × log(0.1))= 3.322</a:t>
            </a:r>
          </a:p>
          <a:p>
            <a:r>
              <a:rPr lang="zh-TW" altLang="en-US" dirty="0"/>
              <a:t>模型一的</a:t>
            </a:r>
            <a:r>
              <a:rPr lang="en" altLang="zh-TW" dirty="0"/>
              <a:t>cross-entropy</a:t>
            </a:r>
            <a:br>
              <a:rPr lang="en" altLang="zh-TW" dirty="0"/>
            </a:br>
            <a:r>
              <a:rPr lang="en" altLang="zh-TW" dirty="0"/>
              <a:t>=</a:t>
            </a:r>
            <a:r>
              <a:rPr lang="zh-TW" altLang="en-US" dirty="0"/>
              <a:t>男生的</a:t>
            </a:r>
            <a:r>
              <a:rPr lang="en" altLang="zh-TW" dirty="0"/>
              <a:t>cross-entropy+</a:t>
            </a:r>
            <a:r>
              <a:rPr lang="zh-TW" altLang="en-US" dirty="0"/>
              <a:t>女生的</a:t>
            </a:r>
            <a:r>
              <a:rPr lang="en" altLang="zh-TW" dirty="0"/>
              <a:t>cross-entropy</a:t>
            </a:r>
            <a:r>
              <a:rPr lang="zh-TW" altLang="en-US" dirty="0"/>
              <a:t>其他的</a:t>
            </a:r>
            <a:r>
              <a:rPr lang="en" altLang="zh-TW" dirty="0"/>
              <a:t>cross-entropy</a:t>
            </a:r>
            <a:br>
              <a:rPr lang="en" altLang="zh-TW" dirty="0"/>
            </a:br>
            <a:r>
              <a:rPr lang="en" altLang="zh-TW" dirty="0"/>
              <a:t>=2.322+1.322+3.322= 6.966</a:t>
            </a:r>
          </a:p>
          <a:p>
            <a:pPr marL="0" indent="0">
              <a:buNone/>
            </a:pPr>
            <a:endParaRPr kumimoji="1" lang="zh-TW" altLang="en-US" dirty="0"/>
          </a:p>
        </p:txBody>
      </p:sp>
    </p:spTree>
    <p:extLst>
      <p:ext uri="{BB962C8B-B14F-4D97-AF65-F5344CB8AC3E}">
        <p14:creationId xmlns:p14="http://schemas.microsoft.com/office/powerpoint/2010/main" val="299507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204BDB-70D8-30CD-1C5B-3E5ACC1FD483}"/>
              </a:ext>
            </a:extLst>
          </p:cNvPr>
          <p:cNvSpPr>
            <a:spLocks noGrp="1"/>
          </p:cNvSpPr>
          <p:nvPr>
            <p:ph type="title"/>
          </p:nvPr>
        </p:nvSpPr>
        <p:spPr/>
        <p:txBody>
          <a:bodyPr/>
          <a:lstStyle/>
          <a:p>
            <a:r>
              <a:rPr kumimoji="1" lang="zh-TW" altLang="en-US" dirty="0"/>
              <a:t>成本函數</a:t>
            </a:r>
          </a:p>
        </p:txBody>
      </p:sp>
      <p:sp>
        <p:nvSpPr>
          <p:cNvPr id="3" name="內容版面配置區 2">
            <a:extLst>
              <a:ext uri="{FF2B5EF4-FFF2-40B4-BE49-F238E27FC236}">
                <a16:creationId xmlns:a16="http://schemas.microsoft.com/office/drawing/2014/main" id="{A162719A-164C-32FB-CD8D-B89ADDC0A560}"/>
              </a:ext>
            </a:extLst>
          </p:cNvPr>
          <p:cNvSpPr>
            <a:spLocks noGrp="1"/>
          </p:cNvSpPr>
          <p:nvPr>
            <p:ph idx="1"/>
          </p:nvPr>
        </p:nvSpPr>
        <p:spPr/>
        <p:txBody>
          <a:bodyPr>
            <a:noAutofit/>
          </a:bodyPr>
          <a:lstStyle/>
          <a:p>
            <a:pPr>
              <a:lnSpc>
                <a:spcPct val="150000"/>
              </a:lnSpc>
            </a:pPr>
            <a:r>
              <a:rPr kumimoji="1" lang="zh-TW" altLang="en-US" dirty="0"/>
              <a:t>公式：</a:t>
            </a:r>
            <a:endParaRPr kumimoji="1" lang="en-US" altLang="zh-TW" dirty="0"/>
          </a:p>
          <a:p>
            <a:pPr>
              <a:lnSpc>
                <a:spcPct val="150000"/>
              </a:lnSpc>
            </a:pPr>
            <a:r>
              <a:rPr kumimoji="1" lang="zh-TW" altLang="en-US" dirty="0"/>
              <a:t>加上</a:t>
            </a:r>
            <a:r>
              <a:rPr kumimoji="1" lang="en-US" altLang="zh-TW" dirty="0"/>
              <a:t>log(</a:t>
            </a:r>
            <a:r>
              <a:rPr kumimoji="1" lang="zh-TW" altLang="en-US" dirty="0"/>
              <a:t>自然對數函數</a:t>
            </a:r>
            <a:r>
              <a:rPr kumimoji="1" lang="en-US" altLang="zh-TW" dirty="0"/>
              <a:t>)</a:t>
            </a:r>
            <a:r>
              <a:rPr kumimoji="1" lang="zh-TW" altLang="en-US" dirty="0"/>
              <a:t>後，變成</a:t>
            </a:r>
            <a:r>
              <a:rPr kumimoji="1" lang="en-US" altLang="zh-TW" dirty="0"/>
              <a:t>log-likelihood</a:t>
            </a:r>
            <a:r>
              <a:rPr kumimoji="1" lang="zh-TW" altLang="en-US" dirty="0"/>
              <a:t> </a:t>
            </a:r>
            <a:r>
              <a:rPr kumimoji="1" lang="en-US" altLang="zh-TW" dirty="0"/>
              <a:t>function(</a:t>
            </a:r>
            <a:r>
              <a:rPr kumimoji="1" lang="zh-TW" altLang="en-US" dirty="0"/>
              <a:t>對數概似函數</a:t>
            </a:r>
            <a:r>
              <a:rPr kumimoji="1" lang="en-US" altLang="zh-TW" dirty="0"/>
              <a:t>)</a:t>
            </a:r>
          </a:p>
          <a:p>
            <a:pPr>
              <a:lnSpc>
                <a:spcPct val="150000"/>
              </a:lnSpc>
            </a:pPr>
            <a:endParaRPr kumimoji="1" lang="en-US" altLang="zh-TW" dirty="0"/>
          </a:p>
          <a:p>
            <a:pPr>
              <a:lnSpc>
                <a:spcPct val="150000"/>
              </a:lnSpc>
            </a:pPr>
            <a:r>
              <a:rPr kumimoji="1" lang="zh-TW" altLang="en-US" dirty="0"/>
              <a:t>這邊要計算是把可能的機率值「最大化」</a:t>
            </a:r>
            <a:endParaRPr kumimoji="1" lang="en-US" altLang="zh-TW"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F3A19623-B4CF-B40B-0C4B-140C472B3582}"/>
                  </a:ext>
                </a:extLst>
              </p:cNvPr>
              <p:cNvSpPr txBox="1"/>
              <p:nvPr/>
            </p:nvSpPr>
            <p:spPr>
              <a:xfrm>
                <a:off x="1934592" y="1381742"/>
                <a:ext cx="9419208" cy="1352806"/>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kumimoji="1" lang="en-US" altLang="zh-TW" sz="2000" b="0" i="1" smtClean="0">
                          <a:latin typeface="Cambria Math" panose="02040503050406030204" pitchFamily="18" charset="0"/>
                        </a:rPr>
                        <m:t>𝐿</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𝑤</m:t>
                          </m:r>
                        </m:e>
                      </m:d>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𝑃</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𝑦</m:t>
                          </m:r>
                        </m:e>
                        <m:e>
                          <m:r>
                            <a:rPr kumimoji="1" lang="en-US" altLang="zh-TW" sz="2000" b="0" i="1" smtClean="0">
                              <a:latin typeface="Cambria Math" panose="02040503050406030204" pitchFamily="18" charset="0"/>
                            </a:rPr>
                            <m:t>𝑥</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𝑤</m:t>
                          </m:r>
                        </m:e>
                      </m:d>
                      <m:r>
                        <a:rPr kumimoji="1" lang="en-US" altLang="zh-TW" sz="2000" b="0" i="1" smtClean="0">
                          <a:latin typeface="Cambria Math" panose="02040503050406030204" pitchFamily="18" charset="0"/>
                        </a:rPr>
                        <m:t>=</m:t>
                      </m:r>
                      <m:nary>
                        <m:naryPr>
                          <m:chr m:val="∏"/>
                          <m:ctrlPr>
                            <a:rPr kumimoji="1" lang="en-US" altLang="zh-TW" sz="2000" b="0" i="1" smtClean="0">
                              <a:latin typeface="Cambria Math" panose="02040503050406030204" pitchFamily="18" charset="0"/>
                            </a:rPr>
                          </m:ctrlPr>
                        </m:naryPr>
                        <m:sub>
                          <m:r>
                            <m:rPr>
                              <m:brk m:alnAt="23"/>
                            </m:rP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=1</m:t>
                          </m:r>
                        </m:sub>
                        <m:sup>
                          <m:r>
                            <a:rPr kumimoji="1" lang="en-US" altLang="zh-TW" sz="2000" b="0" i="1" smtClean="0">
                              <a:latin typeface="Cambria Math" panose="02040503050406030204" pitchFamily="18" charset="0"/>
                            </a:rPr>
                            <m:t>𝑛</m:t>
                          </m:r>
                        </m:sup>
                        <m:e>
                          <m:r>
                            <a:rPr kumimoji="1" lang="en-US" altLang="zh-TW" sz="2000" b="0" i="1" smtClean="0">
                              <a:latin typeface="Cambria Math" panose="02040503050406030204" pitchFamily="18" charset="0"/>
                            </a:rPr>
                            <m:t>𝑃</m:t>
                          </m:r>
                          <m:d>
                            <m:dPr>
                              <m:ctrlPr>
                                <a:rPr kumimoji="1" lang="en-US" altLang="zh-TW" sz="2000" b="0" i="1" smtClean="0">
                                  <a:latin typeface="Cambria Math" panose="02040503050406030204" pitchFamily="18" charset="0"/>
                                </a:rPr>
                              </m:ctrlPr>
                            </m:dPr>
                            <m:e>
                              <m:sSup>
                                <m:sSupPr>
                                  <m:ctrlPr>
                                    <a:rPr kumimoji="1" lang="en-US" altLang="zh-TW" sz="2000" b="0" i="1" smtClean="0">
                                      <a:latin typeface="Cambria Math" panose="02040503050406030204" pitchFamily="18" charset="0"/>
                                    </a:rPr>
                                  </m:ctrlPr>
                                </m:sSupPr>
                                <m:e>
                                  <m:r>
                                    <a:rPr kumimoji="1" lang="en-US" altLang="zh-TW" sz="2000" b="0" i="1" smtClean="0">
                                      <a:latin typeface="Cambria Math" panose="02040503050406030204" pitchFamily="18" charset="0"/>
                                    </a:rPr>
                                    <m:t>𝑦</m:t>
                                  </m:r>
                                </m:e>
                                <m:sup>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𝑖</m:t>
                                      </m:r>
                                    </m:e>
                                  </m:d>
                                </m:sup>
                              </m:sSup>
                            </m:e>
                            <m:e>
                              <m:sSup>
                                <m:sSupPr>
                                  <m:ctrlPr>
                                    <a:rPr kumimoji="1" lang="en-US" altLang="zh-TW" sz="2000" b="0" i="1" smtClean="0">
                                      <a:latin typeface="Cambria Math" panose="02040503050406030204" pitchFamily="18" charset="0"/>
                                    </a:rPr>
                                  </m:ctrlPr>
                                </m:sSupPr>
                                <m:e>
                                  <m:r>
                                    <a:rPr kumimoji="1" lang="en-US" altLang="zh-TW" sz="2000" b="0" i="1" smtClean="0">
                                      <a:latin typeface="Cambria Math" panose="02040503050406030204" pitchFamily="18" charset="0"/>
                                    </a:rPr>
                                    <m:t>𝑥</m:t>
                                  </m:r>
                                </m:e>
                                <m:sup>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𝑖</m:t>
                                      </m:r>
                                    </m:e>
                                  </m:d>
                                </m:sup>
                              </m:sSup>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𝑤</m:t>
                              </m:r>
                            </m:e>
                          </m:d>
                          <m:r>
                            <a:rPr kumimoji="1" lang="en-US" altLang="zh-TW" sz="2000" b="0" i="1" smtClean="0">
                              <a:latin typeface="Cambria Math" panose="02040503050406030204" pitchFamily="18" charset="0"/>
                            </a:rPr>
                            <m:t>=</m:t>
                          </m:r>
                          <m:nary>
                            <m:naryPr>
                              <m:chr m:val="∏"/>
                              <m:ctrlPr>
                                <a:rPr kumimoji="1" lang="en-US" altLang="zh-TW" sz="2000" b="0" i="1" smtClean="0">
                                  <a:latin typeface="Cambria Math" panose="02040503050406030204" pitchFamily="18" charset="0"/>
                                </a:rPr>
                              </m:ctrlPr>
                            </m:naryPr>
                            <m:sub>
                              <m:r>
                                <m:rPr>
                                  <m:brk m:alnAt="23"/>
                                </m:rP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=1</m:t>
                              </m:r>
                            </m:sub>
                            <m:sup>
                              <m:r>
                                <a:rPr kumimoji="1" lang="en-US" altLang="zh-TW" sz="2000" b="0" i="1" smtClean="0">
                                  <a:latin typeface="Cambria Math" panose="02040503050406030204" pitchFamily="18" charset="0"/>
                                </a:rPr>
                                <m:t>𝑛</m:t>
                              </m:r>
                            </m:sup>
                            <m:e>
                              <m:sSup>
                                <m:sSupPr>
                                  <m:ctrlPr>
                                    <a:rPr kumimoji="1" lang="en-US" altLang="zh-TW" sz="2000" b="0" i="1" smtClean="0">
                                      <a:latin typeface="Cambria Math" panose="02040503050406030204" pitchFamily="18" charset="0"/>
                                    </a:rPr>
                                  </m:ctrlPr>
                                </m:sSupPr>
                                <m:e>
                                  <m:r>
                                    <a:rPr kumimoji="1" lang="en-US" altLang="zh-TW" sz="2000" i="1">
                                      <a:latin typeface="Cambria Math" panose="02040503050406030204" pitchFamily="18" charset="0"/>
                                    </a:rPr>
                                    <m:t>(</m:t>
                                  </m:r>
                                  <m:r>
                                    <a:rPr kumimoji="1" lang="en-US" altLang="zh-TW" sz="2000" i="1">
                                      <a:latin typeface="Cambria Math" panose="02040503050406030204" pitchFamily="18" charset="0"/>
                                      <a:ea typeface="Cambria Math" panose="02040503050406030204" pitchFamily="18" charset="0"/>
                                    </a:rPr>
                                    <m:t>∅(</m:t>
                                  </m:r>
                                  <m:sSup>
                                    <m:sSupPr>
                                      <m:ctrlPr>
                                        <a:rPr kumimoji="1" lang="en-US" altLang="zh-TW" sz="2000" i="1">
                                          <a:latin typeface="Cambria Math" panose="02040503050406030204" pitchFamily="18" charset="0"/>
                                          <a:ea typeface="Cambria Math" panose="02040503050406030204" pitchFamily="18" charset="0"/>
                                        </a:rPr>
                                      </m:ctrlPr>
                                    </m:sSupPr>
                                    <m:e>
                                      <m:r>
                                        <a:rPr kumimoji="1" lang="en-US" altLang="zh-TW" sz="2000" i="1">
                                          <a:latin typeface="Cambria Math" panose="02040503050406030204" pitchFamily="18" charset="0"/>
                                          <a:ea typeface="Cambria Math" panose="02040503050406030204" pitchFamily="18" charset="0"/>
                                        </a:rPr>
                                        <m:t>𝑧</m:t>
                                      </m:r>
                                    </m:e>
                                    <m:sup>
                                      <m:r>
                                        <a:rPr kumimoji="1" lang="en-US" altLang="zh-TW" sz="2000" i="1">
                                          <a:latin typeface="Cambria Math" panose="02040503050406030204" pitchFamily="18" charset="0"/>
                                          <a:ea typeface="Cambria Math" panose="02040503050406030204" pitchFamily="18" charset="0"/>
                                        </a:rPr>
                                        <m:t>(</m:t>
                                      </m:r>
                                      <m:r>
                                        <a:rPr kumimoji="1" lang="en-US" altLang="zh-TW" sz="2000" i="1">
                                          <a:latin typeface="Cambria Math" panose="02040503050406030204" pitchFamily="18" charset="0"/>
                                          <a:ea typeface="Cambria Math" panose="02040503050406030204" pitchFamily="18" charset="0"/>
                                        </a:rPr>
                                        <m:t>𝑖</m:t>
                                      </m:r>
                                      <m:r>
                                        <a:rPr kumimoji="1" lang="en-US" altLang="zh-TW" sz="2000" i="1">
                                          <a:latin typeface="Cambria Math" panose="02040503050406030204" pitchFamily="18" charset="0"/>
                                          <a:ea typeface="Cambria Math" panose="02040503050406030204" pitchFamily="18" charset="0"/>
                                        </a:rPr>
                                        <m:t>)</m:t>
                                      </m:r>
                                    </m:sup>
                                  </m:sSup>
                                  <m:r>
                                    <a:rPr kumimoji="1" lang="en-US" altLang="zh-TW" sz="2000" i="1">
                                      <a:latin typeface="Cambria Math" panose="02040503050406030204" pitchFamily="18" charset="0"/>
                                      <a:ea typeface="Cambria Math" panose="02040503050406030204" pitchFamily="18" charset="0"/>
                                    </a:rPr>
                                    <m:t>)</m:t>
                                  </m:r>
                                  <m:r>
                                    <a:rPr kumimoji="1" lang="en-US" altLang="zh-TW" sz="2000" i="1">
                                      <a:latin typeface="Cambria Math" panose="02040503050406030204" pitchFamily="18" charset="0"/>
                                    </a:rPr>
                                    <m:t>)</m:t>
                                  </m:r>
                                </m:e>
                                <m:sup>
                                  <m:sSup>
                                    <m:sSupPr>
                                      <m:ctrlPr>
                                        <a:rPr kumimoji="1" lang="en-US" altLang="zh-TW" sz="2000" b="0" i="1" smtClean="0">
                                          <a:latin typeface="Cambria Math" panose="02040503050406030204" pitchFamily="18" charset="0"/>
                                        </a:rPr>
                                      </m:ctrlPr>
                                    </m:sSupPr>
                                    <m:e>
                                      <m:r>
                                        <a:rPr kumimoji="1" lang="en-US" altLang="zh-TW" sz="2000" b="0" i="1" smtClean="0">
                                          <a:latin typeface="Cambria Math" panose="02040503050406030204" pitchFamily="18" charset="0"/>
                                        </a:rPr>
                                        <m:t>𝑦</m:t>
                                      </m:r>
                                    </m:e>
                                    <m:sup>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sup>
                                  </m:sSup>
                                </m:sup>
                              </m:sSup>
                              <m:sSup>
                                <m:sSupPr>
                                  <m:ctrlPr>
                                    <a:rPr kumimoji="1" lang="en-US" altLang="zh-TW" sz="2000" i="1">
                                      <a:latin typeface="Cambria Math" panose="02040503050406030204" pitchFamily="18" charset="0"/>
                                    </a:rPr>
                                  </m:ctrlPr>
                                </m:sSupPr>
                                <m:e>
                                  <m:r>
                                    <a:rPr kumimoji="1" lang="en-US" altLang="zh-TW" sz="2000" i="1">
                                      <a:latin typeface="Cambria Math" panose="02040503050406030204" pitchFamily="18" charset="0"/>
                                    </a:rPr>
                                    <m:t>(</m:t>
                                  </m:r>
                                  <m:r>
                                    <a:rPr kumimoji="1" lang="en-US" altLang="zh-TW" sz="2000" b="0" i="1" smtClean="0">
                                      <a:latin typeface="Cambria Math" panose="02040503050406030204" pitchFamily="18" charset="0"/>
                                    </a:rPr>
                                    <m:t>1−</m:t>
                                  </m:r>
                                  <m:r>
                                    <a:rPr kumimoji="1" lang="en-US" altLang="zh-TW" sz="2000" i="1">
                                      <a:latin typeface="Cambria Math" panose="02040503050406030204" pitchFamily="18" charset="0"/>
                                      <a:ea typeface="Cambria Math" panose="02040503050406030204" pitchFamily="18" charset="0"/>
                                    </a:rPr>
                                    <m:t>∅(</m:t>
                                  </m:r>
                                  <m:sSup>
                                    <m:sSupPr>
                                      <m:ctrlPr>
                                        <a:rPr kumimoji="1" lang="en-US" altLang="zh-TW" sz="2000" i="1">
                                          <a:latin typeface="Cambria Math" panose="02040503050406030204" pitchFamily="18" charset="0"/>
                                          <a:ea typeface="Cambria Math" panose="02040503050406030204" pitchFamily="18" charset="0"/>
                                        </a:rPr>
                                      </m:ctrlPr>
                                    </m:sSupPr>
                                    <m:e>
                                      <m:r>
                                        <a:rPr kumimoji="1" lang="en-US" altLang="zh-TW" sz="2000" i="1">
                                          <a:latin typeface="Cambria Math" panose="02040503050406030204" pitchFamily="18" charset="0"/>
                                          <a:ea typeface="Cambria Math" panose="02040503050406030204" pitchFamily="18" charset="0"/>
                                        </a:rPr>
                                        <m:t>𝑧</m:t>
                                      </m:r>
                                    </m:e>
                                    <m:sup>
                                      <m:r>
                                        <a:rPr kumimoji="1" lang="en-US" altLang="zh-TW" sz="2000" i="1">
                                          <a:latin typeface="Cambria Math" panose="02040503050406030204" pitchFamily="18" charset="0"/>
                                          <a:ea typeface="Cambria Math" panose="02040503050406030204" pitchFamily="18" charset="0"/>
                                        </a:rPr>
                                        <m:t>(</m:t>
                                      </m:r>
                                      <m:r>
                                        <a:rPr kumimoji="1" lang="en-US" altLang="zh-TW" sz="2000" i="1">
                                          <a:latin typeface="Cambria Math" panose="02040503050406030204" pitchFamily="18" charset="0"/>
                                          <a:ea typeface="Cambria Math" panose="02040503050406030204" pitchFamily="18" charset="0"/>
                                        </a:rPr>
                                        <m:t>𝑖</m:t>
                                      </m:r>
                                      <m:r>
                                        <a:rPr kumimoji="1" lang="en-US" altLang="zh-TW" sz="2000" i="1">
                                          <a:latin typeface="Cambria Math" panose="02040503050406030204" pitchFamily="18" charset="0"/>
                                          <a:ea typeface="Cambria Math" panose="02040503050406030204" pitchFamily="18" charset="0"/>
                                        </a:rPr>
                                        <m:t>)</m:t>
                                      </m:r>
                                    </m:sup>
                                  </m:sSup>
                                  <m:r>
                                    <a:rPr kumimoji="1" lang="en-US" altLang="zh-TW" sz="2000" i="1">
                                      <a:latin typeface="Cambria Math" panose="02040503050406030204" pitchFamily="18" charset="0"/>
                                      <a:ea typeface="Cambria Math" panose="02040503050406030204" pitchFamily="18" charset="0"/>
                                    </a:rPr>
                                    <m:t>)</m:t>
                                  </m:r>
                                  <m:r>
                                    <a:rPr kumimoji="1" lang="en-US" altLang="zh-TW" sz="2000" i="1">
                                      <a:latin typeface="Cambria Math" panose="02040503050406030204" pitchFamily="18" charset="0"/>
                                    </a:rPr>
                                    <m:t>)</m:t>
                                  </m:r>
                                </m:e>
                                <m:sup>
                                  <m:sSup>
                                    <m:sSupPr>
                                      <m:ctrlPr>
                                        <a:rPr kumimoji="1" lang="en-US" altLang="zh-TW" sz="2000" i="1">
                                          <a:latin typeface="Cambria Math" panose="02040503050406030204" pitchFamily="18" charset="0"/>
                                        </a:rPr>
                                      </m:ctrlPr>
                                    </m:sSupPr>
                                    <m:e>
                                      <m:r>
                                        <a:rPr kumimoji="1" lang="en-US" altLang="zh-TW" sz="2000" b="0" i="1" smtClean="0">
                                          <a:latin typeface="Cambria Math" panose="02040503050406030204" pitchFamily="18" charset="0"/>
                                        </a:rPr>
                                        <m:t>(1−</m:t>
                                      </m:r>
                                      <m:r>
                                        <a:rPr kumimoji="1" lang="en-US" altLang="zh-TW" sz="2000" i="1">
                                          <a:latin typeface="Cambria Math" panose="02040503050406030204" pitchFamily="18" charset="0"/>
                                        </a:rPr>
                                        <m:t>𝑦</m:t>
                                      </m:r>
                                    </m:e>
                                    <m:sup>
                                      <m:r>
                                        <a:rPr kumimoji="1" lang="en-US" altLang="zh-TW" sz="2000" i="1">
                                          <a:latin typeface="Cambria Math" panose="02040503050406030204" pitchFamily="18" charset="0"/>
                                        </a:rPr>
                                        <m:t>(</m:t>
                                      </m:r>
                                      <m:r>
                                        <a:rPr kumimoji="1" lang="en-US" altLang="zh-TW" sz="2000" i="1">
                                          <a:latin typeface="Cambria Math" panose="02040503050406030204" pitchFamily="18" charset="0"/>
                                        </a:rPr>
                                        <m:t>𝑖</m:t>
                                      </m:r>
                                      <m:r>
                                        <a:rPr kumimoji="1" lang="en-US" altLang="zh-TW" sz="2000" i="1">
                                          <a:latin typeface="Cambria Math" panose="02040503050406030204" pitchFamily="18" charset="0"/>
                                        </a:rPr>
                                        <m:t>)</m:t>
                                      </m:r>
                                    </m:sup>
                                  </m:sSup>
                                  <m:r>
                                    <a:rPr kumimoji="1" lang="en-US" altLang="zh-TW" sz="2000" b="0" i="1" smtClean="0">
                                      <a:latin typeface="Cambria Math" panose="02040503050406030204" pitchFamily="18" charset="0"/>
                                    </a:rPr>
                                    <m:t>)</m:t>
                                  </m:r>
                                </m:sup>
                              </m:sSup>
                            </m:e>
                          </m:nary>
                        </m:e>
                      </m:nary>
                    </m:oMath>
                  </m:oMathPara>
                </a14:m>
                <a:endParaRPr kumimoji="1" lang="en-US" altLang="zh-TW" sz="2000" dirty="0"/>
              </a:p>
            </p:txBody>
          </p:sp>
        </mc:Choice>
        <mc:Fallback xmlns="">
          <p:sp>
            <p:nvSpPr>
              <p:cNvPr id="5" name="文字方塊 4">
                <a:extLst>
                  <a:ext uri="{FF2B5EF4-FFF2-40B4-BE49-F238E27FC236}">
                    <a16:creationId xmlns:a16="http://schemas.microsoft.com/office/drawing/2014/main" id="{F3A19623-B4CF-B40B-0C4B-140C472B3582}"/>
                  </a:ext>
                </a:extLst>
              </p:cNvPr>
              <p:cNvSpPr txBox="1">
                <a:spLocks noRot="1" noChangeAspect="1" noMove="1" noResize="1" noEditPoints="1" noAdjustHandles="1" noChangeArrowheads="1" noChangeShapeType="1" noTextEdit="1"/>
              </p:cNvSpPr>
              <p:nvPr/>
            </p:nvSpPr>
            <p:spPr>
              <a:xfrm>
                <a:off x="1934592" y="1381742"/>
                <a:ext cx="9419208" cy="1352806"/>
              </a:xfrm>
              <a:prstGeom prst="rect">
                <a:avLst/>
              </a:prstGeom>
              <a:blipFill>
                <a:blip r:embed="rId2"/>
                <a:stretch>
                  <a:fillRect t="-39815" b="-1074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EFEC554F-5E36-6F0A-EF9D-0DCC0001D0DA}"/>
                  </a:ext>
                </a:extLst>
              </p:cNvPr>
              <p:cNvSpPr txBox="1"/>
              <p:nvPr/>
            </p:nvSpPr>
            <p:spPr>
              <a:xfrm>
                <a:off x="2747712" y="3615460"/>
                <a:ext cx="7792967" cy="8402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000" b="0" i="1" smtClean="0">
                          <a:latin typeface="Cambria Math" panose="02040503050406030204" pitchFamily="18" charset="0"/>
                        </a:rPr>
                        <m:t>𝑙</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𝑤</m:t>
                          </m:r>
                        </m:e>
                      </m:d>
                      <m:r>
                        <a:rPr kumimoji="1" lang="en-US" altLang="zh-TW" sz="2000" b="0" i="1" smtClean="0">
                          <a:latin typeface="Cambria Math" panose="02040503050406030204" pitchFamily="18" charset="0"/>
                        </a:rPr>
                        <m:t>=</m:t>
                      </m:r>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r>
                            <a:rPr kumimoji="1" lang="en-US" altLang="zh-TW" sz="2000" b="0" i="1" smtClean="0">
                              <a:latin typeface="Cambria Math" panose="02040503050406030204" pitchFamily="18" charset="0"/>
                            </a:rPr>
                            <m:t>𝐿</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𝑤</m:t>
                              </m:r>
                            </m:e>
                          </m:d>
                          <m:r>
                            <a:rPr kumimoji="1" lang="en-US" altLang="zh-TW" sz="2000" b="0" i="1" smtClean="0">
                              <a:latin typeface="Cambria Math" panose="02040503050406030204" pitchFamily="18" charset="0"/>
                            </a:rPr>
                            <m:t>=</m:t>
                          </m:r>
                          <m:nary>
                            <m:naryPr>
                              <m:chr m:val="∑"/>
                              <m:ctrlPr>
                                <a:rPr kumimoji="1" lang="en-US" altLang="zh-TW" sz="2000" b="0" i="1" smtClean="0">
                                  <a:latin typeface="Cambria Math" panose="02040503050406030204" pitchFamily="18" charset="0"/>
                                </a:rPr>
                              </m:ctrlPr>
                            </m:naryPr>
                            <m:sub>
                              <m:r>
                                <m:rPr>
                                  <m:brk m:alnAt="23"/>
                                </m:rP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=1</m:t>
                              </m:r>
                            </m:sub>
                            <m:sup>
                              <m:r>
                                <a:rPr kumimoji="1" lang="en-US" altLang="zh-TW" sz="2000" b="0" i="1" smtClean="0">
                                  <a:latin typeface="Cambria Math" panose="02040503050406030204" pitchFamily="18" charset="0"/>
                                </a:rPr>
                                <m:t>𝑛</m:t>
                              </m:r>
                            </m:sup>
                            <m:e>
                              <m:d>
                                <m:dPr>
                                  <m:begChr m:val="["/>
                                  <m:endChr m:val="]"/>
                                  <m:ctrlPr>
                                    <a:rPr kumimoji="1" lang="en-US" altLang="zh-TW" sz="2000" b="0" i="1" smtClean="0">
                                      <a:latin typeface="Cambria Math" panose="02040503050406030204" pitchFamily="18" charset="0"/>
                                    </a:rPr>
                                  </m:ctrlPr>
                                </m:dPr>
                                <m:e>
                                  <m:sSup>
                                    <m:sSupPr>
                                      <m:ctrlPr>
                                        <a:rPr kumimoji="1" lang="en-US" altLang="zh-TW" sz="2000" b="0" i="1" smtClean="0">
                                          <a:latin typeface="Cambria Math" panose="02040503050406030204" pitchFamily="18" charset="0"/>
                                        </a:rPr>
                                      </m:ctrlPr>
                                    </m:sSupPr>
                                    <m:e>
                                      <m:r>
                                        <a:rPr kumimoji="1" lang="en-US" altLang="zh-TW" sz="2000" b="0" i="1" smtClean="0">
                                          <a:latin typeface="Cambria Math" panose="02040503050406030204" pitchFamily="18" charset="0"/>
                                        </a:rPr>
                                        <m:t>𝑦</m:t>
                                      </m:r>
                                    </m:e>
                                    <m:sup>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sup>
                                  </m:sSup>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d>
                                        <m:dPr>
                                          <m:ctrlPr>
                                            <a:rPr kumimoji="1" lang="en-US" altLang="zh-TW" sz="2000" b="0" i="1" smtClean="0">
                                              <a:latin typeface="Cambria Math" panose="02040503050406030204" pitchFamily="18" charset="0"/>
                                              <a:ea typeface="Cambria Math" panose="02040503050406030204" pitchFamily="18" charset="0"/>
                                            </a:rPr>
                                          </m:ctrlPr>
                                        </m:dPr>
                                        <m:e>
                                          <m:r>
                                            <a:rPr kumimoji="1" lang="en-US" altLang="zh-TW" sz="2000" b="0" i="1" smtClean="0">
                                              <a:latin typeface="Cambria Math" panose="02040503050406030204" pitchFamily="18" charset="0"/>
                                              <a:ea typeface="Cambria Math" panose="02040503050406030204" pitchFamily="18" charset="0"/>
                                            </a:rPr>
                                            <m:t>∅</m:t>
                                          </m:r>
                                          <m:d>
                                            <m:dPr>
                                              <m:ctrlPr>
                                                <a:rPr kumimoji="1" lang="en-US" altLang="zh-TW" sz="2000" b="0" i="1" smtClean="0">
                                                  <a:latin typeface="Cambria Math" panose="02040503050406030204" pitchFamily="18" charset="0"/>
                                                  <a:ea typeface="Cambria Math" panose="02040503050406030204" pitchFamily="18" charset="0"/>
                                                </a:rPr>
                                              </m:ctrlPr>
                                            </m:dPr>
                                            <m:e>
                                              <m:sSup>
                                                <m:sSupPr>
                                                  <m:ctrlPr>
                                                    <a:rPr kumimoji="1" lang="en-US" altLang="zh-TW" sz="2000" b="0" i="1" smtClean="0">
                                                      <a:latin typeface="Cambria Math" panose="02040503050406030204" pitchFamily="18" charset="0"/>
                                                      <a:ea typeface="Cambria Math" panose="02040503050406030204" pitchFamily="18" charset="0"/>
                                                    </a:rPr>
                                                  </m:ctrlPr>
                                                </m:sSupPr>
                                                <m:e>
                                                  <m:r>
                                                    <a:rPr kumimoji="1" lang="en-US" altLang="zh-TW" sz="2000" b="0" i="1" smtClean="0">
                                                      <a:latin typeface="Cambria Math" panose="02040503050406030204" pitchFamily="18" charset="0"/>
                                                      <a:ea typeface="Cambria Math" panose="02040503050406030204" pitchFamily="18" charset="0"/>
                                                    </a:rPr>
                                                    <m:t>𝑧</m:t>
                                                  </m:r>
                                                </m:e>
                                                <m:sup>
                                                  <m:d>
                                                    <m:dPr>
                                                      <m:ctrlPr>
                                                        <a:rPr kumimoji="1" lang="en-US" altLang="zh-TW" sz="2000" b="0" i="1" smtClean="0">
                                                          <a:latin typeface="Cambria Math" panose="02040503050406030204" pitchFamily="18" charset="0"/>
                                                          <a:ea typeface="Cambria Math" panose="02040503050406030204" pitchFamily="18" charset="0"/>
                                                        </a:rPr>
                                                      </m:ctrlPr>
                                                    </m:dPr>
                                                    <m:e>
                                                      <m:r>
                                                        <a:rPr kumimoji="1" lang="en-US" altLang="zh-TW" sz="2000" b="0" i="1" smtClean="0">
                                                          <a:latin typeface="Cambria Math" panose="02040503050406030204" pitchFamily="18" charset="0"/>
                                                          <a:ea typeface="Cambria Math" panose="02040503050406030204" pitchFamily="18" charset="0"/>
                                                        </a:rPr>
                                                        <m:t>𝑖</m:t>
                                                      </m:r>
                                                    </m:e>
                                                  </m:d>
                                                </m:sup>
                                              </m:sSup>
                                            </m:e>
                                          </m:d>
                                        </m:e>
                                      </m:d>
                                      <m:r>
                                        <a:rPr kumimoji="1" lang="en-US" altLang="zh-TW" sz="2000" b="0" i="1" smtClean="0">
                                          <a:latin typeface="Cambria Math" panose="02040503050406030204" pitchFamily="18" charset="0"/>
                                        </a:rPr>
                                        <m:t>+(1−</m:t>
                                      </m:r>
                                      <m:sSup>
                                        <m:sSupPr>
                                          <m:ctrlPr>
                                            <a:rPr kumimoji="1" lang="en-US" altLang="zh-TW" sz="2000" b="0" i="1" smtClean="0">
                                              <a:latin typeface="Cambria Math" panose="02040503050406030204" pitchFamily="18" charset="0"/>
                                            </a:rPr>
                                          </m:ctrlPr>
                                        </m:sSupPr>
                                        <m:e>
                                          <m:r>
                                            <a:rPr kumimoji="1" lang="en-US" altLang="zh-TW" sz="2000" b="0" i="1" smtClean="0">
                                              <a:latin typeface="Cambria Math" panose="02040503050406030204" pitchFamily="18" charset="0"/>
                                            </a:rPr>
                                            <m:t>𝑦</m:t>
                                          </m:r>
                                        </m:e>
                                        <m:sup>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sup>
                                      </m:sSup>
                                      <m:r>
                                        <a:rPr kumimoji="1" lang="en-US" altLang="zh-TW" sz="2000" b="0" i="1" smtClean="0">
                                          <a:latin typeface="Cambria Math" panose="02040503050406030204" pitchFamily="18" charset="0"/>
                                        </a:rPr>
                                        <m:t>)</m:t>
                                      </m:r>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b="0" i="1" smtClean="0">
                                                  <a:latin typeface="Cambria Math" panose="02040503050406030204" pitchFamily="18" charset="0"/>
                                                  <a:ea typeface="Cambria Math" panose="02040503050406030204" pitchFamily="18" charset="0"/>
                                                </a:rPr>
                                                <m:t>1−</m:t>
                                              </m:r>
                                              <m:r>
                                                <a:rPr kumimoji="1" lang="en-US" altLang="zh-TW" sz="2000" i="1">
                                                  <a:latin typeface="Cambria Math" panose="02040503050406030204" pitchFamily="18" charset="0"/>
                                                  <a:ea typeface="Cambria Math" panose="02040503050406030204" pitchFamily="18" charset="0"/>
                                                </a:rPr>
                                                <m:t>∅</m:t>
                                              </m:r>
                                              <m:d>
                                                <m:dPr>
                                                  <m:ctrlPr>
                                                    <a:rPr kumimoji="1" lang="en-US" altLang="zh-TW" sz="2000" i="1">
                                                      <a:latin typeface="Cambria Math" panose="02040503050406030204" pitchFamily="18" charset="0"/>
                                                      <a:ea typeface="Cambria Math" panose="02040503050406030204" pitchFamily="18" charset="0"/>
                                                    </a:rPr>
                                                  </m:ctrlPr>
                                                </m:dPr>
                                                <m:e>
                                                  <m:sSup>
                                                    <m:sSupPr>
                                                      <m:ctrlPr>
                                                        <a:rPr kumimoji="1" lang="en-US" altLang="zh-TW" sz="2000" i="1">
                                                          <a:latin typeface="Cambria Math" panose="02040503050406030204" pitchFamily="18" charset="0"/>
                                                          <a:ea typeface="Cambria Math" panose="02040503050406030204" pitchFamily="18" charset="0"/>
                                                        </a:rPr>
                                                      </m:ctrlPr>
                                                    </m:sSupPr>
                                                    <m:e>
                                                      <m:r>
                                                        <a:rPr kumimoji="1" lang="en-US" altLang="zh-TW" sz="2000" i="1">
                                                          <a:latin typeface="Cambria Math" panose="02040503050406030204" pitchFamily="18" charset="0"/>
                                                          <a:ea typeface="Cambria Math" panose="02040503050406030204" pitchFamily="18" charset="0"/>
                                                        </a:rPr>
                                                        <m:t>𝑧</m:t>
                                                      </m:r>
                                                    </m:e>
                                                    <m:sup>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𝑖</m:t>
                                                          </m:r>
                                                        </m:e>
                                                      </m:d>
                                                    </m:sup>
                                                  </m:sSup>
                                                </m:e>
                                              </m:d>
                                            </m:e>
                                          </m:d>
                                        </m:e>
                                      </m:func>
                                    </m:e>
                                  </m:func>
                                </m:e>
                              </m:d>
                            </m:e>
                          </m:nary>
                        </m:e>
                      </m:func>
                    </m:oMath>
                  </m:oMathPara>
                </a14:m>
                <a:endParaRPr kumimoji="1" lang="zh-TW" altLang="en-US" sz="2000" dirty="0"/>
              </a:p>
            </p:txBody>
          </p:sp>
        </mc:Choice>
        <mc:Fallback xmlns="">
          <p:sp>
            <p:nvSpPr>
              <p:cNvPr id="6" name="文字方塊 5">
                <a:extLst>
                  <a:ext uri="{FF2B5EF4-FFF2-40B4-BE49-F238E27FC236}">
                    <a16:creationId xmlns:a16="http://schemas.microsoft.com/office/drawing/2014/main" id="{EFEC554F-5E36-6F0A-EF9D-0DCC0001D0DA}"/>
                  </a:ext>
                </a:extLst>
              </p:cNvPr>
              <p:cNvSpPr txBox="1">
                <a:spLocks noRot="1" noChangeAspect="1" noMove="1" noResize="1" noEditPoints="1" noAdjustHandles="1" noChangeArrowheads="1" noChangeShapeType="1" noTextEdit="1"/>
              </p:cNvSpPr>
              <p:nvPr/>
            </p:nvSpPr>
            <p:spPr>
              <a:xfrm>
                <a:off x="2747712" y="3615460"/>
                <a:ext cx="7792967" cy="840295"/>
              </a:xfrm>
              <a:prstGeom prst="rect">
                <a:avLst/>
              </a:prstGeom>
              <a:blipFill>
                <a:blip r:embed="rId3"/>
                <a:stretch>
                  <a:fillRect l="-326" t="-119403" b="-17910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72907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A6C3A8-249A-A645-9D06-F54C628D4CD0}"/>
              </a:ext>
            </a:extLst>
          </p:cNvPr>
          <p:cNvSpPr>
            <a:spLocks noGrp="1"/>
          </p:cNvSpPr>
          <p:nvPr>
            <p:ph type="title"/>
          </p:nvPr>
        </p:nvSpPr>
        <p:spPr/>
        <p:txBody>
          <a:bodyPr/>
          <a:lstStyle/>
          <a:p>
            <a:r>
              <a:rPr kumimoji="1" lang="zh-TW" altLang="en-US" dirty="0"/>
              <a:t>成本函數</a:t>
            </a:r>
          </a:p>
        </p:txBody>
      </p:sp>
      <p:sp>
        <p:nvSpPr>
          <p:cNvPr id="3" name="內容版面配置區 2">
            <a:extLst>
              <a:ext uri="{FF2B5EF4-FFF2-40B4-BE49-F238E27FC236}">
                <a16:creationId xmlns:a16="http://schemas.microsoft.com/office/drawing/2014/main" id="{5D1F2594-1F2E-061D-BB6F-574C67CD8A89}"/>
              </a:ext>
            </a:extLst>
          </p:cNvPr>
          <p:cNvSpPr>
            <a:spLocks noGrp="1"/>
          </p:cNvSpPr>
          <p:nvPr>
            <p:ph idx="1"/>
          </p:nvPr>
        </p:nvSpPr>
        <p:spPr>
          <a:xfrm>
            <a:off x="838200" y="1825625"/>
            <a:ext cx="10515600" cy="4770484"/>
          </a:xfrm>
        </p:spPr>
        <p:txBody>
          <a:bodyPr>
            <a:normAutofit fontScale="92500" lnSpcReduction="10000"/>
          </a:bodyPr>
          <a:lstStyle/>
          <a:p>
            <a:r>
              <a:rPr kumimoji="1" lang="zh-TW" altLang="en-US" dirty="0"/>
              <a:t>加上負號，寫成成本函數，就一樣可以用梯度下降法來計算</a:t>
            </a:r>
            <a:endParaRPr kumimoji="1" lang="en-US" altLang="zh-TW" dirty="0"/>
          </a:p>
          <a:p>
            <a:endParaRPr kumimoji="1" lang="en-US" altLang="zh-TW" dirty="0"/>
          </a:p>
          <a:p>
            <a:endParaRPr kumimoji="1" lang="en-US" altLang="zh-TW" dirty="0"/>
          </a:p>
          <a:p>
            <a:r>
              <a:rPr kumimoji="1" lang="zh-TW" altLang="en-US" dirty="0"/>
              <a:t>以假設單一筆資料來看，如果</a:t>
            </a:r>
            <a:r>
              <a:rPr kumimoji="1" lang="en-US" altLang="zh-TW" dirty="0"/>
              <a:t>y=0</a:t>
            </a:r>
            <a:r>
              <a:rPr kumimoji="1" lang="zh-TW" altLang="en-US" dirty="0"/>
              <a:t>的時候，前面那項就變成</a:t>
            </a:r>
            <a:r>
              <a:rPr kumimoji="1" lang="en-US" altLang="zh-TW" dirty="0"/>
              <a:t>0</a:t>
            </a:r>
            <a:r>
              <a:rPr kumimoji="1" lang="zh-TW" altLang="en-US" dirty="0"/>
              <a:t>；反過來說如果</a:t>
            </a:r>
            <a:r>
              <a:rPr kumimoji="1" lang="en-US" altLang="zh-TW" dirty="0"/>
              <a:t>y=1</a:t>
            </a:r>
            <a:r>
              <a:rPr kumimoji="1" lang="zh-TW" altLang="en-US" dirty="0"/>
              <a:t>的時候，後面第二項為</a:t>
            </a:r>
            <a:r>
              <a:rPr kumimoji="1" lang="en-US" altLang="zh-TW" dirty="0"/>
              <a:t>0</a:t>
            </a:r>
          </a:p>
          <a:p>
            <a:endParaRPr kumimoji="1" lang="en-US" altLang="zh-TW" dirty="0"/>
          </a:p>
          <a:p>
            <a:endParaRPr kumimoji="1" lang="en-US" altLang="zh-TW" dirty="0"/>
          </a:p>
          <a:p>
            <a:r>
              <a:rPr kumimoji="1" lang="zh-TW" altLang="en-US" dirty="0"/>
              <a:t>變成透過機率模型的</a:t>
            </a:r>
            <a:r>
              <a:rPr kumimoji="1" lang="en-US" altLang="zh-TW" dirty="0"/>
              <a:t>cross entropy(</a:t>
            </a:r>
            <a:r>
              <a:rPr kumimoji="1" lang="zh-TW" altLang="en-US" dirty="0"/>
              <a:t>交叉熵</a:t>
            </a:r>
            <a:r>
              <a:rPr kumimoji="1" lang="en-US" altLang="zh-TW" dirty="0"/>
              <a:t>)</a:t>
            </a:r>
            <a:r>
              <a:rPr kumimoji="1" lang="zh-TW" altLang="en-US" dirty="0"/>
              <a:t>計算</a:t>
            </a:r>
            <a:endParaRPr kumimoji="1" lang="en-US" altLang="zh-TW" dirty="0"/>
          </a:p>
          <a:p>
            <a:r>
              <a:rPr kumimoji="1" lang="zh-TW" altLang="en-US" dirty="0"/>
              <a:t>何謂</a:t>
            </a:r>
            <a:r>
              <a:rPr kumimoji="1" lang="en-US" altLang="zh-TW" dirty="0"/>
              <a:t>entropy</a:t>
            </a:r>
            <a:r>
              <a:rPr kumimoji="1" lang="zh-TW" altLang="en-US" dirty="0"/>
              <a:t>？</a:t>
            </a:r>
          </a:p>
          <a:p>
            <a:pPr lvl="1"/>
            <a:r>
              <a:rPr kumimoji="1" lang="zh-TW" altLang="en-US" dirty="0"/>
              <a:t>熵直觀上的理解代表一個狀況的混亂情況，情況越混亂，熵越大，如果有一枚作弊的硬幣，怎麼丟都是正面，那它的情況就很穩定，</a:t>
            </a:r>
            <a:r>
              <a:rPr kumimoji="1" lang="zh-TW" altLang="en-US" u="sng" dirty="0"/>
              <a:t>熵就等於零</a:t>
            </a:r>
            <a:r>
              <a:rPr kumimoji="1" lang="zh-TW" altLang="en-US" dirty="0"/>
              <a:t>。</a:t>
            </a:r>
          </a:p>
          <a:p>
            <a:pPr lvl="1"/>
            <a:r>
              <a:rPr kumimoji="1" lang="zh-TW" altLang="en-US" dirty="0"/>
              <a:t>基本上就是資料越不「純」，混亂的程度越高，</a:t>
            </a:r>
            <a:r>
              <a:rPr kumimoji="1" lang="en-US" altLang="zh-TW" dirty="0" err="1"/>
              <a:t>entroy</a:t>
            </a:r>
            <a:r>
              <a:rPr kumimoji="1" lang="zh-TW" altLang="en-US" dirty="0"/>
              <a:t>越大</a:t>
            </a:r>
          </a:p>
          <a:p>
            <a:endParaRPr kumimoji="1" lang="zh-TW" altLang="en-US" dirty="0"/>
          </a:p>
          <a:p>
            <a:endParaRPr kumimoji="1" lang="zh-TW" altLang="en-US" dirty="0"/>
          </a:p>
          <a:p>
            <a:endParaRPr kumimoji="1" lang="zh-TW" altLang="en-US" dirty="0"/>
          </a:p>
          <a:p>
            <a:endParaRPr kumimoji="1" lang="zh-TW" altLang="en-US" dirty="0"/>
          </a:p>
          <a:p>
            <a:endParaRPr kumimoji="1" lang="zh-TW" altLang="en-US" dirty="0"/>
          </a:p>
          <a:p>
            <a:endParaRPr kumimoji="1" lang="zh-TW" altLang="en-US" dirty="0"/>
          </a:p>
          <a:p>
            <a:endParaRPr kumimoji="1" lang="en-US" altLang="zh-TW" dirty="0"/>
          </a:p>
          <a:p>
            <a:endParaRPr kumimoji="1" lang="en-US" altLang="zh-TW"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40FE6D5D-FE72-E11D-F6E4-4980E8FF1767}"/>
                  </a:ext>
                </a:extLst>
              </p:cNvPr>
              <p:cNvSpPr txBox="1"/>
              <p:nvPr/>
            </p:nvSpPr>
            <p:spPr>
              <a:xfrm>
                <a:off x="2596792" y="2230543"/>
                <a:ext cx="6737742" cy="8402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000" b="0" i="1" smtClean="0">
                          <a:latin typeface="Cambria Math" panose="02040503050406030204" pitchFamily="18" charset="0"/>
                        </a:rPr>
                        <m:t>𝐽</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𝑤</m:t>
                          </m:r>
                        </m:e>
                      </m:d>
                      <m:r>
                        <a:rPr kumimoji="1" lang="en-US" altLang="zh-TW" sz="2000" b="0" i="1" smtClean="0">
                          <a:latin typeface="Cambria Math" panose="02040503050406030204" pitchFamily="18" charset="0"/>
                        </a:rPr>
                        <m:t>=</m:t>
                      </m:r>
                      <m:nary>
                        <m:naryPr>
                          <m:chr m:val="∑"/>
                          <m:ctrlPr>
                            <a:rPr kumimoji="1" lang="en-US" altLang="zh-TW" sz="2000" i="1">
                              <a:latin typeface="Cambria Math" panose="02040503050406030204" pitchFamily="18" charset="0"/>
                            </a:rPr>
                          </m:ctrlPr>
                        </m:naryPr>
                        <m:sub>
                          <m:r>
                            <m:rPr>
                              <m:brk m:alnAt="23"/>
                            </m:rPr>
                            <a:rPr kumimoji="1" lang="en-US" altLang="zh-TW" sz="2000" i="1">
                              <a:latin typeface="Cambria Math" panose="02040503050406030204" pitchFamily="18" charset="0"/>
                            </a:rPr>
                            <m:t>𝑖</m:t>
                          </m:r>
                          <m:r>
                            <a:rPr kumimoji="1" lang="en-US" altLang="zh-TW" sz="2000" i="1">
                              <a:latin typeface="Cambria Math" panose="02040503050406030204" pitchFamily="18" charset="0"/>
                            </a:rPr>
                            <m:t>=1</m:t>
                          </m:r>
                        </m:sub>
                        <m:sup>
                          <m:r>
                            <a:rPr kumimoji="1" lang="en-US" altLang="zh-TW" sz="2000" i="1">
                              <a:latin typeface="Cambria Math" panose="02040503050406030204" pitchFamily="18" charset="0"/>
                            </a:rPr>
                            <m:t>𝑛</m:t>
                          </m:r>
                        </m:sup>
                        <m:e>
                          <m:d>
                            <m:dPr>
                              <m:begChr m:val="["/>
                              <m:endChr m:val="]"/>
                              <m:ctrlPr>
                                <a:rPr kumimoji="1" lang="en-US" altLang="zh-TW" sz="2000" i="1">
                                  <a:latin typeface="Cambria Math" panose="02040503050406030204" pitchFamily="18" charset="0"/>
                                </a:rPr>
                              </m:ctrlPr>
                            </m:dPr>
                            <m:e>
                              <m:r>
                                <a:rPr kumimoji="1" lang="en-US" altLang="zh-TW" sz="2000" b="0" i="1" smtClean="0">
                                  <a:latin typeface="Cambria Math" panose="02040503050406030204" pitchFamily="18" charset="0"/>
                                </a:rPr>
                                <m:t>−</m:t>
                              </m:r>
                              <m:sSup>
                                <m:sSupPr>
                                  <m:ctrlPr>
                                    <a:rPr kumimoji="1" lang="en-US" altLang="zh-TW" sz="2000" i="1">
                                      <a:latin typeface="Cambria Math" panose="02040503050406030204" pitchFamily="18" charset="0"/>
                                    </a:rPr>
                                  </m:ctrlPr>
                                </m:sSupPr>
                                <m:e>
                                  <m:r>
                                    <a:rPr kumimoji="1" lang="en-US" altLang="zh-TW" sz="2000" i="1">
                                      <a:latin typeface="Cambria Math" panose="02040503050406030204" pitchFamily="18" charset="0"/>
                                    </a:rPr>
                                    <m:t>𝑦</m:t>
                                  </m:r>
                                </m:e>
                                <m:sup>
                                  <m:r>
                                    <a:rPr kumimoji="1" lang="en-US" altLang="zh-TW" sz="2000" i="1">
                                      <a:latin typeface="Cambria Math" panose="02040503050406030204" pitchFamily="18" charset="0"/>
                                    </a:rPr>
                                    <m:t>(</m:t>
                                  </m:r>
                                  <m:r>
                                    <a:rPr kumimoji="1" lang="en-US" altLang="zh-TW" sz="2000" i="1">
                                      <a:latin typeface="Cambria Math" panose="02040503050406030204" pitchFamily="18" charset="0"/>
                                    </a:rPr>
                                    <m:t>𝑖</m:t>
                                  </m:r>
                                  <m:r>
                                    <a:rPr kumimoji="1" lang="en-US" altLang="zh-TW" sz="2000" i="1">
                                      <a:latin typeface="Cambria Math" panose="02040503050406030204" pitchFamily="18" charset="0"/>
                                    </a:rPr>
                                    <m:t>)</m:t>
                                  </m:r>
                                </m:sup>
                              </m:sSup>
                              <m:func>
                                <m:funcPr>
                                  <m:ctrlPr>
                                    <a:rPr kumimoji="1" lang="en-US" altLang="zh-TW" sz="2000" i="1">
                                      <a:latin typeface="Cambria Math" panose="02040503050406030204" pitchFamily="18" charset="0"/>
                                    </a:rPr>
                                  </m:ctrlPr>
                                </m:funcPr>
                                <m:fName>
                                  <m:r>
                                    <m:rPr>
                                      <m:sty m:val="p"/>
                                    </m:rPr>
                                    <a:rPr kumimoji="1" lang="en-US" altLang="zh-TW" sz="2000">
                                      <a:latin typeface="Cambria Math" panose="02040503050406030204" pitchFamily="18" charset="0"/>
                                    </a:rPr>
                                    <m:t>log</m:t>
                                  </m:r>
                                </m:fName>
                                <m:e>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m:t>
                                      </m:r>
                                      <m:d>
                                        <m:dPr>
                                          <m:ctrlPr>
                                            <a:rPr kumimoji="1" lang="en-US" altLang="zh-TW" sz="2000" i="1">
                                              <a:latin typeface="Cambria Math" panose="02040503050406030204" pitchFamily="18" charset="0"/>
                                              <a:ea typeface="Cambria Math" panose="02040503050406030204" pitchFamily="18" charset="0"/>
                                            </a:rPr>
                                          </m:ctrlPr>
                                        </m:dPr>
                                        <m:e>
                                          <m:sSup>
                                            <m:sSupPr>
                                              <m:ctrlPr>
                                                <a:rPr kumimoji="1" lang="en-US" altLang="zh-TW" sz="2000" i="1">
                                                  <a:latin typeface="Cambria Math" panose="02040503050406030204" pitchFamily="18" charset="0"/>
                                                  <a:ea typeface="Cambria Math" panose="02040503050406030204" pitchFamily="18" charset="0"/>
                                                </a:rPr>
                                              </m:ctrlPr>
                                            </m:sSupPr>
                                            <m:e>
                                              <m:r>
                                                <a:rPr kumimoji="1" lang="en-US" altLang="zh-TW" sz="2000" i="1">
                                                  <a:latin typeface="Cambria Math" panose="02040503050406030204" pitchFamily="18" charset="0"/>
                                                  <a:ea typeface="Cambria Math" panose="02040503050406030204" pitchFamily="18" charset="0"/>
                                                </a:rPr>
                                                <m:t>𝑧</m:t>
                                              </m:r>
                                            </m:e>
                                            <m:sup>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𝑖</m:t>
                                                  </m:r>
                                                </m:e>
                                              </m:d>
                                            </m:sup>
                                          </m:sSup>
                                        </m:e>
                                      </m:d>
                                    </m:e>
                                  </m:d>
                                  <m:r>
                                    <a:rPr kumimoji="1" lang="en-US" altLang="zh-TW" sz="2000" b="0" i="1" smtClean="0">
                                      <a:latin typeface="Cambria Math" panose="02040503050406030204" pitchFamily="18" charset="0"/>
                                      <a:ea typeface="Cambria Math" panose="02040503050406030204" pitchFamily="18" charset="0"/>
                                    </a:rPr>
                                    <m:t>−</m:t>
                                  </m:r>
                                  <m:r>
                                    <a:rPr kumimoji="1" lang="en-US" altLang="zh-TW" sz="2000" i="1">
                                      <a:latin typeface="Cambria Math" panose="02040503050406030204" pitchFamily="18" charset="0"/>
                                    </a:rPr>
                                    <m:t>(1−</m:t>
                                  </m:r>
                                  <m:sSup>
                                    <m:sSupPr>
                                      <m:ctrlPr>
                                        <a:rPr kumimoji="1" lang="en-US" altLang="zh-TW" sz="2000" i="1">
                                          <a:latin typeface="Cambria Math" panose="02040503050406030204" pitchFamily="18" charset="0"/>
                                        </a:rPr>
                                      </m:ctrlPr>
                                    </m:sSupPr>
                                    <m:e>
                                      <m:r>
                                        <a:rPr kumimoji="1" lang="en-US" altLang="zh-TW" sz="2000" i="1">
                                          <a:latin typeface="Cambria Math" panose="02040503050406030204" pitchFamily="18" charset="0"/>
                                        </a:rPr>
                                        <m:t>𝑦</m:t>
                                      </m:r>
                                    </m:e>
                                    <m:sup>
                                      <m:r>
                                        <a:rPr kumimoji="1" lang="en-US" altLang="zh-TW" sz="2000" i="1">
                                          <a:latin typeface="Cambria Math" panose="02040503050406030204" pitchFamily="18" charset="0"/>
                                        </a:rPr>
                                        <m:t>(</m:t>
                                      </m:r>
                                      <m:r>
                                        <a:rPr kumimoji="1" lang="en-US" altLang="zh-TW" sz="2000" i="1">
                                          <a:latin typeface="Cambria Math" panose="02040503050406030204" pitchFamily="18" charset="0"/>
                                        </a:rPr>
                                        <m:t>𝑖</m:t>
                                      </m:r>
                                      <m:r>
                                        <a:rPr kumimoji="1" lang="en-US" altLang="zh-TW" sz="2000" i="1">
                                          <a:latin typeface="Cambria Math" panose="02040503050406030204" pitchFamily="18" charset="0"/>
                                        </a:rPr>
                                        <m:t>)</m:t>
                                      </m:r>
                                    </m:sup>
                                  </m:sSup>
                                  <m:r>
                                    <a:rPr kumimoji="1" lang="en-US" altLang="zh-TW" sz="2000" i="1">
                                      <a:latin typeface="Cambria Math" panose="02040503050406030204" pitchFamily="18" charset="0"/>
                                    </a:rPr>
                                    <m:t>)</m:t>
                                  </m:r>
                                  <m:func>
                                    <m:funcPr>
                                      <m:ctrlPr>
                                        <a:rPr kumimoji="1" lang="en-US" altLang="zh-TW" sz="2000" i="1">
                                          <a:latin typeface="Cambria Math" panose="02040503050406030204" pitchFamily="18" charset="0"/>
                                        </a:rPr>
                                      </m:ctrlPr>
                                    </m:funcPr>
                                    <m:fName>
                                      <m:r>
                                        <m:rPr>
                                          <m:sty m:val="p"/>
                                        </m:rPr>
                                        <a:rPr kumimoji="1" lang="en-US" altLang="zh-TW" sz="2000">
                                          <a:latin typeface="Cambria Math" panose="02040503050406030204" pitchFamily="18" charset="0"/>
                                        </a:rPr>
                                        <m:t>log</m:t>
                                      </m:r>
                                    </m:fName>
                                    <m:e>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1−∅</m:t>
                                          </m:r>
                                          <m:d>
                                            <m:dPr>
                                              <m:ctrlPr>
                                                <a:rPr kumimoji="1" lang="en-US" altLang="zh-TW" sz="2000" i="1">
                                                  <a:latin typeface="Cambria Math" panose="02040503050406030204" pitchFamily="18" charset="0"/>
                                                  <a:ea typeface="Cambria Math" panose="02040503050406030204" pitchFamily="18" charset="0"/>
                                                </a:rPr>
                                              </m:ctrlPr>
                                            </m:dPr>
                                            <m:e>
                                              <m:sSup>
                                                <m:sSupPr>
                                                  <m:ctrlPr>
                                                    <a:rPr kumimoji="1" lang="en-US" altLang="zh-TW" sz="2000" i="1">
                                                      <a:latin typeface="Cambria Math" panose="02040503050406030204" pitchFamily="18" charset="0"/>
                                                      <a:ea typeface="Cambria Math" panose="02040503050406030204" pitchFamily="18" charset="0"/>
                                                    </a:rPr>
                                                  </m:ctrlPr>
                                                </m:sSupPr>
                                                <m:e>
                                                  <m:r>
                                                    <a:rPr kumimoji="1" lang="en-US" altLang="zh-TW" sz="2000" i="1">
                                                      <a:latin typeface="Cambria Math" panose="02040503050406030204" pitchFamily="18" charset="0"/>
                                                      <a:ea typeface="Cambria Math" panose="02040503050406030204" pitchFamily="18" charset="0"/>
                                                    </a:rPr>
                                                    <m:t>𝑧</m:t>
                                                  </m:r>
                                                </m:e>
                                                <m:sup>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𝑖</m:t>
                                                      </m:r>
                                                    </m:e>
                                                  </m:d>
                                                </m:sup>
                                              </m:sSup>
                                            </m:e>
                                          </m:d>
                                        </m:e>
                                      </m:d>
                                    </m:e>
                                  </m:func>
                                </m:e>
                              </m:func>
                            </m:e>
                          </m:d>
                        </m:e>
                      </m:nary>
                    </m:oMath>
                  </m:oMathPara>
                </a14:m>
                <a:endParaRPr kumimoji="1" lang="zh-TW" altLang="en-US" sz="2000" dirty="0"/>
              </a:p>
            </p:txBody>
          </p:sp>
        </mc:Choice>
        <mc:Fallback xmlns="">
          <p:sp>
            <p:nvSpPr>
              <p:cNvPr id="4" name="文字方塊 3">
                <a:extLst>
                  <a:ext uri="{FF2B5EF4-FFF2-40B4-BE49-F238E27FC236}">
                    <a16:creationId xmlns:a16="http://schemas.microsoft.com/office/drawing/2014/main" id="{40FE6D5D-FE72-E11D-F6E4-4980E8FF1767}"/>
                  </a:ext>
                </a:extLst>
              </p:cNvPr>
              <p:cNvSpPr txBox="1">
                <a:spLocks noRot="1" noChangeAspect="1" noMove="1" noResize="1" noEditPoints="1" noAdjustHandles="1" noChangeArrowheads="1" noChangeShapeType="1" noTextEdit="1"/>
              </p:cNvSpPr>
              <p:nvPr/>
            </p:nvSpPr>
            <p:spPr>
              <a:xfrm>
                <a:off x="2596792" y="2230543"/>
                <a:ext cx="6737742" cy="840295"/>
              </a:xfrm>
              <a:prstGeom prst="rect">
                <a:avLst/>
              </a:prstGeom>
              <a:blipFill>
                <a:blip r:embed="rId2"/>
                <a:stretch>
                  <a:fillRect l="-942" t="-119403" b="-1791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806C78C3-DC58-380E-66A9-530BB84AC72B}"/>
                  </a:ext>
                </a:extLst>
              </p:cNvPr>
              <p:cNvSpPr txBox="1"/>
              <p:nvPr/>
            </p:nvSpPr>
            <p:spPr>
              <a:xfrm>
                <a:off x="3456341" y="3787163"/>
                <a:ext cx="4716804" cy="9825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TW" sz="2000" i="1" smtClean="0">
                          <a:latin typeface="Cambria Math" panose="02040503050406030204" pitchFamily="18" charset="0"/>
                        </a:rPr>
                        <m:t>J</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ea typeface="Cambria Math" panose="02040503050406030204" pitchFamily="18" charset="0"/>
                            </a:rPr>
                            <m:t>∅</m:t>
                          </m:r>
                          <m:d>
                            <m:dPr>
                              <m:ctrlPr>
                                <a:rPr kumimoji="1" lang="en-US" altLang="zh-TW" sz="2000" b="0" i="1" smtClean="0">
                                  <a:latin typeface="Cambria Math" panose="02040503050406030204" pitchFamily="18" charset="0"/>
                                  <a:ea typeface="Cambria Math" panose="02040503050406030204" pitchFamily="18" charset="0"/>
                                </a:rPr>
                              </m:ctrlPr>
                            </m:dPr>
                            <m:e>
                              <m:r>
                                <a:rPr kumimoji="1" lang="en-US" altLang="zh-TW" sz="2000" b="0" i="1" smtClean="0">
                                  <a:latin typeface="Cambria Math" panose="02040503050406030204" pitchFamily="18" charset="0"/>
                                  <a:ea typeface="Cambria Math" panose="02040503050406030204" pitchFamily="18" charset="0"/>
                                </a:rPr>
                                <m:t>𝑧</m:t>
                              </m:r>
                            </m:e>
                          </m:d>
                          <m:r>
                            <a:rPr kumimoji="1" lang="en-US" altLang="zh-TW" sz="2000" b="0" i="1" smtClean="0">
                              <a:latin typeface="Cambria Math" panose="02040503050406030204" pitchFamily="18" charset="0"/>
                              <a:ea typeface="Cambria Math" panose="02040503050406030204" pitchFamily="18" charset="0"/>
                            </a:rPr>
                            <m:t>,</m:t>
                          </m:r>
                          <m:r>
                            <a:rPr kumimoji="1" lang="en-US" altLang="zh-TW" sz="2000" b="0" i="1" smtClean="0">
                              <a:latin typeface="Cambria Math" panose="02040503050406030204" pitchFamily="18" charset="0"/>
                              <a:ea typeface="Cambria Math" panose="02040503050406030204" pitchFamily="18" charset="0"/>
                            </a:rPr>
                            <m:t>𝑦</m:t>
                          </m:r>
                          <m:r>
                            <a:rPr kumimoji="1" lang="en-US" altLang="zh-TW" sz="2000" b="0" i="1" smtClean="0">
                              <a:latin typeface="Cambria Math" panose="02040503050406030204" pitchFamily="18" charset="0"/>
                              <a:ea typeface="Cambria Math" panose="02040503050406030204" pitchFamily="18" charset="0"/>
                            </a:rPr>
                            <m:t>;</m:t>
                          </m:r>
                          <m:r>
                            <a:rPr kumimoji="1" lang="en-US" altLang="zh-TW" sz="2000" b="0" i="1" smtClean="0">
                              <a:latin typeface="Cambria Math" panose="02040503050406030204" pitchFamily="18" charset="0"/>
                              <a:ea typeface="Cambria Math" panose="02040503050406030204" pitchFamily="18" charset="0"/>
                            </a:rPr>
                            <m:t>𝑤</m:t>
                          </m:r>
                        </m:e>
                      </m:d>
                      <m:r>
                        <a:rPr kumimoji="1" lang="en-US" altLang="zh-TW" sz="2000" b="0" i="1" smtClean="0">
                          <a:latin typeface="Cambria Math" panose="02040503050406030204" pitchFamily="18" charset="0"/>
                          <a:ea typeface="Cambria Math" panose="02040503050406030204" pitchFamily="18" charset="0"/>
                        </a:rPr>
                        <m:t>=</m:t>
                      </m:r>
                      <m:d>
                        <m:dPr>
                          <m:begChr m:val="{"/>
                          <m:endChr m:val=""/>
                          <m:ctrlPr>
                            <a:rPr kumimoji="1" lang="en-US" altLang="zh-TW" sz="2000" b="0" i="1" smtClean="0">
                              <a:latin typeface="Cambria Math" panose="02040503050406030204" pitchFamily="18" charset="0"/>
                              <a:ea typeface="Cambria Math" panose="02040503050406030204" pitchFamily="18" charset="0"/>
                            </a:rPr>
                          </m:ctrlPr>
                        </m:dPr>
                        <m:e>
                          <m:m>
                            <m:mPr>
                              <m:mcs>
                                <m:mc>
                                  <m:mcPr>
                                    <m:count m:val="1"/>
                                    <m:mcJc m:val="center"/>
                                  </m:mcPr>
                                </m:mc>
                              </m:mcs>
                              <m:ctrlPr>
                                <a:rPr kumimoji="1" lang="en-US" altLang="zh-TW" sz="2000" b="0" i="1" smtClean="0">
                                  <a:latin typeface="Cambria Math" panose="02040503050406030204" pitchFamily="18" charset="0"/>
                                  <a:ea typeface="Cambria Math" panose="02040503050406030204" pitchFamily="18" charset="0"/>
                                </a:rPr>
                              </m:ctrlPr>
                            </m:mPr>
                            <m:mr>
                              <m:e>
                                <m:r>
                                  <m:rPr>
                                    <m:brk m:alnAt="7"/>
                                  </m:rPr>
                                  <a:rPr kumimoji="1" lang="en-US" altLang="zh-TW" sz="2000" b="0" i="1" smtClean="0">
                                    <a:latin typeface="Cambria Math" panose="02040503050406030204" pitchFamily="18" charset="0"/>
                                    <a:ea typeface="Cambria Math" panose="02040503050406030204" pitchFamily="18" charset="0"/>
                                  </a:rPr>
                                  <m:t>−</m:t>
                                </m:r>
                                <m:func>
                                  <m:funcPr>
                                    <m:ctrlPr>
                                      <a:rPr kumimoji="1" lang="en-US" altLang="zh-TW" sz="2000" b="0" i="1" smtClean="0">
                                        <a:latin typeface="Cambria Math" panose="02040503050406030204" pitchFamily="18" charset="0"/>
                                        <a:ea typeface="Cambria Math" panose="02040503050406030204" pitchFamily="18" charset="0"/>
                                      </a:rPr>
                                    </m:ctrlPr>
                                  </m:funcPr>
                                  <m:fName>
                                    <m:r>
                                      <m:rPr>
                                        <m:sty m:val="p"/>
                                        <m:brk m:alnAt="7"/>
                                      </m:rPr>
                                      <a:rPr kumimoji="1" lang="en-US" altLang="zh-TW" sz="2000" b="0" i="0" smtClean="0">
                                        <a:latin typeface="Cambria Math" panose="02040503050406030204" pitchFamily="18" charset="0"/>
                                        <a:ea typeface="Cambria Math" panose="02040503050406030204" pitchFamily="18" charset="0"/>
                                      </a:rPr>
                                      <m:t>l</m:t>
                                    </m:r>
                                    <m:r>
                                      <m:rPr>
                                        <m:sty m:val="p"/>
                                      </m:rPr>
                                      <a:rPr kumimoji="1" lang="en-US" altLang="zh-TW" sz="2000" b="0" i="0" smtClean="0">
                                        <a:latin typeface="Cambria Math" panose="02040503050406030204" pitchFamily="18" charset="0"/>
                                        <a:ea typeface="Cambria Math" panose="02040503050406030204" pitchFamily="18" charset="0"/>
                                      </a:rPr>
                                      <m:t>og</m:t>
                                    </m:r>
                                  </m:fName>
                                  <m:e>
                                    <m:d>
                                      <m:dPr>
                                        <m:ctrlPr>
                                          <a:rPr kumimoji="1" lang="en-US" altLang="zh-TW" sz="2000" b="0" i="1" smtClean="0">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m:t>
                                        </m:r>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𝑧</m:t>
                                            </m:r>
                                          </m:e>
                                        </m:d>
                                      </m:e>
                                    </m:d>
                                    <m:r>
                                      <a:rPr kumimoji="1" lang="en-US" altLang="zh-TW" sz="2000" b="0" i="1" smtClean="0">
                                        <a:latin typeface="Cambria Math" panose="02040503050406030204" pitchFamily="18" charset="0"/>
                                        <a:ea typeface="Cambria Math" panose="02040503050406030204" pitchFamily="18" charset="0"/>
                                      </a:rPr>
                                      <m:t>           </m:t>
                                    </m:r>
                                    <m:r>
                                      <a:rPr kumimoji="1" lang="en-US" altLang="zh-TW" sz="2000" b="0" i="1" smtClean="0">
                                        <a:latin typeface="Cambria Math" panose="02040503050406030204" pitchFamily="18" charset="0"/>
                                        <a:ea typeface="Cambria Math" panose="02040503050406030204" pitchFamily="18" charset="0"/>
                                      </a:rPr>
                                      <m:t>𝑖𝑓</m:t>
                                    </m:r>
                                    <m:r>
                                      <a:rPr kumimoji="1" lang="en-US" altLang="zh-TW" sz="2000" b="0" i="1" smtClean="0">
                                        <a:latin typeface="Cambria Math" panose="02040503050406030204" pitchFamily="18" charset="0"/>
                                        <a:ea typeface="Cambria Math" panose="02040503050406030204" pitchFamily="18" charset="0"/>
                                      </a:rPr>
                                      <m:t> </m:t>
                                    </m:r>
                                    <m:r>
                                      <a:rPr kumimoji="1" lang="en-US" altLang="zh-TW" sz="2000" b="0" i="1" smtClean="0">
                                        <a:latin typeface="Cambria Math" panose="02040503050406030204" pitchFamily="18" charset="0"/>
                                        <a:ea typeface="Cambria Math" panose="02040503050406030204" pitchFamily="18" charset="0"/>
                                      </a:rPr>
                                      <m:t>𝑦</m:t>
                                    </m:r>
                                    <m:r>
                                      <a:rPr kumimoji="1" lang="en-US" altLang="zh-TW" sz="2000" b="0" i="1" smtClean="0">
                                        <a:latin typeface="Cambria Math" panose="02040503050406030204" pitchFamily="18" charset="0"/>
                                        <a:ea typeface="Cambria Math" panose="02040503050406030204" pitchFamily="18" charset="0"/>
                                      </a:rPr>
                                      <m:t>=1</m:t>
                                    </m:r>
                                  </m:e>
                                </m:func>
                              </m:e>
                            </m:mr>
                            <m:mr>
                              <m:e>
                                <m:r>
                                  <m:rPr>
                                    <m:brk m:alnAt="7"/>
                                  </m:rPr>
                                  <a:rPr kumimoji="1" lang="en-US" altLang="zh-TW" sz="2000" i="1">
                                    <a:latin typeface="Cambria Math" panose="02040503050406030204" pitchFamily="18" charset="0"/>
                                    <a:ea typeface="Cambria Math" panose="02040503050406030204" pitchFamily="18" charset="0"/>
                                  </a:rPr>
                                  <m:t>−</m:t>
                                </m:r>
                                <m:func>
                                  <m:funcPr>
                                    <m:ctrlPr>
                                      <a:rPr kumimoji="1" lang="en-US" altLang="zh-TW" sz="2000" i="1">
                                        <a:latin typeface="Cambria Math" panose="02040503050406030204" pitchFamily="18" charset="0"/>
                                        <a:ea typeface="Cambria Math" panose="02040503050406030204" pitchFamily="18" charset="0"/>
                                      </a:rPr>
                                    </m:ctrlPr>
                                  </m:funcPr>
                                  <m:fName>
                                    <m:r>
                                      <m:rPr>
                                        <m:sty m:val="p"/>
                                        <m:brk m:alnAt="7"/>
                                      </m:rPr>
                                      <a:rPr kumimoji="1" lang="en-US" altLang="zh-TW" sz="2000">
                                        <a:latin typeface="Cambria Math" panose="02040503050406030204" pitchFamily="18" charset="0"/>
                                        <a:ea typeface="Cambria Math" panose="02040503050406030204" pitchFamily="18" charset="0"/>
                                      </a:rPr>
                                      <m:t>l</m:t>
                                    </m:r>
                                    <m:r>
                                      <m:rPr>
                                        <m:sty m:val="p"/>
                                      </m:rPr>
                                      <a:rPr kumimoji="1" lang="en-US" altLang="zh-TW" sz="2000">
                                        <a:latin typeface="Cambria Math" panose="02040503050406030204" pitchFamily="18" charset="0"/>
                                        <a:ea typeface="Cambria Math" panose="02040503050406030204" pitchFamily="18" charset="0"/>
                                      </a:rPr>
                                      <m:t>og</m:t>
                                    </m:r>
                                  </m:fName>
                                  <m:e>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b="0" i="1" smtClean="0">
                                            <a:latin typeface="Cambria Math" panose="02040503050406030204" pitchFamily="18" charset="0"/>
                                            <a:ea typeface="Cambria Math" panose="02040503050406030204" pitchFamily="18" charset="0"/>
                                          </a:rPr>
                                          <m:t>1−</m:t>
                                        </m:r>
                                        <m:r>
                                          <a:rPr kumimoji="1" lang="en-US" altLang="zh-TW" sz="2000" i="1">
                                            <a:latin typeface="Cambria Math" panose="02040503050406030204" pitchFamily="18" charset="0"/>
                                            <a:ea typeface="Cambria Math" panose="02040503050406030204" pitchFamily="18" charset="0"/>
                                          </a:rPr>
                                          <m:t>∅</m:t>
                                        </m:r>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𝑧</m:t>
                                            </m:r>
                                          </m:e>
                                        </m:d>
                                      </m:e>
                                    </m:d>
                                    <m:r>
                                      <a:rPr kumimoji="1" lang="en-US" altLang="zh-TW" sz="2000" i="1">
                                        <a:latin typeface="Cambria Math" panose="02040503050406030204" pitchFamily="18" charset="0"/>
                                        <a:ea typeface="Cambria Math" panose="02040503050406030204" pitchFamily="18" charset="0"/>
                                      </a:rPr>
                                      <m:t> </m:t>
                                    </m:r>
                                    <m:r>
                                      <a:rPr kumimoji="1" lang="en-US" altLang="zh-TW" sz="2000" b="0" i="1" smtClean="0">
                                        <a:latin typeface="Cambria Math" panose="02040503050406030204" pitchFamily="18" charset="0"/>
                                        <a:ea typeface="Cambria Math" panose="02040503050406030204" pitchFamily="18" charset="0"/>
                                      </a:rPr>
                                      <m:t>  </m:t>
                                    </m:r>
                                    <m:r>
                                      <a:rPr kumimoji="1" lang="en-US" altLang="zh-TW" sz="2000" i="1">
                                        <a:latin typeface="Cambria Math" panose="02040503050406030204" pitchFamily="18" charset="0"/>
                                        <a:ea typeface="Cambria Math" panose="02040503050406030204" pitchFamily="18" charset="0"/>
                                      </a:rPr>
                                      <m:t>𝑖𝑓</m:t>
                                    </m:r>
                                    <m:r>
                                      <a:rPr kumimoji="1" lang="en-US" altLang="zh-TW" sz="2000" i="1">
                                        <a:latin typeface="Cambria Math" panose="02040503050406030204" pitchFamily="18" charset="0"/>
                                        <a:ea typeface="Cambria Math" panose="02040503050406030204" pitchFamily="18" charset="0"/>
                                      </a:rPr>
                                      <m:t> </m:t>
                                    </m:r>
                                    <m:r>
                                      <a:rPr kumimoji="1" lang="en-US" altLang="zh-TW" sz="2000" i="1">
                                        <a:latin typeface="Cambria Math" panose="02040503050406030204" pitchFamily="18" charset="0"/>
                                        <a:ea typeface="Cambria Math" panose="02040503050406030204" pitchFamily="18" charset="0"/>
                                      </a:rPr>
                                      <m:t>𝑦</m:t>
                                    </m:r>
                                    <m:r>
                                      <a:rPr kumimoji="1" lang="en-US" altLang="zh-TW" sz="2000" i="1">
                                        <a:latin typeface="Cambria Math" panose="02040503050406030204" pitchFamily="18" charset="0"/>
                                        <a:ea typeface="Cambria Math" panose="02040503050406030204" pitchFamily="18" charset="0"/>
                                      </a:rPr>
                                      <m:t>=0</m:t>
                                    </m:r>
                                  </m:e>
                                </m:func>
                              </m:e>
                            </m:mr>
                          </m:m>
                        </m:e>
                      </m:d>
                    </m:oMath>
                  </m:oMathPara>
                </a14:m>
                <a:endParaRPr kumimoji="1" lang="zh-TW" altLang="en-US" sz="2000" dirty="0"/>
              </a:p>
            </p:txBody>
          </p:sp>
        </mc:Choice>
        <mc:Fallback xmlns="">
          <p:sp>
            <p:nvSpPr>
              <p:cNvPr id="6" name="文字方塊 5">
                <a:extLst>
                  <a:ext uri="{FF2B5EF4-FFF2-40B4-BE49-F238E27FC236}">
                    <a16:creationId xmlns:a16="http://schemas.microsoft.com/office/drawing/2014/main" id="{806C78C3-DC58-380E-66A9-530BB84AC72B}"/>
                  </a:ext>
                </a:extLst>
              </p:cNvPr>
              <p:cNvSpPr txBox="1">
                <a:spLocks noRot="1" noChangeAspect="1" noMove="1" noResize="1" noEditPoints="1" noAdjustHandles="1" noChangeArrowheads="1" noChangeShapeType="1" noTextEdit="1"/>
              </p:cNvSpPr>
              <p:nvPr/>
            </p:nvSpPr>
            <p:spPr>
              <a:xfrm>
                <a:off x="3456341" y="3787163"/>
                <a:ext cx="4716804" cy="982577"/>
              </a:xfrm>
              <a:prstGeom prst="rect">
                <a:avLst/>
              </a:prstGeom>
              <a:blipFill>
                <a:blip r:embed="rId3"/>
                <a:stretch>
                  <a:fillRect l="-3763" t="-234615" r="-806" b="-3307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44395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CE4CB6-D97D-EF4F-A4BC-492931E2777F}"/>
              </a:ext>
            </a:extLst>
          </p:cNvPr>
          <p:cNvSpPr>
            <a:spLocks noGrp="1"/>
          </p:cNvSpPr>
          <p:nvPr>
            <p:ph type="title"/>
          </p:nvPr>
        </p:nvSpPr>
        <p:spPr/>
        <p:txBody>
          <a:bodyPr/>
          <a:lstStyle/>
          <a:p>
            <a:r>
              <a:rPr lang="en-US" altLang="zh-TW" dirty="0"/>
              <a:t>Logistic regression</a:t>
            </a:r>
            <a:endParaRPr kumimoji="1" lang="zh-TW" altLang="en-US" dirty="0"/>
          </a:p>
        </p:txBody>
      </p:sp>
      <p:sp>
        <p:nvSpPr>
          <p:cNvPr id="3" name="內容版面配置區 2">
            <a:extLst>
              <a:ext uri="{FF2B5EF4-FFF2-40B4-BE49-F238E27FC236}">
                <a16:creationId xmlns:a16="http://schemas.microsoft.com/office/drawing/2014/main" id="{6B9D38C3-02B6-7B4E-833F-E6FA91928C70}"/>
              </a:ext>
            </a:extLst>
          </p:cNvPr>
          <p:cNvSpPr>
            <a:spLocks noGrp="1"/>
          </p:cNvSpPr>
          <p:nvPr>
            <p:ph idx="1"/>
          </p:nvPr>
        </p:nvSpPr>
        <p:spPr/>
        <p:txBody>
          <a:bodyPr/>
          <a:lstStyle/>
          <a:p>
            <a:r>
              <a:rPr kumimoji="1" lang="zh-TW" altLang="en-US" dirty="0"/>
              <a:t>首先要算的是</a:t>
            </a:r>
            <a:endParaRPr kumimoji="1" lang="en-US" altLang="zh-TW" dirty="0"/>
          </a:p>
          <a:p>
            <a:r>
              <a:rPr kumimoji="1" lang="zh-TW" altLang="en-US" dirty="0"/>
              <a:t>而且                      ，對</a:t>
            </a:r>
            <a:r>
              <a:rPr kumimoji="1" lang="en-US" altLang="zh-TW" dirty="0"/>
              <a:t>z</a:t>
            </a:r>
            <a:r>
              <a:rPr kumimoji="1" lang="zh-TW" altLang="en-US" dirty="0"/>
              <a:t>微分的話會是</a:t>
            </a:r>
            <a:endParaRPr kumimoji="1" lang="en-US" altLang="zh-TW" dirty="0"/>
          </a:p>
          <a:p>
            <a:endParaRPr kumimoji="1" lang="en-US" altLang="zh-TW" dirty="0"/>
          </a:p>
          <a:p>
            <a:endParaRPr kumimoji="1" lang="en-US" altLang="zh-TW" dirty="0"/>
          </a:p>
          <a:p>
            <a:r>
              <a:rPr kumimoji="1" lang="zh-TW" altLang="en-US" dirty="0"/>
              <a:t>現在計算</a:t>
            </a:r>
            <a:br>
              <a:rPr kumimoji="1" lang="en-US" altLang="zh-TW" dirty="0"/>
            </a:br>
            <a:r>
              <a:rPr kumimoji="1" lang="en-US" altLang="zh-TW" dirty="0"/>
              <a:t>             </a:t>
            </a:r>
            <a:br>
              <a:rPr kumimoji="1" lang="en-US" altLang="zh-TW" dirty="0"/>
            </a:br>
            <a:br>
              <a:rPr kumimoji="1" lang="en-US" altLang="zh-TW" dirty="0"/>
            </a:br>
            <a:br>
              <a:rPr kumimoji="1" lang="en-US" altLang="zh-TW" dirty="0"/>
            </a:br>
            <a:r>
              <a:rPr kumimoji="1" lang="zh-TW" altLang="en-US" dirty="0"/>
              <a:t>對</a:t>
            </a:r>
            <a:r>
              <a:rPr kumimoji="1" lang="en-US" altLang="zh-TW" dirty="0"/>
              <a:t>w</a:t>
            </a:r>
            <a:r>
              <a:rPr kumimoji="1" lang="zh-TW" altLang="en-US" dirty="0"/>
              <a:t>還有</a:t>
            </a:r>
            <a:r>
              <a:rPr kumimoji="1" lang="en-US" altLang="zh-TW" dirty="0"/>
              <a:t>b</a:t>
            </a:r>
            <a:r>
              <a:rPr kumimoji="1" lang="zh-TW" altLang="en-US" dirty="0"/>
              <a:t>的偏微分</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5B06420B-688F-44F8-9AC8-918DEDC41799}"/>
                  </a:ext>
                </a:extLst>
              </p:cNvPr>
              <p:cNvSpPr txBox="1"/>
              <p:nvPr/>
            </p:nvSpPr>
            <p:spPr>
              <a:xfrm>
                <a:off x="1303145" y="3032035"/>
                <a:ext cx="9655271"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000" i="1" smtClean="0">
                              <a:latin typeface="Cambria Math" panose="02040503050406030204" pitchFamily="18" charset="0"/>
                            </a:rPr>
                          </m:ctrlPr>
                        </m:fPr>
                        <m:num>
                          <m:r>
                            <a:rPr lang="en-US" altLang="zh-TW" sz="2000" i="1" smtClean="0">
                              <a:latin typeface="Cambria Math" panose="02040503050406030204" pitchFamily="18" charset="0"/>
                            </a:rPr>
                            <m:t>𝜕</m:t>
                          </m:r>
                        </m:num>
                        <m:den>
                          <m:r>
                            <a:rPr lang="en-US" altLang="zh-TW" sz="2000" i="1" smtClean="0">
                              <a:latin typeface="Cambria Math" panose="02040503050406030204" pitchFamily="18" charset="0"/>
                            </a:rPr>
                            <m:t>𝜕</m:t>
                          </m:r>
                          <m:r>
                            <a:rPr lang="en-US" altLang="zh-TW" sz="2000" b="0" i="1" smtClean="0">
                              <a:latin typeface="Cambria Math" panose="02040503050406030204" pitchFamily="18" charset="0"/>
                            </a:rPr>
                            <m:t>𝑧</m:t>
                          </m:r>
                        </m:den>
                      </m:f>
                      <m:r>
                        <a:rPr lang="en-US" altLang="zh-TW" sz="2000" i="1">
                          <a:latin typeface="Cambria Math" panose="02040503050406030204" pitchFamily="18" charset="0"/>
                          <a:ea typeface="Cambria Math" panose="02040503050406030204" pitchFamily="18" charset="0"/>
                        </a:rPr>
                        <m:t>∅</m:t>
                      </m:r>
                      <m:d>
                        <m:dPr>
                          <m:ctrlPr>
                            <a:rPr lang="en-US" altLang="zh-TW" sz="2000" i="1">
                              <a:latin typeface="Cambria Math" panose="02040503050406030204" pitchFamily="18" charset="0"/>
                              <a:ea typeface="Cambria Math" panose="02040503050406030204" pitchFamily="18" charset="0"/>
                            </a:rPr>
                          </m:ctrlPr>
                        </m:dPr>
                        <m:e>
                          <m:r>
                            <a:rPr lang="en-US" altLang="zh-TW" sz="2000" i="1">
                              <a:latin typeface="Cambria Math" panose="02040503050406030204" pitchFamily="18" charset="0"/>
                              <a:ea typeface="Cambria Math" panose="02040503050406030204" pitchFamily="18" charset="0"/>
                            </a:rPr>
                            <m:t>𝑧</m:t>
                          </m:r>
                        </m:e>
                      </m:d>
                      <m:r>
                        <a:rPr lang="en-US" altLang="zh-TW" sz="2000" b="0" i="1" smtClean="0">
                          <a:latin typeface="Cambria Math" panose="02040503050406030204" pitchFamily="18" charset="0"/>
                          <a:ea typeface="Cambria Math" panose="02040503050406030204" pitchFamily="18" charset="0"/>
                        </a:rPr>
                        <m:t>=</m:t>
                      </m:r>
                      <m:f>
                        <m:fPr>
                          <m:ctrlPr>
                            <a:rPr lang="en-US" altLang="zh-TW" sz="2000" i="1">
                              <a:latin typeface="Cambria Math" panose="02040503050406030204" pitchFamily="18" charset="0"/>
                            </a:rPr>
                          </m:ctrlPr>
                        </m:fPr>
                        <m:num>
                          <m:r>
                            <a:rPr lang="en-US" altLang="zh-TW" sz="2000" i="1">
                              <a:latin typeface="Cambria Math" panose="02040503050406030204" pitchFamily="18" charset="0"/>
                            </a:rPr>
                            <m:t>𝜕</m:t>
                          </m:r>
                        </m:num>
                        <m:den>
                          <m:r>
                            <a:rPr lang="en-US" altLang="zh-TW" sz="2000" i="1">
                              <a:latin typeface="Cambria Math" panose="02040503050406030204" pitchFamily="18" charset="0"/>
                            </a:rPr>
                            <m:t>𝜕</m:t>
                          </m:r>
                          <m:r>
                            <a:rPr lang="en-US" altLang="zh-TW" sz="2000" i="1">
                              <a:latin typeface="Cambria Math" panose="02040503050406030204" pitchFamily="18" charset="0"/>
                            </a:rPr>
                            <m:t>𝑧</m:t>
                          </m:r>
                        </m:den>
                      </m:f>
                      <m:f>
                        <m:fPr>
                          <m:ctrlPr>
                            <a:rPr lang="en-US" altLang="zh-TW" sz="2000" i="1" smtClean="0">
                              <a:latin typeface="Cambria Math" panose="02040503050406030204" pitchFamily="18" charset="0"/>
                            </a:rPr>
                          </m:ctrlPr>
                        </m:fPr>
                        <m:num>
                          <m:r>
                            <a:rPr lang="en-US" altLang="zh-TW" sz="2000" b="0" i="1" smtClean="0">
                              <a:latin typeface="Cambria Math" panose="02040503050406030204" pitchFamily="18" charset="0"/>
                            </a:rPr>
                            <m:t>1</m:t>
                          </m:r>
                        </m:num>
                        <m:den>
                          <m:r>
                            <a:rPr lang="en-US" altLang="zh-TW" sz="2000" b="0" i="1" smtClean="0">
                              <a:latin typeface="Cambria Math" panose="02040503050406030204" pitchFamily="18" charset="0"/>
                            </a:rPr>
                            <m:t>1+</m:t>
                          </m:r>
                          <m:sSup>
                            <m:sSupPr>
                              <m:ctrlPr>
                                <a:rPr lang="en-US" altLang="zh-TW" sz="2000" b="0" i="1" smtClean="0">
                                  <a:latin typeface="Cambria Math" panose="02040503050406030204" pitchFamily="18" charset="0"/>
                                </a:rPr>
                              </m:ctrlPr>
                            </m:sSupPr>
                            <m:e>
                              <m:r>
                                <a:rPr lang="en-US" altLang="zh-TW" sz="2000" b="0" i="1" smtClean="0">
                                  <a:latin typeface="Cambria Math" panose="02040503050406030204" pitchFamily="18" charset="0"/>
                                </a:rPr>
                                <m:t>𝑒</m:t>
                              </m:r>
                            </m:e>
                            <m:sup>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𝑧</m:t>
                              </m:r>
                            </m:sup>
                          </m:sSup>
                        </m:den>
                      </m:f>
                      <m:r>
                        <a:rPr lang="en-US" altLang="zh-TW" sz="2000" b="0" i="0" smtClean="0">
                          <a:latin typeface="Cambria Math" panose="02040503050406030204" pitchFamily="18" charset="0"/>
                          <a:ea typeface="Cambria Math" panose="02040503050406030204" pitchFamily="18" charset="0"/>
                        </a:rPr>
                        <m:t>=</m:t>
                      </m:r>
                      <m:f>
                        <m:fPr>
                          <m:ctrlPr>
                            <a:rPr lang="en-US" altLang="zh-TW" sz="2000" b="0" i="1" smtClean="0">
                              <a:latin typeface="Cambria Math" panose="02040503050406030204" pitchFamily="18" charset="0"/>
                              <a:ea typeface="Cambria Math" panose="02040503050406030204" pitchFamily="18" charset="0"/>
                            </a:rPr>
                          </m:ctrlPr>
                        </m:fPr>
                        <m:num>
                          <m:r>
                            <a:rPr lang="en-US" altLang="zh-TW" sz="2000" b="0" i="1" smtClean="0">
                              <a:latin typeface="Cambria Math" panose="02040503050406030204" pitchFamily="18" charset="0"/>
                              <a:ea typeface="Cambria Math" panose="02040503050406030204" pitchFamily="18" charset="0"/>
                            </a:rPr>
                            <m:t>1</m:t>
                          </m:r>
                        </m:num>
                        <m:den>
                          <m:sSup>
                            <m:sSupPr>
                              <m:ctrlPr>
                                <a:rPr lang="en-US" altLang="zh-TW" sz="2000" b="0" i="1" smtClean="0">
                                  <a:latin typeface="Cambria Math" panose="02040503050406030204" pitchFamily="18" charset="0"/>
                                  <a:ea typeface="Cambria Math" panose="02040503050406030204" pitchFamily="18" charset="0"/>
                                </a:rPr>
                              </m:ctrlPr>
                            </m:sSupPr>
                            <m:e>
                              <m:r>
                                <a:rPr lang="en-US" altLang="zh-TW" sz="2000" b="0" i="1" smtClean="0">
                                  <a:latin typeface="Cambria Math" panose="02040503050406030204" pitchFamily="18" charset="0"/>
                                  <a:ea typeface="Cambria Math" panose="02040503050406030204" pitchFamily="18" charset="0"/>
                                </a:rPr>
                                <m:t>(</m:t>
                              </m:r>
                              <m:r>
                                <a:rPr lang="en-US" altLang="zh-TW" sz="2000" i="1">
                                  <a:latin typeface="Cambria Math" panose="02040503050406030204" pitchFamily="18" charset="0"/>
                                </a:rPr>
                                <m:t>1+</m:t>
                              </m:r>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𝑒</m:t>
                                  </m:r>
                                </m:e>
                                <m:sup>
                                  <m:r>
                                    <a:rPr lang="en-US" altLang="zh-TW" sz="2000" i="1">
                                      <a:latin typeface="Cambria Math" panose="02040503050406030204" pitchFamily="18" charset="0"/>
                                    </a:rPr>
                                    <m:t>−</m:t>
                                  </m:r>
                                  <m:r>
                                    <a:rPr lang="en-US" altLang="zh-TW" sz="2000" i="1">
                                      <a:latin typeface="Cambria Math" panose="02040503050406030204" pitchFamily="18" charset="0"/>
                                    </a:rPr>
                                    <m:t>𝑧</m:t>
                                  </m:r>
                                </m:sup>
                              </m:sSup>
                              <m:r>
                                <a:rPr lang="en-US" altLang="zh-TW" sz="2000" b="0" i="1" smtClean="0">
                                  <a:latin typeface="Cambria Math" panose="02040503050406030204" pitchFamily="18" charset="0"/>
                                </a:rPr>
                                <m:t>)</m:t>
                              </m:r>
                            </m:e>
                            <m:sup>
                              <m:r>
                                <a:rPr lang="en-US" altLang="zh-TW" sz="2000" b="0" i="1" smtClean="0">
                                  <a:latin typeface="Cambria Math" panose="02040503050406030204" pitchFamily="18" charset="0"/>
                                  <a:ea typeface="Cambria Math" panose="02040503050406030204" pitchFamily="18" charset="0"/>
                                </a:rPr>
                                <m:t>2</m:t>
                              </m:r>
                            </m:sup>
                          </m:sSup>
                        </m:den>
                      </m:f>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𝑒</m:t>
                          </m:r>
                        </m:e>
                        <m:sup>
                          <m:r>
                            <a:rPr lang="en-US" altLang="zh-TW" sz="2000" i="1">
                              <a:latin typeface="Cambria Math" panose="02040503050406030204" pitchFamily="18" charset="0"/>
                            </a:rPr>
                            <m:t>−</m:t>
                          </m:r>
                          <m:r>
                            <a:rPr lang="en-US" altLang="zh-TW" sz="2000" i="1">
                              <a:latin typeface="Cambria Math" panose="02040503050406030204" pitchFamily="18" charset="0"/>
                            </a:rPr>
                            <m:t>𝑧</m:t>
                          </m:r>
                        </m:sup>
                      </m:sSup>
                      <m:r>
                        <a:rPr lang="en-US" altLang="zh-TW" sz="2000" b="0" i="1" smtClean="0">
                          <a:latin typeface="Cambria Math" panose="02040503050406030204" pitchFamily="18" charset="0"/>
                        </a:rPr>
                        <m:t>=</m:t>
                      </m:r>
                      <m:d>
                        <m:dPr>
                          <m:ctrlPr>
                            <a:rPr lang="en-US" altLang="zh-TW" sz="2000" b="0" i="1" smtClean="0">
                              <a:latin typeface="Cambria Math" panose="02040503050406030204" pitchFamily="18" charset="0"/>
                            </a:rPr>
                          </m:ctrlPr>
                        </m:dPr>
                        <m:e>
                          <m:f>
                            <m:fPr>
                              <m:ctrlPr>
                                <a:rPr lang="en-US" altLang="zh-TW" sz="2000" i="1">
                                  <a:latin typeface="Cambria Math" panose="02040503050406030204" pitchFamily="18" charset="0"/>
                                </a:rPr>
                              </m:ctrlPr>
                            </m:fPr>
                            <m:num>
                              <m:r>
                                <a:rPr lang="en-US" altLang="zh-TW" sz="2000" i="1">
                                  <a:latin typeface="Cambria Math" panose="02040503050406030204" pitchFamily="18" charset="0"/>
                                </a:rPr>
                                <m:t>1</m:t>
                              </m:r>
                            </m:num>
                            <m:den>
                              <m:r>
                                <a:rPr lang="en-US" altLang="zh-TW" sz="2000" i="1">
                                  <a:latin typeface="Cambria Math" panose="02040503050406030204" pitchFamily="18" charset="0"/>
                                </a:rPr>
                                <m:t>1+</m:t>
                              </m:r>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𝑒</m:t>
                                  </m:r>
                                </m:e>
                                <m:sup>
                                  <m:r>
                                    <a:rPr lang="en-US" altLang="zh-TW" sz="2000" i="1">
                                      <a:latin typeface="Cambria Math" panose="02040503050406030204" pitchFamily="18" charset="0"/>
                                    </a:rPr>
                                    <m:t>−</m:t>
                                  </m:r>
                                  <m:r>
                                    <a:rPr lang="en-US" altLang="zh-TW" sz="2000" i="1">
                                      <a:latin typeface="Cambria Math" panose="02040503050406030204" pitchFamily="18" charset="0"/>
                                    </a:rPr>
                                    <m:t>𝑧</m:t>
                                  </m:r>
                                </m:sup>
                              </m:sSup>
                            </m:den>
                          </m:f>
                        </m:e>
                      </m:d>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1−</m:t>
                          </m:r>
                          <m:f>
                            <m:fPr>
                              <m:ctrlPr>
                                <a:rPr lang="en-US" altLang="zh-TW" sz="2000" i="1">
                                  <a:latin typeface="Cambria Math" panose="02040503050406030204" pitchFamily="18" charset="0"/>
                                </a:rPr>
                              </m:ctrlPr>
                            </m:fPr>
                            <m:num>
                              <m:r>
                                <a:rPr lang="en-US" altLang="zh-TW" sz="2000" i="1">
                                  <a:latin typeface="Cambria Math" panose="02040503050406030204" pitchFamily="18" charset="0"/>
                                </a:rPr>
                                <m:t>1</m:t>
                              </m:r>
                            </m:num>
                            <m:den>
                              <m:r>
                                <a:rPr lang="en-US" altLang="zh-TW" sz="2000" i="1">
                                  <a:latin typeface="Cambria Math" panose="02040503050406030204" pitchFamily="18" charset="0"/>
                                </a:rPr>
                                <m:t>1+</m:t>
                              </m:r>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𝑒</m:t>
                                  </m:r>
                                </m:e>
                                <m:sup>
                                  <m:r>
                                    <a:rPr lang="en-US" altLang="zh-TW" sz="2000" i="1">
                                      <a:latin typeface="Cambria Math" panose="02040503050406030204" pitchFamily="18" charset="0"/>
                                    </a:rPr>
                                    <m:t>−</m:t>
                                  </m:r>
                                  <m:r>
                                    <a:rPr lang="en-US" altLang="zh-TW" sz="2000" i="1">
                                      <a:latin typeface="Cambria Math" panose="02040503050406030204" pitchFamily="18" charset="0"/>
                                    </a:rPr>
                                    <m:t>𝑧</m:t>
                                  </m:r>
                                </m:sup>
                              </m:sSup>
                            </m:den>
                          </m:f>
                        </m:e>
                      </m:d>
                      <m:r>
                        <a:rPr lang="en-US" altLang="zh-TW" sz="2000" b="0" i="1" smtClean="0">
                          <a:latin typeface="Cambria Math" panose="02040503050406030204" pitchFamily="18" charset="0"/>
                        </a:rPr>
                        <m:t>=</m:t>
                      </m:r>
                      <m:r>
                        <a:rPr lang="zh-TW" altLang="en-US" sz="2000" i="1">
                          <a:latin typeface="Cambria Math" panose="02040503050406030204" pitchFamily="18" charset="0"/>
                        </a:rPr>
                        <m:t>∅</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𝑧</m:t>
                          </m:r>
                        </m:e>
                      </m:d>
                      <m:r>
                        <a:rPr lang="en-US" altLang="zh-TW" sz="2000" b="0" i="1" smtClean="0">
                          <a:latin typeface="Cambria Math" panose="02040503050406030204" pitchFamily="18" charset="0"/>
                        </a:rPr>
                        <m:t>(1−</m:t>
                      </m:r>
                      <m:r>
                        <a:rPr lang="zh-TW" altLang="en-US" sz="2000" i="1">
                          <a:latin typeface="Cambria Math" panose="02040503050406030204" pitchFamily="18" charset="0"/>
                        </a:rPr>
                        <m:t>∅</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𝑧</m:t>
                          </m:r>
                        </m:e>
                      </m:d>
                      <m:r>
                        <a:rPr lang="en-US" altLang="zh-TW" sz="2000" b="0" i="1" smtClean="0">
                          <a:latin typeface="Cambria Math" panose="02040503050406030204" pitchFamily="18" charset="0"/>
                        </a:rPr>
                        <m:t>)</m:t>
                      </m:r>
                    </m:oMath>
                  </m:oMathPara>
                </a14:m>
                <a:endParaRPr lang="zh-TW" altLang="en-US" sz="2000" dirty="0"/>
              </a:p>
            </p:txBody>
          </p:sp>
        </mc:Choice>
        <mc:Fallback xmlns="">
          <p:sp>
            <p:nvSpPr>
              <p:cNvPr id="5" name="文字方塊 4">
                <a:extLst>
                  <a:ext uri="{FF2B5EF4-FFF2-40B4-BE49-F238E27FC236}">
                    <a16:creationId xmlns:a16="http://schemas.microsoft.com/office/drawing/2014/main" id="{5B06420B-688F-44F8-9AC8-918DEDC41799}"/>
                  </a:ext>
                </a:extLst>
              </p:cNvPr>
              <p:cNvSpPr txBox="1">
                <a:spLocks noRot="1" noChangeAspect="1" noMove="1" noResize="1" noEditPoints="1" noAdjustHandles="1" noChangeArrowheads="1" noChangeShapeType="1" noTextEdit="1"/>
              </p:cNvSpPr>
              <p:nvPr/>
            </p:nvSpPr>
            <p:spPr>
              <a:xfrm>
                <a:off x="1303145" y="3032035"/>
                <a:ext cx="9655271" cy="691536"/>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D2A653B9-3E72-4BAF-9344-C76C4EF062F7}"/>
                  </a:ext>
                </a:extLst>
              </p:cNvPr>
              <p:cNvSpPr txBox="1"/>
              <p:nvPr/>
            </p:nvSpPr>
            <p:spPr>
              <a:xfrm>
                <a:off x="2006930" y="2227446"/>
                <a:ext cx="1733360" cy="5833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𝑧</m:t>
                          </m:r>
                        </m:e>
                      </m:d>
                      <m:r>
                        <a:rPr lang="en-US" altLang="zh-TW" sz="2000" b="0" i="1" smtClean="0">
                          <a:latin typeface="Cambria Math" panose="02040503050406030204" pitchFamily="18" charset="0"/>
                        </a:rPr>
                        <m:t>=</m:t>
                      </m:r>
                      <m:f>
                        <m:fPr>
                          <m:ctrlPr>
                            <a:rPr lang="en-US" altLang="zh-TW" sz="2000" i="1">
                              <a:latin typeface="Cambria Math" panose="02040503050406030204" pitchFamily="18" charset="0"/>
                            </a:rPr>
                          </m:ctrlPr>
                        </m:fPr>
                        <m:num>
                          <m:r>
                            <a:rPr lang="en-US" altLang="zh-TW" sz="2000" i="1">
                              <a:latin typeface="Cambria Math" panose="02040503050406030204" pitchFamily="18" charset="0"/>
                            </a:rPr>
                            <m:t>1</m:t>
                          </m:r>
                        </m:num>
                        <m:den>
                          <m:r>
                            <a:rPr lang="en-US" altLang="zh-TW" sz="2000" i="1">
                              <a:latin typeface="Cambria Math" panose="02040503050406030204" pitchFamily="18" charset="0"/>
                            </a:rPr>
                            <m:t>1+</m:t>
                          </m:r>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𝑒</m:t>
                              </m:r>
                            </m:e>
                            <m:sup>
                              <m:r>
                                <a:rPr lang="en-US" altLang="zh-TW" sz="2000" i="1">
                                  <a:latin typeface="Cambria Math" panose="02040503050406030204" pitchFamily="18" charset="0"/>
                                </a:rPr>
                                <m:t>−</m:t>
                              </m:r>
                              <m:r>
                                <a:rPr lang="en-US" altLang="zh-TW" sz="2000" i="1">
                                  <a:latin typeface="Cambria Math" panose="02040503050406030204" pitchFamily="18" charset="0"/>
                                </a:rPr>
                                <m:t>𝑧</m:t>
                              </m:r>
                            </m:sup>
                          </m:sSup>
                        </m:den>
                      </m:f>
                    </m:oMath>
                  </m:oMathPara>
                </a14:m>
                <a:endParaRPr lang="zh-TW" altLang="en-US" sz="2000" dirty="0"/>
              </a:p>
            </p:txBody>
          </p:sp>
        </mc:Choice>
        <mc:Fallback xmlns="">
          <p:sp>
            <p:nvSpPr>
              <p:cNvPr id="6" name="文字方塊 5">
                <a:extLst>
                  <a:ext uri="{FF2B5EF4-FFF2-40B4-BE49-F238E27FC236}">
                    <a16:creationId xmlns:a16="http://schemas.microsoft.com/office/drawing/2014/main" id="{D2A653B9-3E72-4BAF-9344-C76C4EF062F7}"/>
                  </a:ext>
                </a:extLst>
              </p:cNvPr>
              <p:cNvSpPr txBox="1">
                <a:spLocks noRot="1" noChangeAspect="1" noMove="1" noResize="1" noEditPoints="1" noAdjustHandles="1" noChangeArrowheads="1" noChangeShapeType="1" noTextEdit="1"/>
              </p:cNvSpPr>
              <p:nvPr/>
            </p:nvSpPr>
            <p:spPr>
              <a:xfrm>
                <a:off x="2006930" y="2227446"/>
                <a:ext cx="1733360" cy="5833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D135CCF-43D9-488D-9ADD-2C44BF92A6D9}"/>
                  </a:ext>
                </a:extLst>
              </p:cNvPr>
              <p:cNvSpPr txBox="1"/>
              <p:nvPr/>
            </p:nvSpPr>
            <p:spPr>
              <a:xfrm>
                <a:off x="3467594" y="1818887"/>
                <a:ext cx="15432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rPr>
                        <m:t>𝑧</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𝑥</m:t>
                      </m:r>
                      <m:r>
                        <a:rPr lang="en-US" altLang="zh-TW" sz="2000" b="0" i="1" smtClean="0">
                          <a:latin typeface="Cambria Math" panose="02040503050406030204" pitchFamily="18" charset="0"/>
                        </a:rPr>
                        <m:t>∗</m:t>
                      </m:r>
                      <m:r>
                        <a:rPr lang="zh-TW" altLang="en-US" sz="2000" b="0" i="1" smtClean="0">
                          <a:latin typeface="Cambria Math" panose="02040503050406030204" pitchFamily="18" charset="0"/>
                        </a:rPr>
                        <m:t>𝜔</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𝑏</m:t>
                      </m:r>
                    </m:oMath>
                  </m:oMathPara>
                </a14:m>
                <a:endParaRPr lang="zh-TW" altLang="en-US" sz="2000" dirty="0"/>
              </a:p>
            </p:txBody>
          </p:sp>
        </mc:Choice>
        <mc:Fallback xmlns="">
          <p:sp>
            <p:nvSpPr>
              <p:cNvPr id="7" name="文字方塊 6">
                <a:extLst>
                  <a:ext uri="{FF2B5EF4-FFF2-40B4-BE49-F238E27FC236}">
                    <a16:creationId xmlns:a16="http://schemas.microsoft.com/office/drawing/2014/main" id="{9D135CCF-43D9-488D-9ADD-2C44BF92A6D9}"/>
                  </a:ext>
                </a:extLst>
              </p:cNvPr>
              <p:cNvSpPr txBox="1">
                <a:spLocks noRot="1" noChangeAspect="1" noMove="1" noResize="1" noEditPoints="1" noAdjustHandles="1" noChangeArrowheads="1" noChangeShapeType="1" noTextEdit="1"/>
              </p:cNvSpPr>
              <p:nvPr/>
            </p:nvSpPr>
            <p:spPr>
              <a:xfrm>
                <a:off x="3467594" y="1818887"/>
                <a:ext cx="1543243" cy="307777"/>
              </a:xfrm>
              <a:prstGeom prst="rect">
                <a:avLst/>
              </a:prstGeom>
              <a:blipFill>
                <a:blip r:embed="rId5"/>
                <a:stretch>
                  <a:fillRect l="-1976" r="-3557" b="-58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AAD3768B-A4D7-406D-A41D-C8B90FB38935}"/>
                  </a:ext>
                </a:extLst>
              </p:cNvPr>
              <p:cNvSpPr txBox="1"/>
              <p:nvPr/>
            </p:nvSpPr>
            <p:spPr>
              <a:xfrm>
                <a:off x="2264284" y="4332722"/>
                <a:ext cx="6737742" cy="8402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000" b="0" i="1" smtClean="0">
                          <a:latin typeface="Cambria Math" panose="02040503050406030204" pitchFamily="18" charset="0"/>
                        </a:rPr>
                        <m:t>𝐽</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𝑤</m:t>
                          </m:r>
                        </m:e>
                      </m:d>
                      <m:r>
                        <a:rPr kumimoji="1" lang="en-US" altLang="zh-TW" sz="2000" b="0" i="1" smtClean="0">
                          <a:latin typeface="Cambria Math" panose="02040503050406030204" pitchFamily="18" charset="0"/>
                        </a:rPr>
                        <m:t>=</m:t>
                      </m:r>
                      <m:nary>
                        <m:naryPr>
                          <m:chr m:val="∑"/>
                          <m:ctrlPr>
                            <a:rPr kumimoji="1" lang="en-US" altLang="zh-TW" sz="2000" i="1">
                              <a:latin typeface="Cambria Math" panose="02040503050406030204" pitchFamily="18" charset="0"/>
                            </a:rPr>
                          </m:ctrlPr>
                        </m:naryPr>
                        <m:sub>
                          <m:r>
                            <m:rPr>
                              <m:brk m:alnAt="23"/>
                            </m:rPr>
                            <a:rPr kumimoji="1" lang="en-US" altLang="zh-TW" sz="2000" i="1">
                              <a:latin typeface="Cambria Math" panose="02040503050406030204" pitchFamily="18" charset="0"/>
                            </a:rPr>
                            <m:t>𝑖</m:t>
                          </m:r>
                          <m:r>
                            <a:rPr kumimoji="1" lang="en-US" altLang="zh-TW" sz="2000" i="1">
                              <a:latin typeface="Cambria Math" panose="02040503050406030204" pitchFamily="18" charset="0"/>
                            </a:rPr>
                            <m:t>=1</m:t>
                          </m:r>
                        </m:sub>
                        <m:sup>
                          <m:r>
                            <a:rPr kumimoji="1" lang="en-US" altLang="zh-TW" sz="2000" i="1">
                              <a:latin typeface="Cambria Math" panose="02040503050406030204" pitchFamily="18" charset="0"/>
                            </a:rPr>
                            <m:t>𝑛</m:t>
                          </m:r>
                        </m:sup>
                        <m:e>
                          <m:d>
                            <m:dPr>
                              <m:begChr m:val="["/>
                              <m:endChr m:val="]"/>
                              <m:ctrlPr>
                                <a:rPr kumimoji="1" lang="en-US" altLang="zh-TW" sz="2000" i="1">
                                  <a:latin typeface="Cambria Math" panose="02040503050406030204" pitchFamily="18" charset="0"/>
                                </a:rPr>
                              </m:ctrlPr>
                            </m:dPr>
                            <m:e>
                              <m:r>
                                <a:rPr kumimoji="1" lang="en-US" altLang="zh-TW" sz="2000" b="0" i="1" smtClean="0">
                                  <a:latin typeface="Cambria Math" panose="02040503050406030204" pitchFamily="18" charset="0"/>
                                </a:rPr>
                                <m:t>−</m:t>
                              </m:r>
                              <m:sSup>
                                <m:sSupPr>
                                  <m:ctrlPr>
                                    <a:rPr kumimoji="1" lang="en-US" altLang="zh-TW" sz="2000" i="1">
                                      <a:latin typeface="Cambria Math" panose="02040503050406030204" pitchFamily="18" charset="0"/>
                                    </a:rPr>
                                  </m:ctrlPr>
                                </m:sSupPr>
                                <m:e>
                                  <m:r>
                                    <a:rPr kumimoji="1" lang="en-US" altLang="zh-TW" sz="2000" i="1">
                                      <a:latin typeface="Cambria Math" panose="02040503050406030204" pitchFamily="18" charset="0"/>
                                    </a:rPr>
                                    <m:t>𝑦</m:t>
                                  </m:r>
                                </m:e>
                                <m:sup>
                                  <m:r>
                                    <a:rPr kumimoji="1" lang="en-US" altLang="zh-TW" sz="2000" i="1">
                                      <a:latin typeface="Cambria Math" panose="02040503050406030204" pitchFamily="18" charset="0"/>
                                    </a:rPr>
                                    <m:t>(</m:t>
                                  </m:r>
                                  <m:r>
                                    <a:rPr kumimoji="1" lang="en-US" altLang="zh-TW" sz="2000" i="1">
                                      <a:latin typeface="Cambria Math" panose="02040503050406030204" pitchFamily="18" charset="0"/>
                                    </a:rPr>
                                    <m:t>𝑖</m:t>
                                  </m:r>
                                  <m:r>
                                    <a:rPr kumimoji="1" lang="en-US" altLang="zh-TW" sz="2000" i="1">
                                      <a:latin typeface="Cambria Math" panose="02040503050406030204" pitchFamily="18" charset="0"/>
                                    </a:rPr>
                                    <m:t>)</m:t>
                                  </m:r>
                                </m:sup>
                              </m:sSup>
                              <m:func>
                                <m:funcPr>
                                  <m:ctrlPr>
                                    <a:rPr kumimoji="1" lang="en-US" altLang="zh-TW" sz="2000" i="1">
                                      <a:latin typeface="Cambria Math" panose="02040503050406030204" pitchFamily="18" charset="0"/>
                                    </a:rPr>
                                  </m:ctrlPr>
                                </m:funcPr>
                                <m:fName>
                                  <m:r>
                                    <m:rPr>
                                      <m:sty m:val="p"/>
                                    </m:rPr>
                                    <a:rPr kumimoji="1" lang="en-US" altLang="zh-TW" sz="2000">
                                      <a:latin typeface="Cambria Math" panose="02040503050406030204" pitchFamily="18" charset="0"/>
                                    </a:rPr>
                                    <m:t>log</m:t>
                                  </m:r>
                                </m:fName>
                                <m:e>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m:t>
                                      </m:r>
                                      <m:d>
                                        <m:dPr>
                                          <m:ctrlPr>
                                            <a:rPr kumimoji="1" lang="en-US" altLang="zh-TW" sz="2000" i="1">
                                              <a:latin typeface="Cambria Math" panose="02040503050406030204" pitchFamily="18" charset="0"/>
                                              <a:ea typeface="Cambria Math" panose="02040503050406030204" pitchFamily="18" charset="0"/>
                                            </a:rPr>
                                          </m:ctrlPr>
                                        </m:dPr>
                                        <m:e>
                                          <m:sSup>
                                            <m:sSupPr>
                                              <m:ctrlPr>
                                                <a:rPr kumimoji="1" lang="en-US" altLang="zh-TW" sz="2000" i="1">
                                                  <a:latin typeface="Cambria Math" panose="02040503050406030204" pitchFamily="18" charset="0"/>
                                                  <a:ea typeface="Cambria Math" panose="02040503050406030204" pitchFamily="18" charset="0"/>
                                                </a:rPr>
                                              </m:ctrlPr>
                                            </m:sSupPr>
                                            <m:e>
                                              <m:r>
                                                <a:rPr kumimoji="1" lang="en-US" altLang="zh-TW" sz="2000" i="1">
                                                  <a:latin typeface="Cambria Math" panose="02040503050406030204" pitchFamily="18" charset="0"/>
                                                  <a:ea typeface="Cambria Math" panose="02040503050406030204" pitchFamily="18" charset="0"/>
                                                </a:rPr>
                                                <m:t>𝑧</m:t>
                                              </m:r>
                                            </m:e>
                                            <m:sup>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𝑖</m:t>
                                                  </m:r>
                                                </m:e>
                                              </m:d>
                                            </m:sup>
                                          </m:sSup>
                                        </m:e>
                                      </m:d>
                                    </m:e>
                                  </m:d>
                                  <m:r>
                                    <a:rPr kumimoji="1" lang="en-US" altLang="zh-TW" sz="2000" b="0" i="1" smtClean="0">
                                      <a:latin typeface="Cambria Math" panose="02040503050406030204" pitchFamily="18" charset="0"/>
                                      <a:ea typeface="Cambria Math" panose="02040503050406030204" pitchFamily="18" charset="0"/>
                                    </a:rPr>
                                    <m:t>−</m:t>
                                  </m:r>
                                  <m:r>
                                    <a:rPr kumimoji="1" lang="en-US" altLang="zh-TW" sz="2000" i="1">
                                      <a:latin typeface="Cambria Math" panose="02040503050406030204" pitchFamily="18" charset="0"/>
                                    </a:rPr>
                                    <m:t>(1−</m:t>
                                  </m:r>
                                  <m:sSup>
                                    <m:sSupPr>
                                      <m:ctrlPr>
                                        <a:rPr kumimoji="1" lang="en-US" altLang="zh-TW" sz="2000" i="1">
                                          <a:latin typeface="Cambria Math" panose="02040503050406030204" pitchFamily="18" charset="0"/>
                                        </a:rPr>
                                      </m:ctrlPr>
                                    </m:sSupPr>
                                    <m:e>
                                      <m:r>
                                        <a:rPr kumimoji="1" lang="en-US" altLang="zh-TW" sz="2000" i="1">
                                          <a:latin typeface="Cambria Math" panose="02040503050406030204" pitchFamily="18" charset="0"/>
                                        </a:rPr>
                                        <m:t>𝑦</m:t>
                                      </m:r>
                                    </m:e>
                                    <m:sup>
                                      <m:r>
                                        <a:rPr kumimoji="1" lang="en-US" altLang="zh-TW" sz="2000" i="1">
                                          <a:latin typeface="Cambria Math" panose="02040503050406030204" pitchFamily="18" charset="0"/>
                                        </a:rPr>
                                        <m:t>(</m:t>
                                      </m:r>
                                      <m:r>
                                        <a:rPr kumimoji="1" lang="en-US" altLang="zh-TW" sz="2000" i="1">
                                          <a:latin typeface="Cambria Math" panose="02040503050406030204" pitchFamily="18" charset="0"/>
                                        </a:rPr>
                                        <m:t>𝑖</m:t>
                                      </m:r>
                                      <m:r>
                                        <a:rPr kumimoji="1" lang="en-US" altLang="zh-TW" sz="2000" i="1">
                                          <a:latin typeface="Cambria Math" panose="02040503050406030204" pitchFamily="18" charset="0"/>
                                        </a:rPr>
                                        <m:t>)</m:t>
                                      </m:r>
                                    </m:sup>
                                  </m:sSup>
                                  <m:r>
                                    <a:rPr kumimoji="1" lang="en-US" altLang="zh-TW" sz="2000" i="1">
                                      <a:latin typeface="Cambria Math" panose="02040503050406030204" pitchFamily="18" charset="0"/>
                                    </a:rPr>
                                    <m:t>)</m:t>
                                  </m:r>
                                  <m:func>
                                    <m:funcPr>
                                      <m:ctrlPr>
                                        <a:rPr kumimoji="1" lang="en-US" altLang="zh-TW" sz="2000" i="1">
                                          <a:latin typeface="Cambria Math" panose="02040503050406030204" pitchFamily="18" charset="0"/>
                                        </a:rPr>
                                      </m:ctrlPr>
                                    </m:funcPr>
                                    <m:fName>
                                      <m:r>
                                        <m:rPr>
                                          <m:sty m:val="p"/>
                                        </m:rPr>
                                        <a:rPr kumimoji="1" lang="en-US" altLang="zh-TW" sz="2000">
                                          <a:latin typeface="Cambria Math" panose="02040503050406030204" pitchFamily="18" charset="0"/>
                                        </a:rPr>
                                        <m:t>log</m:t>
                                      </m:r>
                                    </m:fName>
                                    <m:e>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1−∅</m:t>
                                          </m:r>
                                          <m:d>
                                            <m:dPr>
                                              <m:ctrlPr>
                                                <a:rPr kumimoji="1" lang="en-US" altLang="zh-TW" sz="2000" i="1">
                                                  <a:latin typeface="Cambria Math" panose="02040503050406030204" pitchFamily="18" charset="0"/>
                                                  <a:ea typeface="Cambria Math" panose="02040503050406030204" pitchFamily="18" charset="0"/>
                                                </a:rPr>
                                              </m:ctrlPr>
                                            </m:dPr>
                                            <m:e>
                                              <m:sSup>
                                                <m:sSupPr>
                                                  <m:ctrlPr>
                                                    <a:rPr kumimoji="1" lang="en-US" altLang="zh-TW" sz="2000" i="1">
                                                      <a:latin typeface="Cambria Math" panose="02040503050406030204" pitchFamily="18" charset="0"/>
                                                      <a:ea typeface="Cambria Math" panose="02040503050406030204" pitchFamily="18" charset="0"/>
                                                    </a:rPr>
                                                  </m:ctrlPr>
                                                </m:sSupPr>
                                                <m:e>
                                                  <m:r>
                                                    <a:rPr kumimoji="1" lang="en-US" altLang="zh-TW" sz="2000" i="1">
                                                      <a:latin typeface="Cambria Math" panose="02040503050406030204" pitchFamily="18" charset="0"/>
                                                      <a:ea typeface="Cambria Math" panose="02040503050406030204" pitchFamily="18" charset="0"/>
                                                    </a:rPr>
                                                    <m:t>𝑧</m:t>
                                                  </m:r>
                                                </m:e>
                                                <m:sup>
                                                  <m:d>
                                                    <m:dPr>
                                                      <m:ctrlPr>
                                                        <a:rPr kumimoji="1" lang="en-US" altLang="zh-TW" sz="2000" i="1">
                                                          <a:latin typeface="Cambria Math" panose="02040503050406030204" pitchFamily="18" charset="0"/>
                                                          <a:ea typeface="Cambria Math" panose="02040503050406030204" pitchFamily="18" charset="0"/>
                                                        </a:rPr>
                                                      </m:ctrlPr>
                                                    </m:dPr>
                                                    <m:e>
                                                      <m:r>
                                                        <a:rPr kumimoji="1" lang="en-US" altLang="zh-TW" sz="2000" i="1">
                                                          <a:latin typeface="Cambria Math" panose="02040503050406030204" pitchFamily="18" charset="0"/>
                                                          <a:ea typeface="Cambria Math" panose="02040503050406030204" pitchFamily="18" charset="0"/>
                                                        </a:rPr>
                                                        <m:t>𝑖</m:t>
                                                      </m:r>
                                                    </m:e>
                                                  </m:d>
                                                </m:sup>
                                              </m:sSup>
                                            </m:e>
                                          </m:d>
                                        </m:e>
                                      </m:d>
                                    </m:e>
                                  </m:func>
                                </m:e>
                              </m:func>
                            </m:e>
                          </m:d>
                        </m:e>
                      </m:nary>
                    </m:oMath>
                  </m:oMathPara>
                </a14:m>
                <a:endParaRPr kumimoji="1" lang="zh-TW" altLang="en-US" sz="2000" dirty="0"/>
              </a:p>
            </p:txBody>
          </p:sp>
        </mc:Choice>
        <mc:Fallback xmlns="">
          <p:sp>
            <p:nvSpPr>
              <p:cNvPr id="8" name="文字方塊 7">
                <a:extLst>
                  <a:ext uri="{FF2B5EF4-FFF2-40B4-BE49-F238E27FC236}">
                    <a16:creationId xmlns:a16="http://schemas.microsoft.com/office/drawing/2014/main" id="{AAD3768B-A4D7-406D-A41D-C8B90FB38935}"/>
                  </a:ext>
                </a:extLst>
              </p:cNvPr>
              <p:cNvSpPr txBox="1">
                <a:spLocks noRot="1" noChangeAspect="1" noMove="1" noResize="1" noEditPoints="1" noAdjustHandles="1" noChangeArrowheads="1" noChangeShapeType="1" noTextEdit="1"/>
              </p:cNvSpPr>
              <p:nvPr/>
            </p:nvSpPr>
            <p:spPr>
              <a:xfrm>
                <a:off x="2264284" y="4332722"/>
                <a:ext cx="6737742" cy="840295"/>
              </a:xfrm>
              <a:prstGeom prst="rect">
                <a:avLst/>
              </a:prstGeom>
              <a:blipFill>
                <a:blip r:embed="rId6"/>
                <a:stretch>
                  <a:fillRect l="-1130" t="-119403" b="-17910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31892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8A84B1-F9A7-3D84-0826-C3A218EBC557}"/>
              </a:ext>
            </a:extLst>
          </p:cNvPr>
          <p:cNvSpPr>
            <a:spLocks noGrp="1"/>
          </p:cNvSpPr>
          <p:nvPr>
            <p:ph type="title"/>
          </p:nvPr>
        </p:nvSpPr>
        <p:spPr>
          <a:xfrm>
            <a:off x="838200" y="365125"/>
            <a:ext cx="10515600" cy="1325563"/>
          </a:xfrm>
        </p:spPr>
        <p:txBody>
          <a:bodyPr/>
          <a:lstStyle/>
          <a:p>
            <a:r>
              <a:rPr lang="en-US" altLang="zh-TW" dirty="0"/>
              <a:t>Logistic regression</a:t>
            </a:r>
            <a:endParaRPr lang="zh-TW" altLang="en-US" dirty="0"/>
          </a:p>
        </p:txBody>
      </p:sp>
      <mc:AlternateContent xmlns:mc="http://schemas.openxmlformats.org/markup-compatibility/2006" xmlns:a14="http://schemas.microsoft.com/office/drawing/2010/main">
        <mc:Choice Requires="a14">
          <p:sp>
            <p:nvSpPr>
              <p:cNvPr id="13" name="內容版面配置區 12">
                <a:extLst>
                  <a:ext uri="{FF2B5EF4-FFF2-40B4-BE49-F238E27FC236}">
                    <a16:creationId xmlns:a16="http://schemas.microsoft.com/office/drawing/2014/main" id="{7DB9602B-7DD4-60DF-C7D0-8BE78B23C2F8}"/>
                  </a:ext>
                </a:extLst>
              </p:cNvPr>
              <p:cNvSpPr>
                <a:spLocks noGrp="1"/>
              </p:cNvSpPr>
              <p:nvPr>
                <p:ph idx="1"/>
              </p:nvPr>
            </p:nvSpPr>
            <p:spPr>
              <a:xfrm>
                <a:off x="838200" y="1825625"/>
                <a:ext cx="10515600" cy="4351338"/>
              </a:xfrm>
            </p:spPr>
            <p:txBody>
              <a:bodyPr/>
              <a:lstStyle/>
              <a:p>
                <a:endParaRPr lang="en-US" altLang="zh-TW" dirty="0"/>
              </a:p>
              <a:p>
                <a:endParaRPr lang="en-US" altLang="zh-TW" dirty="0"/>
              </a:p>
              <a:p>
                <a:endParaRPr lang="en-US" altLang="zh-TW" dirty="0"/>
              </a:p>
              <a:p>
                <a:r>
                  <a:rPr lang="zh-TW" altLang="en-US" sz="2400" dirty="0"/>
                  <a:t>對</a:t>
                </a:r>
                <a:r>
                  <a:rPr lang="en-US" altLang="zh-TW" sz="2400" dirty="0"/>
                  <a:t>w</a:t>
                </a:r>
                <a:r>
                  <a:rPr lang="zh-TW" altLang="en-US" sz="2400" dirty="0"/>
                  <a:t>還有</a:t>
                </a:r>
                <a:r>
                  <a:rPr lang="en-US" altLang="zh-TW" sz="2400" dirty="0"/>
                  <a:t>b</a:t>
                </a:r>
                <a:r>
                  <a:rPr lang="zh-TW" altLang="en-US" sz="2400" dirty="0"/>
                  <a:t>的偏微分</a:t>
                </a:r>
                <a:endParaRPr lang="en-US" altLang="zh-TW" sz="2400" dirty="0"/>
              </a:p>
              <a:p>
                <a:r>
                  <a:rPr lang="zh-TW" altLang="en-US" sz="2400" dirty="0"/>
                  <a:t>假設</a:t>
                </a:r>
                <a14:m>
                  <m:oMath xmlns:m="http://schemas.openxmlformats.org/officeDocument/2006/math">
                    <m:r>
                      <m:rPr>
                        <m:sty m:val="p"/>
                      </m:rPr>
                      <a:rPr lang="en-US" altLang="zh-TW" sz="2400" smtClean="0">
                        <a:latin typeface="Cambria Math" panose="02040503050406030204" pitchFamily="18" charset="0"/>
                      </a:rPr>
                      <m:t>A</m:t>
                    </m:r>
                    <m:r>
                      <a:rPr lang="en-US" altLang="zh-TW" sz="2400" smtClean="0">
                        <a:latin typeface="Cambria Math" panose="02040503050406030204" pitchFamily="18" charset="0"/>
                      </a:rPr>
                      <m:t>=−</m:t>
                    </m:r>
                    <m:r>
                      <a:rPr lang="en" altLang="zh-TW" sz="2400">
                        <a:latin typeface="Cambria Math" panose="02040503050406030204" pitchFamily="18" charset="0"/>
                      </a:rPr>
                      <m:t>𝑦</m:t>
                    </m:r>
                    <m:r>
                      <a:rPr lang="en" altLang="zh-TW" sz="2400">
                        <a:latin typeface="Cambria Math" panose="02040503050406030204" pitchFamily="18" charset="0"/>
                      </a:rPr>
                      <m:t>⋅</m:t>
                    </m:r>
                    <m:func>
                      <m:funcPr>
                        <m:ctrlPr>
                          <a:rPr lang="en" altLang="zh-TW" sz="2400" i="1">
                            <a:latin typeface="Cambria Math" panose="02040503050406030204" pitchFamily="18" charset="0"/>
                          </a:rPr>
                        </m:ctrlPr>
                      </m:funcPr>
                      <m:fName>
                        <m:r>
                          <m:rPr>
                            <m:sty m:val="p"/>
                          </m:rPr>
                          <a:rPr lang="en" altLang="zh-TW" sz="2400">
                            <a:latin typeface="Cambria Math" panose="02040503050406030204" pitchFamily="18" charset="0"/>
                          </a:rPr>
                          <m:t>log</m:t>
                        </m:r>
                      </m:fName>
                      <m:e>
                        <m:d>
                          <m:dPr>
                            <m:ctrlPr>
                              <a:rPr lang="en" altLang="zh-TW" sz="2400" i="1">
                                <a:latin typeface="Cambria Math" panose="02040503050406030204" pitchFamily="18" charset="0"/>
                              </a:rPr>
                            </m:ctrlPr>
                          </m:dPr>
                          <m:e>
                            <m:sSub>
                              <m:sSubPr>
                                <m:ctrlPr>
                                  <a:rPr lang="en" altLang="zh-TW" sz="2400" i="1">
                                    <a:latin typeface="Cambria Math" panose="02040503050406030204" pitchFamily="18" charset="0"/>
                                  </a:rPr>
                                </m:ctrlPr>
                              </m:sSubPr>
                              <m:e>
                                <m:r>
                                  <a:rPr lang="en" altLang="zh-TW" sz="2400">
                                    <a:latin typeface="Cambria Math" panose="02040503050406030204" pitchFamily="18" charset="0"/>
                                  </a:rPr>
                                  <m:t>h</m:t>
                                </m:r>
                              </m:e>
                              <m:sub>
                                <m:r>
                                  <a:rPr lang="en" altLang="zh-TW" sz="2400">
                                    <a:latin typeface="Cambria Math" panose="02040503050406030204" pitchFamily="18" charset="0"/>
                                  </a:rPr>
                                  <m:t>𝜃</m:t>
                                </m:r>
                              </m:sub>
                            </m:sSub>
                          </m:e>
                        </m:d>
                      </m:e>
                    </m:func>
                  </m:oMath>
                </a14:m>
                <a:r>
                  <a:rPr lang="zh-TW" altLang="en-US" sz="2400" dirty="0"/>
                  <a:t>，然後</a:t>
                </a:r>
                <a14:m>
                  <m:oMath xmlns:m="http://schemas.openxmlformats.org/officeDocument/2006/math">
                    <m:r>
                      <m:rPr>
                        <m:sty m:val="p"/>
                      </m:rPr>
                      <a:rPr lang="en-US" altLang="zh-TW" sz="2400" smtClean="0">
                        <a:latin typeface="Cambria Math" panose="02040503050406030204" pitchFamily="18" charset="0"/>
                      </a:rPr>
                      <m:t>B</m:t>
                    </m:r>
                    <m:r>
                      <a:rPr lang="en-US" altLang="zh-TW" sz="2400" smtClean="0">
                        <a:latin typeface="Cambria Math" panose="02040503050406030204" pitchFamily="18" charset="0"/>
                      </a:rPr>
                      <m:t>=−</m:t>
                    </m:r>
                    <m:d>
                      <m:dPr>
                        <m:ctrlPr>
                          <a:rPr lang="en" altLang="zh-TW" sz="2400" i="1">
                            <a:latin typeface="Cambria Math" panose="02040503050406030204" pitchFamily="18" charset="0"/>
                          </a:rPr>
                        </m:ctrlPr>
                      </m:dPr>
                      <m:e>
                        <m:r>
                          <a:rPr lang="en" altLang="zh-TW" sz="2400">
                            <a:latin typeface="Cambria Math" panose="02040503050406030204" pitchFamily="18" charset="0"/>
                          </a:rPr>
                          <m:t>1−</m:t>
                        </m:r>
                        <m:r>
                          <a:rPr lang="en" altLang="zh-TW" sz="2400">
                            <a:latin typeface="Cambria Math" panose="02040503050406030204" pitchFamily="18" charset="0"/>
                          </a:rPr>
                          <m:t>𝑦</m:t>
                        </m:r>
                      </m:e>
                    </m:d>
                    <m:r>
                      <a:rPr lang="en" altLang="zh-TW" sz="2400">
                        <a:latin typeface="Cambria Math" panose="02040503050406030204" pitchFamily="18" charset="0"/>
                      </a:rPr>
                      <m:t>⋅</m:t>
                    </m:r>
                    <m:func>
                      <m:funcPr>
                        <m:ctrlPr>
                          <a:rPr lang="en" altLang="zh-TW" sz="2400" i="1">
                            <a:latin typeface="Cambria Math" panose="02040503050406030204" pitchFamily="18" charset="0"/>
                          </a:rPr>
                        </m:ctrlPr>
                      </m:funcPr>
                      <m:fName>
                        <m:r>
                          <m:rPr>
                            <m:sty m:val="p"/>
                          </m:rPr>
                          <a:rPr lang="en" altLang="zh-TW" sz="2400">
                            <a:latin typeface="Cambria Math" panose="02040503050406030204" pitchFamily="18" charset="0"/>
                          </a:rPr>
                          <m:t>log</m:t>
                        </m:r>
                      </m:fName>
                      <m:e>
                        <m:d>
                          <m:dPr>
                            <m:ctrlPr>
                              <a:rPr lang="en" altLang="zh-TW" sz="2400" i="1">
                                <a:latin typeface="Cambria Math" panose="02040503050406030204" pitchFamily="18" charset="0"/>
                              </a:rPr>
                            </m:ctrlPr>
                          </m:dPr>
                          <m:e>
                            <m:r>
                              <a:rPr lang="en" altLang="zh-TW" sz="2400">
                                <a:latin typeface="Cambria Math" panose="02040503050406030204" pitchFamily="18" charset="0"/>
                              </a:rPr>
                              <m:t>1−</m:t>
                            </m:r>
                            <m:sSub>
                              <m:sSubPr>
                                <m:ctrlPr>
                                  <a:rPr lang="en" altLang="zh-TW" sz="2400" i="1">
                                    <a:latin typeface="Cambria Math" panose="02040503050406030204" pitchFamily="18" charset="0"/>
                                  </a:rPr>
                                </m:ctrlPr>
                              </m:sSubPr>
                              <m:e>
                                <m:r>
                                  <a:rPr lang="en" altLang="zh-TW" sz="2400">
                                    <a:latin typeface="Cambria Math" panose="02040503050406030204" pitchFamily="18" charset="0"/>
                                  </a:rPr>
                                  <m:t>h</m:t>
                                </m:r>
                              </m:e>
                              <m:sub>
                                <m:r>
                                  <a:rPr lang="en" altLang="zh-TW" sz="2400">
                                    <a:latin typeface="Cambria Math" panose="02040503050406030204" pitchFamily="18" charset="0"/>
                                  </a:rPr>
                                  <m:t>𝜃</m:t>
                                </m:r>
                              </m:sub>
                            </m:sSub>
                          </m:e>
                        </m:d>
                      </m:e>
                    </m:func>
                  </m:oMath>
                </a14:m>
                <a:endParaRPr lang="zh-TW" altLang="en-US" sz="2400" dirty="0"/>
              </a:p>
            </p:txBody>
          </p:sp>
        </mc:Choice>
        <mc:Fallback xmlns="">
          <p:sp>
            <p:nvSpPr>
              <p:cNvPr id="13" name="內容版面配置區 12">
                <a:extLst>
                  <a:ext uri="{FF2B5EF4-FFF2-40B4-BE49-F238E27FC236}">
                    <a16:creationId xmlns:a16="http://schemas.microsoft.com/office/drawing/2014/main" id="{7DB9602B-7DD4-60DF-C7D0-8BE78B23C2F8}"/>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8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B71E00EF-F4E7-AD72-0185-6DE2C74766C1}"/>
                  </a:ext>
                </a:extLst>
              </p:cNvPr>
              <p:cNvSpPr txBox="1"/>
              <p:nvPr/>
            </p:nvSpPr>
            <p:spPr>
              <a:xfrm>
                <a:off x="568264" y="2124356"/>
                <a:ext cx="2400870" cy="7340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sz="2200" i="1" smtClean="0">
                              <a:latin typeface="Cambria Math" panose="02040503050406030204" pitchFamily="18" charset="0"/>
                            </a:rPr>
                          </m:ctrlPr>
                        </m:sSubPr>
                        <m:e>
                          <m:r>
                            <a:rPr lang="zh-TW" altLang="en-US" sz="2200" i="1" smtClean="0">
                              <a:latin typeface="Cambria Math" panose="02040503050406030204" pitchFamily="18" charset="0"/>
                            </a:rPr>
                            <m:t>h</m:t>
                          </m:r>
                        </m:e>
                        <m:sub>
                          <m:r>
                            <a:rPr lang="zh-TW" altLang="en-US" sz="2200" i="0">
                              <a:latin typeface="Cambria Math" panose="02040503050406030204" pitchFamily="18" charset="0"/>
                            </a:rPr>
                            <m:t>𝜃</m:t>
                          </m:r>
                        </m:sub>
                      </m:sSub>
                      <m:r>
                        <a:rPr lang="zh-TW" altLang="en-US" sz="2200" i="0">
                          <a:latin typeface="Cambria Math" panose="02040503050406030204" pitchFamily="18" charset="0"/>
                        </a:rPr>
                        <m:t>=</m:t>
                      </m:r>
                      <m:f>
                        <m:fPr>
                          <m:ctrlPr>
                            <a:rPr lang="zh-TW" altLang="en-US" sz="2200" i="1">
                              <a:latin typeface="Cambria Math" panose="02040503050406030204" pitchFamily="18" charset="0"/>
                            </a:rPr>
                          </m:ctrlPr>
                        </m:fPr>
                        <m:num>
                          <m:r>
                            <a:rPr lang="zh-TW" altLang="en-US" sz="2200" i="0">
                              <a:latin typeface="Cambria Math" panose="02040503050406030204" pitchFamily="18" charset="0"/>
                            </a:rPr>
                            <m:t>1</m:t>
                          </m:r>
                        </m:num>
                        <m:den>
                          <m:r>
                            <a:rPr lang="zh-TW" altLang="en-US" sz="2200" i="0">
                              <a:latin typeface="Cambria Math" panose="02040503050406030204" pitchFamily="18" charset="0"/>
                            </a:rPr>
                            <m:t>1+</m:t>
                          </m:r>
                          <m:sSup>
                            <m:sSupPr>
                              <m:ctrlPr>
                                <a:rPr lang="zh-TW" altLang="en-US" sz="2200" i="1">
                                  <a:latin typeface="Cambria Math" panose="02040503050406030204" pitchFamily="18" charset="0"/>
                                </a:rPr>
                              </m:ctrlPr>
                            </m:sSupPr>
                            <m:e>
                              <m:r>
                                <a:rPr lang="zh-TW" altLang="en-US" sz="2200" i="1">
                                  <a:latin typeface="Cambria Math" panose="02040503050406030204" pitchFamily="18" charset="0"/>
                                </a:rPr>
                                <m:t>𝑒</m:t>
                              </m:r>
                            </m:e>
                            <m:sup>
                              <m:r>
                                <a:rPr lang="zh-TW" altLang="en-US" sz="2200" i="0">
                                  <a:latin typeface="Cambria Math" panose="02040503050406030204" pitchFamily="18" charset="0"/>
                                </a:rPr>
                                <m:t>−</m:t>
                              </m:r>
                              <m:r>
                                <a:rPr lang="zh-TW" altLang="en-US" sz="2200" i="1">
                                  <a:latin typeface="Cambria Math" panose="02040503050406030204" pitchFamily="18" charset="0"/>
                                </a:rPr>
                                <m:t>𝑧</m:t>
                              </m:r>
                            </m:sup>
                          </m:sSup>
                        </m:den>
                      </m:f>
                    </m:oMath>
                  </m:oMathPara>
                </a14:m>
                <a:endParaRPr lang="zh-TW" altLang="en-US" sz="2200" dirty="0"/>
              </a:p>
            </p:txBody>
          </p:sp>
        </mc:Choice>
        <mc:Fallback xmlns="">
          <p:sp>
            <p:nvSpPr>
              <p:cNvPr id="7" name="文字方塊 6">
                <a:extLst>
                  <a:ext uri="{FF2B5EF4-FFF2-40B4-BE49-F238E27FC236}">
                    <a16:creationId xmlns:a16="http://schemas.microsoft.com/office/drawing/2014/main" id="{B71E00EF-F4E7-AD72-0185-6DE2C74766C1}"/>
                  </a:ext>
                </a:extLst>
              </p:cNvPr>
              <p:cNvSpPr txBox="1">
                <a:spLocks noRot="1" noChangeAspect="1" noMove="1" noResize="1" noEditPoints="1" noAdjustHandles="1" noChangeArrowheads="1" noChangeShapeType="1" noTextEdit="1"/>
              </p:cNvSpPr>
              <p:nvPr/>
            </p:nvSpPr>
            <p:spPr>
              <a:xfrm>
                <a:off x="568264" y="2124356"/>
                <a:ext cx="2400870" cy="73404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8C90F94E-50DE-E7B5-2B10-D4ADBB64B959}"/>
                  </a:ext>
                </a:extLst>
              </p:cNvPr>
              <p:cNvSpPr txBox="1"/>
              <p:nvPr/>
            </p:nvSpPr>
            <p:spPr>
              <a:xfrm>
                <a:off x="838200" y="2899995"/>
                <a:ext cx="5931432"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 altLang="zh-TW" sz="2200" i="1" smtClean="0">
                          <a:latin typeface="Cambria Math" panose="02040503050406030204" pitchFamily="18" charset="0"/>
                        </a:rPr>
                        <m:t>𝑐𝑜𝑠𝑡</m:t>
                      </m:r>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𝜃</m:t>
                          </m:r>
                          <m:r>
                            <a:rPr kumimoji="1" lang="en" altLang="zh-TW" sz="2200" i="1">
                              <a:latin typeface="Cambria Math" panose="02040503050406030204" pitchFamily="18" charset="0"/>
                            </a:rPr>
                            <m:t>,</m:t>
                          </m:r>
                          <m:r>
                            <a:rPr kumimoji="1" lang="en" altLang="zh-TW" sz="2200" i="1">
                              <a:latin typeface="Cambria Math" panose="02040503050406030204" pitchFamily="18" charset="0"/>
                            </a:rPr>
                            <m:t>𝑦</m:t>
                          </m:r>
                        </m:e>
                      </m:d>
                      <m:r>
                        <a:rPr kumimoji="1" lang="en" altLang="zh-TW" sz="2200" i="1">
                          <a:latin typeface="Cambria Math" panose="02040503050406030204" pitchFamily="18" charset="0"/>
                        </a:rPr>
                        <m:t>=−</m:t>
                      </m:r>
                      <m:r>
                        <a:rPr kumimoji="1" lang="en" altLang="zh-TW" sz="2200" i="1">
                          <a:latin typeface="Cambria Math" panose="02040503050406030204" pitchFamily="18" charset="0"/>
                        </a:rPr>
                        <m:t>𝑦</m:t>
                      </m:r>
                      <m:r>
                        <a:rPr kumimoji="1" lang="en" altLang="zh-TW" sz="2200" i="1">
                          <a:latin typeface="Cambria Math" panose="02040503050406030204" pitchFamily="18" charset="0"/>
                        </a:rPr>
                        <m:t>⋅</m:t>
                      </m:r>
                      <m:func>
                        <m:funcPr>
                          <m:ctrlPr>
                            <a:rPr kumimoji="1" lang="en" altLang="zh-TW" sz="2200" i="1">
                              <a:latin typeface="Cambria Math" panose="02040503050406030204" pitchFamily="18" charset="0"/>
                            </a:rPr>
                          </m:ctrlPr>
                        </m:funcPr>
                        <m:fName>
                          <m:r>
                            <m:rPr>
                              <m:sty m:val="p"/>
                            </m:rPr>
                            <a:rPr kumimoji="1" lang="en" altLang="zh-TW" sz="2200" i="0">
                              <a:latin typeface="Cambria Math" panose="02040503050406030204" pitchFamily="18" charset="0"/>
                            </a:rPr>
                            <m:t>log</m:t>
                          </m:r>
                        </m:fName>
                        <m:e>
                          <m:d>
                            <m:dPr>
                              <m:ctrlPr>
                                <a:rPr kumimoji="1" lang="en" altLang="zh-TW" sz="2200" i="1">
                                  <a:latin typeface="Cambria Math" panose="02040503050406030204" pitchFamily="18" charset="0"/>
                                </a:rPr>
                              </m:ctrlPr>
                            </m:dPr>
                            <m:e>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e>
                          </m:d>
                        </m:e>
                      </m:func>
                      <m:r>
                        <a:rPr kumimoji="1" lang="en" altLang="zh-TW" sz="2200" i="1">
                          <a:latin typeface="Cambria Math" panose="02040503050406030204" pitchFamily="18" charset="0"/>
                        </a:rPr>
                        <m:t>−</m:t>
                      </m:r>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1−</m:t>
                          </m:r>
                          <m:r>
                            <a:rPr kumimoji="1" lang="en" altLang="zh-TW" sz="2200" i="1">
                              <a:latin typeface="Cambria Math" panose="02040503050406030204" pitchFamily="18" charset="0"/>
                            </a:rPr>
                            <m:t>𝑦</m:t>
                          </m:r>
                        </m:e>
                      </m:d>
                      <m:r>
                        <a:rPr kumimoji="1" lang="en" altLang="zh-TW" sz="2200" i="1">
                          <a:latin typeface="Cambria Math" panose="02040503050406030204" pitchFamily="18" charset="0"/>
                        </a:rPr>
                        <m:t>⋅</m:t>
                      </m:r>
                      <m:func>
                        <m:funcPr>
                          <m:ctrlPr>
                            <a:rPr kumimoji="1" lang="en" altLang="zh-TW" sz="2200" i="1">
                              <a:latin typeface="Cambria Math" panose="02040503050406030204" pitchFamily="18" charset="0"/>
                            </a:rPr>
                          </m:ctrlPr>
                        </m:funcPr>
                        <m:fName>
                          <m:r>
                            <m:rPr>
                              <m:sty m:val="p"/>
                            </m:rPr>
                            <a:rPr kumimoji="1" lang="en" altLang="zh-TW" sz="2200" i="0">
                              <a:latin typeface="Cambria Math" panose="02040503050406030204" pitchFamily="18" charset="0"/>
                            </a:rPr>
                            <m:t>log</m:t>
                          </m:r>
                        </m:fName>
                        <m:e>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1−</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e>
                          </m:d>
                        </m:e>
                      </m:func>
                    </m:oMath>
                  </m:oMathPara>
                </a14:m>
                <a:endParaRPr kumimoji="1" lang="zh-TW" altLang="en-US" sz="2200" dirty="0"/>
              </a:p>
            </p:txBody>
          </p:sp>
        </mc:Choice>
        <mc:Fallback xmlns="">
          <p:sp>
            <p:nvSpPr>
              <p:cNvPr id="8" name="文字方塊 7">
                <a:extLst>
                  <a:ext uri="{FF2B5EF4-FFF2-40B4-BE49-F238E27FC236}">
                    <a16:creationId xmlns:a16="http://schemas.microsoft.com/office/drawing/2014/main" id="{8C90F94E-50DE-E7B5-2B10-D4ADBB64B959}"/>
                  </a:ext>
                </a:extLst>
              </p:cNvPr>
              <p:cNvSpPr txBox="1">
                <a:spLocks noRot="1" noChangeAspect="1" noMove="1" noResize="1" noEditPoints="1" noAdjustHandles="1" noChangeArrowheads="1" noChangeShapeType="1" noTextEdit="1"/>
              </p:cNvSpPr>
              <p:nvPr/>
            </p:nvSpPr>
            <p:spPr>
              <a:xfrm>
                <a:off x="838200" y="2899995"/>
                <a:ext cx="5931432" cy="338554"/>
              </a:xfrm>
              <a:prstGeom prst="rect">
                <a:avLst/>
              </a:prstGeom>
              <a:blipFill>
                <a:blip r:embed="rId4"/>
                <a:stretch>
                  <a:fillRect l="-514" b="-345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021C74BC-EA2C-F855-79C2-26846996B7E7}"/>
                  </a:ext>
                </a:extLst>
              </p:cNvPr>
              <p:cNvSpPr txBox="1"/>
              <p:nvPr/>
            </p:nvSpPr>
            <p:spPr>
              <a:xfrm>
                <a:off x="701064" y="1771781"/>
                <a:ext cx="2135271" cy="430887"/>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𝑧</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𝑥</m:t>
                      </m:r>
                      <m:r>
                        <a:rPr lang="en-US" altLang="zh-TW" sz="2200" b="0" i="1" smtClean="0">
                          <a:latin typeface="Cambria Math" panose="02040503050406030204" pitchFamily="18" charset="0"/>
                        </a:rPr>
                        <m:t>∗</m:t>
                      </m:r>
                      <m:r>
                        <a:rPr lang="zh-TW" altLang="en-US" sz="2200" b="0" i="1" smtClean="0">
                          <a:latin typeface="Cambria Math" panose="02040503050406030204" pitchFamily="18" charset="0"/>
                        </a:rPr>
                        <m:t>𝜔</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𝑏</m:t>
                      </m:r>
                    </m:oMath>
                  </m:oMathPara>
                </a14:m>
                <a:endParaRPr lang="zh-TW" altLang="en-US" sz="2200" dirty="0"/>
              </a:p>
            </p:txBody>
          </p:sp>
        </mc:Choice>
        <mc:Fallback xmlns="">
          <p:sp>
            <p:nvSpPr>
              <p:cNvPr id="12" name="文字方塊 11">
                <a:extLst>
                  <a:ext uri="{FF2B5EF4-FFF2-40B4-BE49-F238E27FC236}">
                    <a16:creationId xmlns:a16="http://schemas.microsoft.com/office/drawing/2014/main" id="{021C74BC-EA2C-F855-79C2-26846996B7E7}"/>
                  </a:ext>
                </a:extLst>
              </p:cNvPr>
              <p:cNvSpPr txBox="1">
                <a:spLocks noRot="1" noChangeAspect="1" noMove="1" noResize="1" noEditPoints="1" noAdjustHandles="1" noChangeArrowheads="1" noChangeShapeType="1" noTextEdit="1"/>
              </p:cNvSpPr>
              <p:nvPr/>
            </p:nvSpPr>
            <p:spPr>
              <a:xfrm>
                <a:off x="701064" y="1771781"/>
                <a:ext cx="2135271" cy="43088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62EC6953-DFC9-5DEE-C27E-13E2AF8C3F0E}"/>
                  </a:ext>
                </a:extLst>
              </p:cNvPr>
              <p:cNvSpPr txBox="1"/>
              <p:nvPr/>
            </p:nvSpPr>
            <p:spPr>
              <a:xfrm>
                <a:off x="923544" y="4254508"/>
                <a:ext cx="7408333" cy="7008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 altLang="zh-TW" sz="2200" i="1" smtClean="0">
                              <a:latin typeface="Cambria Math" panose="02040503050406030204" pitchFamily="18" charset="0"/>
                            </a:rPr>
                          </m:ctrlPr>
                        </m:fPr>
                        <m:num>
                          <m:r>
                            <a:rPr kumimoji="1" lang="en" altLang="zh-TW" sz="2200" i="1">
                              <a:latin typeface="Cambria Math" panose="02040503050406030204" pitchFamily="18" charset="0"/>
                            </a:rPr>
                            <m:t>𝜕</m:t>
                          </m:r>
                          <m:r>
                            <a:rPr kumimoji="1" lang="en" altLang="zh-TW" sz="2200" i="1">
                              <a:latin typeface="Cambria Math" panose="02040503050406030204" pitchFamily="18" charset="0"/>
                            </a:rPr>
                            <m:t>𝐴</m:t>
                          </m:r>
                        </m:num>
                        <m:den>
                          <m:r>
                            <a:rPr kumimoji="1" lang="en" altLang="zh-TW" sz="2200" i="1">
                              <a:latin typeface="Cambria Math" panose="02040503050406030204" pitchFamily="18" charset="0"/>
                            </a:rPr>
                            <m:t>𝜕</m:t>
                          </m:r>
                          <m:r>
                            <a:rPr kumimoji="1" lang="en" altLang="zh-TW" sz="2200" i="1">
                              <a:latin typeface="Cambria Math" panose="02040503050406030204" pitchFamily="18" charset="0"/>
                            </a:rPr>
                            <m:t>𝑤</m:t>
                          </m:r>
                        </m:den>
                      </m:f>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m:t>
                          </m:r>
                          <m:r>
                            <a:rPr kumimoji="1" lang="en" altLang="zh-TW" sz="2200" i="1">
                              <a:latin typeface="Cambria Math" panose="02040503050406030204" pitchFamily="18" charset="0"/>
                            </a:rPr>
                            <m:t>𝑦</m:t>
                          </m:r>
                        </m:num>
                        <m:den>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den>
                      </m:f>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num>
                        <m:den>
                          <m:r>
                            <a:rPr kumimoji="1" lang="en" altLang="zh-TW" sz="2200" i="1">
                              <a:latin typeface="Cambria Math" panose="02040503050406030204" pitchFamily="18" charset="0"/>
                            </a:rPr>
                            <m:t>𝜕</m:t>
                          </m:r>
                          <m:r>
                            <a:rPr kumimoji="1" lang="en" altLang="zh-TW" sz="2200" i="1">
                              <a:latin typeface="Cambria Math" panose="02040503050406030204" pitchFamily="18" charset="0"/>
                            </a:rPr>
                            <m:t>𝑧</m:t>
                          </m:r>
                        </m:den>
                      </m:f>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m:t>
                          </m:r>
                          <m:r>
                            <a:rPr kumimoji="1" lang="en" altLang="zh-TW" sz="2200" i="1">
                              <a:latin typeface="Cambria Math" panose="02040503050406030204" pitchFamily="18" charset="0"/>
                            </a:rPr>
                            <m:t>𝑧</m:t>
                          </m:r>
                        </m:num>
                        <m:den>
                          <m:r>
                            <a:rPr kumimoji="1" lang="en" altLang="zh-TW" sz="2200" i="1">
                              <a:latin typeface="Cambria Math" panose="02040503050406030204" pitchFamily="18" charset="0"/>
                            </a:rPr>
                            <m:t>𝜕</m:t>
                          </m:r>
                          <m:r>
                            <a:rPr kumimoji="1" lang="en" altLang="zh-TW" sz="2200" i="1">
                              <a:latin typeface="Cambria Math" panose="02040503050406030204" pitchFamily="18" charset="0"/>
                            </a:rPr>
                            <m:t>𝑤</m:t>
                          </m:r>
                        </m:den>
                      </m:f>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m:t>
                          </m:r>
                          <m:r>
                            <a:rPr kumimoji="1" lang="en" altLang="zh-TW" sz="2200" i="1">
                              <a:latin typeface="Cambria Math" panose="02040503050406030204" pitchFamily="18" charset="0"/>
                            </a:rPr>
                            <m:t>𝑦</m:t>
                          </m:r>
                        </m:num>
                        <m:den>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den>
                      </m:f>
                      <m:r>
                        <a:rPr kumimoji="1" lang="en" altLang="zh-TW" sz="2200" i="1">
                          <a:latin typeface="Cambria Math" panose="02040503050406030204" pitchFamily="18" charset="0"/>
                        </a:rPr>
                        <m:t>⋅</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r>
                        <a:rPr kumimoji="1" lang="en" altLang="zh-TW" sz="2200" i="1">
                          <a:latin typeface="Cambria Math" panose="02040503050406030204" pitchFamily="18" charset="0"/>
                        </a:rPr>
                        <m:t>⋅</m:t>
                      </m:r>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1−</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e>
                      </m:d>
                      <m:r>
                        <a:rPr kumimoji="1" lang="en" altLang="zh-TW" sz="2200" i="1">
                          <a:latin typeface="Cambria Math" panose="02040503050406030204" pitchFamily="18" charset="0"/>
                        </a:rPr>
                        <m:t>𝑥</m:t>
                      </m:r>
                      <m:r>
                        <a:rPr kumimoji="1" lang="en" altLang="zh-TW" sz="2200" i="1">
                          <a:latin typeface="Cambria Math" panose="02040503050406030204" pitchFamily="18" charset="0"/>
                        </a:rPr>
                        <m:t>=−</m:t>
                      </m:r>
                      <m:r>
                        <a:rPr kumimoji="1" lang="en" altLang="zh-TW" sz="2200" i="1">
                          <a:latin typeface="Cambria Math" panose="02040503050406030204" pitchFamily="18" charset="0"/>
                        </a:rPr>
                        <m:t>𝑦𝑥</m:t>
                      </m:r>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1−</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e>
                      </m:d>
                    </m:oMath>
                  </m:oMathPara>
                </a14:m>
                <a:endParaRPr kumimoji="1" lang="zh-TW" altLang="en-US" sz="2200" dirty="0"/>
              </a:p>
            </p:txBody>
          </p:sp>
        </mc:Choice>
        <mc:Fallback xmlns="">
          <p:sp>
            <p:nvSpPr>
              <p:cNvPr id="14" name="文字方塊 13">
                <a:extLst>
                  <a:ext uri="{FF2B5EF4-FFF2-40B4-BE49-F238E27FC236}">
                    <a16:creationId xmlns:a16="http://schemas.microsoft.com/office/drawing/2014/main" id="{62EC6953-DFC9-5DEE-C27E-13E2AF8C3F0E}"/>
                  </a:ext>
                </a:extLst>
              </p:cNvPr>
              <p:cNvSpPr txBox="1">
                <a:spLocks noRot="1" noChangeAspect="1" noMove="1" noResize="1" noEditPoints="1" noAdjustHandles="1" noChangeArrowheads="1" noChangeShapeType="1" noTextEdit="1"/>
              </p:cNvSpPr>
              <p:nvPr/>
            </p:nvSpPr>
            <p:spPr>
              <a:xfrm>
                <a:off x="923544" y="4254508"/>
                <a:ext cx="7408333" cy="700898"/>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5A391504-52C8-22A6-F264-41518FBB0A87}"/>
                  </a:ext>
                </a:extLst>
              </p:cNvPr>
              <p:cNvSpPr txBox="1"/>
              <p:nvPr/>
            </p:nvSpPr>
            <p:spPr>
              <a:xfrm>
                <a:off x="701064" y="4999170"/>
                <a:ext cx="10119437" cy="11340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 altLang="zh-TW" sz="2200" i="1" smtClean="0">
                              <a:latin typeface="Cambria Math" panose="02040503050406030204" pitchFamily="18" charset="0"/>
                            </a:rPr>
                          </m:ctrlPr>
                        </m:fPr>
                        <m:num>
                          <m:r>
                            <a:rPr kumimoji="1" lang="en" altLang="zh-TW" sz="2200" i="1">
                              <a:latin typeface="Cambria Math" panose="02040503050406030204" pitchFamily="18" charset="0"/>
                            </a:rPr>
                            <m:t>𝜕</m:t>
                          </m:r>
                          <m:r>
                            <a:rPr kumimoji="1" lang="en" altLang="zh-TW" sz="2200" i="1">
                              <a:latin typeface="Cambria Math" panose="02040503050406030204" pitchFamily="18" charset="0"/>
                            </a:rPr>
                            <m:t>𝐵</m:t>
                          </m:r>
                        </m:num>
                        <m:den>
                          <m:r>
                            <a:rPr kumimoji="1" lang="en" altLang="zh-TW" sz="2200" i="1">
                              <a:latin typeface="Cambria Math" panose="02040503050406030204" pitchFamily="18" charset="0"/>
                            </a:rPr>
                            <m:t>𝜕</m:t>
                          </m:r>
                          <m:r>
                            <a:rPr kumimoji="1" lang="en" altLang="zh-TW" sz="2200" i="1">
                              <a:latin typeface="Cambria Math" panose="02040503050406030204" pitchFamily="18" charset="0"/>
                            </a:rPr>
                            <m:t>𝑤</m:t>
                          </m:r>
                        </m:den>
                      </m:f>
                      <m:r>
                        <a:rPr kumimoji="1" lang="en" altLang="zh-TW" sz="2200" i="1">
                          <a:latin typeface="Cambria Math" panose="02040503050406030204" pitchFamily="18" charset="0"/>
                        </a:rPr>
                        <m:t>=−</m:t>
                      </m:r>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1−</m:t>
                          </m:r>
                          <m:r>
                            <a:rPr kumimoji="1" lang="en" altLang="zh-TW" sz="2200" i="1">
                              <a:latin typeface="Cambria Math" panose="02040503050406030204" pitchFamily="18" charset="0"/>
                            </a:rPr>
                            <m:t>𝑦</m:t>
                          </m:r>
                        </m:e>
                      </m:d>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1</m:t>
                          </m:r>
                        </m:num>
                        <m:den>
                          <m:r>
                            <a:rPr kumimoji="1" lang="en" altLang="zh-TW" sz="2200" i="1">
                              <a:latin typeface="Cambria Math" panose="02040503050406030204" pitchFamily="18" charset="0"/>
                            </a:rPr>
                            <m:t>1−</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den>
                      </m:f>
                      <m:r>
                        <a:rPr kumimoji="1" lang="en" altLang="zh-TW" sz="2200" i="1">
                          <a:latin typeface="Cambria Math" panose="02040503050406030204" pitchFamily="18" charset="0"/>
                        </a:rPr>
                        <m:t>⋅</m:t>
                      </m:r>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num>
                            <m:den>
                              <m:r>
                                <a:rPr kumimoji="1" lang="en" altLang="zh-TW" sz="2200" i="1">
                                  <a:latin typeface="Cambria Math" panose="02040503050406030204" pitchFamily="18" charset="0"/>
                                </a:rPr>
                                <m:t>𝜕</m:t>
                              </m:r>
                              <m:r>
                                <a:rPr kumimoji="1" lang="en" altLang="zh-TW" sz="2200" i="1">
                                  <a:latin typeface="Cambria Math" panose="02040503050406030204" pitchFamily="18" charset="0"/>
                                </a:rPr>
                                <m:t>𝑧</m:t>
                              </m:r>
                            </m:den>
                          </m:f>
                        </m:e>
                      </m:d>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m:t>
                          </m:r>
                          <m:r>
                            <a:rPr kumimoji="1" lang="en" altLang="zh-TW" sz="2200" i="1">
                              <a:latin typeface="Cambria Math" panose="02040503050406030204" pitchFamily="18" charset="0"/>
                            </a:rPr>
                            <m:t>𝑧</m:t>
                          </m:r>
                        </m:num>
                        <m:den>
                          <m:r>
                            <a:rPr kumimoji="1" lang="en" altLang="zh-TW" sz="2200" i="1">
                              <a:latin typeface="Cambria Math" panose="02040503050406030204" pitchFamily="18" charset="0"/>
                            </a:rPr>
                            <m:t>𝜕</m:t>
                          </m:r>
                          <m:r>
                            <a:rPr kumimoji="1" lang="en" altLang="zh-TW" sz="2200" i="1">
                              <a:latin typeface="Cambria Math" panose="02040503050406030204" pitchFamily="18" charset="0"/>
                            </a:rPr>
                            <m:t>𝑤</m:t>
                          </m:r>
                        </m:den>
                      </m:f>
                      <m:r>
                        <a:rPr kumimoji="1" lang="en" altLang="zh-TW" sz="2200" i="1">
                          <a:latin typeface="Cambria Math" panose="02040503050406030204" pitchFamily="18" charset="0"/>
                        </a:rPr>
                        <m:t>=</m:t>
                      </m:r>
                      <m:f>
                        <m:fPr>
                          <m:ctrlPr>
                            <a:rPr kumimoji="1" lang="en" altLang="zh-TW" sz="2200" i="1">
                              <a:latin typeface="Cambria Math" panose="02040503050406030204" pitchFamily="18" charset="0"/>
                            </a:rPr>
                          </m:ctrlPr>
                        </m:fPr>
                        <m:num>
                          <m:r>
                            <a:rPr kumimoji="1" lang="en" altLang="zh-TW" sz="2200" i="1">
                              <a:latin typeface="Cambria Math" panose="02040503050406030204" pitchFamily="18" charset="0"/>
                            </a:rPr>
                            <m:t>1−</m:t>
                          </m:r>
                          <m:r>
                            <a:rPr kumimoji="1" lang="en" altLang="zh-TW" sz="2200" i="1">
                              <a:latin typeface="Cambria Math" panose="02040503050406030204" pitchFamily="18" charset="0"/>
                            </a:rPr>
                            <m:t>𝑦</m:t>
                          </m:r>
                        </m:num>
                        <m:den>
                          <m:r>
                            <a:rPr kumimoji="1" lang="en" altLang="zh-TW" sz="2200" i="1">
                              <a:latin typeface="Cambria Math" panose="02040503050406030204" pitchFamily="18" charset="0"/>
                            </a:rPr>
                            <m:t>1−</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den>
                      </m:f>
                      <m:r>
                        <a:rPr kumimoji="1" lang="en" altLang="zh-TW" sz="2200" i="1">
                          <a:latin typeface="Cambria Math" panose="02040503050406030204" pitchFamily="18" charset="0"/>
                        </a:rPr>
                        <m:t>⋅</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1−</m:t>
                          </m:r>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e>
                      </m:d>
                      <m:r>
                        <a:rPr kumimoji="1" lang="en" altLang="zh-TW" sz="2200" i="1">
                          <a:latin typeface="Cambria Math" panose="02040503050406030204" pitchFamily="18" charset="0"/>
                        </a:rPr>
                        <m:t>𝑥</m:t>
                      </m:r>
                      <m:r>
                        <a:rPr kumimoji="1" lang="en" altLang="zh-TW" sz="2200" i="1">
                          <a:latin typeface="Cambria Math" panose="02040503050406030204" pitchFamily="18" charset="0"/>
                        </a:rPr>
                        <m:t>=</m:t>
                      </m:r>
                      <m:d>
                        <m:dPr>
                          <m:ctrlPr>
                            <a:rPr kumimoji="1" lang="en" altLang="zh-TW" sz="2200" i="1">
                              <a:latin typeface="Cambria Math" panose="02040503050406030204" pitchFamily="18" charset="0"/>
                            </a:rPr>
                          </m:ctrlPr>
                        </m:dPr>
                        <m:e>
                          <m:r>
                            <a:rPr kumimoji="1" lang="en" altLang="zh-TW" sz="2200" i="1">
                              <a:latin typeface="Cambria Math" panose="02040503050406030204" pitchFamily="18" charset="0"/>
                            </a:rPr>
                            <m:t>1−</m:t>
                          </m:r>
                          <m:r>
                            <a:rPr kumimoji="1" lang="en" altLang="zh-TW" sz="2200" i="1">
                              <a:latin typeface="Cambria Math" panose="02040503050406030204" pitchFamily="18" charset="0"/>
                            </a:rPr>
                            <m:t>𝑦</m:t>
                          </m:r>
                        </m:e>
                      </m:d>
                      <m:sSub>
                        <m:sSubPr>
                          <m:ctrlPr>
                            <a:rPr kumimoji="1" lang="en" altLang="zh-TW" sz="2200" i="1">
                              <a:latin typeface="Cambria Math" panose="02040503050406030204" pitchFamily="18" charset="0"/>
                            </a:rPr>
                          </m:ctrlPr>
                        </m:sSubPr>
                        <m:e>
                          <m:r>
                            <a:rPr kumimoji="1" lang="en" altLang="zh-TW" sz="2200" i="1">
                              <a:latin typeface="Cambria Math" panose="02040503050406030204" pitchFamily="18" charset="0"/>
                            </a:rPr>
                            <m:t>h</m:t>
                          </m:r>
                        </m:e>
                        <m:sub>
                          <m:r>
                            <a:rPr kumimoji="1" lang="en" altLang="zh-TW" sz="2200" i="1">
                              <a:latin typeface="Cambria Math" panose="02040503050406030204" pitchFamily="18" charset="0"/>
                            </a:rPr>
                            <m:t>𝜃</m:t>
                          </m:r>
                        </m:sub>
                      </m:sSub>
                      <m:r>
                        <a:rPr kumimoji="1" lang="en" altLang="zh-TW" sz="2200" i="1">
                          <a:latin typeface="Cambria Math" panose="02040503050406030204" pitchFamily="18" charset="0"/>
                        </a:rPr>
                        <m:t>𝑥</m:t>
                      </m:r>
                    </m:oMath>
                  </m:oMathPara>
                </a14:m>
                <a:endParaRPr kumimoji="1" lang="zh-TW" altLang="en-US" sz="2200" dirty="0"/>
              </a:p>
              <a:p>
                <a:endParaRPr kumimoji="1" lang="zh-TW" altLang="en-US" sz="2200" dirty="0"/>
              </a:p>
            </p:txBody>
          </p:sp>
        </mc:Choice>
        <mc:Fallback xmlns="">
          <p:sp>
            <p:nvSpPr>
              <p:cNvPr id="19" name="文字方塊 18">
                <a:extLst>
                  <a:ext uri="{FF2B5EF4-FFF2-40B4-BE49-F238E27FC236}">
                    <a16:creationId xmlns:a16="http://schemas.microsoft.com/office/drawing/2014/main" id="{5A391504-52C8-22A6-F264-41518FBB0A87}"/>
                  </a:ext>
                </a:extLst>
              </p:cNvPr>
              <p:cNvSpPr txBox="1">
                <a:spLocks noRot="1" noChangeAspect="1" noMove="1" noResize="1" noEditPoints="1" noAdjustHandles="1" noChangeArrowheads="1" noChangeShapeType="1" noTextEdit="1"/>
              </p:cNvSpPr>
              <p:nvPr/>
            </p:nvSpPr>
            <p:spPr>
              <a:xfrm>
                <a:off x="701064" y="4999170"/>
                <a:ext cx="10119437" cy="1134028"/>
              </a:xfrm>
              <a:prstGeom prst="rect">
                <a:avLst/>
              </a:prstGeom>
              <a:blipFill>
                <a:blip r:embed="rId7"/>
                <a:stretch>
                  <a:fillRect/>
                </a:stretch>
              </a:blipFill>
            </p:spPr>
            <p:txBody>
              <a:bodyPr/>
              <a:lstStyle/>
              <a:p>
                <a:r>
                  <a:rPr lang="zh-TW" altLang="en-US">
                    <a:noFill/>
                  </a:rPr>
                  <a:t> </a:t>
                </a:r>
              </a:p>
            </p:txBody>
          </p:sp>
        </mc:Fallback>
      </mc:AlternateContent>
      <p:sp>
        <p:nvSpPr>
          <p:cNvPr id="5" name="箭號: 向右 4">
            <a:extLst>
              <a:ext uri="{FF2B5EF4-FFF2-40B4-BE49-F238E27FC236}">
                <a16:creationId xmlns:a16="http://schemas.microsoft.com/office/drawing/2014/main" id="{7FFF1A15-8A56-4630-8161-44EBCE78FE09}"/>
              </a:ext>
            </a:extLst>
          </p:cNvPr>
          <p:cNvSpPr/>
          <p:nvPr/>
        </p:nvSpPr>
        <p:spPr>
          <a:xfrm>
            <a:off x="418948" y="5982180"/>
            <a:ext cx="466344"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200"/>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AE694022-8D65-4EA6-9CB1-CE7D26E1153A}"/>
                  </a:ext>
                </a:extLst>
              </p:cNvPr>
              <p:cNvSpPr txBox="1"/>
              <p:nvPr/>
            </p:nvSpPr>
            <p:spPr>
              <a:xfrm>
                <a:off x="701064" y="5789962"/>
                <a:ext cx="6343650" cy="7360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TW" altLang="en-US" sz="2200" i="1" smtClean="0">
                              <a:solidFill>
                                <a:srgbClr val="836967"/>
                              </a:solidFill>
                              <a:latin typeface="Cambria Math" panose="02040503050406030204" pitchFamily="18" charset="0"/>
                            </a:rPr>
                          </m:ctrlPr>
                        </m:fPr>
                        <m:num>
                          <m:r>
                            <a:rPr lang="zh-TW" altLang="en-US" sz="2200">
                              <a:latin typeface="Cambria Math" panose="02040503050406030204" pitchFamily="18" charset="0"/>
                            </a:rPr>
                            <m:t>𝜕</m:t>
                          </m:r>
                          <m:r>
                            <a:rPr lang="zh-TW" altLang="en-US" sz="2200" i="1">
                              <a:latin typeface="Cambria Math" panose="02040503050406030204" pitchFamily="18" charset="0"/>
                            </a:rPr>
                            <m:t>𝑐𝑜𝑠𝑡</m:t>
                          </m:r>
                        </m:num>
                        <m:den>
                          <m:r>
                            <a:rPr lang="zh-TW" altLang="en-US" sz="2200" i="0">
                              <a:latin typeface="Cambria Math" panose="02040503050406030204" pitchFamily="18" charset="0"/>
                            </a:rPr>
                            <m:t>𝜕</m:t>
                          </m:r>
                          <m:r>
                            <a:rPr lang="zh-TW" altLang="en-US" sz="2200" i="1">
                              <a:latin typeface="Cambria Math" panose="02040503050406030204" pitchFamily="18" charset="0"/>
                            </a:rPr>
                            <m:t>𝑤</m:t>
                          </m:r>
                        </m:den>
                      </m:f>
                      <m:r>
                        <a:rPr lang="zh-TW" altLang="en-US" sz="2200" i="0">
                          <a:latin typeface="Cambria Math" panose="02040503050406030204" pitchFamily="18" charset="0"/>
                        </a:rPr>
                        <m:t>=</m:t>
                      </m:r>
                      <m:r>
                        <a:rPr lang="zh-TW" altLang="en-US" sz="2200" i="1">
                          <a:latin typeface="Cambria Math" panose="02040503050406030204" pitchFamily="18" charset="0"/>
                        </a:rPr>
                        <m:t>𝑥</m:t>
                      </m:r>
                      <m:sSub>
                        <m:sSubPr>
                          <m:ctrlPr>
                            <a:rPr lang="zh-TW" altLang="en-US" sz="2200" i="1">
                              <a:solidFill>
                                <a:srgbClr val="836967"/>
                              </a:solidFill>
                              <a:latin typeface="Cambria Math" panose="02040503050406030204" pitchFamily="18" charset="0"/>
                            </a:rPr>
                          </m:ctrlPr>
                        </m:sSubPr>
                        <m:e>
                          <m:r>
                            <a:rPr lang="zh-TW" altLang="en-US" sz="2200" i="1">
                              <a:latin typeface="Cambria Math" panose="02040503050406030204" pitchFamily="18" charset="0"/>
                            </a:rPr>
                            <m:t>h</m:t>
                          </m:r>
                        </m:e>
                        <m:sub>
                          <m:r>
                            <m:rPr>
                              <m:sty m:val="p"/>
                            </m:rPr>
                            <a:rPr lang="zh-TW" altLang="en-US" sz="2200" i="0">
                              <a:latin typeface="Cambria Math" panose="02040503050406030204" pitchFamily="18" charset="0"/>
                            </a:rPr>
                            <m:t>θ</m:t>
                          </m:r>
                        </m:sub>
                      </m:sSub>
                      <m:d>
                        <m:dPr>
                          <m:ctrlPr>
                            <a:rPr lang="zh-TW" altLang="en-US" sz="2200" i="1">
                              <a:solidFill>
                                <a:srgbClr val="836967"/>
                              </a:solidFill>
                              <a:latin typeface="Cambria Math" panose="02040503050406030204" pitchFamily="18" charset="0"/>
                            </a:rPr>
                          </m:ctrlPr>
                        </m:dPr>
                        <m:e>
                          <m:r>
                            <a:rPr lang="zh-TW" altLang="en-US" sz="2200" i="0">
                              <a:latin typeface="Cambria Math" panose="02040503050406030204" pitchFamily="18" charset="0"/>
                            </a:rPr>
                            <m:t>1−</m:t>
                          </m:r>
                          <m:r>
                            <a:rPr lang="zh-TW" altLang="en-US" sz="2200" i="1">
                              <a:latin typeface="Cambria Math" panose="02040503050406030204" pitchFamily="18" charset="0"/>
                            </a:rPr>
                            <m:t>𝑦</m:t>
                          </m:r>
                        </m:e>
                      </m:d>
                      <m:r>
                        <a:rPr lang="zh-TW" altLang="en-US" sz="2200" i="0">
                          <a:latin typeface="Cambria Math" panose="02040503050406030204" pitchFamily="18" charset="0"/>
                        </a:rPr>
                        <m:t>−</m:t>
                      </m:r>
                      <m:r>
                        <a:rPr lang="zh-TW" altLang="en-US" sz="2200" i="1">
                          <a:latin typeface="Cambria Math" panose="02040503050406030204" pitchFamily="18" charset="0"/>
                        </a:rPr>
                        <m:t>𝑦𝑥</m:t>
                      </m:r>
                      <m:d>
                        <m:dPr>
                          <m:ctrlPr>
                            <a:rPr lang="zh-TW" altLang="en-US" sz="2200" i="1">
                              <a:solidFill>
                                <a:srgbClr val="836967"/>
                              </a:solidFill>
                              <a:latin typeface="Cambria Math" panose="02040503050406030204" pitchFamily="18" charset="0"/>
                            </a:rPr>
                          </m:ctrlPr>
                        </m:dPr>
                        <m:e>
                          <m:r>
                            <a:rPr lang="zh-TW" altLang="en-US" sz="2200" i="0">
                              <a:latin typeface="Cambria Math" panose="02040503050406030204" pitchFamily="18" charset="0"/>
                            </a:rPr>
                            <m:t>1−</m:t>
                          </m:r>
                          <m:sSub>
                            <m:sSubPr>
                              <m:ctrlPr>
                                <a:rPr lang="zh-TW" altLang="en-US" sz="2200" i="1">
                                  <a:solidFill>
                                    <a:srgbClr val="836967"/>
                                  </a:solidFill>
                                  <a:latin typeface="Cambria Math" panose="02040503050406030204" pitchFamily="18" charset="0"/>
                                </a:rPr>
                              </m:ctrlPr>
                            </m:sSubPr>
                            <m:e>
                              <m:r>
                                <a:rPr lang="zh-TW" altLang="en-US" sz="2200" i="1">
                                  <a:latin typeface="Cambria Math" panose="02040503050406030204" pitchFamily="18" charset="0"/>
                                </a:rPr>
                                <m:t>h</m:t>
                              </m:r>
                            </m:e>
                            <m:sub>
                              <m:r>
                                <m:rPr>
                                  <m:sty m:val="p"/>
                                </m:rPr>
                                <a:rPr lang="zh-TW" altLang="en-US" sz="2200" i="0">
                                  <a:latin typeface="Cambria Math" panose="02040503050406030204" pitchFamily="18" charset="0"/>
                                </a:rPr>
                                <m:t>θ</m:t>
                              </m:r>
                            </m:sub>
                          </m:sSub>
                        </m:e>
                      </m:d>
                      <m:r>
                        <a:rPr lang="en-US" altLang="zh-TW" sz="2200" b="0" i="1" smtClean="0">
                          <a:latin typeface="Cambria Math" panose="02040503050406030204" pitchFamily="18" charset="0"/>
                        </a:rPr>
                        <m:t>=</m:t>
                      </m:r>
                      <m:r>
                        <a:rPr lang="zh-TW" altLang="en-US" sz="2200" i="1">
                          <a:latin typeface="Cambria Math" panose="02040503050406030204" pitchFamily="18" charset="0"/>
                        </a:rPr>
                        <m:t>𝑥</m:t>
                      </m:r>
                      <m:d>
                        <m:dPr>
                          <m:ctrlPr>
                            <a:rPr lang="zh-TW" altLang="en-US" sz="2200" i="1">
                              <a:solidFill>
                                <a:srgbClr val="836967"/>
                              </a:solidFill>
                              <a:latin typeface="Cambria Math" panose="02040503050406030204" pitchFamily="18" charset="0"/>
                            </a:rPr>
                          </m:ctrlPr>
                        </m:dPr>
                        <m:e>
                          <m:sSub>
                            <m:sSubPr>
                              <m:ctrlPr>
                                <a:rPr lang="zh-TW" altLang="en-US" sz="2200" i="1">
                                  <a:solidFill>
                                    <a:srgbClr val="836967"/>
                                  </a:solidFill>
                                  <a:latin typeface="Cambria Math" panose="02040503050406030204" pitchFamily="18" charset="0"/>
                                </a:rPr>
                              </m:ctrlPr>
                            </m:sSubPr>
                            <m:e>
                              <m:r>
                                <a:rPr lang="zh-TW" altLang="en-US" sz="2200" i="1">
                                  <a:latin typeface="Cambria Math" panose="02040503050406030204" pitchFamily="18" charset="0"/>
                                </a:rPr>
                                <m:t>h</m:t>
                              </m:r>
                            </m:e>
                            <m:sub>
                              <m:r>
                                <m:rPr>
                                  <m:sty m:val="p"/>
                                </m:rPr>
                                <a:rPr lang="zh-TW" altLang="en-US" sz="2200">
                                  <a:latin typeface="Cambria Math" panose="02040503050406030204" pitchFamily="18" charset="0"/>
                                </a:rPr>
                                <m:t>θ</m:t>
                              </m:r>
                            </m:sub>
                          </m:sSub>
                          <m:r>
                            <a:rPr lang="zh-TW" altLang="en-US" sz="2200">
                              <a:latin typeface="Cambria Math" panose="02040503050406030204" pitchFamily="18" charset="0"/>
                            </a:rPr>
                            <m:t>−</m:t>
                          </m:r>
                          <m:r>
                            <a:rPr lang="zh-TW" altLang="en-US" sz="2200" i="1">
                              <a:latin typeface="Cambria Math" panose="02040503050406030204" pitchFamily="18" charset="0"/>
                            </a:rPr>
                            <m:t>𝑦</m:t>
                          </m:r>
                        </m:e>
                      </m:d>
                    </m:oMath>
                  </m:oMathPara>
                </a14:m>
                <a:endParaRPr lang="zh-TW" altLang="en-US" sz="2200" dirty="0"/>
              </a:p>
            </p:txBody>
          </p:sp>
        </mc:Choice>
        <mc:Fallback xmlns="">
          <p:sp>
            <p:nvSpPr>
              <p:cNvPr id="16" name="文字方塊 15">
                <a:extLst>
                  <a:ext uri="{FF2B5EF4-FFF2-40B4-BE49-F238E27FC236}">
                    <a16:creationId xmlns:a16="http://schemas.microsoft.com/office/drawing/2014/main" id="{AE694022-8D65-4EA6-9CB1-CE7D26E1153A}"/>
                  </a:ext>
                </a:extLst>
              </p:cNvPr>
              <p:cNvSpPr txBox="1">
                <a:spLocks noRot="1" noChangeAspect="1" noMove="1" noResize="1" noEditPoints="1" noAdjustHandles="1" noChangeArrowheads="1" noChangeShapeType="1" noTextEdit="1"/>
              </p:cNvSpPr>
              <p:nvPr/>
            </p:nvSpPr>
            <p:spPr>
              <a:xfrm>
                <a:off x="701064" y="5789962"/>
                <a:ext cx="6343650" cy="736099"/>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200603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70BCDB-D271-B041-8E7E-A99B8D292E63}"/>
              </a:ext>
            </a:extLst>
          </p:cNvPr>
          <p:cNvSpPr>
            <a:spLocks noGrp="1"/>
          </p:cNvSpPr>
          <p:nvPr>
            <p:ph type="title"/>
          </p:nvPr>
        </p:nvSpPr>
        <p:spPr/>
        <p:txBody>
          <a:bodyPr/>
          <a:lstStyle/>
          <a:p>
            <a:r>
              <a:rPr kumimoji="1" lang="zh-TW" altLang="en-US" dirty="0"/>
              <a:t>為什麼誤差用</a:t>
            </a:r>
            <a:r>
              <a:rPr kumimoji="1" lang="en-US" altLang="zh-TW" dirty="0"/>
              <a:t>cross entropy</a:t>
            </a:r>
            <a:r>
              <a:rPr kumimoji="1" lang="zh-TW" altLang="en-US" dirty="0"/>
              <a:t>不用迴歸的</a:t>
            </a:r>
            <a:r>
              <a:rPr kumimoji="1" lang="en-US" altLang="zh-TW" dirty="0"/>
              <a:t>MSE</a:t>
            </a:r>
            <a:r>
              <a:rPr kumimoji="1" lang="zh-TW" altLang="en-US" dirty="0"/>
              <a:t>？</a:t>
            </a:r>
          </a:p>
        </p:txBody>
      </p:sp>
      <p:sp>
        <p:nvSpPr>
          <p:cNvPr id="3" name="內容版面配置區 2">
            <a:extLst>
              <a:ext uri="{FF2B5EF4-FFF2-40B4-BE49-F238E27FC236}">
                <a16:creationId xmlns:a16="http://schemas.microsoft.com/office/drawing/2014/main" id="{953514B6-08F3-4D4D-B8D8-8D64FCF5E010}"/>
              </a:ext>
            </a:extLst>
          </p:cNvPr>
          <p:cNvSpPr>
            <a:spLocks noGrp="1"/>
          </p:cNvSpPr>
          <p:nvPr>
            <p:ph idx="1"/>
          </p:nvPr>
        </p:nvSpPr>
        <p:spPr/>
        <p:txBody>
          <a:bodyPr/>
          <a:lstStyle/>
          <a:p>
            <a:endParaRPr kumimoji="1" lang="zh-TW" altLang="en-US" dirty="0"/>
          </a:p>
        </p:txBody>
      </p:sp>
      <p:pic>
        <p:nvPicPr>
          <p:cNvPr id="6146" name="Picture 2">
            <a:extLst>
              <a:ext uri="{FF2B5EF4-FFF2-40B4-BE49-F238E27FC236}">
                <a16:creationId xmlns:a16="http://schemas.microsoft.com/office/drawing/2014/main" id="{3ECC56B5-9A77-DB4D-8BF4-BDC75AEBA7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743" y="1342100"/>
            <a:ext cx="7043219" cy="4834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0244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3E9115-FC58-4896-B4B9-0E9214C290E0}"/>
              </a:ext>
            </a:extLst>
          </p:cNvPr>
          <p:cNvSpPr>
            <a:spLocks noGrp="1"/>
          </p:cNvSpPr>
          <p:nvPr>
            <p:ph type="title"/>
          </p:nvPr>
        </p:nvSpPr>
        <p:spPr/>
        <p:txBody>
          <a:bodyPr/>
          <a:lstStyle/>
          <a:p>
            <a:r>
              <a:rPr lang="zh-TW" altLang="en-US" dirty="0"/>
              <a:t>練習一下分兩類問題</a:t>
            </a:r>
          </a:p>
        </p:txBody>
      </p:sp>
      <p:sp>
        <p:nvSpPr>
          <p:cNvPr id="3" name="內容版面配置區 2">
            <a:extLst>
              <a:ext uri="{FF2B5EF4-FFF2-40B4-BE49-F238E27FC236}">
                <a16:creationId xmlns:a16="http://schemas.microsoft.com/office/drawing/2014/main" id="{F9B94471-D3A6-4EF1-B5A9-D8C41B112F28}"/>
              </a:ext>
            </a:extLst>
          </p:cNvPr>
          <p:cNvSpPr>
            <a:spLocks noGrp="1"/>
          </p:cNvSpPr>
          <p:nvPr>
            <p:ph idx="1"/>
          </p:nvPr>
        </p:nvSpPr>
        <p:spPr>
          <a:xfrm>
            <a:off x="838200" y="1539433"/>
            <a:ext cx="10515600" cy="4637530"/>
          </a:xfrm>
        </p:spPr>
        <p:txBody>
          <a:bodyPr/>
          <a:lstStyle/>
          <a:p>
            <a:r>
              <a:rPr lang="zh-TW" altLang="en-US" dirty="0"/>
              <a:t>經典的</a:t>
            </a:r>
            <a:r>
              <a:rPr lang="en-US" altLang="zh-TW" dirty="0"/>
              <a:t>Iris</a:t>
            </a:r>
            <a:r>
              <a:rPr lang="zh-TW" altLang="en-US" dirty="0"/>
              <a:t>問題</a:t>
            </a:r>
          </a:p>
        </p:txBody>
      </p:sp>
      <p:pic>
        <p:nvPicPr>
          <p:cNvPr id="1026" name="Picture 2">
            <a:extLst>
              <a:ext uri="{FF2B5EF4-FFF2-40B4-BE49-F238E27FC236}">
                <a16:creationId xmlns:a16="http://schemas.microsoft.com/office/drawing/2014/main" id="{5BC09747-20A8-26AE-289E-D2C15CB8E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065" y="2067429"/>
            <a:ext cx="9900213" cy="4425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9156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0558E2-33AF-0255-5339-DFFC37BFEF5C}"/>
              </a:ext>
            </a:extLst>
          </p:cNvPr>
          <p:cNvSpPr>
            <a:spLocks noGrp="1"/>
          </p:cNvSpPr>
          <p:nvPr>
            <p:ph type="title"/>
          </p:nvPr>
        </p:nvSpPr>
        <p:spPr/>
        <p:txBody>
          <a:bodyPr/>
          <a:lstStyle/>
          <a:p>
            <a:r>
              <a:rPr kumimoji="1" lang="zh-TW" altLang="en-US" dirty="0"/>
              <a:t>分類問題</a:t>
            </a:r>
          </a:p>
        </p:txBody>
      </p:sp>
      <p:sp>
        <p:nvSpPr>
          <p:cNvPr id="3" name="內容版面配置區 2">
            <a:extLst>
              <a:ext uri="{FF2B5EF4-FFF2-40B4-BE49-F238E27FC236}">
                <a16:creationId xmlns:a16="http://schemas.microsoft.com/office/drawing/2014/main" id="{88C5BFF6-07F2-CCF2-FD0D-39E7264B9666}"/>
              </a:ext>
            </a:extLst>
          </p:cNvPr>
          <p:cNvSpPr>
            <a:spLocks noGrp="1"/>
          </p:cNvSpPr>
          <p:nvPr>
            <p:ph idx="1"/>
          </p:nvPr>
        </p:nvSpPr>
        <p:spPr>
          <a:xfrm>
            <a:off x="838200" y="1825625"/>
            <a:ext cx="3733800" cy="4351338"/>
          </a:xfrm>
        </p:spPr>
        <p:txBody>
          <a:bodyPr>
            <a:normAutofit/>
          </a:bodyPr>
          <a:lstStyle/>
          <a:p>
            <a:r>
              <a:rPr kumimoji="1" lang="zh-TW" altLang="en-US" dirty="0"/>
              <a:t>辨識資料集</a:t>
            </a:r>
            <a:endParaRPr kumimoji="1" lang="en-US" altLang="zh-TW" dirty="0"/>
          </a:p>
          <a:p>
            <a:r>
              <a:rPr kumimoji="1" lang="en-US" altLang="zh-TW" dirty="0"/>
              <a:t>X</a:t>
            </a:r>
            <a:r>
              <a:rPr kumimoji="1" lang="zh-TW" altLang="en-US" dirty="0"/>
              <a:t>部分為</a:t>
            </a:r>
            <a:r>
              <a:rPr kumimoji="1" lang="en-US" altLang="zh-TW" dirty="0"/>
              <a:t>Iris </a:t>
            </a:r>
            <a:r>
              <a:rPr kumimoji="1" lang="zh-TW" altLang="en-US" dirty="0"/>
              <a:t>數據中：</a:t>
            </a:r>
          </a:p>
          <a:p>
            <a:pPr lvl="1"/>
            <a:r>
              <a:rPr kumimoji="1" lang="en-US" altLang="zh-TW" dirty="0"/>
              <a:t>Petal Length</a:t>
            </a:r>
            <a:r>
              <a:rPr kumimoji="1" lang="zh-TW" altLang="en-US" dirty="0"/>
              <a:t>（花瓣長度）</a:t>
            </a:r>
          </a:p>
          <a:p>
            <a:pPr lvl="1"/>
            <a:r>
              <a:rPr kumimoji="1" lang="en-US" altLang="zh-TW" dirty="0"/>
              <a:t>Petal Width</a:t>
            </a:r>
            <a:r>
              <a:rPr kumimoji="1" lang="zh-TW" altLang="en-US" dirty="0"/>
              <a:t>（花瓣寬度）</a:t>
            </a:r>
            <a:endParaRPr kumimoji="1" lang="en-US" altLang="zh-TW" dirty="0"/>
          </a:p>
          <a:p>
            <a:r>
              <a:rPr kumimoji="1" lang="en-US" altLang="zh-TW" dirty="0"/>
              <a:t>Y</a:t>
            </a:r>
            <a:r>
              <a:rPr kumimoji="1" lang="zh-TW" altLang="en-US" dirty="0"/>
              <a:t>為類別</a:t>
            </a:r>
            <a:endParaRPr kumimoji="1" lang="en-US" altLang="zh-TW" dirty="0"/>
          </a:p>
          <a:p>
            <a:pPr lvl="1"/>
            <a:r>
              <a:rPr lang="en-US" altLang="zh-TW" b="0" i="0" dirty="0">
                <a:solidFill>
                  <a:srgbClr val="242424"/>
                </a:solidFill>
                <a:effectLst/>
                <a:latin typeface="source-serif-pro"/>
              </a:rPr>
              <a:t>0:setosa (</a:t>
            </a:r>
            <a:r>
              <a:rPr lang="zh-TW" altLang="en-US" b="0" i="0" dirty="0">
                <a:solidFill>
                  <a:srgbClr val="242424"/>
                </a:solidFill>
                <a:effectLst/>
                <a:latin typeface="source-serif-pro"/>
              </a:rPr>
              <a:t>藍色</a:t>
            </a:r>
            <a:r>
              <a:rPr lang="en-US" altLang="zh-TW" b="0" i="0" dirty="0">
                <a:solidFill>
                  <a:srgbClr val="242424"/>
                </a:solidFill>
                <a:effectLst/>
                <a:latin typeface="source-serif-pro"/>
              </a:rPr>
              <a:t>)</a:t>
            </a:r>
          </a:p>
          <a:p>
            <a:pPr lvl="1"/>
            <a:r>
              <a:rPr lang="en-US" altLang="zh-TW" b="0" i="0" dirty="0">
                <a:solidFill>
                  <a:srgbClr val="242424"/>
                </a:solidFill>
                <a:effectLst/>
                <a:latin typeface="source-serif-pro"/>
              </a:rPr>
              <a:t>1:versicolor (</a:t>
            </a:r>
            <a:r>
              <a:rPr lang="zh-TW" altLang="en-US" b="0" i="0" dirty="0">
                <a:solidFill>
                  <a:srgbClr val="242424"/>
                </a:solidFill>
                <a:effectLst/>
                <a:latin typeface="source-serif-pro"/>
              </a:rPr>
              <a:t>橘色</a:t>
            </a:r>
            <a:r>
              <a:rPr lang="en-US" altLang="zh-TW" b="0" i="0" dirty="0">
                <a:solidFill>
                  <a:srgbClr val="242424"/>
                </a:solidFill>
                <a:effectLst/>
                <a:latin typeface="source-serif-pro"/>
              </a:rPr>
              <a:t>)</a:t>
            </a:r>
          </a:p>
          <a:p>
            <a:pPr lvl="1"/>
            <a:r>
              <a:rPr lang="en-US" altLang="zh-TW" b="0" i="0" dirty="0">
                <a:solidFill>
                  <a:srgbClr val="242424"/>
                </a:solidFill>
                <a:effectLst/>
                <a:latin typeface="source-serif-pro"/>
              </a:rPr>
              <a:t>2:virginica</a:t>
            </a:r>
            <a:r>
              <a:rPr lang="en" altLang="zh-TW" b="0" i="0" dirty="0">
                <a:solidFill>
                  <a:srgbClr val="242424"/>
                </a:solidFill>
                <a:effectLst/>
                <a:latin typeface="source-serif-pro"/>
              </a:rPr>
              <a:t> (</a:t>
            </a:r>
            <a:r>
              <a:rPr lang="zh-TW" altLang="en-US" b="0" i="0" dirty="0">
                <a:solidFill>
                  <a:srgbClr val="242424"/>
                </a:solidFill>
                <a:effectLst/>
                <a:latin typeface="source-serif-pro"/>
              </a:rPr>
              <a:t>綠色</a:t>
            </a:r>
            <a:r>
              <a:rPr lang="en-US" altLang="zh-TW" b="0" i="0" dirty="0">
                <a:solidFill>
                  <a:srgbClr val="242424"/>
                </a:solidFill>
                <a:effectLst/>
                <a:latin typeface="source-serif-pro"/>
              </a:rPr>
              <a:t>)</a:t>
            </a:r>
          </a:p>
        </p:txBody>
      </p:sp>
      <p:pic>
        <p:nvPicPr>
          <p:cNvPr id="4" name="圖片 3">
            <a:extLst>
              <a:ext uri="{FF2B5EF4-FFF2-40B4-BE49-F238E27FC236}">
                <a16:creationId xmlns:a16="http://schemas.microsoft.com/office/drawing/2014/main" id="{D163FAE0-A54D-DFEA-E532-4CFE58A7E175}"/>
              </a:ext>
            </a:extLst>
          </p:cNvPr>
          <p:cNvPicPr>
            <a:picLocks noChangeAspect="1"/>
          </p:cNvPicPr>
          <p:nvPr/>
        </p:nvPicPr>
        <p:blipFill>
          <a:blip r:embed="rId2"/>
          <a:stretch>
            <a:fillRect/>
          </a:stretch>
        </p:blipFill>
        <p:spPr>
          <a:xfrm>
            <a:off x="4829988" y="1314808"/>
            <a:ext cx="6780120" cy="5178067"/>
          </a:xfrm>
          <a:prstGeom prst="rect">
            <a:avLst/>
          </a:prstGeom>
          <a:ln>
            <a:solidFill>
              <a:schemeClr val="tx1"/>
            </a:solidFill>
          </a:ln>
        </p:spPr>
      </p:pic>
      <p:sp>
        <p:nvSpPr>
          <p:cNvPr id="6" name="文字方塊 5">
            <a:extLst>
              <a:ext uri="{FF2B5EF4-FFF2-40B4-BE49-F238E27FC236}">
                <a16:creationId xmlns:a16="http://schemas.microsoft.com/office/drawing/2014/main" id="{7AA908F7-08A5-462C-9CE7-491C870E4AAA}"/>
              </a:ext>
            </a:extLst>
          </p:cNvPr>
          <p:cNvSpPr txBox="1"/>
          <p:nvPr/>
        </p:nvSpPr>
        <p:spPr>
          <a:xfrm>
            <a:off x="660400" y="6130409"/>
            <a:ext cx="6096000" cy="369332"/>
          </a:xfrm>
          <a:prstGeom prst="rect">
            <a:avLst/>
          </a:prstGeom>
          <a:noFill/>
        </p:spPr>
        <p:txBody>
          <a:bodyPr wrap="square">
            <a:spAutoFit/>
          </a:bodyPr>
          <a:lstStyle/>
          <a:p>
            <a:r>
              <a:rPr lang="en-US" altLang="zh-TW" dirty="0"/>
              <a:t>Ref: </a:t>
            </a:r>
            <a:r>
              <a:rPr lang="zh-TW" altLang="en-US" dirty="0"/>
              <a:t>04.Logistic_Regression_scratch_Iris.py</a:t>
            </a:r>
          </a:p>
        </p:txBody>
      </p:sp>
    </p:spTree>
    <p:extLst>
      <p:ext uri="{BB962C8B-B14F-4D97-AF65-F5344CB8AC3E}">
        <p14:creationId xmlns:p14="http://schemas.microsoft.com/office/powerpoint/2010/main" val="1139998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5BD4C102-8A24-4A08-8697-96402D6AC4E9}"/>
              </a:ext>
            </a:extLst>
          </p:cNvPr>
          <p:cNvSpPr txBox="1"/>
          <p:nvPr/>
        </p:nvSpPr>
        <p:spPr>
          <a:xfrm>
            <a:off x="1447800" y="167243"/>
            <a:ext cx="9423400" cy="2554545"/>
          </a:xfrm>
          <a:prstGeom prst="rect">
            <a:avLst/>
          </a:prstGeom>
          <a:noFill/>
          <a:ln>
            <a:solidFill>
              <a:schemeClr val="tx1"/>
            </a:solidFill>
          </a:ln>
        </p:spPr>
        <p:txBody>
          <a:bodyPr wrap="square">
            <a:spAutoFit/>
          </a:bodyPr>
          <a:lstStyle/>
          <a:p>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matplotlib.pyplot</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as</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plt</a:t>
            </a:r>
            <a:endParaRPr lang="en-US" altLang="zh-TW" sz="1600" b="0" dirty="0">
              <a:solidFill>
                <a:srgbClr val="000000"/>
              </a:solidFill>
              <a:effectLst/>
              <a:latin typeface="Fira Code" panose="020B0809050000020004" pitchFamily="49" charset="0"/>
            </a:endParaRPr>
          </a:p>
          <a:p>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numpy</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as</a:t>
            </a:r>
            <a:r>
              <a:rPr lang="en-US" altLang="zh-TW" sz="1600" b="0" dirty="0">
                <a:solidFill>
                  <a:srgbClr val="000000"/>
                </a:solidFill>
                <a:effectLst/>
                <a:latin typeface="Fira Code" panose="020B0809050000020004" pitchFamily="49" charset="0"/>
              </a:rPr>
              <a:t> np</a:t>
            </a:r>
          </a:p>
          <a:p>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pandas </a:t>
            </a:r>
            <a:r>
              <a:rPr lang="en-US" altLang="zh-TW" sz="1600" b="0" dirty="0">
                <a:solidFill>
                  <a:srgbClr val="0000FF"/>
                </a:solidFill>
                <a:effectLst/>
                <a:latin typeface="Fira Code" panose="020B0809050000020004" pitchFamily="49" charset="0"/>
              </a:rPr>
              <a:t>as</a:t>
            </a:r>
            <a:r>
              <a:rPr lang="en-US" altLang="zh-TW" sz="1600" b="0" dirty="0">
                <a:solidFill>
                  <a:srgbClr val="000000"/>
                </a:solidFill>
                <a:effectLst/>
                <a:latin typeface="Fira Code" panose="020B0809050000020004" pitchFamily="49" charset="0"/>
              </a:rPr>
              <a:t> pd</a:t>
            </a:r>
          </a:p>
          <a:p>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seaborn </a:t>
            </a:r>
            <a:r>
              <a:rPr lang="en-US" altLang="zh-TW" sz="1600" b="0" dirty="0">
                <a:solidFill>
                  <a:srgbClr val="0000FF"/>
                </a:solidFill>
                <a:effectLst/>
                <a:latin typeface="Fira Code" panose="020B0809050000020004" pitchFamily="49" charset="0"/>
              </a:rPr>
              <a:t>as</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sns</a:t>
            </a:r>
            <a:endParaRPr lang="en-US" altLang="zh-TW" sz="1600" b="0" dirty="0">
              <a:solidFill>
                <a:srgbClr val="000000"/>
              </a:solidFill>
              <a:effectLst/>
              <a:latin typeface="Fira Code" panose="020B0809050000020004" pitchFamily="49" charset="0"/>
            </a:endParaRP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matplotlib.colors</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ListedColormap</a:t>
            </a:r>
            <a:endParaRPr lang="en-US" altLang="zh-TW" sz="1600" b="0" dirty="0">
              <a:solidFill>
                <a:srgbClr val="000000"/>
              </a:solidFill>
              <a:effectLst/>
              <a:latin typeface="Fira Code" panose="020B0809050000020004" pitchFamily="49" charset="0"/>
            </a:endParaRP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datasets</a:t>
            </a: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sklearn.metrics</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ConfusionMatrixDisplay</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accuracy_score</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confusion_matrix</a:t>
            </a:r>
            <a:r>
              <a:rPr lang="en-US" altLang="zh-TW" sz="1600" b="0" dirty="0">
                <a:solidFill>
                  <a:srgbClr val="000000"/>
                </a:solidFill>
                <a:effectLst/>
                <a:latin typeface="Fira Code" panose="020B0809050000020004" pitchFamily="49" charset="0"/>
              </a:rPr>
              <a:t>)</a:t>
            </a: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sklearn.model_selection</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train_test_split</a:t>
            </a:r>
            <a:endParaRPr lang="en-US" altLang="zh-TW" sz="1600" b="0" dirty="0">
              <a:solidFill>
                <a:srgbClr val="000000"/>
              </a:solidFill>
              <a:effectLst/>
              <a:latin typeface="Fira Code" panose="020B0809050000020004" pitchFamily="49" charset="0"/>
            </a:endParaRP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sklearn.preprocessing</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StandardScaler</a:t>
            </a:r>
            <a:endParaRPr lang="en-US" altLang="zh-TW" sz="1600" b="0" dirty="0">
              <a:solidFill>
                <a:srgbClr val="000000"/>
              </a:solidFill>
              <a:effectLst/>
              <a:latin typeface="Fira Code" panose="020B0809050000020004" pitchFamily="49" charset="0"/>
            </a:endParaRPr>
          </a:p>
        </p:txBody>
      </p:sp>
      <p:sp>
        <p:nvSpPr>
          <p:cNvPr id="7" name="文字方塊 6">
            <a:extLst>
              <a:ext uri="{FF2B5EF4-FFF2-40B4-BE49-F238E27FC236}">
                <a16:creationId xmlns:a16="http://schemas.microsoft.com/office/drawing/2014/main" id="{E14FCF2E-4178-4EE3-B0BB-4DD98498305C}"/>
              </a:ext>
            </a:extLst>
          </p:cNvPr>
          <p:cNvSpPr txBox="1"/>
          <p:nvPr/>
        </p:nvSpPr>
        <p:spPr>
          <a:xfrm>
            <a:off x="2006600" y="2997438"/>
            <a:ext cx="8807450" cy="3693319"/>
          </a:xfrm>
          <a:prstGeom prst="rect">
            <a:avLst/>
          </a:prstGeom>
          <a:noFill/>
          <a:ln>
            <a:solidFill>
              <a:schemeClr val="tx1"/>
            </a:solidFill>
          </a:ln>
        </p:spPr>
        <p:txBody>
          <a:bodyPr wrap="square">
            <a:spAutoFit/>
          </a:bodyPr>
          <a:lstStyle/>
          <a:p>
            <a:r>
              <a:rPr lang="en-US" altLang="zh-TW" b="0" dirty="0">
                <a:solidFill>
                  <a:srgbClr val="000000"/>
                </a:solidFill>
                <a:effectLst/>
                <a:latin typeface="Fira Code" panose="020B0809050000020004" pitchFamily="49" charset="0"/>
              </a:rPr>
              <a:t>iris = </a:t>
            </a:r>
            <a:r>
              <a:rPr lang="en-US" altLang="zh-TW" b="0" dirty="0" err="1">
                <a:solidFill>
                  <a:srgbClr val="000000"/>
                </a:solidFill>
                <a:effectLst/>
                <a:latin typeface="Fira Code" panose="020B0809050000020004" pitchFamily="49" charset="0"/>
              </a:rPr>
              <a:t>datasets.load_iris</a:t>
            </a:r>
            <a:r>
              <a:rPr lang="en-US" altLang="zh-TW" b="0" dirty="0">
                <a:solidFill>
                  <a:srgbClr val="000000"/>
                </a:solidFill>
                <a:effectLst/>
                <a:latin typeface="Fira Code" panose="020B0809050000020004" pitchFamily="49" charset="0"/>
              </a:rPr>
              <a:t>()</a:t>
            </a:r>
          </a:p>
          <a:p>
            <a:br>
              <a:rPr lang="en-US" altLang="zh-TW" b="0" dirty="0">
                <a:solidFill>
                  <a:srgbClr val="000000"/>
                </a:solidFill>
                <a:effectLst/>
                <a:latin typeface="Fira Code" panose="020B0809050000020004" pitchFamily="49" charset="0"/>
              </a:rPr>
            </a:br>
            <a:r>
              <a:rPr lang="en-US"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創建一個 </a:t>
            </a:r>
            <a:r>
              <a:rPr lang="en-US" altLang="zh-TW" b="0" dirty="0" err="1">
                <a:solidFill>
                  <a:srgbClr val="008000"/>
                </a:solidFill>
                <a:effectLst/>
                <a:latin typeface="Fira Code" panose="020B0809050000020004" pitchFamily="49" charset="0"/>
              </a:rPr>
              <a:t>DataFrame</a:t>
            </a:r>
            <a:r>
              <a:rPr lang="zh-TW" altLang="en-US" b="0" dirty="0">
                <a:solidFill>
                  <a:srgbClr val="008000"/>
                </a:solidFill>
                <a:effectLst/>
                <a:latin typeface="Fira Code" panose="020B0809050000020004" pitchFamily="49" charset="0"/>
              </a:rPr>
              <a:t>，包含特徵和目標變量</a:t>
            </a:r>
            <a:endParaRPr lang="zh-TW" altLang="en-US" b="0" dirty="0">
              <a:solidFill>
                <a:srgbClr val="000000"/>
              </a:solidFill>
              <a:effectLst/>
              <a:latin typeface="Fira Code" panose="020B0809050000020004" pitchFamily="49" charset="0"/>
            </a:endParaRPr>
          </a:p>
          <a:p>
            <a:br>
              <a:rPr lang="zh-TW" altLang="en-US" b="0" dirty="0">
                <a:solidFill>
                  <a:srgbClr val="000000"/>
                </a:solidFill>
                <a:effectLst/>
                <a:latin typeface="Fira Code" panose="020B0809050000020004" pitchFamily="49" charset="0"/>
              </a:rPr>
            </a:br>
            <a:r>
              <a:rPr lang="en-US" altLang="zh-TW" b="0" dirty="0" err="1">
                <a:solidFill>
                  <a:srgbClr val="000000"/>
                </a:solidFill>
                <a:effectLst/>
                <a:latin typeface="Fira Code" panose="020B0809050000020004" pitchFamily="49" charset="0"/>
              </a:rPr>
              <a:t>iris_df</a:t>
            </a:r>
            <a:r>
              <a:rPr lang="en-US" altLang="zh-TW" b="0" dirty="0">
                <a:solidFill>
                  <a:srgbClr val="000000"/>
                </a:solidFill>
                <a:effectLst/>
                <a:latin typeface="Fira Code" panose="020B0809050000020004" pitchFamily="49" charset="0"/>
              </a:rPr>
              <a:t> = </a:t>
            </a:r>
            <a:r>
              <a:rPr lang="en-US" altLang="zh-TW" b="0" dirty="0" err="1">
                <a:solidFill>
                  <a:srgbClr val="000000"/>
                </a:solidFill>
                <a:effectLst/>
                <a:latin typeface="Fira Code" panose="020B0809050000020004" pitchFamily="49" charset="0"/>
              </a:rPr>
              <a:t>pd.DataFrame</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iris.data</a:t>
            </a:r>
            <a:r>
              <a:rPr lang="en-US" altLang="zh-TW" b="0" dirty="0">
                <a:solidFill>
                  <a:srgbClr val="000000"/>
                </a:solidFill>
                <a:effectLst/>
                <a:latin typeface="Fira Code" panose="020B0809050000020004" pitchFamily="49" charset="0"/>
              </a:rPr>
              <a:t>, columns=</a:t>
            </a:r>
            <a:r>
              <a:rPr lang="en-US" altLang="zh-TW" b="0" dirty="0" err="1">
                <a:solidFill>
                  <a:srgbClr val="000000"/>
                </a:solidFill>
                <a:effectLst/>
                <a:latin typeface="Fira Code" panose="020B0809050000020004" pitchFamily="49" charset="0"/>
              </a:rPr>
              <a:t>iris.feature_names</a:t>
            </a:r>
            <a:r>
              <a:rPr lang="en-US" altLang="zh-TW" b="0" dirty="0">
                <a:solidFill>
                  <a:srgbClr val="000000"/>
                </a:solidFill>
                <a:effectLst/>
                <a:latin typeface="Fira Code" panose="020B0809050000020004" pitchFamily="49" charset="0"/>
              </a:rPr>
              <a:t>)</a:t>
            </a:r>
          </a:p>
          <a:p>
            <a:r>
              <a:rPr lang="en-US" altLang="zh-TW" b="0" dirty="0" err="1">
                <a:solidFill>
                  <a:srgbClr val="000000"/>
                </a:solidFill>
                <a:effectLst/>
                <a:latin typeface="Fira Code" panose="020B0809050000020004" pitchFamily="49" charset="0"/>
              </a:rPr>
              <a:t>iris_df</a:t>
            </a:r>
            <a:r>
              <a:rPr lang="en-US" altLang="zh-TW" b="0" dirty="0">
                <a:solidFill>
                  <a:srgbClr val="000000"/>
                </a:solidFill>
                <a:effectLst/>
                <a:latin typeface="Fira Code" panose="020B0809050000020004" pitchFamily="49" charset="0"/>
              </a:rPr>
              <a:t>[</a:t>
            </a:r>
            <a:r>
              <a:rPr lang="en-US" altLang="zh-TW" b="0" dirty="0">
                <a:solidFill>
                  <a:srgbClr val="A31515"/>
                </a:solidFill>
                <a:effectLst/>
                <a:latin typeface="Fira Code" panose="020B0809050000020004" pitchFamily="49" charset="0"/>
              </a:rPr>
              <a:t>'species'</a:t>
            </a:r>
            <a:r>
              <a:rPr lang="en-US" altLang="zh-TW" b="0" dirty="0">
                <a:solidFill>
                  <a:srgbClr val="000000"/>
                </a:solidFill>
                <a:effectLst/>
                <a:latin typeface="Fira Code" panose="020B0809050000020004" pitchFamily="49" charset="0"/>
              </a:rPr>
              <a:t>] = </a:t>
            </a:r>
            <a:r>
              <a:rPr lang="en-US" altLang="zh-TW" b="0" dirty="0" err="1">
                <a:solidFill>
                  <a:srgbClr val="000000"/>
                </a:solidFill>
                <a:effectLst/>
                <a:latin typeface="Fira Code" panose="020B0809050000020004" pitchFamily="49" charset="0"/>
              </a:rPr>
              <a:t>pd.Categorical.from_codes</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iris.target</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iris.target_names</a:t>
            </a:r>
            <a:r>
              <a:rPr lang="en-US" altLang="zh-TW" b="0" dirty="0">
                <a:solidFill>
                  <a:srgbClr val="000000"/>
                </a:solidFill>
                <a:effectLst/>
                <a:latin typeface="Fira Code" panose="020B0809050000020004" pitchFamily="49" charset="0"/>
              </a:rPr>
              <a:t>)</a:t>
            </a:r>
          </a:p>
          <a:p>
            <a:br>
              <a:rPr lang="en-US" altLang="zh-TW" b="0" dirty="0">
                <a:solidFill>
                  <a:srgbClr val="000000"/>
                </a:solidFill>
                <a:effectLst/>
                <a:latin typeface="Fira Code" panose="020B0809050000020004" pitchFamily="49" charset="0"/>
              </a:rPr>
            </a:br>
            <a:r>
              <a:rPr lang="en-US"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使用 </a:t>
            </a:r>
            <a:r>
              <a:rPr lang="en-US" altLang="zh-TW" b="0" dirty="0">
                <a:solidFill>
                  <a:srgbClr val="008000"/>
                </a:solidFill>
                <a:effectLst/>
                <a:latin typeface="Fira Code" panose="020B0809050000020004" pitchFamily="49" charset="0"/>
              </a:rPr>
              <a:t>Seaborn </a:t>
            </a:r>
            <a:r>
              <a:rPr lang="zh-TW" altLang="en-US" b="0" dirty="0">
                <a:solidFill>
                  <a:srgbClr val="008000"/>
                </a:solidFill>
                <a:effectLst/>
                <a:latin typeface="Fira Code" panose="020B0809050000020004" pitchFamily="49" charset="0"/>
              </a:rPr>
              <a:t>創建 </a:t>
            </a:r>
            <a:r>
              <a:rPr lang="en-US" altLang="zh-TW" b="0" dirty="0" err="1">
                <a:solidFill>
                  <a:srgbClr val="008000"/>
                </a:solidFill>
                <a:effectLst/>
                <a:latin typeface="Fira Code" panose="020B0809050000020004" pitchFamily="49" charset="0"/>
              </a:rPr>
              <a:t>pairplot</a:t>
            </a:r>
            <a:endParaRPr lang="en-US" altLang="zh-TW" b="0" dirty="0">
              <a:solidFill>
                <a:srgbClr val="000000"/>
              </a:solidFill>
              <a:effectLst/>
              <a:latin typeface="Fira Code" panose="020B0809050000020004" pitchFamily="49" charset="0"/>
            </a:endParaRPr>
          </a:p>
          <a:p>
            <a:r>
              <a:rPr lang="en-US" altLang="zh-TW" b="0" dirty="0" err="1">
                <a:solidFill>
                  <a:srgbClr val="000000"/>
                </a:solidFill>
                <a:effectLst/>
                <a:latin typeface="Fira Code" panose="020B0809050000020004" pitchFamily="49" charset="0"/>
              </a:rPr>
              <a:t>plt.figure</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figsize</a:t>
            </a:r>
            <a:r>
              <a:rPr lang="en-US" altLang="zh-TW" b="0" dirty="0">
                <a:solidFill>
                  <a:srgbClr val="000000"/>
                </a:solidFill>
                <a:effectLst/>
                <a:latin typeface="Fira Code" panose="020B0809050000020004" pitchFamily="49" charset="0"/>
              </a:rPr>
              <a:t>=(</a:t>
            </a:r>
            <a:r>
              <a:rPr lang="en-US" altLang="zh-TW" b="0" dirty="0">
                <a:solidFill>
                  <a:srgbClr val="098658"/>
                </a:solidFill>
                <a:effectLst/>
                <a:latin typeface="Fira Code" panose="020B0809050000020004" pitchFamily="49" charset="0"/>
              </a:rPr>
              <a:t>10</a:t>
            </a:r>
            <a:r>
              <a:rPr lang="en-US" altLang="zh-TW" b="0" dirty="0">
                <a:solidFill>
                  <a:srgbClr val="000000"/>
                </a:solidFill>
                <a:effectLst/>
                <a:latin typeface="Fira Code" panose="020B0809050000020004" pitchFamily="49" charset="0"/>
              </a:rPr>
              <a:t>, </a:t>
            </a:r>
            <a:r>
              <a:rPr lang="en-US" altLang="zh-TW" b="0" dirty="0">
                <a:solidFill>
                  <a:srgbClr val="098658"/>
                </a:solidFill>
                <a:effectLst/>
                <a:latin typeface="Fira Code" panose="020B0809050000020004" pitchFamily="49" charset="0"/>
              </a:rPr>
              <a:t>8</a:t>
            </a:r>
            <a:r>
              <a:rPr lang="en-US" altLang="zh-TW" b="0" dirty="0">
                <a:solidFill>
                  <a:srgbClr val="000000"/>
                </a:solidFill>
                <a:effectLst/>
                <a:latin typeface="Fira Code" panose="020B0809050000020004" pitchFamily="49" charset="0"/>
              </a:rPr>
              <a:t>))</a:t>
            </a:r>
          </a:p>
          <a:p>
            <a:r>
              <a:rPr lang="en-US" altLang="zh-TW" b="0" dirty="0" err="1">
                <a:solidFill>
                  <a:srgbClr val="000000"/>
                </a:solidFill>
                <a:effectLst/>
                <a:latin typeface="Fira Code" panose="020B0809050000020004" pitchFamily="49" charset="0"/>
              </a:rPr>
              <a:t>sns.pairplot</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iris_df</a:t>
            </a:r>
            <a:r>
              <a:rPr lang="en-US" altLang="zh-TW" b="0" dirty="0">
                <a:solidFill>
                  <a:srgbClr val="000000"/>
                </a:solidFill>
                <a:effectLst/>
                <a:latin typeface="Fira Code" panose="020B0809050000020004" pitchFamily="49" charset="0"/>
              </a:rPr>
              <a:t>, hue=</a:t>
            </a:r>
            <a:r>
              <a:rPr lang="en-US" altLang="zh-TW" b="0" dirty="0">
                <a:solidFill>
                  <a:srgbClr val="A31515"/>
                </a:solidFill>
                <a:effectLst/>
                <a:latin typeface="Fira Code" panose="020B0809050000020004" pitchFamily="49" charset="0"/>
              </a:rPr>
              <a:t>'species'</a:t>
            </a:r>
            <a:r>
              <a:rPr lang="en-US" altLang="zh-TW" b="0" dirty="0">
                <a:solidFill>
                  <a:srgbClr val="000000"/>
                </a:solidFill>
                <a:effectLst/>
                <a:latin typeface="Fira Code" panose="020B0809050000020004" pitchFamily="49" charset="0"/>
              </a:rPr>
              <a:t>, palette=</a:t>
            </a:r>
            <a:r>
              <a:rPr lang="en-US" altLang="zh-TW" b="0" dirty="0">
                <a:solidFill>
                  <a:srgbClr val="A31515"/>
                </a:solidFill>
                <a:effectLst/>
                <a:latin typeface="Fira Code" panose="020B0809050000020004" pitchFamily="49" charset="0"/>
              </a:rPr>
              <a:t>'deep'</a:t>
            </a:r>
            <a:r>
              <a:rPr lang="en-US" altLang="zh-TW" b="0" dirty="0">
                <a:solidFill>
                  <a:srgbClr val="000000"/>
                </a:solidFill>
                <a:effectLst/>
                <a:latin typeface="Fira Code" panose="020B0809050000020004" pitchFamily="49" charset="0"/>
              </a:rPr>
              <a:t>)</a:t>
            </a:r>
          </a:p>
          <a:p>
            <a:r>
              <a:rPr lang="en-US" altLang="zh-TW" b="0" dirty="0" err="1">
                <a:solidFill>
                  <a:srgbClr val="000000"/>
                </a:solidFill>
                <a:effectLst/>
                <a:latin typeface="Fira Code" panose="020B0809050000020004" pitchFamily="49" charset="0"/>
              </a:rPr>
              <a:t>plt.suptitle</a:t>
            </a:r>
            <a:r>
              <a:rPr lang="en-US" altLang="zh-TW" b="0" dirty="0">
                <a:solidFill>
                  <a:srgbClr val="000000"/>
                </a:solidFill>
                <a:effectLst/>
                <a:latin typeface="Fira Code" panose="020B0809050000020004" pitchFamily="49" charset="0"/>
              </a:rPr>
              <a:t>(</a:t>
            </a:r>
            <a:r>
              <a:rPr lang="en-US" altLang="zh-TW" b="0" dirty="0">
                <a:solidFill>
                  <a:srgbClr val="A31515"/>
                </a:solidFill>
                <a:effectLst/>
                <a:latin typeface="Fira Code" panose="020B0809050000020004" pitchFamily="49" charset="0"/>
              </a:rPr>
              <a:t>"Iris Dataset - Feature Distributions"</a:t>
            </a:r>
            <a:r>
              <a:rPr lang="en-US" altLang="zh-TW" b="0" dirty="0">
                <a:solidFill>
                  <a:srgbClr val="000000"/>
                </a:solidFill>
                <a:effectLst/>
                <a:latin typeface="Fira Code" panose="020B0809050000020004" pitchFamily="49" charset="0"/>
              </a:rPr>
              <a:t>, y=</a:t>
            </a:r>
            <a:r>
              <a:rPr lang="en-US" altLang="zh-TW" b="0" dirty="0">
                <a:solidFill>
                  <a:srgbClr val="098658"/>
                </a:solidFill>
                <a:effectLst/>
                <a:latin typeface="Fira Code" panose="020B0809050000020004" pitchFamily="49" charset="0"/>
              </a:rPr>
              <a:t>1.02</a:t>
            </a:r>
            <a:r>
              <a:rPr lang="en-US" altLang="zh-TW" b="0" dirty="0">
                <a:solidFill>
                  <a:srgbClr val="000000"/>
                </a:solidFill>
                <a:effectLst/>
                <a:latin typeface="Fira Code" panose="020B0809050000020004" pitchFamily="49" charset="0"/>
              </a:rPr>
              <a:t>)</a:t>
            </a:r>
          </a:p>
          <a:p>
            <a:r>
              <a:rPr lang="en-US" altLang="zh-TW" b="0" dirty="0" err="1">
                <a:solidFill>
                  <a:srgbClr val="000000"/>
                </a:solidFill>
                <a:effectLst/>
                <a:latin typeface="Fira Code" panose="020B0809050000020004" pitchFamily="49" charset="0"/>
              </a:rPr>
              <a:t>plt.show</a:t>
            </a:r>
            <a:r>
              <a:rPr lang="en-US" altLang="zh-TW" b="0" dirty="0">
                <a:solidFill>
                  <a:srgbClr val="000000"/>
                </a:solidFill>
                <a:effectLst/>
                <a:latin typeface="Fira Code" panose="020B0809050000020004" pitchFamily="49" charset="0"/>
              </a:rPr>
              <a:t>()</a:t>
            </a:r>
          </a:p>
        </p:txBody>
      </p:sp>
    </p:spTree>
    <p:extLst>
      <p:ext uri="{BB962C8B-B14F-4D97-AF65-F5344CB8AC3E}">
        <p14:creationId xmlns:p14="http://schemas.microsoft.com/office/powerpoint/2010/main" val="1919315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58356-61EF-45A2-B849-A940CAD82457}"/>
              </a:ext>
            </a:extLst>
          </p:cNvPr>
          <p:cNvSpPr>
            <a:spLocks noGrp="1"/>
          </p:cNvSpPr>
          <p:nvPr>
            <p:ph type="title"/>
          </p:nvPr>
        </p:nvSpPr>
        <p:spPr/>
        <p:txBody>
          <a:bodyPr/>
          <a:lstStyle/>
          <a:p>
            <a:r>
              <a:rPr lang="zh-TW" altLang="en-US" dirty="0"/>
              <a:t>分類問題</a:t>
            </a:r>
            <a:r>
              <a:rPr lang="en-US" altLang="zh-TW" dirty="0"/>
              <a:t>(</a:t>
            </a:r>
            <a:r>
              <a:rPr lang="zh-TW" altLang="en-US" dirty="0"/>
              <a:t>假設先處理兩元分類</a:t>
            </a:r>
            <a:r>
              <a:rPr lang="en-US" altLang="zh-TW" dirty="0"/>
              <a:t>)</a:t>
            </a:r>
            <a:endParaRPr lang="zh-TW" altLang="en-US" dirty="0"/>
          </a:p>
        </p:txBody>
      </p:sp>
      <p:sp>
        <p:nvSpPr>
          <p:cNvPr id="5" name="文字方塊 4">
            <a:extLst>
              <a:ext uri="{FF2B5EF4-FFF2-40B4-BE49-F238E27FC236}">
                <a16:creationId xmlns:a16="http://schemas.microsoft.com/office/drawing/2014/main" id="{6134C43E-487F-4C84-B025-E545B4110468}"/>
              </a:ext>
            </a:extLst>
          </p:cNvPr>
          <p:cNvSpPr txBox="1"/>
          <p:nvPr/>
        </p:nvSpPr>
        <p:spPr>
          <a:xfrm>
            <a:off x="920750" y="1323638"/>
            <a:ext cx="8210550" cy="5355312"/>
          </a:xfrm>
          <a:prstGeom prst="rect">
            <a:avLst/>
          </a:prstGeom>
          <a:noFill/>
          <a:ln>
            <a:solidFill>
              <a:schemeClr val="tx1"/>
            </a:solidFill>
          </a:ln>
        </p:spPr>
        <p:txBody>
          <a:bodyPr wrap="square">
            <a:spAutoFit/>
          </a:bodyPr>
          <a:lstStyle/>
          <a:p>
            <a:r>
              <a:rPr lang="en-US" altLang="zh-TW" b="0" dirty="0">
                <a:solidFill>
                  <a:srgbClr val="008000"/>
                </a:solidFill>
                <a:effectLst/>
                <a:latin typeface="Fira Code" panose="020B0809050000020004" pitchFamily="49" charset="0"/>
              </a:rPr>
              <a:t># X</a:t>
            </a:r>
            <a:r>
              <a:rPr lang="zh-TW" altLang="en-US" b="0" dirty="0">
                <a:solidFill>
                  <a:srgbClr val="008000"/>
                </a:solidFill>
                <a:effectLst/>
                <a:latin typeface="Fira Code" panose="020B0809050000020004" pitchFamily="49" charset="0"/>
              </a:rPr>
              <a:t>只取第</a:t>
            </a:r>
            <a:r>
              <a:rPr lang="en-US" altLang="zh-TW" b="0" dirty="0">
                <a:solidFill>
                  <a:srgbClr val="008000"/>
                </a:solidFill>
                <a:effectLst/>
                <a:latin typeface="Fira Code" panose="020B0809050000020004" pitchFamily="49" charset="0"/>
              </a:rPr>
              <a:t>2</a:t>
            </a:r>
            <a:r>
              <a:rPr lang="zh-TW" altLang="en-US" b="0" dirty="0">
                <a:solidFill>
                  <a:srgbClr val="008000"/>
                </a:solidFill>
                <a:effectLst/>
                <a:latin typeface="Fira Code" panose="020B0809050000020004" pitchFamily="49" charset="0"/>
              </a:rPr>
              <a:t>跟第</a:t>
            </a:r>
            <a:r>
              <a:rPr lang="en-US" altLang="zh-TW" b="0" dirty="0">
                <a:solidFill>
                  <a:srgbClr val="008000"/>
                </a:solidFill>
                <a:effectLst/>
                <a:latin typeface="Fira Code" panose="020B0809050000020004" pitchFamily="49" charset="0"/>
              </a:rPr>
              <a:t>3</a:t>
            </a:r>
            <a:r>
              <a:rPr lang="zh-TW" altLang="en-US" b="0" dirty="0">
                <a:solidFill>
                  <a:srgbClr val="008000"/>
                </a:solidFill>
                <a:effectLst/>
                <a:latin typeface="Fira Code" panose="020B0809050000020004" pitchFamily="49" charset="0"/>
              </a:rPr>
              <a:t>維</a:t>
            </a:r>
            <a:endParaRPr lang="zh-TW" altLang="en-US" b="0" dirty="0">
              <a:solidFill>
                <a:srgbClr val="000000"/>
              </a:solidFill>
              <a:effectLst/>
              <a:latin typeface="Fira Code" panose="020B0809050000020004" pitchFamily="49" charset="0"/>
            </a:endParaRPr>
          </a:p>
          <a:p>
            <a:r>
              <a:rPr lang="en-US" altLang="zh-TW" b="0" dirty="0">
                <a:solidFill>
                  <a:srgbClr val="000000"/>
                </a:solidFill>
                <a:effectLst/>
                <a:latin typeface="Fira Code" panose="020B0809050000020004" pitchFamily="49" charset="0"/>
              </a:rPr>
              <a:t>X = </a:t>
            </a:r>
            <a:r>
              <a:rPr lang="en-US" altLang="zh-TW" b="0" dirty="0" err="1">
                <a:solidFill>
                  <a:srgbClr val="000000"/>
                </a:solidFill>
                <a:effectLst/>
                <a:latin typeface="Fira Code" panose="020B0809050000020004" pitchFamily="49" charset="0"/>
              </a:rPr>
              <a:t>iris.data</a:t>
            </a:r>
            <a:r>
              <a:rPr lang="en-US" altLang="zh-TW" b="0" dirty="0">
                <a:solidFill>
                  <a:srgbClr val="000000"/>
                </a:solidFill>
                <a:effectLst/>
                <a:latin typeface="Fira Code" panose="020B0809050000020004" pitchFamily="49" charset="0"/>
              </a:rPr>
              <a:t>[:, [</a:t>
            </a:r>
            <a:r>
              <a:rPr lang="en-US" altLang="zh-TW" b="0" dirty="0">
                <a:solidFill>
                  <a:srgbClr val="098658"/>
                </a:solidFill>
                <a:effectLst/>
                <a:latin typeface="Fira Code" panose="020B0809050000020004" pitchFamily="49" charset="0"/>
              </a:rPr>
              <a:t>2</a:t>
            </a:r>
            <a:r>
              <a:rPr lang="en-US" altLang="zh-TW" b="0" dirty="0">
                <a:solidFill>
                  <a:srgbClr val="000000"/>
                </a:solidFill>
                <a:effectLst/>
                <a:latin typeface="Fira Code" panose="020B0809050000020004" pitchFamily="49" charset="0"/>
              </a:rPr>
              <a:t>, </a:t>
            </a:r>
            <a:r>
              <a:rPr lang="en-US" altLang="zh-TW" b="0" dirty="0">
                <a:solidFill>
                  <a:srgbClr val="098658"/>
                </a:solidFill>
                <a:effectLst/>
                <a:latin typeface="Fira Code" panose="020B0809050000020004" pitchFamily="49" charset="0"/>
              </a:rPr>
              <a:t>3</a:t>
            </a:r>
            <a:r>
              <a:rPr lang="en-US" altLang="zh-TW" b="0" dirty="0">
                <a:solidFill>
                  <a:srgbClr val="000000"/>
                </a:solidFill>
                <a:effectLst/>
                <a:latin typeface="Fira Code" panose="020B0809050000020004" pitchFamily="49" charset="0"/>
              </a:rPr>
              <a:t>]]</a:t>
            </a:r>
          </a:p>
          <a:p>
            <a:r>
              <a:rPr lang="en-US" altLang="zh-TW" b="0" dirty="0">
                <a:solidFill>
                  <a:srgbClr val="008000"/>
                </a:solidFill>
                <a:effectLst/>
                <a:latin typeface="Fira Code" panose="020B0809050000020004" pitchFamily="49" charset="0"/>
              </a:rPr>
              <a:t># 0:setosa, 1:versicolor, 2:virginica</a:t>
            </a:r>
            <a:endParaRPr lang="en-US" altLang="zh-TW" b="0" dirty="0">
              <a:solidFill>
                <a:srgbClr val="000000"/>
              </a:solidFill>
              <a:effectLst/>
              <a:latin typeface="Fira Code" panose="020B0809050000020004" pitchFamily="49" charset="0"/>
            </a:endParaRPr>
          </a:p>
          <a:p>
            <a:r>
              <a:rPr lang="en-US" altLang="zh-TW" b="0" dirty="0">
                <a:solidFill>
                  <a:srgbClr val="000000"/>
                </a:solidFill>
                <a:effectLst/>
                <a:latin typeface="Fira Code" panose="020B0809050000020004" pitchFamily="49" charset="0"/>
              </a:rPr>
              <a:t>X = X[</a:t>
            </a:r>
            <a:r>
              <a:rPr lang="en-US" altLang="zh-TW" b="0" dirty="0" err="1">
                <a:solidFill>
                  <a:srgbClr val="000000"/>
                </a:solidFill>
                <a:effectLst/>
                <a:latin typeface="Fira Code" panose="020B0809050000020004" pitchFamily="49" charset="0"/>
              </a:rPr>
              <a:t>iris.target</a:t>
            </a:r>
            <a:r>
              <a:rPr lang="en-US" altLang="zh-TW" b="0" dirty="0">
                <a:solidFill>
                  <a:srgbClr val="000000"/>
                </a:solidFill>
                <a:effectLst/>
                <a:latin typeface="Fira Code" panose="020B0809050000020004" pitchFamily="49" charset="0"/>
              </a:rPr>
              <a:t> != </a:t>
            </a:r>
            <a:r>
              <a:rPr lang="en-US" altLang="zh-TW" b="0" dirty="0">
                <a:solidFill>
                  <a:srgbClr val="098658"/>
                </a:solidFill>
                <a:effectLst/>
                <a:latin typeface="Fira Code" panose="020B0809050000020004" pitchFamily="49" charset="0"/>
              </a:rPr>
              <a:t>2</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y = </a:t>
            </a:r>
            <a:r>
              <a:rPr lang="en-US" altLang="zh-TW" b="0" dirty="0" err="1">
                <a:solidFill>
                  <a:srgbClr val="000000"/>
                </a:solidFill>
                <a:effectLst/>
                <a:latin typeface="Fira Code" panose="020B0809050000020004" pitchFamily="49" charset="0"/>
              </a:rPr>
              <a:t>iris.target</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iris.target</a:t>
            </a:r>
            <a:r>
              <a:rPr lang="en-US" altLang="zh-TW" b="0" dirty="0">
                <a:solidFill>
                  <a:srgbClr val="000000"/>
                </a:solidFill>
                <a:effectLst/>
                <a:latin typeface="Fira Code" panose="020B0809050000020004" pitchFamily="49" charset="0"/>
              </a:rPr>
              <a:t> != </a:t>
            </a:r>
            <a:r>
              <a:rPr lang="en-US" altLang="zh-TW" b="0" dirty="0">
                <a:solidFill>
                  <a:srgbClr val="098658"/>
                </a:solidFill>
                <a:effectLst/>
                <a:latin typeface="Fira Code" panose="020B0809050000020004" pitchFamily="49" charset="0"/>
              </a:rPr>
              <a:t>2</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print(</a:t>
            </a:r>
            <a:r>
              <a:rPr lang="en-US" altLang="zh-TW" b="0" dirty="0">
                <a:solidFill>
                  <a:srgbClr val="A31515"/>
                </a:solidFill>
                <a:effectLst/>
                <a:latin typeface="Fira Code" panose="020B0809050000020004" pitchFamily="49" charset="0"/>
              </a:rPr>
              <a:t>'Class labels:'</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np.unique</a:t>
            </a:r>
            <a:r>
              <a:rPr lang="en-US" altLang="zh-TW" b="0" dirty="0">
                <a:solidFill>
                  <a:srgbClr val="000000"/>
                </a:solidFill>
                <a:effectLst/>
                <a:latin typeface="Fira Code" panose="020B0809050000020004" pitchFamily="49" charset="0"/>
              </a:rPr>
              <a:t>(y))</a:t>
            </a:r>
          </a:p>
          <a:p>
            <a:br>
              <a:rPr lang="en-US" altLang="zh-TW" b="0" dirty="0">
                <a:solidFill>
                  <a:srgbClr val="000000"/>
                </a:solidFill>
                <a:effectLst/>
                <a:latin typeface="Fira Code" panose="020B0809050000020004" pitchFamily="49" charset="0"/>
              </a:rPr>
            </a:br>
            <a:r>
              <a:rPr lang="en-US" altLang="zh-TW" b="0" dirty="0">
                <a:solidFill>
                  <a:srgbClr val="008000"/>
                </a:solidFill>
                <a:effectLst/>
                <a:latin typeface="Fira Code" panose="020B0809050000020004" pitchFamily="49" charset="0"/>
              </a:rPr>
              <a:t># Splitting data into 70% training and 30% test data:</a:t>
            </a:r>
            <a:endParaRPr lang="en-US" altLang="zh-TW" b="0" dirty="0">
              <a:solidFill>
                <a:srgbClr val="000000"/>
              </a:solidFill>
              <a:effectLst/>
              <a:latin typeface="Fira Code" panose="020B0809050000020004" pitchFamily="49" charset="0"/>
            </a:endParaRPr>
          </a:p>
          <a:p>
            <a:r>
              <a:rPr lang="en-US" altLang="zh-TW" b="0" dirty="0" err="1">
                <a:solidFill>
                  <a:srgbClr val="000000"/>
                </a:solidFill>
                <a:effectLst/>
                <a:latin typeface="Fira Code" panose="020B0809050000020004" pitchFamily="49" charset="0"/>
              </a:rPr>
              <a:t>X_train</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X_test</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y_train</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y_test</a:t>
            </a:r>
            <a:r>
              <a:rPr lang="en-US" altLang="zh-TW" b="0" dirty="0">
                <a:solidFill>
                  <a:srgbClr val="000000"/>
                </a:solidFill>
                <a:effectLst/>
                <a:latin typeface="Fira Code" panose="020B0809050000020004" pitchFamily="49" charset="0"/>
              </a:rPr>
              <a:t> = </a:t>
            </a:r>
            <a:r>
              <a:rPr lang="en-US" altLang="zh-TW" b="0" dirty="0" err="1">
                <a:solidFill>
                  <a:srgbClr val="000000"/>
                </a:solidFill>
                <a:effectLst/>
                <a:latin typeface="Fira Code" panose="020B0809050000020004" pitchFamily="49" charset="0"/>
              </a:rPr>
              <a:t>train_test_split</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    X, y, </a:t>
            </a:r>
            <a:r>
              <a:rPr lang="en-US" altLang="zh-TW" b="0" dirty="0" err="1">
                <a:solidFill>
                  <a:srgbClr val="000000"/>
                </a:solidFill>
                <a:effectLst/>
                <a:latin typeface="Fira Code" panose="020B0809050000020004" pitchFamily="49" charset="0"/>
              </a:rPr>
              <a:t>test_size</a:t>
            </a:r>
            <a:r>
              <a:rPr lang="en-US" altLang="zh-TW" b="0" dirty="0">
                <a:solidFill>
                  <a:srgbClr val="000000"/>
                </a:solidFill>
                <a:effectLst/>
                <a:latin typeface="Fira Code" panose="020B0809050000020004" pitchFamily="49" charset="0"/>
              </a:rPr>
              <a:t>=</a:t>
            </a:r>
            <a:r>
              <a:rPr lang="en-US" altLang="zh-TW" b="0" dirty="0">
                <a:solidFill>
                  <a:srgbClr val="098658"/>
                </a:solidFill>
                <a:effectLst/>
                <a:latin typeface="Fira Code" panose="020B0809050000020004" pitchFamily="49" charset="0"/>
              </a:rPr>
              <a:t>0.3</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random_state</a:t>
            </a:r>
            <a:r>
              <a:rPr lang="en-US" altLang="zh-TW" b="0" dirty="0">
                <a:solidFill>
                  <a:srgbClr val="000000"/>
                </a:solidFill>
                <a:effectLst/>
                <a:latin typeface="Fira Code" panose="020B0809050000020004" pitchFamily="49" charset="0"/>
              </a:rPr>
              <a:t>=</a:t>
            </a:r>
            <a:r>
              <a:rPr lang="en-US" altLang="zh-TW" b="0" dirty="0">
                <a:solidFill>
                  <a:srgbClr val="098658"/>
                </a:solidFill>
                <a:effectLst/>
                <a:latin typeface="Fira Code" panose="020B0809050000020004" pitchFamily="49" charset="0"/>
              </a:rPr>
              <a:t>42</a:t>
            </a:r>
            <a:r>
              <a:rPr lang="en-US" altLang="zh-TW" b="0" dirty="0">
                <a:solidFill>
                  <a:srgbClr val="000000"/>
                </a:solidFill>
                <a:effectLst/>
                <a:latin typeface="Fira Code" panose="020B0809050000020004" pitchFamily="49" charset="0"/>
              </a:rPr>
              <a:t>, stratify=y)</a:t>
            </a:r>
          </a:p>
          <a:p>
            <a:r>
              <a:rPr lang="en-US" altLang="zh-TW" b="0" dirty="0">
                <a:solidFill>
                  <a:srgbClr val="000000"/>
                </a:solidFill>
                <a:effectLst/>
                <a:latin typeface="Fira Code" panose="020B0809050000020004" pitchFamily="49" charset="0"/>
              </a:rPr>
              <a:t>print(</a:t>
            </a:r>
            <a:r>
              <a:rPr lang="en-US" altLang="zh-TW" b="0" dirty="0">
                <a:solidFill>
                  <a:srgbClr val="A31515"/>
                </a:solidFill>
                <a:effectLst/>
                <a:latin typeface="Fira Code" panose="020B0809050000020004" pitchFamily="49" charset="0"/>
              </a:rPr>
              <a:t>'Labels count in y:'</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np.bincount</a:t>
            </a:r>
            <a:r>
              <a:rPr lang="en-US" altLang="zh-TW" b="0" dirty="0">
                <a:solidFill>
                  <a:srgbClr val="000000"/>
                </a:solidFill>
                <a:effectLst/>
                <a:latin typeface="Fira Code" panose="020B0809050000020004" pitchFamily="49" charset="0"/>
              </a:rPr>
              <a:t>(y))</a:t>
            </a:r>
          </a:p>
          <a:p>
            <a:r>
              <a:rPr lang="en-US" altLang="zh-TW" b="0" dirty="0">
                <a:solidFill>
                  <a:srgbClr val="000000"/>
                </a:solidFill>
                <a:effectLst/>
                <a:latin typeface="Fira Code" panose="020B0809050000020004" pitchFamily="49" charset="0"/>
              </a:rPr>
              <a:t>print(</a:t>
            </a:r>
            <a:r>
              <a:rPr lang="en-US" altLang="zh-TW" b="0" dirty="0">
                <a:solidFill>
                  <a:srgbClr val="A31515"/>
                </a:solidFill>
                <a:effectLst/>
                <a:latin typeface="Fira Code" panose="020B0809050000020004" pitchFamily="49" charset="0"/>
              </a:rPr>
              <a:t>'Labels count in </a:t>
            </a:r>
            <a:r>
              <a:rPr lang="en-US" altLang="zh-TW" b="0" dirty="0" err="1">
                <a:solidFill>
                  <a:srgbClr val="A31515"/>
                </a:solidFill>
                <a:effectLst/>
                <a:latin typeface="Fira Code" panose="020B0809050000020004" pitchFamily="49" charset="0"/>
              </a:rPr>
              <a:t>y_train</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np.bincount</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y_train</a:t>
            </a:r>
            <a:r>
              <a:rPr lang="en-US" altLang="zh-TW" b="0" dirty="0">
                <a:solidFill>
                  <a:srgbClr val="000000"/>
                </a:solidFill>
                <a:effectLst/>
                <a:latin typeface="Fira Code" panose="020B0809050000020004" pitchFamily="49" charset="0"/>
              </a:rPr>
              <a:t>))</a:t>
            </a:r>
          </a:p>
          <a:p>
            <a:r>
              <a:rPr lang="en-US" altLang="zh-TW" b="0" dirty="0">
                <a:solidFill>
                  <a:srgbClr val="000000"/>
                </a:solidFill>
                <a:effectLst/>
                <a:latin typeface="Fira Code" panose="020B0809050000020004" pitchFamily="49" charset="0"/>
              </a:rPr>
              <a:t>print(</a:t>
            </a:r>
            <a:r>
              <a:rPr lang="en-US" altLang="zh-TW" b="0" dirty="0">
                <a:solidFill>
                  <a:srgbClr val="A31515"/>
                </a:solidFill>
                <a:effectLst/>
                <a:latin typeface="Fira Code" panose="020B0809050000020004" pitchFamily="49" charset="0"/>
              </a:rPr>
              <a:t>'Labels count in </a:t>
            </a:r>
            <a:r>
              <a:rPr lang="en-US" altLang="zh-TW" b="0" dirty="0" err="1">
                <a:solidFill>
                  <a:srgbClr val="A31515"/>
                </a:solidFill>
                <a:effectLst/>
                <a:latin typeface="Fira Code" panose="020B0809050000020004" pitchFamily="49" charset="0"/>
              </a:rPr>
              <a:t>y_test</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US" altLang="zh-TW" b="0" dirty="0" err="1">
                <a:solidFill>
                  <a:srgbClr val="000000"/>
                </a:solidFill>
                <a:effectLst/>
                <a:latin typeface="Fira Code" panose="020B0809050000020004" pitchFamily="49" charset="0"/>
              </a:rPr>
              <a:t>np.bincount</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y_test</a:t>
            </a:r>
            <a:r>
              <a:rPr lang="en-US" altLang="zh-TW" b="0" dirty="0">
                <a:solidFill>
                  <a:srgbClr val="000000"/>
                </a:solidFill>
                <a:effectLst/>
                <a:latin typeface="Fira Code" panose="020B0809050000020004" pitchFamily="49" charset="0"/>
              </a:rPr>
              <a:t>))</a:t>
            </a:r>
          </a:p>
          <a:p>
            <a:br>
              <a:rPr lang="en-US" altLang="zh-TW" b="0" dirty="0">
                <a:solidFill>
                  <a:srgbClr val="000000"/>
                </a:solidFill>
                <a:effectLst/>
                <a:latin typeface="Fira Code" panose="020B0809050000020004" pitchFamily="49" charset="0"/>
              </a:rPr>
            </a:br>
            <a:r>
              <a:rPr lang="en-US" altLang="zh-TW" b="0" dirty="0">
                <a:solidFill>
                  <a:srgbClr val="008000"/>
                </a:solidFill>
                <a:effectLst/>
                <a:latin typeface="Fira Code" panose="020B0809050000020004" pitchFamily="49" charset="0"/>
              </a:rPr>
              <a:t># Standardizing the features:</a:t>
            </a:r>
            <a:endParaRPr lang="en-US" altLang="zh-TW" b="0" dirty="0">
              <a:solidFill>
                <a:srgbClr val="000000"/>
              </a:solidFill>
              <a:effectLst/>
              <a:latin typeface="Fira Code" panose="020B0809050000020004" pitchFamily="49" charset="0"/>
            </a:endParaRPr>
          </a:p>
          <a:p>
            <a:r>
              <a:rPr lang="en-US" altLang="zh-TW" b="0" dirty="0" err="1">
                <a:solidFill>
                  <a:srgbClr val="000000"/>
                </a:solidFill>
                <a:effectLst/>
                <a:latin typeface="Fira Code" panose="020B0809050000020004" pitchFamily="49" charset="0"/>
              </a:rPr>
              <a:t>sc</a:t>
            </a:r>
            <a:r>
              <a:rPr lang="en-US" altLang="zh-TW" b="0" dirty="0">
                <a:solidFill>
                  <a:srgbClr val="000000"/>
                </a:solidFill>
                <a:effectLst/>
                <a:latin typeface="Fira Code" panose="020B0809050000020004" pitchFamily="49" charset="0"/>
              </a:rPr>
              <a:t> = </a:t>
            </a:r>
            <a:r>
              <a:rPr lang="en-US" altLang="zh-TW" b="0" dirty="0" err="1">
                <a:solidFill>
                  <a:srgbClr val="000000"/>
                </a:solidFill>
                <a:effectLst/>
                <a:latin typeface="Fira Code" panose="020B0809050000020004" pitchFamily="49" charset="0"/>
              </a:rPr>
              <a:t>StandardScaler</a:t>
            </a:r>
            <a:r>
              <a:rPr lang="en-US" altLang="zh-TW" b="0" dirty="0">
                <a:solidFill>
                  <a:srgbClr val="000000"/>
                </a:solidFill>
                <a:effectLst/>
                <a:latin typeface="Fira Code" panose="020B0809050000020004" pitchFamily="49" charset="0"/>
              </a:rPr>
              <a:t>()</a:t>
            </a:r>
          </a:p>
          <a:p>
            <a:r>
              <a:rPr lang="en-US" altLang="zh-TW" b="0" dirty="0" err="1">
                <a:solidFill>
                  <a:srgbClr val="000000"/>
                </a:solidFill>
                <a:effectLst/>
                <a:latin typeface="Fira Code" panose="020B0809050000020004" pitchFamily="49" charset="0"/>
              </a:rPr>
              <a:t>sc.fit</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X_train</a:t>
            </a:r>
            <a:r>
              <a:rPr lang="en-US" altLang="zh-TW" b="0" dirty="0">
                <a:solidFill>
                  <a:srgbClr val="000000"/>
                </a:solidFill>
                <a:effectLst/>
                <a:latin typeface="Fira Code" panose="020B0809050000020004" pitchFamily="49" charset="0"/>
              </a:rPr>
              <a:t>)</a:t>
            </a:r>
          </a:p>
          <a:p>
            <a:r>
              <a:rPr lang="en-US" altLang="zh-TW" b="0" dirty="0" err="1">
                <a:solidFill>
                  <a:srgbClr val="000000"/>
                </a:solidFill>
                <a:effectLst/>
                <a:latin typeface="Fira Code" panose="020B0809050000020004" pitchFamily="49" charset="0"/>
              </a:rPr>
              <a:t>X_train_std</a:t>
            </a:r>
            <a:r>
              <a:rPr lang="en-US" altLang="zh-TW" b="0" dirty="0">
                <a:solidFill>
                  <a:srgbClr val="000000"/>
                </a:solidFill>
                <a:effectLst/>
                <a:latin typeface="Fira Code" panose="020B0809050000020004" pitchFamily="49" charset="0"/>
              </a:rPr>
              <a:t> = </a:t>
            </a:r>
            <a:r>
              <a:rPr lang="en-US" altLang="zh-TW" b="0" dirty="0" err="1">
                <a:solidFill>
                  <a:srgbClr val="000000"/>
                </a:solidFill>
                <a:effectLst/>
                <a:latin typeface="Fira Code" panose="020B0809050000020004" pitchFamily="49" charset="0"/>
              </a:rPr>
              <a:t>sc.transform</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X_train</a:t>
            </a:r>
            <a:r>
              <a:rPr lang="en-US" altLang="zh-TW" b="0" dirty="0">
                <a:solidFill>
                  <a:srgbClr val="000000"/>
                </a:solidFill>
                <a:effectLst/>
                <a:latin typeface="Fira Code" panose="020B0809050000020004" pitchFamily="49" charset="0"/>
              </a:rPr>
              <a:t>)</a:t>
            </a:r>
          </a:p>
          <a:p>
            <a:r>
              <a:rPr lang="en-US" altLang="zh-TW" b="0" dirty="0" err="1">
                <a:solidFill>
                  <a:srgbClr val="000000"/>
                </a:solidFill>
                <a:effectLst/>
                <a:latin typeface="Fira Code" panose="020B0809050000020004" pitchFamily="49" charset="0"/>
              </a:rPr>
              <a:t>X_test_std</a:t>
            </a:r>
            <a:r>
              <a:rPr lang="en-US" altLang="zh-TW" b="0" dirty="0">
                <a:solidFill>
                  <a:srgbClr val="000000"/>
                </a:solidFill>
                <a:effectLst/>
                <a:latin typeface="Fira Code" panose="020B0809050000020004" pitchFamily="49" charset="0"/>
              </a:rPr>
              <a:t> = </a:t>
            </a:r>
            <a:r>
              <a:rPr lang="en-US" altLang="zh-TW" b="0" dirty="0" err="1">
                <a:solidFill>
                  <a:srgbClr val="000000"/>
                </a:solidFill>
                <a:effectLst/>
                <a:latin typeface="Fira Code" panose="020B0809050000020004" pitchFamily="49" charset="0"/>
              </a:rPr>
              <a:t>sc.transform</a:t>
            </a:r>
            <a:r>
              <a:rPr lang="en-US" altLang="zh-TW" b="0" dirty="0">
                <a:solidFill>
                  <a:srgbClr val="000000"/>
                </a:solidFill>
                <a:effectLst/>
                <a:latin typeface="Fira Code" panose="020B0809050000020004" pitchFamily="49" charset="0"/>
              </a:rPr>
              <a:t>(</a:t>
            </a:r>
            <a:r>
              <a:rPr lang="en-US" altLang="zh-TW" b="0" dirty="0" err="1">
                <a:solidFill>
                  <a:srgbClr val="000000"/>
                </a:solidFill>
                <a:effectLst/>
                <a:latin typeface="Fira Code" panose="020B0809050000020004" pitchFamily="49" charset="0"/>
              </a:rPr>
              <a:t>X_test</a:t>
            </a:r>
            <a:r>
              <a:rPr lang="en-US" altLang="zh-TW" b="0" dirty="0">
                <a:solidFill>
                  <a:srgbClr val="000000"/>
                </a:solidFill>
                <a:effectLst/>
                <a:latin typeface="Fira Code" panose="020B0809050000020004" pitchFamily="49" charset="0"/>
              </a:rPr>
              <a:t>)</a:t>
            </a:r>
          </a:p>
        </p:txBody>
      </p:sp>
    </p:spTree>
    <p:extLst>
      <p:ext uri="{BB962C8B-B14F-4D97-AF65-F5344CB8AC3E}">
        <p14:creationId xmlns:p14="http://schemas.microsoft.com/office/powerpoint/2010/main" val="700695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4657D1-BF82-48AC-A41D-235BEAA1CCF1}"/>
              </a:ext>
            </a:extLst>
          </p:cNvPr>
          <p:cNvSpPr>
            <a:spLocks noGrp="1"/>
          </p:cNvSpPr>
          <p:nvPr>
            <p:ph type="title"/>
          </p:nvPr>
        </p:nvSpPr>
        <p:spPr/>
        <p:txBody>
          <a:bodyPr/>
          <a:lstStyle/>
          <a:p>
            <a:r>
              <a:rPr lang="zh-TW" altLang="en-US" dirty="0"/>
              <a:t>分類問題</a:t>
            </a:r>
            <a:r>
              <a:rPr lang="en-US" altLang="zh-TW" dirty="0"/>
              <a:t>(</a:t>
            </a:r>
            <a:r>
              <a:rPr lang="zh-TW" altLang="en-US" dirty="0"/>
              <a:t>假設先處理兩元分類</a:t>
            </a:r>
            <a:r>
              <a:rPr lang="en-US" altLang="zh-TW" dirty="0"/>
              <a:t>)</a:t>
            </a:r>
            <a:endParaRPr lang="zh-TW" altLang="en-US" dirty="0"/>
          </a:p>
        </p:txBody>
      </p:sp>
      <p:sp>
        <p:nvSpPr>
          <p:cNvPr id="7" name="文字方塊 6">
            <a:extLst>
              <a:ext uri="{FF2B5EF4-FFF2-40B4-BE49-F238E27FC236}">
                <a16:creationId xmlns:a16="http://schemas.microsoft.com/office/drawing/2014/main" id="{C399089E-FA71-44E0-B0AA-F94DB4B8C9B9}"/>
              </a:ext>
            </a:extLst>
          </p:cNvPr>
          <p:cNvSpPr txBox="1"/>
          <p:nvPr/>
        </p:nvSpPr>
        <p:spPr>
          <a:xfrm>
            <a:off x="838200" y="1445339"/>
            <a:ext cx="8991600" cy="5047536"/>
          </a:xfrm>
          <a:prstGeom prst="rect">
            <a:avLst/>
          </a:prstGeom>
          <a:noFill/>
          <a:ln>
            <a:solidFill>
              <a:schemeClr val="tx1"/>
            </a:solidFill>
          </a:ln>
        </p:spPr>
        <p:txBody>
          <a:bodyPr wrap="square">
            <a:spAutoFit/>
          </a:bodyPr>
          <a:lstStyle/>
          <a:p>
            <a:r>
              <a:rPr lang="en-US" altLang="zh-TW" sz="1400" b="0" dirty="0">
                <a:solidFill>
                  <a:srgbClr val="0000FF"/>
                </a:solidFill>
                <a:effectLst/>
                <a:latin typeface="Fira Code" panose="020B0809050000020004" pitchFamily="49" charset="0"/>
              </a:rPr>
              <a:t>class</a:t>
            </a:r>
            <a:r>
              <a:rPr lang="en-US" altLang="zh-TW" sz="1400" b="0" dirty="0">
                <a:solidFill>
                  <a:srgbClr val="000000"/>
                </a:solidFill>
                <a:effectLst/>
                <a:latin typeface="Fira Code" panose="020B0809050000020004" pitchFamily="49" charset="0"/>
              </a:rPr>
              <a:t> </a:t>
            </a:r>
            <a:r>
              <a:rPr lang="en-US" altLang="zh-TW" sz="1400" b="0" dirty="0" err="1">
                <a:solidFill>
                  <a:srgbClr val="000000"/>
                </a:solidFill>
                <a:effectLst/>
                <a:latin typeface="Fira Code" panose="020B0809050000020004" pitchFamily="49" charset="0"/>
              </a:rPr>
              <a:t>LogisticRegressionGD</a:t>
            </a:r>
            <a:r>
              <a:rPr lang="en-US" altLang="zh-TW" sz="1400" b="0" dirty="0">
                <a:solidFill>
                  <a:srgbClr val="000000"/>
                </a:solidFill>
                <a:effectLst/>
                <a:latin typeface="Fira Code" panose="020B0809050000020004" pitchFamily="49" charset="0"/>
              </a:rPr>
              <a:t>:</a:t>
            </a:r>
          </a:p>
          <a:p>
            <a:r>
              <a:rPr lang="en-US" altLang="zh-TW" sz="1400" b="0" dirty="0">
                <a:solidFill>
                  <a:srgbClr val="000000"/>
                </a:solidFill>
                <a:effectLst/>
                <a:latin typeface="Fira Code" panose="020B0809050000020004" pitchFamily="49" charset="0"/>
              </a:rPr>
              <a:t>    </a:t>
            </a:r>
            <a:r>
              <a:rPr lang="en-US" altLang="zh-TW" sz="1400" b="0" dirty="0">
                <a:solidFill>
                  <a:srgbClr val="0000FF"/>
                </a:solidFill>
                <a:effectLst/>
                <a:latin typeface="Fira Code" panose="020B0809050000020004" pitchFamily="49" charset="0"/>
              </a:rPr>
              <a:t>def</a:t>
            </a:r>
            <a:r>
              <a:rPr lang="en-US" altLang="zh-TW" sz="1400" b="0" dirty="0">
                <a:solidFill>
                  <a:srgbClr val="000000"/>
                </a:solidFill>
                <a:effectLst/>
                <a:latin typeface="Fira Code" panose="020B0809050000020004" pitchFamily="49" charset="0"/>
              </a:rPr>
              <a:t> __</a:t>
            </a:r>
            <a:r>
              <a:rPr lang="en-US" altLang="zh-TW" sz="1400" b="0" dirty="0" err="1">
                <a:solidFill>
                  <a:srgbClr val="000000"/>
                </a:solidFill>
                <a:effectLst/>
                <a:latin typeface="Fira Code" panose="020B0809050000020004" pitchFamily="49" charset="0"/>
              </a:rPr>
              <a:t>init</a:t>
            </a:r>
            <a:r>
              <a:rPr lang="en-US" altLang="zh-TW" sz="1400" b="0" dirty="0">
                <a:solidFill>
                  <a:srgbClr val="000000"/>
                </a:solidFill>
                <a:effectLst/>
                <a:latin typeface="Fira Code" panose="020B0809050000020004" pitchFamily="49" charset="0"/>
              </a:rPr>
              <a:t>__(self, eta=</a:t>
            </a:r>
            <a:r>
              <a:rPr lang="en-US" altLang="zh-TW" sz="1400" b="0" dirty="0">
                <a:solidFill>
                  <a:srgbClr val="098658"/>
                </a:solidFill>
                <a:effectLst/>
                <a:latin typeface="Fira Code" panose="020B0809050000020004" pitchFamily="49" charset="0"/>
              </a:rPr>
              <a:t>0.05</a:t>
            </a:r>
            <a:r>
              <a:rPr lang="en-US" altLang="zh-TW" sz="1400" b="0" dirty="0">
                <a:solidFill>
                  <a:srgbClr val="000000"/>
                </a:solidFill>
                <a:effectLst/>
                <a:latin typeface="Fira Code" panose="020B0809050000020004" pitchFamily="49" charset="0"/>
              </a:rPr>
              <a:t>, </a:t>
            </a:r>
            <a:r>
              <a:rPr lang="en-US" altLang="zh-TW" sz="1400" b="0" dirty="0" err="1">
                <a:solidFill>
                  <a:srgbClr val="000000"/>
                </a:solidFill>
                <a:effectLst/>
                <a:latin typeface="Fira Code" panose="020B0809050000020004" pitchFamily="49" charset="0"/>
              </a:rPr>
              <a:t>n_iter</a:t>
            </a:r>
            <a:r>
              <a:rPr lang="en-US" altLang="zh-TW" sz="1400" b="0" dirty="0">
                <a:solidFill>
                  <a:srgbClr val="000000"/>
                </a:solidFill>
                <a:effectLst/>
                <a:latin typeface="Fira Code" panose="020B0809050000020004" pitchFamily="49" charset="0"/>
              </a:rPr>
              <a:t>=</a:t>
            </a:r>
            <a:r>
              <a:rPr lang="en-US" altLang="zh-TW" sz="1400" b="0" dirty="0">
                <a:solidFill>
                  <a:srgbClr val="098658"/>
                </a:solidFill>
                <a:effectLst/>
                <a:latin typeface="Fira Code" panose="020B0809050000020004" pitchFamily="49" charset="0"/>
              </a:rPr>
              <a:t>100</a:t>
            </a:r>
            <a:r>
              <a:rPr lang="en-US" altLang="zh-TW" sz="1400" b="0" dirty="0">
                <a:solidFill>
                  <a:srgbClr val="000000"/>
                </a:solidFill>
                <a:effectLst/>
                <a:latin typeface="Fira Code" panose="020B0809050000020004" pitchFamily="49" charset="0"/>
              </a:rPr>
              <a:t>, </a:t>
            </a:r>
            <a:r>
              <a:rPr lang="en-US" altLang="zh-TW" sz="1400" b="0" dirty="0" err="1">
                <a:solidFill>
                  <a:srgbClr val="000000"/>
                </a:solidFill>
                <a:effectLst/>
                <a:latin typeface="Fira Code" panose="020B0809050000020004" pitchFamily="49" charset="0"/>
              </a:rPr>
              <a:t>random_state</a:t>
            </a:r>
            <a:r>
              <a:rPr lang="en-US" altLang="zh-TW" sz="1400" b="0" dirty="0">
                <a:solidFill>
                  <a:srgbClr val="000000"/>
                </a:solidFill>
                <a:effectLst/>
                <a:latin typeface="Fira Code" panose="020B0809050000020004" pitchFamily="49" charset="0"/>
              </a:rPr>
              <a:t>=</a:t>
            </a:r>
            <a:r>
              <a:rPr lang="en-US" altLang="zh-TW" sz="1400" b="0" dirty="0">
                <a:solidFill>
                  <a:srgbClr val="098658"/>
                </a:solidFill>
                <a:effectLst/>
                <a:latin typeface="Fira Code" panose="020B0809050000020004" pitchFamily="49" charset="0"/>
              </a:rPr>
              <a:t>42</a:t>
            </a:r>
            <a:r>
              <a:rPr lang="en-US" altLang="zh-TW" sz="1400" b="0" dirty="0">
                <a:solidFill>
                  <a:srgbClr val="000000"/>
                </a:solidFill>
                <a:effectLst/>
                <a:latin typeface="Fira Code" panose="020B0809050000020004" pitchFamily="49" charset="0"/>
              </a:rPr>
              <a:t>):</a:t>
            </a: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.eta</a:t>
            </a:r>
            <a:r>
              <a:rPr lang="en-US" altLang="zh-TW" sz="1400" b="0" dirty="0">
                <a:solidFill>
                  <a:srgbClr val="000000"/>
                </a:solidFill>
                <a:effectLst/>
                <a:latin typeface="Fira Code" panose="020B0809050000020004" pitchFamily="49" charset="0"/>
              </a:rPr>
              <a:t> = eta</a:t>
            </a: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.n_iter</a:t>
            </a:r>
            <a:r>
              <a:rPr lang="en-US" altLang="zh-TW" sz="1400" b="0" dirty="0">
                <a:solidFill>
                  <a:srgbClr val="000000"/>
                </a:solidFill>
                <a:effectLst/>
                <a:latin typeface="Fira Code" panose="020B0809050000020004" pitchFamily="49" charset="0"/>
              </a:rPr>
              <a:t> = </a:t>
            </a:r>
            <a:r>
              <a:rPr lang="en-US" altLang="zh-TW" sz="1400" b="0" dirty="0" err="1">
                <a:solidFill>
                  <a:srgbClr val="000000"/>
                </a:solidFill>
                <a:effectLst/>
                <a:latin typeface="Fira Code" panose="020B0809050000020004" pitchFamily="49" charset="0"/>
              </a:rPr>
              <a:t>n_iter</a:t>
            </a:r>
            <a:endParaRPr lang="en-US" altLang="zh-TW" sz="1400" b="0" dirty="0">
              <a:solidFill>
                <a:srgbClr val="000000"/>
              </a:solidFill>
              <a:effectLst/>
              <a:latin typeface="Fira Code" panose="020B0809050000020004" pitchFamily="49" charset="0"/>
            </a:endParaRP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.random_state</a:t>
            </a:r>
            <a:r>
              <a:rPr lang="en-US" altLang="zh-TW" sz="1400" b="0" dirty="0">
                <a:solidFill>
                  <a:srgbClr val="000000"/>
                </a:solidFill>
                <a:effectLst/>
                <a:latin typeface="Fira Code" panose="020B0809050000020004" pitchFamily="49" charset="0"/>
              </a:rPr>
              <a:t> = </a:t>
            </a:r>
            <a:r>
              <a:rPr lang="en-US" altLang="zh-TW" sz="1400" b="0" dirty="0" err="1">
                <a:solidFill>
                  <a:srgbClr val="000000"/>
                </a:solidFill>
                <a:effectLst/>
                <a:latin typeface="Fira Code" panose="020B0809050000020004" pitchFamily="49" charset="0"/>
              </a:rPr>
              <a:t>random_state</a:t>
            </a:r>
            <a:endParaRPr lang="en-US" altLang="zh-TW" sz="1400" b="0" dirty="0">
              <a:solidFill>
                <a:srgbClr val="000000"/>
              </a:solidFill>
              <a:effectLst/>
              <a:latin typeface="Fira Code" panose="020B0809050000020004" pitchFamily="49" charset="0"/>
            </a:endParaRPr>
          </a:p>
          <a:p>
            <a:br>
              <a:rPr lang="en-US" altLang="zh-TW" sz="1400" b="0" dirty="0">
                <a:solidFill>
                  <a:srgbClr val="000000"/>
                </a:solidFill>
                <a:effectLst/>
                <a:latin typeface="Fira Code" panose="020B0809050000020004" pitchFamily="49" charset="0"/>
              </a:rPr>
            </a:br>
            <a:r>
              <a:rPr lang="en-US" altLang="zh-TW" sz="1400" b="0" dirty="0">
                <a:solidFill>
                  <a:srgbClr val="000000"/>
                </a:solidFill>
                <a:effectLst/>
                <a:latin typeface="Fira Code" panose="020B0809050000020004" pitchFamily="49" charset="0"/>
              </a:rPr>
              <a:t>    </a:t>
            </a:r>
            <a:r>
              <a:rPr lang="en-US" altLang="zh-TW" sz="1400" b="0" dirty="0">
                <a:solidFill>
                  <a:srgbClr val="0000FF"/>
                </a:solidFill>
                <a:effectLst/>
                <a:latin typeface="Fira Code" panose="020B0809050000020004" pitchFamily="49" charset="0"/>
              </a:rPr>
              <a:t>def</a:t>
            </a:r>
            <a:r>
              <a:rPr lang="en-US" altLang="zh-TW" sz="1400" b="0" dirty="0">
                <a:solidFill>
                  <a:srgbClr val="000000"/>
                </a:solidFill>
                <a:effectLst/>
                <a:latin typeface="Fira Code" panose="020B0809050000020004" pitchFamily="49" charset="0"/>
              </a:rPr>
              <a:t> fit(self, X, y):</a:t>
            </a:r>
          </a:p>
          <a:p>
            <a:r>
              <a:rPr lang="en-US" altLang="zh-TW" sz="1400" b="0" dirty="0">
                <a:solidFill>
                  <a:srgbClr val="000000"/>
                </a:solidFill>
                <a:effectLst/>
                <a:latin typeface="Fira Code" panose="020B0809050000020004" pitchFamily="49" charset="0"/>
              </a:rPr>
              <a:t>        </a:t>
            </a:r>
            <a:r>
              <a:rPr lang="en-US" altLang="zh-TW" sz="1400" b="0" dirty="0" err="1">
                <a:solidFill>
                  <a:srgbClr val="000000"/>
                </a:solidFill>
                <a:effectLst/>
                <a:latin typeface="Fira Code" panose="020B0809050000020004" pitchFamily="49" charset="0"/>
              </a:rPr>
              <a:t>rgen</a:t>
            </a:r>
            <a:r>
              <a:rPr lang="en-US" altLang="zh-TW" sz="1400" b="0" dirty="0">
                <a:solidFill>
                  <a:srgbClr val="000000"/>
                </a:solidFill>
                <a:effectLst/>
                <a:latin typeface="Fira Code" panose="020B0809050000020004" pitchFamily="49" charset="0"/>
              </a:rPr>
              <a:t> = </a:t>
            </a:r>
            <a:r>
              <a:rPr lang="en-US" altLang="zh-TW" sz="1400" b="0" dirty="0" err="1">
                <a:solidFill>
                  <a:srgbClr val="000000"/>
                </a:solidFill>
                <a:effectLst/>
                <a:latin typeface="Fira Code" panose="020B0809050000020004" pitchFamily="49" charset="0"/>
              </a:rPr>
              <a:t>np.random.RandomState</a:t>
            </a:r>
            <a:r>
              <a:rPr lang="en-US" altLang="zh-TW" sz="1400" b="0" dirty="0">
                <a:solidFill>
                  <a:srgbClr val="000000"/>
                </a:solidFill>
                <a:effectLst/>
                <a:latin typeface="Fira Code" panose="020B0809050000020004" pitchFamily="49" charset="0"/>
              </a:rPr>
              <a:t>(</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.random_state</a:t>
            </a:r>
            <a:r>
              <a:rPr lang="en-US" altLang="zh-TW" sz="1400" b="0" dirty="0">
                <a:solidFill>
                  <a:srgbClr val="000000"/>
                </a:solidFill>
                <a:effectLst/>
                <a:latin typeface="Fira Code" panose="020B0809050000020004" pitchFamily="49" charset="0"/>
              </a:rPr>
              <a:t>)</a:t>
            </a: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.w</a:t>
            </a:r>
            <a:r>
              <a:rPr lang="en-US" altLang="zh-TW" sz="1400" b="0" dirty="0">
                <a:solidFill>
                  <a:srgbClr val="000000"/>
                </a:solidFill>
                <a:effectLst/>
                <a:latin typeface="Fira Code" panose="020B0809050000020004" pitchFamily="49" charset="0"/>
              </a:rPr>
              <a:t>_ = </a:t>
            </a:r>
            <a:r>
              <a:rPr lang="en-US" altLang="zh-TW" sz="1400" b="0" dirty="0" err="1">
                <a:solidFill>
                  <a:srgbClr val="000000"/>
                </a:solidFill>
                <a:effectLst/>
                <a:latin typeface="Fira Code" panose="020B0809050000020004" pitchFamily="49" charset="0"/>
              </a:rPr>
              <a:t>rgen.normal</a:t>
            </a:r>
            <a:r>
              <a:rPr lang="en-US" altLang="zh-TW" sz="1400" b="0" dirty="0">
                <a:solidFill>
                  <a:srgbClr val="000000"/>
                </a:solidFill>
                <a:effectLst/>
                <a:latin typeface="Fira Code" panose="020B0809050000020004" pitchFamily="49" charset="0"/>
              </a:rPr>
              <a:t>(loc=</a:t>
            </a:r>
            <a:r>
              <a:rPr lang="en-US" altLang="zh-TW" sz="1400" b="0" dirty="0">
                <a:solidFill>
                  <a:srgbClr val="098658"/>
                </a:solidFill>
                <a:effectLst/>
                <a:latin typeface="Fira Code" panose="020B0809050000020004" pitchFamily="49" charset="0"/>
              </a:rPr>
              <a:t>0.0</a:t>
            </a:r>
            <a:r>
              <a:rPr lang="en-US" altLang="zh-TW" sz="1400" b="0" dirty="0">
                <a:solidFill>
                  <a:srgbClr val="000000"/>
                </a:solidFill>
                <a:effectLst/>
                <a:latin typeface="Fira Code" panose="020B0809050000020004" pitchFamily="49" charset="0"/>
              </a:rPr>
              <a:t>, scale=</a:t>
            </a:r>
            <a:r>
              <a:rPr lang="en-US" altLang="zh-TW" sz="1400" b="0" dirty="0">
                <a:solidFill>
                  <a:srgbClr val="098658"/>
                </a:solidFill>
                <a:effectLst/>
                <a:latin typeface="Fira Code" panose="020B0809050000020004" pitchFamily="49" charset="0"/>
              </a:rPr>
              <a:t>0.01</a:t>
            </a:r>
            <a:r>
              <a:rPr lang="en-US" altLang="zh-TW" sz="1400" b="0" dirty="0">
                <a:solidFill>
                  <a:srgbClr val="000000"/>
                </a:solidFill>
                <a:effectLst/>
                <a:latin typeface="Fira Code" panose="020B0809050000020004" pitchFamily="49" charset="0"/>
              </a:rPr>
              <a:t>, size=</a:t>
            </a:r>
            <a:r>
              <a:rPr lang="en-US" altLang="zh-TW" sz="1400" b="0" dirty="0">
                <a:solidFill>
                  <a:srgbClr val="098658"/>
                </a:solidFill>
                <a:effectLst/>
                <a:latin typeface="Fira Code" panose="020B0809050000020004" pitchFamily="49" charset="0"/>
              </a:rPr>
              <a:t>1</a:t>
            </a:r>
            <a:r>
              <a:rPr lang="en-US" altLang="zh-TW" sz="1400" b="0" dirty="0">
                <a:solidFill>
                  <a:srgbClr val="000000"/>
                </a:solidFill>
                <a:effectLst/>
                <a:latin typeface="Fira Code" panose="020B0809050000020004" pitchFamily="49" charset="0"/>
              </a:rPr>
              <a:t> + </a:t>
            </a:r>
            <a:r>
              <a:rPr lang="en-US" altLang="zh-TW" sz="1400" b="0" dirty="0" err="1">
                <a:solidFill>
                  <a:srgbClr val="000000"/>
                </a:solidFill>
                <a:effectLst/>
                <a:latin typeface="Fira Code" panose="020B0809050000020004" pitchFamily="49" charset="0"/>
              </a:rPr>
              <a:t>X.shape</a:t>
            </a:r>
            <a:r>
              <a:rPr lang="en-US" altLang="zh-TW" sz="1400" b="0" dirty="0">
                <a:solidFill>
                  <a:srgbClr val="000000"/>
                </a:solidFill>
                <a:effectLst/>
                <a:latin typeface="Fira Code" panose="020B0809050000020004" pitchFamily="49" charset="0"/>
              </a:rPr>
              <a:t>[</a:t>
            </a:r>
            <a:r>
              <a:rPr lang="en-US" altLang="zh-TW" sz="1400" b="0" dirty="0">
                <a:solidFill>
                  <a:srgbClr val="098658"/>
                </a:solidFill>
                <a:effectLst/>
                <a:latin typeface="Fira Code" panose="020B0809050000020004" pitchFamily="49" charset="0"/>
              </a:rPr>
              <a:t>1</a:t>
            </a:r>
            <a:r>
              <a:rPr lang="en-US" altLang="zh-TW" sz="1400" b="0" dirty="0">
                <a:solidFill>
                  <a:srgbClr val="000000"/>
                </a:solidFill>
                <a:effectLst/>
                <a:latin typeface="Fira Code" panose="020B0809050000020004" pitchFamily="49" charset="0"/>
              </a:rPr>
              <a:t>])</a:t>
            </a: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.cost</a:t>
            </a:r>
            <a:r>
              <a:rPr lang="en-US" altLang="zh-TW" sz="1400" b="0" dirty="0">
                <a:solidFill>
                  <a:srgbClr val="000000"/>
                </a:solidFill>
                <a:effectLst/>
                <a:latin typeface="Fira Code" panose="020B0809050000020004" pitchFamily="49" charset="0"/>
              </a:rPr>
              <a:t>_ = []</a:t>
            </a:r>
          </a:p>
          <a:p>
            <a:br>
              <a:rPr lang="en-US" altLang="zh-TW" sz="1400" b="0" dirty="0">
                <a:solidFill>
                  <a:srgbClr val="000000"/>
                </a:solidFill>
                <a:effectLst/>
                <a:latin typeface="Fira Code" panose="020B0809050000020004" pitchFamily="49" charset="0"/>
              </a:rPr>
            </a:br>
            <a:r>
              <a:rPr lang="en-US" altLang="zh-TW" sz="1400" b="0" dirty="0">
                <a:solidFill>
                  <a:srgbClr val="000000"/>
                </a:solidFill>
                <a:effectLst/>
                <a:latin typeface="Fira Code" panose="020B0809050000020004" pitchFamily="49" charset="0"/>
              </a:rPr>
              <a:t>        </a:t>
            </a:r>
            <a:r>
              <a:rPr lang="en-US" altLang="zh-TW" sz="1400" b="0" dirty="0">
                <a:solidFill>
                  <a:srgbClr val="0000FF"/>
                </a:solidFill>
                <a:effectLst/>
                <a:latin typeface="Fira Code" panose="020B0809050000020004" pitchFamily="49" charset="0"/>
              </a:rPr>
              <a:t>for</a:t>
            </a:r>
            <a:r>
              <a:rPr lang="en-US" altLang="zh-TW" sz="1400" b="0" dirty="0">
                <a:solidFill>
                  <a:srgbClr val="000000"/>
                </a:solidFill>
                <a:effectLst/>
                <a:latin typeface="Fira Code" panose="020B0809050000020004" pitchFamily="49" charset="0"/>
              </a:rPr>
              <a:t> </a:t>
            </a:r>
            <a:r>
              <a:rPr lang="en-US" altLang="zh-TW" sz="1400" b="0" dirty="0" err="1">
                <a:solidFill>
                  <a:srgbClr val="000000"/>
                </a:solidFill>
                <a:effectLst/>
                <a:latin typeface="Fira Code" panose="020B0809050000020004" pitchFamily="49" charset="0"/>
              </a:rPr>
              <a:t>i</a:t>
            </a:r>
            <a:r>
              <a:rPr lang="en-US" altLang="zh-TW" sz="1400" b="0" dirty="0">
                <a:solidFill>
                  <a:srgbClr val="000000"/>
                </a:solidFill>
                <a:effectLst/>
                <a:latin typeface="Fira Code" panose="020B0809050000020004" pitchFamily="49" charset="0"/>
              </a:rPr>
              <a:t> </a:t>
            </a:r>
            <a:r>
              <a:rPr lang="en-US" altLang="zh-TW" sz="1400" b="0" dirty="0">
                <a:solidFill>
                  <a:srgbClr val="0000FF"/>
                </a:solidFill>
                <a:effectLst/>
                <a:latin typeface="Fira Code" panose="020B0809050000020004" pitchFamily="49" charset="0"/>
              </a:rPr>
              <a:t>in</a:t>
            </a:r>
            <a:r>
              <a:rPr lang="en-US" altLang="zh-TW" sz="1400" b="0" dirty="0">
                <a:solidFill>
                  <a:srgbClr val="000000"/>
                </a:solidFill>
                <a:effectLst/>
                <a:latin typeface="Fira Code" panose="020B0809050000020004" pitchFamily="49" charset="0"/>
              </a:rPr>
              <a:t> range(</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.n_iter</a:t>
            </a:r>
            <a:r>
              <a:rPr lang="en-US" altLang="zh-TW" sz="1400" b="0" dirty="0">
                <a:solidFill>
                  <a:srgbClr val="000000"/>
                </a:solidFill>
                <a:effectLst/>
                <a:latin typeface="Fira Code" panose="020B0809050000020004" pitchFamily="49" charset="0"/>
              </a:rPr>
              <a:t>):</a:t>
            </a:r>
          </a:p>
          <a:p>
            <a:r>
              <a:rPr lang="en-US" altLang="zh-TW" sz="1400" b="0" dirty="0">
                <a:solidFill>
                  <a:srgbClr val="000000"/>
                </a:solidFill>
                <a:effectLst/>
                <a:latin typeface="Fira Code" panose="020B0809050000020004" pitchFamily="49" charset="0"/>
              </a:rPr>
              <a:t>            </a:t>
            </a:r>
            <a:r>
              <a:rPr lang="en-US" altLang="zh-TW" sz="1400" b="0" dirty="0" err="1">
                <a:solidFill>
                  <a:srgbClr val="000000"/>
                </a:solidFill>
                <a:effectLst/>
                <a:latin typeface="Fira Code" panose="020B0809050000020004" pitchFamily="49" charset="0"/>
              </a:rPr>
              <a:t>net_input</a:t>
            </a:r>
            <a:r>
              <a:rPr lang="en-US" altLang="zh-TW" sz="1400" b="0" dirty="0">
                <a:solidFill>
                  <a:srgbClr val="000000"/>
                </a:solidFill>
                <a:effectLst/>
                <a:latin typeface="Fira Code" panose="020B0809050000020004" pitchFamily="49" charset="0"/>
              </a:rPr>
              <a:t> =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.net_input</a:t>
            </a:r>
            <a:r>
              <a:rPr lang="en-US" altLang="zh-TW" sz="1400" b="0" dirty="0">
                <a:solidFill>
                  <a:srgbClr val="000000"/>
                </a:solidFill>
                <a:effectLst/>
                <a:latin typeface="Fira Code" panose="020B0809050000020004" pitchFamily="49" charset="0"/>
              </a:rPr>
              <a:t>(X)</a:t>
            </a:r>
          </a:p>
          <a:p>
            <a:r>
              <a:rPr lang="en-US" altLang="zh-TW" sz="1400" b="0" dirty="0">
                <a:solidFill>
                  <a:srgbClr val="000000"/>
                </a:solidFill>
                <a:effectLst/>
                <a:latin typeface="Fira Code" panose="020B0809050000020004" pitchFamily="49" charset="0"/>
              </a:rPr>
              <a:t>            output =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.activation</a:t>
            </a:r>
            <a:r>
              <a:rPr lang="en-US" altLang="zh-TW" sz="1400" b="0" dirty="0">
                <a:solidFill>
                  <a:srgbClr val="000000"/>
                </a:solidFill>
                <a:effectLst/>
                <a:latin typeface="Fira Code" panose="020B0809050000020004" pitchFamily="49" charset="0"/>
              </a:rPr>
              <a:t>(</a:t>
            </a:r>
            <a:r>
              <a:rPr lang="en-US" altLang="zh-TW" sz="1400" b="0" dirty="0" err="1">
                <a:solidFill>
                  <a:srgbClr val="000000"/>
                </a:solidFill>
                <a:effectLst/>
                <a:latin typeface="Fira Code" panose="020B0809050000020004" pitchFamily="49" charset="0"/>
              </a:rPr>
              <a:t>net_input</a:t>
            </a:r>
            <a:r>
              <a:rPr lang="en-US" altLang="zh-TW" sz="1400" b="0" dirty="0">
                <a:solidFill>
                  <a:srgbClr val="000000"/>
                </a:solidFill>
                <a:effectLst/>
                <a:latin typeface="Fira Code" panose="020B0809050000020004" pitchFamily="49" charset="0"/>
              </a:rPr>
              <a:t>)</a:t>
            </a:r>
          </a:p>
          <a:p>
            <a:r>
              <a:rPr lang="en-US" altLang="zh-TW" sz="1400" b="0" dirty="0">
                <a:solidFill>
                  <a:srgbClr val="000000"/>
                </a:solidFill>
                <a:effectLst/>
                <a:latin typeface="Fira Code" panose="020B0809050000020004" pitchFamily="49" charset="0"/>
              </a:rPr>
              <a:t>            errors = (output - y)</a:t>
            </a: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.w</a:t>
            </a:r>
            <a:r>
              <a:rPr lang="en-US" altLang="zh-TW" sz="1400" b="0" dirty="0">
                <a:solidFill>
                  <a:srgbClr val="000000"/>
                </a:solidFill>
                <a:effectLst/>
                <a:latin typeface="Fira Code" panose="020B0809050000020004" pitchFamily="49" charset="0"/>
              </a:rPr>
              <a:t>_[</a:t>
            </a:r>
            <a:r>
              <a:rPr lang="en-US" altLang="zh-TW" sz="1400" b="0" dirty="0">
                <a:solidFill>
                  <a:srgbClr val="098658"/>
                </a:solidFill>
                <a:effectLst/>
                <a:latin typeface="Fira Code" panose="020B0809050000020004" pitchFamily="49" charset="0"/>
              </a:rPr>
              <a:t>1</a:t>
            </a:r>
            <a:r>
              <a:rPr lang="en-US" altLang="zh-TW" sz="1400" b="0" dirty="0">
                <a:solidFill>
                  <a:srgbClr val="000000"/>
                </a:solidFill>
                <a:effectLst/>
                <a:latin typeface="Fira Code" panose="020B0809050000020004" pitchFamily="49" charset="0"/>
              </a:rPr>
              <a:t>:] -=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.eta</a:t>
            </a:r>
            <a:r>
              <a:rPr lang="en-US" altLang="zh-TW" sz="1400" b="0" dirty="0">
                <a:solidFill>
                  <a:srgbClr val="000000"/>
                </a:solidFill>
                <a:effectLst/>
                <a:latin typeface="Fira Code" panose="020B0809050000020004" pitchFamily="49" charset="0"/>
              </a:rPr>
              <a:t> * X.T.dot(errors)</a:t>
            </a: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.w</a:t>
            </a:r>
            <a:r>
              <a:rPr lang="en-US" altLang="zh-TW" sz="1400" b="0" dirty="0">
                <a:solidFill>
                  <a:srgbClr val="000000"/>
                </a:solidFill>
                <a:effectLst/>
                <a:latin typeface="Fira Code" panose="020B0809050000020004" pitchFamily="49" charset="0"/>
              </a:rPr>
              <a:t>_[</a:t>
            </a:r>
            <a:r>
              <a:rPr lang="en-US" altLang="zh-TW" sz="1400" b="0" dirty="0">
                <a:solidFill>
                  <a:srgbClr val="098658"/>
                </a:solidFill>
                <a:effectLst/>
                <a:latin typeface="Fira Code" panose="020B0809050000020004" pitchFamily="49" charset="0"/>
              </a:rPr>
              <a:t>0</a:t>
            </a:r>
            <a:r>
              <a:rPr lang="en-US" altLang="zh-TW" sz="1400" b="0" dirty="0">
                <a:solidFill>
                  <a:srgbClr val="000000"/>
                </a:solidFill>
                <a:effectLst/>
                <a:latin typeface="Fira Code" panose="020B0809050000020004" pitchFamily="49" charset="0"/>
              </a:rPr>
              <a:t>] -=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.eta</a:t>
            </a:r>
            <a:r>
              <a:rPr lang="en-US" altLang="zh-TW" sz="1400" b="0" dirty="0">
                <a:solidFill>
                  <a:srgbClr val="000000"/>
                </a:solidFill>
                <a:effectLst/>
                <a:latin typeface="Fira Code" panose="020B0809050000020004" pitchFamily="49" charset="0"/>
              </a:rPr>
              <a:t> * </a:t>
            </a:r>
            <a:r>
              <a:rPr lang="en-US" altLang="zh-TW" sz="1400" b="0" dirty="0" err="1">
                <a:solidFill>
                  <a:srgbClr val="000000"/>
                </a:solidFill>
                <a:effectLst/>
                <a:latin typeface="Fira Code" panose="020B0809050000020004" pitchFamily="49" charset="0"/>
              </a:rPr>
              <a:t>errors.sum</a:t>
            </a:r>
            <a:r>
              <a:rPr lang="en-US" altLang="zh-TW" sz="1400" b="0" dirty="0">
                <a:solidFill>
                  <a:srgbClr val="000000"/>
                </a:solidFill>
                <a:effectLst/>
                <a:latin typeface="Fira Code" panose="020B0809050000020004" pitchFamily="49" charset="0"/>
              </a:rPr>
              <a:t>()</a:t>
            </a:r>
          </a:p>
          <a:p>
            <a:br>
              <a:rPr lang="en-US" altLang="zh-TW" sz="1400" b="0" dirty="0">
                <a:solidFill>
                  <a:srgbClr val="000000"/>
                </a:solidFill>
                <a:effectLst/>
                <a:latin typeface="Fira Code" panose="020B0809050000020004" pitchFamily="49" charset="0"/>
              </a:rPr>
            </a:br>
            <a:r>
              <a:rPr lang="en-US" altLang="zh-TW" sz="1400" b="0" dirty="0">
                <a:solidFill>
                  <a:srgbClr val="000000"/>
                </a:solidFill>
                <a:effectLst/>
                <a:latin typeface="Fira Code" panose="020B0809050000020004" pitchFamily="49" charset="0"/>
              </a:rPr>
              <a:t>            </a:t>
            </a:r>
            <a:r>
              <a:rPr lang="en-US" altLang="zh-TW" sz="1400" b="0" dirty="0">
                <a:solidFill>
                  <a:srgbClr val="008000"/>
                </a:solidFill>
                <a:effectLst/>
                <a:latin typeface="Fira Code" panose="020B0809050000020004" pitchFamily="49" charset="0"/>
              </a:rPr>
              <a:t># note that we compute the logistic `cost` now</a:t>
            </a:r>
            <a:endParaRPr lang="en-US" altLang="zh-TW" sz="1400" b="0" dirty="0">
              <a:solidFill>
                <a:srgbClr val="000000"/>
              </a:solidFill>
              <a:effectLst/>
              <a:latin typeface="Fira Code" panose="020B0809050000020004" pitchFamily="49" charset="0"/>
            </a:endParaRPr>
          </a:p>
          <a:p>
            <a:r>
              <a:rPr lang="en-US" altLang="zh-TW" sz="1400" b="0" dirty="0">
                <a:solidFill>
                  <a:srgbClr val="000000"/>
                </a:solidFill>
                <a:effectLst/>
                <a:latin typeface="Fira Code" panose="020B0809050000020004" pitchFamily="49" charset="0"/>
              </a:rPr>
              <a:t>            </a:t>
            </a:r>
            <a:r>
              <a:rPr lang="en-US" altLang="zh-TW" sz="1400" b="0" dirty="0">
                <a:solidFill>
                  <a:srgbClr val="008000"/>
                </a:solidFill>
                <a:effectLst/>
                <a:latin typeface="Fira Code" panose="020B0809050000020004" pitchFamily="49" charset="0"/>
              </a:rPr>
              <a:t># instead of the sum of squared errors cost</a:t>
            </a:r>
            <a:endParaRPr lang="en-US" altLang="zh-TW" sz="1400" b="0" dirty="0">
              <a:solidFill>
                <a:srgbClr val="000000"/>
              </a:solidFill>
              <a:effectLst/>
              <a:latin typeface="Fira Code" panose="020B0809050000020004" pitchFamily="49" charset="0"/>
            </a:endParaRPr>
          </a:p>
          <a:p>
            <a:r>
              <a:rPr lang="en-US" altLang="zh-TW" sz="1400" b="0" dirty="0">
                <a:solidFill>
                  <a:srgbClr val="000000"/>
                </a:solidFill>
                <a:effectLst/>
                <a:latin typeface="Fira Code" panose="020B0809050000020004" pitchFamily="49" charset="0"/>
              </a:rPr>
              <a:t>            cost = -y.dot(np.log(output)) - ((</a:t>
            </a:r>
            <a:r>
              <a:rPr lang="en-US" altLang="zh-TW" sz="1400" b="0" dirty="0">
                <a:solidFill>
                  <a:srgbClr val="098658"/>
                </a:solidFill>
                <a:effectLst/>
                <a:latin typeface="Fira Code" panose="020B0809050000020004" pitchFamily="49" charset="0"/>
              </a:rPr>
              <a:t>1</a:t>
            </a:r>
            <a:r>
              <a:rPr lang="en-US" altLang="zh-TW" sz="1400" b="0" dirty="0">
                <a:solidFill>
                  <a:srgbClr val="000000"/>
                </a:solidFill>
                <a:effectLst/>
                <a:latin typeface="Fira Code" panose="020B0809050000020004" pitchFamily="49" charset="0"/>
              </a:rPr>
              <a:t> - y).dot(np.log(</a:t>
            </a:r>
            <a:r>
              <a:rPr lang="en-US" altLang="zh-TW" sz="1400" b="0" dirty="0">
                <a:solidFill>
                  <a:srgbClr val="098658"/>
                </a:solidFill>
                <a:effectLst/>
                <a:latin typeface="Fira Code" panose="020B0809050000020004" pitchFamily="49" charset="0"/>
              </a:rPr>
              <a:t>1</a:t>
            </a:r>
            <a:r>
              <a:rPr lang="en-US" altLang="zh-TW" sz="1400" b="0" dirty="0">
                <a:solidFill>
                  <a:srgbClr val="000000"/>
                </a:solidFill>
                <a:effectLst/>
                <a:latin typeface="Fira Code" panose="020B0809050000020004" pitchFamily="49" charset="0"/>
              </a:rPr>
              <a:t> - output)))</a:t>
            </a:r>
          </a:p>
          <a:p>
            <a:r>
              <a:rPr lang="en-US" altLang="zh-TW" sz="1400" b="0" dirty="0">
                <a:solidFill>
                  <a:srgbClr val="000000"/>
                </a:solidFill>
                <a:effectLst/>
                <a:latin typeface="Fira Code" panose="020B0809050000020004" pitchFamily="49" charset="0"/>
              </a:rPr>
              <a:t>            </a:t>
            </a:r>
            <a:r>
              <a:rPr lang="en-US" altLang="zh-TW" sz="1400" b="0" dirty="0" err="1">
                <a:solidFill>
                  <a:srgbClr val="0000FF"/>
                </a:solidFill>
                <a:effectLst/>
                <a:latin typeface="Fira Code" panose="020B0809050000020004" pitchFamily="49" charset="0"/>
              </a:rPr>
              <a:t>self</a:t>
            </a:r>
            <a:r>
              <a:rPr lang="en-US" altLang="zh-TW" sz="1400" b="0" dirty="0" err="1">
                <a:solidFill>
                  <a:srgbClr val="000000"/>
                </a:solidFill>
                <a:effectLst/>
                <a:latin typeface="Fira Code" panose="020B0809050000020004" pitchFamily="49" charset="0"/>
              </a:rPr>
              <a:t>.cost_.append</a:t>
            </a:r>
            <a:r>
              <a:rPr lang="en-US" altLang="zh-TW" sz="1400" b="0" dirty="0">
                <a:solidFill>
                  <a:srgbClr val="000000"/>
                </a:solidFill>
                <a:effectLst/>
                <a:latin typeface="Fira Code" panose="020B0809050000020004" pitchFamily="49" charset="0"/>
              </a:rPr>
              <a:t>(cost)</a:t>
            </a:r>
          </a:p>
          <a:p>
            <a:r>
              <a:rPr lang="en-US" altLang="zh-TW" sz="1400" b="0" dirty="0">
                <a:solidFill>
                  <a:srgbClr val="000000"/>
                </a:solidFill>
                <a:effectLst/>
                <a:latin typeface="Fira Code" panose="020B0809050000020004" pitchFamily="49" charset="0"/>
              </a:rPr>
              <a:t>        </a:t>
            </a:r>
            <a:r>
              <a:rPr lang="en-US" altLang="zh-TW" sz="1400" b="0" dirty="0">
                <a:solidFill>
                  <a:srgbClr val="0000FF"/>
                </a:solidFill>
                <a:effectLst/>
                <a:latin typeface="Fira Code" panose="020B0809050000020004" pitchFamily="49" charset="0"/>
              </a:rPr>
              <a:t>return</a:t>
            </a:r>
            <a:r>
              <a:rPr lang="en-US" altLang="zh-TW" sz="1400" b="0" dirty="0">
                <a:solidFill>
                  <a:srgbClr val="000000"/>
                </a:solidFill>
                <a:effectLst/>
                <a:latin typeface="Fira Code" panose="020B0809050000020004" pitchFamily="49" charset="0"/>
              </a:rPr>
              <a:t> </a:t>
            </a:r>
            <a:r>
              <a:rPr lang="en-US" altLang="zh-TW" sz="1400" b="0" dirty="0">
                <a:solidFill>
                  <a:srgbClr val="0000FF"/>
                </a:solidFill>
                <a:effectLst/>
                <a:latin typeface="Fira Code" panose="020B0809050000020004" pitchFamily="49" charset="0"/>
              </a:rPr>
              <a:t>self</a:t>
            </a:r>
            <a:endParaRPr lang="en-US" altLang="zh-TW" sz="1400" b="0" dirty="0">
              <a:solidFill>
                <a:srgbClr val="000000"/>
              </a:solidFill>
              <a:effectLst/>
              <a:latin typeface="Fira Code" panose="020B0809050000020004" pitchFamily="49" charset="0"/>
            </a:endParaRPr>
          </a:p>
        </p:txBody>
      </p:sp>
    </p:spTree>
    <p:extLst>
      <p:ext uri="{BB962C8B-B14F-4D97-AF65-F5344CB8AC3E}">
        <p14:creationId xmlns:p14="http://schemas.microsoft.com/office/powerpoint/2010/main" val="2843193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4657D1-BF82-48AC-A41D-235BEAA1CCF1}"/>
              </a:ext>
            </a:extLst>
          </p:cNvPr>
          <p:cNvSpPr>
            <a:spLocks noGrp="1"/>
          </p:cNvSpPr>
          <p:nvPr>
            <p:ph type="title"/>
          </p:nvPr>
        </p:nvSpPr>
        <p:spPr/>
        <p:txBody>
          <a:bodyPr/>
          <a:lstStyle/>
          <a:p>
            <a:r>
              <a:rPr lang="zh-TW" altLang="en-US" dirty="0"/>
              <a:t>分類問題</a:t>
            </a:r>
            <a:r>
              <a:rPr lang="en-US" altLang="zh-TW" dirty="0"/>
              <a:t>(</a:t>
            </a:r>
            <a:r>
              <a:rPr lang="zh-TW" altLang="en-US" dirty="0"/>
              <a:t>假設先處理兩元分類</a:t>
            </a:r>
            <a:r>
              <a:rPr lang="en-US" altLang="zh-TW" dirty="0"/>
              <a:t>)</a:t>
            </a:r>
            <a:endParaRPr lang="zh-TW" altLang="en-US" dirty="0"/>
          </a:p>
        </p:txBody>
      </p:sp>
      <p:sp>
        <p:nvSpPr>
          <p:cNvPr id="7" name="文字方塊 6">
            <a:extLst>
              <a:ext uri="{FF2B5EF4-FFF2-40B4-BE49-F238E27FC236}">
                <a16:creationId xmlns:a16="http://schemas.microsoft.com/office/drawing/2014/main" id="{C399089E-FA71-44E0-B0AA-F94DB4B8C9B9}"/>
              </a:ext>
            </a:extLst>
          </p:cNvPr>
          <p:cNvSpPr txBox="1"/>
          <p:nvPr/>
        </p:nvSpPr>
        <p:spPr>
          <a:xfrm>
            <a:off x="838200" y="1445339"/>
            <a:ext cx="9867900" cy="3539430"/>
          </a:xfrm>
          <a:prstGeom prst="rect">
            <a:avLst/>
          </a:prstGeom>
          <a:noFill/>
          <a:ln>
            <a:solidFill>
              <a:schemeClr val="tx1"/>
            </a:solidFill>
          </a:ln>
        </p:spPr>
        <p:txBody>
          <a:bodyPr wrap="square">
            <a:spAutoFit/>
          </a:bodyPr>
          <a:lstStyle/>
          <a:p>
            <a:r>
              <a:rPr lang="en-US" altLang="zh-TW" sz="1600" dirty="0">
                <a:solidFill>
                  <a:srgbClr val="0000FF"/>
                </a:solidFill>
                <a:latin typeface="Fira Code" panose="020B0809050000020004" pitchFamily="49" charset="0"/>
              </a:rPr>
              <a:t>    </a:t>
            </a:r>
            <a:r>
              <a:rPr lang="en-US" altLang="zh-TW" sz="1600" b="0" dirty="0">
                <a:solidFill>
                  <a:srgbClr val="0000FF"/>
                </a:solidFill>
                <a:effectLst/>
                <a:latin typeface="Fira Code" panose="020B0809050000020004" pitchFamily="49" charset="0"/>
              </a:rPr>
              <a:t>def</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net_input</a:t>
            </a:r>
            <a:r>
              <a:rPr lang="en-US" altLang="zh-TW" sz="1600" b="0" dirty="0">
                <a:solidFill>
                  <a:srgbClr val="000000"/>
                </a:solidFill>
                <a:effectLst/>
                <a:latin typeface="Fira Code" panose="020B0809050000020004" pitchFamily="49" charset="0"/>
              </a:rPr>
              <a:t>(self, X):</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"""Calculate net input"""</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return</a:t>
            </a:r>
            <a:r>
              <a:rPr lang="en-US" altLang="zh-TW" sz="1600" b="0" dirty="0">
                <a:solidFill>
                  <a:srgbClr val="000000"/>
                </a:solidFill>
                <a:effectLst/>
                <a:latin typeface="Fira Code" panose="020B0809050000020004" pitchFamily="49" charset="0"/>
              </a:rPr>
              <a:t> np.dot(X, </a:t>
            </a:r>
            <a:r>
              <a:rPr lang="en-US" altLang="zh-TW" sz="1600" b="0" dirty="0" err="1">
                <a:solidFill>
                  <a:srgbClr val="0000FF"/>
                </a:solidFill>
                <a:effectLst/>
                <a:latin typeface="Fira Code" panose="020B0809050000020004" pitchFamily="49" charset="0"/>
              </a:rPr>
              <a:t>self</a:t>
            </a:r>
            <a:r>
              <a:rPr lang="en-US" altLang="zh-TW" sz="1600" b="0" dirty="0" err="1">
                <a:solidFill>
                  <a:srgbClr val="000000"/>
                </a:solidFill>
                <a:effectLst/>
                <a:latin typeface="Fira Code" panose="020B0809050000020004" pitchFamily="49" charset="0"/>
              </a:rPr>
              <a:t>.w</a:t>
            </a:r>
            <a:r>
              <a:rPr lang="en-US" altLang="zh-TW" sz="1600" b="0" dirty="0">
                <a:solidFill>
                  <a:srgbClr val="000000"/>
                </a:solidFill>
                <a:effectLst/>
                <a:latin typeface="Fira Code" panose="020B0809050000020004" pitchFamily="49" charset="0"/>
              </a:rPr>
              <a:t>_[</a:t>
            </a:r>
            <a:r>
              <a:rPr lang="en-US" altLang="zh-TW" sz="1600" b="0" dirty="0">
                <a:solidFill>
                  <a:srgbClr val="098658"/>
                </a:solidFill>
                <a:effectLst/>
                <a:latin typeface="Fira Code" panose="020B0809050000020004" pitchFamily="49" charset="0"/>
              </a:rPr>
              <a:t>1</a:t>
            </a:r>
            <a:r>
              <a:rPr lang="en-US" altLang="zh-TW" sz="1600" b="0" dirty="0">
                <a:solidFill>
                  <a:srgbClr val="000000"/>
                </a:solidFill>
                <a:effectLst/>
                <a:latin typeface="Fira Code" panose="020B0809050000020004" pitchFamily="49" charset="0"/>
              </a:rPr>
              <a:t>:]) + </a:t>
            </a:r>
            <a:r>
              <a:rPr lang="en-US" altLang="zh-TW" sz="1600" b="0" dirty="0" err="1">
                <a:solidFill>
                  <a:srgbClr val="0000FF"/>
                </a:solidFill>
                <a:effectLst/>
                <a:latin typeface="Fira Code" panose="020B0809050000020004" pitchFamily="49" charset="0"/>
              </a:rPr>
              <a:t>self</a:t>
            </a:r>
            <a:r>
              <a:rPr lang="en-US" altLang="zh-TW" sz="1600" b="0" dirty="0" err="1">
                <a:solidFill>
                  <a:srgbClr val="000000"/>
                </a:solidFill>
                <a:effectLst/>
                <a:latin typeface="Fira Code" panose="020B0809050000020004" pitchFamily="49" charset="0"/>
              </a:rPr>
              <a:t>.w</a:t>
            </a:r>
            <a:r>
              <a:rPr lang="en-US" altLang="zh-TW" sz="1600" b="0" dirty="0">
                <a:solidFill>
                  <a:srgbClr val="000000"/>
                </a:solidFill>
                <a:effectLst/>
                <a:latin typeface="Fira Code" panose="020B0809050000020004" pitchFamily="49" charset="0"/>
              </a:rPr>
              <a:t>_[</a:t>
            </a:r>
            <a:r>
              <a:rPr lang="en-US" altLang="zh-TW" sz="1600" b="0" dirty="0">
                <a:solidFill>
                  <a:srgbClr val="098658"/>
                </a:solidFill>
                <a:effectLst/>
                <a:latin typeface="Fira Code" panose="020B0809050000020004" pitchFamily="49" charset="0"/>
              </a:rPr>
              <a:t>0</a:t>
            </a:r>
            <a:r>
              <a:rPr lang="en-US" altLang="zh-TW" sz="1600" b="0" dirty="0">
                <a:solidFill>
                  <a:srgbClr val="000000"/>
                </a:solidFill>
                <a:effectLst/>
                <a:latin typeface="Fira Code" panose="020B0809050000020004" pitchFamily="49" charset="0"/>
              </a:rPr>
              <a:t>]</a:t>
            </a:r>
          </a:p>
          <a:p>
            <a:br>
              <a:rPr lang="en-US" altLang="zh-TW" sz="1600" b="0" dirty="0">
                <a:solidFill>
                  <a:srgbClr val="000000"/>
                </a:solidFill>
                <a:effectLst/>
                <a:latin typeface="Fira Code" panose="020B0809050000020004" pitchFamily="49" charset="0"/>
              </a:rPr>
            </a:b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def</a:t>
            </a:r>
            <a:r>
              <a:rPr lang="en-US" altLang="zh-TW" sz="1600" b="0" dirty="0">
                <a:solidFill>
                  <a:srgbClr val="000000"/>
                </a:solidFill>
                <a:effectLst/>
                <a:latin typeface="Fira Code" panose="020B0809050000020004" pitchFamily="49" charset="0"/>
              </a:rPr>
              <a:t> activation(self, z):</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"""Compute logistic sigmoid activation"""</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return</a:t>
            </a:r>
            <a:r>
              <a:rPr lang="en-US" altLang="zh-TW" sz="1600" b="0" dirty="0">
                <a:solidFill>
                  <a:srgbClr val="000000"/>
                </a:solidFill>
                <a:effectLst/>
                <a:latin typeface="Fira Code" panose="020B0809050000020004" pitchFamily="49" charset="0"/>
              </a:rPr>
              <a:t> </a:t>
            </a:r>
            <a:r>
              <a:rPr lang="en-US" altLang="zh-TW" sz="1600" b="0" dirty="0">
                <a:solidFill>
                  <a:srgbClr val="098658"/>
                </a:solidFill>
                <a:effectLst/>
                <a:latin typeface="Fira Code" panose="020B0809050000020004" pitchFamily="49" charset="0"/>
              </a:rPr>
              <a:t>1</a:t>
            </a:r>
            <a:r>
              <a:rPr lang="en-US" altLang="zh-TW" sz="1600" b="0" dirty="0">
                <a:solidFill>
                  <a:srgbClr val="000000"/>
                </a:solidFill>
                <a:effectLst/>
                <a:latin typeface="Fira Code" panose="020B0809050000020004" pitchFamily="49" charset="0"/>
              </a:rPr>
              <a:t>. / (</a:t>
            </a:r>
            <a:r>
              <a:rPr lang="en-US" altLang="zh-TW" sz="1600" b="0" dirty="0">
                <a:solidFill>
                  <a:srgbClr val="098658"/>
                </a:solidFill>
                <a:effectLst/>
                <a:latin typeface="Fira Code" panose="020B0809050000020004" pitchFamily="49" charset="0"/>
              </a:rPr>
              <a:t>1</a:t>
            </a:r>
            <a:r>
              <a:rPr lang="en-US" altLang="zh-TW" sz="1600" b="0" dirty="0">
                <a:solidFill>
                  <a:srgbClr val="000000"/>
                </a:solidFill>
                <a:effectLst/>
                <a:latin typeface="Fira Code" panose="020B0809050000020004" pitchFamily="49" charset="0"/>
              </a:rPr>
              <a:t>. + </a:t>
            </a:r>
            <a:r>
              <a:rPr lang="en-US" altLang="zh-TW" sz="1600" b="0" dirty="0" err="1">
                <a:solidFill>
                  <a:srgbClr val="000000"/>
                </a:solidFill>
                <a:effectLst/>
                <a:latin typeface="Fira Code" panose="020B0809050000020004" pitchFamily="49" charset="0"/>
              </a:rPr>
              <a:t>np.exp</a:t>
            </a:r>
            <a:r>
              <a:rPr lang="en-US" altLang="zh-TW" sz="1600" b="0" dirty="0">
                <a:solidFill>
                  <a:srgbClr val="000000"/>
                </a:solidFill>
                <a:effectLst/>
                <a:latin typeface="Fira Code" panose="020B0809050000020004" pitchFamily="49" charset="0"/>
              </a:rPr>
              <a:t>(-</a:t>
            </a:r>
            <a:r>
              <a:rPr lang="en-US" altLang="zh-TW" sz="1600" b="0" dirty="0" err="1">
                <a:solidFill>
                  <a:srgbClr val="000000"/>
                </a:solidFill>
                <a:effectLst/>
                <a:latin typeface="Fira Code" panose="020B0809050000020004" pitchFamily="49" charset="0"/>
              </a:rPr>
              <a:t>np.clip</a:t>
            </a:r>
            <a:r>
              <a:rPr lang="en-US" altLang="zh-TW" sz="1600" b="0" dirty="0">
                <a:solidFill>
                  <a:srgbClr val="000000"/>
                </a:solidFill>
                <a:effectLst/>
                <a:latin typeface="Fira Code" panose="020B0809050000020004" pitchFamily="49" charset="0"/>
              </a:rPr>
              <a:t>(z, -</a:t>
            </a:r>
            <a:r>
              <a:rPr lang="en-US" altLang="zh-TW" sz="1600" b="0" dirty="0">
                <a:solidFill>
                  <a:srgbClr val="098658"/>
                </a:solidFill>
                <a:effectLst/>
                <a:latin typeface="Fira Code" panose="020B0809050000020004" pitchFamily="49" charset="0"/>
              </a:rPr>
              <a:t>100</a:t>
            </a:r>
            <a:r>
              <a:rPr lang="en-US" altLang="zh-TW" sz="1600" b="0" dirty="0">
                <a:solidFill>
                  <a:srgbClr val="000000"/>
                </a:solidFill>
                <a:effectLst/>
                <a:latin typeface="Fira Code" panose="020B0809050000020004" pitchFamily="49" charset="0"/>
              </a:rPr>
              <a:t>, </a:t>
            </a:r>
            <a:r>
              <a:rPr lang="en-US" altLang="zh-TW" sz="1600" b="0" dirty="0">
                <a:solidFill>
                  <a:srgbClr val="098658"/>
                </a:solidFill>
                <a:effectLst/>
                <a:latin typeface="Fira Code" panose="020B0809050000020004" pitchFamily="49" charset="0"/>
              </a:rPr>
              <a:t>100</a:t>
            </a:r>
            <a:r>
              <a:rPr lang="en-US" altLang="zh-TW" sz="1600" b="0" dirty="0">
                <a:solidFill>
                  <a:srgbClr val="000000"/>
                </a:solidFill>
                <a:effectLst/>
                <a:latin typeface="Fira Code" panose="020B0809050000020004" pitchFamily="49" charset="0"/>
              </a:rPr>
              <a:t>)))</a:t>
            </a:r>
          </a:p>
          <a:p>
            <a:br>
              <a:rPr lang="en-US" altLang="zh-TW" sz="1600" b="0" dirty="0">
                <a:solidFill>
                  <a:srgbClr val="000000"/>
                </a:solidFill>
                <a:effectLst/>
                <a:latin typeface="Fira Code" panose="020B0809050000020004" pitchFamily="49" charset="0"/>
              </a:rPr>
            </a:b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def</a:t>
            </a:r>
            <a:r>
              <a:rPr lang="en-US" altLang="zh-TW" sz="1600" b="0" dirty="0">
                <a:solidFill>
                  <a:srgbClr val="000000"/>
                </a:solidFill>
                <a:effectLst/>
                <a:latin typeface="Fira Code" panose="020B0809050000020004" pitchFamily="49" charset="0"/>
              </a:rPr>
              <a:t> predict(self, X):</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"""Return class label after unit step"""</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return</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np.where</a:t>
            </a:r>
            <a:r>
              <a:rPr lang="en-US" altLang="zh-TW" sz="1600" b="0" dirty="0">
                <a:solidFill>
                  <a:srgbClr val="000000"/>
                </a:solidFill>
                <a:effectLst/>
                <a:latin typeface="Fira Code" panose="020B0809050000020004" pitchFamily="49" charset="0"/>
              </a:rPr>
              <a:t>(</a:t>
            </a:r>
            <a:r>
              <a:rPr lang="en-US" altLang="zh-TW" sz="1600" b="0" dirty="0" err="1">
                <a:solidFill>
                  <a:srgbClr val="0000FF"/>
                </a:solidFill>
                <a:effectLst/>
                <a:latin typeface="Fira Code" panose="020B0809050000020004" pitchFamily="49" charset="0"/>
              </a:rPr>
              <a:t>self</a:t>
            </a:r>
            <a:r>
              <a:rPr lang="en-US" altLang="zh-TW" sz="1600" b="0" dirty="0" err="1">
                <a:solidFill>
                  <a:srgbClr val="000000"/>
                </a:solidFill>
                <a:effectLst/>
                <a:latin typeface="Fira Code" panose="020B0809050000020004" pitchFamily="49" charset="0"/>
              </a:rPr>
              <a:t>.net_input</a:t>
            </a:r>
            <a:r>
              <a:rPr lang="en-US" altLang="zh-TW" sz="1600" b="0" dirty="0">
                <a:solidFill>
                  <a:srgbClr val="000000"/>
                </a:solidFill>
                <a:effectLst/>
                <a:latin typeface="Fira Code" panose="020B0809050000020004" pitchFamily="49" charset="0"/>
              </a:rPr>
              <a:t>(X) &gt;= </a:t>
            </a:r>
            <a:r>
              <a:rPr lang="en-US" altLang="zh-TW" sz="1600" b="0" dirty="0">
                <a:solidFill>
                  <a:srgbClr val="098658"/>
                </a:solidFill>
                <a:effectLst/>
                <a:latin typeface="Fira Code" panose="020B0809050000020004" pitchFamily="49" charset="0"/>
              </a:rPr>
              <a:t>0.0</a:t>
            </a:r>
            <a:r>
              <a:rPr lang="en-US" altLang="zh-TW" sz="1600" b="0" dirty="0">
                <a:solidFill>
                  <a:srgbClr val="000000"/>
                </a:solidFill>
                <a:effectLst/>
                <a:latin typeface="Fira Code" panose="020B0809050000020004" pitchFamily="49" charset="0"/>
              </a:rPr>
              <a:t>, </a:t>
            </a:r>
            <a:r>
              <a:rPr lang="en-US" altLang="zh-TW" sz="1600" b="0" dirty="0">
                <a:solidFill>
                  <a:srgbClr val="098658"/>
                </a:solidFill>
                <a:effectLst/>
                <a:latin typeface="Fira Code" panose="020B0809050000020004" pitchFamily="49" charset="0"/>
              </a:rPr>
              <a:t>1</a:t>
            </a:r>
            <a:r>
              <a:rPr lang="en-US" altLang="zh-TW" sz="1600" b="0" dirty="0">
                <a:solidFill>
                  <a:srgbClr val="000000"/>
                </a:solidFill>
                <a:effectLst/>
                <a:latin typeface="Fira Code" panose="020B0809050000020004" pitchFamily="49" charset="0"/>
              </a:rPr>
              <a:t>, </a:t>
            </a:r>
            <a:r>
              <a:rPr lang="en-US" altLang="zh-TW" sz="1600" b="0" dirty="0">
                <a:solidFill>
                  <a:srgbClr val="098658"/>
                </a:solidFill>
                <a:effectLst/>
                <a:latin typeface="Fira Code" panose="020B0809050000020004" pitchFamily="49" charset="0"/>
              </a:rPr>
              <a:t>0</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a:solidFill>
                  <a:srgbClr val="008000"/>
                </a:solidFill>
                <a:effectLst/>
                <a:latin typeface="Fira Code" panose="020B0809050000020004" pitchFamily="49" charset="0"/>
              </a:rPr>
              <a:t># equivalent to:</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        </a:t>
            </a:r>
            <a:r>
              <a:rPr lang="en-US" altLang="zh-TW" sz="1600" b="0" dirty="0">
                <a:solidFill>
                  <a:srgbClr val="008000"/>
                </a:solidFill>
                <a:effectLst/>
                <a:latin typeface="Fira Code" panose="020B0809050000020004" pitchFamily="49" charset="0"/>
              </a:rPr>
              <a:t># return </a:t>
            </a:r>
            <a:r>
              <a:rPr lang="en-US" altLang="zh-TW" sz="1600" b="0" dirty="0" err="1">
                <a:solidFill>
                  <a:srgbClr val="008000"/>
                </a:solidFill>
                <a:effectLst/>
                <a:latin typeface="Fira Code" panose="020B0809050000020004" pitchFamily="49" charset="0"/>
              </a:rPr>
              <a:t>np.where</a:t>
            </a:r>
            <a:r>
              <a:rPr lang="en-US" altLang="zh-TW" sz="1600" b="0" dirty="0">
                <a:solidFill>
                  <a:srgbClr val="008000"/>
                </a:solidFill>
                <a:effectLst/>
                <a:latin typeface="Fira Code" panose="020B0809050000020004" pitchFamily="49" charset="0"/>
              </a:rPr>
              <a:t>(</a:t>
            </a:r>
            <a:r>
              <a:rPr lang="en-US" altLang="zh-TW" sz="1600" b="0" dirty="0" err="1">
                <a:solidFill>
                  <a:srgbClr val="008000"/>
                </a:solidFill>
                <a:effectLst/>
                <a:latin typeface="Fira Code" panose="020B0809050000020004" pitchFamily="49" charset="0"/>
              </a:rPr>
              <a:t>self.activation</a:t>
            </a:r>
            <a:r>
              <a:rPr lang="en-US" altLang="zh-TW" sz="1600" b="0" dirty="0">
                <a:solidFill>
                  <a:srgbClr val="008000"/>
                </a:solidFill>
                <a:effectLst/>
                <a:latin typeface="Fira Code" panose="020B0809050000020004" pitchFamily="49" charset="0"/>
              </a:rPr>
              <a:t>(</a:t>
            </a:r>
            <a:r>
              <a:rPr lang="en-US" altLang="zh-TW" sz="1600" b="0" dirty="0" err="1">
                <a:solidFill>
                  <a:srgbClr val="008000"/>
                </a:solidFill>
                <a:effectLst/>
                <a:latin typeface="Fira Code" panose="020B0809050000020004" pitchFamily="49" charset="0"/>
              </a:rPr>
              <a:t>self.net_input</a:t>
            </a:r>
            <a:r>
              <a:rPr lang="en-US" altLang="zh-TW" sz="1600" b="0" dirty="0">
                <a:solidFill>
                  <a:srgbClr val="008000"/>
                </a:solidFill>
                <a:effectLst/>
                <a:latin typeface="Fira Code" panose="020B0809050000020004" pitchFamily="49" charset="0"/>
              </a:rPr>
              <a:t>(X)) &gt;= 0.5, 1, 0)</a:t>
            </a:r>
            <a:endParaRPr lang="en-US" altLang="zh-TW" sz="1600" b="0" dirty="0">
              <a:solidFill>
                <a:srgbClr val="000000"/>
              </a:solidFill>
              <a:effectLst/>
              <a:latin typeface="Fira Code" panose="020B0809050000020004" pitchFamily="49" charset="0"/>
            </a:endParaRPr>
          </a:p>
          <a:p>
            <a:endParaRPr lang="en-US" altLang="zh-TW" sz="1600" b="0" dirty="0">
              <a:solidFill>
                <a:srgbClr val="000000"/>
              </a:solidFill>
              <a:effectLst/>
              <a:latin typeface="Fira Code" panose="020B0809050000020004" pitchFamily="49" charset="0"/>
            </a:endParaRPr>
          </a:p>
        </p:txBody>
      </p:sp>
    </p:spTree>
    <p:extLst>
      <p:ext uri="{BB962C8B-B14F-4D97-AF65-F5344CB8AC3E}">
        <p14:creationId xmlns:p14="http://schemas.microsoft.com/office/powerpoint/2010/main" val="1628235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30F77D-83A8-4623-BBC8-7BD30F00450B}"/>
              </a:ext>
            </a:extLst>
          </p:cNvPr>
          <p:cNvSpPr>
            <a:spLocks noGrp="1"/>
          </p:cNvSpPr>
          <p:nvPr>
            <p:ph type="title"/>
          </p:nvPr>
        </p:nvSpPr>
        <p:spPr/>
        <p:txBody>
          <a:bodyPr/>
          <a:lstStyle/>
          <a:p>
            <a:r>
              <a:rPr lang="zh-TW" altLang="en-US" dirty="0"/>
              <a:t>分類問題</a:t>
            </a:r>
            <a:r>
              <a:rPr lang="en-US" altLang="zh-TW" dirty="0"/>
              <a:t>(</a:t>
            </a:r>
            <a:r>
              <a:rPr lang="zh-TW" altLang="en-US" dirty="0"/>
              <a:t>假設先處理兩元分類</a:t>
            </a:r>
            <a:r>
              <a:rPr lang="en-US" altLang="zh-TW" dirty="0"/>
              <a:t>)</a:t>
            </a:r>
            <a:endParaRPr lang="zh-TW" altLang="en-US" dirty="0"/>
          </a:p>
        </p:txBody>
      </p:sp>
      <p:sp>
        <p:nvSpPr>
          <p:cNvPr id="3" name="內容版面配置區 2">
            <a:extLst>
              <a:ext uri="{FF2B5EF4-FFF2-40B4-BE49-F238E27FC236}">
                <a16:creationId xmlns:a16="http://schemas.microsoft.com/office/drawing/2014/main" id="{0F7D9097-3A92-44DB-9505-21CAD5530CC9}"/>
              </a:ext>
            </a:extLst>
          </p:cNvPr>
          <p:cNvSpPr>
            <a:spLocks noGrp="1"/>
          </p:cNvSpPr>
          <p:nvPr>
            <p:ph idx="1"/>
          </p:nvPr>
        </p:nvSpPr>
        <p:spPr/>
        <p:txBody>
          <a:bodyPr/>
          <a:lstStyle/>
          <a:p>
            <a:r>
              <a:rPr lang="zh-TW" altLang="en-US" dirty="0"/>
              <a:t>得到迴歸線，繪製決策邊界</a:t>
            </a:r>
            <a:r>
              <a:rPr lang="en-US" altLang="zh-TW" dirty="0"/>
              <a:t>(decision boundary)</a:t>
            </a:r>
            <a:endParaRPr lang="zh-TW" altLang="en-US" dirty="0"/>
          </a:p>
        </p:txBody>
      </p:sp>
      <p:pic>
        <p:nvPicPr>
          <p:cNvPr id="1026" name="Picture 2">
            <a:extLst>
              <a:ext uri="{FF2B5EF4-FFF2-40B4-BE49-F238E27FC236}">
                <a16:creationId xmlns:a16="http://schemas.microsoft.com/office/drawing/2014/main" id="{42B167E0-61FE-484D-A8BB-709045732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718" y="2266537"/>
            <a:ext cx="5747832" cy="4591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7407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A520AD-A859-4977-940A-67A4AF4EF572}"/>
              </a:ext>
            </a:extLst>
          </p:cNvPr>
          <p:cNvSpPr>
            <a:spLocks noGrp="1"/>
          </p:cNvSpPr>
          <p:nvPr>
            <p:ph type="title"/>
          </p:nvPr>
        </p:nvSpPr>
        <p:spPr/>
        <p:txBody>
          <a:bodyPr/>
          <a:lstStyle/>
          <a:p>
            <a:r>
              <a:rPr lang="zh-TW" altLang="en-US" dirty="0"/>
              <a:t>分類問題</a:t>
            </a:r>
            <a:r>
              <a:rPr lang="en-US" altLang="zh-TW" dirty="0"/>
              <a:t>(</a:t>
            </a:r>
            <a:r>
              <a:rPr lang="zh-TW" altLang="en-US" dirty="0"/>
              <a:t>假設先處理兩元分類</a:t>
            </a:r>
            <a:r>
              <a:rPr lang="en-US" altLang="zh-TW" dirty="0"/>
              <a:t>)</a:t>
            </a:r>
            <a:endParaRPr lang="zh-TW" altLang="en-US" dirty="0"/>
          </a:p>
        </p:txBody>
      </p:sp>
      <p:pic>
        <p:nvPicPr>
          <p:cNvPr id="2050" name="Picture 2">
            <a:extLst>
              <a:ext uri="{FF2B5EF4-FFF2-40B4-BE49-F238E27FC236}">
                <a16:creationId xmlns:a16="http://schemas.microsoft.com/office/drawing/2014/main" id="{A7E3BE20-CC4B-4431-9913-AE34A8446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5250" y="1502567"/>
            <a:ext cx="6151563" cy="5342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1877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9C9AB2-02A1-4E98-A1FA-7F381863D64B}"/>
              </a:ext>
            </a:extLst>
          </p:cNvPr>
          <p:cNvSpPr>
            <a:spLocks noGrp="1"/>
          </p:cNvSpPr>
          <p:nvPr>
            <p:ph type="title"/>
          </p:nvPr>
        </p:nvSpPr>
        <p:spPr/>
        <p:txBody>
          <a:bodyPr/>
          <a:lstStyle/>
          <a:p>
            <a:r>
              <a:rPr lang="zh-TW" altLang="en-US" dirty="0"/>
              <a:t>分類問題</a:t>
            </a:r>
            <a:r>
              <a:rPr lang="en-US" altLang="zh-TW" dirty="0"/>
              <a:t>(</a:t>
            </a:r>
            <a:r>
              <a:rPr lang="zh-TW" altLang="en-US" dirty="0"/>
              <a:t>假設先處理兩元分類</a:t>
            </a:r>
            <a:r>
              <a:rPr lang="en-US" altLang="zh-TW" dirty="0"/>
              <a:t>)</a:t>
            </a:r>
            <a:endParaRPr lang="zh-TW" altLang="en-US" dirty="0"/>
          </a:p>
        </p:txBody>
      </p:sp>
      <p:sp>
        <p:nvSpPr>
          <p:cNvPr id="3" name="內容版面配置區 2">
            <a:extLst>
              <a:ext uri="{FF2B5EF4-FFF2-40B4-BE49-F238E27FC236}">
                <a16:creationId xmlns:a16="http://schemas.microsoft.com/office/drawing/2014/main" id="{493CFE35-4F8A-4610-9C7A-395CDE135483}"/>
              </a:ext>
            </a:extLst>
          </p:cNvPr>
          <p:cNvSpPr>
            <a:spLocks noGrp="1"/>
          </p:cNvSpPr>
          <p:nvPr>
            <p:ph idx="1"/>
          </p:nvPr>
        </p:nvSpPr>
        <p:spPr/>
        <p:txBody>
          <a:bodyPr/>
          <a:lstStyle/>
          <a:p>
            <a:r>
              <a:rPr lang="zh-TW" altLang="en-US" dirty="0"/>
              <a:t>計算測試集準確度</a:t>
            </a:r>
            <a:r>
              <a:rPr lang="en-US" altLang="zh-TW" dirty="0"/>
              <a:t>(accuracy)</a:t>
            </a:r>
            <a:endParaRPr lang="zh-TW" altLang="en-US" dirty="0"/>
          </a:p>
        </p:txBody>
      </p:sp>
      <p:sp>
        <p:nvSpPr>
          <p:cNvPr id="5" name="文字方塊 4">
            <a:extLst>
              <a:ext uri="{FF2B5EF4-FFF2-40B4-BE49-F238E27FC236}">
                <a16:creationId xmlns:a16="http://schemas.microsoft.com/office/drawing/2014/main" id="{FA8C3923-505B-4A09-BA2A-DA9601248AFD}"/>
              </a:ext>
            </a:extLst>
          </p:cNvPr>
          <p:cNvSpPr txBox="1"/>
          <p:nvPr/>
        </p:nvSpPr>
        <p:spPr>
          <a:xfrm>
            <a:off x="895350" y="2393593"/>
            <a:ext cx="10515600" cy="3139321"/>
          </a:xfrm>
          <a:prstGeom prst="rect">
            <a:avLst/>
          </a:prstGeom>
          <a:noFill/>
          <a:ln>
            <a:solidFill>
              <a:schemeClr val="tx1"/>
            </a:solidFill>
          </a:ln>
        </p:spPr>
        <p:txBody>
          <a:bodyPr wrap="square">
            <a:spAutoFit/>
          </a:bodyPr>
          <a:lstStyle/>
          <a:p>
            <a:r>
              <a:rPr lang="en-US" altLang="zh-TW" b="0" dirty="0">
                <a:solidFill>
                  <a:srgbClr val="008000"/>
                </a:solidFill>
                <a:effectLst/>
                <a:latin typeface="Courier New" panose="02070309020205020404" pitchFamily="49" charset="0"/>
              </a:rPr>
              <a:t># </a:t>
            </a:r>
            <a:r>
              <a:rPr lang="zh-TW" altLang="en-US" b="0" dirty="0">
                <a:solidFill>
                  <a:srgbClr val="008000"/>
                </a:solidFill>
                <a:effectLst/>
                <a:latin typeface="Courier New" panose="02070309020205020404" pitchFamily="49" charset="0"/>
              </a:rPr>
              <a:t>計算並輸出準確率</a:t>
            </a:r>
            <a:endParaRPr lang="zh-TW" altLang="en-US" b="0" dirty="0">
              <a:solidFill>
                <a:srgbClr val="000000"/>
              </a:solidFill>
              <a:effectLst/>
              <a:latin typeface="Courier New" panose="02070309020205020404" pitchFamily="49" charset="0"/>
            </a:endParaRPr>
          </a:p>
          <a:p>
            <a:r>
              <a:rPr lang="en-US" altLang="zh-TW" b="0" dirty="0" err="1">
                <a:solidFill>
                  <a:srgbClr val="000000"/>
                </a:solidFill>
                <a:effectLst/>
                <a:latin typeface="Courier New" panose="02070309020205020404" pitchFamily="49" charset="0"/>
              </a:rPr>
              <a:t>y_pred</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lrgd.predict</a:t>
            </a:r>
            <a:r>
              <a:rPr lang="en-US" altLang="zh-TW" b="0" dirty="0">
                <a:solidFill>
                  <a:srgbClr val="000000"/>
                </a:solidFill>
                <a:effectLst/>
                <a:latin typeface="Courier New" panose="02070309020205020404" pitchFamily="49" charset="0"/>
              </a:rPr>
              <a:t>(</a:t>
            </a:r>
            <a:r>
              <a:rPr lang="en-US" altLang="zh-TW" b="0" dirty="0" err="1">
                <a:solidFill>
                  <a:srgbClr val="000000"/>
                </a:solidFill>
                <a:effectLst/>
                <a:latin typeface="Courier New" panose="02070309020205020404" pitchFamily="49" charset="0"/>
              </a:rPr>
              <a:t>X_test_std</a:t>
            </a:r>
            <a:r>
              <a:rPr lang="en-US" altLang="zh-TW" b="0" dirty="0">
                <a:solidFill>
                  <a:srgbClr val="000000"/>
                </a:solidFill>
                <a:effectLst/>
                <a:latin typeface="Courier New" panose="02070309020205020404" pitchFamily="49" charset="0"/>
              </a:rPr>
              <a:t>)</a:t>
            </a:r>
          </a:p>
          <a:p>
            <a:r>
              <a:rPr lang="en-US" altLang="zh-TW" b="0" dirty="0">
                <a:solidFill>
                  <a:srgbClr val="795E26"/>
                </a:solidFill>
                <a:effectLst/>
                <a:latin typeface="Courier New" panose="02070309020205020404" pitchFamily="49" charset="0"/>
              </a:rPr>
              <a:t>print</a:t>
            </a:r>
            <a:r>
              <a:rPr lang="en-US" altLang="zh-TW" b="0" dirty="0">
                <a:solidFill>
                  <a:srgbClr val="000000"/>
                </a:solidFill>
                <a:effectLst/>
                <a:latin typeface="Courier New" panose="02070309020205020404" pitchFamily="49" charset="0"/>
              </a:rPr>
              <a:t>(</a:t>
            </a:r>
            <a:r>
              <a:rPr lang="en-US" altLang="zh-TW" b="0" dirty="0">
                <a:solidFill>
                  <a:srgbClr val="A31515"/>
                </a:solidFill>
                <a:effectLst/>
                <a:latin typeface="Courier New" panose="02070309020205020404" pitchFamily="49" charset="0"/>
              </a:rPr>
              <a:t>'Misclassified examples: %d'</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y_test</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y_pred</a:t>
            </a:r>
            <a:r>
              <a:rPr lang="en-US" altLang="zh-TW" b="0" dirty="0">
                <a:solidFill>
                  <a:srgbClr val="000000"/>
                </a:solidFill>
                <a:effectLst/>
                <a:latin typeface="Courier New" panose="02070309020205020404" pitchFamily="49" charset="0"/>
              </a:rPr>
              <a:t>).</a:t>
            </a:r>
            <a:r>
              <a:rPr lang="en-US" altLang="zh-TW" b="0" dirty="0">
                <a:solidFill>
                  <a:srgbClr val="795E26"/>
                </a:solidFill>
                <a:effectLst/>
                <a:latin typeface="Courier New" panose="02070309020205020404" pitchFamily="49" charset="0"/>
              </a:rPr>
              <a:t>sum</a:t>
            </a:r>
            <a:r>
              <a:rPr lang="en-US" altLang="zh-TW" b="0" dirty="0">
                <a:solidFill>
                  <a:srgbClr val="000000"/>
                </a:solidFill>
                <a:effectLst/>
                <a:latin typeface="Courier New" panose="02070309020205020404" pitchFamily="49" charset="0"/>
              </a:rPr>
              <a:t>())</a:t>
            </a:r>
          </a:p>
          <a:p>
            <a:r>
              <a:rPr lang="en-US" altLang="zh-TW" b="0" dirty="0">
                <a:solidFill>
                  <a:srgbClr val="795E26"/>
                </a:solidFill>
                <a:effectLst/>
                <a:latin typeface="Courier New" panose="02070309020205020404" pitchFamily="49" charset="0"/>
              </a:rPr>
              <a:t>print</a:t>
            </a:r>
            <a:r>
              <a:rPr lang="en-US" altLang="zh-TW" b="0" dirty="0">
                <a:solidFill>
                  <a:srgbClr val="000000"/>
                </a:solidFill>
                <a:effectLst/>
                <a:latin typeface="Courier New" panose="02070309020205020404" pitchFamily="49" charset="0"/>
              </a:rPr>
              <a:t>(</a:t>
            </a:r>
            <a:r>
              <a:rPr lang="en-US" altLang="zh-TW" b="0" dirty="0">
                <a:solidFill>
                  <a:srgbClr val="A31515"/>
                </a:solidFill>
                <a:effectLst/>
                <a:latin typeface="Courier New" panose="02070309020205020404" pitchFamily="49" charset="0"/>
              </a:rPr>
              <a:t>'</a:t>
            </a:r>
            <a:r>
              <a:rPr lang="zh-TW" altLang="en-US" b="0" dirty="0">
                <a:solidFill>
                  <a:srgbClr val="A31515"/>
                </a:solidFill>
                <a:effectLst/>
                <a:latin typeface="Courier New" panose="02070309020205020404" pitchFamily="49" charset="0"/>
              </a:rPr>
              <a:t>自定義計算準確率</a:t>
            </a:r>
            <a:r>
              <a:rPr lang="en-US" altLang="zh-TW" b="0" dirty="0">
                <a:solidFill>
                  <a:srgbClr val="A31515"/>
                </a:solidFill>
                <a:effectLst/>
                <a:latin typeface="Courier New" panose="02070309020205020404" pitchFamily="49" charset="0"/>
              </a:rPr>
              <a:t>: %.3f'</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y_test</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y_pred</a:t>
            </a:r>
            <a:r>
              <a:rPr lang="en-US" altLang="zh-TW" b="0" dirty="0">
                <a:solidFill>
                  <a:srgbClr val="000000"/>
                </a:solidFill>
                <a:effectLst/>
                <a:latin typeface="Courier New" panose="02070309020205020404" pitchFamily="49" charset="0"/>
              </a:rPr>
              <a:t>).</a:t>
            </a:r>
            <a:r>
              <a:rPr lang="en-US" altLang="zh-TW" b="0" dirty="0">
                <a:solidFill>
                  <a:srgbClr val="795E26"/>
                </a:solidFill>
                <a:effectLst/>
                <a:latin typeface="Courier New" panose="02070309020205020404" pitchFamily="49" charset="0"/>
              </a:rPr>
              <a:t>sum</a:t>
            </a:r>
            <a:r>
              <a:rPr lang="en-US" altLang="zh-TW" b="0" dirty="0">
                <a:solidFill>
                  <a:srgbClr val="000000"/>
                </a:solidFill>
                <a:effectLst/>
                <a:latin typeface="Courier New" panose="02070309020205020404" pitchFamily="49" charset="0"/>
              </a:rPr>
              <a:t>() / </a:t>
            </a:r>
            <a:r>
              <a:rPr lang="en-US" altLang="zh-TW" b="0" dirty="0" err="1">
                <a:solidFill>
                  <a:srgbClr val="795E26"/>
                </a:solidFill>
                <a:effectLst/>
                <a:latin typeface="Courier New" panose="02070309020205020404" pitchFamily="49" charset="0"/>
              </a:rPr>
              <a:t>len</a:t>
            </a:r>
            <a:r>
              <a:rPr lang="en-US" altLang="zh-TW" b="0" dirty="0">
                <a:solidFill>
                  <a:srgbClr val="000000"/>
                </a:solidFill>
                <a:effectLst/>
                <a:latin typeface="Courier New" panose="02070309020205020404" pitchFamily="49" charset="0"/>
              </a:rPr>
              <a:t>(</a:t>
            </a:r>
            <a:r>
              <a:rPr lang="en-US" altLang="zh-TW" b="0" dirty="0" err="1">
                <a:solidFill>
                  <a:srgbClr val="000000"/>
                </a:solidFill>
                <a:effectLst/>
                <a:latin typeface="Courier New" panose="02070309020205020404" pitchFamily="49" charset="0"/>
              </a:rPr>
              <a:t>y_test</a:t>
            </a:r>
            <a:r>
              <a:rPr lang="en-US" altLang="zh-TW" b="0" dirty="0">
                <a:solidFill>
                  <a:srgbClr val="000000"/>
                </a:solidFill>
                <a:effectLst/>
                <a:latin typeface="Courier New" panose="02070309020205020404" pitchFamily="49" charset="0"/>
              </a:rPr>
              <a:t>)))</a:t>
            </a:r>
          </a:p>
          <a:p>
            <a:br>
              <a:rPr lang="en-US" altLang="zh-TW" b="0" dirty="0">
                <a:solidFill>
                  <a:srgbClr val="000000"/>
                </a:solidFill>
                <a:effectLst/>
                <a:latin typeface="Courier New" panose="02070309020205020404" pitchFamily="49" charset="0"/>
              </a:rPr>
            </a:br>
            <a:r>
              <a:rPr lang="en-US" altLang="zh-TW" b="0" dirty="0">
                <a:solidFill>
                  <a:srgbClr val="008000"/>
                </a:solidFill>
                <a:effectLst/>
                <a:latin typeface="Courier New" panose="02070309020205020404" pitchFamily="49" charset="0"/>
              </a:rPr>
              <a:t># </a:t>
            </a:r>
            <a:r>
              <a:rPr lang="zh-TW" altLang="en-US" b="0" dirty="0">
                <a:solidFill>
                  <a:srgbClr val="008000"/>
                </a:solidFill>
                <a:effectLst/>
                <a:latin typeface="Courier New" panose="02070309020205020404" pitchFamily="49" charset="0"/>
              </a:rPr>
              <a:t>使用 </a:t>
            </a:r>
            <a:r>
              <a:rPr lang="en-US" altLang="zh-TW" b="0" dirty="0" err="1">
                <a:solidFill>
                  <a:srgbClr val="008000"/>
                </a:solidFill>
                <a:effectLst/>
                <a:latin typeface="Courier New" panose="02070309020205020404" pitchFamily="49" charset="0"/>
              </a:rPr>
              <a:t>sklearn</a:t>
            </a:r>
            <a:r>
              <a:rPr lang="en-US" altLang="zh-TW" b="0" dirty="0">
                <a:solidFill>
                  <a:srgbClr val="008000"/>
                </a:solidFill>
                <a:effectLst/>
                <a:latin typeface="Courier New" panose="02070309020205020404" pitchFamily="49" charset="0"/>
              </a:rPr>
              <a:t> </a:t>
            </a:r>
            <a:r>
              <a:rPr lang="zh-TW" altLang="en-US" b="0" dirty="0">
                <a:solidFill>
                  <a:srgbClr val="008000"/>
                </a:solidFill>
                <a:effectLst/>
                <a:latin typeface="Courier New" panose="02070309020205020404" pitchFamily="49" charset="0"/>
              </a:rPr>
              <a:t>的 </a:t>
            </a:r>
            <a:r>
              <a:rPr lang="en-US" altLang="zh-TW" b="0" dirty="0" err="1">
                <a:solidFill>
                  <a:srgbClr val="008000"/>
                </a:solidFill>
                <a:effectLst/>
                <a:latin typeface="Courier New" panose="02070309020205020404" pitchFamily="49" charset="0"/>
              </a:rPr>
              <a:t>accuracy_score</a:t>
            </a:r>
            <a:r>
              <a:rPr lang="en-US" altLang="zh-TW" b="0" dirty="0">
                <a:solidFill>
                  <a:srgbClr val="008000"/>
                </a:solidFill>
                <a:effectLst/>
                <a:latin typeface="Courier New" panose="02070309020205020404" pitchFamily="49" charset="0"/>
              </a:rPr>
              <a:t> </a:t>
            </a:r>
            <a:r>
              <a:rPr lang="zh-TW" altLang="en-US" b="0" dirty="0">
                <a:solidFill>
                  <a:srgbClr val="008000"/>
                </a:solidFill>
                <a:effectLst/>
                <a:latin typeface="Courier New" panose="02070309020205020404" pitchFamily="49" charset="0"/>
              </a:rPr>
              <a:t>函數計算準確率</a:t>
            </a:r>
            <a:endParaRPr lang="zh-TW" altLang="en-US" b="0" dirty="0">
              <a:solidFill>
                <a:srgbClr val="000000"/>
              </a:solidFill>
              <a:effectLst/>
              <a:latin typeface="Courier New" panose="02070309020205020404" pitchFamily="49" charset="0"/>
            </a:endParaRPr>
          </a:p>
          <a:p>
            <a:r>
              <a:rPr lang="en-US" altLang="zh-TW" b="0" dirty="0" err="1">
                <a:solidFill>
                  <a:srgbClr val="000000"/>
                </a:solidFill>
                <a:effectLst/>
                <a:latin typeface="Courier New" panose="02070309020205020404" pitchFamily="49" charset="0"/>
              </a:rPr>
              <a:t>sklearn_accuracy</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accuracy_score</a:t>
            </a:r>
            <a:r>
              <a:rPr lang="en-US" altLang="zh-TW" b="0" dirty="0">
                <a:solidFill>
                  <a:srgbClr val="000000"/>
                </a:solidFill>
                <a:effectLst/>
                <a:latin typeface="Courier New" panose="02070309020205020404" pitchFamily="49" charset="0"/>
              </a:rPr>
              <a:t>(</a:t>
            </a:r>
            <a:r>
              <a:rPr lang="en-US" altLang="zh-TW" b="0" dirty="0" err="1">
                <a:solidFill>
                  <a:srgbClr val="000000"/>
                </a:solidFill>
                <a:effectLst/>
                <a:latin typeface="Courier New" panose="02070309020205020404" pitchFamily="49" charset="0"/>
              </a:rPr>
              <a:t>y_test</a:t>
            </a:r>
            <a:r>
              <a:rPr lang="en-US" altLang="zh-TW" b="0" dirty="0">
                <a:solidFill>
                  <a:srgbClr val="000000"/>
                </a:solidFill>
                <a:effectLst/>
                <a:latin typeface="Courier New" panose="02070309020205020404" pitchFamily="49" charset="0"/>
              </a:rPr>
              <a:t>, </a:t>
            </a:r>
            <a:r>
              <a:rPr lang="en-US" altLang="zh-TW" b="0" dirty="0" err="1">
                <a:solidFill>
                  <a:srgbClr val="000000"/>
                </a:solidFill>
                <a:effectLst/>
                <a:latin typeface="Courier New" panose="02070309020205020404" pitchFamily="49" charset="0"/>
              </a:rPr>
              <a:t>y_pred</a:t>
            </a:r>
            <a:r>
              <a:rPr lang="en-US" altLang="zh-TW" b="0" dirty="0">
                <a:solidFill>
                  <a:srgbClr val="000000"/>
                </a:solidFill>
                <a:effectLst/>
                <a:latin typeface="Courier New" panose="02070309020205020404" pitchFamily="49" charset="0"/>
              </a:rPr>
              <a:t>)</a:t>
            </a:r>
          </a:p>
          <a:p>
            <a:r>
              <a:rPr lang="en-US" altLang="zh-TW" b="0" dirty="0">
                <a:solidFill>
                  <a:srgbClr val="795E26"/>
                </a:solidFill>
                <a:effectLst/>
                <a:latin typeface="Courier New" panose="02070309020205020404" pitchFamily="49" charset="0"/>
              </a:rPr>
              <a:t>print</a:t>
            </a:r>
            <a:r>
              <a:rPr lang="en-US" altLang="zh-TW" b="0" dirty="0">
                <a:solidFill>
                  <a:srgbClr val="000000"/>
                </a:solidFill>
                <a:effectLst/>
                <a:latin typeface="Courier New" panose="02070309020205020404" pitchFamily="49" charset="0"/>
              </a:rPr>
              <a:t>(</a:t>
            </a:r>
            <a:r>
              <a:rPr lang="en-US" altLang="zh-TW" b="0" dirty="0">
                <a:solidFill>
                  <a:srgbClr val="A31515"/>
                </a:solidFill>
                <a:effectLst/>
                <a:latin typeface="Courier New" panose="02070309020205020404" pitchFamily="49" charset="0"/>
              </a:rPr>
              <a:t>'</a:t>
            </a:r>
            <a:r>
              <a:rPr lang="en-US" altLang="zh-TW" b="0" dirty="0" err="1">
                <a:solidFill>
                  <a:srgbClr val="A31515"/>
                </a:solidFill>
                <a:effectLst/>
                <a:latin typeface="Courier New" panose="02070309020205020404" pitchFamily="49" charset="0"/>
              </a:rPr>
              <a:t>sklearn</a:t>
            </a:r>
            <a:r>
              <a:rPr lang="en-US" altLang="zh-TW" b="0" dirty="0">
                <a:solidFill>
                  <a:srgbClr val="A31515"/>
                </a:solidFill>
                <a:effectLst/>
                <a:latin typeface="Courier New" panose="02070309020205020404" pitchFamily="49" charset="0"/>
              </a:rPr>
              <a:t> </a:t>
            </a:r>
            <a:r>
              <a:rPr lang="zh-TW" altLang="en-US" b="0" dirty="0">
                <a:solidFill>
                  <a:srgbClr val="A31515"/>
                </a:solidFill>
                <a:effectLst/>
                <a:latin typeface="Courier New" panose="02070309020205020404" pitchFamily="49" charset="0"/>
              </a:rPr>
              <a:t>計算準確率</a:t>
            </a:r>
            <a:r>
              <a:rPr lang="en-US" altLang="zh-TW" b="0" dirty="0">
                <a:solidFill>
                  <a:srgbClr val="A31515"/>
                </a:solidFill>
                <a:effectLst/>
                <a:latin typeface="Courier New" panose="02070309020205020404" pitchFamily="49" charset="0"/>
              </a:rPr>
              <a:t>: %.3f'</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sklearn_accuracy</a:t>
            </a:r>
            <a:r>
              <a:rPr lang="en-US" altLang="zh-TW" b="0" dirty="0">
                <a:solidFill>
                  <a:srgbClr val="000000"/>
                </a:solidFill>
                <a:effectLst/>
                <a:latin typeface="Courier New" panose="02070309020205020404" pitchFamily="49" charset="0"/>
              </a:rPr>
              <a:t>)</a:t>
            </a:r>
          </a:p>
          <a:p>
            <a:r>
              <a:rPr lang="en-US" altLang="zh-TW" b="0" dirty="0">
                <a:solidFill>
                  <a:srgbClr val="008000"/>
                </a:solidFill>
                <a:effectLst/>
                <a:latin typeface="Courier New" panose="02070309020205020404" pitchFamily="49" charset="0"/>
              </a:rPr>
              <a:t># </a:t>
            </a:r>
            <a:r>
              <a:rPr lang="zh-TW" altLang="en-US" b="0" dirty="0">
                <a:solidFill>
                  <a:srgbClr val="008000"/>
                </a:solidFill>
                <a:effectLst/>
                <a:latin typeface="Courier New" panose="02070309020205020404" pitchFamily="49" charset="0"/>
              </a:rPr>
              <a:t>比較兩種方法的結果</a:t>
            </a:r>
            <a:endParaRPr lang="zh-TW" altLang="en-US" b="0" dirty="0">
              <a:solidFill>
                <a:srgbClr val="000000"/>
              </a:solidFill>
              <a:effectLst/>
              <a:latin typeface="Courier New" panose="02070309020205020404" pitchFamily="49" charset="0"/>
            </a:endParaRPr>
          </a:p>
          <a:p>
            <a:r>
              <a:rPr lang="en-US" altLang="zh-TW" b="0" dirty="0">
                <a:solidFill>
                  <a:srgbClr val="795E26"/>
                </a:solidFill>
                <a:effectLst/>
                <a:latin typeface="Courier New" panose="02070309020205020404" pitchFamily="49" charset="0"/>
              </a:rPr>
              <a:t>print</a:t>
            </a:r>
            <a:r>
              <a:rPr lang="en-US" altLang="zh-TW" b="0" dirty="0">
                <a:solidFill>
                  <a:srgbClr val="000000"/>
                </a:solidFill>
                <a:effectLst/>
                <a:latin typeface="Courier New" panose="02070309020205020404" pitchFamily="49" charset="0"/>
              </a:rPr>
              <a:t>(</a:t>
            </a:r>
            <a:r>
              <a:rPr lang="en-US" altLang="zh-TW" b="0" dirty="0">
                <a:solidFill>
                  <a:srgbClr val="A31515"/>
                </a:solidFill>
                <a:effectLst/>
                <a:latin typeface="Courier New" panose="02070309020205020404" pitchFamily="49" charset="0"/>
              </a:rPr>
              <a:t>'</a:t>
            </a:r>
            <a:r>
              <a:rPr lang="zh-TW" altLang="en-US" b="0" dirty="0">
                <a:solidFill>
                  <a:srgbClr val="A31515"/>
                </a:solidFill>
                <a:effectLst/>
                <a:latin typeface="Courier New" panose="02070309020205020404" pitchFamily="49" charset="0"/>
              </a:rPr>
              <a:t>兩種方法計算結果是否相同</a:t>
            </a:r>
            <a:r>
              <a:rPr lang="en-US" altLang="zh-TW" b="0" dirty="0">
                <a:solidFill>
                  <a:srgbClr val="A31515"/>
                </a:solidFill>
                <a:effectLst/>
                <a:latin typeface="Courier New" panose="02070309020205020404" pitchFamily="49" charset="0"/>
              </a:rPr>
              <a:t>:'</a:t>
            </a:r>
            <a:r>
              <a:rPr lang="en-US" altLang="zh-TW" b="0" dirty="0">
                <a:solidFill>
                  <a:srgbClr val="000000"/>
                </a:solidFill>
                <a:effectLst/>
                <a:latin typeface="Courier New" panose="02070309020205020404" pitchFamily="49" charset="0"/>
              </a:rPr>
              <a:t>, </a:t>
            </a:r>
            <a:r>
              <a:rPr lang="en-US" altLang="zh-TW" b="0" dirty="0" err="1">
                <a:solidFill>
                  <a:srgbClr val="000000"/>
                </a:solidFill>
                <a:effectLst/>
                <a:latin typeface="Courier New" panose="02070309020205020404" pitchFamily="49" charset="0"/>
              </a:rPr>
              <a:t>np.isclose</a:t>
            </a:r>
            <a:r>
              <a:rPr lang="en-US" altLang="zh-TW" b="0" dirty="0">
                <a:solidFill>
                  <a:srgbClr val="000000"/>
                </a:solidFill>
                <a:effectLst/>
                <a:latin typeface="Courier New" panose="02070309020205020404" pitchFamily="49" charset="0"/>
              </a:rPr>
              <a:t>(</a:t>
            </a:r>
          </a:p>
          <a:p>
            <a:r>
              <a:rPr lang="en-US" altLang="zh-TW" b="0" dirty="0">
                <a:solidFill>
                  <a:srgbClr val="000000"/>
                </a:solidFill>
                <a:effectLst/>
                <a:latin typeface="Courier New" panose="02070309020205020404" pitchFamily="49" charset="0"/>
              </a:rPr>
              <a:t>    ((</a:t>
            </a:r>
            <a:r>
              <a:rPr lang="en-US" altLang="zh-TW" b="0" dirty="0" err="1">
                <a:solidFill>
                  <a:srgbClr val="000000"/>
                </a:solidFill>
                <a:effectLst/>
                <a:latin typeface="Courier New" panose="02070309020205020404" pitchFamily="49" charset="0"/>
              </a:rPr>
              <a:t>y_test</a:t>
            </a:r>
            <a:r>
              <a:rPr lang="en-US" altLang="zh-TW" b="0" dirty="0">
                <a:solidFill>
                  <a:srgbClr val="000000"/>
                </a:solidFill>
                <a:effectLst/>
                <a:latin typeface="Courier New" panose="02070309020205020404" pitchFamily="49" charset="0"/>
              </a:rPr>
              <a:t> == </a:t>
            </a:r>
            <a:r>
              <a:rPr lang="en-US" altLang="zh-TW" b="0" dirty="0" err="1">
                <a:solidFill>
                  <a:srgbClr val="000000"/>
                </a:solidFill>
                <a:effectLst/>
                <a:latin typeface="Courier New" panose="02070309020205020404" pitchFamily="49" charset="0"/>
              </a:rPr>
              <a:t>y_pred</a:t>
            </a:r>
            <a:r>
              <a:rPr lang="en-US" altLang="zh-TW" b="0" dirty="0">
                <a:solidFill>
                  <a:srgbClr val="000000"/>
                </a:solidFill>
                <a:effectLst/>
                <a:latin typeface="Courier New" panose="02070309020205020404" pitchFamily="49" charset="0"/>
              </a:rPr>
              <a:t>).</a:t>
            </a:r>
            <a:r>
              <a:rPr lang="en-US" altLang="zh-TW" b="0" dirty="0">
                <a:solidFill>
                  <a:srgbClr val="795E26"/>
                </a:solidFill>
                <a:effectLst/>
                <a:latin typeface="Courier New" panose="02070309020205020404" pitchFamily="49" charset="0"/>
              </a:rPr>
              <a:t>sum</a:t>
            </a:r>
            <a:r>
              <a:rPr lang="en-US" altLang="zh-TW" b="0" dirty="0">
                <a:solidFill>
                  <a:srgbClr val="000000"/>
                </a:solidFill>
                <a:effectLst/>
                <a:latin typeface="Courier New" panose="02070309020205020404" pitchFamily="49" charset="0"/>
              </a:rPr>
              <a:t>() / </a:t>
            </a:r>
            <a:r>
              <a:rPr lang="en-US" altLang="zh-TW" b="0" dirty="0" err="1">
                <a:solidFill>
                  <a:srgbClr val="795E26"/>
                </a:solidFill>
                <a:effectLst/>
                <a:latin typeface="Courier New" panose="02070309020205020404" pitchFamily="49" charset="0"/>
              </a:rPr>
              <a:t>len</a:t>
            </a:r>
            <a:r>
              <a:rPr lang="en-US" altLang="zh-TW" b="0" dirty="0">
                <a:solidFill>
                  <a:srgbClr val="000000"/>
                </a:solidFill>
                <a:effectLst/>
                <a:latin typeface="Courier New" panose="02070309020205020404" pitchFamily="49" charset="0"/>
              </a:rPr>
              <a:t>(</a:t>
            </a:r>
            <a:r>
              <a:rPr lang="en-US" altLang="zh-TW" b="0" dirty="0" err="1">
                <a:solidFill>
                  <a:srgbClr val="000000"/>
                </a:solidFill>
                <a:effectLst/>
                <a:latin typeface="Courier New" panose="02070309020205020404" pitchFamily="49" charset="0"/>
              </a:rPr>
              <a:t>y_test</a:t>
            </a:r>
            <a:r>
              <a:rPr lang="en-US" altLang="zh-TW" b="0" dirty="0">
                <a:solidFill>
                  <a:srgbClr val="000000"/>
                </a:solidFill>
                <a:effectLst/>
                <a:latin typeface="Courier New" panose="02070309020205020404" pitchFamily="49" charset="0"/>
              </a:rPr>
              <a:t>)), </a:t>
            </a:r>
            <a:r>
              <a:rPr lang="en-US" altLang="zh-TW" b="0" dirty="0" err="1">
                <a:solidFill>
                  <a:srgbClr val="000000"/>
                </a:solidFill>
                <a:effectLst/>
                <a:latin typeface="Courier New" panose="02070309020205020404" pitchFamily="49" charset="0"/>
              </a:rPr>
              <a:t>sklearn_accuracy</a:t>
            </a:r>
            <a:r>
              <a:rPr lang="en-US" altLang="zh-TW" b="0" dirty="0">
                <a:solidFill>
                  <a:srgbClr val="000000"/>
                </a:solidFill>
                <a:effectLst/>
                <a:latin typeface="Courier New" panose="02070309020205020404" pitchFamily="49" charset="0"/>
              </a:rPr>
              <a:t>))</a:t>
            </a:r>
          </a:p>
        </p:txBody>
      </p:sp>
      <p:sp>
        <p:nvSpPr>
          <p:cNvPr id="7" name="文字方塊 6">
            <a:extLst>
              <a:ext uri="{FF2B5EF4-FFF2-40B4-BE49-F238E27FC236}">
                <a16:creationId xmlns:a16="http://schemas.microsoft.com/office/drawing/2014/main" id="{75F80D64-A92D-41AF-9976-84A2ECD9D456}"/>
              </a:ext>
            </a:extLst>
          </p:cNvPr>
          <p:cNvSpPr txBox="1"/>
          <p:nvPr/>
        </p:nvSpPr>
        <p:spPr>
          <a:xfrm>
            <a:off x="5486400" y="5635654"/>
            <a:ext cx="4210050" cy="1200329"/>
          </a:xfrm>
          <a:prstGeom prst="rect">
            <a:avLst/>
          </a:prstGeom>
          <a:noFill/>
          <a:ln>
            <a:solidFill>
              <a:schemeClr val="tx1"/>
            </a:solidFill>
          </a:ln>
        </p:spPr>
        <p:txBody>
          <a:bodyPr wrap="square">
            <a:spAutoFit/>
          </a:bodyPr>
          <a:lstStyle/>
          <a:p>
            <a:r>
              <a:rPr lang="en-US" altLang="zh-TW" b="0" i="0" dirty="0">
                <a:solidFill>
                  <a:srgbClr val="212121"/>
                </a:solidFill>
                <a:effectLst/>
                <a:latin typeface="Courier New" panose="02070309020205020404" pitchFamily="49" charset="0"/>
              </a:rPr>
              <a:t>Misclassified examples: 0 </a:t>
            </a:r>
          </a:p>
          <a:p>
            <a:r>
              <a:rPr lang="zh-TW" altLang="en-US" b="0" i="0" dirty="0">
                <a:solidFill>
                  <a:srgbClr val="212121"/>
                </a:solidFill>
                <a:effectLst/>
                <a:latin typeface="Courier New" panose="02070309020205020404" pitchFamily="49" charset="0"/>
              </a:rPr>
              <a:t>自定義計算準確率</a:t>
            </a:r>
            <a:r>
              <a:rPr lang="en-US" altLang="zh-TW" b="0" i="0" dirty="0">
                <a:solidFill>
                  <a:srgbClr val="212121"/>
                </a:solidFill>
                <a:effectLst/>
                <a:latin typeface="Courier New" panose="02070309020205020404" pitchFamily="49" charset="0"/>
              </a:rPr>
              <a:t>: 1.000 </a:t>
            </a:r>
          </a:p>
          <a:p>
            <a:r>
              <a:rPr lang="en-US" altLang="zh-TW" b="0" i="0" dirty="0" err="1">
                <a:solidFill>
                  <a:srgbClr val="212121"/>
                </a:solidFill>
                <a:effectLst/>
                <a:latin typeface="Courier New" panose="02070309020205020404" pitchFamily="49" charset="0"/>
              </a:rPr>
              <a:t>sklearn</a:t>
            </a:r>
            <a:r>
              <a:rPr lang="en-US" altLang="zh-TW" b="0" i="0" dirty="0">
                <a:solidFill>
                  <a:srgbClr val="212121"/>
                </a:solidFill>
                <a:effectLst/>
                <a:latin typeface="Courier New" panose="02070309020205020404" pitchFamily="49" charset="0"/>
              </a:rPr>
              <a:t> </a:t>
            </a:r>
            <a:r>
              <a:rPr lang="zh-TW" altLang="en-US" b="0" i="0" dirty="0">
                <a:solidFill>
                  <a:srgbClr val="212121"/>
                </a:solidFill>
                <a:effectLst/>
                <a:latin typeface="Courier New" panose="02070309020205020404" pitchFamily="49" charset="0"/>
              </a:rPr>
              <a:t>計算準確率</a:t>
            </a:r>
            <a:r>
              <a:rPr lang="en-US" altLang="zh-TW" b="0" i="0" dirty="0">
                <a:solidFill>
                  <a:srgbClr val="212121"/>
                </a:solidFill>
                <a:effectLst/>
                <a:latin typeface="Courier New" panose="02070309020205020404" pitchFamily="49" charset="0"/>
              </a:rPr>
              <a:t>: 1.000 </a:t>
            </a:r>
          </a:p>
          <a:p>
            <a:r>
              <a:rPr lang="zh-TW" altLang="en-US" b="0" i="0" dirty="0">
                <a:solidFill>
                  <a:srgbClr val="212121"/>
                </a:solidFill>
                <a:effectLst/>
                <a:latin typeface="Courier New" panose="02070309020205020404" pitchFamily="49" charset="0"/>
              </a:rPr>
              <a:t>兩種方法計算結果是否相同</a:t>
            </a:r>
            <a:r>
              <a:rPr lang="en-US" altLang="zh-TW" b="0" i="0" dirty="0">
                <a:solidFill>
                  <a:srgbClr val="212121"/>
                </a:solidFill>
                <a:effectLst/>
                <a:latin typeface="Courier New" panose="02070309020205020404" pitchFamily="49" charset="0"/>
              </a:rPr>
              <a:t>: True</a:t>
            </a:r>
            <a:endParaRPr lang="zh-TW" altLang="en-US" dirty="0"/>
          </a:p>
        </p:txBody>
      </p:sp>
    </p:spTree>
    <p:extLst>
      <p:ext uri="{BB962C8B-B14F-4D97-AF65-F5344CB8AC3E}">
        <p14:creationId xmlns:p14="http://schemas.microsoft.com/office/powerpoint/2010/main" val="39836273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B5C168-AB20-884B-B674-B78401D7F760}"/>
              </a:ext>
            </a:extLst>
          </p:cNvPr>
          <p:cNvSpPr>
            <a:spLocks noGrp="1"/>
          </p:cNvSpPr>
          <p:nvPr>
            <p:ph type="title"/>
          </p:nvPr>
        </p:nvSpPr>
        <p:spPr/>
        <p:txBody>
          <a:bodyPr>
            <a:normAutofit/>
          </a:bodyPr>
          <a:lstStyle/>
          <a:p>
            <a:r>
              <a:rPr lang="zh-TW" altLang="en-US" dirty="0"/>
              <a:t>分類問題</a:t>
            </a:r>
            <a:r>
              <a:rPr lang="en-US" altLang="zh-TW" dirty="0"/>
              <a:t>-</a:t>
            </a:r>
            <a:r>
              <a:rPr lang="zh-TW" altLang="en-US" dirty="0"/>
              <a:t>混洧矩陣</a:t>
            </a:r>
            <a:endParaRPr kumimoji="1" lang="zh-TW" altLang="en-US" dirty="0"/>
          </a:p>
        </p:txBody>
      </p:sp>
      <p:sp>
        <p:nvSpPr>
          <p:cNvPr id="3" name="內容版面配置區 2">
            <a:extLst>
              <a:ext uri="{FF2B5EF4-FFF2-40B4-BE49-F238E27FC236}">
                <a16:creationId xmlns:a16="http://schemas.microsoft.com/office/drawing/2014/main" id="{7B2E02C2-60EE-4244-9613-55332EC1F8C8}"/>
              </a:ext>
            </a:extLst>
          </p:cNvPr>
          <p:cNvSpPr>
            <a:spLocks noGrp="1"/>
          </p:cNvSpPr>
          <p:nvPr>
            <p:ph idx="1"/>
          </p:nvPr>
        </p:nvSpPr>
        <p:spPr/>
        <p:txBody>
          <a:bodyPr/>
          <a:lstStyle/>
          <a:p>
            <a:pPr fontAlgn="base"/>
            <a:r>
              <a:rPr lang="zh-TW" altLang="en-US" dirty="0"/>
              <a:t>在機器學習中，最常見的就是分類模型，像是垃圾郵件分類、手寫數字判定等等</a:t>
            </a:r>
          </a:p>
          <a:p>
            <a:pPr fontAlgn="base"/>
            <a:r>
              <a:rPr lang="zh-TW" altLang="en-US" dirty="0"/>
              <a:t>如何判定一個分類模型表現的「到底好不好」？</a:t>
            </a:r>
            <a:endParaRPr lang="en-US" altLang="zh-TW" dirty="0"/>
          </a:p>
          <a:p>
            <a:pPr fontAlgn="base"/>
            <a:r>
              <a:rPr lang="zh-TW" altLang="en-US" dirty="0"/>
              <a:t>混淆矩陣</a:t>
            </a:r>
            <a:r>
              <a:rPr lang="en-US" altLang="zh-TW" dirty="0"/>
              <a:t>(</a:t>
            </a:r>
            <a:r>
              <a:rPr lang="en" altLang="zh-TW" dirty="0"/>
              <a:t>confusion matrix)</a:t>
            </a:r>
            <a:r>
              <a:rPr lang="zh-TW" altLang="en-US" dirty="0"/>
              <a:t>的各項指標會被拿來參考</a:t>
            </a:r>
          </a:p>
          <a:p>
            <a:endParaRPr kumimoji="1" lang="zh-TW" altLang="en-US" dirty="0"/>
          </a:p>
        </p:txBody>
      </p:sp>
      <p:graphicFrame>
        <p:nvGraphicFramePr>
          <p:cNvPr id="6" name="表格 6">
            <a:extLst>
              <a:ext uri="{FF2B5EF4-FFF2-40B4-BE49-F238E27FC236}">
                <a16:creationId xmlns:a16="http://schemas.microsoft.com/office/drawing/2014/main" id="{A7BBB78E-79C7-9541-941C-16F637B5E184}"/>
              </a:ext>
            </a:extLst>
          </p:cNvPr>
          <p:cNvGraphicFramePr>
            <a:graphicFrameLocks noGrp="1"/>
          </p:cNvGraphicFramePr>
          <p:nvPr/>
        </p:nvGraphicFramePr>
        <p:xfrm>
          <a:off x="1777357" y="4151978"/>
          <a:ext cx="8127999" cy="1836000"/>
        </p:xfrm>
        <a:graphic>
          <a:graphicData uri="http://schemas.openxmlformats.org/drawingml/2006/table">
            <a:tbl>
              <a:tblPr firstRow="1" bandRow="1">
                <a:tableStyleId>{74C1A8A3-306A-4EB7-A6B1-4F7E0EB9C5D6}</a:tableStyleId>
              </a:tblPr>
              <a:tblGrid>
                <a:gridCol w="2709333">
                  <a:extLst>
                    <a:ext uri="{9D8B030D-6E8A-4147-A177-3AD203B41FA5}">
                      <a16:colId xmlns:a16="http://schemas.microsoft.com/office/drawing/2014/main" val="2710440085"/>
                    </a:ext>
                  </a:extLst>
                </a:gridCol>
                <a:gridCol w="2709333">
                  <a:extLst>
                    <a:ext uri="{9D8B030D-6E8A-4147-A177-3AD203B41FA5}">
                      <a16:colId xmlns:a16="http://schemas.microsoft.com/office/drawing/2014/main" val="4143559584"/>
                    </a:ext>
                  </a:extLst>
                </a:gridCol>
                <a:gridCol w="2709333">
                  <a:extLst>
                    <a:ext uri="{9D8B030D-6E8A-4147-A177-3AD203B41FA5}">
                      <a16:colId xmlns:a16="http://schemas.microsoft.com/office/drawing/2014/main" val="1804081493"/>
                    </a:ext>
                  </a:extLst>
                </a:gridCol>
              </a:tblGrid>
              <a:tr h="612000">
                <a:tc>
                  <a:txBody>
                    <a:bodyPr/>
                    <a:lstStyle/>
                    <a:p>
                      <a:pPr algn="ctr" rtl="0" fontAlgn="ctr">
                        <a:spcBef>
                          <a:spcPts val="0"/>
                        </a:spcBef>
                        <a:spcAft>
                          <a:spcPts val="0"/>
                        </a:spcAft>
                      </a:pPr>
                      <a:r>
                        <a:rPr lang="en-US" altLang="zh-TW" sz="1800" b="0" u="none" strike="noStrike" dirty="0">
                          <a:solidFill>
                            <a:srgbClr val="000000"/>
                          </a:solidFill>
                          <a:effectLst/>
                        </a:rPr>
                        <a:t>\</a:t>
                      </a:r>
                      <a:endParaRPr lang="zh-TW" altLang="en-US" dirty="0">
                        <a:effectLst/>
                      </a:endParaRPr>
                    </a:p>
                  </a:txBody>
                  <a:tcPr marL="57150" marR="57150" marT="57150" marB="57150" anchor="ctr"/>
                </a:tc>
                <a:tc>
                  <a:txBody>
                    <a:bodyPr/>
                    <a:lstStyle/>
                    <a:p>
                      <a:pPr algn="ctr" rtl="0" fontAlgn="ctr">
                        <a:spcBef>
                          <a:spcPts val="0"/>
                        </a:spcBef>
                        <a:spcAft>
                          <a:spcPts val="0"/>
                        </a:spcAft>
                      </a:pPr>
                      <a:r>
                        <a:rPr lang="zh-TW" altLang="en-US" sz="1800" b="0" u="none" strike="noStrike">
                          <a:solidFill>
                            <a:srgbClr val="000000"/>
                          </a:solidFill>
                          <a:effectLst/>
                        </a:rPr>
                        <a:t>實際為真</a:t>
                      </a:r>
                      <a:endParaRPr lang="zh-TW" altLang="en-US">
                        <a:effectLst/>
                      </a:endParaRPr>
                    </a:p>
                  </a:txBody>
                  <a:tcPr marL="57150" marR="57150" marT="57150" marB="57150" anchor="ctr"/>
                </a:tc>
                <a:tc>
                  <a:txBody>
                    <a:bodyPr/>
                    <a:lstStyle/>
                    <a:p>
                      <a:pPr algn="ctr" rtl="0" fontAlgn="ctr">
                        <a:spcBef>
                          <a:spcPts val="0"/>
                        </a:spcBef>
                        <a:spcAft>
                          <a:spcPts val="0"/>
                        </a:spcAft>
                      </a:pPr>
                      <a:r>
                        <a:rPr lang="zh-TW" altLang="en-US" sz="1800" b="0" u="none" strike="noStrike">
                          <a:solidFill>
                            <a:srgbClr val="000000"/>
                          </a:solidFill>
                          <a:effectLst/>
                        </a:rPr>
                        <a:t>實際為假</a:t>
                      </a:r>
                      <a:endParaRPr lang="zh-TW" altLang="en-US">
                        <a:effectLst/>
                      </a:endParaRPr>
                    </a:p>
                  </a:txBody>
                  <a:tcPr marL="57150" marR="57150" marT="57150" marB="57150" anchor="ctr"/>
                </a:tc>
                <a:extLst>
                  <a:ext uri="{0D108BD9-81ED-4DB2-BD59-A6C34878D82A}">
                    <a16:rowId xmlns:a16="http://schemas.microsoft.com/office/drawing/2014/main" val="1779241566"/>
                  </a:ext>
                </a:extLst>
              </a:tr>
              <a:tr h="612000">
                <a:tc>
                  <a:txBody>
                    <a:bodyPr/>
                    <a:lstStyle/>
                    <a:p>
                      <a:pPr rtl="0" fontAlgn="ctr">
                        <a:spcBef>
                          <a:spcPts val="0"/>
                        </a:spcBef>
                        <a:spcAft>
                          <a:spcPts val="0"/>
                        </a:spcAft>
                      </a:pPr>
                      <a:r>
                        <a:rPr lang="zh-TW" altLang="en-US" sz="1800" b="1" u="none" strike="noStrike">
                          <a:solidFill>
                            <a:srgbClr val="000000"/>
                          </a:solidFill>
                          <a:effectLst/>
                        </a:rPr>
                        <a:t>預測為真</a:t>
                      </a:r>
                      <a:endParaRPr lang="zh-TW" altLang="en-US">
                        <a:effectLst/>
                      </a:endParaRPr>
                    </a:p>
                  </a:txBody>
                  <a:tcPr marL="57150" marR="57150" marT="57150" marB="57150" anchor="ctr"/>
                </a:tc>
                <a:tc>
                  <a:txBody>
                    <a:bodyPr/>
                    <a:lstStyle/>
                    <a:p>
                      <a:pPr rtl="0" fontAlgn="ctr">
                        <a:spcBef>
                          <a:spcPts val="0"/>
                        </a:spcBef>
                        <a:spcAft>
                          <a:spcPts val="0"/>
                        </a:spcAft>
                      </a:pPr>
                      <a:r>
                        <a:rPr lang="en" sz="1800" b="0" u="none" strike="noStrike" dirty="0">
                          <a:solidFill>
                            <a:srgbClr val="000000"/>
                          </a:solidFill>
                          <a:effectLst/>
                        </a:rPr>
                        <a:t>TP(</a:t>
                      </a:r>
                      <a:r>
                        <a:rPr lang="en" sz="1800" b="1" u="none" strike="noStrike" dirty="0">
                          <a:solidFill>
                            <a:srgbClr val="000000"/>
                          </a:solidFill>
                          <a:effectLst/>
                        </a:rPr>
                        <a:t>T</a:t>
                      </a:r>
                      <a:r>
                        <a:rPr lang="en" sz="1800" b="0" u="none" strike="noStrike" dirty="0">
                          <a:solidFill>
                            <a:srgbClr val="000000"/>
                          </a:solidFill>
                          <a:effectLst/>
                        </a:rPr>
                        <a:t>rue </a:t>
                      </a:r>
                      <a:r>
                        <a:rPr lang="en" sz="1800" b="1" u="none" strike="noStrike" dirty="0">
                          <a:solidFill>
                            <a:srgbClr val="000000"/>
                          </a:solidFill>
                          <a:effectLst/>
                        </a:rPr>
                        <a:t>P</a:t>
                      </a:r>
                      <a:r>
                        <a:rPr lang="en" sz="1800" b="0" u="none" strike="noStrike" dirty="0">
                          <a:solidFill>
                            <a:srgbClr val="000000"/>
                          </a:solidFill>
                          <a:effectLst/>
                        </a:rPr>
                        <a:t>ositive)</a:t>
                      </a:r>
                      <a:endParaRPr lang="en" dirty="0">
                        <a:effectLst/>
                      </a:endParaRPr>
                    </a:p>
                  </a:txBody>
                  <a:tcPr marL="57150" marR="57150" marT="57150" marB="57150" anchor="ctr"/>
                </a:tc>
                <a:tc>
                  <a:txBody>
                    <a:bodyPr/>
                    <a:lstStyle/>
                    <a:p>
                      <a:pPr rtl="0" fontAlgn="ctr">
                        <a:spcBef>
                          <a:spcPts val="0"/>
                        </a:spcBef>
                        <a:spcAft>
                          <a:spcPts val="0"/>
                        </a:spcAft>
                      </a:pPr>
                      <a:r>
                        <a:rPr lang="en" sz="1800" b="0" u="none" strike="noStrike" dirty="0">
                          <a:solidFill>
                            <a:srgbClr val="000000"/>
                          </a:solidFill>
                          <a:effectLst/>
                        </a:rPr>
                        <a:t>FP(</a:t>
                      </a:r>
                      <a:r>
                        <a:rPr lang="en" sz="1800" b="1" u="none" strike="noStrike" dirty="0">
                          <a:solidFill>
                            <a:srgbClr val="000000"/>
                          </a:solidFill>
                          <a:effectLst/>
                        </a:rPr>
                        <a:t>F</a:t>
                      </a:r>
                      <a:r>
                        <a:rPr lang="en" sz="1800" b="0" u="none" strike="noStrike" dirty="0">
                          <a:solidFill>
                            <a:srgbClr val="000000"/>
                          </a:solidFill>
                          <a:effectLst/>
                        </a:rPr>
                        <a:t>alse </a:t>
                      </a:r>
                      <a:r>
                        <a:rPr lang="en" sz="1800" b="1" u="none" strike="noStrike" dirty="0">
                          <a:solidFill>
                            <a:srgbClr val="000000"/>
                          </a:solidFill>
                          <a:effectLst/>
                        </a:rPr>
                        <a:t>P</a:t>
                      </a:r>
                      <a:r>
                        <a:rPr lang="en" sz="1800" b="0" u="none" strike="noStrike" dirty="0">
                          <a:solidFill>
                            <a:srgbClr val="000000"/>
                          </a:solidFill>
                          <a:effectLst/>
                        </a:rPr>
                        <a:t>ositive)</a:t>
                      </a:r>
                      <a:endParaRPr lang="en" dirty="0">
                        <a:effectLst/>
                      </a:endParaRPr>
                    </a:p>
                  </a:txBody>
                  <a:tcPr marL="57150" marR="57150" marT="57150" marB="57150" anchor="ctr"/>
                </a:tc>
                <a:extLst>
                  <a:ext uri="{0D108BD9-81ED-4DB2-BD59-A6C34878D82A}">
                    <a16:rowId xmlns:a16="http://schemas.microsoft.com/office/drawing/2014/main" val="4216971675"/>
                  </a:ext>
                </a:extLst>
              </a:tr>
              <a:tr h="612000">
                <a:tc>
                  <a:txBody>
                    <a:bodyPr/>
                    <a:lstStyle/>
                    <a:p>
                      <a:pPr rtl="0" fontAlgn="ctr">
                        <a:spcBef>
                          <a:spcPts val="0"/>
                        </a:spcBef>
                        <a:spcAft>
                          <a:spcPts val="0"/>
                        </a:spcAft>
                      </a:pPr>
                      <a:r>
                        <a:rPr lang="zh-TW" altLang="en-US" sz="1800" b="1" u="none" strike="noStrike">
                          <a:solidFill>
                            <a:srgbClr val="000000"/>
                          </a:solidFill>
                          <a:effectLst/>
                        </a:rPr>
                        <a:t>預測為假</a:t>
                      </a:r>
                      <a:endParaRPr lang="zh-TW" altLang="en-US">
                        <a:effectLst/>
                      </a:endParaRPr>
                    </a:p>
                  </a:txBody>
                  <a:tcPr marL="57150" marR="57150" marT="57150" marB="57150" anchor="ctr"/>
                </a:tc>
                <a:tc>
                  <a:txBody>
                    <a:bodyPr/>
                    <a:lstStyle/>
                    <a:p>
                      <a:pPr rtl="0" fontAlgn="ctr">
                        <a:spcBef>
                          <a:spcPts val="0"/>
                        </a:spcBef>
                        <a:spcAft>
                          <a:spcPts val="0"/>
                        </a:spcAft>
                      </a:pPr>
                      <a:r>
                        <a:rPr lang="en" sz="1800" b="0" u="none" strike="noStrike" dirty="0">
                          <a:solidFill>
                            <a:srgbClr val="000000"/>
                          </a:solidFill>
                          <a:effectLst/>
                        </a:rPr>
                        <a:t>FN(</a:t>
                      </a:r>
                      <a:r>
                        <a:rPr lang="en" sz="1800" b="1" u="none" strike="noStrike" dirty="0">
                          <a:solidFill>
                            <a:srgbClr val="000000"/>
                          </a:solidFill>
                          <a:effectLst/>
                        </a:rPr>
                        <a:t>F</a:t>
                      </a:r>
                      <a:r>
                        <a:rPr lang="en" sz="1800" b="0" u="none" strike="noStrike" dirty="0">
                          <a:solidFill>
                            <a:srgbClr val="000000"/>
                          </a:solidFill>
                          <a:effectLst/>
                        </a:rPr>
                        <a:t>alse </a:t>
                      </a:r>
                      <a:r>
                        <a:rPr lang="en" sz="1800" b="1" u="none" strike="noStrike" dirty="0">
                          <a:solidFill>
                            <a:srgbClr val="000000"/>
                          </a:solidFill>
                          <a:effectLst/>
                        </a:rPr>
                        <a:t>N</a:t>
                      </a:r>
                      <a:r>
                        <a:rPr lang="en" sz="1800" b="0" u="none" strike="noStrike" dirty="0">
                          <a:solidFill>
                            <a:srgbClr val="000000"/>
                          </a:solidFill>
                          <a:effectLst/>
                        </a:rPr>
                        <a:t>egative)</a:t>
                      </a:r>
                      <a:endParaRPr lang="en" dirty="0">
                        <a:effectLst/>
                      </a:endParaRPr>
                    </a:p>
                  </a:txBody>
                  <a:tcPr marL="57150" marR="57150" marT="57150" marB="57150" anchor="ctr"/>
                </a:tc>
                <a:tc>
                  <a:txBody>
                    <a:bodyPr/>
                    <a:lstStyle/>
                    <a:p>
                      <a:pPr rtl="0" fontAlgn="ctr">
                        <a:spcBef>
                          <a:spcPts val="0"/>
                        </a:spcBef>
                        <a:spcAft>
                          <a:spcPts val="0"/>
                        </a:spcAft>
                      </a:pPr>
                      <a:r>
                        <a:rPr lang="en" sz="1800" b="0" u="none" strike="noStrike" dirty="0">
                          <a:solidFill>
                            <a:srgbClr val="000000"/>
                          </a:solidFill>
                          <a:effectLst/>
                        </a:rPr>
                        <a:t>TN(</a:t>
                      </a:r>
                      <a:r>
                        <a:rPr lang="en" sz="1800" b="1" u="none" strike="noStrike" dirty="0">
                          <a:solidFill>
                            <a:srgbClr val="000000"/>
                          </a:solidFill>
                          <a:effectLst/>
                        </a:rPr>
                        <a:t>T</a:t>
                      </a:r>
                      <a:r>
                        <a:rPr lang="en" sz="1800" b="0" u="none" strike="noStrike" dirty="0">
                          <a:solidFill>
                            <a:srgbClr val="000000"/>
                          </a:solidFill>
                          <a:effectLst/>
                        </a:rPr>
                        <a:t>rue </a:t>
                      </a:r>
                      <a:r>
                        <a:rPr lang="en" sz="1800" b="1" u="none" strike="noStrike" dirty="0">
                          <a:solidFill>
                            <a:srgbClr val="000000"/>
                          </a:solidFill>
                          <a:effectLst/>
                        </a:rPr>
                        <a:t>N</a:t>
                      </a:r>
                      <a:r>
                        <a:rPr lang="en" sz="1800" b="0" u="none" strike="noStrike" dirty="0">
                          <a:solidFill>
                            <a:srgbClr val="000000"/>
                          </a:solidFill>
                          <a:effectLst/>
                        </a:rPr>
                        <a:t>egative)</a:t>
                      </a:r>
                      <a:endParaRPr lang="en" dirty="0">
                        <a:effectLst/>
                      </a:endParaRPr>
                    </a:p>
                  </a:txBody>
                  <a:tcPr marL="57150" marR="57150" marT="57150" marB="57150" anchor="ctr"/>
                </a:tc>
                <a:extLst>
                  <a:ext uri="{0D108BD9-81ED-4DB2-BD59-A6C34878D82A}">
                    <a16:rowId xmlns:a16="http://schemas.microsoft.com/office/drawing/2014/main" val="3365752279"/>
                  </a:ext>
                </a:extLst>
              </a:tr>
            </a:tbl>
          </a:graphicData>
        </a:graphic>
      </p:graphicFrame>
    </p:spTree>
    <p:extLst>
      <p:ext uri="{BB962C8B-B14F-4D97-AF65-F5344CB8AC3E}">
        <p14:creationId xmlns:p14="http://schemas.microsoft.com/office/powerpoint/2010/main" val="3661611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F569E7-D45D-1741-8563-C4ABDC6809AF}"/>
              </a:ext>
            </a:extLst>
          </p:cNvPr>
          <p:cNvSpPr>
            <a:spLocks noGrp="1"/>
          </p:cNvSpPr>
          <p:nvPr>
            <p:ph type="title"/>
          </p:nvPr>
        </p:nvSpPr>
        <p:spPr/>
        <p:txBody>
          <a:bodyPr>
            <a:normAutofit/>
          </a:bodyPr>
          <a:lstStyle/>
          <a:p>
            <a:r>
              <a:rPr lang="zh-TW" altLang="en-US" dirty="0"/>
              <a:t>分類問題</a:t>
            </a:r>
            <a:r>
              <a:rPr lang="en-US" altLang="zh-TW" dirty="0"/>
              <a:t>-</a:t>
            </a:r>
            <a:r>
              <a:rPr lang="zh-TW" altLang="en-US" dirty="0"/>
              <a:t>混洧矩陣</a:t>
            </a:r>
            <a:endParaRPr kumimoji="1" lang="zh-TW" altLang="en-US" dirty="0"/>
          </a:p>
        </p:txBody>
      </p:sp>
      <p:sp>
        <p:nvSpPr>
          <p:cNvPr id="3" name="內容版面配置區 2">
            <a:extLst>
              <a:ext uri="{FF2B5EF4-FFF2-40B4-BE49-F238E27FC236}">
                <a16:creationId xmlns:a16="http://schemas.microsoft.com/office/drawing/2014/main" id="{920CD1E1-948D-6842-AFD3-C91C6CC0A003}"/>
              </a:ext>
            </a:extLst>
          </p:cNvPr>
          <p:cNvSpPr>
            <a:spLocks noGrp="1"/>
          </p:cNvSpPr>
          <p:nvPr>
            <p:ph idx="1"/>
          </p:nvPr>
        </p:nvSpPr>
        <p:spPr/>
        <p:txBody>
          <a:bodyPr>
            <a:normAutofit/>
          </a:bodyPr>
          <a:lstStyle/>
          <a:p>
            <a:pPr fontAlgn="base"/>
            <a:r>
              <a:rPr lang="en" altLang="zh-TW" dirty="0"/>
              <a:t>TP(True Positive): </a:t>
            </a:r>
            <a:r>
              <a:rPr lang="zh-TW" altLang="en-US" dirty="0"/>
              <a:t>正確預測成功的正樣本，例如在一個預測是不是貓的圖像分類器，成功的把一張貓的照片標示成貓，即為</a:t>
            </a:r>
            <a:r>
              <a:rPr lang="en" altLang="zh-TW" dirty="0"/>
              <a:t>TP</a:t>
            </a:r>
          </a:p>
          <a:p>
            <a:pPr fontAlgn="base"/>
            <a:r>
              <a:rPr lang="en" altLang="zh-TW" dirty="0"/>
              <a:t>TN(True Negative): </a:t>
            </a:r>
            <a:r>
              <a:rPr lang="zh-TW" altLang="en-US" dirty="0"/>
              <a:t>正確預測成功的負樣本，以上述例子，成功的把一張狗的照片標示成不是貓，即為</a:t>
            </a:r>
            <a:r>
              <a:rPr lang="en" altLang="zh-TW" dirty="0"/>
              <a:t>TN</a:t>
            </a:r>
          </a:p>
          <a:p>
            <a:pPr fontAlgn="base"/>
            <a:r>
              <a:rPr lang="en" altLang="zh-TW" dirty="0"/>
              <a:t>FP(False Positive): </a:t>
            </a:r>
            <a:r>
              <a:rPr lang="zh-TW" altLang="en-US" dirty="0"/>
              <a:t>錯誤預測成正樣本，實際上為負樣本，例如：錯誤的把一張狗的照片標示成貓</a:t>
            </a:r>
          </a:p>
          <a:p>
            <a:pPr fontAlgn="base"/>
            <a:r>
              <a:rPr lang="en" altLang="zh-TW" dirty="0"/>
              <a:t>FN(False Negative): </a:t>
            </a:r>
            <a:r>
              <a:rPr lang="zh-TW" altLang="en-US" dirty="0"/>
              <a:t>錯誤預測成負樣本</a:t>
            </a:r>
            <a:r>
              <a:rPr lang="en-US" altLang="zh-TW" dirty="0"/>
              <a:t>(</a:t>
            </a:r>
            <a:r>
              <a:rPr lang="zh-TW" altLang="en-US" dirty="0"/>
              <a:t>或者說沒能預測出來的正樣本</a:t>
            </a:r>
            <a:r>
              <a:rPr lang="en-US" altLang="zh-TW" dirty="0"/>
              <a:t>)</a:t>
            </a:r>
            <a:r>
              <a:rPr lang="zh-TW" altLang="en-US" dirty="0"/>
              <a:t>，例如：錯誤的把一張貓的照片標示成不是貓</a:t>
            </a:r>
          </a:p>
        </p:txBody>
      </p:sp>
    </p:spTree>
    <p:extLst>
      <p:ext uri="{BB962C8B-B14F-4D97-AF65-F5344CB8AC3E}">
        <p14:creationId xmlns:p14="http://schemas.microsoft.com/office/powerpoint/2010/main" val="26571648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8712D2-D35A-4342-9CDC-9E47A2C13734}"/>
              </a:ext>
            </a:extLst>
          </p:cNvPr>
          <p:cNvSpPr>
            <a:spLocks noGrp="1"/>
          </p:cNvSpPr>
          <p:nvPr>
            <p:ph type="title"/>
          </p:nvPr>
        </p:nvSpPr>
        <p:spPr/>
        <p:txBody>
          <a:bodyPr>
            <a:normAutofit/>
          </a:bodyPr>
          <a:lstStyle/>
          <a:p>
            <a:r>
              <a:rPr lang="zh-TW" altLang="en-US" dirty="0"/>
              <a:t> 模型好壞的呈現方式</a:t>
            </a:r>
            <a:endParaRPr kumimoji="1" lang="zh-TW" altLang="en-US" dirty="0"/>
          </a:p>
        </p:txBody>
      </p:sp>
      <p:sp>
        <p:nvSpPr>
          <p:cNvPr id="3" name="內容版面配置區 2">
            <a:extLst>
              <a:ext uri="{FF2B5EF4-FFF2-40B4-BE49-F238E27FC236}">
                <a16:creationId xmlns:a16="http://schemas.microsoft.com/office/drawing/2014/main" id="{64A2F2E6-6CE2-CA4C-9C7A-16460FDE46D3}"/>
              </a:ext>
            </a:extLst>
          </p:cNvPr>
          <p:cNvSpPr>
            <a:spLocks noGrp="1"/>
          </p:cNvSpPr>
          <p:nvPr>
            <p:ph idx="1"/>
          </p:nvPr>
        </p:nvSpPr>
        <p:spPr/>
        <p:txBody>
          <a:bodyPr/>
          <a:lstStyle/>
          <a:p>
            <a:r>
              <a:rPr lang="zh-TW" altLang="en-US" dirty="0"/>
              <a:t>不要只計算正確度</a:t>
            </a:r>
            <a:r>
              <a:rPr lang="en-US" altLang="zh-TW" dirty="0"/>
              <a:t>(</a:t>
            </a:r>
            <a:r>
              <a:rPr lang="en" altLang="zh-TW" dirty="0"/>
              <a:t>accuracy)</a:t>
            </a:r>
          </a:p>
        </p:txBody>
      </p:sp>
      <p:pic>
        <p:nvPicPr>
          <p:cNvPr id="3074" name="Picture 2">
            <a:extLst>
              <a:ext uri="{FF2B5EF4-FFF2-40B4-BE49-F238E27FC236}">
                <a16:creationId xmlns:a16="http://schemas.microsoft.com/office/drawing/2014/main" id="{14D47449-CBB7-1B4F-85F4-C66E2EE94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3913" y="2283144"/>
            <a:ext cx="7978815" cy="4460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913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1C750-E2F7-A54F-8CDC-E3500B54275A}"/>
              </a:ext>
            </a:extLst>
          </p:cNvPr>
          <p:cNvSpPr>
            <a:spLocks noGrp="1"/>
          </p:cNvSpPr>
          <p:nvPr>
            <p:ph type="title"/>
          </p:nvPr>
        </p:nvSpPr>
        <p:spPr/>
        <p:txBody>
          <a:bodyPr>
            <a:normAutofit/>
          </a:bodyPr>
          <a:lstStyle/>
          <a:p>
            <a:r>
              <a:rPr lang="zh-TW" altLang="en-US" dirty="0"/>
              <a:t> 模型好壞的呈現方式</a:t>
            </a:r>
            <a:endParaRPr kumimoji="1" lang="zh-TW" altLang="en-US" dirty="0"/>
          </a:p>
        </p:txBody>
      </p:sp>
      <p:sp>
        <p:nvSpPr>
          <p:cNvPr id="3" name="內容版面配置區 2">
            <a:extLst>
              <a:ext uri="{FF2B5EF4-FFF2-40B4-BE49-F238E27FC236}">
                <a16:creationId xmlns:a16="http://schemas.microsoft.com/office/drawing/2014/main" id="{523BF5EF-F3E8-6243-B95C-E420BE6D1EF9}"/>
              </a:ext>
            </a:extLst>
          </p:cNvPr>
          <p:cNvSpPr>
            <a:spLocks noGrp="1"/>
          </p:cNvSpPr>
          <p:nvPr>
            <p:ph idx="1"/>
          </p:nvPr>
        </p:nvSpPr>
        <p:spPr/>
        <p:txBody>
          <a:bodyPr/>
          <a:lstStyle/>
          <a:p>
            <a:pPr fontAlgn="base"/>
            <a:r>
              <a:rPr lang="en" altLang="zh-TW" dirty="0"/>
              <a:t>Precision(</a:t>
            </a:r>
            <a:r>
              <a:rPr lang="zh-TW" altLang="en-US" dirty="0"/>
              <a:t>精度）：著重於「陽性預測」的準確性</a:t>
            </a:r>
          </a:p>
          <a:p>
            <a:pPr fontAlgn="base"/>
            <a:r>
              <a:rPr lang="en" altLang="zh-TW" dirty="0"/>
              <a:t>Recall(</a:t>
            </a:r>
            <a:r>
              <a:rPr lang="zh-TW" altLang="en-US" dirty="0"/>
              <a:t>或叫</a:t>
            </a:r>
            <a:r>
              <a:rPr lang="en" altLang="zh-TW" dirty="0"/>
              <a:t>sensitivity)</a:t>
            </a:r>
            <a:r>
              <a:rPr lang="zh-TW" altLang="en" dirty="0"/>
              <a:t>：</a:t>
            </a:r>
            <a:r>
              <a:rPr lang="zh-TW" altLang="en-US" dirty="0"/>
              <a:t>正確認出「真陽性」的比例</a:t>
            </a:r>
          </a:p>
          <a:p>
            <a:pPr fontAlgn="base"/>
            <a:r>
              <a:rPr lang="en" altLang="zh-TW" dirty="0"/>
              <a:t>F</a:t>
            </a:r>
            <a:r>
              <a:rPr lang="en" altLang="zh-TW" baseline="-25000" dirty="0"/>
              <a:t>1</a:t>
            </a:r>
            <a:r>
              <a:rPr lang="zh-TW" altLang="en-US" dirty="0"/>
              <a:t>分數：</a:t>
            </a:r>
            <a:r>
              <a:rPr lang="en" altLang="zh-TW" dirty="0"/>
              <a:t>precision</a:t>
            </a:r>
            <a:r>
              <a:rPr lang="zh-TW" altLang="en-US" dirty="0"/>
              <a:t>跟</a:t>
            </a:r>
            <a:r>
              <a:rPr lang="en" altLang="zh-TW" dirty="0"/>
              <a:t>recall</a:t>
            </a:r>
            <a:r>
              <a:rPr lang="zh-TW" altLang="en-US" dirty="0"/>
              <a:t>的調合平均數</a:t>
            </a:r>
          </a:p>
          <a:p>
            <a:pPr lvl="1" fontAlgn="base"/>
            <a:r>
              <a:rPr lang="zh-TW" altLang="en-US" dirty="0"/>
              <a:t>因為高</a:t>
            </a:r>
            <a:r>
              <a:rPr lang="en" altLang="zh-TW" dirty="0"/>
              <a:t>precision</a:t>
            </a:r>
            <a:r>
              <a:rPr lang="zh-TW" altLang="en-US" dirty="0"/>
              <a:t>可能導致低</a:t>
            </a:r>
            <a:r>
              <a:rPr lang="en" altLang="zh-TW" dirty="0"/>
              <a:t>recall</a:t>
            </a:r>
            <a:r>
              <a:rPr lang="zh-TW" altLang="en" dirty="0"/>
              <a:t>，</a:t>
            </a:r>
            <a:r>
              <a:rPr lang="zh-TW" altLang="en-US" dirty="0"/>
              <a:t>反之亦然</a:t>
            </a:r>
          </a:p>
          <a:p>
            <a:pPr lvl="1" fontAlgn="base"/>
            <a:r>
              <a:rPr lang="zh-TW" altLang="en-US" dirty="0"/>
              <a:t>必須兩個都高才有意義</a:t>
            </a:r>
          </a:p>
          <a:p>
            <a:endParaRPr kumimoji="1" lang="zh-TW" altLang="en-US" dirty="0"/>
          </a:p>
        </p:txBody>
      </p:sp>
      <p:pic>
        <p:nvPicPr>
          <p:cNvPr id="4100" name="Picture 4">
            <a:extLst>
              <a:ext uri="{FF2B5EF4-FFF2-40B4-BE49-F238E27FC236}">
                <a16:creationId xmlns:a16="http://schemas.microsoft.com/office/drawing/2014/main" id="{02C20730-33A7-434C-B1D2-70E73E5C8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353" y="4250803"/>
            <a:ext cx="10787123" cy="1785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0005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5D556C-0235-4DE3-A72E-332A3A1CB053}"/>
              </a:ext>
            </a:extLst>
          </p:cNvPr>
          <p:cNvSpPr>
            <a:spLocks noGrp="1"/>
          </p:cNvSpPr>
          <p:nvPr>
            <p:ph type="title"/>
          </p:nvPr>
        </p:nvSpPr>
        <p:spPr/>
        <p:txBody>
          <a:bodyPr/>
          <a:lstStyle/>
          <a:p>
            <a:r>
              <a:rPr lang="zh-TW" altLang="en-US" dirty="0"/>
              <a:t>回到剛剛的例子</a:t>
            </a:r>
          </a:p>
        </p:txBody>
      </p:sp>
      <p:sp>
        <p:nvSpPr>
          <p:cNvPr id="5" name="文字方塊 4">
            <a:extLst>
              <a:ext uri="{FF2B5EF4-FFF2-40B4-BE49-F238E27FC236}">
                <a16:creationId xmlns:a16="http://schemas.microsoft.com/office/drawing/2014/main" id="{30BCB13C-B49C-422C-88AB-D0EA3F1E5FCE}"/>
              </a:ext>
            </a:extLst>
          </p:cNvPr>
          <p:cNvSpPr txBox="1"/>
          <p:nvPr/>
        </p:nvSpPr>
        <p:spPr>
          <a:xfrm>
            <a:off x="774700" y="1495842"/>
            <a:ext cx="9264650" cy="3046988"/>
          </a:xfrm>
          <a:prstGeom prst="rect">
            <a:avLst/>
          </a:prstGeom>
          <a:noFill/>
          <a:ln>
            <a:solidFill>
              <a:schemeClr val="tx1"/>
            </a:solidFill>
          </a:ln>
        </p:spPr>
        <p:txBody>
          <a:bodyPr wrap="square">
            <a:spAutoFit/>
          </a:bodyPr>
          <a:lstStyle/>
          <a:p>
            <a:r>
              <a:rPr lang="en-US" altLang="zh-TW" sz="1600" b="0" dirty="0">
                <a:solidFill>
                  <a:srgbClr val="008000"/>
                </a:solidFill>
                <a:effectLst/>
                <a:latin typeface="Courier New" panose="02070309020205020404" pitchFamily="49" charset="0"/>
              </a:rPr>
              <a:t># </a:t>
            </a:r>
            <a:r>
              <a:rPr lang="zh-TW" altLang="en-US" sz="1600" b="0" dirty="0">
                <a:solidFill>
                  <a:srgbClr val="008000"/>
                </a:solidFill>
                <a:effectLst/>
                <a:latin typeface="Courier New" panose="02070309020205020404" pitchFamily="49" charset="0"/>
              </a:rPr>
              <a:t>計算並顯示混淆矩陣</a:t>
            </a:r>
            <a:endParaRPr lang="zh-TW" altLang="en-US" sz="1600" b="0" dirty="0">
              <a:solidFill>
                <a:srgbClr val="000000"/>
              </a:solidFill>
              <a:effectLst/>
              <a:latin typeface="Courier New" panose="02070309020205020404" pitchFamily="49" charset="0"/>
            </a:endParaRPr>
          </a:p>
          <a:p>
            <a:r>
              <a:rPr lang="en-US" altLang="zh-TW" sz="1600" b="0" dirty="0">
                <a:solidFill>
                  <a:srgbClr val="000000"/>
                </a:solidFill>
                <a:effectLst/>
                <a:latin typeface="Courier New" panose="02070309020205020404" pitchFamily="49" charset="0"/>
              </a:rPr>
              <a:t>cm = </a:t>
            </a:r>
            <a:r>
              <a:rPr lang="en-US" altLang="zh-TW" sz="1600" b="0" dirty="0" err="1">
                <a:solidFill>
                  <a:srgbClr val="000000"/>
                </a:solidFill>
                <a:effectLst/>
                <a:latin typeface="Courier New" panose="02070309020205020404" pitchFamily="49" charset="0"/>
              </a:rPr>
              <a:t>confusion_matrix</a:t>
            </a:r>
            <a:r>
              <a:rPr lang="en-US" altLang="zh-TW" sz="1600" b="0" dirty="0">
                <a:solidFill>
                  <a:srgbClr val="000000"/>
                </a:solidFill>
                <a:effectLst/>
                <a:latin typeface="Courier New" panose="02070309020205020404" pitchFamily="49" charset="0"/>
              </a:rPr>
              <a:t>(</a:t>
            </a:r>
            <a:r>
              <a:rPr lang="en-US" altLang="zh-TW" sz="1600" b="0" dirty="0" err="1">
                <a:solidFill>
                  <a:srgbClr val="000000"/>
                </a:solidFill>
                <a:effectLst/>
                <a:latin typeface="Courier New" panose="02070309020205020404" pitchFamily="49" charset="0"/>
              </a:rPr>
              <a:t>y_test</a:t>
            </a:r>
            <a:r>
              <a:rPr lang="en-US" altLang="zh-TW" sz="1600" b="0" dirty="0">
                <a:solidFill>
                  <a:srgbClr val="000000"/>
                </a:solidFill>
                <a:effectLst/>
                <a:latin typeface="Courier New" panose="02070309020205020404" pitchFamily="49" charset="0"/>
              </a:rPr>
              <a:t>, </a:t>
            </a:r>
            <a:r>
              <a:rPr lang="en-US" altLang="zh-TW" sz="1600" b="0" dirty="0" err="1">
                <a:solidFill>
                  <a:srgbClr val="000000"/>
                </a:solidFill>
                <a:effectLst/>
                <a:latin typeface="Courier New" panose="02070309020205020404" pitchFamily="49" charset="0"/>
              </a:rPr>
              <a:t>y_pred</a:t>
            </a:r>
            <a:r>
              <a:rPr lang="en-US" altLang="zh-TW" sz="1600" b="0" dirty="0">
                <a:solidFill>
                  <a:srgbClr val="000000"/>
                </a:solidFill>
                <a:effectLst/>
                <a:latin typeface="Courier New" panose="02070309020205020404" pitchFamily="49" charset="0"/>
              </a:rPr>
              <a:t>)</a:t>
            </a:r>
          </a:p>
          <a:p>
            <a:r>
              <a:rPr lang="en-US" altLang="zh-TW" sz="1600" b="0" dirty="0">
                <a:solidFill>
                  <a:srgbClr val="795E26"/>
                </a:solidFill>
                <a:effectLst/>
                <a:latin typeface="Courier New" panose="02070309020205020404" pitchFamily="49" charset="0"/>
              </a:rPr>
              <a:t>print</a:t>
            </a:r>
            <a:r>
              <a:rPr lang="en-US" altLang="zh-TW" sz="1600" b="0" dirty="0">
                <a:solidFill>
                  <a:srgbClr val="000000"/>
                </a:solidFill>
                <a:effectLst/>
                <a:latin typeface="Courier New" panose="02070309020205020404" pitchFamily="49" charset="0"/>
              </a:rPr>
              <a:t>(</a:t>
            </a:r>
            <a:r>
              <a:rPr lang="en-US" altLang="zh-TW" sz="1600" b="0" dirty="0">
                <a:solidFill>
                  <a:srgbClr val="A31515"/>
                </a:solidFill>
                <a:effectLst/>
                <a:latin typeface="Courier New" panose="02070309020205020404" pitchFamily="49" charset="0"/>
              </a:rPr>
              <a:t>"Confusion Matrix:"</a:t>
            </a:r>
            <a:r>
              <a:rPr lang="en-US" altLang="zh-TW" sz="1600" b="0" dirty="0">
                <a:solidFill>
                  <a:srgbClr val="000000"/>
                </a:solidFill>
                <a:effectLst/>
                <a:latin typeface="Courier New" panose="02070309020205020404" pitchFamily="49" charset="0"/>
              </a:rPr>
              <a:t>)</a:t>
            </a:r>
          </a:p>
          <a:p>
            <a:r>
              <a:rPr lang="en-US" altLang="zh-TW" sz="1600" b="0" dirty="0">
                <a:solidFill>
                  <a:srgbClr val="795E26"/>
                </a:solidFill>
                <a:effectLst/>
                <a:latin typeface="Courier New" panose="02070309020205020404" pitchFamily="49" charset="0"/>
              </a:rPr>
              <a:t>print</a:t>
            </a:r>
            <a:r>
              <a:rPr lang="en-US" altLang="zh-TW" sz="1600" b="0" dirty="0">
                <a:solidFill>
                  <a:srgbClr val="000000"/>
                </a:solidFill>
                <a:effectLst/>
                <a:latin typeface="Courier New" panose="02070309020205020404" pitchFamily="49" charset="0"/>
              </a:rPr>
              <a:t>(cm)</a:t>
            </a:r>
          </a:p>
          <a:p>
            <a:br>
              <a:rPr lang="en-US" altLang="zh-TW" sz="1600" b="0" dirty="0">
                <a:solidFill>
                  <a:srgbClr val="000000"/>
                </a:solidFill>
                <a:effectLst/>
                <a:latin typeface="Courier New" panose="02070309020205020404" pitchFamily="49" charset="0"/>
              </a:rPr>
            </a:br>
            <a:r>
              <a:rPr lang="en-US" altLang="zh-TW" sz="1600" b="0" dirty="0">
                <a:solidFill>
                  <a:srgbClr val="008000"/>
                </a:solidFill>
                <a:effectLst/>
                <a:latin typeface="Courier New" panose="02070309020205020404" pitchFamily="49" charset="0"/>
              </a:rPr>
              <a:t># </a:t>
            </a:r>
            <a:r>
              <a:rPr lang="zh-TW" altLang="en-US" sz="1600" b="0" dirty="0">
                <a:solidFill>
                  <a:srgbClr val="008000"/>
                </a:solidFill>
                <a:effectLst/>
                <a:latin typeface="Courier New" panose="02070309020205020404" pitchFamily="49" charset="0"/>
              </a:rPr>
              <a:t>可視化混淆矩陣</a:t>
            </a:r>
            <a:endParaRPr lang="zh-TW" altLang="en-US" sz="1600" b="0" dirty="0">
              <a:solidFill>
                <a:srgbClr val="000000"/>
              </a:solidFill>
              <a:effectLst/>
              <a:latin typeface="Courier New" panose="02070309020205020404" pitchFamily="49" charset="0"/>
            </a:endParaRPr>
          </a:p>
          <a:p>
            <a:r>
              <a:rPr lang="en-US" altLang="zh-TW" sz="1600" b="0" dirty="0" err="1">
                <a:solidFill>
                  <a:srgbClr val="000000"/>
                </a:solidFill>
                <a:effectLst/>
                <a:latin typeface="Courier New" panose="02070309020205020404" pitchFamily="49" charset="0"/>
              </a:rPr>
              <a:t>plt.figure</a:t>
            </a:r>
            <a:r>
              <a:rPr lang="en-US" altLang="zh-TW" sz="1600" b="0" dirty="0">
                <a:solidFill>
                  <a:srgbClr val="000000"/>
                </a:solidFill>
                <a:effectLst/>
                <a:latin typeface="Courier New" panose="02070309020205020404" pitchFamily="49" charset="0"/>
              </a:rPr>
              <a:t>(</a:t>
            </a:r>
            <a:r>
              <a:rPr lang="en-US" altLang="zh-TW" sz="1600" b="0" dirty="0" err="1">
                <a:solidFill>
                  <a:srgbClr val="000000"/>
                </a:solidFill>
                <a:effectLst/>
                <a:latin typeface="Courier New" panose="02070309020205020404" pitchFamily="49" charset="0"/>
              </a:rPr>
              <a:t>figsize</a:t>
            </a:r>
            <a:r>
              <a:rPr lang="en-US" altLang="zh-TW" sz="1600" b="0" dirty="0">
                <a:solidFill>
                  <a:srgbClr val="000000"/>
                </a:solidFill>
                <a:effectLst/>
                <a:latin typeface="Courier New" panose="02070309020205020404" pitchFamily="49" charset="0"/>
              </a:rPr>
              <a:t>=(</a:t>
            </a:r>
            <a:r>
              <a:rPr lang="en-US" altLang="zh-TW" sz="1600" b="0" dirty="0">
                <a:solidFill>
                  <a:srgbClr val="116644"/>
                </a:solidFill>
                <a:effectLst/>
                <a:latin typeface="Courier New" panose="02070309020205020404" pitchFamily="49" charset="0"/>
              </a:rPr>
              <a:t>8</a:t>
            </a:r>
            <a:r>
              <a:rPr lang="en-US" altLang="zh-TW" sz="1600" b="0" dirty="0">
                <a:solidFill>
                  <a:srgbClr val="000000"/>
                </a:solidFill>
                <a:effectLst/>
                <a:latin typeface="Courier New" panose="02070309020205020404" pitchFamily="49" charset="0"/>
              </a:rPr>
              <a:t>, </a:t>
            </a:r>
            <a:r>
              <a:rPr lang="en-US" altLang="zh-TW" sz="1600" b="0" dirty="0">
                <a:solidFill>
                  <a:srgbClr val="116644"/>
                </a:solidFill>
                <a:effectLst/>
                <a:latin typeface="Courier New" panose="02070309020205020404" pitchFamily="49" charset="0"/>
              </a:rPr>
              <a:t>6</a:t>
            </a:r>
            <a:r>
              <a:rPr lang="en-US" altLang="zh-TW" sz="1600" b="0" dirty="0">
                <a:solidFill>
                  <a:srgbClr val="000000"/>
                </a:solidFill>
                <a:effectLst/>
                <a:latin typeface="Courier New" panose="02070309020205020404" pitchFamily="49" charset="0"/>
              </a:rPr>
              <a:t>))</a:t>
            </a:r>
          </a:p>
          <a:p>
            <a:r>
              <a:rPr lang="en-US" altLang="zh-TW" sz="1600" b="0" dirty="0" err="1">
                <a:solidFill>
                  <a:srgbClr val="000000"/>
                </a:solidFill>
                <a:effectLst/>
                <a:latin typeface="Courier New" panose="02070309020205020404" pitchFamily="49" charset="0"/>
              </a:rPr>
              <a:t>disp</a:t>
            </a:r>
            <a:r>
              <a:rPr lang="en-US" altLang="zh-TW" sz="1600" b="0" dirty="0">
                <a:solidFill>
                  <a:srgbClr val="000000"/>
                </a:solidFill>
                <a:effectLst/>
                <a:latin typeface="Courier New" panose="02070309020205020404" pitchFamily="49" charset="0"/>
              </a:rPr>
              <a:t> = </a:t>
            </a:r>
            <a:r>
              <a:rPr lang="en-US" altLang="zh-TW" sz="1600" b="0" dirty="0" err="1">
                <a:solidFill>
                  <a:srgbClr val="000000"/>
                </a:solidFill>
                <a:effectLst/>
                <a:latin typeface="Courier New" panose="02070309020205020404" pitchFamily="49" charset="0"/>
              </a:rPr>
              <a:t>ConfusionMatrixDisplay</a:t>
            </a:r>
            <a:r>
              <a:rPr lang="en-US" altLang="zh-TW" sz="1600" b="0" dirty="0">
                <a:solidFill>
                  <a:srgbClr val="000000"/>
                </a:solidFill>
                <a:effectLst/>
                <a:latin typeface="Courier New" panose="02070309020205020404" pitchFamily="49" charset="0"/>
              </a:rPr>
              <a:t>(</a:t>
            </a:r>
            <a:r>
              <a:rPr lang="en-US" altLang="zh-TW" sz="1600" b="0" dirty="0" err="1">
                <a:solidFill>
                  <a:srgbClr val="000000"/>
                </a:solidFill>
                <a:effectLst/>
                <a:latin typeface="Courier New" panose="02070309020205020404" pitchFamily="49" charset="0"/>
              </a:rPr>
              <a:t>confusion_matrix</a:t>
            </a:r>
            <a:r>
              <a:rPr lang="en-US" altLang="zh-TW" sz="1600" b="0" dirty="0">
                <a:solidFill>
                  <a:srgbClr val="000000"/>
                </a:solidFill>
                <a:effectLst/>
                <a:latin typeface="Courier New" panose="02070309020205020404" pitchFamily="49" charset="0"/>
              </a:rPr>
              <a:t>=cm, </a:t>
            </a:r>
          </a:p>
          <a:p>
            <a:r>
              <a:rPr lang="en-US" altLang="zh-TW" sz="1600" dirty="0">
                <a:solidFill>
                  <a:srgbClr val="000000"/>
                </a:solidFill>
                <a:latin typeface="Courier New" panose="02070309020205020404" pitchFamily="49" charset="0"/>
              </a:rPr>
              <a:t>	</a:t>
            </a:r>
            <a:r>
              <a:rPr lang="en-US" altLang="zh-TW" sz="1600" b="0" dirty="0" err="1">
                <a:solidFill>
                  <a:srgbClr val="000000"/>
                </a:solidFill>
                <a:effectLst/>
                <a:latin typeface="Courier New" panose="02070309020205020404" pitchFamily="49" charset="0"/>
              </a:rPr>
              <a:t>display_labels</a:t>
            </a:r>
            <a:r>
              <a:rPr lang="en-US" altLang="zh-TW" sz="1600" b="0" dirty="0">
                <a:solidFill>
                  <a:srgbClr val="000000"/>
                </a:solidFill>
                <a:effectLst/>
                <a:latin typeface="Courier New" panose="02070309020205020404" pitchFamily="49" charset="0"/>
              </a:rPr>
              <a:t>=[</a:t>
            </a:r>
            <a:r>
              <a:rPr lang="en-US" altLang="zh-TW" sz="1600" b="0" dirty="0">
                <a:solidFill>
                  <a:srgbClr val="A31515"/>
                </a:solidFill>
                <a:effectLst/>
                <a:latin typeface="Courier New" panose="02070309020205020404" pitchFamily="49" charset="0"/>
              </a:rPr>
              <a:t>'</a:t>
            </a:r>
            <a:r>
              <a:rPr lang="en-US" altLang="zh-TW" sz="1600" b="0" dirty="0" err="1">
                <a:solidFill>
                  <a:srgbClr val="A31515"/>
                </a:solidFill>
                <a:effectLst/>
                <a:latin typeface="Courier New" panose="02070309020205020404" pitchFamily="49" charset="0"/>
              </a:rPr>
              <a:t>Setosa</a:t>
            </a:r>
            <a:r>
              <a:rPr lang="en-US" altLang="zh-TW" sz="1600" b="0" dirty="0">
                <a:solidFill>
                  <a:srgbClr val="A31515"/>
                </a:solidFill>
                <a:effectLst/>
                <a:latin typeface="Courier New" panose="02070309020205020404" pitchFamily="49" charset="0"/>
              </a:rPr>
              <a:t>'</a:t>
            </a:r>
            <a:r>
              <a:rPr lang="en-US" altLang="zh-TW" sz="1600" b="0" dirty="0">
                <a:solidFill>
                  <a:srgbClr val="000000"/>
                </a:solidFill>
                <a:effectLst/>
                <a:latin typeface="Courier New" panose="02070309020205020404" pitchFamily="49" charset="0"/>
              </a:rPr>
              <a:t>, </a:t>
            </a:r>
            <a:r>
              <a:rPr lang="en-US" altLang="zh-TW" sz="1600" b="0" dirty="0">
                <a:solidFill>
                  <a:srgbClr val="A31515"/>
                </a:solidFill>
                <a:effectLst/>
                <a:latin typeface="Courier New" panose="02070309020205020404" pitchFamily="49" charset="0"/>
              </a:rPr>
              <a:t>'Versicolor'</a:t>
            </a:r>
            <a:r>
              <a:rPr lang="en-US" altLang="zh-TW" sz="1600" b="0" dirty="0">
                <a:solidFill>
                  <a:srgbClr val="000000"/>
                </a:solidFill>
                <a:effectLst/>
                <a:latin typeface="Courier New" panose="02070309020205020404" pitchFamily="49" charset="0"/>
              </a:rPr>
              <a:t>])</a:t>
            </a:r>
          </a:p>
          <a:p>
            <a:r>
              <a:rPr lang="en-US" altLang="zh-TW" sz="1600" b="0" dirty="0" err="1">
                <a:solidFill>
                  <a:srgbClr val="000000"/>
                </a:solidFill>
                <a:effectLst/>
                <a:latin typeface="Courier New" panose="02070309020205020404" pitchFamily="49" charset="0"/>
              </a:rPr>
              <a:t>disp.plot</a:t>
            </a:r>
            <a:r>
              <a:rPr lang="en-US" altLang="zh-TW" sz="1600" b="0" dirty="0">
                <a:solidFill>
                  <a:srgbClr val="000000"/>
                </a:solidFill>
                <a:effectLst/>
                <a:latin typeface="Courier New" panose="02070309020205020404" pitchFamily="49" charset="0"/>
              </a:rPr>
              <a:t>(</a:t>
            </a:r>
            <a:r>
              <a:rPr lang="en-US" altLang="zh-TW" sz="1600" b="0" dirty="0" err="1">
                <a:solidFill>
                  <a:srgbClr val="000000"/>
                </a:solidFill>
                <a:effectLst/>
                <a:latin typeface="Courier New" panose="02070309020205020404" pitchFamily="49" charset="0"/>
              </a:rPr>
              <a:t>cmap</a:t>
            </a:r>
            <a:r>
              <a:rPr lang="en-US" altLang="zh-TW" sz="1600" b="0" dirty="0">
                <a:solidFill>
                  <a:srgbClr val="000000"/>
                </a:solidFill>
                <a:effectLst/>
                <a:latin typeface="Courier New" panose="02070309020205020404" pitchFamily="49" charset="0"/>
              </a:rPr>
              <a:t>=</a:t>
            </a:r>
            <a:r>
              <a:rPr lang="en-US" altLang="zh-TW" sz="1600" b="0" dirty="0">
                <a:solidFill>
                  <a:srgbClr val="A31515"/>
                </a:solidFill>
                <a:effectLst/>
                <a:latin typeface="Courier New" panose="02070309020205020404" pitchFamily="49" charset="0"/>
              </a:rPr>
              <a:t>'Blues'</a:t>
            </a:r>
            <a:r>
              <a:rPr lang="en-US" altLang="zh-TW" sz="1600" b="0" dirty="0">
                <a:solidFill>
                  <a:srgbClr val="000000"/>
                </a:solidFill>
                <a:effectLst/>
                <a:latin typeface="Courier New" panose="02070309020205020404" pitchFamily="49" charset="0"/>
              </a:rPr>
              <a:t>, </a:t>
            </a:r>
            <a:r>
              <a:rPr lang="en-US" altLang="zh-TW" sz="1600" b="0" dirty="0" err="1">
                <a:solidFill>
                  <a:srgbClr val="000000"/>
                </a:solidFill>
                <a:effectLst/>
                <a:latin typeface="Courier New" panose="02070309020205020404" pitchFamily="49" charset="0"/>
              </a:rPr>
              <a:t>values_format</a:t>
            </a:r>
            <a:r>
              <a:rPr lang="en-US" altLang="zh-TW" sz="1600" b="0" dirty="0">
                <a:solidFill>
                  <a:srgbClr val="000000"/>
                </a:solidFill>
                <a:effectLst/>
                <a:latin typeface="Courier New" panose="02070309020205020404" pitchFamily="49" charset="0"/>
              </a:rPr>
              <a:t>=</a:t>
            </a:r>
            <a:r>
              <a:rPr lang="en-US" altLang="zh-TW" sz="1600" b="0" dirty="0">
                <a:solidFill>
                  <a:srgbClr val="A31515"/>
                </a:solidFill>
                <a:effectLst/>
                <a:latin typeface="Courier New" panose="02070309020205020404" pitchFamily="49" charset="0"/>
              </a:rPr>
              <a:t>'d'</a:t>
            </a:r>
            <a:r>
              <a:rPr lang="en-US" altLang="zh-TW" sz="1600" b="0" dirty="0">
                <a:solidFill>
                  <a:srgbClr val="000000"/>
                </a:solidFill>
                <a:effectLst/>
                <a:latin typeface="Courier New" panose="02070309020205020404" pitchFamily="49" charset="0"/>
              </a:rPr>
              <a:t>)</a:t>
            </a:r>
          </a:p>
          <a:p>
            <a:r>
              <a:rPr lang="en-US" altLang="zh-TW" sz="1600" b="0" dirty="0" err="1">
                <a:solidFill>
                  <a:srgbClr val="000000"/>
                </a:solidFill>
                <a:effectLst/>
                <a:latin typeface="Courier New" panose="02070309020205020404" pitchFamily="49" charset="0"/>
              </a:rPr>
              <a:t>plt.title</a:t>
            </a:r>
            <a:r>
              <a:rPr lang="en-US" altLang="zh-TW" sz="1600" b="0" dirty="0">
                <a:solidFill>
                  <a:srgbClr val="000000"/>
                </a:solidFill>
                <a:effectLst/>
                <a:latin typeface="Courier New" panose="02070309020205020404" pitchFamily="49" charset="0"/>
              </a:rPr>
              <a:t>(</a:t>
            </a:r>
            <a:r>
              <a:rPr lang="en-US" altLang="zh-TW" sz="1600" b="0" dirty="0">
                <a:solidFill>
                  <a:srgbClr val="A31515"/>
                </a:solidFill>
                <a:effectLst/>
                <a:latin typeface="Courier New" panose="02070309020205020404" pitchFamily="49" charset="0"/>
              </a:rPr>
              <a:t>'Confusion Matrix'</a:t>
            </a:r>
            <a:r>
              <a:rPr lang="en-US" altLang="zh-TW" sz="1600" b="0" dirty="0">
                <a:solidFill>
                  <a:srgbClr val="000000"/>
                </a:solidFill>
                <a:effectLst/>
                <a:latin typeface="Courier New" panose="02070309020205020404" pitchFamily="49" charset="0"/>
              </a:rPr>
              <a:t>)</a:t>
            </a:r>
          </a:p>
          <a:p>
            <a:r>
              <a:rPr lang="en-US" altLang="zh-TW" sz="1600" b="0" dirty="0" err="1">
                <a:solidFill>
                  <a:srgbClr val="000000"/>
                </a:solidFill>
                <a:effectLst/>
                <a:latin typeface="Courier New" panose="02070309020205020404" pitchFamily="49" charset="0"/>
              </a:rPr>
              <a:t>plt.show</a:t>
            </a:r>
            <a:r>
              <a:rPr lang="en-US" altLang="zh-TW" sz="1600" b="0" dirty="0">
                <a:solidFill>
                  <a:srgbClr val="000000"/>
                </a:solidFill>
                <a:effectLst/>
                <a:latin typeface="Courier New" panose="02070309020205020404" pitchFamily="49" charset="0"/>
              </a:rPr>
              <a:t>()</a:t>
            </a:r>
            <a:r>
              <a:rPr lang="zh-TW" altLang="en-US" sz="1600" b="0" dirty="0">
                <a:solidFill>
                  <a:srgbClr val="000000"/>
                </a:solidFill>
                <a:effectLst/>
                <a:latin typeface="Courier New" panose="02070309020205020404" pitchFamily="49" charset="0"/>
              </a:rPr>
              <a:t> </a:t>
            </a:r>
            <a:endParaRPr lang="en-US" altLang="zh-TW" sz="1600" b="0" dirty="0">
              <a:solidFill>
                <a:srgbClr val="000000"/>
              </a:solidFill>
              <a:effectLst/>
              <a:latin typeface="Courier New" panose="02070309020205020404" pitchFamily="49" charset="0"/>
            </a:endParaRPr>
          </a:p>
        </p:txBody>
      </p:sp>
      <p:pic>
        <p:nvPicPr>
          <p:cNvPr id="3074" name="Picture 2">
            <a:extLst>
              <a:ext uri="{FF2B5EF4-FFF2-40B4-BE49-F238E27FC236}">
                <a16:creationId xmlns:a16="http://schemas.microsoft.com/office/drawing/2014/main" id="{B48A172E-772B-4166-84D1-1888B033C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5457" y="3022600"/>
            <a:ext cx="4378434" cy="357663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47E3C4A4-04DC-4540-AB4C-0C91EB4A0105}"/>
              </a:ext>
            </a:extLst>
          </p:cNvPr>
          <p:cNvSpPr txBox="1"/>
          <p:nvPr/>
        </p:nvSpPr>
        <p:spPr>
          <a:xfrm>
            <a:off x="921504" y="5041384"/>
            <a:ext cx="2964696" cy="923330"/>
          </a:xfrm>
          <a:prstGeom prst="rect">
            <a:avLst/>
          </a:prstGeom>
          <a:noFill/>
          <a:ln>
            <a:solidFill>
              <a:schemeClr val="tx1"/>
            </a:solidFill>
          </a:ln>
        </p:spPr>
        <p:txBody>
          <a:bodyPr wrap="square">
            <a:spAutoFit/>
          </a:bodyPr>
          <a:lstStyle/>
          <a:p>
            <a:r>
              <a:rPr lang="fr-FR" altLang="zh-TW" b="0" i="0" dirty="0">
                <a:solidFill>
                  <a:srgbClr val="212121"/>
                </a:solidFill>
                <a:effectLst/>
                <a:latin typeface="Courier New" panose="02070309020205020404" pitchFamily="49" charset="0"/>
              </a:rPr>
              <a:t>Confusion Matrix: </a:t>
            </a:r>
          </a:p>
          <a:p>
            <a:r>
              <a:rPr lang="fr-FR" altLang="zh-TW" b="0" i="0" dirty="0">
                <a:solidFill>
                  <a:srgbClr val="212121"/>
                </a:solidFill>
                <a:effectLst/>
                <a:latin typeface="Courier New" panose="02070309020205020404" pitchFamily="49" charset="0"/>
              </a:rPr>
              <a:t>[[15 0] </a:t>
            </a:r>
          </a:p>
          <a:p>
            <a:r>
              <a:rPr lang="fr-FR" altLang="zh-TW" dirty="0">
                <a:solidFill>
                  <a:srgbClr val="212121"/>
                </a:solidFill>
                <a:latin typeface="Courier New" panose="02070309020205020404" pitchFamily="49" charset="0"/>
              </a:rPr>
              <a:t> </a:t>
            </a:r>
            <a:r>
              <a:rPr lang="fr-FR" altLang="zh-TW" b="0" i="0" dirty="0">
                <a:solidFill>
                  <a:srgbClr val="212121"/>
                </a:solidFill>
                <a:effectLst/>
                <a:latin typeface="Courier New" panose="02070309020205020404" pitchFamily="49" charset="0"/>
              </a:rPr>
              <a:t>[ 0 15]]</a:t>
            </a:r>
            <a:endParaRPr lang="zh-TW" altLang="en-US" dirty="0"/>
          </a:p>
        </p:txBody>
      </p:sp>
    </p:spTree>
    <p:extLst>
      <p:ext uri="{BB962C8B-B14F-4D97-AF65-F5344CB8AC3E}">
        <p14:creationId xmlns:p14="http://schemas.microsoft.com/office/powerpoint/2010/main" val="27385615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66640-5031-744F-8653-47BF18E9B0EE}"/>
              </a:ext>
            </a:extLst>
          </p:cNvPr>
          <p:cNvSpPr>
            <a:spLocks noGrp="1"/>
          </p:cNvSpPr>
          <p:nvPr>
            <p:ph type="title"/>
          </p:nvPr>
        </p:nvSpPr>
        <p:spPr/>
        <p:txBody>
          <a:bodyPr/>
          <a:lstStyle/>
          <a:p>
            <a:r>
              <a:rPr kumimoji="1" lang="en-US" altLang="zh-TW" dirty="0"/>
              <a:t>ROC</a:t>
            </a:r>
            <a:r>
              <a:rPr kumimoji="1" lang="zh-TW" altLang="en-US" dirty="0"/>
              <a:t> </a:t>
            </a:r>
            <a:r>
              <a:rPr kumimoji="1" lang="en-US" altLang="zh-TW" dirty="0"/>
              <a:t>curve</a:t>
            </a:r>
            <a:endParaRPr kumimoji="1" lang="zh-TW" altLang="en-US" dirty="0"/>
          </a:p>
        </p:txBody>
      </p:sp>
      <p:sp>
        <p:nvSpPr>
          <p:cNvPr id="3" name="內容版面配置區 2">
            <a:extLst>
              <a:ext uri="{FF2B5EF4-FFF2-40B4-BE49-F238E27FC236}">
                <a16:creationId xmlns:a16="http://schemas.microsoft.com/office/drawing/2014/main" id="{AEDFC44A-764C-9DAD-FE6F-BF1D1F35835E}"/>
              </a:ext>
            </a:extLst>
          </p:cNvPr>
          <p:cNvSpPr>
            <a:spLocks noGrp="1"/>
          </p:cNvSpPr>
          <p:nvPr>
            <p:ph idx="1"/>
          </p:nvPr>
        </p:nvSpPr>
        <p:spPr/>
        <p:txBody>
          <a:bodyPr/>
          <a:lstStyle/>
          <a:p>
            <a:r>
              <a:rPr kumimoji="1" lang="en" altLang="zh-TW" dirty="0"/>
              <a:t>ROC Curve(Receiver Operating Characteristic Curve)</a:t>
            </a:r>
          </a:p>
          <a:p>
            <a:pPr lvl="1"/>
            <a:r>
              <a:rPr kumimoji="1" lang="zh-TW" altLang="en-US" dirty="0"/>
              <a:t>以偽陽性率</a:t>
            </a:r>
            <a:r>
              <a:rPr kumimoji="1" lang="en-US" altLang="zh-TW" dirty="0"/>
              <a:t>(</a:t>
            </a:r>
            <a:r>
              <a:rPr kumimoji="1" lang="en" altLang="zh-TW" dirty="0"/>
              <a:t>FPR)</a:t>
            </a:r>
            <a:r>
              <a:rPr kumimoji="1" lang="zh-TW" altLang="en-US" dirty="0"/>
              <a:t>為橫軸，真陽性率</a:t>
            </a:r>
            <a:r>
              <a:rPr kumimoji="1" lang="en-US" altLang="zh-TW" dirty="0"/>
              <a:t>(</a:t>
            </a:r>
            <a:r>
              <a:rPr kumimoji="1" lang="en" altLang="zh-TW" dirty="0"/>
              <a:t>TPR)</a:t>
            </a:r>
            <a:r>
              <a:rPr kumimoji="1" lang="zh-TW" altLang="en-US" dirty="0"/>
              <a:t>為縱軸所繪製的曲線，</a:t>
            </a:r>
            <a:r>
              <a:rPr kumimoji="1" lang="zh-TW" altLang="en-US" b="1" u="sng" dirty="0"/>
              <a:t>曲線上的點代表不同閾值</a:t>
            </a:r>
            <a:r>
              <a:rPr kumimoji="1" lang="en-US" altLang="zh-TW" b="1" u="sng" dirty="0"/>
              <a:t>(</a:t>
            </a:r>
            <a:r>
              <a:rPr kumimoji="1" lang="en" altLang="zh-TW" b="1" u="sng" dirty="0"/>
              <a:t>threshold)</a:t>
            </a:r>
            <a:r>
              <a:rPr kumimoji="1" lang="zh-TW" altLang="en-US" b="1" u="sng" dirty="0"/>
              <a:t>下</a:t>
            </a:r>
            <a:r>
              <a:rPr kumimoji="1" lang="zh-TW" altLang="en-US" dirty="0"/>
              <a:t>，該模型</a:t>
            </a:r>
            <a:r>
              <a:rPr kumimoji="1" lang="en" altLang="zh-TW" dirty="0"/>
              <a:t>FPR</a:t>
            </a:r>
            <a:r>
              <a:rPr kumimoji="1" lang="zh-TW" altLang="en-US" dirty="0"/>
              <a:t>和</a:t>
            </a:r>
            <a:r>
              <a:rPr kumimoji="1" lang="en" altLang="zh-TW" dirty="0"/>
              <a:t>TPR</a:t>
            </a:r>
            <a:r>
              <a:rPr kumimoji="1" lang="zh-TW" altLang="en-US" dirty="0"/>
              <a:t>的對應關係。</a:t>
            </a:r>
            <a:endParaRPr kumimoji="1" lang="en-US" altLang="zh-TW" dirty="0"/>
          </a:p>
          <a:p>
            <a:r>
              <a:rPr kumimoji="1" lang="en" altLang="zh-TW" dirty="0"/>
              <a:t>ROC:</a:t>
            </a:r>
            <a:r>
              <a:rPr kumimoji="1" lang="zh-TW" altLang="en-US" dirty="0"/>
              <a:t>將各個</a:t>
            </a:r>
            <a:r>
              <a:rPr kumimoji="1" lang="en" altLang="zh-TW" b="1" dirty="0"/>
              <a:t>Threshold</a:t>
            </a:r>
            <a:br>
              <a:rPr kumimoji="1" lang="en" altLang="zh-TW" dirty="0"/>
            </a:br>
            <a:r>
              <a:rPr kumimoji="1" lang="zh-TW" altLang="en-US" dirty="0"/>
              <a:t>情況下的</a:t>
            </a:r>
            <a:r>
              <a:rPr kumimoji="1" lang="en" altLang="zh-TW" dirty="0"/>
              <a:t>FPR</a:t>
            </a:r>
            <a:r>
              <a:rPr kumimoji="1" lang="zh-TW" altLang="en-US" dirty="0"/>
              <a:t>和</a:t>
            </a:r>
            <a:r>
              <a:rPr kumimoji="1" lang="en" altLang="zh-TW" dirty="0"/>
              <a:t>TPR</a:t>
            </a:r>
            <a:r>
              <a:rPr kumimoji="1" lang="zh-TW" altLang="en-US" dirty="0"/>
              <a:t>對應</a:t>
            </a:r>
            <a:br>
              <a:rPr kumimoji="1" lang="en-US" altLang="zh-TW" dirty="0"/>
            </a:br>
            <a:r>
              <a:rPr kumimoji="1" lang="zh-TW" altLang="en-US" dirty="0"/>
              <a:t>關係描繪出來。</a:t>
            </a:r>
          </a:p>
          <a:p>
            <a:r>
              <a:rPr kumimoji="1" lang="en" altLang="zh-TW" dirty="0"/>
              <a:t>AUC:</a:t>
            </a:r>
            <a:r>
              <a:rPr kumimoji="1" lang="zh-TW" altLang="en-US" dirty="0"/>
              <a:t>全名叫做</a:t>
            </a:r>
            <a:r>
              <a:rPr kumimoji="1" lang="en" altLang="zh-TW" dirty="0"/>
              <a:t>Area </a:t>
            </a:r>
            <a:br>
              <a:rPr kumimoji="1" lang="en" altLang="zh-TW" dirty="0"/>
            </a:br>
            <a:r>
              <a:rPr kumimoji="1" lang="en" altLang="zh-TW" dirty="0"/>
              <a:t>Under the Curve(AUC)</a:t>
            </a:r>
            <a:br>
              <a:rPr kumimoji="1" lang="en" altLang="zh-TW" dirty="0"/>
            </a:br>
            <a:r>
              <a:rPr kumimoji="1" lang="zh-TW" altLang="en-US" dirty="0"/>
              <a:t>就是</a:t>
            </a:r>
            <a:r>
              <a:rPr kumimoji="1" lang="en" altLang="zh-TW" dirty="0"/>
              <a:t>ROC</a:t>
            </a:r>
            <a:r>
              <a:rPr kumimoji="1" lang="zh-TW" altLang="en-US" dirty="0"/>
              <a:t>曲線下的面積。</a:t>
            </a:r>
          </a:p>
        </p:txBody>
      </p:sp>
      <p:pic>
        <p:nvPicPr>
          <p:cNvPr id="1026" name="Picture 2">
            <a:extLst>
              <a:ext uri="{FF2B5EF4-FFF2-40B4-BE49-F238E27FC236}">
                <a16:creationId xmlns:a16="http://schemas.microsoft.com/office/drawing/2014/main" id="{5D5080A0-EBD6-8FD5-025C-F6B5568DBA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4344" y="3015341"/>
            <a:ext cx="6480712" cy="360067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997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F9EB1-83A0-BFF9-AB7C-CF796B63E037}"/>
              </a:ext>
            </a:extLst>
          </p:cNvPr>
          <p:cNvSpPr>
            <a:spLocks noGrp="1"/>
          </p:cNvSpPr>
          <p:nvPr>
            <p:ph type="title"/>
          </p:nvPr>
        </p:nvSpPr>
        <p:spPr/>
        <p:txBody>
          <a:bodyPr/>
          <a:lstStyle/>
          <a:p>
            <a:r>
              <a:rPr kumimoji="1" lang="en-US" altLang="zh-TW" dirty="0"/>
              <a:t>ROC</a:t>
            </a:r>
            <a:r>
              <a:rPr kumimoji="1" lang="zh-TW" altLang="en-US" dirty="0"/>
              <a:t> </a:t>
            </a:r>
            <a:r>
              <a:rPr kumimoji="1" lang="en-US" altLang="zh-TW" dirty="0"/>
              <a:t>curve</a:t>
            </a:r>
            <a:endParaRPr kumimoji="1" lang="zh-TW" altLang="en-US" dirty="0"/>
          </a:p>
        </p:txBody>
      </p:sp>
      <p:sp>
        <p:nvSpPr>
          <p:cNvPr id="3" name="內容版面配置區 2">
            <a:extLst>
              <a:ext uri="{FF2B5EF4-FFF2-40B4-BE49-F238E27FC236}">
                <a16:creationId xmlns:a16="http://schemas.microsoft.com/office/drawing/2014/main" id="{4FF4FE46-69A6-C794-A814-307616415811}"/>
              </a:ext>
            </a:extLst>
          </p:cNvPr>
          <p:cNvSpPr>
            <a:spLocks noGrp="1"/>
          </p:cNvSpPr>
          <p:nvPr>
            <p:ph idx="1"/>
          </p:nvPr>
        </p:nvSpPr>
        <p:spPr>
          <a:xfrm>
            <a:off x="838200" y="1825625"/>
            <a:ext cx="4448986" cy="4351338"/>
          </a:xfrm>
        </p:spPr>
        <p:txBody>
          <a:bodyPr>
            <a:normAutofit fontScale="85000" lnSpcReduction="20000"/>
          </a:bodyPr>
          <a:lstStyle/>
          <a:p>
            <a:pPr>
              <a:lnSpc>
                <a:spcPct val="120000"/>
              </a:lnSpc>
            </a:pPr>
            <a:r>
              <a:rPr kumimoji="1" lang="zh-TW" altLang="en-US" dirty="0"/>
              <a:t>畫出 </a:t>
            </a:r>
            <a:r>
              <a:rPr kumimoji="1" lang="en" altLang="zh-TW" dirty="0"/>
              <a:t>ROC </a:t>
            </a:r>
            <a:r>
              <a:rPr kumimoji="1" lang="zh-TW" altLang="en-US" dirty="0"/>
              <a:t>曲線的步驟如下：</a:t>
            </a:r>
          </a:p>
          <a:p>
            <a:pPr marL="914400" lvl="1" indent="-457200">
              <a:lnSpc>
                <a:spcPct val="120000"/>
              </a:lnSpc>
              <a:buFont typeface="+mj-lt"/>
              <a:buAutoNum type="arabicPeriod"/>
            </a:pPr>
            <a:r>
              <a:rPr kumimoji="1" lang="zh-TW" altLang="en-US" dirty="0"/>
              <a:t>把預測的機率值由大到小排列</a:t>
            </a:r>
            <a:endParaRPr kumimoji="1" lang="en-US" altLang="zh-TW" dirty="0"/>
          </a:p>
          <a:p>
            <a:pPr marL="914400" lvl="1" indent="-457200">
              <a:lnSpc>
                <a:spcPct val="120000"/>
              </a:lnSpc>
              <a:buFont typeface="+mj-lt"/>
              <a:buAutoNum type="arabicPeriod"/>
            </a:pPr>
            <a:r>
              <a:rPr kumimoji="1" lang="zh-TW" altLang="en-US" dirty="0"/>
              <a:t>對於每個預測的機率值，把它當作新的閾值，並計算出 </a:t>
            </a:r>
            <a:r>
              <a:rPr kumimoji="1" lang="en" altLang="zh-TW" dirty="0"/>
              <a:t>TPR </a:t>
            </a:r>
            <a:r>
              <a:rPr kumimoji="1" lang="zh-TW" altLang="en-US" dirty="0"/>
              <a:t>與 </a:t>
            </a:r>
            <a:r>
              <a:rPr kumimoji="1" lang="en" altLang="zh-TW" dirty="0"/>
              <a:t>FPR</a:t>
            </a:r>
          </a:p>
          <a:p>
            <a:pPr marL="914400" lvl="1" indent="-457200">
              <a:lnSpc>
                <a:spcPct val="120000"/>
              </a:lnSpc>
              <a:buFont typeface="+mj-lt"/>
              <a:buAutoNum type="arabicPeriod"/>
            </a:pPr>
            <a:r>
              <a:rPr kumimoji="1" lang="zh-TW" altLang="en-US" dirty="0"/>
              <a:t>步驟 </a:t>
            </a:r>
            <a:r>
              <a:rPr kumimoji="1" lang="en-US" altLang="zh-TW" dirty="0"/>
              <a:t>2 </a:t>
            </a:r>
            <a:r>
              <a:rPr kumimoji="1" lang="zh-TW" altLang="en-US" dirty="0"/>
              <a:t>算出的（多個） </a:t>
            </a:r>
            <a:r>
              <a:rPr kumimoji="1" lang="en" altLang="zh-TW" dirty="0"/>
              <a:t>TPR </a:t>
            </a:r>
            <a:r>
              <a:rPr kumimoji="1" lang="zh-TW" altLang="en-US" dirty="0"/>
              <a:t>與 </a:t>
            </a:r>
            <a:r>
              <a:rPr kumimoji="1" lang="en" altLang="zh-TW" dirty="0"/>
              <a:t>FPR </a:t>
            </a:r>
            <a:r>
              <a:rPr kumimoji="1" lang="zh-TW" altLang="en-US" dirty="0"/>
              <a:t>依序對應到 </a:t>
            </a:r>
            <a:r>
              <a:rPr kumimoji="1" lang="en" altLang="zh-TW" dirty="0"/>
              <a:t>Y </a:t>
            </a:r>
            <a:r>
              <a:rPr kumimoji="1" lang="zh-TW" altLang="en-US" dirty="0"/>
              <a:t>座標與 </a:t>
            </a:r>
            <a:r>
              <a:rPr kumimoji="1" lang="en" altLang="zh-TW" dirty="0"/>
              <a:t>X </a:t>
            </a:r>
            <a:r>
              <a:rPr kumimoji="1" lang="zh-TW" altLang="en-US" dirty="0"/>
              <a:t>座標，標示在圖上</a:t>
            </a:r>
            <a:endParaRPr kumimoji="1" lang="en-US" altLang="zh-TW" dirty="0"/>
          </a:p>
          <a:p>
            <a:pPr marL="914400" lvl="1" indent="-457200">
              <a:lnSpc>
                <a:spcPct val="120000"/>
              </a:lnSpc>
              <a:buFont typeface="+mj-lt"/>
              <a:buAutoNum type="arabicPeriod"/>
            </a:pPr>
            <a:r>
              <a:rPr kumimoji="1" lang="zh-TW" altLang="en-US" dirty="0"/>
              <a:t>第一步驟的機率值依大小排序是解讀 </a:t>
            </a:r>
            <a:r>
              <a:rPr kumimoji="1" lang="en" altLang="zh-TW" dirty="0"/>
              <a:t>ROC </a:t>
            </a:r>
            <a:r>
              <a:rPr kumimoji="1" lang="zh-TW" altLang="en-US" dirty="0"/>
              <a:t>曲線的關鍵！</a:t>
            </a:r>
            <a:endParaRPr kumimoji="1" lang="en-US" altLang="zh-TW" dirty="0"/>
          </a:p>
          <a:p>
            <a:pPr marL="914400" lvl="2" indent="0">
              <a:lnSpc>
                <a:spcPct val="120000"/>
              </a:lnSpc>
              <a:buNone/>
            </a:pPr>
            <a:r>
              <a:rPr kumimoji="1" lang="zh-TW" altLang="en-US" dirty="0"/>
              <a:t>排序後會更容易在腦海中想像出「高於閾值的預測為正樣本、低於閾值則預測為負樣本」的視覺化</a:t>
            </a:r>
          </a:p>
        </p:txBody>
      </p:sp>
      <p:pic>
        <p:nvPicPr>
          <p:cNvPr id="2050" name="Picture 2">
            <a:extLst>
              <a:ext uri="{FF2B5EF4-FFF2-40B4-BE49-F238E27FC236}">
                <a16:creationId xmlns:a16="http://schemas.microsoft.com/office/drawing/2014/main" id="{24881BA6-C182-3FBB-5BD1-B338515DB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186" y="2200165"/>
            <a:ext cx="6066614" cy="339509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61329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9411E3-EAE1-C128-B725-27257F429E95}"/>
              </a:ext>
            </a:extLst>
          </p:cNvPr>
          <p:cNvSpPr>
            <a:spLocks noGrp="1"/>
          </p:cNvSpPr>
          <p:nvPr>
            <p:ph type="title"/>
          </p:nvPr>
        </p:nvSpPr>
        <p:spPr/>
        <p:txBody>
          <a:bodyPr/>
          <a:lstStyle/>
          <a:p>
            <a:r>
              <a:rPr kumimoji="1" lang="en-US" altLang="zh-TW" dirty="0"/>
              <a:t>ROC</a:t>
            </a:r>
            <a:r>
              <a:rPr kumimoji="1" lang="zh-TW" altLang="en-US" dirty="0"/>
              <a:t> </a:t>
            </a:r>
            <a:r>
              <a:rPr kumimoji="1" lang="en-US" altLang="zh-TW" dirty="0"/>
              <a:t>curve</a:t>
            </a:r>
            <a:endParaRPr kumimoji="1" lang="zh-TW" altLang="en-US" dirty="0"/>
          </a:p>
        </p:txBody>
      </p:sp>
      <p:pic>
        <p:nvPicPr>
          <p:cNvPr id="3074" name="Picture 2">
            <a:extLst>
              <a:ext uri="{FF2B5EF4-FFF2-40B4-BE49-F238E27FC236}">
                <a16:creationId xmlns:a16="http://schemas.microsoft.com/office/drawing/2014/main" id="{3E03322A-FC26-0298-06A2-580B3C182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3682" y="1360715"/>
            <a:ext cx="6955396" cy="5268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69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F04441-6635-5507-A966-73BE10259901}"/>
              </a:ext>
            </a:extLst>
          </p:cNvPr>
          <p:cNvSpPr>
            <a:spLocks noGrp="1"/>
          </p:cNvSpPr>
          <p:nvPr>
            <p:ph type="title"/>
          </p:nvPr>
        </p:nvSpPr>
        <p:spPr/>
        <p:txBody>
          <a:bodyPr/>
          <a:lstStyle/>
          <a:p>
            <a:r>
              <a:rPr kumimoji="1" lang="en-US" altLang="zh-TW" dirty="0"/>
              <a:t>ROC</a:t>
            </a:r>
            <a:r>
              <a:rPr kumimoji="1" lang="zh-TW" altLang="en-US" dirty="0"/>
              <a:t> </a:t>
            </a:r>
            <a:r>
              <a:rPr kumimoji="1" lang="en-US" altLang="zh-TW" dirty="0"/>
              <a:t>curve(</a:t>
            </a:r>
            <a:r>
              <a:rPr kumimoji="1" lang="zh-TW" altLang="en-US" dirty="0"/>
              <a:t>程式說明</a:t>
            </a:r>
            <a:r>
              <a:rPr kumimoji="1" lang="en-US" altLang="zh-TW" dirty="0"/>
              <a:t>)</a:t>
            </a:r>
            <a:endParaRPr kumimoji="1" lang="zh-TW" altLang="en-US" dirty="0"/>
          </a:p>
        </p:txBody>
      </p:sp>
      <p:sp>
        <p:nvSpPr>
          <p:cNvPr id="3" name="內容版面配置區 2">
            <a:extLst>
              <a:ext uri="{FF2B5EF4-FFF2-40B4-BE49-F238E27FC236}">
                <a16:creationId xmlns:a16="http://schemas.microsoft.com/office/drawing/2014/main" id="{CF03D405-6327-1906-AFFC-4CB60D0ABF08}"/>
              </a:ext>
            </a:extLst>
          </p:cNvPr>
          <p:cNvSpPr>
            <a:spLocks noGrp="1"/>
          </p:cNvSpPr>
          <p:nvPr>
            <p:ph idx="1"/>
          </p:nvPr>
        </p:nvSpPr>
        <p:spPr/>
        <p:txBody>
          <a:bodyPr/>
          <a:lstStyle/>
          <a:p>
            <a:r>
              <a:rPr kumimoji="1" lang="zh-TW" altLang="en-US" dirty="0"/>
              <a:t>假設有</a:t>
            </a:r>
            <a:r>
              <a:rPr kumimoji="1" lang="en-US" altLang="zh-TW" dirty="0"/>
              <a:t>20</a:t>
            </a:r>
            <a:r>
              <a:rPr kumimoji="1" lang="zh-TW" altLang="en-US" dirty="0"/>
              <a:t>個資料點</a:t>
            </a:r>
          </a:p>
        </p:txBody>
      </p:sp>
      <p:sp>
        <p:nvSpPr>
          <p:cNvPr id="7" name="文字方塊 6">
            <a:extLst>
              <a:ext uri="{FF2B5EF4-FFF2-40B4-BE49-F238E27FC236}">
                <a16:creationId xmlns:a16="http://schemas.microsoft.com/office/drawing/2014/main" id="{74B18DA3-5379-211B-FBE8-4ECA92C3A11F}"/>
              </a:ext>
            </a:extLst>
          </p:cNvPr>
          <p:cNvSpPr txBox="1"/>
          <p:nvPr/>
        </p:nvSpPr>
        <p:spPr>
          <a:xfrm>
            <a:off x="370114" y="2381925"/>
            <a:ext cx="5421086" cy="3797193"/>
          </a:xfrm>
          <a:prstGeom prst="rect">
            <a:avLst/>
          </a:prstGeom>
          <a:noFill/>
        </p:spPr>
        <p:txBody>
          <a:bodyPr wrap="square">
            <a:spAutoFit/>
          </a:bodyPr>
          <a:lstStyle/>
          <a:p>
            <a:pPr>
              <a:lnSpc>
                <a:spcPts val="1800"/>
              </a:lnSpc>
            </a:pPr>
            <a:r>
              <a:rPr lang="en-US" altLang="zh-TW" sz="1400" b="0" dirty="0">
                <a:solidFill>
                  <a:srgbClr val="008000"/>
                </a:solidFill>
                <a:effectLst/>
                <a:latin typeface="Fira Code" panose="020B0809050000020004" pitchFamily="49" charset="0"/>
              </a:rPr>
              <a:t># </a:t>
            </a:r>
            <a:r>
              <a:rPr lang="zh-TW" altLang="en-US" sz="1400" b="0" dirty="0">
                <a:solidFill>
                  <a:srgbClr val="008000"/>
                </a:solidFill>
                <a:effectLst/>
                <a:latin typeface="Fira Code" panose="020B0809050000020004" pitchFamily="49" charset="0"/>
              </a:rPr>
              <a:t>計算</a:t>
            </a:r>
            <a:r>
              <a:rPr lang="en" altLang="zh-TW" sz="1400" b="0" dirty="0">
                <a:solidFill>
                  <a:srgbClr val="008000"/>
                </a:solidFill>
                <a:effectLst/>
                <a:latin typeface="Fira Code" panose="020B0809050000020004" pitchFamily="49" charset="0"/>
              </a:rPr>
              <a:t>ROC</a:t>
            </a:r>
            <a:r>
              <a:rPr lang="zh-TW" altLang="en-US" sz="1400" b="0" dirty="0">
                <a:solidFill>
                  <a:srgbClr val="008000"/>
                </a:solidFill>
                <a:effectLst/>
                <a:latin typeface="Fira Code" panose="020B0809050000020004" pitchFamily="49" charset="0"/>
              </a:rPr>
              <a:t>曲線和</a:t>
            </a:r>
            <a:r>
              <a:rPr lang="en" altLang="zh-TW" sz="1400" b="0" dirty="0">
                <a:solidFill>
                  <a:srgbClr val="008000"/>
                </a:solidFill>
                <a:effectLst/>
                <a:latin typeface="Fira Code" panose="020B0809050000020004" pitchFamily="49" charset="0"/>
              </a:rPr>
              <a:t>AUC</a:t>
            </a:r>
            <a:r>
              <a:rPr lang="zh-TW" altLang="en-US" sz="1400" b="0" dirty="0">
                <a:solidFill>
                  <a:srgbClr val="008000"/>
                </a:solidFill>
                <a:effectLst/>
                <a:latin typeface="Fira Code" panose="020B0809050000020004" pitchFamily="49" charset="0"/>
              </a:rPr>
              <a:t>值</a:t>
            </a:r>
            <a:endParaRPr lang="zh-TW" altLang="en-US" sz="1400" b="0" dirty="0">
              <a:solidFill>
                <a:srgbClr val="3B3B3B"/>
              </a:solidFill>
              <a:effectLst/>
              <a:latin typeface="Fira Code" panose="020B0809050000020004" pitchFamily="49" charset="0"/>
            </a:endParaRPr>
          </a:p>
          <a:p>
            <a:pPr>
              <a:lnSpc>
                <a:spcPts val="1800"/>
              </a:lnSpc>
            </a:pPr>
            <a:br>
              <a:rPr lang="zh-TW" altLang="en-US" sz="1400" b="0" dirty="0">
                <a:solidFill>
                  <a:srgbClr val="3B3B3B"/>
                </a:solidFill>
                <a:effectLst/>
                <a:latin typeface="Fira Code" panose="020B0809050000020004" pitchFamily="49" charset="0"/>
              </a:rPr>
            </a:br>
            <a:r>
              <a:rPr lang="en" altLang="zh-TW" sz="1400" b="0" dirty="0">
                <a:solidFill>
                  <a:srgbClr val="AF00DB"/>
                </a:solidFill>
                <a:effectLst/>
                <a:latin typeface="Fira Code" panose="020B0809050000020004" pitchFamily="49" charset="0"/>
              </a:rPr>
              <a:t>import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matplotlib</a:t>
            </a:r>
            <a:r>
              <a:rPr lang="en" altLang="zh-TW" sz="1400" b="0" dirty="0" err="1">
                <a:solidFill>
                  <a:srgbClr val="3B3B3B"/>
                </a:solidFill>
                <a:effectLst/>
                <a:latin typeface="Fira Code" panose="020B0809050000020004" pitchFamily="49" charset="0"/>
              </a:rPr>
              <a:t>.</a:t>
            </a:r>
            <a:r>
              <a:rPr lang="en" altLang="zh-TW" sz="1400" b="0" dirty="0" err="1">
                <a:solidFill>
                  <a:srgbClr val="267F99"/>
                </a:solidFill>
                <a:effectLst/>
                <a:latin typeface="Fira Code" panose="020B0809050000020004" pitchFamily="49" charset="0"/>
              </a:rPr>
              <a:t>pyplot</a:t>
            </a:r>
            <a:r>
              <a:rPr lang="en" altLang="zh-TW" sz="1400" b="0" dirty="0">
                <a:solidFill>
                  <a:srgbClr val="3B3B3B"/>
                </a:solidFill>
                <a:effectLst/>
                <a:latin typeface="Fira Code" panose="020B0809050000020004" pitchFamily="49" charset="0"/>
              </a:rPr>
              <a:t> </a:t>
            </a:r>
            <a:r>
              <a:rPr lang="en" altLang="zh-TW" sz="1400" b="0" dirty="0">
                <a:solidFill>
                  <a:srgbClr val="AF00DB"/>
                </a:solidFill>
                <a:effectLst/>
                <a:latin typeface="Fira Code" panose="020B0809050000020004" pitchFamily="49" charset="0"/>
              </a:rPr>
              <a:t>as</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plt</a:t>
            </a:r>
            <a:endParaRPr lang="en" altLang="zh-TW" sz="1400" b="0" dirty="0">
              <a:solidFill>
                <a:srgbClr val="3B3B3B"/>
              </a:solidFill>
              <a:effectLst/>
              <a:latin typeface="Fira Code" panose="020B0809050000020004" pitchFamily="49" charset="0"/>
            </a:endParaRPr>
          </a:p>
          <a:p>
            <a:pPr>
              <a:lnSpc>
                <a:spcPts val="1800"/>
              </a:lnSpc>
            </a:pPr>
            <a:r>
              <a:rPr lang="en" altLang="zh-TW" sz="1400" b="0" dirty="0">
                <a:solidFill>
                  <a:srgbClr val="AF00DB"/>
                </a:solidFill>
                <a:effectLst/>
                <a:latin typeface="Fira Code" panose="020B0809050000020004" pitchFamily="49" charset="0"/>
              </a:rPr>
              <a:t>import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numpy</a:t>
            </a:r>
            <a:r>
              <a:rPr lang="en" altLang="zh-TW" sz="1400" b="0" dirty="0">
                <a:solidFill>
                  <a:srgbClr val="3B3B3B"/>
                </a:solidFill>
                <a:effectLst/>
                <a:latin typeface="Fira Code" panose="020B0809050000020004" pitchFamily="49" charset="0"/>
              </a:rPr>
              <a:t> </a:t>
            </a:r>
            <a:r>
              <a:rPr lang="en" altLang="zh-TW" sz="1400" b="0" dirty="0">
                <a:solidFill>
                  <a:srgbClr val="AF00DB"/>
                </a:solidFill>
                <a:effectLst/>
                <a:latin typeface="Fira Code" panose="020B0809050000020004" pitchFamily="49" charset="0"/>
              </a:rPr>
              <a:t>as</a:t>
            </a:r>
            <a:r>
              <a:rPr lang="en" altLang="zh-TW" sz="1400" b="0" dirty="0">
                <a:solidFill>
                  <a:srgbClr val="3B3B3B"/>
                </a:solidFill>
                <a:effectLst/>
                <a:latin typeface="Fira Code" panose="020B0809050000020004" pitchFamily="49" charset="0"/>
              </a:rPr>
              <a:t> </a:t>
            </a:r>
            <a:r>
              <a:rPr lang="en" altLang="zh-TW" sz="1400" b="0" dirty="0">
                <a:solidFill>
                  <a:srgbClr val="267F99"/>
                </a:solidFill>
                <a:effectLst/>
                <a:latin typeface="Fira Code" panose="020B0809050000020004" pitchFamily="49" charset="0"/>
              </a:rPr>
              <a:t>np</a:t>
            </a:r>
            <a:endParaRPr lang="en" altLang="zh-TW" sz="1400" b="0" dirty="0">
              <a:solidFill>
                <a:srgbClr val="3B3B3B"/>
              </a:solidFill>
              <a:effectLst/>
              <a:latin typeface="Fira Code" panose="020B0809050000020004" pitchFamily="49" charset="0"/>
            </a:endParaRPr>
          </a:p>
          <a:p>
            <a:pPr>
              <a:lnSpc>
                <a:spcPts val="1800"/>
              </a:lnSpc>
            </a:pPr>
            <a:br>
              <a:rPr lang="en" altLang="zh-TW" sz="1400" b="0" dirty="0">
                <a:solidFill>
                  <a:srgbClr val="3B3B3B"/>
                </a:solidFill>
                <a:effectLst/>
                <a:latin typeface="Fira Code" panose="020B0809050000020004" pitchFamily="49" charset="0"/>
              </a:rPr>
            </a:br>
            <a:r>
              <a:rPr lang="en" altLang="zh-TW" sz="1400" b="0" dirty="0">
                <a:solidFill>
                  <a:srgbClr val="008000"/>
                </a:solidFill>
                <a:effectLst/>
                <a:latin typeface="Fira Code" panose="020B0809050000020004" pitchFamily="49" charset="0"/>
              </a:rPr>
              <a:t># </a:t>
            </a:r>
            <a:r>
              <a:rPr lang="zh-TW" altLang="en-US" sz="1400" b="0" dirty="0">
                <a:solidFill>
                  <a:srgbClr val="008000"/>
                </a:solidFill>
                <a:effectLst/>
                <a:latin typeface="Fira Code" panose="020B0809050000020004" pitchFamily="49" charset="0"/>
              </a:rPr>
              <a:t>假設的真實標籤和預測分數（</a:t>
            </a:r>
            <a:r>
              <a:rPr lang="en-US" altLang="zh-TW" sz="1400" b="0" dirty="0">
                <a:solidFill>
                  <a:srgbClr val="008000"/>
                </a:solidFill>
                <a:effectLst/>
                <a:latin typeface="Fira Code" panose="020B0809050000020004" pitchFamily="49" charset="0"/>
              </a:rPr>
              <a:t>20</a:t>
            </a:r>
            <a:r>
              <a:rPr lang="zh-TW" altLang="en-US" sz="1400" b="0" dirty="0">
                <a:solidFill>
                  <a:srgbClr val="008000"/>
                </a:solidFill>
                <a:effectLst/>
                <a:latin typeface="Fira Code" panose="020B0809050000020004" pitchFamily="49" charset="0"/>
              </a:rPr>
              <a:t>組）</a:t>
            </a:r>
            <a:endParaRPr lang="zh-TW" altLang="en-US" sz="1400" b="0" dirty="0">
              <a:solidFill>
                <a:srgbClr val="3B3B3B"/>
              </a:solidFill>
              <a:effectLst/>
              <a:latin typeface="Fira Code" panose="020B0809050000020004" pitchFamily="49" charset="0"/>
            </a:endParaRPr>
          </a:p>
          <a:p>
            <a:pPr>
              <a:lnSpc>
                <a:spcPts val="1800"/>
              </a:lnSpc>
            </a:pPr>
            <a:r>
              <a:rPr lang="en" altLang="zh-TW" sz="1400" b="0" dirty="0" err="1">
                <a:solidFill>
                  <a:srgbClr val="001080"/>
                </a:solidFill>
                <a:effectLst/>
                <a:latin typeface="Fira Code" panose="020B0809050000020004" pitchFamily="49" charset="0"/>
              </a:rPr>
              <a:t>y_true</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array</a:t>
            </a:r>
            <a:r>
              <a:rPr lang="en" altLang="zh-TW" sz="1400" b="0" dirty="0">
                <a:solidFill>
                  <a:srgbClr val="3B3B3B"/>
                </a:solidFill>
                <a:effectLst/>
                <a:latin typeface="Fira Code" panose="020B0809050000020004" pitchFamily="49" charset="0"/>
              </a:rPr>
              <a:t>([</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a:t>
            </a:r>
            <a:r>
              <a:rPr lang="zh-TW" altLang="en-US"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a:t>
            </a:r>
          </a:p>
          <a:p>
            <a:pPr>
              <a:lnSpc>
                <a:spcPts val="1800"/>
              </a:lnSpc>
            </a:pPr>
            <a:r>
              <a:rPr lang="en" altLang="zh-TW" sz="1400" b="0" dirty="0">
                <a:solidFill>
                  <a:srgbClr val="001080"/>
                </a:solidFill>
                <a:effectLst/>
                <a:latin typeface="Fira Code" panose="020B0809050000020004" pitchFamily="49" charset="0"/>
              </a:rPr>
              <a:t>y_scores_model1</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array</a:t>
            </a:r>
            <a:r>
              <a:rPr lang="en" altLang="zh-TW" sz="1400" b="0" dirty="0">
                <a:solidFill>
                  <a:srgbClr val="3B3B3B"/>
                </a:solidFill>
                <a:effectLst/>
                <a:latin typeface="Fira Code" panose="020B0809050000020004" pitchFamily="49" charset="0"/>
              </a:rPr>
              <a:t>([</a:t>
            </a:r>
            <a:r>
              <a:rPr lang="en" altLang="zh-TW" sz="1400" b="0" dirty="0">
                <a:solidFill>
                  <a:srgbClr val="098658"/>
                </a:solidFill>
                <a:effectLst/>
                <a:latin typeface="Fira Code" panose="020B0809050000020004" pitchFamily="49" charset="0"/>
              </a:rPr>
              <a:t>0.1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0.4</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0.35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0.8</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0.2</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0.6</a:t>
            </a:r>
            <a:r>
              <a:rPr lang="en" altLang="zh-TW" sz="1400" b="0" dirty="0">
                <a:solidFill>
                  <a:srgbClr val="3B3B3B"/>
                </a:solidFill>
                <a:effectLst/>
                <a:latin typeface="Fira Code" panose="020B0809050000020004" pitchFamily="49" charset="0"/>
              </a:rPr>
              <a:t>,</a:t>
            </a:r>
            <a:r>
              <a:rPr lang="zh-TW" altLang="en-US"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0.3</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0.9</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0.4</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0.7</a:t>
            </a:r>
            <a:r>
              <a:rPr lang="en" altLang="zh-TW" sz="1400" b="0" dirty="0">
                <a:solidFill>
                  <a:srgbClr val="3B3B3B"/>
                </a:solidFill>
                <a:effectLst/>
                <a:latin typeface="Fira Code" panose="020B0809050000020004" pitchFamily="49" charset="0"/>
              </a:rPr>
              <a:t>,</a:t>
            </a:r>
          </a:p>
          <a:p>
            <a:pPr>
              <a:lnSpc>
                <a:spcPts val="1800"/>
              </a:lnSpc>
            </a:pPr>
            <a:r>
              <a:rPr lang="en" altLang="zh-TW" sz="1400" b="0" dirty="0">
                <a:solidFill>
                  <a:srgbClr val="098658"/>
                </a:solidFill>
                <a:effectLst/>
                <a:latin typeface="Fira Code" panose="020B0809050000020004" pitchFamily="49" charset="0"/>
              </a:rPr>
              <a:t>0.15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0.85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0.25</a:t>
            </a:r>
            <a:r>
              <a:rPr lang="en" altLang="zh-TW" sz="1400" b="0" dirty="0">
                <a:solidFill>
                  <a:srgbClr val="3B3B3B"/>
                </a:solidFill>
                <a:effectLst/>
                <a:latin typeface="Fira Code" panose="020B0809050000020004" pitchFamily="49" charset="0"/>
              </a:rPr>
              <a:t>,</a:t>
            </a:r>
            <a:r>
              <a:rPr lang="zh-TW" altLang="en-US"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0.65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0.55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0.45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0.75</a:t>
            </a:r>
            <a:r>
              <a:rPr lang="en" altLang="zh-TW" sz="1400" b="0" dirty="0">
                <a:solidFill>
                  <a:srgbClr val="3B3B3B"/>
                </a:solidFill>
                <a:effectLst/>
                <a:latin typeface="Fira Code" panose="020B0809050000020004" pitchFamily="49" charset="0"/>
              </a:rPr>
              <a:t>,</a:t>
            </a:r>
            <a:r>
              <a:rPr lang="zh-TW" altLang="en-US"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0.05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0.95</a:t>
            </a:r>
            <a:r>
              <a:rPr lang="en" altLang="zh-TW" sz="1400" b="0" dirty="0">
                <a:solidFill>
                  <a:srgbClr val="3B3B3B"/>
                </a:solidFill>
                <a:effectLst/>
                <a:latin typeface="Fira Code" panose="020B0809050000020004" pitchFamily="49" charset="0"/>
              </a:rPr>
              <a:t>])</a:t>
            </a:r>
          </a:p>
          <a:p>
            <a:pPr>
              <a:lnSpc>
                <a:spcPts val="1800"/>
              </a:lnSpc>
            </a:pPr>
            <a:r>
              <a:rPr lang="en" altLang="zh-TW" sz="1400" b="0" dirty="0">
                <a:solidFill>
                  <a:srgbClr val="001080"/>
                </a:solidFill>
                <a:effectLst/>
                <a:latin typeface="Fira Code" panose="020B0809050000020004" pitchFamily="49" charset="0"/>
              </a:rPr>
              <a:t>y_scores_model2</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array</a:t>
            </a:r>
            <a:r>
              <a:rPr lang="en" altLang="zh-TW" sz="1400" b="0" dirty="0">
                <a:solidFill>
                  <a:srgbClr val="3B3B3B"/>
                </a:solidFill>
                <a:effectLst/>
                <a:latin typeface="Fira Code" panose="020B0809050000020004" pitchFamily="49" charset="0"/>
              </a:rPr>
              <a:t>([</a:t>
            </a:r>
            <a:r>
              <a:rPr lang="en" altLang="zh-TW" sz="1400" b="0" dirty="0">
                <a:solidFill>
                  <a:srgbClr val="098658"/>
                </a:solidFill>
                <a:effectLst/>
                <a:latin typeface="Fira Code" panose="020B0809050000020004" pitchFamily="49" charset="0"/>
              </a:rPr>
              <a:t>0.05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0.6</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0.7</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0.9</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0.65</a:t>
            </a:r>
            <a:r>
              <a:rPr lang="en" altLang="zh-TW" sz="1400" b="0" dirty="0">
                <a:solidFill>
                  <a:srgbClr val="3B3B3B"/>
                </a:solidFill>
                <a:effectLst/>
                <a:latin typeface="Fira Code" panose="020B0809050000020004" pitchFamily="49" charset="0"/>
              </a:rPr>
              <a:t>,</a:t>
            </a:r>
            <a:r>
              <a:rPr lang="zh-TW" altLang="en-US"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0.2</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0.8</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0.3</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0.75</a:t>
            </a:r>
            <a:r>
              <a:rPr lang="en" altLang="zh-TW" sz="1400" b="0" dirty="0">
                <a:solidFill>
                  <a:srgbClr val="3B3B3B"/>
                </a:solidFill>
                <a:effectLst/>
                <a:latin typeface="Fira Code" panose="020B0809050000020004" pitchFamily="49" charset="0"/>
              </a:rPr>
              <a:t>,</a:t>
            </a:r>
          </a:p>
          <a:p>
            <a:pPr>
              <a:lnSpc>
                <a:spcPts val="1800"/>
              </a:lnSpc>
            </a:pPr>
            <a:r>
              <a:rPr lang="en" altLang="zh-TW" sz="1400" b="0" dirty="0">
                <a:solidFill>
                  <a:srgbClr val="098658"/>
                </a:solidFill>
                <a:effectLst/>
                <a:latin typeface="Fira Code" panose="020B0809050000020004" pitchFamily="49" charset="0"/>
              </a:rPr>
              <a:t>0.1</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0.9</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0.55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0.15</a:t>
            </a:r>
            <a:r>
              <a:rPr lang="en" altLang="zh-TW" sz="1400" b="0" dirty="0">
                <a:solidFill>
                  <a:srgbClr val="3B3B3B"/>
                </a:solidFill>
                <a:effectLst/>
                <a:latin typeface="Fira Code" panose="020B0809050000020004" pitchFamily="49" charset="0"/>
              </a:rPr>
              <a:t>,</a:t>
            </a:r>
            <a:r>
              <a:rPr lang="zh-TW" altLang="en-US"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0.7</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0.4</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0.25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0.85</a:t>
            </a:r>
            <a:r>
              <a:rPr lang="en" altLang="zh-TW" sz="1400" b="0" dirty="0">
                <a:solidFill>
                  <a:srgbClr val="3B3B3B"/>
                </a:solidFill>
                <a:effectLst/>
                <a:latin typeface="Fira Code" panose="020B0809050000020004" pitchFamily="49" charset="0"/>
              </a:rPr>
              <a:t>,</a:t>
            </a:r>
            <a:r>
              <a:rPr lang="zh-TW" altLang="en-US"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0.05</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0.95</a:t>
            </a:r>
            <a:r>
              <a:rPr lang="en" altLang="zh-TW" sz="1400" b="0" dirty="0">
                <a:solidFill>
                  <a:srgbClr val="3B3B3B"/>
                </a:solidFill>
                <a:effectLst/>
                <a:latin typeface="Fira Code" panose="020B0809050000020004" pitchFamily="49" charset="0"/>
              </a:rPr>
              <a:t>])</a:t>
            </a:r>
          </a:p>
        </p:txBody>
      </p:sp>
      <p:sp>
        <p:nvSpPr>
          <p:cNvPr id="9" name="文字方塊 8">
            <a:extLst>
              <a:ext uri="{FF2B5EF4-FFF2-40B4-BE49-F238E27FC236}">
                <a16:creationId xmlns:a16="http://schemas.microsoft.com/office/drawing/2014/main" id="{150405BB-6FBD-0CCF-41BA-82146C1446C1}"/>
              </a:ext>
            </a:extLst>
          </p:cNvPr>
          <p:cNvSpPr txBox="1"/>
          <p:nvPr/>
        </p:nvSpPr>
        <p:spPr>
          <a:xfrm>
            <a:off x="6096000" y="1398021"/>
            <a:ext cx="6096000" cy="4474302"/>
          </a:xfrm>
          <a:prstGeom prst="rect">
            <a:avLst/>
          </a:prstGeom>
          <a:noFill/>
        </p:spPr>
        <p:txBody>
          <a:bodyPr wrap="square">
            <a:spAutoFit/>
          </a:bodyPr>
          <a:lstStyle/>
          <a:p>
            <a:pPr>
              <a:lnSpc>
                <a:spcPts val="1800"/>
              </a:lnSpc>
            </a:pPr>
            <a:r>
              <a:rPr lang="en" altLang="zh-TW" sz="1400" b="0" dirty="0">
                <a:solidFill>
                  <a:srgbClr val="0000FF"/>
                </a:solidFill>
                <a:effectLst/>
                <a:latin typeface="Fira Code" panose="020B0809050000020004" pitchFamily="49" charset="0"/>
              </a:rPr>
              <a:t>def</a:t>
            </a:r>
            <a:r>
              <a:rPr lang="en" altLang="zh-TW" sz="1400" b="0" dirty="0">
                <a:solidFill>
                  <a:srgbClr val="3B3B3B"/>
                </a:solidFill>
                <a:effectLst/>
                <a:latin typeface="Fira Code" panose="020B0809050000020004" pitchFamily="49" charset="0"/>
              </a:rPr>
              <a:t> </a:t>
            </a:r>
            <a:r>
              <a:rPr lang="en" altLang="zh-TW" sz="1400" b="0" dirty="0" err="1">
                <a:solidFill>
                  <a:srgbClr val="795E26"/>
                </a:solidFill>
                <a:effectLst/>
                <a:latin typeface="Fira Code" panose="020B0809050000020004" pitchFamily="49" charset="0"/>
              </a:rPr>
              <a:t>calculate_roc_auc</a:t>
            </a:r>
            <a:r>
              <a:rPr lang="en" altLang="zh-TW" sz="1400" b="0" dirty="0">
                <a:solidFill>
                  <a:srgbClr val="3B3B3B"/>
                </a:solidFill>
                <a:effectLst/>
                <a:latin typeface="Fira Code" panose="020B0809050000020004" pitchFamily="49" charset="0"/>
              </a:rPr>
              <a:t>(</a:t>
            </a:r>
            <a:r>
              <a:rPr lang="en" altLang="zh-TW" sz="1400" b="0" dirty="0" err="1">
                <a:solidFill>
                  <a:srgbClr val="001080"/>
                </a:solidFill>
                <a:effectLst/>
                <a:latin typeface="Fira Code" panose="020B0809050000020004" pitchFamily="49" charset="0"/>
              </a:rPr>
              <a:t>y_true</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y_scores</a:t>
            </a:r>
            <a:r>
              <a:rPr lang="en" altLang="zh-TW" sz="1400" b="0" dirty="0">
                <a:solidFill>
                  <a:srgbClr val="3B3B3B"/>
                </a:solidFill>
                <a:effectLst/>
                <a:latin typeface="Fira Code" panose="020B0809050000020004" pitchFamily="49" charset="0"/>
              </a:rPr>
              <a:t>):</a:t>
            </a:r>
          </a:p>
          <a:p>
            <a:pPr lvl="1">
              <a:lnSpc>
                <a:spcPts val="1800"/>
              </a:lnSpc>
            </a:pPr>
            <a:r>
              <a:rPr lang="en" altLang="zh-TW" sz="1400" b="0" dirty="0">
                <a:solidFill>
                  <a:srgbClr val="001080"/>
                </a:solidFill>
                <a:effectLst/>
                <a:latin typeface="Fira Code" panose="020B0809050000020004" pitchFamily="49" charset="0"/>
              </a:rPr>
              <a:t>thresholds</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sort</a:t>
            </a:r>
            <a:r>
              <a:rPr lang="en" altLang="zh-TW" sz="1400" b="0" dirty="0">
                <a:solidFill>
                  <a:srgbClr val="3B3B3B"/>
                </a:solidFill>
                <a:effectLst/>
                <a:latin typeface="Fira Code" panose="020B0809050000020004" pitchFamily="49" charset="0"/>
              </a:rPr>
              <a:t>(</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unique</a:t>
            </a:r>
            <a:r>
              <a:rPr lang="en" altLang="zh-TW" sz="1400" b="0" dirty="0">
                <a:solidFill>
                  <a:srgbClr val="3B3B3B"/>
                </a:solidFill>
                <a:effectLst/>
                <a:latin typeface="Fira Code" panose="020B0809050000020004" pitchFamily="49" charset="0"/>
              </a:rPr>
              <a:t>(</a:t>
            </a:r>
            <a:r>
              <a:rPr lang="en" altLang="zh-TW" sz="1400" b="0" dirty="0" err="1">
                <a:solidFill>
                  <a:srgbClr val="001080"/>
                </a:solidFill>
                <a:effectLst/>
                <a:latin typeface="Fira Code" panose="020B0809050000020004" pitchFamily="49" charset="0"/>
              </a:rPr>
              <a:t>y_scores</a:t>
            </a:r>
            <a:r>
              <a:rPr lang="en" altLang="zh-TW" sz="1400" b="0" dirty="0">
                <a:solidFill>
                  <a:srgbClr val="3B3B3B"/>
                </a:solidFill>
                <a:effectLst/>
                <a:latin typeface="Fira Code" panose="020B0809050000020004" pitchFamily="49" charset="0"/>
              </a:rPr>
              <a:t>))</a:t>
            </a:r>
          </a:p>
          <a:p>
            <a:pPr lvl="1">
              <a:lnSpc>
                <a:spcPts val="1800"/>
              </a:lnSpc>
            </a:pPr>
            <a:r>
              <a:rPr lang="en" altLang="zh-TW" sz="1400" b="0" dirty="0" err="1">
                <a:solidFill>
                  <a:srgbClr val="001080"/>
                </a:solidFill>
                <a:effectLst/>
                <a:latin typeface="Fira Code" panose="020B0809050000020004" pitchFamily="49" charset="0"/>
              </a:rPr>
              <a:t>tpr_list</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p>
          <a:p>
            <a:pPr lvl="1">
              <a:lnSpc>
                <a:spcPts val="1800"/>
              </a:lnSpc>
            </a:pPr>
            <a:r>
              <a:rPr lang="en" altLang="zh-TW" sz="1400" b="0" dirty="0" err="1">
                <a:solidFill>
                  <a:srgbClr val="001080"/>
                </a:solidFill>
                <a:effectLst/>
                <a:latin typeface="Fira Code" panose="020B0809050000020004" pitchFamily="49" charset="0"/>
              </a:rPr>
              <a:t>fpr_list</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p>
          <a:p>
            <a:pPr lvl="1">
              <a:lnSpc>
                <a:spcPts val="1800"/>
              </a:lnSpc>
            </a:pPr>
            <a:br>
              <a:rPr lang="en" altLang="zh-TW" sz="1400" b="0" dirty="0">
                <a:solidFill>
                  <a:srgbClr val="3B3B3B"/>
                </a:solidFill>
                <a:effectLst/>
                <a:latin typeface="Fira Code" panose="020B0809050000020004" pitchFamily="49" charset="0"/>
              </a:rPr>
            </a:br>
            <a:r>
              <a:rPr lang="en" altLang="zh-TW" sz="1400" b="0" dirty="0">
                <a:solidFill>
                  <a:srgbClr val="AF00DB"/>
                </a:solidFill>
                <a:effectLst/>
                <a:latin typeface="Fira Code" panose="020B0809050000020004" pitchFamily="49" charset="0"/>
              </a:rPr>
              <a:t>for</a:t>
            </a:r>
            <a:r>
              <a:rPr lang="en" altLang="zh-TW" sz="1400" b="0" dirty="0">
                <a:solidFill>
                  <a:srgbClr val="3B3B3B"/>
                </a:solidFill>
                <a:effectLst/>
                <a:latin typeface="Fira Code" panose="020B0809050000020004" pitchFamily="49" charset="0"/>
              </a:rPr>
              <a:t> </a:t>
            </a:r>
            <a:r>
              <a:rPr lang="en" altLang="zh-TW" sz="1400" b="0" dirty="0">
                <a:solidFill>
                  <a:srgbClr val="001080"/>
                </a:solidFill>
                <a:effectLst/>
                <a:latin typeface="Fira Code" panose="020B0809050000020004" pitchFamily="49" charset="0"/>
              </a:rPr>
              <a:t>threshold</a:t>
            </a:r>
            <a:r>
              <a:rPr lang="en" altLang="zh-TW" sz="1400" b="0" dirty="0">
                <a:solidFill>
                  <a:srgbClr val="3B3B3B"/>
                </a:solidFill>
                <a:effectLst/>
                <a:latin typeface="Fira Code" panose="020B0809050000020004" pitchFamily="49" charset="0"/>
              </a:rPr>
              <a:t> </a:t>
            </a:r>
            <a:r>
              <a:rPr lang="en" altLang="zh-TW" sz="1400" b="0" dirty="0">
                <a:solidFill>
                  <a:srgbClr val="795E26"/>
                </a:solidFill>
                <a:effectLst/>
                <a:latin typeface="Fira Code" panose="020B0809050000020004" pitchFamily="49" charset="0"/>
              </a:rPr>
              <a:t>in</a:t>
            </a:r>
            <a:r>
              <a:rPr lang="en" altLang="zh-TW" sz="1400" b="0" dirty="0">
                <a:solidFill>
                  <a:srgbClr val="3B3B3B"/>
                </a:solidFill>
                <a:effectLst/>
                <a:latin typeface="Fira Code" panose="020B0809050000020004" pitchFamily="49" charset="0"/>
              </a:rPr>
              <a:t> </a:t>
            </a:r>
            <a:r>
              <a:rPr lang="en" altLang="zh-TW" sz="1400" b="0" dirty="0">
                <a:solidFill>
                  <a:srgbClr val="001080"/>
                </a:solidFill>
                <a:effectLst/>
                <a:latin typeface="Fira Code" panose="020B0809050000020004" pitchFamily="49" charset="0"/>
              </a:rPr>
              <a:t>thresholds</a:t>
            </a:r>
            <a:r>
              <a:rPr lang="en" altLang="zh-TW" sz="1400" b="0" dirty="0">
                <a:solidFill>
                  <a:srgbClr val="3B3B3B"/>
                </a:solidFill>
                <a:effectLst/>
                <a:latin typeface="Fira Code" panose="020B0809050000020004" pitchFamily="49" charset="0"/>
              </a:rPr>
              <a:t>:</a:t>
            </a:r>
          </a:p>
          <a:p>
            <a:pPr lvl="2">
              <a:lnSpc>
                <a:spcPts val="1800"/>
              </a:lnSpc>
            </a:pPr>
            <a:r>
              <a:rPr lang="en" altLang="zh-TW" sz="1400" b="0" dirty="0" err="1">
                <a:solidFill>
                  <a:srgbClr val="001080"/>
                </a:solidFill>
                <a:effectLst/>
                <a:latin typeface="Fira Code" panose="020B0809050000020004" pitchFamily="49" charset="0"/>
              </a:rPr>
              <a:t>y_pred</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y_scores</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&gt;=</a:t>
            </a:r>
            <a:r>
              <a:rPr lang="en" altLang="zh-TW" sz="1400" b="0" dirty="0">
                <a:solidFill>
                  <a:srgbClr val="3B3B3B"/>
                </a:solidFill>
                <a:effectLst/>
                <a:latin typeface="Fira Code" panose="020B0809050000020004" pitchFamily="49" charset="0"/>
              </a:rPr>
              <a:t> </a:t>
            </a:r>
            <a:r>
              <a:rPr lang="en" altLang="zh-TW" sz="1400" b="0" dirty="0">
                <a:solidFill>
                  <a:srgbClr val="001080"/>
                </a:solidFill>
                <a:effectLst/>
                <a:latin typeface="Fira Code" panose="020B0809050000020004" pitchFamily="49" charset="0"/>
              </a:rPr>
              <a:t>threshold</a:t>
            </a:r>
            <a:r>
              <a:rPr lang="en" altLang="zh-TW" sz="1400" b="0" dirty="0">
                <a:solidFill>
                  <a:srgbClr val="3B3B3B"/>
                </a:solidFill>
                <a:effectLst/>
                <a:latin typeface="Fira Code" panose="020B0809050000020004" pitchFamily="49" charset="0"/>
              </a:rPr>
              <a:t>).</a:t>
            </a:r>
            <a:r>
              <a:rPr lang="en" altLang="zh-TW" sz="1400" b="0" dirty="0" err="1">
                <a:solidFill>
                  <a:srgbClr val="3B3B3B"/>
                </a:solidFill>
                <a:effectLst/>
                <a:latin typeface="Fira Code" panose="020B0809050000020004" pitchFamily="49" charset="0"/>
              </a:rPr>
              <a:t>astype</a:t>
            </a:r>
            <a:r>
              <a:rPr lang="en" altLang="zh-TW" sz="1400" b="0" dirty="0">
                <a:solidFill>
                  <a:srgbClr val="3B3B3B"/>
                </a:solidFill>
                <a:effectLst/>
                <a:latin typeface="Fira Code" panose="020B0809050000020004" pitchFamily="49" charset="0"/>
              </a:rPr>
              <a:t>(</a:t>
            </a:r>
            <a:r>
              <a:rPr lang="en" altLang="zh-TW" sz="1400" b="0" dirty="0">
                <a:solidFill>
                  <a:srgbClr val="267F99"/>
                </a:solidFill>
                <a:effectLst/>
                <a:latin typeface="Fira Code" panose="020B0809050000020004" pitchFamily="49" charset="0"/>
              </a:rPr>
              <a:t>int</a:t>
            </a:r>
            <a:r>
              <a:rPr lang="en" altLang="zh-TW" sz="1400" b="0" dirty="0">
                <a:solidFill>
                  <a:srgbClr val="3B3B3B"/>
                </a:solidFill>
                <a:effectLst/>
                <a:latin typeface="Fira Code" panose="020B0809050000020004" pitchFamily="49" charset="0"/>
              </a:rPr>
              <a:t>)</a:t>
            </a:r>
          </a:p>
          <a:p>
            <a:pPr lvl="2">
              <a:lnSpc>
                <a:spcPts val="1800"/>
              </a:lnSpc>
            </a:pPr>
            <a:r>
              <a:rPr lang="en" altLang="zh-TW" sz="1400" b="0" dirty="0">
                <a:solidFill>
                  <a:srgbClr val="0070C1"/>
                </a:solidFill>
                <a:effectLst/>
                <a:latin typeface="Fira Code" panose="020B0809050000020004" pitchFamily="49" charset="0"/>
              </a:rPr>
              <a:t>TP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sum</a:t>
            </a:r>
            <a:r>
              <a:rPr lang="en" altLang="zh-TW" sz="1400" b="0" dirty="0">
                <a:solidFill>
                  <a:srgbClr val="3B3B3B"/>
                </a:solidFill>
                <a:effectLst/>
                <a:latin typeface="Fira Code" panose="020B0809050000020004" pitchFamily="49" charset="0"/>
              </a:rPr>
              <a:t>((</a:t>
            </a:r>
            <a:r>
              <a:rPr lang="en" altLang="zh-TW" sz="1400" b="0" dirty="0" err="1">
                <a:solidFill>
                  <a:srgbClr val="001080"/>
                </a:solidFill>
                <a:effectLst/>
                <a:latin typeface="Fira Code" panose="020B0809050000020004" pitchFamily="49" charset="0"/>
              </a:rPr>
              <a:t>y_pred</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&amp;</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y_true</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a:t>
            </a:r>
          </a:p>
          <a:p>
            <a:pPr lvl="2">
              <a:lnSpc>
                <a:spcPts val="1800"/>
              </a:lnSpc>
            </a:pPr>
            <a:r>
              <a:rPr lang="en" altLang="zh-TW" sz="1400" b="0" dirty="0">
                <a:solidFill>
                  <a:srgbClr val="0070C1"/>
                </a:solidFill>
                <a:effectLst/>
                <a:latin typeface="Fira Code" panose="020B0809050000020004" pitchFamily="49" charset="0"/>
              </a:rPr>
              <a:t>FP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sum</a:t>
            </a:r>
            <a:r>
              <a:rPr lang="en" altLang="zh-TW" sz="1400" b="0" dirty="0">
                <a:solidFill>
                  <a:srgbClr val="3B3B3B"/>
                </a:solidFill>
                <a:effectLst/>
                <a:latin typeface="Fira Code" panose="020B0809050000020004" pitchFamily="49" charset="0"/>
              </a:rPr>
              <a:t>((</a:t>
            </a:r>
            <a:r>
              <a:rPr lang="en" altLang="zh-TW" sz="1400" b="0" dirty="0" err="1">
                <a:solidFill>
                  <a:srgbClr val="001080"/>
                </a:solidFill>
                <a:effectLst/>
                <a:latin typeface="Fira Code" panose="020B0809050000020004" pitchFamily="49" charset="0"/>
              </a:rPr>
              <a:t>y_pred</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&amp;</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y_true</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a:t>
            </a:r>
          </a:p>
          <a:p>
            <a:pPr lvl="2">
              <a:lnSpc>
                <a:spcPts val="1800"/>
              </a:lnSpc>
            </a:pPr>
            <a:r>
              <a:rPr lang="en" altLang="zh-TW" sz="1400" b="0" dirty="0">
                <a:solidFill>
                  <a:srgbClr val="0070C1"/>
                </a:solidFill>
                <a:effectLst/>
                <a:latin typeface="Fira Code" panose="020B0809050000020004" pitchFamily="49" charset="0"/>
              </a:rPr>
              <a:t>TN</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sum</a:t>
            </a:r>
            <a:r>
              <a:rPr lang="en" altLang="zh-TW" sz="1400" b="0" dirty="0">
                <a:solidFill>
                  <a:srgbClr val="3B3B3B"/>
                </a:solidFill>
                <a:effectLst/>
                <a:latin typeface="Fira Code" panose="020B0809050000020004" pitchFamily="49" charset="0"/>
              </a:rPr>
              <a:t>((</a:t>
            </a:r>
            <a:r>
              <a:rPr lang="en" altLang="zh-TW" sz="1400" b="0" dirty="0" err="1">
                <a:solidFill>
                  <a:srgbClr val="001080"/>
                </a:solidFill>
                <a:effectLst/>
                <a:latin typeface="Fira Code" panose="020B0809050000020004" pitchFamily="49" charset="0"/>
              </a:rPr>
              <a:t>y_pred</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&amp;</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y_true</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a:t>
            </a:r>
          </a:p>
          <a:p>
            <a:pPr lvl="2">
              <a:lnSpc>
                <a:spcPts val="1800"/>
              </a:lnSpc>
            </a:pPr>
            <a:r>
              <a:rPr lang="en" altLang="zh-TW" sz="1400" b="0" dirty="0">
                <a:solidFill>
                  <a:srgbClr val="0070C1"/>
                </a:solidFill>
                <a:effectLst/>
                <a:latin typeface="Fira Code" panose="020B0809050000020004" pitchFamily="49" charset="0"/>
              </a:rPr>
              <a:t>FN</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err="1">
                <a:solidFill>
                  <a:srgbClr val="267F99"/>
                </a:solidFill>
                <a:effectLst/>
                <a:latin typeface="Fira Code" panose="020B0809050000020004" pitchFamily="49" charset="0"/>
              </a:rPr>
              <a:t>np</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sum</a:t>
            </a:r>
            <a:r>
              <a:rPr lang="en" altLang="zh-TW" sz="1400" b="0" dirty="0">
                <a:solidFill>
                  <a:srgbClr val="3B3B3B"/>
                </a:solidFill>
                <a:effectLst/>
                <a:latin typeface="Fira Code" panose="020B0809050000020004" pitchFamily="49" charset="0"/>
              </a:rPr>
              <a:t>((</a:t>
            </a:r>
            <a:r>
              <a:rPr lang="en" altLang="zh-TW" sz="1400" b="0" dirty="0" err="1">
                <a:solidFill>
                  <a:srgbClr val="001080"/>
                </a:solidFill>
                <a:effectLst/>
                <a:latin typeface="Fira Code" panose="020B0809050000020004" pitchFamily="49" charset="0"/>
              </a:rPr>
              <a:t>y_pred</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&amp;</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y_true</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1</a:t>
            </a:r>
            <a:r>
              <a:rPr lang="en" altLang="zh-TW" sz="1400" b="0" dirty="0">
                <a:solidFill>
                  <a:srgbClr val="3B3B3B"/>
                </a:solidFill>
                <a:effectLst/>
                <a:latin typeface="Fira Code" panose="020B0809050000020004" pitchFamily="49" charset="0"/>
              </a:rPr>
              <a:t>))</a:t>
            </a:r>
          </a:p>
          <a:p>
            <a:pPr lvl="2">
              <a:lnSpc>
                <a:spcPts val="1800"/>
              </a:lnSpc>
            </a:pPr>
            <a:br>
              <a:rPr lang="en" altLang="zh-TW" sz="1400" b="0" dirty="0">
                <a:solidFill>
                  <a:srgbClr val="3B3B3B"/>
                </a:solidFill>
                <a:effectLst/>
                <a:latin typeface="Fira Code" panose="020B0809050000020004" pitchFamily="49" charset="0"/>
              </a:rPr>
            </a:br>
            <a:r>
              <a:rPr lang="en" altLang="zh-TW" sz="1400" b="0" dirty="0">
                <a:solidFill>
                  <a:srgbClr val="0070C1"/>
                </a:solidFill>
                <a:effectLst/>
                <a:latin typeface="Fira Code" panose="020B0809050000020004" pitchFamily="49" charset="0"/>
              </a:rPr>
              <a:t>TPR</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TP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TP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FN</a:t>
            </a:r>
            <a:r>
              <a:rPr lang="en" altLang="zh-TW" sz="1400" b="0" dirty="0">
                <a:solidFill>
                  <a:srgbClr val="3B3B3B"/>
                </a:solidFill>
                <a:effectLst/>
                <a:latin typeface="Fira Code" panose="020B0809050000020004" pitchFamily="49" charset="0"/>
              </a:rPr>
              <a:t>) </a:t>
            </a:r>
            <a:r>
              <a:rPr lang="en" altLang="zh-TW" sz="1400" b="0" dirty="0">
                <a:solidFill>
                  <a:srgbClr val="AF00DB"/>
                </a:solidFill>
                <a:effectLst/>
                <a:latin typeface="Fira Code" panose="020B0809050000020004" pitchFamily="49" charset="0"/>
              </a:rPr>
              <a:t>if</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TP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FN</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&gt;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AF00DB"/>
                </a:solidFill>
                <a:effectLst/>
                <a:latin typeface="Fira Code" panose="020B0809050000020004" pitchFamily="49" charset="0"/>
              </a:rPr>
              <a:t>else</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endParaRPr lang="en" altLang="zh-TW" sz="1400" b="0" dirty="0">
              <a:solidFill>
                <a:srgbClr val="3B3B3B"/>
              </a:solidFill>
              <a:effectLst/>
              <a:latin typeface="Fira Code" panose="020B0809050000020004" pitchFamily="49" charset="0"/>
            </a:endParaRPr>
          </a:p>
          <a:p>
            <a:pPr lvl="2">
              <a:lnSpc>
                <a:spcPts val="1800"/>
              </a:lnSpc>
            </a:pPr>
            <a:r>
              <a:rPr lang="en" altLang="zh-TW" sz="1400" b="0" dirty="0">
                <a:solidFill>
                  <a:srgbClr val="0070C1"/>
                </a:solidFill>
                <a:effectLst/>
                <a:latin typeface="Fira Code" panose="020B0809050000020004" pitchFamily="49" charset="0"/>
              </a:rPr>
              <a:t>FPR</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FP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FP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TN</a:t>
            </a:r>
            <a:r>
              <a:rPr lang="en" altLang="zh-TW" sz="1400" b="0" dirty="0">
                <a:solidFill>
                  <a:srgbClr val="3B3B3B"/>
                </a:solidFill>
                <a:effectLst/>
                <a:latin typeface="Fira Code" panose="020B0809050000020004" pitchFamily="49" charset="0"/>
              </a:rPr>
              <a:t>) </a:t>
            </a:r>
            <a:r>
              <a:rPr lang="en" altLang="zh-TW" sz="1400" b="0" dirty="0">
                <a:solidFill>
                  <a:srgbClr val="AF00DB"/>
                </a:solidFill>
                <a:effectLst/>
                <a:latin typeface="Fira Code" panose="020B0809050000020004" pitchFamily="49" charset="0"/>
              </a:rPr>
              <a:t>if</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FP</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a:t>
            </a:r>
            <a:r>
              <a:rPr lang="en" altLang="zh-TW" sz="1400" b="0" dirty="0">
                <a:solidFill>
                  <a:srgbClr val="3B3B3B"/>
                </a:solidFill>
                <a:effectLst/>
                <a:latin typeface="Fira Code" panose="020B0809050000020004" pitchFamily="49" charset="0"/>
              </a:rPr>
              <a:t> </a:t>
            </a:r>
            <a:r>
              <a:rPr lang="en" altLang="zh-TW" sz="1400" b="0" dirty="0">
                <a:solidFill>
                  <a:srgbClr val="0070C1"/>
                </a:solidFill>
                <a:effectLst/>
                <a:latin typeface="Fira Code" panose="020B0809050000020004" pitchFamily="49" charset="0"/>
              </a:rPr>
              <a:t>TN</a:t>
            </a:r>
            <a:r>
              <a:rPr lang="en" altLang="zh-TW" sz="1400" b="0" dirty="0">
                <a:solidFill>
                  <a:srgbClr val="3B3B3B"/>
                </a:solidFill>
                <a:effectLst/>
                <a:latin typeface="Fira Code" panose="020B0809050000020004" pitchFamily="49" charset="0"/>
              </a:rPr>
              <a:t>) </a:t>
            </a:r>
            <a:r>
              <a:rPr lang="en" altLang="zh-TW" sz="1400" b="0" dirty="0">
                <a:solidFill>
                  <a:srgbClr val="000000"/>
                </a:solidFill>
                <a:effectLst/>
                <a:latin typeface="Fira Code" panose="020B0809050000020004" pitchFamily="49" charset="0"/>
              </a:rPr>
              <a:t>&gt;</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r>
              <a:rPr lang="en" altLang="zh-TW" sz="1400" b="0" dirty="0">
                <a:solidFill>
                  <a:srgbClr val="3B3B3B"/>
                </a:solidFill>
                <a:effectLst/>
                <a:latin typeface="Fira Code" panose="020B0809050000020004" pitchFamily="49" charset="0"/>
              </a:rPr>
              <a:t> </a:t>
            </a:r>
            <a:r>
              <a:rPr lang="en" altLang="zh-TW" sz="1400" b="0" dirty="0">
                <a:solidFill>
                  <a:srgbClr val="AF00DB"/>
                </a:solidFill>
                <a:effectLst/>
                <a:latin typeface="Fira Code" panose="020B0809050000020004" pitchFamily="49" charset="0"/>
              </a:rPr>
              <a:t>else</a:t>
            </a:r>
            <a:r>
              <a:rPr lang="en" altLang="zh-TW" sz="1400" b="0" dirty="0">
                <a:solidFill>
                  <a:srgbClr val="3B3B3B"/>
                </a:solidFill>
                <a:effectLst/>
                <a:latin typeface="Fira Code" panose="020B0809050000020004" pitchFamily="49" charset="0"/>
              </a:rPr>
              <a:t> </a:t>
            </a:r>
            <a:r>
              <a:rPr lang="en" altLang="zh-TW" sz="1400" b="0" dirty="0">
                <a:solidFill>
                  <a:srgbClr val="098658"/>
                </a:solidFill>
                <a:effectLst/>
                <a:latin typeface="Fira Code" panose="020B0809050000020004" pitchFamily="49" charset="0"/>
              </a:rPr>
              <a:t>0</a:t>
            </a:r>
            <a:endParaRPr lang="en" altLang="zh-TW" sz="1400" b="0" dirty="0">
              <a:solidFill>
                <a:srgbClr val="3B3B3B"/>
              </a:solidFill>
              <a:effectLst/>
              <a:latin typeface="Fira Code" panose="020B0809050000020004" pitchFamily="49" charset="0"/>
            </a:endParaRPr>
          </a:p>
          <a:p>
            <a:pPr lvl="2">
              <a:lnSpc>
                <a:spcPts val="1800"/>
              </a:lnSpc>
            </a:pPr>
            <a:br>
              <a:rPr lang="en" altLang="zh-TW" sz="1400" b="0" dirty="0">
                <a:solidFill>
                  <a:srgbClr val="3B3B3B"/>
                </a:solidFill>
                <a:effectLst/>
                <a:latin typeface="Fira Code" panose="020B0809050000020004" pitchFamily="49" charset="0"/>
              </a:rPr>
            </a:br>
            <a:r>
              <a:rPr lang="en" altLang="zh-TW" sz="1400" b="0" dirty="0" err="1">
                <a:solidFill>
                  <a:srgbClr val="001080"/>
                </a:solidFill>
                <a:effectLst/>
                <a:latin typeface="Fira Code" panose="020B0809050000020004" pitchFamily="49" charset="0"/>
              </a:rPr>
              <a:t>tpr_list</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append</a:t>
            </a:r>
            <a:r>
              <a:rPr lang="en" altLang="zh-TW" sz="1400" b="0" dirty="0">
                <a:solidFill>
                  <a:srgbClr val="3B3B3B"/>
                </a:solidFill>
                <a:effectLst/>
                <a:latin typeface="Fira Code" panose="020B0809050000020004" pitchFamily="49" charset="0"/>
              </a:rPr>
              <a:t>(</a:t>
            </a:r>
            <a:r>
              <a:rPr lang="en" altLang="zh-TW" sz="1400" b="0" dirty="0">
                <a:solidFill>
                  <a:srgbClr val="0070C1"/>
                </a:solidFill>
                <a:effectLst/>
                <a:latin typeface="Fira Code" panose="020B0809050000020004" pitchFamily="49" charset="0"/>
              </a:rPr>
              <a:t>TPR</a:t>
            </a:r>
            <a:r>
              <a:rPr lang="en" altLang="zh-TW" sz="1400" b="0" dirty="0">
                <a:solidFill>
                  <a:srgbClr val="3B3B3B"/>
                </a:solidFill>
                <a:effectLst/>
                <a:latin typeface="Fira Code" panose="020B0809050000020004" pitchFamily="49" charset="0"/>
              </a:rPr>
              <a:t>)</a:t>
            </a:r>
          </a:p>
          <a:p>
            <a:pPr lvl="2">
              <a:lnSpc>
                <a:spcPts val="1800"/>
              </a:lnSpc>
            </a:pPr>
            <a:r>
              <a:rPr lang="en" altLang="zh-TW" sz="1400" b="0" dirty="0" err="1">
                <a:solidFill>
                  <a:srgbClr val="001080"/>
                </a:solidFill>
                <a:effectLst/>
                <a:latin typeface="Fira Code" panose="020B0809050000020004" pitchFamily="49" charset="0"/>
              </a:rPr>
              <a:t>fpr_list</a:t>
            </a:r>
            <a:r>
              <a:rPr lang="en" altLang="zh-TW" sz="1400" b="0" dirty="0" err="1">
                <a:solidFill>
                  <a:srgbClr val="3B3B3B"/>
                </a:solidFill>
                <a:effectLst/>
                <a:latin typeface="Fira Code" panose="020B0809050000020004" pitchFamily="49" charset="0"/>
              </a:rPr>
              <a:t>.</a:t>
            </a:r>
            <a:r>
              <a:rPr lang="en" altLang="zh-TW" sz="1400" b="0" dirty="0" err="1">
                <a:solidFill>
                  <a:srgbClr val="795E26"/>
                </a:solidFill>
                <a:effectLst/>
                <a:latin typeface="Fira Code" panose="020B0809050000020004" pitchFamily="49" charset="0"/>
              </a:rPr>
              <a:t>append</a:t>
            </a:r>
            <a:r>
              <a:rPr lang="en" altLang="zh-TW" sz="1400" b="0" dirty="0">
                <a:solidFill>
                  <a:srgbClr val="3B3B3B"/>
                </a:solidFill>
                <a:effectLst/>
                <a:latin typeface="Fira Code" panose="020B0809050000020004" pitchFamily="49" charset="0"/>
              </a:rPr>
              <a:t>(</a:t>
            </a:r>
            <a:r>
              <a:rPr lang="en" altLang="zh-TW" sz="1400" b="0" dirty="0">
                <a:solidFill>
                  <a:srgbClr val="0070C1"/>
                </a:solidFill>
                <a:effectLst/>
                <a:latin typeface="Fira Code" panose="020B0809050000020004" pitchFamily="49" charset="0"/>
              </a:rPr>
              <a:t>FPR</a:t>
            </a:r>
            <a:r>
              <a:rPr lang="en" altLang="zh-TW" sz="1400" b="0" dirty="0">
                <a:solidFill>
                  <a:srgbClr val="3B3B3B"/>
                </a:solidFill>
                <a:effectLst/>
                <a:latin typeface="Fira Code" panose="020B0809050000020004" pitchFamily="49" charset="0"/>
              </a:rPr>
              <a:t>)</a:t>
            </a:r>
          </a:p>
          <a:p>
            <a:pPr lvl="1">
              <a:lnSpc>
                <a:spcPts val="1800"/>
              </a:lnSpc>
            </a:pPr>
            <a:br>
              <a:rPr lang="en" altLang="zh-TW" sz="1400" b="0" dirty="0">
                <a:solidFill>
                  <a:srgbClr val="3B3B3B"/>
                </a:solidFill>
                <a:effectLst/>
                <a:latin typeface="Fira Code" panose="020B0809050000020004" pitchFamily="49" charset="0"/>
              </a:rPr>
            </a:br>
            <a:r>
              <a:rPr lang="en" altLang="zh-TW" sz="1400" b="0" dirty="0">
                <a:solidFill>
                  <a:srgbClr val="AF00DB"/>
                </a:solidFill>
                <a:effectLst/>
                <a:latin typeface="Fira Code" panose="020B0809050000020004" pitchFamily="49" charset="0"/>
              </a:rPr>
              <a:t>return</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tpr_list</a:t>
            </a:r>
            <a:r>
              <a:rPr lang="en" altLang="zh-TW" sz="1400" b="0" dirty="0">
                <a:solidFill>
                  <a:srgbClr val="3B3B3B"/>
                </a:solidFill>
                <a:effectLst/>
                <a:latin typeface="Fira Code" panose="020B0809050000020004" pitchFamily="49" charset="0"/>
              </a:rPr>
              <a:t>, </a:t>
            </a:r>
            <a:r>
              <a:rPr lang="en" altLang="zh-TW" sz="1400" b="0" dirty="0" err="1">
                <a:solidFill>
                  <a:srgbClr val="001080"/>
                </a:solidFill>
                <a:effectLst/>
                <a:latin typeface="Fira Code" panose="020B0809050000020004" pitchFamily="49" charset="0"/>
              </a:rPr>
              <a:t>fpr_list</a:t>
            </a:r>
            <a:endParaRPr lang="en" altLang="zh-TW" sz="1400" b="0" dirty="0">
              <a:solidFill>
                <a:srgbClr val="3B3B3B"/>
              </a:solidFill>
              <a:effectLst/>
              <a:latin typeface="Fira Code" panose="020B0809050000020004" pitchFamily="49" charset="0"/>
            </a:endParaRPr>
          </a:p>
        </p:txBody>
      </p:sp>
    </p:spTree>
    <p:extLst>
      <p:ext uri="{BB962C8B-B14F-4D97-AF65-F5344CB8AC3E}">
        <p14:creationId xmlns:p14="http://schemas.microsoft.com/office/powerpoint/2010/main" val="10821857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F4A9BF-3D71-34B9-F3FC-AD82FDF3B000}"/>
              </a:ext>
            </a:extLst>
          </p:cNvPr>
          <p:cNvSpPr>
            <a:spLocks noGrp="1"/>
          </p:cNvSpPr>
          <p:nvPr>
            <p:ph type="title"/>
          </p:nvPr>
        </p:nvSpPr>
        <p:spPr/>
        <p:txBody>
          <a:bodyPr/>
          <a:lstStyle/>
          <a:p>
            <a:r>
              <a:rPr kumimoji="1" lang="en-US" altLang="zh-TW" dirty="0"/>
              <a:t>ROC</a:t>
            </a:r>
            <a:r>
              <a:rPr kumimoji="1" lang="zh-TW" altLang="en-US" dirty="0"/>
              <a:t> </a:t>
            </a:r>
            <a:r>
              <a:rPr kumimoji="1" lang="en-US" altLang="zh-TW" dirty="0"/>
              <a:t>curve(</a:t>
            </a:r>
            <a:r>
              <a:rPr kumimoji="1" lang="zh-TW" altLang="en-US" dirty="0"/>
              <a:t>程式說明</a:t>
            </a:r>
            <a:r>
              <a:rPr kumimoji="1" lang="en-US" altLang="zh-TW" dirty="0"/>
              <a:t>)</a:t>
            </a:r>
            <a:endParaRPr kumimoji="1" lang="zh-TW" altLang="en-US" dirty="0"/>
          </a:p>
        </p:txBody>
      </p:sp>
      <p:sp>
        <p:nvSpPr>
          <p:cNvPr id="5" name="文字方塊 4">
            <a:extLst>
              <a:ext uri="{FF2B5EF4-FFF2-40B4-BE49-F238E27FC236}">
                <a16:creationId xmlns:a16="http://schemas.microsoft.com/office/drawing/2014/main" id="{D1E537FC-0A4F-238E-0443-E2CC8FEAA082}"/>
              </a:ext>
            </a:extLst>
          </p:cNvPr>
          <p:cNvSpPr txBox="1"/>
          <p:nvPr/>
        </p:nvSpPr>
        <p:spPr>
          <a:xfrm>
            <a:off x="762000" y="1534250"/>
            <a:ext cx="4952999" cy="3789499"/>
          </a:xfrm>
          <a:prstGeom prst="rect">
            <a:avLst/>
          </a:prstGeom>
          <a:noFill/>
        </p:spPr>
        <p:txBody>
          <a:bodyPr wrap="square">
            <a:spAutoFit/>
          </a:bodyPr>
          <a:lstStyle/>
          <a:p>
            <a:pPr>
              <a:lnSpc>
                <a:spcPts val="1800"/>
              </a:lnSpc>
            </a:pPr>
            <a:r>
              <a:rPr lang="en-US" altLang="zh-TW" sz="1600" b="0" dirty="0">
                <a:solidFill>
                  <a:srgbClr val="008000"/>
                </a:solidFill>
                <a:effectLst/>
                <a:latin typeface="Fira Code" panose="020B0809050000020004" pitchFamily="49" charset="0"/>
                <a:ea typeface="Fira Code" panose="020B0809050000020004" pitchFamily="49" charset="0"/>
              </a:rPr>
              <a:t># </a:t>
            </a:r>
            <a:r>
              <a:rPr lang="zh-TW" altLang="en-US" sz="1600" b="0" dirty="0">
                <a:solidFill>
                  <a:srgbClr val="008000"/>
                </a:solidFill>
                <a:effectLst/>
                <a:latin typeface="Fira Code" panose="020B0809050000020004" pitchFamily="49" charset="0"/>
              </a:rPr>
              <a:t>計算</a:t>
            </a:r>
            <a:r>
              <a:rPr lang="en" altLang="zh-TW" sz="1600" b="0" dirty="0">
                <a:solidFill>
                  <a:srgbClr val="008000"/>
                </a:solidFill>
                <a:effectLst/>
                <a:latin typeface="Fira Code" panose="020B0809050000020004" pitchFamily="49" charset="0"/>
                <a:ea typeface="Fira Code" panose="020B0809050000020004" pitchFamily="49" charset="0"/>
              </a:rPr>
              <a:t>ROC</a:t>
            </a:r>
            <a:r>
              <a:rPr lang="zh-TW" altLang="en-US" sz="1600" b="0" dirty="0">
                <a:solidFill>
                  <a:srgbClr val="008000"/>
                </a:solidFill>
                <a:effectLst/>
                <a:latin typeface="Fira Code" panose="020B0809050000020004" pitchFamily="49" charset="0"/>
              </a:rPr>
              <a:t>曲線</a:t>
            </a:r>
            <a:endParaRPr lang="zh-TW" altLang="en-US" sz="1600" b="0" dirty="0">
              <a:solidFill>
                <a:srgbClr val="3B3B3B"/>
              </a:solidFill>
              <a:effectLst/>
              <a:latin typeface="Fira Code" panose="020B0809050000020004" pitchFamily="49" charset="0"/>
            </a:endParaRPr>
          </a:p>
          <a:p>
            <a:pPr>
              <a:lnSpc>
                <a:spcPts val="1800"/>
              </a:lnSpc>
            </a:pPr>
            <a:r>
              <a:rPr lang="en" altLang="zh-TW" sz="1600" b="0" dirty="0">
                <a:solidFill>
                  <a:srgbClr val="001080"/>
                </a:solidFill>
                <a:effectLst/>
                <a:latin typeface="Fira Code" panose="020B0809050000020004" pitchFamily="49" charset="0"/>
                <a:ea typeface="Fira Code" panose="020B0809050000020004" pitchFamily="49" charset="0"/>
              </a:rPr>
              <a:t>tpr1</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fpr1</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0000"/>
                </a:solidFill>
                <a:effectLst/>
                <a:latin typeface="Fira Code" panose="020B0809050000020004" pitchFamily="49" charset="0"/>
                <a:ea typeface="Fira Code" panose="020B0809050000020004" pitchFamily="49" charset="0"/>
              </a:rPr>
              <a: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795E26"/>
                </a:solidFill>
                <a:effectLst/>
                <a:latin typeface="Fira Code" panose="020B0809050000020004" pitchFamily="49" charset="0"/>
                <a:ea typeface="Fira Code" panose="020B0809050000020004" pitchFamily="49" charset="0"/>
              </a:rPr>
              <a:t>calculate_roc_auc</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001080"/>
                </a:solidFill>
                <a:effectLst/>
                <a:latin typeface="Fira Code" panose="020B0809050000020004" pitchFamily="49" charset="0"/>
                <a:ea typeface="Fira Code" panose="020B0809050000020004" pitchFamily="49" charset="0"/>
              </a:rPr>
              <a:t>y_true</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y_scores_model1</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r>
              <a:rPr lang="en" altLang="zh-TW" sz="1600" b="0" dirty="0">
                <a:solidFill>
                  <a:srgbClr val="001080"/>
                </a:solidFill>
                <a:effectLst/>
                <a:latin typeface="Fira Code" panose="020B0809050000020004" pitchFamily="49" charset="0"/>
                <a:ea typeface="Fira Code" panose="020B0809050000020004" pitchFamily="49" charset="0"/>
              </a:rPr>
              <a:t>tpr2</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fpr2</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0000"/>
                </a:solidFill>
                <a:effectLst/>
                <a:latin typeface="Fira Code" panose="020B0809050000020004" pitchFamily="49" charset="0"/>
                <a:ea typeface="Fira Code" panose="020B0809050000020004" pitchFamily="49" charset="0"/>
              </a:rPr>
              <a:t>=</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err="1">
                <a:solidFill>
                  <a:srgbClr val="795E26"/>
                </a:solidFill>
                <a:effectLst/>
                <a:latin typeface="Fira Code" panose="020B0809050000020004" pitchFamily="49" charset="0"/>
                <a:ea typeface="Fira Code" panose="020B0809050000020004" pitchFamily="49" charset="0"/>
              </a:rPr>
              <a:t>calculate_roc_auc</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001080"/>
                </a:solidFill>
                <a:effectLst/>
                <a:latin typeface="Fira Code" panose="020B0809050000020004" pitchFamily="49" charset="0"/>
                <a:ea typeface="Fira Code" panose="020B0809050000020004" pitchFamily="49" charset="0"/>
              </a:rPr>
              <a:t>y_true</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y_scores_model2</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br>
              <a:rPr lang="en" altLang="zh-TW" sz="1600" b="0" dirty="0">
                <a:solidFill>
                  <a:srgbClr val="3B3B3B"/>
                </a:solidFill>
                <a:effectLst/>
                <a:latin typeface="Fira Code" panose="020B0809050000020004" pitchFamily="49" charset="0"/>
                <a:ea typeface="Fira Code" panose="020B0809050000020004" pitchFamily="49" charset="0"/>
              </a:rPr>
            </a:br>
            <a:r>
              <a:rPr lang="en" altLang="zh-TW" sz="1600" b="0" dirty="0">
                <a:solidFill>
                  <a:srgbClr val="008000"/>
                </a:solidFill>
                <a:effectLst/>
                <a:latin typeface="Fira Code" panose="020B0809050000020004" pitchFamily="49" charset="0"/>
                <a:ea typeface="Fira Code" panose="020B0809050000020004" pitchFamily="49" charset="0"/>
              </a:rPr>
              <a:t># </a:t>
            </a:r>
            <a:r>
              <a:rPr lang="zh-TW" altLang="en-US" sz="1600" b="0" dirty="0">
                <a:solidFill>
                  <a:srgbClr val="008000"/>
                </a:solidFill>
                <a:effectLst/>
                <a:latin typeface="Fira Code" panose="020B0809050000020004" pitchFamily="49" charset="0"/>
              </a:rPr>
              <a:t>繪製</a:t>
            </a:r>
            <a:r>
              <a:rPr lang="en" altLang="zh-TW" sz="1600" b="0" dirty="0">
                <a:solidFill>
                  <a:srgbClr val="008000"/>
                </a:solidFill>
                <a:effectLst/>
                <a:latin typeface="Fira Code" panose="020B0809050000020004" pitchFamily="49" charset="0"/>
                <a:ea typeface="Fira Code" panose="020B0809050000020004" pitchFamily="49" charset="0"/>
              </a:rPr>
              <a:t>ROC</a:t>
            </a:r>
            <a:r>
              <a:rPr lang="zh-TW" altLang="en-US" sz="1600" b="0" dirty="0">
                <a:solidFill>
                  <a:srgbClr val="008000"/>
                </a:solidFill>
                <a:effectLst/>
                <a:latin typeface="Fira Code" panose="020B0809050000020004" pitchFamily="49" charset="0"/>
              </a:rPr>
              <a:t>曲線</a:t>
            </a:r>
            <a:endParaRPr lang="zh-TW" altLang="en-US" sz="1600" b="0" dirty="0">
              <a:solidFill>
                <a:srgbClr val="3B3B3B"/>
              </a:solidFill>
              <a:effectLst/>
              <a:latin typeface="Fira Code" panose="020B0809050000020004" pitchFamily="49" charset="0"/>
            </a:endParaRP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plot</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001080"/>
                </a:solidFill>
                <a:effectLst/>
                <a:latin typeface="Fira Code" panose="020B0809050000020004" pitchFamily="49" charset="0"/>
                <a:ea typeface="Fira Code" panose="020B0809050000020004" pitchFamily="49" charset="0"/>
              </a:rPr>
              <a:t>fpr1</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tpr1</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label</a:t>
            </a:r>
            <a:r>
              <a:rPr lang="en" altLang="zh-TW" sz="1600" b="0" dirty="0">
                <a:solidFill>
                  <a:srgbClr val="000000"/>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'Model 1'</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plot</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001080"/>
                </a:solidFill>
                <a:effectLst/>
                <a:latin typeface="Fira Code" panose="020B0809050000020004" pitchFamily="49" charset="0"/>
                <a:ea typeface="Fira Code" panose="020B0809050000020004" pitchFamily="49" charset="0"/>
              </a:rPr>
              <a:t>fpr2</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tpr2</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01080"/>
                </a:solidFill>
                <a:effectLst/>
                <a:latin typeface="Fira Code" panose="020B0809050000020004" pitchFamily="49" charset="0"/>
                <a:ea typeface="Fira Code" panose="020B0809050000020004" pitchFamily="49" charset="0"/>
              </a:rPr>
              <a:t>label</a:t>
            </a:r>
            <a:r>
              <a:rPr lang="en" altLang="zh-TW" sz="1600" b="0" dirty="0">
                <a:solidFill>
                  <a:srgbClr val="000000"/>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'Model 2'</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plot</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098658"/>
                </a:solidFill>
                <a:effectLst/>
                <a:latin typeface="Fira Code" panose="020B0809050000020004" pitchFamily="49" charset="0"/>
                <a:ea typeface="Fira Code" panose="020B0809050000020004" pitchFamily="49" charset="0"/>
              </a:rPr>
              <a:t>0</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98658"/>
                </a:solidFill>
                <a:effectLst/>
                <a:latin typeface="Fira Code" panose="020B0809050000020004" pitchFamily="49" charset="0"/>
                <a:ea typeface="Fira Code" panose="020B0809050000020004" pitchFamily="49" charset="0"/>
              </a:rPr>
              <a:t>1</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98658"/>
                </a:solidFill>
                <a:effectLst/>
                <a:latin typeface="Fira Code" panose="020B0809050000020004" pitchFamily="49" charset="0"/>
                <a:ea typeface="Fira Code" panose="020B0809050000020004" pitchFamily="49" charset="0"/>
              </a:rPr>
              <a:t>0</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098658"/>
                </a:solidFill>
                <a:effectLst/>
                <a:latin typeface="Fira Code" panose="020B0809050000020004" pitchFamily="49" charset="0"/>
                <a:ea typeface="Fira Code" panose="020B0809050000020004" pitchFamily="49" charset="0"/>
              </a:rPr>
              <a:t>1</a:t>
            </a:r>
            <a:r>
              <a:rPr lang="en" altLang="zh-TW" sz="1600" b="0" dirty="0">
                <a:solidFill>
                  <a:srgbClr val="3B3B3B"/>
                </a:solidFill>
                <a:effectLst/>
                <a:latin typeface="Fira Code" panose="020B0809050000020004" pitchFamily="49" charset="0"/>
                <a:ea typeface="Fira Code" panose="020B0809050000020004" pitchFamily="49" charset="0"/>
              </a:rPr>
              <a:t>], </a:t>
            </a:r>
            <a:r>
              <a:rPr lang="en" altLang="zh-TW" sz="1600" b="0" dirty="0">
                <a:solidFill>
                  <a:srgbClr val="A31515"/>
                </a:solidFill>
                <a:effectLst/>
                <a:latin typeface="Fira Code" panose="020B0809050000020004" pitchFamily="49" charset="0"/>
                <a:ea typeface="Fira Code" panose="020B0809050000020004" pitchFamily="49" charset="0"/>
              </a:rPr>
              <a:t>'k--’</a:t>
            </a:r>
            <a:r>
              <a:rPr lang="en" altLang="zh-TW" sz="1600" b="0" dirty="0">
                <a:solidFill>
                  <a:srgbClr val="3B3B3B"/>
                </a:solidFill>
                <a:effectLst/>
                <a:latin typeface="Fira Code" panose="020B0809050000020004" pitchFamily="49" charset="0"/>
                <a:ea typeface="Fira Code" panose="020B0809050000020004" pitchFamily="49" charset="0"/>
              </a:rPr>
              <a:t>) </a:t>
            </a:r>
          </a:p>
          <a:p>
            <a:pPr>
              <a:lnSpc>
                <a:spcPts val="1800"/>
              </a:lnSpc>
            </a:pPr>
            <a:r>
              <a:rPr lang="en" altLang="zh-TW" sz="1600" b="0" dirty="0">
                <a:solidFill>
                  <a:srgbClr val="008000"/>
                </a:solidFill>
                <a:effectLst/>
                <a:latin typeface="Fira Code" panose="020B0809050000020004" pitchFamily="49" charset="0"/>
                <a:ea typeface="Fira Code" panose="020B0809050000020004" pitchFamily="49" charset="0"/>
              </a:rPr>
              <a:t># </a:t>
            </a:r>
            <a:r>
              <a:rPr lang="zh-TW" altLang="en-US" sz="1600" b="0" dirty="0">
                <a:solidFill>
                  <a:srgbClr val="008000"/>
                </a:solidFill>
                <a:effectLst/>
                <a:latin typeface="Fira Code" panose="020B0809050000020004" pitchFamily="49" charset="0"/>
              </a:rPr>
              <a:t>隨機猜測的基準線</a:t>
            </a:r>
            <a:endParaRPr lang="zh-TW" altLang="en-US" sz="1600" b="0" dirty="0">
              <a:solidFill>
                <a:srgbClr val="3B3B3B"/>
              </a:solidFill>
              <a:effectLst/>
              <a:latin typeface="Fira Code" panose="020B0809050000020004" pitchFamily="49" charset="0"/>
            </a:endParaRP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xlabel</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'False Positive Rate'</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ylabel</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'True Positive Rate'</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title</a:t>
            </a:r>
            <a:r>
              <a:rPr lang="en" altLang="zh-TW" sz="1600" b="0" dirty="0">
                <a:solidFill>
                  <a:srgbClr val="3B3B3B"/>
                </a:solidFill>
                <a:effectLst/>
                <a:latin typeface="Fira Code" panose="020B0809050000020004" pitchFamily="49" charset="0"/>
                <a:ea typeface="Fira Code" panose="020B0809050000020004" pitchFamily="49" charset="0"/>
              </a:rPr>
              <a:t>(</a:t>
            </a:r>
            <a:r>
              <a:rPr lang="en" altLang="zh-TW" sz="1600" b="0" dirty="0">
                <a:solidFill>
                  <a:srgbClr val="A31515"/>
                </a:solidFill>
                <a:effectLst/>
                <a:latin typeface="Fira Code" panose="020B0809050000020004" pitchFamily="49" charset="0"/>
                <a:ea typeface="Fira Code" panose="020B0809050000020004" pitchFamily="49" charset="0"/>
              </a:rPr>
              <a:t>'ROC Curve'</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legend</a:t>
            </a:r>
            <a:r>
              <a:rPr lang="en" altLang="zh-TW" sz="1600" b="0" dirty="0">
                <a:solidFill>
                  <a:srgbClr val="3B3B3B"/>
                </a:solidFill>
                <a:effectLst/>
                <a:latin typeface="Fira Code" panose="020B0809050000020004" pitchFamily="49" charset="0"/>
                <a:ea typeface="Fira Code" panose="020B0809050000020004" pitchFamily="49" charset="0"/>
              </a:rPr>
              <a:t>()</a:t>
            </a:r>
          </a:p>
          <a:p>
            <a:pPr>
              <a:lnSpc>
                <a:spcPts val="1800"/>
              </a:lnSpc>
            </a:pPr>
            <a:r>
              <a:rPr lang="en" altLang="zh-TW" sz="1600" b="0" dirty="0" err="1">
                <a:solidFill>
                  <a:srgbClr val="267F99"/>
                </a:solidFill>
                <a:effectLst/>
                <a:latin typeface="Fira Code" panose="020B0809050000020004" pitchFamily="49" charset="0"/>
                <a:ea typeface="Fira Code" panose="020B0809050000020004" pitchFamily="49" charset="0"/>
              </a:rPr>
              <a:t>plt</a:t>
            </a:r>
            <a:r>
              <a:rPr lang="en" altLang="zh-TW" sz="1600" b="0" dirty="0" err="1">
                <a:solidFill>
                  <a:srgbClr val="3B3B3B"/>
                </a:solidFill>
                <a:effectLst/>
                <a:latin typeface="Fira Code" panose="020B0809050000020004" pitchFamily="49" charset="0"/>
                <a:ea typeface="Fira Code" panose="020B0809050000020004" pitchFamily="49" charset="0"/>
              </a:rPr>
              <a:t>.</a:t>
            </a:r>
            <a:r>
              <a:rPr lang="en" altLang="zh-TW" sz="1600" b="0" dirty="0" err="1">
                <a:solidFill>
                  <a:srgbClr val="795E26"/>
                </a:solidFill>
                <a:effectLst/>
                <a:latin typeface="Fira Code" panose="020B0809050000020004" pitchFamily="49" charset="0"/>
                <a:ea typeface="Fira Code" panose="020B0809050000020004" pitchFamily="49" charset="0"/>
              </a:rPr>
              <a:t>show</a:t>
            </a:r>
            <a:r>
              <a:rPr lang="en" altLang="zh-TW" sz="1600" b="0" dirty="0">
                <a:solidFill>
                  <a:srgbClr val="3B3B3B"/>
                </a:solidFill>
                <a:effectLst/>
                <a:latin typeface="Fira Code" panose="020B0809050000020004" pitchFamily="49" charset="0"/>
                <a:ea typeface="Fira Code" panose="020B0809050000020004" pitchFamily="49" charset="0"/>
              </a:rPr>
              <a:t>()</a:t>
            </a:r>
          </a:p>
        </p:txBody>
      </p:sp>
      <p:pic>
        <p:nvPicPr>
          <p:cNvPr id="6" name="圖片 5">
            <a:extLst>
              <a:ext uri="{FF2B5EF4-FFF2-40B4-BE49-F238E27FC236}">
                <a16:creationId xmlns:a16="http://schemas.microsoft.com/office/drawing/2014/main" id="{929871D1-83E3-DF26-332D-6817B2B31999}"/>
              </a:ext>
            </a:extLst>
          </p:cNvPr>
          <p:cNvPicPr>
            <a:picLocks noChangeAspect="1"/>
          </p:cNvPicPr>
          <p:nvPr/>
        </p:nvPicPr>
        <p:blipFill>
          <a:blip r:embed="rId2"/>
          <a:stretch>
            <a:fillRect/>
          </a:stretch>
        </p:blipFill>
        <p:spPr>
          <a:xfrm>
            <a:off x="5845630" y="1447799"/>
            <a:ext cx="5820228" cy="4365171"/>
          </a:xfrm>
          <a:prstGeom prst="rect">
            <a:avLst/>
          </a:prstGeom>
        </p:spPr>
      </p:pic>
    </p:spTree>
    <p:extLst>
      <p:ext uri="{BB962C8B-B14F-4D97-AF65-F5344CB8AC3E}">
        <p14:creationId xmlns:p14="http://schemas.microsoft.com/office/powerpoint/2010/main" val="42687983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363421B-0E04-45D4-9FD3-BDEA8527B888}"/>
              </a:ext>
            </a:extLst>
          </p:cNvPr>
          <p:cNvSpPr>
            <a:spLocks noGrp="1"/>
          </p:cNvSpPr>
          <p:nvPr>
            <p:ph type="title"/>
          </p:nvPr>
        </p:nvSpPr>
        <p:spPr/>
        <p:txBody>
          <a:bodyPr/>
          <a:lstStyle/>
          <a:p>
            <a:r>
              <a:rPr lang="zh-TW" altLang="en-US" dirty="0"/>
              <a:t>多元分類問題</a:t>
            </a:r>
          </a:p>
        </p:txBody>
      </p:sp>
      <p:sp>
        <p:nvSpPr>
          <p:cNvPr id="5" name="文字版面配置區 4">
            <a:extLst>
              <a:ext uri="{FF2B5EF4-FFF2-40B4-BE49-F238E27FC236}">
                <a16:creationId xmlns:a16="http://schemas.microsoft.com/office/drawing/2014/main" id="{C9C1DA3C-4B12-4848-BBEA-A413DEBFDCA9}"/>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923862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6B5AFB95-38F3-4379-AC5A-83CFCDF9EDA7}"/>
              </a:ext>
            </a:extLst>
          </p:cNvPr>
          <p:cNvSpPr>
            <a:spLocks noGrp="1"/>
          </p:cNvSpPr>
          <p:nvPr>
            <p:ph type="title"/>
          </p:nvPr>
        </p:nvSpPr>
        <p:spPr/>
        <p:txBody>
          <a:bodyPr/>
          <a:lstStyle/>
          <a:p>
            <a:r>
              <a:rPr lang="zh-TW" altLang="en-US" dirty="0"/>
              <a:t>多元分類問題</a:t>
            </a:r>
          </a:p>
        </p:txBody>
      </p:sp>
      <p:sp>
        <p:nvSpPr>
          <p:cNvPr id="5" name="內容版面配置區 4">
            <a:extLst>
              <a:ext uri="{FF2B5EF4-FFF2-40B4-BE49-F238E27FC236}">
                <a16:creationId xmlns:a16="http://schemas.microsoft.com/office/drawing/2014/main" id="{61464AC1-D846-41F2-85C7-13FF0B74B4AA}"/>
              </a:ext>
            </a:extLst>
          </p:cNvPr>
          <p:cNvSpPr>
            <a:spLocks noGrp="1"/>
          </p:cNvSpPr>
          <p:nvPr>
            <p:ph idx="1"/>
          </p:nvPr>
        </p:nvSpPr>
        <p:spPr>
          <a:xfrm>
            <a:off x="838200" y="1825624"/>
            <a:ext cx="10515600" cy="4899025"/>
          </a:xfrm>
        </p:spPr>
        <p:txBody>
          <a:bodyPr>
            <a:normAutofit/>
          </a:bodyPr>
          <a:lstStyle/>
          <a:p>
            <a:r>
              <a:rPr lang="zh-TW" altLang="en-US" dirty="0"/>
              <a:t>如果只有二元分類器的話，採用訓練多組的「分類組合」來完成</a:t>
            </a:r>
            <a:endParaRPr lang="en-US" altLang="zh-TW" dirty="0"/>
          </a:p>
          <a:p>
            <a:pPr lvl="1"/>
            <a:r>
              <a:rPr lang="en-US" altLang="zh-TW" dirty="0"/>
              <a:t>One-vs-Rest</a:t>
            </a:r>
            <a:r>
              <a:rPr lang="zh-TW" altLang="en-US" dirty="0"/>
              <a:t>（</a:t>
            </a:r>
            <a:r>
              <a:rPr lang="en-US" altLang="zh-TW" dirty="0" err="1"/>
              <a:t>OvR</a:t>
            </a:r>
            <a:r>
              <a:rPr lang="zh-TW" altLang="en-US" dirty="0"/>
              <a:t>，一對多）</a:t>
            </a:r>
            <a:endParaRPr lang="en-US" altLang="zh-TW" dirty="0"/>
          </a:p>
          <a:p>
            <a:pPr lvl="2"/>
            <a:r>
              <a:rPr lang="zh-TW" altLang="en-US" dirty="0"/>
              <a:t>訓練 </a:t>
            </a:r>
            <a:r>
              <a:rPr lang="en-US" altLang="zh-TW" dirty="0"/>
              <a:t>K </a:t>
            </a:r>
            <a:r>
              <a:rPr lang="zh-TW" altLang="en-US" dirty="0"/>
              <a:t>個二元分類器，第 </a:t>
            </a:r>
            <a:r>
              <a:rPr lang="en-US" altLang="zh-TW" dirty="0"/>
              <a:t>k </a:t>
            </a:r>
            <a:r>
              <a:rPr lang="zh-TW" altLang="en-US" dirty="0"/>
              <a:t>個把「第 </a:t>
            </a:r>
            <a:r>
              <a:rPr lang="en-US" altLang="zh-TW" dirty="0"/>
              <a:t>k </a:t>
            </a:r>
            <a:r>
              <a:rPr lang="zh-TW" altLang="en-US" dirty="0"/>
              <a:t>類」當正類、其他併為負類。</a:t>
            </a:r>
            <a:endParaRPr lang="en-US" altLang="zh-TW" dirty="0"/>
          </a:p>
          <a:p>
            <a:pPr lvl="2"/>
            <a:r>
              <a:rPr lang="zh-TW" altLang="en-US" dirty="0"/>
              <a:t>預測：輸出 </a:t>
            </a:r>
            <a:r>
              <a:rPr lang="en-US" altLang="zh-TW" dirty="0"/>
              <a:t>K </a:t>
            </a:r>
            <a:r>
              <a:rPr lang="zh-TW" altLang="en-US" dirty="0"/>
              <a:t>個分數</a:t>
            </a:r>
            <a:r>
              <a:rPr lang="en-US" altLang="zh-TW" dirty="0"/>
              <a:t>/</a:t>
            </a:r>
            <a:r>
              <a:rPr lang="zh-TW" altLang="en-US" dirty="0"/>
              <a:t>機率，取 </a:t>
            </a:r>
            <a:r>
              <a:rPr lang="en-US" altLang="zh-TW" dirty="0"/>
              <a:t>argmax (</a:t>
            </a:r>
            <a:r>
              <a:rPr lang="zh-TW" altLang="en-US" dirty="0"/>
              <a:t>或設計每類閾值</a:t>
            </a:r>
            <a:r>
              <a:rPr lang="en-US" altLang="zh-TW" dirty="0"/>
              <a:t>)</a:t>
            </a:r>
            <a:r>
              <a:rPr lang="zh-TW" altLang="en-US" dirty="0"/>
              <a:t>。</a:t>
            </a:r>
            <a:endParaRPr lang="en-US" altLang="zh-TW" dirty="0"/>
          </a:p>
          <a:p>
            <a:pPr lvl="2"/>
            <a:r>
              <a:rPr lang="zh-TW" altLang="en-US" dirty="0"/>
              <a:t>優點：訓練成本跟</a:t>
            </a:r>
            <a:r>
              <a:rPr lang="en-US" altLang="zh-TW" dirty="0"/>
              <a:t>K</a:t>
            </a:r>
            <a:r>
              <a:rPr lang="zh-TW" altLang="en-US" dirty="0"/>
              <a:t>值是線性關係、可以平行執行；適合高維稀疏特徵（文字、袋字模型）。可為每類客製化 </a:t>
            </a:r>
            <a:r>
              <a:rPr lang="en-US" altLang="zh-TW" dirty="0"/>
              <a:t>class weights</a:t>
            </a:r>
            <a:r>
              <a:rPr lang="zh-TW" altLang="en-US" dirty="0"/>
              <a:t>／閾值。</a:t>
            </a:r>
            <a:endParaRPr lang="en-US" altLang="zh-TW" dirty="0"/>
          </a:p>
          <a:p>
            <a:pPr lvl="2"/>
            <a:r>
              <a:rPr lang="zh-TW" altLang="en-US" dirty="0"/>
              <a:t>缺點：類別與類別之間的是彼此獨立訓練。機率校準需額外處理（每顆二元機率非必相加為 </a:t>
            </a:r>
            <a:r>
              <a:rPr lang="en-US" altLang="zh-TW" dirty="0"/>
              <a:t>1</a:t>
            </a:r>
            <a:r>
              <a:rPr lang="zh-TW" altLang="en-US" dirty="0"/>
              <a:t>）。</a:t>
            </a:r>
            <a:endParaRPr lang="en-US" altLang="zh-TW" dirty="0"/>
          </a:p>
          <a:p>
            <a:pPr lvl="1"/>
            <a:r>
              <a:rPr lang="en-US" altLang="zh-TW" dirty="0"/>
              <a:t>One-vs-One</a:t>
            </a:r>
            <a:r>
              <a:rPr lang="zh-TW" altLang="en-US" dirty="0"/>
              <a:t>（</a:t>
            </a:r>
            <a:r>
              <a:rPr lang="en-US" altLang="zh-TW" dirty="0" err="1"/>
              <a:t>OvO</a:t>
            </a:r>
            <a:r>
              <a:rPr lang="zh-TW" altLang="en-US" dirty="0"/>
              <a:t>，一對一）</a:t>
            </a:r>
            <a:endParaRPr lang="en-US" altLang="zh-TW" dirty="0"/>
          </a:p>
          <a:p>
            <a:pPr lvl="2"/>
            <a:r>
              <a:rPr lang="zh-TW" altLang="en-US" dirty="0"/>
              <a:t>對每一對類別訓練一個二元分類器，共 𝐾</a:t>
            </a:r>
            <a:r>
              <a:rPr lang="en-US" altLang="zh-TW" dirty="0"/>
              <a:t>(</a:t>
            </a:r>
            <a:r>
              <a:rPr lang="zh-TW" altLang="en-US" dirty="0"/>
              <a:t>𝐾−</a:t>
            </a:r>
            <a:r>
              <a:rPr lang="en-US" altLang="zh-TW" dirty="0"/>
              <a:t>1)/2 </a:t>
            </a:r>
            <a:r>
              <a:rPr lang="zh-TW" altLang="en-US" dirty="0"/>
              <a:t>個。</a:t>
            </a:r>
            <a:endParaRPr lang="en-US" altLang="zh-TW" dirty="0"/>
          </a:p>
          <a:p>
            <a:pPr lvl="2"/>
            <a:r>
              <a:rPr lang="zh-TW" altLang="en-US" dirty="0"/>
              <a:t>預測：投票或 </a:t>
            </a:r>
            <a:r>
              <a:rPr lang="en-US" altLang="zh-TW" dirty="0"/>
              <a:t>pairwise coupling</a:t>
            </a:r>
            <a:r>
              <a:rPr lang="zh-TW" altLang="en-US" dirty="0"/>
              <a:t>（把兩兩機率耦合成整體機率）。優點：單模形較易學到「邊界細節」（特別在 </a:t>
            </a:r>
            <a:r>
              <a:rPr lang="en-US" altLang="zh-TW" dirty="0"/>
              <a:t>SVM/</a:t>
            </a:r>
            <a:r>
              <a:rPr lang="zh-TW" altLang="en-US" dirty="0"/>
              <a:t>核方法）。每顆只見兩類，資料清楚、訓練常較快且表現佳。缺點：模型數量 平方級，</a:t>
            </a:r>
            <a:r>
              <a:rPr lang="en-US" altLang="zh-TW" dirty="0"/>
              <a:t>K </a:t>
            </a:r>
            <a:r>
              <a:rPr lang="zh-TW" altLang="en-US" dirty="0"/>
              <a:t>稍大就爆炸（時間</a:t>
            </a:r>
            <a:r>
              <a:rPr lang="en-US" altLang="zh-TW" dirty="0"/>
              <a:t>/</a:t>
            </a:r>
            <a:r>
              <a:rPr lang="zh-TW" altLang="en-US" dirty="0"/>
              <a:t>記憶體</a:t>
            </a:r>
            <a:r>
              <a:rPr lang="en-US" altLang="zh-TW" dirty="0"/>
              <a:t>/</a:t>
            </a:r>
            <a:r>
              <a:rPr lang="zh-TW" altLang="en-US" dirty="0"/>
              <a:t>部署）。需要投票</a:t>
            </a:r>
            <a:r>
              <a:rPr lang="en-US" altLang="zh-TW" dirty="0"/>
              <a:t>/</a:t>
            </a:r>
            <a:r>
              <a:rPr lang="zh-TW" altLang="en-US" dirty="0"/>
              <a:t>耦合策略，實作略複雜。</a:t>
            </a:r>
          </a:p>
        </p:txBody>
      </p:sp>
    </p:spTree>
    <p:extLst>
      <p:ext uri="{BB962C8B-B14F-4D97-AF65-F5344CB8AC3E}">
        <p14:creationId xmlns:p14="http://schemas.microsoft.com/office/powerpoint/2010/main" val="13907300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E7CC3B-E598-43EC-8557-814D860ADF9B}"/>
              </a:ext>
            </a:extLst>
          </p:cNvPr>
          <p:cNvSpPr>
            <a:spLocks noGrp="1"/>
          </p:cNvSpPr>
          <p:nvPr>
            <p:ph type="title"/>
          </p:nvPr>
        </p:nvSpPr>
        <p:spPr>
          <a:xfrm>
            <a:off x="838200" y="365125"/>
            <a:ext cx="10515600" cy="1325563"/>
          </a:xfrm>
        </p:spPr>
        <p:txBody>
          <a:bodyPr/>
          <a:lstStyle/>
          <a:p>
            <a:r>
              <a:rPr lang="zh-TW" altLang="en-US" dirty="0"/>
              <a:t>多元分類問題</a:t>
            </a:r>
          </a:p>
        </p:txBody>
      </p:sp>
      <p:sp>
        <p:nvSpPr>
          <p:cNvPr id="3" name="內容版面配置區 2">
            <a:extLst>
              <a:ext uri="{FF2B5EF4-FFF2-40B4-BE49-F238E27FC236}">
                <a16:creationId xmlns:a16="http://schemas.microsoft.com/office/drawing/2014/main" id="{8FAEC2F1-CE5C-4F10-A86F-327D2638CD8B}"/>
              </a:ext>
            </a:extLst>
          </p:cNvPr>
          <p:cNvSpPr>
            <a:spLocks noGrp="1"/>
          </p:cNvSpPr>
          <p:nvPr>
            <p:ph idx="1"/>
          </p:nvPr>
        </p:nvSpPr>
        <p:spPr>
          <a:xfrm>
            <a:off x="838200" y="1825624"/>
            <a:ext cx="10515600" cy="4791075"/>
          </a:xfrm>
        </p:spPr>
        <p:txBody>
          <a:bodyPr>
            <a:normAutofit fontScale="92500" lnSpcReduction="10000"/>
          </a:bodyPr>
          <a:lstStyle/>
          <a:p>
            <a:r>
              <a:rPr lang="en-US" altLang="zh-TW" dirty="0"/>
              <a:t>One-vs-One</a:t>
            </a:r>
            <a:r>
              <a:rPr lang="zh-TW" altLang="en-US" dirty="0"/>
              <a:t>（</a:t>
            </a:r>
            <a:r>
              <a:rPr lang="en-US" altLang="zh-TW" dirty="0" err="1"/>
              <a:t>OvO</a:t>
            </a:r>
            <a:r>
              <a:rPr lang="zh-TW" altLang="en-US" dirty="0"/>
              <a:t>，一對一）</a:t>
            </a:r>
            <a:r>
              <a:rPr lang="en-US" altLang="zh-TW" dirty="0"/>
              <a:t>-Voting</a:t>
            </a:r>
          </a:p>
          <a:p>
            <a:pPr lvl="1"/>
            <a:r>
              <a:rPr lang="zh-TW" altLang="en-US" dirty="0"/>
              <a:t>對於 </a:t>
            </a:r>
            <a:r>
              <a:rPr lang="en-US" altLang="zh-TW" dirty="0"/>
              <a:t>K </a:t>
            </a:r>
            <a:r>
              <a:rPr lang="zh-TW" altLang="en-US" dirty="0"/>
              <a:t>類，</a:t>
            </a:r>
            <a:r>
              <a:rPr lang="en-US" altLang="zh-TW" dirty="0" err="1"/>
              <a:t>OvO</a:t>
            </a:r>
            <a:r>
              <a:rPr lang="en-US" altLang="zh-TW" dirty="0"/>
              <a:t> </a:t>
            </a:r>
            <a:r>
              <a:rPr lang="zh-TW" altLang="en-US" dirty="0"/>
              <a:t>會訓練 </a:t>
            </a:r>
            <a:r>
              <a:rPr lang="en-US" altLang="zh-TW" dirty="0"/>
              <a:t>K(K−1)/2 </a:t>
            </a:r>
            <a:r>
              <a:rPr lang="zh-TW" altLang="en-US" dirty="0"/>
              <a:t>個二元分類器（每對類別一顆）。預測時，每顆都給出「這對誰贏」。最後把每個類別得到的勝場數加總，勝場最多的類別為預測結果。</a:t>
            </a:r>
            <a:endParaRPr lang="en-US" altLang="zh-TW" dirty="0"/>
          </a:p>
          <a:p>
            <a:r>
              <a:rPr lang="zh-TW" altLang="en-US" dirty="0"/>
              <a:t>例如：（</a:t>
            </a:r>
            <a:r>
              <a:rPr lang="en-US" altLang="zh-TW" dirty="0"/>
              <a:t>3 </a:t>
            </a:r>
            <a:r>
              <a:rPr lang="zh-TW" altLang="en-US" dirty="0"/>
              <a:t>類：</a:t>
            </a:r>
            <a:r>
              <a:rPr lang="en-US" altLang="zh-TW" dirty="0"/>
              <a:t>A, B, C</a:t>
            </a:r>
            <a:r>
              <a:rPr lang="zh-TW" altLang="en-US" dirty="0"/>
              <a:t>）有三顆分類器：</a:t>
            </a:r>
            <a:r>
              <a:rPr lang="en-US" altLang="zh-TW" dirty="0"/>
              <a:t>AB</a:t>
            </a:r>
            <a:r>
              <a:rPr lang="zh-TW" altLang="en-US" dirty="0"/>
              <a:t>、</a:t>
            </a:r>
            <a:r>
              <a:rPr lang="en-US" altLang="zh-TW" dirty="0"/>
              <a:t>AC</a:t>
            </a:r>
            <a:r>
              <a:rPr lang="zh-TW" altLang="en-US" dirty="0"/>
              <a:t>、</a:t>
            </a:r>
            <a:r>
              <a:rPr lang="en-US" altLang="zh-TW" dirty="0"/>
              <a:t>BC</a:t>
            </a:r>
            <a:r>
              <a:rPr lang="zh-TW" altLang="en-US" dirty="0"/>
              <a:t>。</a:t>
            </a:r>
            <a:endParaRPr lang="en-US" altLang="zh-TW" dirty="0"/>
          </a:p>
          <a:p>
            <a:pPr lvl="1"/>
            <a:r>
              <a:rPr lang="en-US" altLang="zh-TW" dirty="0"/>
              <a:t>AB </a:t>
            </a:r>
            <a:r>
              <a:rPr lang="zh-TW" altLang="en-US" dirty="0"/>
              <a:t>輸出 </a:t>
            </a:r>
            <a:r>
              <a:rPr lang="en-US" altLang="zh-TW" dirty="0"/>
              <a:t>A </a:t>
            </a:r>
            <a:r>
              <a:rPr lang="zh-TW" altLang="en-US" dirty="0"/>
              <a:t>勝 → </a:t>
            </a:r>
            <a:r>
              <a:rPr lang="en-US" altLang="zh-TW" dirty="0"/>
              <a:t>A </a:t>
            </a:r>
            <a:r>
              <a:rPr lang="zh-TW" altLang="en-US" dirty="0"/>
              <a:t>得 </a:t>
            </a:r>
            <a:r>
              <a:rPr lang="en-US" altLang="zh-TW" dirty="0"/>
              <a:t>1 </a:t>
            </a:r>
            <a:r>
              <a:rPr lang="zh-TW" altLang="en-US" dirty="0"/>
              <a:t>票</a:t>
            </a:r>
            <a:endParaRPr lang="en-US" altLang="zh-TW" dirty="0"/>
          </a:p>
          <a:p>
            <a:pPr lvl="1"/>
            <a:r>
              <a:rPr lang="en-US" altLang="zh-TW" dirty="0"/>
              <a:t>AC </a:t>
            </a:r>
            <a:r>
              <a:rPr lang="zh-TW" altLang="en-US" dirty="0"/>
              <a:t>輸出 </a:t>
            </a:r>
            <a:r>
              <a:rPr lang="en-US" altLang="zh-TW" dirty="0"/>
              <a:t>A </a:t>
            </a:r>
            <a:r>
              <a:rPr lang="zh-TW" altLang="en-US" dirty="0"/>
              <a:t>勝 → </a:t>
            </a:r>
            <a:r>
              <a:rPr lang="en-US" altLang="zh-TW" dirty="0"/>
              <a:t>A </a:t>
            </a:r>
            <a:r>
              <a:rPr lang="zh-TW" altLang="en-US" dirty="0"/>
              <a:t>再得 </a:t>
            </a:r>
            <a:r>
              <a:rPr lang="en-US" altLang="zh-TW" dirty="0"/>
              <a:t>1 </a:t>
            </a:r>
            <a:r>
              <a:rPr lang="zh-TW" altLang="en-US" dirty="0"/>
              <a:t>票</a:t>
            </a:r>
            <a:endParaRPr lang="en-US" altLang="zh-TW" dirty="0"/>
          </a:p>
          <a:p>
            <a:pPr lvl="1"/>
            <a:r>
              <a:rPr lang="en-US" altLang="zh-TW" dirty="0"/>
              <a:t>BC </a:t>
            </a:r>
            <a:r>
              <a:rPr lang="zh-TW" altLang="en-US" dirty="0"/>
              <a:t>輸出 </a:t>
            </a:r>
            <a:r>
              <a:rPr lang="en-US" altLang="zh-TW" dirty="0"/>
              <a:t>B </a:t>
            </a:r>
            <a:r>
              <a:rPr lang="zh-TW" altLang="en-US" dirty="0"/>
              <a:t>勝 → </a:t>
            </a:r>
            <a:r>
              <a:rPr lang="en-US" altLang="zh-TW" dirty="0"/>
              <a:t>B </a:t>
            </a:r>
            <a:r>
              <a:rPr lang="zh-TW" altLang="en-US" dirty="0"/>
              <a:t>得 </a:t>
            </a:r>
            <a:r>
              <a:rPr lang="en-US" altLang="zh-TW" dirty="0"/>
              <a:t>1 </a:t>
            </a:r>
            <a:r>
              <a:rPr lang="zh-TW" altLang="en-US" dirty="0"/>
              <a:t>票</a:t>
            </a:r>
            <a:endParaRPr lang="en-US" altLang="zh-TW" dirty="0"/>
          </a:p>
          <a:p>
            <a:pPr lvl="1"/>
            <a:r>
              <a:rPr lang="zh-TW" altLang="en-US" dirty="0"/>
              <a:t>最後票數：</a:t>
            </a:r>
            <a:r>
              <a:rPr lang="en-US" altLang="zh-TW" dirty="0"/>
              <a:t>A=2, B=1, C=0 → </a:t>
            </a:r>
            <a:r>
              <a:rPr lang="zh-TW" altLang="en-US" dirty="0"/>
              <a:t>預測 </a:t>
            </a:r>
            <a:r>
              <a:rPr lang="en-US" altLang="zh-TW" dirty="0"/>
              <a:t>A</a:t>
            </a:r>
            <a:r>
              <a:rPr lang="zh-TW" altLang="en-US" dirty="0"/>
              <a:t>。</a:t>
            </a:r>
            <a:endParaRPr lang="en-US" altLang="zh-TW" dirty="0"/>
          </a:p>
          <a:p>
            <a:r>
              <a:rPr lang="zh-TW" altLang="en-US" dirty="0"/>
              <a:t>加權投票（</a:t>
            </a:r>
            <a:r>
              <a:rPr lang="en-US" altLang="zh-TW" dirty="0"/>
              <a:t>Weighted Voting</a:t>
            </a:r>
            <a:r>
              <a:rPr lang="zh-TW" altLang="en-US" dirty="0"/>
              <a:t>）</a:t>
            </a:r>
            <a:endParaRPr lang="en-US" altLang="zh-TW" dirty="0"/>
          </a:p>
          <a:p>
            <a:pPr lvl="1"/>
            <a:r>
              <a:rPr lang="zh-TW" altLang="en-US" dirty="0"/>
              <a:t>如果二元分類器能提供信心（如決策函數的距離或機率）</a:t>
            </a:r>
            <a:endParaRPr lang="en-US" altLang="zh-TW" dirty="0"/>
          </a:p>
          <a:p>
            <a:pPr lvl="1"/>
            <a:r>
              <a:rPr lang="zh-TW" altLang="en-US" dirty="0"/>
              <a:t>可以把「一票」換成「一個權重」：距離加權</a:t>
            </a:r>
            <a:endParaRPr lang="en-US" altLang="zh-TW" dirty="0"/>
          </a:p>
          <a:p>
            <a:pPr lvl="1"/>
            <a:r>
              <a:rPr lang="zh-TW" altLang="en-US" dirty="0"/>
              <a:t>例如</a:t>
            </a:r>
            <a:r>
              <a:rPr lang="en-US" altLang="zh-TW" dirty="0"/>
              <a:t>AB</a:t>
            </a:r>
            <a:r>
              <a:rPr lang="zh-TW" altLang="en-US" dirty="0"/>
              <a:t>配對是</a:t>
            </a:r>
            <a:r>
              <a:rPr lang="en-US" altLang="zh-TW" dirty="0"/>
              <a:t>A</a:t>
            </a:r>
            <a:r>
              <a:rPr lang="zh-TW" altLang="en-US" dirty="0"/>
              <a:t>勝，輸出值是</a:t>
            </a:r>
            <a:r>
              <a:rPr lang="en-US" altLang="zh-TW" dirty="0"/>
              <a:t>0.9</a:t>
            </a:r>
            <a:r>
              <a:rPr lang="zh-TW" altLang="en-US" dirty="0"/>
              <a:t>，則票數計算變成</a:t>
            </a:r>
            <a:r>
              <a:rPr lang="en-US" altLang="zh-TW" dirty="0"/>
              <a:t>A </a:t>
            </a:r>
            <a:r>
              <a:rPr lang="zh-TW" altLang="en-US" dirty="0"/>
              <a:t>得 </a:t>
            </a:r>
            <a:r>
              <a:rPr lang="en-US" altLang="zh-TW" dirty="0"/>
              <a:t>0.9 </a:t>
            </a:r>
            <a:r>
              <a:rPr lang="zh-TW" altLang="en-US" dirty="0"/>
              <a:t>票、</a:t>
            </a:r>
            <a:r>
              <a:rPr lang="en-US" altLang="zh-TW" dirty="0"/>
              <a:t>B</a:t>
            </a:r>
            <a:r>
              <a:rPr lang="zh-TW" altLang="en-US" dirty="0"/>
              <a:t>得</a:t>
            </a:r>
            <a:r>
              <a:rPr lang="en-US" altLang="zh-TW" dirty="0"/>
              <a:t>0.1</a:t>
            </a:r>
            <a:r>
              <a:rPr lang="zh-TW" altLang="en-US"/>
              <a:t>票</a:t>
            </a:r>
            <a:endParaRPr lang="zh-TW" altLang="en-US" dirty="0"/>
          </a:p>
          <a:p>
            <a:pPr lvl="1"/>
            <a:endParaRPr lang="zh-TW" altLang="en-US" dirty="0"/>
          </a:p>
        </p:txBody>
      </p:sp>
    </p:spTree>
    <p:extLst>
      <p:ext uri="{BB962C8B-B14F-4D97-AF65-F5344CB8AC3E}">
        <p14:creationId xmlns:p14="http://schemas.microsoft.com/office/powerpoint/2010/main" val="18511860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8F8A23-F786-4CD0-BBD6-F66CF55A0665}"/>
              </a:ext>
            </a:extLst>
          </p:cNvPr>
          <p:cNvSpPr>
            <a:spLocks noGrp="1"/>
          </p:cNvSpPr>
          <p:nvPr>
            <p:ph type="title"/>
          </p:nvPr>
        </p:nvSpPr>
        <p:spPr/>
        <p:txBody>
          <a:bodyPr/>
          <a:lstStyle/>
          <a:p>
            <a:r>
              <a:rPr lang="zh-TW" altLang="en-US" dirty="0"/>
              <a:t>多元分類問題</a:t>
            </a:r>
          </a:p>
        </p:txBody>
      </p:sp>
      <p:sp>
        <p:nvSpPr>
          <p:cNvPr id="3" name="內容版面配置區 2">
            <a:extLst>
              <a:ext uri="{FF2B5EF4-FFF2-40B4-BE49-F238E27FC236}">
                <a16:creationId xmlns:a16="http://schemas.microsoft.com/office/drawing/2014/main" id="{3C3FFF7E-8849-4C0D-949E-FFD1536BDD7C}"/>
              </a:ext>
            </a:extLst>
          </p:cNvPr>
          <p:cNvSpPr>
            <a:spLocks noGrp="1"/>
          </p:cNvSpPr>
          <p:nvPr>
            <p:ph idx="1"/>
          </p:nvPr>
        </p:nvSpPr>
        <p:spPr>
          <a:xfrm>
            <a:off x="838199" y="1417402"/>
            <a:ext cx="4428281" cy="5075473"/>
          </a:xfrm>
        </p:spPr>
        <p:txBody>
          <a:bodyPr>
            <a:normAutofit lnSpcReduction="10000"/>
          </a:bodyPr>
          <a:lstStyle/>
          <a:p>
            <a:r>
              <a:rPr lang="en-US" altLang="zh-TW" sz="2400" dirty="0"/>
              <a:t>Logistic regression</a:t>
            </a:r>
            <a:r>
              <a:rPr lang="zh-TW" altLang="en-US" sz="2400" u="sng" dirty="0"/>
              <a:t>可以一般化</a:t>
            </a:r>
            <a:r>
              <a:rPr lang="zh-TW" altLang="en-US" sz="2400" dirty="0"/>
              <a:t>，支援計算多元分類問題</a:t>
            </a:r>
            <a:endParaRPr lang="en-US" altLang="zh-TW" sz="2400" dirty="0"/>
          </a:p>
          <a:p>
            <a:r>
              <a:rPr lang="zh-TW" altLang="en-US" sz="2400" dirty="0"/>
              <a:t>假設有三個</a:t>
            </a:r>
            <a:r>
              <a:rPr lang="en-US" altLang="zh-TW" sz="2400" dirty="0"/>
              <a:t>class : C1</a:t>
            </a:r>
            <a:r>
              <a:rPr lang="zh-TW" altLang="en-US" sz="2400" dirty="0"/>
              <a:t>、</a:t>
            </a:r>
            <a:r>
              <a:rPr lang="en-US" altLang="zh-TW" sz="2400" dirty="0"/>
              <a:t>C2</a:t>
            </a:r>
            <a:r>
              <a:rPr lang="zh-TW" altLang="en-US" sz="2400" dirty="0"/>
              <a:t>、</a:t>
            </a:r>
            <a:r>
              <a:rPr lang="en-US" altLang="zh-TW" sz="2400" dirty="0"/>
              <a:t>C3</a:t>
            </a:r>
            <a:r>
              <a:rPr lang="zh-TW" altLang="en-US" sz="2400" dirty="0"/>
              <a:t>，每一個</a:t>
            </a:r>
            <a:r>
              <a:rPr lang="en-US" altLang="zh-TW" sz="2400" dirty="0"/>
              <a:t>class </a:t>
            </a:r>
            <a:r>
              <a:rPr lang="zh-TW" altLang="en-US" sz="2400" dirty="0"/>
              <a:t>都有自己的</a:t>
            </a:r>
            <a:r>
              <a:rPr lang="en-US" altLang="zh-TW" sz="2400" dirty="0"/>
              <a:t>weight </a:t>
            </a:r>
            <a:r>
              <a:rPr lang="zh-TW" altLang="en-US" sz="2400" dirty="0"/>
              <a:t>和 </a:t>
            </a:r>
            <a:r>
              <a:rPr lang="en-US" altLang="zh-TW" sz="2400" dirty="0"/>
              <a:t>bias </a:t>
            </a:r>
            <a:r>
              <a:rPr lang="zh-TW" altLang="en-US" sz="2400" dirty="0"/>
              <a:t>，這裡</a:t>
            </a:r>
            <a:r>
              <a:rPr lang="en-US" altLang="zh-TW" sz="2400" dirty="0"/>
              <a:t>w1</a:t>
            </a:r>
            <a:r>
              <a:rPr lang="zh-TW" altLang="en-US" sz="2400" dirty="0"/>
              <a:t>、</a:t>
            </a:r>
            <a:r>
              <a:rPr lang="en-US" altLang="zh-TW" sz="2400" dirty="0"/>
              <a:t>w2</a:t>
            </a:r>
            <a:r>
              <a:rPr lang="zh-TW" altLang="en-US" sz="2400" dirty="0"/>
              <a:t>、</a:t>
            </a:r>
            <a:r>
              <a:rPr lang="en-US" altLang="zh-TW" sz="2400" dirty="0"/>
              <a:t>w3</a:t>
            </a:r>
            <a:r>
              <a:rPr lang="zh-TW" altLang="en-US" sz="2400" dirty="0"/>
              <a:t>代表三個</a:t>
            </a:r>
            <a:r>
              <a:rPr lang="en-US" altLang="zh-TW" sz="2400" dirty="0"/>
              <a:t>vector </a:t>
            </a:r>
            <a:r>
              <a:rPr lang="zh-TW" altLang="en-US" sz="2400" dirty="0"/>
              <a:t>，而</a:t>
            </a:r>
            <a:r>
              <a:rPr lang="en-US" altLang="zh-TW" sz="2400" dirty="0"/>
              <a:t>b1</a:t>
            </a:r>
            <a:r>
              <a:rPr lang="zh-TW" altLang="en-US" sz="2400" dirty="0"/>
              <a:t>、</a:t>
            </a:r>
            <a:r>
              <a:rPr lang="en-US" altLang="zh-TW" sz="2400" dirty="0"/>
              <a:t>b2</a:t>
            </a:r>
            <a:r>
              <a:rPr lang="zh-TW" altLang="en-US" sz="2400" dirty="0"/>
              <a:t>、</a:t>
            </a:r>
            <a:r>
              <a:rPr lang="en-US" altLang="zh-TW" sz="2400" dirty="0"/>
              <a:t>b3</a:t>
            </a:r>
            <a:r>
              <a:rPr lang="zh-TW" altLang="en-US" sz="2400" dirty="0"/>
              <a:t>分別代表三個</a:t>
            </a:r>
            <a:r>
              <a:rPr lang="en-US" altLang="zh-TW" sz="2400" dirty="0"/>
              <a:t>const</a:t>
            </a:r>
            <a:r>
              <a:rPr lang="zh-TW" altLang="en-US" sz="2400" dirty="0"/>
              <a:t>，</a:t>
            </a:r>
            <a:r>
              <a:rPr lang="en-US" altLang="zh-TW" sz="2400" dirty="0"/>
              <a:t>input x </a:t>
            </a:r>
            <a:r>
              <a:rPr lang="zh-TW" altLang="en-US" sz="2400" dirty="0"/>
              <a:t>也是一個</a:t>
            </a:r>
            <a:r>
              <a:rPr lang="en-US" altLang="zh-TW" sz="2400" dirty="0"/>
              <a:t>vector (</a:t>
            </a:r>
            <a:r>
              <a:rPr lang="en-US" altLang="zh-TW" sz="2400" dirty="0" err="1"/>
              <a:t>zi</a:t>
            </a:r>
            <a:r>
              <a:rPr lang="en-US" altLang="zh-TW" sz="2400" dirty="0"/>
              <a:t>=</a:t>
            </a:r>
            <a:r>
              <a:rPr lang="en-US" altLang="zh-TW" sz="2400" dirty="0" err="1"/>
              <a:t>wi</a:t>
            </a:r>
            <a:r>
              <a:rPr lang="en-US" altLang="zh-TW" sz="2400" dirty="0"/>
              <a:t>*</a:t>
            </a:r>
            <a:r>
              <a:rPr lang="en-US" altLang="zh-TW" sz="2400" dirty="0" err="1"/>
              <a:t>x+bi</a:t>
            </a:r>
            <a:r>
              <a:rPr lang="en-US" altLang="zh-TW" sz="2400" dirty="0"/>
              <a:t> </a:t>
            </a:r>
            <a:r>
              <a:rPr lang="zh-TW" altLang="en-US" sz="2400" dirty="0"/>
              <a:t>，</a:t>
            </a:r>
            <a:r>
              <a:rPr lang="en-US" altLang="zh-TW" sz="2400" dirty="0" err="1"/>
              <a:t>i</a:t>
            </a:r>
            <a:r>
              <a:rPr lang="en-US" altLang="zh-TW" sz="2400" dirty="0"/>
              <a:t>=1</a:t>
            </a:r>
            <a:r>
              <a:rPr lang="zh-TW" altLang="en-US" sz="2400" dirty="0"/>
              <a:t>、</a:t>
            </a:r>
            <a:r>
              <a:rPr lang="en-US" altLang="zh-TW" sz="2400" dirty="0"/>
              <a:t>2</a:t>
            </a:r>
            <a:r>
              <a:rPr lang="zh-TW" altLang="en-US" sz="2400" dirty="0"/>
              <a:t>、</a:t>
            </a:r>
            <a:r>
              <a:rPr lang="en-US" altLang="zh-TW" sz="2400" dirty="0"/>
              <a:t>3)</a:t>
            </a:r>
          </a:p>
          <a:p>
            <a:r>
              <a:rPr lang="en-US" altLang="zh-TW" sz="2400" dirty="0" err="1"/>
              <a:t>softmax</a:t>
            </a:r>
            <a:r>
              <a:rPr lang="en-US" altLang="zh-TW" sz="2400" dirty="0"/>
              <a:t> </a:t>
            </a:r>
            <a:r>
              <a:rPr lang="zh-TW" altLang="en-US" sz="2400" dirty="0"/>
              <a:t>的意思是對最大值做強化，因為在做第一步的時候，對 </a:t>
            </a:r>
            <a:r>
              <a:rPr lang="en-US" altLang="zh-TW" sz="2400" dirty="0"/>
              <a:t>z </a:t>
            </a:r>
            <a:r>
              <a:rPr lang="zh-TW" altLang="en-US" sz="2400" dirty="0"/>
              <a:t>取 </a:t>
            </a:r>
            <a:r>
              <a:rPr lang="en-US" altLang="zh-TW" sz="2400" dirty="0"/>
              <a:t>exponential </a:t>
            </a:r>
            <a:r>
              <a:rPr lang="zh-TW" altLang="en-US" sz="2400" dirty="0"/>
              <a:t>會使最大和最小值得差距拉得更開，也就是強化大的值</a:t>
            </a:r>
          </a:p>
        </p:txBody>
      </p:sp>
      <p:pic>
        <p:nvPicPr>
          <p:cNvPr id="5" name="Picture 2" descr="https://i0.wp.com/wenwu53.com/wp-content/uploads/2021/06/ML15-1.png?resize=537%2C386&amp;ssl=1">
            <a:extLst>
              <a:ext uri="{FF2B5EF4-FFF2-40B4-BE49-F238E27FC236}">
                <a16:creationId xmlns:a16="http://schemas.microsoft.com/office/drawing/2014/main" id="{79C04A6D-63F0-7AEB-4C02-76C65D2918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377" y="1049219"/>
            <a:ext cx="6621462" cy="475956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888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5DD90F-824F-4FB6-9718-0F3452DE1BBD}"/>
              </a:ext>
            </a:extLst>
          </p:cNvPr>
          <p:cNvSpPr>
            <a:spLocks noGrp="1"/>
          </p:cNvSpPr>
          <p:nvPr>
            <p:ph type="title"/>
          </p:nvPr>
        </p:nvSpPr>
        <p:spPr/>
        <p:txBody>
          <a:bodyPr/>
          <a:lstStyle/>
          <a:p>
            <a:r>
              <a:rPr lang="zh-TW" altLang="en-US" dirty="0"/>
              <a:t>編碼</a:t>
            </a:r>
          </a:p>
        </p:txBody>
      </p:sp>
      <p:sp>
        <p:nvSpPr>
          <p:cNvPr id="3" name="內容版面配置區 2">
            <a:extLst>
              <a:ext uri="{FF2B5EF4-FFF2-40B4-BE49-F238E27FC236}">
                <a16:creationId xmlns:a16="http://schemas.microsoft.com/office/drawing/2014/main" id="{5F6B08BD-7CE0-47E3-8637-58D93C95D7A0}"/>
              </a:ext>
            </a:extLst>
          </p:cNvPr>
          <p:cNvSpPr>
            <a:spLocks noGrp="1"/>
          </p:cNvSpPr>
          <p:nvPr>
            <p:ph idx="1"/>
          </p:nvPr>
        </p:nvSpPr>
        <p:spPr/>
        <p:txBody>
          <a:bodyPr/>
          <a:lstStyle/>
          <a:p>
            <a:r>
              <a:rPr lang="zh-TW" altLang="en-US" dirty="0"/>
              <a:t>也就是說在訓練（學習）階段時，假設有三類，那如果拿到的資料是寫</a:t>
            </a:r>
            <a:r>
              <a:rPr lang="en-US" altLang="zh-TW" dirty="0"/>
              <a:t>[0, 1, 2]</a:t>
            </a:r>
            <a:r>
              <a:rPr lang="zh-TW" altLang="en-US" dirty="0"/>
              <a:t>或是「</a:t>
            </a:r>
            <a:r>
              <a:rPr lang="en-US" altLang="zh-TW" dirty="0"/>
              <a:t>A, B, C</a:t>
            </a:r>
            <a:r>
              <a:rPr lang="zh-TW" altLang="en-US" dirty="0"/>
              <a:t>」這三種，那會不能使用</a:t>
            </a:r>
            <a:endParaRPr lang="en-US" altLang="zh-TW" dirty="0"/>
          </a:p>
          <a:p>
            <a:r>
              <a:rPr lang="zh-TW" altLang="en-US" dirty="0"/>
              <a:t>必須轉換成機率的概念</a:t>
            </a:r>
            <a:endParaRPr lang="en-US" altLang="zh-TW" dirty="0"/>
          </a:p>
          <a:p>
            <a:pPr lvl="1"/>
            <a:r>
              <a:rPr lang="en-US" altLang="zh-TW" dirty="0"/>
              <a:t>A-&gt;[1, 0, 0]</a:t>
            </a:r>
          </a:p>
          <a:p>
            <a:pPr lvl="1"/>
            <a:r>
              <a:rPr lang="en-US" altLang="zh-TW" dirty="0"/>
              <a:t>B-&gt;[0, 1, 0]</a:t>
            </a:r>
          </a:p>
          <a:p>
            <a:pPr lvl="1"/>
            <a:r>
              <a:rPr lang="en-US" altLang="zh-TW" dirty="0"/>
              <a:t>C-&gt;[0, 0, 1]</a:t>
            </a:r>
          </a:p>
          <a:p>
            <a:r>
              <a:rPr lang="zh-TW" altLang="en-US" dirty="0"/>
              <a:t>再透過</a:t>
            </a:r>
            <a:r>
              <a:rPr lang="en-US" altLang="zh-TW" dirty="0"/>
              <a:t>logistic regression</a:t>
            </a:r>
            <a:r>
              <a:rPr lang="zh-TW" altLang="en-US" dirty="0"/>
              <a:t>計算其三類的權</a:t>
            </a:r>
            <a:endParaRPr lang="en-US" altLang="zh-TW" dirty="0"/>
          </a:p>
        </p:txBody>
      </p:sp>
    </p:spTree>
    <p:extLst>
      <p:ext uri="{BB962C8B-B14F-4D97-AF65-F5344CB8AC3E}">
        <p14:creationId xmlns:p14="http://schemas.microsoft.com/office/powerpoint/2010/main" val="373178650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590E38A-7EAE-6647-A66B-8C7E960C39CD}">
  <we:reference id="wa200010215" version="2.0.0.0" store="zh-TW" storeType="OMEX"/>
  <we:alternateReferences>
    <we:reference id="WA200010215" version="2.0.0.0" store="WA200010215" storeType="OMEX"/>
  </we:alternateReferences>
  <we:properties>
    <we:property name="bps.codex_control.document_id" value="&quot;66645bd9-9538-4c88-bfd1-0c8a37511bb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5956</TotalTime>
  <Words>6113</Words>
  <Application>Microsoft Macintosh PowerPoint</Application>
  <PresentationFormat>寬螢幕</PresentationFormat>
  <Paragraphs>527</Paragraphs>
  <Slides>64</Slides>
  <Notes>42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64</vt:i4>
      </vt:variant>
    </vt:vector>
  </HeadingPairs>
  <TitlesOfParts>
    <vt:vector size="72" baseType="lpstr">
      <vt:lpstr>Microsoft JhengHei</vt:lpstr>
      <vt:lpstr>source-serif-pro</vt:lpstr>
      <vt:lpstr>Arial</vt:lpstr>
      <vt:lpstr>Calibri</vt:lpstr>
      <vt:lpstr>Cambria Math</vt:lpstr>
      <vt:lpstr>Courier New</vt:lpstr>
      <vt:lpstr>Fira Code</vt:lpstr>
      <vt:lpstr>Office 佈景主題</vt:lpstr>
      <vt:lpstr>迴歸</vt:lpstr>
      <vt:lpstr>什麼是迴歸</vt:lpstr>
      <vt:lpstr>簡單線性迴歸</vt:lpstr>
      <vt:lpstr>定義誤差</vt:lpstr>
      <vt:lpstr>求解(換個變數，y=w*x+b)</vt:lpstr>
      <vt:lpstr>求解(換個變數，y=w*x+b)</vt:lpstr>
      <vt:lpstr>求解(換個變數，y=w*x+b)</vt:lpstr>
      <vt:lpstr>多元線性迴歸</vt:lpstr>
      <vt:lpstr>Gradient Descent梯度下降法</vt:lpstr>
      <vt:lpstr>斜率的概念</vt:lpstr>
      <vt:lpstr>推導到曲線呢？</vt:lpstr>
      <vt:lpstr>Gradient Descent梯度下降法</vt:lpstr>
      <vt:lpstr>對多元線性迴歸的話，如何求解？</vt:lpstr>
      <vt:lpstr>學習就是在調整參數</vt:lpstr>
      <vt:lpstr>Stochastic (隨機) Gradient Descent</vt:lpstr>
      <vt:lpstr>Mini-batch Gradient Descent</vt:lpstr>
      <vt:lpstr>比較一下</vt:lpstr>
      <vt:lpstr>比較一下</vt:lpstr>
      <vt:lpstr>學習速率η可能發生的問題</vt:lpstr>
      <vt:lpstr>學習速率η可能發生的問題</vt:lpstr>
      <vt:lpstr>不同的學習速度的影響</vt:lpstr>
      <vt:lpstr>y=b+w*x</vt:lpstr>
      <vt:lpstr>要注意的事情</vt:lpstr>
      <vt:lpstr>為什麼需要梯度下降法？</vt:lpstr>
      <vt:lpstr>Logistic regression</vt:lpstr>
      <vt:lpstr>分類問題</vt:lpstr>
      <vt:lpstr>Logistic regression</vt:lpstr>
      <vt:lpstr>Logistic regression</vt:lpstr>
      <vt:lpstr>分類問題</vt:lpstr>
      <vt:lpstr>Entropy公式</vt:lpstr>
      <vt:lpstr>Entropy公式</vt:lpstr>
      <vt:lpstr>Entropy公式</vt:lpstr>
      <vt:lpstr>那cross-entropy？</vt:lpstr>
      <vt:lpstr>PowerPoint 簡報</vt:lpstr>
      <vt:lpstr>cross-entropy</vt:lpstr>
      <vt:lpstr>成本函數</vt:lpstr>
      <vt:lpstr>成本函數</vt:lpstr>
      <vt:lpstr>Logistic regression</vt:lpstr>
      <vt:lpstr>Logistic regression</vt:lpstr>
      <vt:lpstr>為什麼誤差用cross entropy不用迴歸的MSE？</vt:lpstr>
      <vt:lpstr>練習一下分兩類問題</vt:lpstr>
      <vt:lpstr>分類問題</vt:lpstr>
      <vt:lpstr>PowerPoint 簡報</vt:lpstr>
      <vt:lpstr>分類問題(假設先處理兩元分類)</vt:lpstr>
      <vt:lpstr>分類問題(假設先處理兩元分類)</vt:lpstr>
      <vt:lpstr>分類問題(假設先處理兩元分類)</vt:lpstr>
      <vt:lpstr>分類問題(假設先處理兩元分類)</vt:lpstr>
      <vt:lpstr>分類問題(假設先處理兩元分類)</vt:lpstr>
      <vt:lpstr>分類問題(假設先處理兩元分類)</vt:lpstr>
      <vt:lpstr>分類問題-混洧矩陣</vt:lpstr>
      <vt:lpstr>分類問題-混洧矩陣</vt:lpstr>
      <vt:lpstr> 模型好壞的呈現方式</vt:lpstr>
      <vt:lpstr> 模型好壞的呈現方式</vt:lpstr>
      <vt:lpstr>回到剛剛的例子</vt:lpstr>
      <vt:lpstr>ROC curve</vt:lpstr>
      <vt:lpstr>ROC curve</vt:lpstr>
      <vt:lpstr>ROC curve</vt:lpstr>
      <vt:lpstr>ROC curve(程式說明)</vt:lpstr>
      <vt:lpstr>ROC curve(程式說明)</vt:lpstr>
      <vt:lpstr>多元分類問題</vt:lpstr>
      <vt:lpstr>多元分類問題</vt:lpstr>
      <vt:lpstr>多元分類問題</vt:lpstr>
      <vt:lpstr>多元分類問題</vt:lpstr>
      <vt:lpstr>編碼</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subject/>
  <dc:creator>林俊杰</dc:creator>
  <cp:keywords/>
  <dc:description/>
  <cp:lastModifiedBy>林俊杰</cp:lastModifiedBy>
  <cp:revision>68</cp:revision>
  <dcterms:created xsi:type="dcterms:W3CDTF">2021-09-21T14:30:50Z</dcterms:created>
  <dcterms:modified xsi:type="dcterms:W3CDTF">2026-07-16T03:12:00Z</dcterms:modified>
  <cp:category/>
</cp:coreProperties>
</file>